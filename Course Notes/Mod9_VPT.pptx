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68" r:id="rId4"/>
    <p:sldId id="300" r:id="rId5"/>
    <p:sldId id="301" r:id="rId6"/>
    <p:sldId id="302" r:id="rId7"/>
    <p:sldId id="274" r:id="rId8"/>
    <p:sldId id="270" r:id="rId9"/>
    <p:sldId id="271" r:id="rId10"/>
    <p:sldId id="278" r:id="rId11"/>
    <p:sldId id="279" r:id="rId12"/>
    <p:sldId id="277" r:id="rId13"/>
    <p:sldId id="272" r:id="rId14"/>
    <p:sldId id="280" r:id="rId15"/>
    <p:sldId id="281" r:id="rId16"/>
    <p:sldId id="282" r:id="rId17"/>
    <p:sldId id="303" r:id="rId18"/>
    <p:sldId id="273" r:id="rId19"/>
    <p:sldId id="284" r:id="rId20"/>
    <p:sldId id="285" r:id="rId21"/>
    <p:sldId id="296" r:id="rId22"/>
    <p:sldId id="283" r:id="rId23"/>
    <p:sldId id="275" r:id="rId24"/>
    <p:sldId id="269" r:id="rId25"/>
    <p:sldId id="297" r:id="rId26"/>
    <p:sldId id="286" r:id="rId27"/>
    <p:sldId id="305" r:id="rId28"/>
    <p:sldId id="307" r:id="rId29"/>
    <p:sldId id="308" r:id="rId30"/>
    <p:sldId id="304" r:id="rId31"/>
    <p:sldId id="289" r:id="rId32"/>
    <p:sldId id="298" r:id="rId33"/>
    <p:sldId id="299" r:id="rId34"/>
    <p:sldId id="287" r:id="rId35"/>
    <p:sldId id="290" r:id="rId36"/>
    <p:sldId id="309" r:id="rId37"/>
    <p:sldId id="291" r:id="rId38"/>
    <p:sldId id="288" r:id="rId39"/>
    <p:sldId id="292" r:id="rId40"/>
    <p:sldId id="310" r:id="rId41"/>
    <p:sldId id="293" r:id="rId42"/>
    <p:sldId id="294" r:id="rId43"/>
    <p:sldId id="295" r:id="rId44"/>
    <p:sldId id="26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ule Title"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BEEFF38-9219-3402-6C1E-B326B8FB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032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B7F7EA-D5FA-48A9-A388-858D3B14DD11}" type="datetimeFigureOut">
              <a:rPr lang="en-US" smtClean="0"/>
              <a:pPr/>
              <a:t>1/14/2026</a:t>
            </a:fld>
            <a:endParaRPr lang="en-US"/>
          </a:p>
        </p:txBody>
      </p:sp>
      <p:pic>
        <p:nvPicPr>
          <p:cNvPr id="1026" name="Picture 2" descr="lnu_wordmark_symbol_eng_rgb">
            <a:extLst>
              <a:ext uri="{FF2B5EF4-FFF2-40B4-BE49-F238E27FC236}">
                <a16:creationId xmlns:a16="http://schemas.microsoft.com/office/drawing/2014/main" id="{C8BBA26D-0448-C98D-A6E4-7D55251344C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2361" y="5087024"/>
            <a:ext cx="4303240" cy="697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82C91-27D9-7A04-4E8D-33817B2D740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3086" y="537502"/>
            <a:ext cx="6847472" cy="1976513"/>
          </a:xfrm>
          <a:prstGeom prst="rect">
            <a:avLst/>
          </a:prstGeo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Module #: Title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DD5900-7FFF-4234-2E19-03956DD10669}"/>
              </a:ext>
            </a:extLst>
          </p:cNvPr>
          <p:cNvSpPr txBox="1"/>
          <p:nvPr userDrawn="1"/>
        </p:nvSpPr>
        <p:spPr>
          <a:xfrm>
            <a:off x="213085" y="2570480"/>
            <a:ext cx="66957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Andreas Linderholt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Linnaeus University 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Department of Mechanical Engineering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</a:rPr>
              <a:t>Steven Carter</a:t>
            </a:r>
          </a:p>
          <a:p>
            <a:r>
              <a:rPr lang="en-US" b="1" dirty="0">
                <a:solidFill>
                  <a:schemeClr val="bg1"/>
                </a:solidFill>
              </a:rPr>
              <a:t>Benjamin Moldenhauer</a:t>
            </a:r>
          </a:p>
          <a:p>
            <a:r>
              <a:rPr lang="en-US" b="1" dirty="0">
                <a:solidFill>
                  <a:schemeClr val="bg1"/>
                </a:solidFill>
              </a:rPr>
              <a:t>Daniel Roettgen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Sandia National Laboratories</a:t>
            </a:r>
          </a:p>
          <a:p>
            <a:r>
              <a:rPr lang="en-US" b="0" i="1" dirty="0">
                <a:solidFill>
                  <a:schemeClr val="bg1"/>
                </a:solidFill>
              </a:rPr>
              <a:t>Experimental Structural Dynamics</a:t>
            </a:r>
          </a:p>
          <a:p>
            <a:endParaRPr lang="en-US" dirty="0"/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55A49339-AFD2-293D-5083-71E4E4D94B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22779" y="297608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58CEA6CC-F9AC-D943-BDC1-48802068B7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22779" y="1838484"/>
            <a:ext cx="2262822" cy="1463992"/>
          </a:xfrm>
          <a:prstGeom prst="rect">
            <a:avLst/>
          </a:prstGeom>
          <a:ln w="19050"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EAA5A42-DD64-4CDB-4EF6-E5FD7223D6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40" b="18728"/>
          <a:stretch/>
        </p:blipFill>
        <p:spPr>
          <a:xfrm>
            <a:off x="5704659" y="5766266"/>
            <a:ext cx="6487341" cy="109173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40B613-3A6D-056E-0592-B710A66DBB4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90065" y="3358941"/>
            <a:ext cx="3151696" cy="17753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AED2AD-3489-102B-FD4A-EF0FD9432851}"/>
              </a:ext>
            </a:extLst>
          </p:cNvPr>
          <p:cNvSpPr txBox="1"/>
          <p:nvPr userDrawn="1"/>
        </p:nvSpPr>
        <p:spPr>
          <a:xfrm>
            <a:off x="324845" y="5393103"/>
            <a:ext cx="4051642" cy="3915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Sandia National Laboratories is a </a:t>
            </a:r>
            <a:r>
              <a:rPr lang="en-US" sz="800" b="0" i="0" u="none" strike="noStrike" dirty="0" err="1">
                <a:solidFill>
                  <a:schemeClr val="bg1"/>
                </a:solidFill>
                <a:effectLst/>
                <a:latin typeface="+mn-lt"/>
              </a:rPr>
              <a:t>multimission</a:t>
            </a:r>
            <a:r>
              <a:rPr lang="en-US" sz="800" b="0" i="0" u="none" strike="noStrike" dirty="0">
                <a:solidFill>
                  <a:schemeClr val="bg1"/>
                </a:solidFill>
                <a:effectLst/>
                <a:latin typeface="+mn-lt"/>
              </a:rPr>
              <a:t> laboratory managed and operated by National Technology and Engineering Solutions of Sandia, LLC, a wholly owned subsidiary of Honeywell International Inc., for the U.S. Department of Energy’s National Nuclear Security Administration under contract DE-NA0003525</a:t>
            </a:r>
            <a:endParaRPr lang="en-US" sz="800" b="0" i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82104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C8612-5184-DD49-1D2B-3D06982D3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11337324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A23D71-51C1-E310-51CE-7DE5CD2D46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E0252BF-FA0F-2F01-F0F1-01835876CA31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8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032" y="136525"/>
            <a:ext cx="10515600" cy="66278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49D2C-832F-6FF3-40A6-F5F2FE06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2" y="939585"/>
            <a:ext cx="8683368" cy="49788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  <a:latin typeface="+mj-lt"/>
              </a:defRPr>
            </a:lvl1pPr>
            <a:lvl2pPr>
              <a:defRPr>
                <a:solidFill>
                  <a:schemeClr val="accent1"/>
                </a:solidFill>
                <a:latin typeface="+mj-lt"/>
              </a:defRPr>
            </a:lvl2pPr>
            <a:lvl3pPr>
              <a:defRPr>
                <a:solidFill>
                  <a:schemeClr val="accent1"/>
                </a:solidFill>
                <a:latin typeface="+mj-lt"/>
              </a:defRPr>
            </a:lvl3pPr>
            <a:lvl4pPr>
              <a:defRPr>
                <a:solidFill>
                  <a:schemeClr val="accent1"/>
                </a:solidFill>
                <a:latin typeface="+mj-lt"/>
              </a:defRPr>
            </a:lvl4pPr>
            <a:lvl5pPr>
              <a:defRPr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3C00C0-AFE4-5CDB-792C-B1FF128BB46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918876" y="876197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02C02E6-8B4E-746B-32D8-FBA12F839E6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918875" y="3339996"/>
            <a:ext cx="3087687" cy="2366963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30CF3A-888A-B8BC-F56F-72E990F0AF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C3CC7A-4227-B03B-A890-0B34C7C41C16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157A07-85D3-76EC-2529-437C905C2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480E8CA-FAFA-38A6-6AE7-6590C170A182}"/>
              </a:ext>
            </a:extLst>
          </p:cNvPr>
          <p:cNvSpPr txBox="1"/>
          <p:nvPr userDrawn="1"/>
        </p:nvSpPr>
        <p:spPr>
          <a:xfrm>
            <a:off x="297099" y="6328913"/>
            <a:ext cx="89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5570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/ Brea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5B12-DA50-06BD-F47C-576C09DE6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832" y="1409120"/>
            <a:ext cx="10515600" cy="66278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Transition 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EE25C2B-00D8-B739-8A7C-9F78150F5A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5040" y="1841555"/>
            <a:ext cx="6675121" cy="37600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A11BA6-9A4D-41B0-FE13-D42E91F591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7440"/>
          <a:stretch/>
        </p:blipFill>
        <p:spPr>
          <a:xfrm>
            <a:off x="11385383" y="5620835"/>
            <a:ext cx="869482" cy="1504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2307F5-1B86-EB7B-529A-B5AC3C3702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3939" r="45728"/>
          <a:stretch/>
        </p:blipFill>
        <p:spPr>
          <a:xfrm>
            <a:off x="-125729" y="5642823"/>
            <a:ext cx="1554480" cy="15042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EA77C6D-65EF-D438-A2B7-B79287A44518}"/>
              </a:ext>
            </a:extLst>
          </p:cNvPr>
          <p:cNvSpPr txBox="1"/>
          <p:nvPr userDrawn="1"/>
        </p:nvSpPr>
        <p:spPr>
          <a:xfrm>
            <a:off x="11687175" y="6231361"/>
            <a:ext cx="464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4A6E8EF-84EE-4D27-9E43-1F81D0E00356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107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2">
            <a:extLst>
              <a:ext uri="{FF2B5EF4-FFF2-40B4-BE49-F238E27FC236}">
                <a16:creationId xmlns:a16="http://schemas.microsoft.com/office/drawing/2014/main" id="{AE4A825A-4063-94F5-2E60-E497DE3F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AC2EE41-D82D-F945-F481-EC0ADFBAC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332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7616-A4B2-51B4-6A7C-6CC82304D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Module #9: Virtual Point Transformation (VPT)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6D44A-C018-0E6F-20C2-3A945BDF39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C6B8D1A-23C5-ACFC-ED38-9CA45829D8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33059-9A05-2663-4BF6-82A26E2DE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DE648-E8C1-2694-4D8B-0F0E499C6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Required Information in Substructuring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14E07F-01A1-4B5D-552E-EF54B7C5B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9" t="26393" r="11660" b="26709"/>
          <a:stretch>
            <a:fillRect/>
          </a:stretch>
        </p:blipFill>
        <p:spPr>
          <a:xfrm>
            <a:off x="350322" y="2259850"/>
            <a:ext cx="7401297" cy="29697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61B957-495E-EBF4-23A0-AED0981BC0BF}"/>
              </a:ext>
            </a:extLst>
          </p:cNvPr>
          <p:cNvSpPr/>
          <p:nvPr/>
        </p:nvSpPr>
        <p:spPr>
          <a:xfrm>
            <a:off x="1929452" y="4594827"/>
            <a:ext cx="678666" cy="54864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E81DC1-D90C-8E6D-9FD5-F7ACD63EF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8" t="62652" r="65471" b="28446"/>
          <a:stretch>
            <a:fillRect/>
          </a:stretch>
        </p:blipFill>
        <p:spPr>
          <a:xfrm>
            <a:off x="8330050" y="2576943"/>
            <a:ext cx="3368456" cy="2408834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10533F-3B80-51A4-DF46-6F755C9264F1}"/>
              </a:ext>
            </a:extLst>
          </p:cNvPr>
          <p:cNvCxnSpPr>
            <a:cxnSpLocks/>
          </p:cNvCxnSpPr>
          <p:nvPr/>
        </p:nvCxnSpPr>
        <p:spPr>
          <a:xfrm flipV="1">
            <a:off x="2608118" y="5013583"/>
            <a:ext cx="5686796" cy="129884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BE4667-539B-4CFA-2D4C-DF15C234F270}"/>
              </a:ext>
            </a:extLst>
          </p:cNvPr>
          <p:cNvCxnSpPr>
            <a:cxnSpLocks/>
          </p:cNvCxnSpPr>
          <p:nvPr/>
        </p:nvCxnSpPr>
        <p:spPr>
          <a:xfrm flipV="1">
            <a:off x="2608118" y="2549706"/>
            <a:ext cx="5686796" cy="2045121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DF3E47A4-308F-070B-728E-D42099A1E55E}"/>
              </a:ext>
            </a:extLst>
          </p:cNvPr>
          <p:cNvSpPr/>
          <p:nvPr/>
        </p:nvSpPr>
        <p:spPr>
          <a:xfrm>
            <a:off x="9877473" y="3990107"/>
            <a:ext cx="274320" cy="2743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1C09E2-FC10-5B91-C8E5-C7FA35E89D88}"/>
              </a:ext>
            </a:extLst>
          </p:cNvPr>
          <p:cNvSpPr txBox="1"/>
          <p:nvPr/>
        </p:nvSpPr>
        <p:spPr>
          <a:xfrm>
            <a:off x="8330050" y="1716156"/>
            <a:ext cx="1953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Coupling location in threaded hole</a:t>
            </a: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C39BA6A8-C082-1FB1-0F7A-6EF2999B2E9A}"/>
              </a:ext>
            </a:extLst>
          </p:cNvPr>
          <p:cNvSpPr/>
          <p:nvPr/>
        </p:nvSpPr>
        <p:spPr>
          <a:xfrm>
            <a:off x="8626831" y="2606587"/>
            <a:ext cx="3019720" cy="2026228"/>
          </a:xfrm>
          <a:custGeom>
            <a:avLst/>
            <a:gdLst>
              <a:gd name="csX0" fmla="*/ 1112367 w 2473037"/>
              <a:gd name="csY0" fmla="*/ 990308 h 1610591"/>
              <a:gd name="csX1" fmla="*/ 897425 w 2473037"/>
              <a:gd name="csY1" fmla="*/ 1223762 h 1610591"/>
              <a:gd name="csX2" fmla="*/ 1112367 w 2473037"/>
              <a:gd name="csY2" fmla="*/ 1457216 h 1610591"/>
              <a:gd name="csX3" fmla="*/ 1327309 w 2473037"/>
              <a:gd name="csY3" fmla="*/ 1223762 h 1610591"/>
              <a:gd name="csX4" fmla="*/ 1112367 w 2473037"/>
              <a:gd name="csY4" fmla="*/ 990308 h 1610591"/>
              <a:gd name="csX5" fmla="*/ 748146 w 2473037"/>
              <a:gd name="csY5" fmla="*/ 0 h 1610591"/>
              <a:gd name="csX6" fmla="*/ 1465118 w 2473037"/>
              <a:gd name="csY6" fmla="*/ 0 h 1610591"/>
              <a:gd name="csX7" fmla="*/ 1465118 w 2473037"/>
              <a:gd name="csY7" fmla="*/ 436419 h 1610591"/>
              <a:gd name="csX8" fmla="*/ 1485900 w 2473037"/>
              <a:gd name="csY8" fmla="*/ 623455 h 1610591"/>
              <a:gd name="csX9" fmla="*/ 1558637 w 2473037"/>
              <a:gd name="csY9" fmla="*/ 748146 h 1610591"/>
              <a:gd name="csX10" fmla="*/ 1662546 w 2473037"/>
              <a:gd name="csY10" fmla="*/ 831273 h 1610591"/>
              <a:gd name="csX11" fmla="*/ 1797628 w 2473037"/>
              <a:gd name="csY11" fmla="*/ 872837 h 1610591"/>
              <a:gd name="csX12" fmla="*/ 2462646 w 2473037"/>
              <a:gd name="csY12" fmla="*/ 862446 h 1610591"/>
              <a:gd name="csX13" fmla="*/ 2473037 w 2473037"/>
              <a:gd name="csY13" fmla="*/ 1589809 h 1610591"/>
              <a:gd name="csX14" fmla="*/ 0 w 2473037"/>
              <a:gd name="csY14" fmla="*/ 1610591 h 1610591"/>
              <a:gd name="csX15" fmla="*/ 0 w 2473037"/>
              <a:gd name="csY15" fmla="*/ 872837 h 1610591"/>
              <a:gd name="csX16" fmla="*/ 405246 w 2473037"/>
              <a:gd name="csY16" fmla="*/ 893619 h 1610591"/>
              <a:gd name="csX17" fmla="*/ 550718 w 2473037"/>
              <a:gd name="csY17" fmla="*/ 831273 h 1610591"/>
              <a:gd name="csX18" fmla="*/ 654628 w 2473037"/>
              <a:gd name="csY18" fmla="*/ 748146 h 1610591"/>
              <a:gd name="csX19" fmla="*/ 727364 w 2473037"/>
              <a:gd name="csY19" fmla="*/ 644237 h 1610591"/>
              <a:gd name="csX20" fmla="*/ 748146 w 2473037"/>
              <a:gd name="csY20" fmla="*/ 519546 h 16105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473037" h="1610591">
                <a:moveTo>
                  <a:pt x="1112367" y="990308"/>
                </a:moveTo>
                <a:cubicBezTo>
                  <a:pt x="993658" y="990308"/>
                  <a:pt x="897425" y="1094829"/>
                  <a:pt x="897425" y="1223762"/>
                </a:cubicBezTo>
                <a:cubicBezTo>
                  <a:pt x="897425" y="1352695"/>
                  <a:pt x="993658" y="1457216"/>
                  <a:pt x="1112367" y="1457216"/>
                </a:cubicBezTo>
                <a:cubicBezTo>
                  <a:pt x="1231076" y="1457216"/>
                  <a:pt x="1327309" y="1352695"/>
                  <a:pt x="1327309" y="1223762"/>
                </a:cubicBezTo>
                <a:cubicBezTo>
                  <a:pt x="1327309" y="1094829"/>
                  <a:pt x="1231076" y="990308"/>
                  <a:pt x="1112367" y="990308"/>
                </a:cubicBezTo>
                <a:close/>
                <a:moveTo>
                  <a:pt x="748146" y="0"/>
                </a:moveTo>
                <a:lnTo>
                  <a:pt x="1465118" y="0"/>
                </a:lnTo>
                <a:lnTo>
                  <a:pt x="1465118" y="436419"/>
                </a:lnTo>
                <a:lnTo>
                  <a:pt x="1485900" y="623455"/>
                </a:lnTo>
                <a:lnTo>
                  <a:pt x="1558637" y="748146"/>
                </a:lnTo>
                <a:lnTo>
                  <a:pt x="1662546" y="831273"/>
                </a:lnTo>
                <a:lnTo>
                  <a:pt x="1797628" y="872837"/>
                </a:lnTo>
                <a:lnTo>
                  <a:pt x="2462646" y="862446"/>
                </a:lnTo>
                <a:lnTo>
                  <a:pt x="2473037" y="1589809"/>
                </a:lnTo>
                <a:lnTo>
                  <a:pt x="0" y="1610591"/>
                </a:lnTo>
                <a:lnTo>
                  <a:pt x="0" y="872837"/>
                </a:lnTo>
                <a:lnTo>
                  <a:pt x="405246" y="893619"/>
                </a:lnTo>
                <a:lnTo>
                  <a:pt x="550718" y="831273"/>
                </a:lnTo>
                <a:lnTo>
                  <a:pt x="654628" y="748146"/>
                </a:lnTo>
                <a:lnTo>
                  <a:pt x="727364" y="644237"/>
                </a:lnTo>
                <a:lnTo>
                  <a:pt x="748146" y="519546"/>
                </a:lnTo>
                <a:close/>
              </a:path>
            </a:pathLst>
          </a:cu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F356FB-5BF8-8261-1E31-AAAC1ED6AAD4}"/>
              </a:ext>
            </a:extLst>
          </p:cNvPr>
          <p:cNvCxnSpPr>
            <a:cxnSpLocks/>
            <a:stCxn id="17" idx="2"/>
            <a:endCxn id="16" idx="0"/>
          </p:cNvCxnSpPr>
          <p:nvPr/>
        </p:nvCxnSpPr>
        <p:spPr>
          <a:xfrm>
            <a:off x="9306795" y="2362487"/>
            <a:ext cx="707838" cy="1627620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5D89EAB-7969-2F5C-64D6-5043E01B0255}"/>
              </a:ext>
            </a:extLst>
          </p:cNvPr>
          <p:cNvSpPr txBox="1"/>
          <p:nvPr/>
        </p:nvSpPr>
        <p:spPr>
          <a:xfrm>
            <a:off x="8058995" y="5497580"/>
            <a:ext cx="2758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Available Instrumentation Locations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003BD3-197D-AAE5-8271-45B7A6123263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9438084" y="4344220"/>
            <a:ext cx="121552" cy="1153360"/>
          </a:xfrm>
          <a:prstGeom prst="straightConnector1">
            <a:avLst/>
          </a:prstGeom>
          <a:ln w="5715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444574C-FC87-D7FB-6B32-383C6DEBB442}"/>
              </a:ext>
            </a:extLst>
          </p:cNvPr>
          <p:cNvSpPr/>
          <p:nvPr/>
        </p:nvSpPr>
        <p:spPr>
          <a:xfrm>
            <a:off x="1183441" y="799306"/>
            <a:ext cx="9437192" cy="7185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Substructuring is all about the interface modeling and missing information can lead to significant errors</a:t>
            </a:r>
          </a:p>
        </p:txBody>
      </p:sp>
    </p:spTree>
    <p:extLst>
      <p:ext uri="{BB962C8B-B14F-4D97-AF65-F5344CB8AC3E}">
        <p14:creationId xmlns:p14="http://schemas.microsoft.com/office/powerpoint/2010/main" val="2599297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9F48-F353-F248-06AF-80CE3BA2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the VPT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DD7E-BEEA-8304-2FA5-074426E32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1839190"/>
            <a:ext cx="11293795" cy="40792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Used to obtain measurements at the coupling locations</a:t>
            </a:r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to indirectly measure rotations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Preprocesses the data with a spatial filter – interface weakening 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0B06E26-48D3-61F1-762B-B2E67916E075}"/>
              </a:ext>
            </a:extLst>
          </p:cNvPr>
          <p:cNvSpPr/>
          <p:nvPr/>
        </p:nvSpPr>
        <p:spPr>
          <a:xfrm>
            <a:off x="602673" y="1028701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is an experimental technique for interface modeling and interface weakening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E4579-3D02-9632-EBFA-DD7F87627C7D}"/>
              </a:ext>
            </a:extLst>
          </p:cNvPr>
          <p:cNvSpPr/>
          <p:nvPr/>
        </p:nvSpPr>
        <p:spPr>
          <a:xfrm>
            <a:off x="105031" y="1701579"/>
            <a:ext cx="9889759" cy="43573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8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9F48-F353-F248-06AF-80CE3BA2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the VPT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DD7E-BEEA-8304-2FA5-074426E32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1839190"/>
            <a:ext cx="11293795" cy="40792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Used to obtain measurements at the coupling locations</a:t>
            </a:r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to indirectly measure rotations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Preprocesses the data with a spatial filter – interface weakening 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0B06E26-48D3-61F1-762B-B2E67916E075}"/>
              </a:ext>
            </a:extLst>
          </p:cNvPr>
          <p:cNvSpPr/>
          <p:nvPr/>
        </p:nvSpPr>
        <p:spPr>
          <a:xfrm>
            <a:off x="602673" y="1028701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is an experimental technique for interface modeling and interface weakening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E4579-3D02-9632-EBFA-DD7F87627C7D}"/>
              </a:ext>
            </a:extLst>
          </p:cNvPr>
          <p:cNvSpPr/>
          <p:nvPr/>
        </p:nvSpPr>
        <p:spPr>
          <a:xfrm>
            <a:off x="105031" y="2619303"/>
            <a:ext cx="9889759" cy="34395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9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9F48-F353-F248-06AF-80CE3BA2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the VPT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DD7E-BEEA-8304-2FA5-074426E32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1839190"/>
            <a:ext cx="11293795" cy="40792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Used to obtain measurements at the coupling locations</a:t>
            </a:r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to indirectly measure rotations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Preprocesses the data with a spatial filter – interface weakening 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0B06E26-48D3-61F1-762B-B2E67916E075}"/>
              </a:ext>
            </a:extLst>
          </p:cNvPr>
          <p:cNvSpPr/>
          <p:nvPr/>
        </p:nvSpPr>
        <p:spPr>
          <a:xfrm>
            <a:off x="602673" y="1028701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is an experimental technique for interface modeling and interface weakening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E4579-3D02-9632-EBFA-DD7F87627C7D}"/>
              </a:ext>
            </a:extLst>
          </p:cNvPr>
          <p:cNvSpPr/>
          <p:nvPr/>
        </p:nvSpPr>
        <p:spPr>
          <a:xfrm>
            <a:off x="105031" y="4269850"/>
            <a:ext cx="9889759" cy="17890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1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9F48-F353-F248-06AF-80CE3BA2A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the VPT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8DD7E-BEEA-8304-2FA5-074426E32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1839190"/>
            <a:ext cx="11293795" cy="40792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Used to obtain measurements at the coupling locations</a:t>
            </a:r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to indirectly measure rotations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Preprocesses the data with a spatial filter – interface weakening 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0B06E26-48D3-61F1-762B-B2E67916E075}"/>
              </a:ext>
            </a:extLst>
          </p:cNvPr>
          <p:cNvSpPr/>
          <p:nvPr/>
        </p:nvSpPr>
        <p:spPr>
          <a:xfrm>
            <a:off x="602673" y="1028701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is an experimental technique for interface modeling and interface weakening</a:t>
            </a:r>
          </a:p>
        </p:txBody>
      </p:sp>
    </p:spTree>
    <p:extLst>
      <p:ext uri="{BB962C8B-B14F-4D97-AF65-F5344CB8AC3E}">
        <p14:creationId xmlns:p14="http://schemas.microsoft.com/office/powerpoint/2010/main" val="1949574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0B4A1-CF04-56F3-2122-97BD4264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Interface Modeling with VPT</a:t>
            </a:r>
          </a:p>
        </p:txBody>
      </p:sp>
    </p:spTree>
    <p:extLst>
      <p:ext uri="{BB962C8B-B14F-4D97-AF65-F5344CB8AC3E}">
        <p14:creationId xmlns:p14="http://schemas.microsoft.com/office/powerpoint/2010/main" val="1282536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A40CF-3AD0-09AC-E84F-3568ABA9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Interface Modeling with the VPT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FA7720-90EE-DA52-650A-EA74DE318262}"/>
              </a:ext>
            </a:extLst>
          </p:cNvPr>
          <p:cNvSpPr/>
          <p:nvPr/>
        </p:nvSpPr>
        <p:spPr>
          <a:xfrm>
            <a:off x="602673" y="883227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transforms several “easy” measurements to data at the coupling location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A1AB2-B15A-0FA9-ED57-B880305C3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8" t="62652" r="65471" b="28446"/>
          <a:stretch>
            <a:fillRect/>
          </a:stretch>
        </p:blipFill>
        <p:spPr>
          <a:xfrm>
            <a:off x="817415" y="2358737"/>
            <a:ext cx="4182156" cy="2990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A9D7D7-C639-1E22-F44B-63BAE0791D7D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421078" y="3086100"/>
            <a:ext cx="503081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9100D29-9B68-192F-F0C0-11173D698E5C}"/>
              </a:ext>
            </a:extLst>
          </p:cNvPr>
          <p:cNvSpPr/>
          <p:nvPr/>
        </p:nvSpPr>
        <p:spPr>
          <a:xfrm>
            <a:off x="2924159" y="2948940"/>
            <a:ext cx="274320" cy="27432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809A75-11BA-A86D-3CB4-390D6CB4B981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3061319" y="2483428"/>
            <a:ext cx="0" cy="46551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20B54F-A909-85B1-962B-69FB20CB66E2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1253833" y="4495800"/>
            <a:ext cx="503081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B0FD8EEF-8608-23DB-6A29-CDBDD8140736}"/>
              </a:ext>
            </a:extLst>
          </p:cNvPr>
          <p:cNvSpPr/>
          <p:nvPr/>
        </p:nvSpPr>
        <p:spPr>
          <a:xfrm>
            <a:off x="1756914" y="4358640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223FD5-C503-5DC0-FD56-4E53518507C1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894074" y="3893128"/>
            <a:ext cx="0" cy="46551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D66ECF-E042-5BC2-640D-4F7568BEE658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661060" y="4590011"/>
            <a:ext cx="503081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C3DFF64-3E26-416C-B9B0-CE4FA6848966}"/>
              </a:ext>
            </a:extLst>
          </p:cNvPr>
          <p:cNvSpPr/>
          <p:nvPr/>
        </p:nvSpPr>
        <p:spPr>
          <a:xfrm>
            <a:off x="4164141" y="4452851"/>
            <a:ext cx="274320" cy="2743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5DA87E-AF17-F73F-D29F-26D101B5FA24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4301301" y="3987339"/>
            <a:ext cx="0" cy="465512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E874B98-8084-C205-4C8C-9F3DE7070FC7}"/>
              </a:ext>
            </a:extLst>
          </p:cNvPr>
          <p:cNvSpPr txBox="1"/>
          <p:nvPr/>
        </p:nvSpPr>
        <p:spPr>
          <a:xfrm>
            <a:off x="817414" y="1813489"/>
            <a:ext cx="418215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Physical Measurements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52A251-A12B-EF00-2613-C0ADAEA9F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8" t="62652" r="65471" b="28446"/>
          <a:stretch>
            <a:fillRect/>
          </a:stretch>
        </p:blipFill>
        <p:spPr>
          <a:xfrm>
            <a:off x="7051431" y="2358737"/>
            <a:ext cx="4182156" cy="2990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E21F742-A32F-1C03-6614-0259BB9FB882}"/>
              </a:ext>
            </a:extLst>
          </p:cNvPr>
          <p:cNvSpPr txBox="1"/>
          <p:nvPr/>
        </p:nvSpPr>
        <p:spPr>
          <a:xfrm>
            <a:off x="7051430" y="1813489"/>
            <a:ext cx="418215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VPT Interface Model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AB09E12-9F1C-41F0-13E3-AEA9847E5BB9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8510151" y="4285212"/>
            <a:ext cx="495196" cy="900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C444760-95D0-C856-5491-7AA3CE40C090}"/>
              </a:ext>
            </a:extLst>
          </p:cNvPr>
          <p:cNvSpPr/>
          <p:nvPr/>
        </p:nvSpPr>
        <p:spPr>
          <a:xfrm>
            <a:off x="9005347" y="4148052"/>
            <a:ext cx="274320" cy="27432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FE7E8A8-5F58-2159-A434-66D00A2CA9F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9142507" y="3691545"/>
            <a:ext cx="7885" cy="45650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CE4895D5-DA96-D0A0-1E4A-D9B041926883}"/>
              </a:ext>
            </a:extLst>
          </p:cNvPr>
          <p:cNvSpPr/>
          <p:nvPr/>
        </p:nvSpPr>
        <p:spPr>
          <a:xfrm>
            <a:off x="8799607" y="3942312"/>
            <a:ext cx="685800" cy="685800"/>
          </a:xfrm>
          <a:prstGeom prst="arc">
            <a:avLst>
              <a:gd name="adj1" fmla="val 18671154"/>
              <a:gd name="adj2" fmla="val 7017618"/>
            </a:avLst>
          </a:prstGeom>
          <a:ln w="5715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E00A3F-4FBA-2C02-B8A7-9F4C8D45EF3F}"/>
              </a:ext>
            </a:extLst>
          </p:cNvPr>
          <p:cNvSpPr txBox="1"/>
          <p:nvPr/>
        </p:nvSpPr>
        <p:spPr>
          <a:xfrm>
            <a:off x="2649844" y="2423255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B84541-4424-7161-60FF-C404B18CFFFF}"/>
              </a:ext>
            </a:extLst>
          </p:cNvPr>
          <p:cNvSpPr txBox="1"/>
          <p:nvPr/>
        </p:nvSpPr>
        <p:spPr>
          <a:xfrm>
            <a:off x="2089570" y="2916823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2161E0-6C36-866D-C305-66175610FFF4}"/>
              </a:ext>
            </a:extLst>
          </p:cNvPr>
          <p:cNvSpPr txBox="1"/>
          <p:nvPr/>
        </p:nvSpPr>
        <p:spPr>
          <a:xfrm>
            <a:off x="1490905" y="3832955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8F9DFC-C161-CD7E-F963-F5089EFAF234}"/>
              </a:ext>
            </a:extLst>
          </p:cNvPr>
          <p:cNvSpPr txBox="1"/>
          <p:nvPr/>
        </p:nvSpPr>
        <p:spPr>
          <a:xfrm>
            <a:off x="930631" y="4326523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FA65A3-C310-CF9D-B03D-755CA4ACAEAD}"/>
              </a:ext>
            </a:extLst>
          </p:cNvPr>
          <p:cNvSpPr txBox="1"/>
          <p:nvPr/>
        </p:nvSpPr>
        <p:spPr>
          <a:xfrm>
            <a:off x="3897711" y="3895049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9CCD98-B3A3-FAF4-02C7-A16EFB8471BF}"/>
              </a:ext>
            </a:extLst>
          </p:cNvPr>
          <p:cNvSpPr txBox="1"/>
          <p:nvPr/>
        </p:nvSpPr>
        <p:spPr>
          <a:xfrm>
            <a:off x="3337437" y="4388617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8A7B89-7BAF-676C-7AE9-31F64616B016}"/>
              </a:ext>
            </a:extLst>
          </p:cNvPr>
          <p:cNvSpPr txBox="1"/>
          <p:nvPr/>
        </p:nvSpPr>
        <p:spPr>
          <a:xfrm>
            <a:off x="8746800" y="3631810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94EAA2-B5CC-AF28-AEF4-B8832FC7C516}"/>
              </a:ext>
            </a:extLst>
          </p:cNvPr>
          <p:cNvSpPr txBox="1"/>
          <p:nvPr/>
        </p:nvSpPr>
        <p:spPr>
          <a:xfrm>
            <a:off x="8186526" y="4125378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FFE83A-8E06-5457-2559-08DACCC92278}"/>
              </a:ext>
            </a:extLst>
          </p:cNvPr>
          <p:cNvSpPr txBox="1"/>
          <p:nvPr/>
        </p:nvSpPr>
        <p:spPr>
          <a:xfrm>
            <a:off x="9595936" y="3881541"/>
            <a:ext cx="43630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RZ</a:t>
            </a:r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185759D4-1E1D-FBBB-F66F-7C3DDE570602}"/>
              </a:ext>
            </a:extLst>
          </p:cNvPr>
          <p:cNvSpPr/>
          <p:nvPr/>
        </p:nvSpPr>
        <p:spPr>
          <a:xfrm>
            <a:off x="5324085" y="3236060"/>
            <a:ext cx="1485900" cy="12360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VPT</a:t>
            </a:r>
          </a:p>
        </p:txBody>
      </p:sp>
    </p:spTree>
    <p:extLst>
      <p:ext uri="{BB962C8B-B14F-4D97-AF65-F5344CB8AC3E}">
        <p14:creationId xmlns:p14="http://schemas.microsoft.com/office/powerpoint/2010/main" val="1613798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90B4B2-3E04-CE9C-051A-A5FA846818DA}"/>
              </a:ext>
            </a:extLst>
          </p:cNvPr>
          <p:cNvSpPr/>
          <p:nvPr/>
        </p:nvSpPr>
        <p:spPr>
          <a:xfrm>
            <a:off x="5701147" y="954170"/>
            <a:ext cx="5603464" cy="2082903"/>
          </a:xfrm>
          <a:custGeom>
            <a:avLst/>
            <a:gdLst>
              <a:gd name="connsiteX0" fmla="*/ 0 w 5603464"/>
              <a:gd name="connsiteY0" fmla="*/ 347157 h 2082903"/>
              <a:gd name="connsiteX1" fmla="*/ 347157 w 5603464"/>
              <a:gd name="connsiteY1" fmla="*/ 0 h 2082903"/>
              <a:gd name="connsiteX2" fmla="*/ 1009892 w 5603464"/>
              <a:gd name="connsiteY2" fmla="*/ 0 h 2082903"/>
              <a:gd name="connsiteX3" fmla="*/ 1525353 w 5603464"/>
              <a:gd name="connsiteY3" fmla="*/ 0 h 2082903"/>
              <a:gd name="connsiteX4" fmla="*/ 2188088 w 5603464"/>
              <a:gd name="connsiteY4" fmla="*/ 0 h 2082903"/>
              <a:gd name="connsiteX5" fmla="*/ 2654458 w 5603464"/>
              <a:gd name="connsiteY5" fmla="*/ 0 h 2082903"/>
              <a:gd name="connsiteX6" fmla="*/ 3317193 w 5603464"/>
              <a:gd name="connsiteY6" fmla="*/ 0 h 2082903"/>
              <a:gd name="connsiteX7" fmla="*/ 3832653 w 5603464"/>
              <a:gd name="connsiteY7" fmla="*/ 0 h 2082903"/>
              <a:gd name="connsiteX8" fmla="*/ 4299023 w 5603464"/>
              <a:gd name="connsiteY8" fmla="*/ 0 h 2082903"/>
              <a:gd name="connsiteX9" fmla="*/ 5256307 w 5603464"/>
              <a:gd name="connsiteY9" fmla="*/ 0 h 2082903"/>
              <a:gd name="connsiteX10" fmla="*/ 5603464 w 5603464"/>
              <a:gd name="connsiteY10" fmla="*/ 347157 h 2082903"/>
              <a:gd name="connsiteX11" fmla="*/ 5603464 w 5603464"/>
              <a:gd name="connsiteY11" fmla="*/ 1055337 h 2082903"/>
              <a:gd name="connsiteX12" fmla="*/ 5603464 w 5603464"/>
              <a:gd name="connsiteY12" fmla="*/ 1735746 h 2082903"/>
              <a:gd name="connsiteX13" fmla="*/ 5256307 w 5603464"/>
              <a:gd name="connsiteY13" fmla="*/ 2082903 h 2082903"/>
              <a:gd name="connsiteX14" fmla="*/ 4789938 w 5603464"/>
              <a:gd name="connsiteY14" fmla="*/ 2082903 h 2082903"/>
              <a:gd name="connsiteX15" fmla="*/ 4078111 w 5603464"/>
              <a:gd name="connsiteY15" fmla="*/ 2082903 h 2082903"/>
              <a:gd name="connsiteX16" fmla="*/ 3464467 w 5603464"/>
              <a:gd name="connsiteY16" fmla="*/ 2082903 h 2082903"/>
              <a:gd name="connsiteX17" fmla="*/ 2752641 w 5603464"/>
              <a:gd name="connsiteY17" fmla="*/ 2082903 h 2082903"/>
              <a:gd name="connsiteX18" fmla="*/ 2089905 w 5603464"/>
              <a:gd name="connsiteY18" fmla="*/ 2082903 h 2082903"/>
              <a:gd name="connsiteX19" fmla="*/ 1525353 w 5603464"/>
              <a:gd name="connsiteY19" fmla="*/ 2082903 h 2082903"/>
              <a:gd name="connsiteX20" fmla="*/ 347157 w 5603464"/>
              <a:gd name="connsiteY20" fmla="*/ 2082903 h 2082903"/>
              <a:gd name="connsiteX21" fmla="*/ 0 w 5603464"/>
              <a:gd name="connsiteY21" fmla="*/ 1735746 h 2082903"/>
              <a:gd name="connsiteX22" fmla="*/ 0 w 5603464"/>
              <a:gd name="connsiteY22" fmla="*/ 1041452 h 2082903"/>
              <a:gd name="connsiteX23" fmla="*/ 0 w 5603464"/>
              <a:gd name="connsiteY23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603464" h="2082903" fill="none" extrusionOk="0">
                <a:moveTo>
                  <a:pt x="0" y="347157"/>
                </a:moveTo>
                <a:cubicBezTo>
                  <a:pt x="-2280" y="160004"/>
                  <a:pt x="145314" y="-13418"/>
                  <a:pt x="347157" y="0"/>
                </a:cubicBezTo>
                <a:cubicBezTo>
                  <a:pt x="659602" y="14143"/>
                  <a:pt x="833975" y="19685"/>
                  <a:pt x="1009892" y="0"/>
                </a:cubicBezTo>
                <a:cubicBezTo>
                  <a:pt x="1185810" y="-19685"/>
                  <a:pt x="1286464" y="-13290"/>
                  <a:pt x="1525353" y="0"/>
                </a:cubicBezTo>
                <a:cubicBezTo>
                  <a:pt x="1764242" y="13290"/>
                  <a:pt x="1906405" y="-33071"/>
                  <a:pt x="2188088" y="0"/>
                </a:cubicBezTo>
                <a:cubicBezTo>
                  <a:pt x="2469771" y="33071"/>
                  <a:pt x="2521126" y="19942"/>
                  <a:pt x="2654458" y="0"/>
                </a:cubicBezTo>
                <a:cubicBezTo>
                  <a:pt x="2787790" y="-19942"/>
                  <a:pt x="3010075" y="-8754"/>
                  <a:pt x="3317193" y="0"/>
                </a:cubicBezTo>
                <a:cubicBezTo>
                  <a:pt x="3624311" y="8754"/>
                  <a:pt x="3610248" y="12115"/>
                  <a:pt x="3832653" y="0"/>
                </a:cubicBezTo>
                <a:cubicBezTo>
                  <a:pt x="4055058" y="-12115"/>
                  <a:pt x="4109731" y="-4822"/>
                  <a:pt x="4299023" y="0"/>
                </a:cubicBezTo>
                <a:cubicBezTo>
                  <a:pt x="4488315" y="4822"/>
                  <a:pt x="5049090" y="-33745"/>
                  <a:pt x="5256307" y="0"/>
                </a:cubicBezTo>
                <a:cubicBezTo>
                  <a:pt x="5442699" y="19974"/>
                  <a:pt x="5639546" y="165776"/>
                  <a:pt x="5603464" y="347157"/>
                </a:cubicBezTo>
                <a:cubicBezTo>
                  <a:pt x="5571931" y="661927"/>
                  <a:pt x="5570455" y="750464"/>
                  <a:pt x="5603464" y="1055337"/>
                </a:cubicBezTo>
                <a:cubicBezTo>
                  <a:pt x="5636473" y="1360210"/>
                  <a:pt x="5585478" y="1446084"/>
                  <a:pt x="5603464" y="1735746"/>
                </a:cubicBezTo>
                <a:cubicBezTo>
                  <a:pt x="5616089" y="1958335"/>
                  <a:pt x="5470757" y="2105379"/>
                  <a:pt x="5256307" y="2082903"/>
                </a:cubicBezTo>
                <a:cubicBezTo>
                  <a:pt x="5100303" y="2066384"/>
                  <a:pt x="4996698" y="2074739"/>
                  <a:pt x="4789938" y="2082903"/>
                </a:cubicBezTo>
                <a:cubicBezTo>
                  <a:pt x="4583178" y="2091067"/>
                  <a:pt x="4335783" y="2085872"/>
                  <a:pt x="4078111" y="2082903"/>
                </a:cubicBezTo>
                <a:cubicBezTo>
                  <a:pt x="3820439" y="2079934"/>
                  <a:pt x="3705236" y="2054282"/>
                  <a:pt x="3464467" y="2082903"/>
                </a:cubicBezTo>
                <a:cubicBezTo>
                  <a:pt x="3223698" y="2111524"/>
                  <a:pt x="2949310" y="2075305"/>
                  <a:pt x="2752641" y="2082903"/>
                </a:cubicBezTo>
                <a:cubicBezTo>
                  <a:pt x="2555972" y="2090501"/>
                  <a:pt x="2402298" y="2054089"/>
                  <a:pt x="2089905" y="2082903"/>
                </a:cubicBezTo>
                <a:cubicBezTo>
                  <a:pt x="1777512" y="2111717"/>
                  <a:pt x="1714367" y="2082793"/>
                  <a:pt x="1525353" y="2082903"/>
                </a:cubicBezTo>
                <a:cubicBezTo>
                  <a:pt x="1336339" y="2083013"/>
                  <a:pt x="755660" y="2062646"/>
                  <a:pt x="347157" y="2082903"/>
                </a:cubicBezTo>
                <a:cubicBezTo>
                  <a:pt x="155621" y="2091732"/>
                  <a:pt x="24880" y="1905151"/>
                  <a:pt x="0" y="1735746"/>
                </a:cubicBezTo>
                <a:cubicBezTo>
                  <a:pt x="-19513" y="1440503"/>
                  <a:pt x="-24480" y="1259767"/>
                  <a:pt x="0" y="1041452"/>
                </a:cubicBezTo>
                <a:cubicBezTo>
                  <a:pt x="24480" y="823137"/>
                  <a:pt x="17244" y="538640"/>
                  <a:pt x="0" y="347157"/>
                </a:cubicBezTo>
                <a:close/>
              </a:path>
              <a:path w="5603464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6687" y="26663"/>
                  <a:pt x="791967" y="-20427"/>
                  <a:pt x="1058984" y="0"/>
                </a:cubicBezTo>
                <a:cubicBezTo>
                  <a:pt x="1326001" y="20427"/>
                  <a:pt x="1348184" y="-12068"/>
                  <a:pt x="1623536" y="0"/>
                </a:cubicBezTo>
                <a:cubicBezTo>
                  <a:pt x="1898888" y="12068"/>
                  <a:pt x="1900968" y="17766"/>
                  <a:pt x="2138997" y="0"/>
                </a:cubicBezTo>
                <a:cubicBezTo>
                  <a:pt x="2377026" y="-17766"/>
                  <a:pt x="2595584" y="25999"/>
                  <a:pt x="2801732" y="0"/>
                </a:cubicBezTo>
                <a:cubicBezTo>
                  <a:pt x="3007880" y="-25999"/>
                  <a:pt x="3137518" y="13035"/>
                  <a:pt x="3366284" y="0"/>
                </a:cubicBezTo>
                <a:cubicBezTo>
                  <a:pt x="3595050" y="-13035"/>
                  <a:pt x="3776537" y="-10232"/>
                  <a:pt x="4078111" y="0"/>
                </a:cubicBezTo>
                <a:cubicBezTo>
                  <a:pt x="4379685" y="10232"/>
                  <a:pt x="4346001" y="19694"/>
                  <a:pt x="4593572" y="0"/>
                </a:cubicBezTo>
                <a:cubicBezTo>
                  <a:pt x="4841143" y="-19694"/>
                  <a:pt x="5122143" y="3843"/>
                  <a:pt x="5256307" y="0"/>
                </a:cubicBezTo>
                <a:cubicBezTo>
                  <a:pt x="5482348" y="8250"/>
                  <a:pt x="5577529" y="151232"/>
                  <a:pt x="5603464" y="347157"/>
                </a:cubicBezTo>
                <a:cubicBezTo>
                  <a:pt x="5580055" y="643217"/>
                  <a:pt x="5637606" y="743872"/>
                  <a:pt x="5603464" y="1041452"/>
                </a:cubicBezTo>
                <a:cubicBezTo>
                  <a:pt x="5569322" y="1339033"/>
                  <a:pt x="5595993" y="1520042"/>
                  <a:pt x="5603464" y="1735746"/>
                </a:cubicBezTo>
                <a:cubicBezTo>
                  <a:pt x="5607113" y="1931946"/>
                  <a:pt x="5469858" y="2063797"/>
                  <a:pt x="5256307" y="2082903"/>
                </a:cubicBezTo>
                <a:cubicBezTo>
                  <a:pt x="5062093" y="2075279"/>
                  <a:pt x="4807651" y="2079080"/>
                  <a:pt x="4642663" y="2082903"/>
                </a:cubicBezTo>
                <a:cubicBezTo>
                  <a:pt x="4477675" y="2086726"/>
                  <a:pt x="4225419" y="2096360"/>
                  <a:pt x="4029020" y="2082903"/>
                </a:cubicBezTo>
                <a:cubicBezTo>
                  <a:pt x="3832621" y="2069446"/>
                  <a:pt x="3629413" y="2091106"/>
                  <a:pt x="3317193" y="2082903"/>
                </a:cubicBezTo>
                <a:cubicBezTo>
                  <a:pt x="3004973" y="2074700"/>
                  <a:pt x="2979199" y="2070691"/>
                  <a:pt x="2703549" y="2082903"/>
                </a:cubicBezTo>
                <a:cubicBezTo>
                  <a:pt x="2427899" y="2095115"/>
                  <a:pt x="2434386" y="2088307"/>
                  <a:pt x="2237180" y="2082903"/>
                </a:cubicBezTo>
                <a:cubicBezTo>
                  <a:pt x="2039974" y="2077499"/>
                  <a:pt x="1960500" y="2105500"/>
                  <a:pt x="1721719" y="2082903"/>
                </a:cubicBezTo>
                <a:cubicBezTo>
                  <a:pt x="1482938" y="2060306"/>
                  <a:pt x="1337558" y="2105188"/>
                  <a:pt x="1009892" y="2082903"/>
                </a:cubicBezTo>
                <a:cubicBezTo>
                  <a:pt x="682226" y="2060618"/>
                  <a:pt x="504309" y="2078515"/>
                  <a:pt x="347157" y="2082903"/>
                </a:cubicBezTo>
                <a:cubicBezTo>
                  <a:pt x="159410" y="2090789"/>
                  <a:pt x="-16270" y="1936056"/>
                  <a:pt x="0" y="1735746"/>
                </a:cubicBezTo>
                <a:cubicBezTo>
                  <a:pt x="-18927" y="1533786"/>
                  <a:pt x="-11439" y="1176689"/>
                  <a:pt x="0" y="1027566"/>
                </a:cubicBezTo>
                <a:cubicBezTo>
                  <a:pt x="11439" y="878443"/>
                  <a:pt x="26102" y="663788"/>
                  <a:pt x="0" y="34715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with Response Transformation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E7C87D8-A1EA-9AE3-C876-F457726B7D5E}"/>
              </a:ext>
            </a:extLst>
          </p:cNvPr>
          <p:cNvSpPr/>
          <p:nvPr/>
        </p:nvSpPr>
        <p:spPr>
          <a:xfrm>
            <a:off x="887389" y="954170"/>
            <a:ext cx="3987913" cy="2082903"/>
          </a:xfrm>
          <a:custGeom>
            <a:avLst/>
            <a:gdLst>
              <a:gd name="connsiteX0" fmla="*/ 0 w 3987913"/>
              <a:gd name="connsiteY0" fmla="*/ 347157 h 2082903"/>
              <a:gd name="connsiteX1" fmla="*/ 347157 w 3987913"/>
              <a:gd name="connsiteY1" fmla="*/ 0 h 2082903"/>
              <a:gd name="connsiteX2" fmla="*/ 1038813 w 3987913"/>
              <a:gd name="connsiteY2" fmla="*/ 0 h 2082903"/>
              <a:gd name="connsiteX3" fmla="*/ 1631661 w 3987913"/>
              <a:gd name="connsiteY3" fmla="*/ 0 h 2082903"/>
              <a:gd name="connsiteX4" fmla="*/ 2290380 w 3987913"/>
              <a:gd name="connsiteY4" fmla="*/ 0 h 2082903"/>
              <a:gd name="connsiteX5" fmla="*/ 2850292 w 3987913"/>
              <a:gd name="connsiteY5" fmla="*/ 0 h 2082903"/>
              <a:gd name="connsiteX6" fmla="*/ 3640756 w 3987913"/>
              <a:gd name="connsiteY6" fmla="*/ 0 h 2082903"/>
              <a:gd name="connsiteX7" fmla="*/ 3987913 w 3987913"/>
              <a:gd name="connsiteY7" fmla="*/ 347157 h 2082903"/>
              <a:gd name="connsiteX8" fmla="*/ 3987913 w 3987913"/>
              <a:gd name="connsiteY8" fmla="*/ 1055337 h 2082903"/>
              <a:gd name="connsiteX9" fmla="*/ 3987913 w 3987913"/>
              <a:gd name="connsiteY9" fmla="*/ 1735746 h 2082903"/>
              <a:gd name="connsiteX10" fmla="*/ 3640756 w 3987913"/>
              <a:gd name="connsiteY10" fmla="*/ 2082903 h 2082903"/>
              <a:gd name="connsiteX11" fmla="*/ 2982036 w 3987913"/>
              <a:gd name="connsiteY11" fmla="*/ 2082903 h 2082903"/>
              <a:gd name="connsiteX12" fmla="*/ 2389188 w 3987913"/>
              <a:gd name="connsiteY12" fmla="*/ 2082903 h 2082903"/>
              <a:gd name="connsiteX13" fmla="*/ 1829277 w 3987913"/>
              <a:gd name="connsiteY13" fmla="*/ 2082903 h 2082903"/>
              <a:gd name="connsiteX14" fmla="*/ 1236429 w 3987913"/>
              <a:gd name="connsiteY14" fmla="*/ 2082903 h 2082903"/>
              <a:gd name="connsiteX15" fmla="*/ 347157 w 3987913"/>
              <a:gd name="connsiteY15" fmla="*/ 2082903 h 2082903"/>
              <a:gd name="connsiteX16" fmla="*/ 0 w 3987913"/>
              <a:gd name="connsiteY16" fmla="*/ 1735746 h 2082903"/>
              <a:gd name="connsiteX17" fmla="*/ 0 w 3987913"/>
              <a:gd name="connsiteY17" fmla="*/ 1069223 h 2082903"/>
              <a:gd name="connsiteX18" fmla="*/ 0 w 3987913"/>
              <a:gd name="connsiteY18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913" h="2082903" fill="none" extrusionOk="0">
                <a:moveTo>
                  <a:pt x="0" y="347157"/>
                </a:moveTo>
                <a:cubicBezTo>
                  <a:pt x="-14015" y="156004"/>
                  <a:pt x="165939" y="-18950"/>
                  <a:pt x="347157" y="0"/>
                </a:cubicBezTo>
                <a:cubicBezTo>
                  <a:pt x="676636" y="27748"/>
                  <a:pt x="761854" y="34243"/>
                  <a:pt x="1038813" y="0"/>
                </a:cubicBezTo>
                <a:cubicBezTo>
                  <a:pt x="1315772" y="-34243"/>
                  <a:pt x="1456771" y="-8878"/>
                  <a:pt x="1631661" y="0"/>
                </a:cubicBezTo>
                <a:cubicBezTo>
                  <a:pt x="1806551" y="8878"/>
                  <a:pt x="2089006" y="-10123"/>
                  <a:pt x="2290380" y="0"/>
                </a:cubicBezTo>
                <a:cubicBezTo>
                  <a:pt x="2491754" y="10123"/>
                  <a:pt x="2594260" y="-5006"/>
                  <a:pt x="2850292" y="0"/>
                </a:cubicBezTo>
                <a:cubicBezTo>
                  <a:pt x="3106324" y="5006"/>
                  <a:pt x="3388379" y="13837"/>
                  <a:pt x="3640756" y="0"/>
                </a:cubicBezTo>
                <a:cubicBezTo>
                  <a:pt x="3830206" y="4577"/>
                  <a:pt x="3977800" y="142009"/>
                  <a:pt x="3987913" y="347157"/>
                </a:cubicBezTo>
                <a:cubicBezTo>
                  <a:pt x="4022292" y="500492"/>
                  <a:pt x="3967331" y="880496"/>
                  <a:pt x="3987913" y="1055337"/>
                </a:cubicBezTo>
                <a:cubicBezTo>
                  <a:pt x="4008495" y="1230178"/>
                  <a:pt x="3963825" y="1403885"/>
                  <a:pt x="3987913" y="1735746"/>
                </a:cubicBezTo>
                <a:cubicBezTo>
                  <a:pt x="3981180" y="1948466"/>
                  <a:pt x="3826076" y="2062717"/>
                  <a:pt x="3640756" y="2082903"/>
                </a:cubicBezTo>
                <a:cubicBezTo>
                  <a:pt x="3410960" y="2059571"/>
                  <a:pt x="3213001" y="2102994"/>
                  <a:pt x="2982036" y="2082903"/>
                </a:cubicBezTo>
                <a:cubicBezTo>
                  <a:pt x="2751071" y="2062812"/>
                  <a:pt x="2544017" y="2109399"/>
                  <a:pt x="2389188" y="2082903"/>
                </a:cubicBezTo>
                <a:cubicBezTo>
                  <a:pt x="2234359" y="2056407"/>
                  <a:pt x="1943754" y="2068918"/>
                  <a:pt x="1829277" y="2082903"/>
                </a:cubicBezTo>
                <a:cubicBezTo>
                  <a:pt x="1714800" y="2096888"/>
                  <a:pt x="1432401" y="2110987"/>
                  <a:pt x="1236429" y="2082903"/>
                </a:cubicBezTo>
                <a:cubicBezTo>
                  <a:pt x="1040457" y="2054819"/>
                  <a:pt x="759103" y="2079266"/>
                  <a:pt x="347157" y="2082903"/>
                </a:cubicBezTo>
                <a:cubicBezTo>
                  <a:pt x="183213" y="2075549"/>
                  <a:pt x="-3712" y="1953187"/>
                  <a:pt x="0" y="1735746"/>
                </a:cubicBezTo>
                <a:cubicBezTo>
                  <a:pt x="-2175" y="1576914"/>
                  <a:pt x="12315" y="1280927"/>
                  <a:pt x="0" y="1069223"/>
                </a:cubicBezTo>
                <a:cubicBezTo>
                  <a:pt x="-12315" y="857519"/>
                  <a:pt x="12290" y="497386"/>
                  <a:pt x="0" y="347157"/>
                </a:cubicBezTo>
                <a:close/>
              </a:path>
              <a:path w="3987913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4568" y="14613"/>
                  <a:pt x="857377" y="-9172"/>
                  <a:pt x="1071749" y="0"/>
                </a:cubicBezTo>
                <a:cubicBezTo>
                  <a:pt x="1286121" y="9172"/>
                  <a:pt x="1511357" y="1786"/>
                  <a:pt x="1697533" y="0"/>
                </a:cubicBezTo>
                <a:cubicBezTo>
                  <a:pt x="1883709" y="-1786"/>
                  <a:pt x="2012464" y="-12925"/>
                  <a:pt x="2290380" y="0"/>
                </a:cubicBezTo>
                <a:cubicBezTo>
                  <a:pt x="2568296" y="12925"/>
                  <a:pt x="2691299" y="34462"/>
                  <a:pt x="2982036" y="0"/>
                </a:cubicBezTo>
                <a:cubicBezTo>
                  <a:pt x="3272773" y="-34462"/>
                  <a:pt x="3368349" y="19535"/>
                  <a:pt x="3640756" y="0"/>
                </a:cubicBezTo>
                <a:cubicBezTo>
                  <a:pt x="3840003" y="-12233"/>
                  <a:pt x="3953114" y="186008"/>
                  <a:pt x="3987913" y="347157"/>
                </a:cubicBezTo>
                <a:cubicBezTo>
                  <a:pt x="3957819" y="671989"/>
                  <a:pt x="3978130" y="852414"/>
                  <a:pt x="3987913" y="1041452"/>
                </a:cubicBezTo>
                <a:cubicBezTo>
                  <a:pt x="3997696" y="1230491"/>
                  <a:pt x="3988637" y="1463112"/>
                  <a:pt x="3987913" y="1735746"/>
                </a:cubicBezTo>
                <a:cubicBezTo>
                  <a:pt x="3974714" y="1926721"/>
                  <a:pt x="3839307" y="2064199"/>
                  <a:pt x="3640756" y="2082903"/>
                </a:cubicBezTo>
                <a:cubicBezTo>
                  <a:pt x="3448142" y="2084337"/>
                  <a:pt x="3249680" y="2088076"/>
                  <a:pt x="2949100" y="2082903"/>
                </a:cubicBezTo>
                <a:cubicBezTo>
                  <a:pt x="2648520" y="2077730"/>
                  <a:pt x="2528181" y="2072817"/>
                  <a:pt x="2224508" y="2082903"/>
                </a:cubicBezTo>
                <a:cubicBezTo>
                  <a:pt x="1920835" y="2092989"/>
                  <a:pt x="1679525" y="2080271"/>
                  <a:pt x="1499917" y="2082903"/>
                </a:cubicBezTo>
                <a:cubicBezTo>
                  <a:pt x="1320309" y="2085535"/>
                  <a:pt x="725486" y="2094138"/>
                  <a:pt x="347157" y="2082903"/>
                </a:cubicBezTo>
                <a:cubicBezTo>
                  <a:pt x="127646" y="2056728"/>
                  <a:pt x="-7553" y="1916185"/>
                  <a:pt x="0" y="1735746"/>
                </a:cubicBezTo>
                <a:cubicBezTo>
                  <a:pt x="24810" y="1454835"/>
                  <a:pt x="20691" y="1333329"/>
                  <a:pt x="0" y="1027566"/>
                </a:cubicBezTo>
                <a:cubicBezTo>
                  <a:pt x="-20691" y="721803"/>
                  <a:pt x="15317" y="601302"/>
                  <a:pt x="0" y="34715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Basic Transformations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CD00D3-4693-59BF-6A22-AEB2AA71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Math for the VPT?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735135-F880-9979-D99E-CD8C484CEE99}"/>
                  </a:ext>
                </a:extLst>
              </p:cNvPr>
              <p:cNvSpPr txBox="1"/>
              <p:nvPr/>
            </p:nvSpPr>
            <p:spPr>
              <a:xfrm>
                <a:off x="1288474" y="1610589"/>
                <a:ext cx="3185744" cy="494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7735135-F880-9979-D99E-CD8C484CE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474" y="1610589"/>
                <a:ext cx="3185744" cy="494944"/>
              </a:xfrm>
              <a:prstGeom prst="rect">
                <a:avLst/>
              </a:prstGeom>
              <a:blipFill>
                <a:blip r:embed="rId2"/>
                <a:stretch>
                  <a:fillRect t="-125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DDC481-0BED-3FB4-EE68-FC5E7F953215}"/>
                  </a:ext>
                </a:extLst>
              </p:cNvPr>
              <p:cNvSpPr txBox="1"/>
              <p:nvPr/>
            </p:nvSpPr>
            <p:spPr>
              <a:xfrm>
                <a:off x="1472178" y="2313707"/>
                <a:ext cx="2818336" cy="496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𝑓𝑜𝑟𝑐𝑒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DDC481-0BED-3FB4-EE68-FC5E7F953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78" y="2313707"/>
                <a:ext cx="2818336" cy="496226"/>
              </a:xfrm>
              <a:prstGeom prst="rect">
                <a:avLst/>
              </a:prstGeom>
              <a:blipFill>
                <a:blip r:embed="rId3"/>
                <a:stretch>
                  <a:fillRect t="-1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3951F6-F89A-4B89-68EA-E4DC852261FF}"/>
                  </a:ext>
                </a:extLst>
              </p:cNvPr>
              <p:cNvSpPr txBox="1"/>
              <p:nvPr/>
            </p:nvSpPr>
            <p:spPr>
              <a:xfrm>
                <a:off x="5817058" y="1536810"/>
                <a:ext cx="2731709" cy="424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3951F6-F89A-4B89-68EA-E4DC85226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058" y="1536810"/>
                <a:ext cx="2731709" cy="424283"/>
              </a:xfrm>
              <a:prstGeom prst="rect">
                <a:avLst/>
              </a:prstGeom>
              <a:blipFill>
                <a:blip r:embed="rId4"/>
                <a:stretch>
                  <a:fillRect t="-14286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66453E-E59C-9D4A-9535-7BAF7CE46C95}"/>
                  </a:ext>
                </a:extLst>
              </p:cNvPr>
              <p:cNvSpPr txBox="1"/>
              <p:nvPr/>
            </p:nvSpPr>
            <p:spPr>
              <a:xfrm>
                <a:off x="9374612" y="1564285"/>
                <a:ext cx="1794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66453E-E59C-9D4A-9535-7BAF7CE46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612" y="1564285"/>
                <a:ext cx="1794274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997737-2F78-ECDE-69FC-7CD458EACA6A}"/>
                  </a:ext>
                </a:extLst>
              </p:cNvPr>
              <p:cNvSpPr txBox="1"/>
              <p:nvPr/>
            </p:nvSpPr>
            <p:spPr>
              <a:xfrm>
                <a:off x="6947236" y="2427310"/>
                <a:ext cx="3256469" cy="424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6997737-2F78-ECDE-69FC-7CD458EAC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236" y="2427310"/>
                <a:ext cx="3256469" cy="424283"/>
              </a:xfrm>
              <a:prstGeom prst="rect">
                <a:avLst/>
              </a:prstGeom>
              <a:blipFill>
                <a:blip r:embed="rId6"/>
                <a:stretch>
                  <a:fillRect t="-1764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EF3B07-1484-7A91-94CE-7615434C3973}"/>
              </a:ext>
            </a:extLst>
          </p:cNvPr>
          <p:cNvCxnSpPr/>
          <p:nvPr/>
        </p:nvCxnSpPr>
        <p:spPr>
          <a:xfrm>
            <a:off x="7482626" y="1961093"/>
            <a:ext cx="1066141" cy="45564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9261C8-2813-8741-424A-5C822610437B}"/>
              </a:ext>
            </a:extLst>
          </p:cNvPr>
          <p:cNvCxnSpPr>
            <a:cxnSpLocks/>
          </p:cNvCxnSpPr>
          <p:nvPr/>
        </p:nvCxnSpPr>
        <p:spPr>
          <a:xfrm flipH="1">
            <a:off x="9491731" y="1933617"/>
            <a:ext cx="605307" cy="51909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E84FE1B-84DA-A058-5B5F-4EFC96C3ABC0}"/>
              </a:ext>
            </a:extLst>
          </p:cNvPr>
          <p:cNvSpPr/>
          <p:nvPr/>
        </p:nvSpPr>
        <p:spPr>
          <a:xfrm>
            <a:off x="450830" y="3532032"/>
            <a:ext cx="6362093" cy="2082903"/>
          </a:xfrm>
          <a:custGeom>
            <a:avLst/>
            <a:gdLst>
              <a:gd name="connsiteX0" fmla="*/ 0 w 6362093"/>
              <a:gd name="connsiteY0" fmla="*/ 347157 h 2082903"/>
              <a:gd name="connsiteX1" fmla="*/ 347157 w 6362093"/>
              <a:gd name="connsiteY1" fmla="*/ 0 h 2082903"/>
              <a:gd name="connsiteX2" fmla="*/ 920232 w 6362093"/>
              <a:gd name="connsiteY2" fmla="*/ 0 h 2082903"/>
              <a:gd name="connsiteX3" fmla="*/ 1379952 w 6362093"/>
              <a:gd name="connsiteY3" fmla="*/ 0 h 2082903"/>
              <a:gd name="connsiteX4" fmla="*/ 2066383 w 6362093"/>
              <a:gd name="connsiteY4" fmla="*/ 0 h 2082903"/>
              <a:gd name="connsiteX5" fmla="*/ 2582781 w 6362093"/>
              <a:gd name="connsiteY5" fmla="*/ 0 h 2082903"/>
              <a:gd name="connsiteX6" fmla="*/ 3042501 w 6362093"/>
              <a:gd name="connsiteY6" fmla="*/ 0 h 2082903"/>
              <a:gd name="connsiteX7" fmla="*/ 3558898 w 6362093"/>
              <a:gd name="connsiteY7" fmla="*/ 0 h 2082903"/>
              <a:gd name="connsiteX8" fmla="*/ 4245329 w 6362093"/>
              <a:gd name="connsiteY8" fmla="*/ 0 h 2082903"/>
              <a:gd name="connsiteX9" fmla="*/ 4761727 w 6362093"/>
              <a:gd name="connsiteY9" fmla="*/ 0 h 2082903"/>
              <a:gd name="connsiteX10" fmla="*/ 5221447 w 6362093"/>
              <a:gd name="connsiteY10" fmla="*/ 0 h 2082903"/>
              <a:gd name="connsiteX11" fmla="*/ 6014936 w 6362093"/>
              <a:gd name="connsiteY11" fmla="*/ 0 h 2082903"/>
              <a:gd name="connsiteX12" fmla="*/ 6362093 w 6362093"/>
              <a:gd name="connsiteY12" fmla="*/ 347157 h 2082903"/>
              <a:gd name="connsiteX13" fmla="*/ 6362093 w 6362093"/>
              <a:gd name="connsiteY13" fmla="*/ 999794 h 2082903"/>
              <a:gd name="connsiteX14" fmla="*/ 6362093 w 6362093"/>
              <a:gd name="connsiteY14" fmla="*/ 1735746 h 2082903"/>
              <a:gd name="connsiteX15" fmla="*/ 6014936 w 6362093"/>
              <a:gd name="connsiteY15" fmla="*/ 2082903 h 2082903"/>
              <a:gd name="connsiteX16" fmla="*/ 5555216 w 6362093"/>
              <a:gd name="connsiteY16" fmla="*/ 2082903 h 2082903"/>
              <a:gd name="connsiteX17" fmla="*/ 4982141 w 6362093"/>
              <a:gd name="connsiteY17" fmla="*/ 2082903 h 2082903"/>
              <a:gd name="connsiteX18" fmla="*/ 4295710 w 6362093"/>
              <a:gd name="connsiteY18" fmla="*/ 2082903 h 2082903"/>
              <a:gd name="connsiteX19" fmla="*/ 3779312 w 6362093"/>
              <a:gd name="connsiteY19" fmla="*/ 2082903 h 2082903"/>
              <a:gd name="connsiteX20" fmla="*/ 3149559 w 6362093"/>
              <a:gd name="connsiteY20" fmla="*/ 2082903 h 2082903"/>
              <a:gd name="connsiteX21" fmla="*/ 2689839 w 6362093"/>
              <a:gd name="connsiteY21" fmla="*/ 2082903 h 2082903"/>
              <a:gd name="connsiteX22" fmla="*/ 1946730 w 6362093"/>
              <a:gd name="connsiteY22" fmla="*/ 2082903 h 2082903"/>
              <a:gd name="connsiteX23" fmla="*/ 1316977 w 6362093"/>
              <a:gd name="connsiteY23" fmla="*/ 2082903 h 2082903"/>
              <a:gd name="connsiteX24" fmla="*/ 347157 w 6362093"/>
              <a:gd name="connsiteY24" fmla="*/ 2082903 h 2082903"/>
              <a:gd name="connsiteX25" fmla="*/ 0 w 6362093"/>
              <a:gd name="connsiteY25" fmla="*/ 1735746 h 2082903"/>
              <a:gd name="connsiteX26" fmla="*/ 0 w 6362093"/>
              <a:gd name="connsiteY26" fmla="*/ 1027566 h 2082903"/>
              <a:gd name="connsiteX27" fmla="*/ 0 w 6362093"/>
              <a:gd name="connsiteY27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62093" h="2082903" fill="none" extrusionOk="0">
                <a:moveTo>
                  <a:pt x="0" y="347157"/>
                </a:moveTo>
                <a:cubicBezTo>
                  <a:pt x="-2277" y="108178"/>
                  <a:pt x="179614" y="15238"/>
                  <a:pt x="347157" y="0"/>
                </a:cubicBezTo>
                <a:cubicBezTo>
                  <a:pt x="508994" y="13683"/>
                  <a:pt x="801164" y="115"/>
                  <a:pt x="920232" y="0"/>
                </a:cubicBezTo>
                <a:cubicBezTo>
                  <a:pt x="1039300" y="-115"/>
                  <a:pt x="1247294" y="-22736"/>
                  <a:pt x="1379952" y="0"/>
                </a:cubicBezTo>
                <a:cubicBezTo>
                  <a:pt x="1512610" y="22736"/>
                  <a:pt x="1804160" y="-28171"/>
                  <a:pt x="2066383" y="0"/>
                </a:cubicBezTo>
                <a:cubicBezTo>
                  <a:pt x="2328606" y="28171"/>
                  <a:pt x="2469910" y="-24726"/>
                  <a:pt x="2582781" y="0"/>
                </a:cubicBezTo>
                <a:cubicBezTo>
                  <a:pt x="2695652" y="24726"/>
                  <a:pt x="2822850" y="12887"/>
                  <a:pt x="3042501" y="0"/>
                </a:cubicBezTo>
                <a:cubicBezTo>
                  <a:pt x="3262152" y="-12887"/>
                  <a:pt x="3373213" y="10967"/>
                  <a:pt x="3558898" y="0"/>
                </a:cubicBezTo>
                <a:cubicBezTo>
                  <a:pt x="3744583" y="-10967"/>
                  <a:pt x="4032420" y="-4409"/>
                  <a:pt x="4245329" y="0"/>
                </a:cubicBezTo>
                <a:cubicBezTo>
                  <a:pt x="4458238" y="4409"/>
                  <a:pt x="4547753" y="12178"/>
                  <a:pt x="4761727" y="0"/>
                </a:cubicBezTo>
                <a:cubicBezTo>
                  <a:pt x="4975701" y="-12178"/>
                  <a:pt x="5115563" y="840"/>
                  <a:pt x="5221447" y="0"/>
                </a:cubicBezTo>
                <a:cubicBezTo>
                  <a:pt x="5327331" y="-840"/>
                  <a:pt x="5698069" y="9662"/>
                  <a:pt x="6014936" y="0"/>
                </a:cubicBezTo>
                <a:cubicBezTo>
                  <a:pt x="6219291" y="30859"/>
                  <a:pt x="6384813" y="177903"/>
                  <a:pt x="6362093" y="347157"/>
                </a:cubicBezTo>
                <a:cubicBezTo>
                  <a:pt x="6393142" y="514578"/>
                  <a:pt x="6378278" y="858132"/>
                  <a:pt x="6362093" y="999794"/>
                </a:cubicBezTo>
                <a:cubicBezTo>
                  <a:pt x="6345908" y="1141456"/>
                  <a:pt x="6331303" y="1555254"/>
                  <a:pt x="6362093" y="1735746"/>
                </a:cubicBezTo>
                <a:cubicBezTo>
                  <a:pt x="6358140" y="1920416"/>
                  <a:pt x="6202411" y="2084880"/>
                  <a:pt x="6014936" y="2082903"/>
                </a:cubicBezTo>
                <a:cubicBezTo>
                  <a:pt x="5790317" y="2082791"/>
                  <a:pt x="5655493" y="2060052"/>
                  <a:pt x="5555216" y="2082903"/>
                </a:cubicBezTo>
                <a:cubicBezTo>
                  <a:pt x="5454939" y="2105754"/>
                  <a:pt x="5248908" y="2056661"/>
                  <a:pt x="4982141" y="2082903"/>
                </a:cubicBezTo>
                <a:cubicBezTo>
                  <a:pt x="4715375" y="2109145"/>
                  <a:pt x="4591732" y="2063032"/>
                  <a:pt x="4295710" y="2082903"/>
                </a:cubicBezTo>
                <a:cubicBezTo>
                  <a:pt x="3999688" y="2102774"/>
                  <a:pt x="3926150" y="2074675"/>
                  <a:pt x="3779312" y="2082903"/>
                </a:cubicBezTo>
                <a:cubicBezTo>
                  <a:pt x="3632474" y="2091131"/>
                  <a:pt x="3287784" y="2059710"/>
                  <a:pt x="3149559" y="2082903"/>
                </a:cubicBezTo>
                <a:cubicBezTo>
                  <a:pt x="3011334" y="2106096"/>
                  <a:pt x="2898662" y="2076796"/>
                  <a:pt x="2689839" y="2082903"/>
                </a:cubicBezTo>
                <a:cubicBezTo>
                  <a:pt x="2481016" y="2089010"/>
                  <a:pt x="2258457" y="2105782"/>
                  <a:pt x="1946730" y="2082903"/>
                </a:cubicBezTo>
                <a:cubicBezTo>
                  <a:pt x="1635003" y="2060024"/>
                  <a:pt x="1582363" y="2090885"/>
                  <a:pt x="1316977" y="2082903"/>
                </a:cubicBezTo>
                <a:cubicBezTo>
                  <a:pt x="1051591" y="2074921"/>
                  <a:pt x="736030" y="2052942"/>
                  <a:pt x="347157" y="2082903"/>
                </a:cubicBezTo>
                <a:cubicBezTo>
                  <a:pt x="159934" y="2092520"/>
                  <a:pt x="-4448" y="1945669"/>
                  <a:pt x="0" y="1735746"/>
                </a:cubicBezTo>
                <a:cubicBezTo>
                  <a:pt x="27846" y="1516160"/>
                  <a:pt x="-76" y="1219184"/>
                  <a:pt x="0" y="1027566"/>
                </a:cubicBezTo>
                <a:cubicBezTo>
                  <a:pt x="76" y="835948"/>
                  <a:pt x="-25668" y="561896"/>
                  <a:pt x="0" y="347157"/>
                </a:cubicBezTo>
                <a:close/>
              </a:path>
              <a:path w="6362093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7614" y="32992"/>
                  <a:pt x="842981" y="-1771"/>
                  <a:pt x="1090266" y="0"/>
                </a:cubicBezTo>
                <a:cubicBezTo>
                  <a:pt x="1337551" y="1771"/>
                  <a:pt x="1535794" y="-17363"/>
                  <a:pt x="1663341" y="0"/>
                </a:cubicBezTo>
                <a:cubicBezTo>
                  <a:pt x="1790889" y="17363"/>
                  <a:pt x="1921845" y="-200"/>
                  <a:pt x="2179739" y="0"/>
                </a:cubicBezTo>
                <a:cubicBezTo>
                  <a:pt x="2437633" y="200"/>
                  <a:pt x="2622917" y="12623"/>
                  <a:pt x="2866170" y="0"/>
                </a:cubicBezTo>
                <a:cubicBezTo>
                  <a:pt x="3109423" y="-12623"/>
                  <a:pt x="3194541" y="-9553"/>
                  <a:pt x="3439245" y="0"/>
                </a:cubicBezTo>
                <a:cubicBezTo>
                  <a:pt x="3683950" y="9553"/>
                  <a:pt x="3982337" y="1559"/>
                  <a:pt x="4182354" y="0"/>
                </a:cubicBezTo>
                <a:cubicBezTo>
                  <a:pt x="4382371" y="-1559"/>
                  <a:pt x="4537888" y="-11448"/>
                  <a:pt x="4698752" y="0"/>
                </a:cubicBezTo>
                <a:cubicBezTo>
                  <a:pt x="4859616" y="11448"/>
                  <a:pt x="5094365" y="23183"/>
                  <a:pt x="5441861" y="0"/>
                </a:cubicBezTo>
                <a:cubicBezTo>
                  <a:pt x="5789357" y="-23183"/>
                  <a:pt x="5880691" y="2271"/>
                  <a:pt x="6014936" y="0"/>
                </a:cubicBezTo>
                <a:cubicBezTo>
                  <a:pt x="6193467" y="-755"/>
                  <a:pt x="6368914" y="136723"/>
                  <a:pt x="6362093" y="347157"/>
                </a:cubicBezTo>
                <a:cubicBezTo>
                  <a:pt x="6394584" y="568512"/>
                  <a:pt x="6369664" y="782575"/>
                  <a:pt x="6362093" y="1055337"/>
                </a:cubicBezTo>
                <a:cubicBezTo>
                  <a:pt x="6354522" y="1328099"/>
                  <a:pt x="6356746" y="1489457"/>
                  <a:pt x="6362093" y="1735746"/>
                </a:cubicBezTo>
                <a:cubicBezTo>
                  <a:pt x="6373476" y="1913346"/>
                  <a:pt x="6167622" y="2067810"/>
                  <a:pt x="6014936" y="2082903"/>
                </a:cubicBezTo>
                <a:cubicBezTo>
                  <a:pt x="5834735" y="2106316"/>
                  <a:pt x="5556408" y="2081893"/>
                  <a:pt x="5385183" y="2082903"/>
                </a:cubicBezTo>
                <a:cubicBezTo>
                  <a:pt x="5213958" y="2083913"/>
                  <a:pt x="5005386" y="2060086"/>
                  <a:pt x="4642074" y="2082903"/>
                </a:cubicBezTo>
                <a:cubicBezTo>
                  <a:pt x="4278762" y="2105720"/>
                  <a:pt x="4256390" y="2075646"/>
                  <a:pt x="4012321" y="2082903"/>
                </a:cubicBezTo>
                <a:cubicBezTo>
                  <a:pt x="3768252" y="2090160"/>
                  <a:pt x="3725984" y="2083334"/>
                  <a:pt x="3552601" y="2082903"/>
                </a:cubicBezTo>
                <a:cubicBezTo>
                  <a:pt x="3379218" y="2082472"/>
                  <a:pt x="3276515" y="2107652"/>
                  <a:pt x="3036203" y="2082903"/>
                </a:cubicBezTo>
                <a:cubicBezTo>
                  <a:pt x="2795891" y="2058154"/>
                  <a:pt x="2605226" y="2066649"/>
                  <a:pt x="2293094" y="2082903"/>
                </a:cubicBezTo>
                <a:cubicBezTo>
                  <a:pt x="1980962" y="2099157"/>
                  <a:pt x="1802263" y="2102524"/>
                  <a:pt x="1663341" y="2082903"/>
                </a:cubicBezTo>
                <a:cubicBezTo>
                  <a:pt x="1524419" y="2063282"/>
                  <a:pt x="1315624" y="2080369"/>
                  <a:pt x="1146944" y="2082903"/>
                </a:cubicBezTo>
                <a:cubicBezTo>
                  <a:pt x="978264" y="2085437"/>
                  <a:pt x="647112" y="2079449"/>
                  <a:pt x="347157" y="2082903"/>
                </a:cubicBezTo>
                <a:cubicBezTo>
                  <a:pt x="129474" y="2081434"/>
                  <a:pt x="8068" y="1934422"/>
                  <a:pt x="0" y="1735746"/>
                </a:cubicBezTo>
                <a:cubicBezTo>
                  <a:pt x="-12056" y="1561734"/>
                  <a:pt x="-8821" y="1196966"/>
                  <a:pt x="0" y="1041452"/>
                </a:cubicBezTo>
                <a:cubicBezTo>
                  <a:pt x="8821" y="885938"/>
                  <a:pt x="-4853" y="608453"/>
                  <a:pt x="0" y="347157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with Force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4E299-F10E-2A00-585D-0B9141810928}"/>
                  </a:ext>
                </a:extLst>
              </p:cNvPr>
              <p:cNvSpPr txBox="1"/>
              <p:nvPr/>
            </p:nvSpPr>
            <p:spPr>
              <a:xfrm>
                <a:off x="566742" y="4114672"/>
                <a:ext cx="2330382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𝑓𝑜𝑟𝑐𝑒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4E299-F10E-2A00-585D-0B9141810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42" y="4114672"/>
                <a:ext cx="2330382" cy="425373"/>
              </a:xfrm>
              <a:prstGeom prst="rect">
                <a:avLst/>
              </a:prstGeom>
              <a:blipFill>
                <a:blip r:embed="rId7"/>
                <a:stretch>
                  <a:fillRect t="-1764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079868-5979-63FE-75BA-C6CB033369EC}"/>
                  </a:ext>
                </a:extLst>
              </p:cNvPr>
              <p:cNvSpPr txBox="1"/>
              <p:nvPr/>
            </p:nvSpPr>
            <p:spPr>
              <a:xfrm>
                <a:off x="4124296" y="4142147"/>
                <a:ext cx="1794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079868-5979-63FE-75BA-C6CB03336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96" y="4142147"/>
                <a:ext cx="1794274" cy="369332"/>
              </a:xfrm>
              <a:prstGeom prst="rect">
                <a:avLst/>
              </a:prstGeom>
              <a:blipFill>
                <a:blip r:embed="rId8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D797A8-6A51-39F6-021D-49C3E5AEAF5B}"/>
                  </a:ext>
                </a:extLst>
              </p:cNvPr>
              <p:cNvSpPr txBox="1"/>
              <p:nvPr/>
            </p:nvSpPr>
            <p:spPr>
              <a:xfrm>
                <a:off x="3760140" y="4878290"/>
                <a:ext cx="2962221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D797A8-6A51-39F6-021D-49C3E5AEA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140" y="4878290"/>
                <a:ext cx="2962221" cy="486608"/>
              </a:xfrm>
              <a:prstGeom prst="rect">
                <a:avLst/>
              </a:prstGeom>
              <a:blipFill>
                <a:blip r:embed="rId9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197643-3D2D-A5E8-5C68-F92A95A83522}"/>
              </a:ext>
            </a:extLst>
          </p:cNvPr>
          <p:cNvCxnSpPr>
            <a:cxnSpLocks/>
          </p:cNvCxnSpPr>
          <p:nvPr/>
        </p:nvCxnSpPr>
        <p:spPr>
          <a:xfrm>
            <a:off x="1258606" y="4568337"/>
            <a:ext cx="257577" cy="33485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AC4CE3-01CF-A2F5-A7B0-C3D91CF3C619}"/>
                  </a:ext>
                </a:extLst>
              </p:cNvPr>
              <p:cNvSpPr txBox="1"/>
              <p:nvPr/>
            </p:nvSpPr>
            <p:spPr>
              <a:xfrm>
                <a:off x="828437" y="4834186"/>
                <a:ext cx="2506648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6AC4CE3-01CF-A2F5-A7B0-C3D91CF3C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37" y="4834186"/>
                <a:ext cx="2506648" cy="486608"/>
              </a:xfrm>
              <a:prstGeom prst="rect">
                <a:avLst/>
              </a:prstGeom>
              <a:blipFill>
                <a:blip r:embed="rId10"/>
                <a:stretch>
                  <a:fillRect t="-2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8E23B1-E924-C065-EF5C-D03A4F2B1975}"/>
              </a:ext>
            </a:extLst>
          </p:cNvPr>
          <p:cNvCxnSpPr>
            <a:cxnSpLocks/>
          </p:cNvCxnSpPr>
          <p:nvPr/>
        </p:nvCxnSpPr>
        <p:spPr>
          <a:xfrm>
            <a:off x="3316992" y="5059861"/>
            <a:ext cx="425055" cy="12346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B95478-A63F-EF4F-B685-DA23B8BF6C29}"/>
              </a:ext>
            </a:extLst>
          </p:cNvPr>
          <p:cNvCxnSpPr>
            <a:cxnSpLocks/>
          </p:cNvCxnSpPr>
          <p:nvPr/>
        </p:nvCxnSpPr>
        <p:spPr>
          <a:xfrm>
            <a:off x="4829576" y="4540045"/>
            <a:ext cx="191857" cy="36314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C0FE130-152B-F52B-0ECA-18429012BCCA}"/>
              </a:ext>
            </a:extLst>
          </p:cNvPr>
          <p:cNvSpPr/>
          <p:nvPr/>
        </p:nvSpPr>
        <p:spPr>
          <a:xfrm>
            <a:off x="1593273" y="6072230"/>
            <a:ext cx="9575613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math uses basic transformation matrices and variable exchanges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EFFBB9E-2562-06FF-B3F8-76D785740C35}"/>
              </a:ext>
            </a:extLst>
          </p:cNvPr>
          <p:cNvSpPr/>
          <p:nvPr/>
        </p:nvSpPr>
        <p:spPr>
          <a:xfrm>
            <a:off x="7190530" y="3820927"/>
            <a:ext cx="4434728" cy="1362399"/>
          </a:xfrm>
          <a:custGeom>
            <a:avLst/>
            <a:gdLst>
              <a:gd name="connsiteX0" fmla="*/ 0 w 4434728"/>
              <a:gd name="connsiteY0" fmla="*/ 227071 h 1362399"/>
              <a:gd name="connsiteX1" fmla="*/ 227071 w 4434728"/>
              <a:gd name="connsiteY1" fmla="*/ 0 h 1362399"/>
              <a:gd name="connsiteX2" fmla="*/ 930308 w 4434728"/>
              <a:gd name="connsiteY2" fmla="*/ 0 h 1362399"/>
              <a:gd name="connsiteX3" fmla="*/ 1474321 w 4434728"/>
              <a:gd name="connsiteY3" fmla="*/ 0 h 1362399"/>
              <a:gd name="connsiteX4" fmla="*/ 2137752 w 4434728"/>
              <a:gd name="connsiteY4" fmla="*/ 0 h 1362399"/>
              <a:gd name="connsiteX5" fmla="*/ 2721572 w 4434728"/>
              <a:gd name="connsiteY5" fmla="*/ 0 h 1362399"/>
              <a:gd name="connsiteX6" fmla="*/ 3424808 w 4434728"/>
              <a:gd name="connsiteY6" fmla="*/ 0 h 1362399"/>
              <a:gd name="connsiteX7" fmla="*/ 4207657 w 4434728"/>
              <a:gd name="connsiteY7" fmla="*/ 0 h 1362399"/>
              <a:gd name="connsiteX8" fmla="*/ 4434728 w 4434728"/>
              <a:gd name="connsiteY8" fmla="*/ 227071 h 1362399"/>
              <a:gd name="connsiteX9" fmla="*/ 4434728 w 4434728"/>
              <a:gd name="connsiteY9" fmla="*/ 681200 h 1362399"/>
              <a:gd name="connsiteX10" fmla="*/ 4434728 w 4434728"/>
              <a:gd name="connsiteY10" fmla="*/ 1135328 h 1362399"/>
              <a:gd name="connsiteX11" fmla="*/ 4207657 w 4434728"/>
              <a:gd name="connsiteY11" fmla="*/ 1362399 h 1362399"/>
              <a:gd name="connsiteX12" fmla="*/ 3464614 w 4434728"/>
              <a:gd name="connsiteY12" fmla="*/ 1362399 h 1362399"/>
              <a:gd name="connsiteX13" fmla="*/ 2880795 w 4434728"/>
              <a:gd name="connsiteY13" fmla="*/ 1362399 h 1362399"/>
              <a:gd name="connsiteX14" fmla="*/ 2336782 w 4434728"/>
              <a:gd name="connsiteY14" fmla="*/ 1362399 h 1362399"/>
              <a:gd name="connsiteX15" fmla="*/ 1752962 w 4434728"/>
              <a:gd name="connsiteY15" fmla="*/ 1362399 h 1362399"/>
              <a:gd name="connsiteX16" fmla="*/ 1129337 w 4434728"/>
              <a:gd name="connsiteY16" fmla="*/ 1362399 h 1362399"/>
              <a:gd name="connsiteX17" fmla="*/ 227071 w 4434728"/>
              <a:gd name="connsiteY17" fmla="*/ 1362399 h 1362399"/>
              <a:gd name="connsiteX18" fmla="*/ 0 w 4434728"/>
              <a:gd name="connsiteY18" fmla="*/ 1135328 h 1362399"/>
              <a:gd name="connsiteX19" fmla="*/ 0 w 4434728"/>
              <a:gd name="connsiteY19" fmla="*/ 663034 h 1362399"/>
              <a:gd name="connsiteX20" fmla="*/ 0 w 4434728"/>
              <a:gd name="connsiteY20" fmla="*/ 227071 h 136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34728" h="1362399" fill="none" extrusionOk="0">
                <a:moveTo>
                  <a:pt x="0" y="227071"/>
                </a:moveTo>
                <a:cubicBezTo>
                  <a:pt x="10119" y="121699"/>
                  <a:pt x="78330" y="12305"/>
                  <a:pt x="227071" y="0"/>
                </a:cubicBezTo>
                <a:cubicBezTo>
                  <a:pt x="485211" y="32019"/>
                  <a:pt x="751796" y="-4621"/>
                  <a:pt x="930308" y="0"/>
                </a:cubicBezTo>
                <a:cubicBezTo>
                  <a:pt x="1108820" y="4621"/>
                  <a:pt x="1267209" y="17866"/>
                  <a:pt x="1474321" y="0"/>
                </a:cubicBezTo>
                <a:cubicBezTo>
                  <a:pt x="1681433" y="-17866"/>
                  <a:pt x="1816333" y="12628"/>
                  <a:pt x="2137752" y="0"/>
                </a:cubicBezTo>
                <a:cubicBezTo>
                  <a:pt x="2459171" y="-12628"/>
                  <a:pt x="2541847" y="18010"/>
                  <a:pt x="2721572" y="0"/>
                </a:cubicBezTo>
                <a:cubicBezTo>
                  <a:pt x="2901297" y="-18010"/>
                  <a:pt x="3102493" y="-9334"/>
                  <a:pt x="3424808" y="0"/>
                </a:cubicBezTo>
                <a:cubicBezTo>
                  <a:pt x="3747123" y="9334"/>
                  <a:pt x="3867158" y="38640"/>
                  <a:pt x="4207657" y="0"/>
                </a:cubicBezTo>
                <a:cubicBezTo>
                  <a:pt x="4323552" y="29657"/>
                  <a:pt x="4430999" y="89921"/>
                  <a:pt x="4434728" y="227071"/>
                </a:cubicBezTo>
                <a:cubicBezTo>
                  <a:pt x="4448216" y="403113"/>
                  <a:pt x="4423679" y="516039"/>
                  <a:pt x="4434728" y="681200"/>
                </a:cubicBezTo>
                <a:cubicBezTo>
                  <a:pt x="4445777" y="846361"/>
                  <a:pt x="4412648" y="1028114"/>
                  <a:pt x="4434728" y="1135328"/>
                </a:cubicBezTo>
                <a:cubicBezTo>
                  <a:pt x="4412093" y="1273428"/>
                  <a:pt x="4338455" y="1377003"/>
                  <a:pt x="4207657" y="1362399"/>
                </a:cubicBezTo>
                <a:cubicBezTo>
                  <a:pt x="4008533" y="1364951"/>
                  <a:pt x="3626894" y="1382702"/>
                  <a:pt x="3464614" y="1362399"/>
                </a:cubicBezTo>
                <a:cubicBezTo>
                  <a:pt x="3302334" y="1342096"/>
                  <a:pt x="3052025" y="1377405"/>
                  <a:pt x="2880795" y="1362399"/>
                </a:cubicBezTo>
                <a:cubicBezTo>
                  <a:pt x="2709565" y="1347393"/>
                  <a:pt x="2454068" y="1384368"/>
                  <a:pt x="2336782" y="1362399"/>
                </a:cubicBezTo>
                <a:cubicBezTo>
                  <a:pt x="2219496" y="1340430"/>
                  <a:pt x="2034190" y="1378166"/>
                  <a:pt x="1752962" y="1362399"/>
                </a:cubicBezTo>
                <a:cubicBezTo>
                  <a:pt x="1471734" y="1346632"/>
                  <a:pt x="1305307" y="1349617"/>
                  <a:pt x="1129337" y="1362399"/>
                </a:cubicBezTo>
                <a:cubicBezTo>
                  <a:pt x="953367" y="1375181"/>
                  <a:pt x="646246" y="1371881"/>
                  <a:pt x="227071" y="1362399"/>
                </a:cubicBezTo>
                <a:cubicBezTo>
                  <a:pt x="81455" y="1382459"/>
                  <a:pt x="19198" y="1265045"/>
                  <a:pt x="0" y="1135328"/>
                </a:cubicBezTo>
                <a:cubicBezTo>
                  <a:pt x="5843" y="991397"/>
                  <a:pt x="18633" y="760045"/>
                  <a:pt x="0" y="663034"/>
                </a:cubicBezTo>
                <a:cubicBezTo>
                  <a:pt x="-18633" y="566023"/>
                  <a:pt x="-10216" y="432466"/>
                  <a:pt x="0" y="227071"/>
                </a:cubicBezTo>
                <a:close/>
              </a:path>
              <a:path w="4434728" h="1362399" stroke="0" extrusionOk="0">
                <a:moveTo>
                  <a:pt x="0" y="227071"/>
                </a:moveTo>
                <a:cubicBezTo>
                  <a:pt x="-9354" y="95893"/>
                  <a:pt x="89713" y="4485"/>
                  <a:pt x="227071" y="0"/>
                </a:cubicBezTo>
                <a:cubicBezTo>
                  <a:pt x="403944" y="20060"/>
                  <a:pt x="758041" y="-36693"/>
                  <a:pt x="970114" y="0"/>
                </a:cubicBezTo>
                <a:cubicBezTo>
                  <a:pt x="1182187" y="36693"/>
                  <a:pt x="1334427" y="-8835"/>
                  <a:pt x="1593739" y="0"/>
                </a:cubicBezTo>
                <a:cubicBezTo>
                  <a:pt x="1853052" y="8835"/>
                  <a:pt x="1891513" y="-17747"/>
                  <a:pt x="2177558" y="0"/>
                </a:cubicBezTo>
                <a:cubicBezTo>
                  <a:pt x="2463603" y="17747"/>
                  <a:pt x="2725621" y="27851"/>
                  <a:pt x="2880795" y="0"/>
                </a:cubicBezTo>
                <a:cubicBezTo>
                  <a:pt x="3035969" y="-27851"/>
                  <a:pt x="3374039" y="-28753"/>
                  <a:pt x="3504420" y="0"/>
                </a:cubicBezTo>
                <a:cubicBezTo>
                  <a:pt x="3634801" y="28753"/>
                  <a:pt x="3918166" y="-18854"/>
                  <a:pt x="4207657" y="0"/>
                </a:cubicBezTo>
                <a:cubicBezTo>
                  <a:pt x="4330047" y="-28782"/>
                  <a:pt x="4416771" y="126618"/>
                  <a:pt x="4434728" y="227071"/>
                </a:cubicBezTo>
                <a:cubicBezTo>
                  <a:pt x="4444687" y="318292"/>
                  <a:pt x="4435899" y="560220"/>
                  <a:pt x="4434728" y="663034"/>
                </a:cubicBezTo>
                <a:cubicBezTo>
                  <a:pt x="4433557" y="765848"/>
                  <a:pt x="4451332" y="924871"/>
                  <a:pt x="4434728" y="1135328"/>
                </a:cubicBezTo>
                <a:cubicBezTo>
                  <a:pt x="4445976" y="1277480"/>
                  <a:pt x="4334023" y="1372317"/>
                  <a:pt x="4207657" y="1362399"/>
                </a:cubicBezTo>
                <a:cubicBezTo>
                  <a:pt x="4023715" y="1337170"/>
                  <a:pt x="3790059" y="1367752"/>
                  <a:pt x="3663644" y="1362399"/>
                </a:cubicBezTo>
                <a:cubicBezTo>
                  <a:pt x="3537229" y="1357046"/>
                  <a:pt x="3224829" y="1337579"/>
                  <a:pt x="2920601" y="1362399"/>
                </a:cubicBezTo>
                <a:cubicBezTo>
                  <a:pt x="2616373" y="1387219"/>
                  <a:pt x="2477372" y="1367270"/>
                  <a:pt x="2336782" y="1362399"/>
                </a:cubicBezTo>
                <a:cubicBezTo>
                  <a:pt x="2196192" y="1357528"/>
                  <a:pt x="1953941" y="1344169"/>
                  <a:pt x="1673351" y="1362399"/>
                </a:cubicBezTo>
                <a:cubicBezTo>
                  <a:pt x="1392761" y="1380629"/>
                  <a:pt x="1188983" y="1367058"/>
                  <a:pt x="930308" y="1362399"/>
                </a:cubicBezTo>
                <a:cubicBezTo>
                  <a:pt x="671633" y="1357740"/>
                  <a:pt x="510321" y="1387110"/>
                  <a:pt x="227071" y="1362399"/>
                </a:cubicBezTo>
                <a:cubicBezTo>
                  <a:pt x="93316" y="1377323"/>
                  <a:pt x="5843" y="1265078"/>
                  <a:pt x="0" y="1135328"/>
                </a:cubicBezTo>
                <a:cubicBezTo>
                  <a:pt x="-8335" y="920197"/>
                  <a:pt x="-15329" y="855530"/>
                  <a:pt x="0" y="699365"/>
                </a:cubicBezTo>
                <a:cubicBezTo>
                  <a:pt x="15329" y="543200"/>
                  <a:pt x="22208" y="371796"/>
                  <a:pt x="0" y="22707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1B5B49-750A-8E86-E913-9D9B21A8D569}"/>
                  </a:ext>
                </a:extLst>
              </p:cNvPr>
              <p:cNvSpPr txBox="1"/>
              <p:nvPr/>
            </p:nvSpPr>
            <p:spPr>
              <a:xfrm>
                <a:off x="7535811" y="4408310"/>
                <a:ext cx="3911840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F1B5B49-750A-8E86-E913-9D9B21A8D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11" y="4408310"/>
                <a:ext cx="3911840" cy="486608"/>
              </a:xfrm>
              <a:prstGeom prst="rect">
                <a:avLst/>
              </a:prstGeom>
              <a:blipFill>
                <a:blip r:embed="rId11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1A5111A-F09C-C221-D543-45677FDFB7F3}"/>
              </a:ext>
            </a:extLst>
          </p:cNvPr>
          <p:cNvCxnSpPr>
            <a:cxnSpLocks/>
          </p:cNvCxnSpPr>
          <p:nvPr/>
        </p:nvCxnSpPr>
        <p:spPr>
          <a:xfrm>
            <a:off x="7535811" y="2974991"/>
            <a:ext cx="373487" cy="149078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1C012A-8C10-343F-E27F-FBE8539F5B0E}"/>
              </a:ext>
            </a:extLst>
          </p:cNvPr>
          <p:cNvCxnSpPr>
            <a:cxnSpLocks/>
          </p:cNvCxnSpPr>
          <p:nvPr/>
        </p:nvCxnSpPr>
        <p:spPr>
          <a:xfrm flipV="1">
            <a:off x="6555346" y="4735762"/>
            <a:ext cx="857715" cy="16742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8A52588A-8A61-6732-1E3A-F7DDDF88F29F}"/>
              </a:ext>
            </a:extLst>
          </p:cNvPr>
          <p:cNvSpPr/>
          <p:nvPr/>
        </p:nvSpPr>
        <p:spPr>
          <a:xfrm>
            <a:off x="5351318" y="799306"/>
            <a:ext cx="6273940" cy="2442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581EBDB-D709-5FE0-5FE2-302B8E9DE983}"/>
              </a:ext>
            </a:extLst>
          </p:cNvPr>
          <p:cNvSpPr/>
          <p:nvPr/>
        </p:nvSpPr>
        <p:spPr>
          <a:xfrm>
            <a:off x="244386" y="3172276"/>
            <a:ext cx="11601250" cy="2563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FD50534-90B0-F560-A0FC-A258982401BF}"/>
              </a:ext>
            </a:extLst>
          </p:cNvPr>
          <p:cNvSpPr/>
          <p:nvPr/>
        </p:nvSpPr>
        <p:spPr>
          <a:xfrm>
            <a:off x="1453529" y="5818023"/>
            <a:ext cx="9851082" cy="949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3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AE6B-631C-8BC1-701E-50C1EBF6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7A35AAE-340D-0C8A-58F4-680EA6E63474}"/>
              </a:ext>
            </a:extLst>
          </p:cNvPr>
          <p:cNvSpPr/>
          <p:nvPr/>
        </p:nvSpPr>
        <p:spPr>
          <a:xfrm>
            <a:off x="5701147" y="954170"/>
            <a:ext cx="5603464" cy="2082903"/>
          </a:xfrm>
          <a:custGeom>
            <a:avLst/>
            <a:gdLst>
              <a:gd name="connsiteX0" fmla="*/ 0 w 5603464"/>
              <a:gd name="connsiteY0" fmla="*/ 347157 h 2082903"/>
              <a:gd name="connsiteX1" fmla="*/ 347157 w 5603464"/>
              <a:gd name="connsiteY1" fmla="*/ 0 h 2082903"/>
              <a:gd name="connsiteX2" fmla="*/ 1009892 w 5603464"/>
              <a:gd name="connsiteY2" fmla="*/ 0 h 2082903"/>
              <a:gd name="connsiteX3" fmla="*/ 1525353 w 5603464"/>
              <a:gd name="connsiteY3" fmla="*/ 0 h 2082903"/>
              <a:gd name="connsiteX4" fmla="*/ 2188088 w 5603464"/>
              <a:gd name="connsiteY4" fmla="*/ 0 h 2082903"/>
              <a:gd name="connsiteX5" fmla="*/ 2654458 w 5603464"/>
              <a:gd name="connsiteY5" fmla="*/ 0 h 2082903"/>
              <a:gd name="connsiteX6" fmla="*/ 3317193 w 5603464"/>
              <a:gd name="connsiteY6" fmla="*/ 0 h 2082903"/>
              <a:gd name="connsiteX7" fmla="*/ 3832653 w 5603464"/>
              <a:gd name="connsiteY7" fmla="*/ 0 h 2082903"/>
              <a:gd name="connsiteX8" fmla="*/ 4299023 w 5603464"/>
              <a:gd name="connsiteY8" fmla="*/ 0 h 2082903"/>
              <a:gd name="connsiteX9" fmla="*/ 5256307 w 5603464"/>
              <a:gd name="connsiteY9" fmla="*/ 0 h 2082903"/>
              <a:gd name="connsiteX10" fmla="*/ 5603464 w 5603464"/>
              <a:gd name="connsiteY10" fmla="*/ 347157 h 2082903"/>
              <a:gd name="connsiteX11" fmla="*/ 5603464 w 5603464"/>
              <a:gd name="connsiteY11" fmla="*/ 1055337 h 2082903"/>
              <a:gd name="connsiteX12" fmla="*/ 5603464 w 5603464"/>
              <a:gd name="connsiteY12" fmla="*/ 1735746 h 2082903"/>
              <a:gd name="connsiteX13" fmla="*/ 5256307 w 5603464"/>
              <a:gd name="connsiteY13" fmla="*/ 2082903 h 2082903"/>
              <a:gd name="connsiteX14" fmla="*/ 4789938 w 5603464"/>
              <a:gd name="connsiteY14" fmla="*/ 2082903 h 2082903"/>
              <a:gd name="connsiteX15" fmla="*/ 4078111 w 5603464"/>
              <a:gd name="connsiteY15" fmla="*/ 2082903 h 2082903"/>
              <a:gd name="connsiteX16" fmla="*/ 3464467 w 5603464"/>
              <a:gd name="connsiteY16" fmla="*/ 2082903 h 2082903"/>
              <a:gd name="connsiteX17" fmla="*/ 2752641 w 5603464"/>
              <a:gd name="connsiteY17" fmla="*/ 2082903 h 2082903"/>
              <a:gd name="connsiteX18" fmla="*/ 2089905 w 5603464"/>
              <a:gd name="connsiteY18" fmla="*/ 2082903 h 2082903"/>
              <a:gd name="connsiteX19" fmla="*/ 1525353 w 5603464"/>
              <a:gd name="connsiteY19" fmla="*/ 2082903 h 2082903"/>
              <a:gd name="connsiteX20" fmla="*/ 347157 w 5603464"/>
              <a:gd name="connsiteY20" fmla="*/ 2082903 h 2082903"/>
              <a:gd name="connsiteX21" fmla="*/ 0 w 5603464"/>
              <a:gd name="connsiteY21" fmla="*/ 1735746 h 2082903"/>
              <a:gd name="connsiteX22" fmla="*/ 0 w 5603464"/>
              <a:gd name="connsiteY22" fmla="*/ 1041452 h 2082903"/>
              <a:gd name="connsiteX23" fmla="*/ 0 w 5603464"/>
              <a:gd name="connsiteY23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603464" h="2082903" fill="none" extrusionOk="0">
                <a:moveTo>
                  <a:pt x="0" y="347157"/>
                </a:moveTo>
                <a:cubicBezTo>
                  <a:pt x="-2280" y="160004"/>
                  <a:pt x="145314" y="-13418"/>
                  <a:pt x="347157" y="0"/>
                </a:cubicBezTo>
                <a:cubicBezTo>
                  <a:pt x="659602" y="14143"/>
                  <a:pt x="833975" y="19685"/>
                  <a:pt x="1009892" y="0"/>
                </a:cubicBezTo>
                <a:cubicBezTo>
                  <a:pt x="1185810" y="-19685"/>
                  <a:pt x="1286464" y="-13290"/>
                  <a:pt x="1525353" y="0"/>
                </a:cubicBezTo>
                <a:cubicBezTo>
                  <a:pt x="1764242" y="13290"/>
                  <a:pt x="1906405" y="-33071"/>
                  <a:pt x="2188088" y="0"/>
                </a:cubicBezTo>
                <a:cubicBezTo>
                  <a:pt x="2469771" y="33071"/>
                  <a:pt x="2521126" y="19942"/>
                  <a:pt x="2654458" y="0"/>
                </a:cubicBezTo>
                <a:cubicBezTo>
                  <a:pt x="2787790" y="-19942"/>
                  <a:pt x="3010075" y="-8754"/>
                  <a:pt x="3317193" y="0"/>
                </a:cubicBezTo>
                <a:cubicBezTo>
                  <a:pt x="3624311" y="8754"/>
                  <a:pt x="3610248" y="12115"/>
                  <a:pt x="3832653" y="0"/>
                </a:cubicBezTo>
                <a:cubicBezTo>
                  <a:pt x="4055058" y="-12115"/>
                  <a:pt x="4109731" y="-4822"/>
                  <a:pt x="4299023" y="0"/>
                </a:cubicBezTo>
                <a:cubicBezTo>
                  <a:pt x="4488315" y="4822"/>
                  <a:pt x="5049090" y="-33745"/>
                  <a:pt x="5256307" y="0"/>
                </a:cubicBezTo>
                <a:cubicBezTo>
                  <a:pt x="5442699" y="19974"/>
                  <a:pt x="5639546" y="165776"/>
                  <a:pt x="5603464" y="347157"/>
                </a:cubicBezTo>
                <a:cubicBezTo>
                  <a:pt x="5571931" y="661927"/>
                  <a:pt x="5570455" y="750464"/>
                  <a:pt x="5603464" y="1055337"/>
                </a:cubicBezTo>
                <a:cubicBezTo>
                  <a:pt x="5636473" y="1360210"/>
                  <a:pt x="5585478" y="1446084"/>
                  <a:pt x="5603464" y="1735746"/>
                </a:cubicBezTo>
                <a:cubicBezTo>
                  <a:pt x="5616089" y="1958335"/>
                  <a:pt x="5470757" y="2105379"/>
                  <a:pt x="5256307" y="2082903"/>
                </a:cubicBezTo>
                <a:cubicBezTo>
                  <a:pt x="5100303" y="2066384"/>
                  <a:pt x="4996698" y="2074739"/>
                  <a:pt x="4789938" y="2082903"/>
                </a:cubicBezTo>
                <a:cubicBezTo>
                  <a:pt x="4583178" y="2091067"/>
                  <a:pt x="4335783" y="2085872"/>
                  <a:pt x="4078111" y="2082903"/>
                </a:cubicBezTo>
                <a:cubicBezTo>
                  <a:pt x="3820439" y="2079934"/>
                  <a:pt x="3705236" y="2054282"/>
                  <a:pt x="3464467" y="2082903"/>
                </a:cubicBezTo>
                <a:cubicBezTo>
                  <a:pt x="3223698" y="2111524"/>
                  <a:pt x="2949310" y="2075305"/>
                  <a:pt x="2752641" y="2082903"/>
                </a:cubicBezTo>
                <a:cubicBezTo>
                  <a:pt x="2555972" y="2090501"/>
                  <a:pt x="2402298" y="2054089"/>
                  <a:pt x="2089905" y="2082903"/>
                </a:cubicBezTo>
                <a:cubicBezTo>
                  <a:pt x="1777512" y="2111717"/>
                  <a:pt x="1714367" y="2082793"/>
                  <a:pt x="1525353" y="2082903"/>
                </a:cubicBezTo>
                <a:cubicBezTo>
                  <a:pt x="1336339" y="2083013"/>
                  <a:pt x="755660" y="2062646"/>
                  <a:pt x="347157" y="2082903"/>
                </a:cubicBezTo>
                <a:cubicBezTo>
                  <a:pt x="155621" y="2091732"/>
                  <a:pt x="24880" y="1905151"/>
                  <a:pt x="0" y="1735746"/>
                </a:cubicBezTo>
                <a:cubicBezTo>
                  <a:pt x="-19513" y="1440503"/>
                  <a:pt x="-24480" y="1259767"/>
                  <a:pt x="0" y="1041452"/>
                </a:cubicBezTo>
                <a:cubicBezTo>
                  <a:pt x="24480" y="823137"/>
                  <a:pt x="17244" y="538640"/>
                  <a:pt x="0" y="347157"/>
                </a:cubicBezTo>
                <a:close/>
              </a:path>
              <a:path w="5603464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6687" y="26663"/>
                  <a:pt x="791967" y="-20427"/>
                  <a:pt x="1058984" y="0"/>
                </a:cubicBezTo>
                <a:cubicBezTo>
                  <a:pt x="1326001" y="20427"/>
                  <a:pt x="1348184" y="-12068"/>
                  <a:pt x="1623536" y="0"/>
                </a:cubicBezTo>
                <a:cubicBezTo>
                  <a:pt x="1898888" y="12068"/>
                  <a:pt x="1900968" y="17766"/>
                  <a:pt x="2138997" y="0"/>
                </a:cubicBezTo>
                <a:cubicBezTo>
                  <a:pt x="2377026" y="-17766"/>
                  <a:pt x="2595584" y="25999"/>
                  <a:pt x="2801732" y="0"/>
                </a:cubicBezTo>
                <a:cubicBezTo>
                  <a:pt x="3007880" y="-25999"/>
                  <a:pt x="3137518" y="13035"/>
                  <a:pt x="3366284" y="0"/>
                </a:cubicBezTo>
                <a:cubicBezTo>
                  <a:pt x="3595050" y="-13035"/>
                  <a:pt x="3776537" y="-10232"/>
                  <a:pt x="4078111" y="0"/>
                </a:cubicBezTo>
                <a:cubicBezTo>
                  <a:pt x="4379685" y="10232"/>
                  <a:pt x="4346001" y="19694"/>
                  <a:pt x="4593572" y="0"/>
                </a:cubicBezTo>
                <a:cubicBezTo>
                  <a:pt x="4841143" y="-19694"/>
                  <a:pt x="5122143" y="3843"/>
                  <a:pt x="5256307" y="0"/>
                </a:cubicBezTo>
                <a:cubicBezTo>
                  <a:pt x="5482348" y="8250"/>
                  <a:pt x="5577529" y="151232"/>
                  <a:pt x="5603464" y="347157"/>
                </a:cubicBezTo>
                <a:cubicBezTo>
                  <a:pt x="5580055" y="643217"/>
                  <a:pt x="5637606" y="743872"/>
                  <a:pt x="5603464" y="1041452"/>
                </a:cubicBezTo>
                <a:cubicBezTo>
                  <a:pt x="5569322" y="1339033"/>
                  <a:pt x="5595993" y="1520042"/>
                  <a:pt x="5603464" y="1735746"/>
                </a:cubicBezTo>
                <a:cubicBezTo>
                  <a:pt x="5607113" y="1931946"/>
                  <a:pt x="5469858" y="2063797"/>
                  <a:pt x="5256307" y="2082903"/>
                </a:cubicBezTo>
                <a:cubicBezTo>
                  <a:pt x="5062093" y="2075279"/>
                  <a:pt x="4807651" y="2079080"/>
                  <a:pt x="4642663" y="2082903"/>
                </a:cubicBezTo>
                <a:cubicBezTo>
                  <a:pt x="4477675" y="2086726"/>
                  <a:pt x="4225419" y="2096360"/>
                  <a:pt x="4029020" y="2082903"/>
                </a:cubicBezTo>
                <a:cubicBezTo>
                  <a:pt x="3832621" y="2069446"/>
                  <a:pt x="3629413" y="2091106"/>
                  <a:pt x="3317193" y="2082903"/>
                </a:cubicBezTo>
                <a:cubicBezTo>
                  <a:pt x="3004973" y="2074700"/>
                  <a:pt x="2979199" y="2070691"/>
                  <a:pt x="2703549" y="2082903"/>
                </a:cubicBezTo>
                <a:cubicBezTo>
                  <a:pt x="2427899" y="2095115"/>
                  <a:pt x="2434386" y="2088307"/>
                  <a:pt x="2237180" y="2082903"/>
                </a:cubicBezTo>
                <a:cubicBezTo>
                  <a:pt x="2039974" y="2077499"/>
                  <a:pt x="1960500" y="2105500"/>
                  <a:pt x="1721719" y="2082903"/>
                </a:cubicBezTo>
                <a:cubicBezTo>
                  <a:pt x="1482938" y="2060306"/>
                  <a:pt x="1337558" y="2105188"/>
                  <a:pt x="1009892" y="2082903"/>
                </a:cubicBezTo>
                <a:cubicBezTo>
                  <a:pt x="682226" y="2060618"/>
                  <a:pt x="504309" y="2078515"/>
                  <a:pt x="347157" y="2082903"/>
                </a:cubicBezTo>
                <a:cubicBezTo>
                  <a:pt x="159410" y="2090789"/>
                  <a:pt x="-16270" y="1936056"/>
                  <a:pt x="0" y="1735746"/>
                </a:cubicBezTo>
                <a:cubicBezTo>
                  <a:pt x="-18927" y="1533786"/>
                  <a:pt x="-11439" y="1176689"/>
                  <a:pt x="0" y="1027566"/>
                </a:cubicBezTo>
                <a:cubicBezTo>
                  <a:pt x="11439" y="878443"/>
                  <a:pt x="26102" y="663788"/>
                  <a:pt x="0" y="34715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with Response Transformation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D44A0A-0054-088B-C6C6-C8B4817A59E5}"/>
              </a:ext>
            </a:extLst>
          </p:cNvPr>
          <p:cNvSpPr/>
          <p:nvPr/>
        </p:nvSpPr>
        <p:spPr>
          <a:xfrm>
            <a:off x="887389" y="954170"/>
            <a:ext cx="3987913" cy="2082903"/>
          </a:xfrm>
          <a:custGeom>
            <a:avLst/>
            <a:gdLst>
              <a:gd name="connsiteX0" fmla="*/ 0 w 3987913"/>
              <a:gd name="connsiteY0" fmla="*/ 347157 h 2082903"/>
              <a:gd name="connsiteX1" fmla="*/ 347157 w 3987913"/>
              <a:gd name="connsiteY1" fmla="*/ 0 h 2082903"/>
              <a:gd name="connsiteX2" fmla="*/ 1038813 w 3987913"/>
              <a:gd name="connsiteY2" fmla="*/ 0 h 2082903"/>
              <a:gd name="connsiteX3" fmla="*/ 1631661 w 3987913"/>
              <a:gd name="connsiteY3" fmla="*/ 0 h 2082903"/>
              <a:gd name="connsiteX4" fmla="*/ 2290380 w 3987913"/>
              <a:gd name="connsiteY4" fmla="*/ 0 h 2082903"/>
              <a:gd name="connsiteX5" fmla="*/ 2850292 w 3987913"/>
              <a:gd name="connsiteY5" fmla="*/ 0 h 2082903"/>
              <a:gd name="connsiteX6" fmla="*/ 3640756 w 3987913"/>
              <a:gd name="connsiteY6" fmla="*/ 0 h 2082903"/>
              <a:gd name="connsiteX7" fmla="*/ 3987913 w 3987913"/>
              <a:gd name="connsiteY7" fmla="*/ 347157 h 2082903"/>
              <a:gd name="connsiteX8" fmla="*/ 3987913 w 3987913"/>
              <a:gd name="connsiteY8" fmla="*/ 1055337 h 2082903"/>
              <a:gd name="connsiteX9" fmla="*/ 3987913 w 3987913"/>
              <a:gd name="connsiteY9" fmla="*/ 1735746 h 2082903"/>
              <a:gd name="connsiteX10" fmla="*/ 3640756 w 3987913"/>
              <a:gd name="connsiteY10" fmla="*/ 2082903 h 2082903"/>
              <a:gd name="connsiteX11" fmla="*/ 2982036 w 3987913"/>
              <a:gd name="connsiteY11" fmla="*/ 2082903 h 2082903"/>
              <a:gd name="connsiteX12" fmla="*/ 2389188 w 3987913"/>
              <a:gd name="connsiteY12" fmla="*/ 2082903 h 2082903"/>
              <a:gd name="connsiteX13" fmla="*/ 1829277 w 3987913"/>
              <a:gd name="connsiteY13" fmla="*/ 2082903 h 2082903"/>
              <a:gd name="connsiteX14" fmla="*/ 1236429 w 3987913"/>
              <a:gd name="connsiteY14" fmla="*/ 2082903 h 2082903"/>
              <a:gd name="connsiteX15" fmla="*/ 347157 w 3987913"/>
              <a:gd name="connsiteY15" fmla="*/ 2082903 h 2082903"/>
              <a:gd name="connsiteX16" fmla="*/ 0 w 3987913"/>
              <a:gd name="connsiteY16" fmla="*/ 1735746 h 2082903"/>
              <a:gd name="connsiteX17" fmla="*/ 0 w 3987913"/>
              <a:gd name="connsiteY17" fmla="*/ 1069223 h 2082903"/>
              <a:gd name="connsiteX18" fmla="*/ 0 w 3987913"/>
              <a:gd name="connsiteY18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913" h="2082903" fill="none" extrusionOk="0">
                <a:moveTo>
                  <a:pt x="0" y="347157"/>
                </a:moveTo>
                <a:cubicBezTo>
                  <a:pt x="-14015" y="156004"/>
                  <a:pt x="165939" y="-18950"/>
                  <a:pt x="347157" y="0"/>
                </a:cubicBezTo>
                <a:cubicBezTo>
                  <a:pt x="676636" y="27748"/>
                  <a:pt x="761854" y="34243"/>
                  <a:pt x="1038813" y="0"/>
                </a:cubicBezTo>
                <a:cubicBezTo>
                  <a:pt x="1315772" y="-34243"/>
                  <a:pt x="1456771" y="-8878"/>
                  <a:pt x="1631661" y="0"/>
                </a:cubicBezTo>
                <a:cubicBezTo>
                  <a:pt x="1806551" y="8878"/>
                  <a:pt x="2089006" y="-10123"/>
                  <a:pt x="2290380" y="0"/>
                </a:cubicBezTo>
                <a:cubicBezTo>
                  <a:pt x="2491754" y="10123"/>
                  <a:pt x="2594260" y="-5006"/>
                  <a:pt x="2850292" y="0"/>
                </a:cubicBezTo>
                <a:cubicBezTo>
                  <a:pt x="3106324" y="5006"/>
                  <a:pt x="3388379" y="13837"/>
                  <a:pt x="3640756" y="0"/>
                </a:cubicBezTo>
                <a:cubicBezTo>
                  <a:pt x="3830206" y="4577"/>
                  <a:pt x="3977800" y="142009"/>
                  <a:pt x="3987913" y="347157"/>
                </a:cubicBezTo>
                <a:cubicBezTo>
                  <a:pt x="4022292" y="500492"/>
                  <a:pt x="3967331" y="880496"/>
                  <a:pt x="3987913" y="1055337"/>
                </a:cubicBezTo>
                <a:cubicBezTo>
                  <a:pt x="4008495" y="1230178"/>
                  <a:pt x="3963825" y="1403885"/>
                  <a:pt x="3987913" y="1735746"/>
                </a:cubicBezTo>
                <a:cubicBezTo>
                  <a:pt x="3981180" y="1948466"/>
                  <a:pt x="3826076" y="2062717"/>
                  <a:pt x="3640756" y="2082903"/>
                </a:cubicBezTo>
                <a:cubicBezTo>
                  <a:pt x="3410960" y="2059571"/>
                  <a:pt x="3213001" y="2102994"/>
                  <a:pt x="2982036" y="2082903"/>
                </a:cubicBezTo>
                <a:cubicBezTo>
                  <a:pt x="2751071" y="2062812"/>
                  <a:pt x="2544017" y="2109399"/>
                  <a:pt x="2389188" y="2082903"/>
                </a:cubicBezTo>
                <a:cubicBezTo>
                  <a:pt x="2234359" y="2056407"/>
                  <a:pt x="1943754" y="2068918"/>
                  <a:pt x="1829277" y="2082903"/>
                </a:cubicBezTo>
                <a:cubicBezTo>
                  <a:pt x="1714800" y="2096888"/>
                  <a:pt x="1432401" y="2110987"/>
                  <a:pt x="1236429" y="2082903"/>
                </a:cubicBezTo>
                <a:cubicBezTo>
                  <a:pt x="1040457" y="2054819"/>
                  <a:pt x="759103" y="2079266"/>
                  <a:pt x="347157" y="2082903"/>
                </a:cubicBezTo>
                <a:cubicBezTo>
                  <a:pt x="183213" y="2075549"/>
                  <a:pt x="-3712" y="1953187"/>
                  <a:pt x="0" y="1735746"/>
                </a:cubicBezTo>
                <a:cubicBezTo>
                  <a:pt x="-2175" y="1576914"/>
                  <a:pt x="12315" y="1280927"/>
                  <a:pt x="0" y="1069223"/>
                </a:cubicBezTo>
                <a:cubicBezTo>
                  <a:pt x="-12315" y="857519"/>
                  <a:pt x="12290" y="497386"/>
                  <a:pt x="0" y="347157"/>
                </a:cubicBezTo>
                <a:close/>
              </a:path>
              <a:path w="3987913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4568" y="14613"/>
                  <a:pt x="857377" y="-9172"/>
                  <a:pt x="1071749" y="0"/>
                </a:cubicBezTo>
                <a:cubicBezTo>
                  <a:pt x="1286121" y="9172"/>
                  <a:pt x="1511357" y="1786"/>
                  <a:pt x="1697533" y="0"/>
                </a:cubicBezTo>
                <a:cubicBezTo>
                  <a:pt x="1883709" y="-1786"/>
                  <a:pt x="2012464" y="-12925"/>
                  <a:pt x="2290380" y="0"/>
                </a:cubicBezTo>
                <a:cubicBezTo>
                  <a:pt x="2568296" y="12925"/>
                  <a:pt x="2691299" y="34462"/>
                  <a:pt x="2982036" y="0"/>
                </a:cubicBezTo>
                <a:cubicBezTo>
                  <a:pt x="3272773" y="-34462"/>
                  <a:pt x="3368349" y="19535"/>
                  <a:pt x="3640756" y="0"/>
                </a:cubicBezTo>
                <a:cubicBezTo>
                  <a:pt x="3840003" y="-12233"/>
                  <a:pt x="3953114" y="186008"/>
                  <a:pt x="3987913" y="347157"/>
                </a:cubicBezTo>
                <a:cubicBezTo>
                  <a:pt x="3957819" y="671989"/>
                  <a:pt x="3978130" y="852414"/>
                  <a:pt x="3987913" y="1041452"/>
                </a:cubicBezTo>
                <a:cubicBezTo>
                  <a:pt x="3997696" y="1230491"/>
                  <a:pt x="3988637" y="1463112"/>
                  <a:pt x="3987913" y="1735746"/>
                </a:cubicBezTo>
                <a:cubicBezTo>
                  <a:pt x="3974714" y="1926721"/>
                  <a:pt x="3839307" y="2064199"/>
                  <a:pt x="3640756" y="2082903"/>
                </a:cubicBezTo>
                <a:cubicBezTo>
                  <a:pt x="3448142" y="2084337"/>
                  <a:pt x="3249680" y="2088076"/>
                  <a:pt x="2949100" y="2082903"/>
                </a:cubicBezTo>
                <a:cubicBezTo>
                  <a:pt x="2648520" y="2077730"/>
                  <a:pt x="2528181" y="2072817"/>
                  <a:pt x="2224508" y="2082903"/>
                </a:cubicBezTo>
                <a:cubicBezTo>
                  <a:pt x="1920835" y="2092989"/>
                  <a:pt x="1679525" y="2080271"/>
                  <a:pt x="1499917" y="2082903"/>
                </a:cubicBezTo>
                <a:cubicBezTo>
                  <a:pt x="1320309" y="2085535"/>
                  <a:pt x="725486" y="2094138"/>
                  <a:pt x="347157" y="2082903"/>
                </a:cubicBezTo>
                <a:cubicBezTo>
                  <a:pt x="127646" y="2056728"/>
                  <a:pt x="-7553" y="1916185"/>
                  <a:pt x="0" y="1735746"/>
                </a:cubicBezTo>
                <a:cubicBezTo>
                  <a:pt x="24810" y="1454835"/>
                  <a:pt x="20691" y="1333329"/>
                  <a:pt x="0" y="1027566"/>
                </a:cubicBezTo>
                <a:cubicBezTo>
                  <a:pt x="-20691" y="721803"/>
                  <a:pt x="15317" y="601302"/>
                  <a:pt x="0" y="34715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Basic Transformations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5BBDC-EF6C-5696-249B-94629907C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Math for the VPT?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DBE586-26B4-A87E-0343-E789C4571CCD}"/>
                  </a:ext>
                </a:extLst>
              </p:cNvPr>
              <p:cNvSpPr txBox="1"/>
              <p:nvPr/>
            </p:nvSpPr>
            <p:spPr>
              <a:xfrm>
                <a:off x="1288474" y="1610589"/>
                <a:ext cx="3185744" cy="494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DBE586-26B4-A87E-0343-E789C4571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474" y="1610589"/>
                <a:ext cx="3185744" cy="494944"/>
              </a:xfrm>
              <a:prstGeom prst="rect">
                <a:avLst/>
              </a:prstGeom>
              <a:blipFill>
                <a:blip r:embed="rId2"/>
                <a:stretch>
                  <a:fillRect t="-125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F31CFE-DCB4-5409-B6D0-8E39C33B2D2B}"/>
                  </a:ext>
                </a:extLst>
              </p:cNvPr>
              <p:cNvSpPr txBox="1"/>
              <p:nvPr/>
            </p:nvSpPr>
            <p:spPr>
              <a:xfrm>
                <a:off x="1472178" y="2313707"/>
                <a:ext cx="2818336" cy="496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𝑓𝑜𝑟𝑐𝑒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F31CFE-DCB4-5409-B6D0-8E39C33B2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78" y="2313707"/>
                <a:ext cx="2818336" cy="496226"/>
              </a:xfrm>
              <a:prstGeom prst="rect">
                <a:avLst/>
              </a:prstGeom>
              <a:blipFill>
                <a:blip r:embed="rId3"/>
                <a:stretch>
                  <a:fillRect t="-1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945624-C1A7-2628-3229-330AD38C0E46}"/>
                  </a:ext>
                </a:extLst>
              </p:cNvPr>
              <p:cNvSpPr txBox="1"/>
              <p:nvPr/>
            </p:nvSpPr>
            <p:spPr>
              <a:xfrm>
                <a:off x="5817058" y="1536810"/>
                <a:ext cx="2731709" cy="424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945624-C1A7-2628-3229-330AD38C0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058" y="1536810"/>
                <a:ext cx="2731709" cy="424283"/>
              </a:xfrm>
              <a:prstGeom prst="rect">
                <a:avLst/>
              </a:prstGeom>
              <a:blipFill>
                <a:blip r:embed="rId4"/>
                <a:stretch>
                  <a:fillRect t="-14286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7BDD96-43E3-B398-DC17-F0551594C479}"/>
                  </a:ext>
                </a:extLst>
              </p:cNvPr>
              <p:cNvSpPr txBox="1"/>
              <p:nvPr/>
            </p:nvSpPr>
            <p:spPr>
              <a:xfrm>
                <a:off x="9374612" y="1564285"/>
                <a:ext cx="1794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7BDD96-43E3-B398-DC17-F0551594C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612" y="1564285"/>
                <a:ext cx="1794274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B39D3C-7F81-971F-3A93-2E16F8CDDCE3}"/>
                  </a:ext>
                </a:extLst>
              </p:cNvPr>
              <p:cNvSpPr txBox="1"/>
              <p:nvPr/>
            </p:nvSpPr>
            <p:spPr>
              <a:xfrm>
                <a:off x="6947236" y="2427310"/>
                <a:ext cx="3256469" cy="424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B39D3C-7F81-971F-3A93-2E16F8CDD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236" y="2427310"/>
                <a:ext cx="3256469" cy="424283"/>
              </a:xfrm>
              <a:prstGeom prst="rect">
                <a:avLst/>
              </a:prstGeom>
              <a:blipFill>
                <a:blip r:embed="rId6"/>
                <a:stretch>
                  <a:fillRect t="-1764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D4BDACC-AA9A-47D8-EDF9-1549BE73E322}"/>
              </a:ext>
            </a:extLst>
          </p:cNvPr>
          <p:cNvCxnSpPr/>
          <p:nvPr/>
        </p:nvCxnSpPr>
        <p:spPr>
          <a:xfrm>
            <a:off x="7482626" y="1961093"/>
            <a:ext cx="1066141" cy="45564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975FE5-8F49-F312-2E0E-E5388D9AAC47}"/>
              </a:ext>
            </a:extLst>
          </p:cNvPr>
          <p:cNvCxnSpPr>
            <a:cxnSpLocks/>
          </p:cNvCxnSpPr>
          <p:nvPr/>
        </p:nvCxnSpPr>
        <p:spPr>
          <a:xfrm flipH="1">
            <a:off x="9491731" y="1933617"/>
            <a:ext cx="605307" cy="51909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7149687-25C1-285F-7B4E-7674FFF84AB9}"/>
              </a:ext>
            </a:extLst>
          </p:cNvPr>
          <p:cNvSpPr/>
          <p:nvPr/>
        </p:nvSpPr>
        <p:spPr>
          <a:xfrm>
            <a:off x="450830" y="3532032"/>
            <a:ext cx="6362093" cy="2082903"/>
          </a:xfrm>
          <a:custGeom>
            <a:avLst/>
            <a:gdLst>
              <a:gd name="connsiteX0" fmla="*/ 0 w 6362093"/>
              <a:gd name="connsiteY0" fmla="*/ 347157 h 2082903"/>
              <a:gd name="connsiteX1" fmla="*/ 347157 w 6362093"/>
              <a:gd name="connsiteY1" fmla="*/ 0 h 2082903"/>
              <a:gd name="connsiteX2" fmla="*/ 920232 w 6362093"/>
              <a:gd name="connsiteY2" fmla="*/ 0 h 2082903"/>
              <a:gd name="connsiteX3" fmla="*/ 1379952 w 6362093"/>
              <a:gd name="connsiteY3" fmla="*/ 0 h 2082903"/>
              <a:gd name="connsiteX4" fmla="*/ 2066383 w 6362093"/>
              <a:gd name="connsiteY4" fmla="*/ 0 h 2082903"/>
              <a:gd name="connsiteX5" fmla="*/ 2582781 w 6362093"/>
              <a:gd name="connsiteY5" fmla="*/ 0 h 2082903"/>
              <a:gd name="connsiteX6" fmla="*/ 3042501 w 6362093"/>
              <a:gd name="connsiteY6" fmla="*/ 0 h 2082903"/>
              <a:gd name="connsiteX7" fmla="*/ 3558898 w 6362093"/>
              <a:gd name="connsiteY7" fmla="*/ 0 h 2082903"/>
              <a:gd name="connsiteX8" fmla="*/ 4245329 w 6362093"/>
              <a:gd name="connsiteY8" fmla="*/ 0 h 2082903"/>
              <a:gd name="connsiteX9" fmla="*/ 4761727 w 6362093"/>
              <a:gd name="connsiteY9" fmla="*/ 0 h 2082903"/>
              <a:gd name="connsiteX10" fmla="*/ 5221447 w 6362093"/>
              <a:gd name="connsiteY10" fmla="*/ 0 h 2082903"/>
              <a:gd name="connsiteX11" fmla="*/ 6014936 w 6362093"/>
              <a:gd name="connsiteY11" fmla="*/ 0 h 2082903"/>
              <a:gd name="connsiteX12" fmla="*/ 6362093 w 6362093"/>
              <a:gd name="connsiteY12" fmla="*/ 347157 h 2082903"/>
              <a:gd name="connsiteX13" fmla="*/ 6362093 w 6362093"/>
              <a:gd name="connsiteY13" fmla="*/ 999794 h 2082903"/>
              <a:gd name="connsiteX14" fmla="*/ 6362093 w 6362093"/>
              <a:gd name="connsiteY14" fmla="*/ 1735746 h 2082903"/>
              <a:gd name="connsiteX15" fmla="*/ 6014936 w 6362093"/>
              <a:gd name="connsiteY15" fmla="*/ 2082903 h 2082903"/>
              <a:gd name="connsiteX16" fmla="*/ 5555216 w 6362093"/>
              <a:gd name="connsiteY16" fmla="*/ 2082903 h 2082903"/>
              <a:gd name="connsiteX17" fmla="*/ 4982141 w 6362093"/>
              <a:gd name="connsiteY17" fmla="*/ 2082903 h 2082903"/>
              <a:gd name="connsiteX18" fmla="*/ 4295710 w 6362093"/>
              <a:gd name="connsiteY18" fmla="*/ 2082903 h 2082903"/>
              <a:gd name="connsiteX19" fmla="*/ 3779312 w 6362093"/>
              <a:gd name="connsiteY19" fmla="*/ 2082903 h 2082903"/>
              <a:gd name="connsiteX20" fmla="*/ 3149559 w 6362093"/>
              <a:gd name="connsiteY20" fmla="*/ 2082903 h 2082903"/>
              <a:gd name="connsiteX21" fmla="*/ 2689839 w 6362093"/>
              <a:gd name="connsiteY21" fmla="*/ 2082903 h 2082903"/>
              <a:gd name="connsiteX22" fmla="*/ 1946730 w 6362093"/>
              <a:gd name="connsiteY22" fmla="*/ 2082903 h 2082903"/>
              <a:gd name="connsiteX23" fmla="*/ 1316977 w 6362093"/>
              <a:gd name="connsiteY23" fmla="*/ 2082903 h 2082903"/>
              <a:gd name="connsiteX24" fmla="*/ 347157 w 6362093"/>
              <a:gd name="connsiteY24" fmla="*/ 2082903 h 2082903"/>
              <a:gd name="connsiteX25" fmla="*/ 0 w 6362093"/>
              <a:gd name="connsiteY25" fmla="*/ 1735746 h 2082903"/>
              <a:gd name="connsiteX26" fmla="*/ 0 w 6362093"/>
              <a:gd name="connsiteY26" fmla="*/ 1027566 h 2082903"/>
              <a:gd name="connsiteX27" fmla="*/ 0 w 6362093"/>
              <a:gd name="connsiteY27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62093" h="2082903" fill="none" extrusionOk="0">
                <a:moveTo>
                  <a:pt x="0" y="347157"/>
                </a:moveTo>
                <a:cubicBezTo>
                  <a:pt x="-2277" y="108178"/>
                  <a:pt x="179614" y="15238"/>
                  <a:pt x="347157" y="0"/>
                </a:cubicBezTo>
                <a:cubicBezTo>
                  <a:pt x="508994" y="13683"/>
                  <a:pt x="801164" y="115"/>
                  <a:pt x="920232" y="0"/>
                </a:cubicBezTo>
                <a:cubicBezTo>
                  <a:pt x="1039300" y="-115"/>
                  <a:pt x="1247294" y="-22736"/>
                  <a:pt x="1379952" y="0"/>
                </a:cubicBezTo>
                <a:cubicBezTo>
                  <a:pt x="1512610" y="22736"/>
                  <a:pt x="1804160" y="-28171"/>
                  <a:pt x="2066383" y="0"/>
                </a:cubicBezTo>
                <a:cubicBezTo>
                  <a:pt x="2328606" y="28171"/>
                  <a:pt x="2469910" y="-24726"/>
                  <a:pt x="2582781" y="0"/>
                </a:cubicBezTo>
                <a:cubicBezTo>
                  <a:pt x="2695652" y="24726"/>
                  <a:pt x="2822850" y="12887"/>
                  <a:pt x="3042501" y="0"/>
                </a:cubicBezTo>
                <a:cubicBezTo>
                  <a:pt x="3262152" y="-12887"/>
                  <a:pt x="3373213" y="10967"/>
                  <a:pt x="3558898" y="0"/>
                </a:cubicBezTo>
                <a:cubicBezTo>
                  <a:pt x="3744583" y="-10967"/>
                  <a:pt x="4032420" y="-4409"/>
                  <a:pt x="4245329" y="0"/>
                </a:cubicBezTo>
                <a:cubicBezTo>
                  <a:pt x="4458238" y="4409"/>
                  <a:pt x="4547753" y="12178"/>
                  <a:pt x="4761727" y="0"/>
                </a:cubicBezTo>
                <a:cubicBezTo>
                  <a:pt x="4975701" y="-12178"/>
                  <a:pt x="5115563" y="840"/>
                  <a:pt x="5221447" y="0"/>
                </a:cubicBezTo>
                <a:cubicBezTo>
                  <a:pt x="5327331" y="-840"/>
                  <a:pt x="5698069" y="9662"/>
                  <a:pt x="6014936" y="0"/>
                </a:cubicBezTo>
                <a:cubicBezTo>
                  <a:pt x="6219291" y="30859"/>
                  <a:pt x="6384813" y="177903"/>
                  <a:pt x="6362093" y="347157"/>
                </a:cubicBezTo>
                <a:cubicBezTo>
                  <a:pt x="6393142" y="514578"/>
                  <a:pt x="6378278" y="858132"/>
                  <a:pt x="6362093" y="999794"/>
                </a:cubicBezTo>
                <a:cubicBezTo>
                  <a:pt x="6345908" y="1141456"/>
                  <a:pt x="6331303" y="1555254"/>
                  <a:pt x="6362093" y="1735746"/>
                </a:cubicBezTo>
                <a:cubicBezTo>
                  <a:pt x="6358140" y="1920416"/>
                  <a:pt x="6202411" y="2084880"/>
                  <a:pt x="6014936" y="2082903"/>
                </a:cubicBezTo>
                <a:cubicBezTo>
                  <a:pt x="5790317" y="2082791"/>
                  <a:pt x="5655493" y="2060052"/>
                  <a:pt x="5555216" y="2082903"/>
                </a:cubicBezTo>
                <a:cubicBezTo>
                  <a:pt x="5454939" y="2105754"/>
                  <a:pt x="5248908" y="2056661"/>
                  <a:pt x="4982141" y="2082903"/>
                </a:cubicBezTo>
                <a:cubicBezTo>
                  <a:pt x="4715375" y="2109145"/>
                  <a:pt x="4591732" y="2063032"/>
                  <a:pt x="4295710" y="2082903"/>
                </a:cubicBezTo>
                <a:cubicBezTo>
                  <a:pt x="3999688" y="2102774"/>
                  <a:pt x="3926150" y="2074675"/>
                  <a:pt x="3779312" y="2082903"/>
                </a:cubicBezTo>
                <a:cubicBezTo>
                  <a:pt x="3632474" y="2091131"/>
                  <a:pt x="3287784" y="2059710"/>
                  <a:pt x="3149559" y="2082903"/>
                </a:cubicBezTo>
                <a:cubicBezTo>
                  <a:pt x="3011334" y="2106096"/>
                  <a:pt x="2898662" y="2076796"/>
                  <a:pt x="2689839" y="2082903"/>
                </a:cubicBezTo>
                <a:cubicBezTo>
                  <a:pt x="2481016" y="2089010"/>
                  <a:pt x="2258457" y="2105782"/>
                  <a:pt x="1946730" y="2082903"/>
                </a:cubicBezTo>
                <a:cubicBezTo>
                  <a:pt x="1635003" y="2060024"/>
                  <a:pt x="1582363" y="2090885"/>
                  <a:pt x="1316977" y="2082903"/>
                </a:cubicBezTo>
                <a:cubicBezTo>
                  <a:pt x="1051591" y="2074921"/>
                  <a:pt x="736030" y="2052942"/>
                  <a:pt x="347157" y="2082903"/>
                </a:cubicBezTo>
                <a:cubicBezTo>
                  <a:pt x="159934" y="2092520"/>
                  <a:pt x="-4448" y="1945669"/>
                  <a:pt x="0" y="1735746"/>
                </a:cubicBezTo>
                <a:cubicBezTo>
                  <a:pt x="27846" y="1516160"/>
                  <a:pt x="-76" y="1219184"/>
                  <a:pt x="0" y="1027566"/>
                </a:cubicBezTo>
                <a:cubicBezTo>
                  <a:pt x="76" y="835948"/>
                  <a:pt x="-25668" y="561896"/>
                  <a:pt x="0" y="347157"/>
                </a:cubicBezTo>
                <a:close/>
              </a:path>
              <a:path w="6362093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7614" y="32992"/>
                  <a:pt x="842981" y="-1771"/>
                  <a:pt x="1090266" y="0"/>
                </a:cubicBezTo>
                <a:cubicBezTo>
                  <a:pt x="1337551" y="1771"/>
                  <a:pt x="1535794" y="-17363"/>
                  <a:pt x="1663341" y="0"/>
                </a:cubicBezTo>
                <a:cubicBezTo>
                  <a:pt x="1790889" y="17363"/>
                  <a:pt x="1921845" y="-200"/>
                  <a:pt x="2179739" y="0"/>
                </a:cubicBezTo>
                <a:cubicBezTo>
                  <a:pt x="2437633" y="200"/>
                  <a:pt x="2622917" y="12623"/>
                  <a:pt x="2866170" y="0"/>
                </a:cubicBezTo>
                <a:cubicBezTo>
                  <a:pt x="3109423" y="-12623"/>
                  <a:pt x="3194541" y="-9553"/>
                  <a:pt x="3439245" y="0"/>
                </a:cubicBezTo>
                <a:cubicBezTo>
                  <a:pt x="3683950" y="9553"/>
                  <a:pt x="3982337" y="1559"/>
                  <a:pt x="4182354" y="0"/>
                </a:cubicBezTo>
                <a:cubicBezTo>
                  <a:pt x="4382371" y="-1559"/>
                  <a:pt x="4537888" y="-11448"/>
                  <a:pt x="4698752" y="0"/>
                </a:cubicBezTo>
                <a:cubicBezTo>
                  <a:pt x="4859616" y="11448"/>
                  <a:pt x="5094365" y="23183"/>
                  <a:pt x="5441861" y="0"/>
                </a:cubicBezTo>
                <a:cubicBezTo>
                  <a:pt x="5789357" y="-23183"/>
                  <a:pt x="5880691" y="2271"/>
                  <a:pt x="6014936" y="0"/>
                </a:cubicBezTo>
                <a:cubicBezTo>
                  <a:pt x="6193467" y="-755"/>
                  <a:pt x="6368914" y="136723"/>
                  <a:pt x="6362093" y="347157"/>
                </a:cubicBezTo>
                <a:cubicBezTo>
                  <a:pt x="6394584" y="568512"/>
                  <a:pt x="6369664" y="782575"/>
                  <a:pt x="6362093" y="1055337"/>
                </a:cubicBezTo>
                <a:cubicBezTo>
                  <a:pt x="6354522" y="1328099"/>
                  <a:pt x="6356746" y="1489457"/>
                  <a:pt x="6362093" y="1735746"/>
                </a:cubicBezTo>
                <a:cubicBezTo>
                  <a:pt x="6373476" y="1913346"/>
                  <a:pt x="6167622" y="2067810"/>
                  <a:pt x="6014936" y="2082903"/>
                </a:cubicBezTo>
                <a:cubicBezTo>
                  <a:pt x="5834735" y="2106316"/>
                  <a:pt x="5556408" y="2081893"/>
                  <a:pt x="5385183" y="2082903"/>
                </a:cubicBezTo>
                <a:cubicBezTo>
                  <a:pt x="5213958" y="2083913"/>
                  <a:pt x="5005386" y="2060086"/>
                  <a:pt x="4642074" y="2082903"/>
                </a:cubicBezTo>
                <a:cubicBezTo>
                  <a:pt x="4278762" y="2105720"/>
                  <a:pt x="4256390" y="2075646"/>
                  <a:pt x="4012321" y="2082903"/>
                </a:cubicBezTo>
                <a:cubicBezTo>
                  <a:pt x="3768252" y="2090160"/>
                  <a:pt x="3725984" y="2083334"/>
                  <a:pt x="3552601" y="2082903"/>
                </a:cubicBezTo>
                <a:cubicBezTo>
                  <a:pt x="3379218" y="2082472"/>
                  <a:pt x="3276515" y="2107652"/>
                  <a:pt x="3036203" y="2082903"/>
                </a:cubicBezTo>
                <a:cubicBezTo>
                  <a:pt x="2795891" y="2058154"/>
                  <a:pt x="2605226" y="2066649"/>
                  <a:pt x="2293094" y="2082903"/>
                </a:cubicBezTo>
                <a:cubicBezTo>
                  <a:pt x="1980962" y="2099157"/>
                  <a:pt x="1802263" y="2102524"/>
                  <a:pt x="1663341" y="2082903"/>
                </a:cubicBezTo>
                <a:cubicBezTo>
                  <a:pt x="1524419" y="2063282"/>
                  <a:pt x="1315624" y="2080369"/>
                  <a:pt x="1146944" y="2082903"/>
                </a:cubicBezTo>
                <a:cubicBezTo>
                  <a:pt x="978264" y="2085437"/>
                  <a:pt x="647112" y="2079449"/>
                  <a:pt x="347157" y="2082903"/>
                </a:cubicBezTo>
                <a:cubicBezTo>
                  <a:pt x="129474" y="2081434"/>
                  <a:pt x="8068" y="1934422"/>
                  <a:pt x="0" y="1735746"/>
                </a:cubicBezTo>
                <a:cubicBezTo>
                  <a:pt x="-12056" y="1561734"/>
                  <a:pt x="-8821" y="1196966"/>
                  <a:pt x="0" y="1041452"/>
                </a:cubicBezTo>
                <a:cubicBezTo>
                  <a:pt x="8821" y="885938"/>
                  <a:pt x="-4853" y="608453"/>
                  <a:pt x="0" y="347157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with Force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A70623-3C19-6617-3BF6-DD1775D07C67}"/>
                  </a:ext>
                </a:extLst>
              </p:cNvPr>
              <p:cNvSpPr txBox="1"/>
              <p:nvPr/>
            </p:nvSpPr>
            <p:spPr>
              <a:xfrm>
                <a:off x="566742" y="4114672"/>
                <a:ext cx="2330382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𝑓𝑜𝑟𝑐𝑒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A70623-3C19-6617-3BF6-DD1775D07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42" y="4114672"/>
                <a:ext cx="2330382" cy="425373"/>
              </a:xfrm>
              <a:prstGeom prst="rect">
                <a:avLst/>
              </a:prstGeom>
              <a:blipFill>
                <a:blip r:embed="rId7"/>
                <a:stretch>
                  <a:fillRect t="-1764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68E7D5-40CF-3979-ABF3-48D1A5A2DBC1}"/>
                  </a:ext>
                </a:extLst>
              </p:cNvPr>
              <p:cNvSpPr txBox="1"/>
              <p:nvPr/>
            </p:nvSpPr>
            <p:spPr>
              <a:xfrm>
                <a:off x="4124296" y="4142147"/>
                <a:ext cx="1794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68E7D5-40CF-3979-ABF3-48D1A5A2D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96" y="4142147"/>
                <a:ext cx="1794274" cy="369332"/>
              </a:xfrm>
              <a:prstGeom prst="rect">
                <a:avLst/>
              </a:prstGeom>
              <a:blipFill>
                <a:blip r:embed="rId8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97A712E-B38C-D8C9-C7A7-59F7337B7E9F}"/>
                  </a:ext>
                </a:extLst>
              </p:cNvPr>
              <p:cNvSpPr txBox="1"/>
              <p:nvPr/>
            </p:nvSpPr>
            <p:spPr>
              <a:xfrm>
                <a:off x="3760140" y="4878290"/>
                <a:ext cx="2962221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97A712E-B38C-D8C9-C7A7-59F7337B7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140" y="4878290"/>
                <a:ext cx="2962221" cy="486608"/>
              </a:xfrm>
              <a:prstGeom prst="rect">
                <a:avLst/>
              </a:prstGeom>
              <a:blipFill>
                <a:blip r:embed="rId9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F5B77D-3E03-88E5-537B-D310EF940371}"/>
              </a:ext>
            </a:extLst>
          </p:cNvPr>
          <p:cNvCxnSpPr>
            <a:cxnSpLocks/>
          </p:cNvCxnSpPr>
          <p:nvPr/>
        </p:nvCxnSpPr>
        <p:spPr>
          <a:xfrm>
            <a:off x="1258606" y="4568337"/>
            <a:ext cx="257577" cy="33485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42F6A0-A17D-7244-64E8-FF6370905A5A}"/>
                  </a:ext>
                </a:extLst>
              </p:cNvPr>
              <p:cNvSpPr txBox="1"/>
              <p:nvPr/>
            </p:nvSpPr>
            <p:spPr>
              <a:xfrm>
                <a:off x="828437" y="4834186"/>
                <a:ext cx="2506648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42F6A0-A17D-7244-64E8-FF6370905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37" y="4834186"/>
                <a:ext cx="2506648" cy="486608"/>
              </a:xfrm>
              <a:prstGeom prst="rect">
                <a:avLst/>
              </a:prstGeom>
              <a:blipFill>
                <a:blip r:embed="rId10"/>
                <a:stretch>
                  <a:fillRect t="-2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8227FB3-003F-68B6-48F9-BD986B01896A}"/>
              </a:ext>
            </a:extLst>
          </p:cNvPr>
          <p:cNvCxnSpPr>
            <a:cxnSpLocks/>
          </p:cNvCxnSpPr>
          <p:nvPr/>
        </p:nvCxnSpPr>
        <p:spPr>
          <a:xfrm>
            <a:off x="3316992" y="5059861"/>
            <a:ext cx="425055" cy="12346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93E2BA-016F-F3D6-1986-061602CC2D01}"/>
              </a:ext>
            </a:extLst>
          </p:cNvPr>
          <p:cNvCxnSpPr>
            <a:cxnSpLocks/>
          </p:cNvCxnSpPr>
          <p:nvPr/>
        </p:nvCxnSpPr>
        <p:spPr>
          <a:xfrm>
            <a:off x="4829576" y="4540045"/>
            <a:ext cx="191857" cy="36314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9D12F46-1565-C9FD-EEBA-D55BC35D5E6B}"/>
              </a:ext>
            </a:extLst>
          </p:cNvPr>
          <p:cNvSpPr/>
          <p:nvPr/>
        </p:nvSpPr>
        <p:spPr>
          <a:xfrm>
            <a:off x="1593273" y="6072230"/>
            <a:ext cx="9575613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math uses basic transformation matrices and variable exchanges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649123F-C535-4B47-94AA-CE3309A6BB93}"/>
              </a:ext>
            </a:extLst>
          </p:cNvPr>
          <p:cNvSpPr/>
          <p:nvPr/>
        </p:nvSpPr>
        <p:spPr>
          <a:xfrm>
            <a:off x="7190530" y="3820927"/>
            <a:ext cx="4434728" cy="1362399"/>
          </a:xfrm>
          <a:custGeom>
            <a:avLst/>
            <a:gdLst>
              <a:gd name="connsiteX0" fmla="*/ 0 w 4434728"/>
              <a:gd name="connsiteY0" fmla="*/ 227071 h 1362399"/>
              <a:gd name="connsiteX1" fmla="*/ 227071 w 4434728"/>
              <a:gd name="connsiteY1" fmla="*/ 0 h 1362399"/>
              <a:gd name="connsiteX2" fmla="*/ 930308 w 4434728"/>
              <a:gd name="connsiteY2" fmla="*/ 0 h 1362399"/>
              <a:gd name="connsiteX3" fmla="*/ 1474321 w 4434728"/>
              <a:gd name="connsiteY3" fmla="*/ 0 h 1362399"/>
              <a:gd name="connsiteX4" fmla="*/ 2137752 w 4434728"/>
              <a:gd name="connsiteY4" fmla="*/ 0 h 1362399"/>
              <a:gd name="connsiteX5" fmla="*/ 2721572 w 4434728"/>
              <a:gd name="connsiteY5" fmla="*/ 0 h 1362399"/>
              <a:gd name="connsiteX6" fmla="*/ 3424808 w 4434728"/>
              <a:gd name="connsiteY6" fmla="*/ 0 h 1362399"/>
              <a:gd name="connsiteX7" fmla="*/ 4207657 w 4434728"/>
              <a:gd name="connsiteY7" fmla="*/ 0 h 1362399"/>
              <a:gd name="connsiteX8" fmla="*/ 4434728 w 4434728"/>
              <a:gd name="connsiteY8" fmla="*/ 227071 h 1362399"/>
              <a:gd name="connsiteX9" fmla="*/ 4434728 w 4434728"/>
              <a:gd name="connsiteY9" fmla="*/ 681200 h 1362399"/>
              <a:gd name="connsiteX10" fmla="*/ 4434728 w 4434728"/>
              <a:gd name="connsiteY10" fmla="*/ 1135328 h 1362399"/>
              <a:gd name="connsiteX11" fmla="*/ 4207657 w 4434728"/>
              <a:gd name="connsiteY11" fmla="*/ 1362399 h 1362399"/>
              <a:gd name="connsiteX12" fmla="*/ 3464614 w 4434728"/>
              <a:gd name="connsiteY12" fmla="*/ 1362399 h 1362399"/>
              <a:gd name="connsiteX13" fmla="*/ 2880795 w 4434728"/>
              <a:gd name="connsiteY13" fmla="*/ 1362399 h 1362399"/>
              <a:gd name="connsiteX14" fmla="*/ 2336782 w 4434728"/>
              <a:gd name="connsiteY14" fmla="*/ 1362399 h 1362399"/>
              <a:gd name="connsiteX15" fmla="*/ 1752962 w 4434728"/>
              <a:gd name="connsiteY15" fmla="*/ 1362399 h 1362399"/>
              <a:gd name="connsiteX16" fmla="*/ 1129337 w 4434728"/>
              <a:gd name="connsiteY16" fmla="*/ 1362399 h 1362399"/>
              <a:gd name="connsiteX17" fmla="*/ 227071 w 4434728"/>
              <a:gd name="connsiteY17" fmla="*/ 1362399 h 1362399"/>
              <a:gd name="connsiteX18" fmla="*/ 0 w 4434728"/>
              <a:gd name="connsiteY18" fmla="*/ 1135328 h 1362399"/>
              <a:gd name="connsiteX19" fmla="*/ 0 w 4434728"/>
              <a:gd name="connsiteY19" fmla="*/ 663034 h 1362399"/>
              <a:gd name="connsiteX20" fmla="*/ 0 w 4434728"/>
              <a:gd name="connsiteY20" fmla="*/ 227071 h 136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34728" h="1362399" fill="none" extrusionOk="0">
                <a:moveTo>
                  <a:pt x="0" y="227071"/>
                </a:moveTo>
                <a:cubicBezTo>
                  <a:pt x="10119" y="121699"/>
                  <a:pt x="78330" y="12305"/>
                  <a:pt x="227071" y="0"/>
                </a:cubicBezTo>
                <a:cubicBezTo>
                  <a:pt x="485211" y="32019"/>
                  <a:pt x="751796" y="-4621"/>
                  <a:pt x="930308" y="0"/>
                </a:cubicBezTo>
                <a:cubicBezTo>
                  <a:pt x="1108820" y="4621"/>
                  <a:pt x="1267209" y="17866"/>
                  <a:pt x="1474321" y="0"/>
                </a:cubicBezTo>
                <a:cubicBezTo>
                  <a:pt x="1681433" y="-17866"/>
                  <a:pt x="1816333" y="12628"/>
                  <a:pt x="2137752" y="0"/>
                </a:cubicBezTo>
                <a:cubicBezTo>
                  <a:pt x="2459171" y="-12628"/>
                  <a:pt x="2541847" y="18010"/>
                  <a:pt x="2721572" y="0"/>
                </a:cubicBezTo>
                <a:cubicBezTo>
                  <a:pt x="2901297" y="-18010"/>
                  <a:pt x="3102493" y="-9334"/>
                  <a:pt x="3424808" y="0"/>
                </a:cubicBezTo>
                <a:cubicBezTo>
                  <a:pt x="3747123" y="9334"/>
                  <a:pt x="3867158" y="38640"/>
                  <a:pt x="4207657" y="0"/>
                </a:cubicBezTo>
                <a:cubicBezTo>
                  <a:pt x="4323552" y="29657"/>
                  <a:pt x="4430999" y="89921"/>
                  <a:pt x="4434728" y="227071"/>
                </a:cubicBezTo>
                <a:cubicBezTo>
                  <a:pt x="4448216" y="403113"/>
                  <a:pt x="4423679" y="516039"/>
                  <a:pt x="4434728" y="681200"/>
                </a:cubicBezTo>
                <a:cubicBezTo>
                  <a:pt x="4445777" y="846361"/>
                  <a:pt x="4412648" y="1028114"/>
                  <a:pt x="4434728" y="1135328"/>
                </a:cubicBezTo>
                <a:cubicBezTo>
                  <a:pt x="4412093" y="1273428"/>
                  <a:pt x="4338455" y="1377003"/>
                  <a:pt x="4207657" y="1362399"/>
                </a:cubicBezTo>
                <a:cubicBezTo>
                  <a:pt x="4008533" y="1364951"/>
                  <a:pt x="3626894" y="1382702"/>
                  <a:pt x="3464614" y="1362399"/>
                </a:cubicBezTo>
                <a:cubicBezTo>
                  <a:pt x="3302334" y="1342096"/>
                  <a:pt x="3052025" y="1377405"/>
                  <a:pt x="2880795" y="1362399"/>
                </a:cubicBezTo>
                <a:cubicBezTo>
                  <a:pt x="2709565" y="1347393"/>
                  <a:pt x="2454068" y="1384368"/>
                  <a:pt x="2336782" y="1362399"/>
                </a:cubicBezTo>
                <a:cubicBezTo>
                  <a:pt x="2219496" y="1340430"/>
                  <a:pt x="2034190" y="1378166"/>
                  <a:pt x="1752962" y="1362399"/>
                </a:cubicBezTo>
                <a:cubicBezTo>
                  <a:pt x="1471734" y="1346632"/>
                  <a:pt x="1305307" y="1349617"/>
                  <a:pt x="1129337" y="1362399"/>
                </a:cubicBezTo>
                <a:cubicBezTo>
                  <a:pt x="953367" y="1375181"/>
                  <a:pt x="646246" y="1371881"/>
                  <a:pt x="227071" y="1362399"/>
                </a:cubicBezTo>
                <a:cubicBezTo>
                  <a:pt x="81455" y="1382459"/>
                  <a:pt x="19198" y="1265045"/>
                  <a:pt x="0" y="1135328"/>
                </a:cubicBezTo>
                <a:cubicBezTo>
                  <a:pt x="5843" y="991397"/>
                  <a:pt x="18633" y="760045"/>
                  <a:pt x="0" y="663034"/>
                </a:cubicBezTo>
                <a:cubicBezTo>
                  <a:pt x="-18633" y="566023"/>
                  <a:pt x="-10216" y="432466"/>
                  <a:pt x="0" y="227071"/>
                </a:cubicBezTo>
                <a:close/>
              </a:path>
              <a:path w="4434728" h="1362399" stroke="0" extrusionOk="0">
                <a:moveTo>
                  <a:pt x="0" y="227071"/>
                </a:moveTo>
                <a:cubicBezTo>
                  <a:pt x="-9354" y="95893"/>
                  <a:pt x="89713" y="4485"/>
                  <a:pt x="227071" y="0"/>
                </a:cubicBezTo>
                <a:cubicBezTo>
                  <a:pt x="403944" y="20060"/>
                  <a:pt x="758041" y="-36693"/>
                  <a:pt x="970114" y="0"/>
                </a:cubicBezTo>
                <a:cubicBezTo>
                  <a:pt x="1182187" y="36693"/>
                  <a:pt x="1334427" y="-8835"/>
                  <a:pt x="1593739" y="0"/>
                </a:cubicBezTo>
                <a:cubicBezTo>
                  <a:pt x="1853052" y="8835"/>
                  <a:pt x="1891513" y="-17747"/>
                  <a:pt x="2177558" y="0"/>
                </a:cubicBezTo>
                <a:cubicBezTo>
                  <a:pt x="2463603" y="17747"/>
                  <a:pt x="2725621" y="27851"/>
                  <a:pt x="2880795" y="0"/>
                </a:cubicBezTo>
                <a:cubicBezTo>
                  <a:pt x="3035969" y="-27851"/>
                  <a:pt x="3374039" y="-28753"/>
                  <a:pt x="3504420" y="0"/>
                </a:cubicBezTo>
                <a:cubicBezTo>
                  <a:pt x="3634801" y="28753"/>
                  <a:pt x="3918166" y="-18854"/>
                  <a:pt x="4207657" y="0"/>
                </a:cubicBezTo>
                <a:cubicBezTo>
                  <a:pt x="4330047" y="-28782"/>
                  <a:pt x="4416771" y="126618"/>
                  <a:pt x="4434728" y="227071"/>
                </a:cubicBezTo>
                <a:cubicBezTo>
                  <a:pt x="4444687" y="318292"/>
                  <a:pt x="4435899" y="560220"/>
                  <a:pt x="4434728" y="663034"/>
                </a:cubicBezTo>
                <a:cubicBezTo>
                  <a:pt x="4433557" y="765848"/>
                  <a:pt x="4451332" y="924871"/>
                  <a:pt x="4434728" y="1135328"/>
                </a:cubicBezTo>
                <a:cubicBezTo>
                  <a:pt x="4445976" y="1277480"/>
                  <a:pt x="4334023" y="1372317"/>
                  <a:pt x="4207657" y="1362399"/>
                </a:cubicBezTo>
                <a:cubicBezTo>
                  <a:pt x="4023715" y="1337170"/>
                  <a:pt x="3790059" y="1367752"/>
                  <a:pt x="3663644" y="1362399"/>
                </a:cubicBezTo>
                <a:cubicBezTo>
                  <a:pt x="3537229" y="1357046"/>
                  <a:pt x="3224829" y="1337579"/>
                  <a:pt x="2920601" y="1362399"/>
                </a:cubicBezTo>
                <a:cubicBezTo>
                  <a:pt x="2616373" y="1387219"/>
                  <a:pt x="2477372" y="1367270"/>
                  <a:pt x="2336782" y="1362399"/>
                </a:cubicBezTo>
                <a:cubicBezTo>
                  <a:pt x="2196192" y="1357528"/>
                  <a:pt x="1953941" y="1344169"/>
                  <a:pt x="1673351" y="1362399"/>
                </a:cubicBezTo>
                <a:cubicBezTo>
                  <a:pt x="1392761" y="1380629"/>
                  <a:pt x="1188983" y="1367058"/>
                  <a:pt x="930308" y="1362399"/>
                </a:cubicBezTo>
                <a:cubicBezTo>
                  <a:pt x="671633" y="1357740"/>
                  <a:pt x="510321" y="1387110"/>
                  <a:pt x="227071" y="1362399"/>
                </a:cubicBezTo>
                <a:cubicBezTo>
                  <a:pt x="93316" y="1377323"/>
                  <a:pt x="5843" y="1265078"/>
                  <a:pt x="0" y="1135328"/>
                </a:cubicBezTo>
                <a:cubicBezTo>
                  <a:pt x="-8335" y="920197"/>
                  <a:pt x="-15329" y="855530"/>
                  <a:pt x="0" y="699365"/>
                </a:cubicBezTo>
                <a:cubicBezTo>
                  <a:pt x="15329" y="543200"/>
                  <a:pt x="22208" y="371796"/>
                  <a:pt x="0" y="22707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D15C98-F977-63E5-2839-02E8650E05A7}"/>
                  </a:ext>
                </a:extLst>
              </p:cNvPr>
              <p:cNvSpPr txBox="1"/>
              <p:nvPr/>
            </p:nvSpPr>
            <p:spPr>
              <a:xfrm>
                <a:off x="7535811" y="4408310"/>
                <a:ext cx="3911840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D15C98-F977-63E5-2839-02E8650E0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11" y="4408310"/>
                <a:ext cx="3911840" cy="486608"/>
              </a:xfrm>
              <a:prstGeom prst="rect">
                <a:avLst/>
              </a:prstGeom>
              <a:blipFill>
                <a:blip r:embed="rId11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CB5D898-B578-6A9F-2890-2828D0171E47}"/>
              </a:ext>
            </a:extLst>
          </p:cNvPr>
          <p:cNvCxnSpPr>
            <a:cxnSpLocks/>
          </p:cNvCxnSpPr>
          <p:nvPr/>
        </p:nvCxnSpPr>
        <p:spPr>
          <a:xfrm flipV="1">
            <a:off x="6555346" y="4735762"/>
            <a:ext cx="857715" cy="16742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CA56750-F74A-FD59-0A15-2B5EFB4DFCD8}"/>
              </a:ext>
            </a:extLst>
          </p:cNvPr>
          <p:cNvSpPr/>
          <p:nvPr/>
        </p:nvSpPr>
        <p:spPr>
          <a:xfrm>
            <a:off x="244386" y="3172276"/>
            <a:ext cx="11601250" cy="2563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66F258-3F81-0D1C-42E3-23BAE4A9953E}"/>
              </a:ext>
            </a:extLst>
          </p:cNvPr>
          <p:cNvSpPr/>
          <p:nvPr/>
        </p:nvSpPr>
        <p:spPr>
          <a:xfrm>
            <a:off x="1453529" y="5818023"/>
            <a:ext cx="9851082" cy="949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82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38E22-7BC1-9B8A-F3AA-0BB2AE57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877EF8A-7DD2-5820-67DB-4A0A50BA204D}"/>
              </a:ext>
            </a:extLst>
          </p:cNvPr>
          <p:cNvSpPr/>
          <p:nvPr/>
        </p:nvSpPr>
        <p:spPr>
          <a:xfrm>
            <a:off x="5701147" y="954170"/>
            <a:ext cx="5603464" cy="2082903"/>
          </a:xfrm>
          <a:custGeom>
            <a:avLst/>
            <a:gdLst>
              <a:gd name="connsiteX0" fmla="*/ 0 w 5603464"/>
              <a:gd name="connsiteY0" fmla="*/ 347157 h 2082903"/>
              <a:gd name="connsiteX1" fmla="*/ 347157 w 5603464"/>
              <a:gd name="connsiteY1" fmla="*/ 0 h 2082903"/>
              <a:gd name="connsiteX2" fmla="*/ 1009892 w 5603464"/>
              <a:gd name="connsiteY2" fmla="*/ 0 h 2082903"/>
              <a:gd name="connsiteX3" fmla="*/ 1525353 w 5603464"/>
              <a:gd name="connsiteY3" fmla="*/ 0 h 2082903"/>
              <a:gd name="connsiteX4" fmla="*/ 2188088 w 5603464"/>
              <a:gd name="connsiteY4" fmla="*/ 0 h 2082903"/>
              <a:gd name="connsiteX5" fmla="*/ 2654458 w 5603464"/>
              <a:gd name="connsiteY5" fmla="*/ 0 h 2082903"/>
              <a:gd name="connsiteX6" fmla="*/ 3317193 w 5603464"/>
              <a:gd name="connsiteY6" fmla="*/ 0 h 2082903"/>
              <a:gd name="connsiteX7" fmla="*/ 3832653 w 5603464"/>
              <a:gd name="connsiteY7" fmla="*/ 0 h 2082903"/>
              <a:gd name="connsiteX8" fmla="*/ 4299023 w 5603464"/>
              <a:gd name="connsiteY8" fmla="*/ 0 h 2082903"/>
              <a:gd name="connsiteX9" fmla="*/ 5256307 w 5603464"/>
              <a:gd name="connsiteY9" fmla="*/ 0 h 2082903"/>
              <a:gd name="connsiteX10" fmla="*/ 5603464 w 5603464"/>
              <a:gd name="connsiteY10" fmla="*/ 347157 h 2082903"/>
              <a:gd name="connsiteX11" fmla="*/ 5603464 w 5603464"/>
              <a:gd name="connsiteY11" fmla="*/ 1055337 h 2082903"/>
              <a:gd name="connsiteX12" fmla="*/ 5603464 w 5603464"/>
              <a:gd name="connsiteY12" fmla="*/ 1735746 h 2082903"/>
              <a:gd name="connsiteX13" fmla="*/ 5256307 w 5603464"/>
              <a:gd name="connsiteY13" fmla="*/ 2082903 h 2082903"/>
              <a:gd name="connsiteX14" fmla="*/ 4789938 w 5603464"/>
              <a:gd name="connsiteY14" fmla="*/ 2082903 h 2082903"/>
              <a:gd name="connsiteX15" fmla="*/ 4078111 w 5603464"/>
              <a:gd name="connsiteY15" fmla="*/ 2082903 h 2082903"/>
              <a:gd name="connsiteX16" fmla="*/ 3464467 w 5603464"/>
              <a:gd name="connsiteY16" fmla="*/ 2082903 h 2082903"/>
              <a:gd name="connsiteX17" fmla="*/ 2752641 w 5603464"/>
              <a:gd name="connsiteY17" fmla="*/ 2082903 h 2082903"/>
              <a:gd name="connsiteX18" fmla="*/ 2089905 w 5603464"/>
              <a:gd name="connsiteY18" fmla="*/ 2082903 h 2082903"/>
              <a:gd name="connsiteX19" fmla="*/ 1525353 w 5603464"/>
              <a:gd name="connsiteY19" fmla="*/ 2082903 h 2082903"/>
              <a:gd name="connsiteX20" fmla="*/ 347157 w 5603464"/>
              <a:gd name="connsiteY20" fmla="*/ 2082903 h 2082903"/>
              <a:gd name="connsiteX21" fmla="*/ 0 w 5603464"/>
              <a:gd name="connsiteY21" fmla="*/ 1735746 h 2082903"/>
              <a:gd name="connsiteX22" fmla="*/ 0 w 5603464"/>
              <a:gd name="connsiteY22" fmla="*/ 1041452 h 2082903"/>
              <a:gd name="connsiteX23" fmla="*/ 0 w 5603464"/>
              <a:gd name="connsiteY23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603464" h="2082903" fill="none" extrusionOk="0">
                <a:moveTo>
                  <a:pt x="0" y="347157"/>
                </a:moveTo>
                <a:cubicBezTo>
                  <a:pt x="-2280" y="160004"/>
                  <a:pt x="145314" y="-13418"/>
                  <a:pt x="347157" y="0"/>
                </a:cubicBezTo>
                <a:cubicBezTo>
                  <a:pt x="659602" y="14143"/>
                  <a:pt x="833975" y="19685"/>
                  <a:pt x="1009892" y="0"/>
                </a:cubicBezTo>
                <a:cubicBezTo>
                  <a:pt x="1185810" y="-19685"/>
                  <a:pt x="1286464" y="-13290"/>
                  <a:pt x="1525353" y="0"/>
                </a:cubicBezTo>
                <a:cubicBezTo>
                  <a:pt x="1764242" y="13290"/>
                  <a:pt x="1906405" y="-33071"/>
                  <a:pt x="2188088" y="0"/>
                </a:cubicBezTo>
                <a:cubicBezTo>
                  <a:pt x="2469771" y="33071"/>
                  <a:pt x="2521126" y="19942"/>
                  <a:pt x="2654458" y="0"/>
                </a:cubicBezTo>
                <a:cubicBezTo>
                  <a:pt x="2787790" y="-19942"/>
                  <a:pt x="3010075" y="-8754"/>
                  <a:pt x="3317193" y="0"/>
                </a:cubicBezTo>
                <a:cubicBezTo>
                  <a:pt x="3624311" y="8754"/>
                  <a:pt x="3610248" y="12115"/>
                  <a:pt x="3832653" y="0"/>
                </a:cubicBezTo>
                <a:cubicBezTo>
                  <a:pt x="4055058" y="-12115"/>
                  <a:pt x="4109731" y="-4822"/>
                  <a:pt x="4299023" y="0"/>
                </a:cubicBezTo>
                <a:cubicBezTo>
                  <a:pt x="4488315" y="4822"/>
                  <a:pt x="5049090" y="-33745"/>
                  <a:pt x="5256307" y="0"/>
                </a:cubicBezTo>
                <a:cubicBezTo>
                  <a:pt x="5442699" y="19974"/>
                  <a:pt x="5639546" y="165776"/>
                  <a:pt x="5603464" y="347157"/>
                </a:cubicBezTo>
                <a:cubicBezTo>
                  <a:pt x="5571931" y="661927"/>
                  <a:pt x="5570455" y="750464"/>
                  <a:pt x="5603464" y="1055337"/>
                </a:cubicBezTo>
                <a:cubicBezTo>
                  <a:pt x="5636473" y="1360210"/>
                  <a:pt x="5585478" y="1446084"/>
                  <a:pt x="5603464" y="1735746"/>
                </a:cubicBezTo>
                <a:cubicBezTo>
                  <a:pt x="5616089" y="1958335"/>
                  <a:pt x="5470757" y="2105379"/>
                  <a:pt x="5256307" y="2082903"/>
                </a:cubicBezTo>
                <a:cubicBezTo>
                  <a:pt x="5100303" y="2066384"/>
                  <a:pt x="4996698" y="2074739"/>
                  <a:pt x="4789938" y="2082903"/>
                </a:cubicBezTo>
                <a:cubicBezTo>
                  <a:pt x="4583178" y="2091067"/>
                  <a:pt x="4335783" y="2085872"/>
                  <a:pt x="4078111" y="2082903"/>
                </a:cubicBezTo>
                <a:cubicBezTo>
                  <a:pt x="3820439" y="2079934"/>
                  <a:pt x="3705236" y="2054282"/>
                  <a:pt x="3464467" y="2082903"/>
                </a:cubicBezTo>
                <a:cubicBezTo>
                  <a:pt x="3223698" y="2111524"/>
                  <a:pt x="2949310" y="2075305"/>
                  <a:pt x="2752641" y="2082903"/>
                </a:cubicBezTo>
                <a:cubicBezTo>
                  <a:pt x="2555972" y="2090501"/>
                  <a:pt x="2402298" y="2054089"/>
                  <a:pt x="2089905" y="2082903"/>
                </a:cubicBezTo>
                <a:cubicBezTo>
                  <a:pt x="1777512" y="2111717"/>
                  <a:pt x="1714367" y="2082793"/>
                  <a:pt x="1525353" y="2082903"/>
                </a:cubicBezTo>
                <a:cubicBezTo>
                  <a:pt x="1336339" y="2083013"/>
                  <a:pt x="755660" y="2062646"/>
                  <a:pt x="347157" y="2082903"/>
                </a:cubicBezTo>
                <a:cubicBezTo>
                  <a:pt x="155621" y="2091732"/>
                  <a:pt x="24880" y="1905151"/>
                  <a:pt x="0" y="1735746"/>
                </a:cubicBezTo>
                <a:cubicBezTo>
                  <a:pt x="-19513" y="1440503"/>
                  <a:pt x="-24480" y="1259767"/>
                  <a:pt x="0" y="1041452"/>
                </a:cubicBezTo>
                <a:cubicBezTo>
                  <a:pt x="24480" y="823137"/>
                  <a:pt x="17244" y="538640"/>
                  <a:pt x="0" y="347157"/>
                </a:cubicBezTo>
                <a:close/>
              </a:path>
              <a:path w="5603464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6687" y="26663"/>
                  <a:pt x="791967" y="-20427"/>
                  <a:pt x="1058984" y="0"/>
                </a:cubicBezTo>
                <a:cubicBezTo>
                  <a:pt x="1326001" y="20427"/>
                  <a:pt x="1348184" y="-12068"/>
                  <a:pt x="1623536" y="0"/>
                </a:cubicBezTo>
                <a:cubicBezTo>
                  <a:pt x="1898888" y="12068"/>
                  <a:pt x="1900968" y="17766"/>
                  <a:pt x="2138997" y="0"/>
                </a:cubicBezTo>
                <a:cubicBezTo>
                  <a:pt x="2377026" y="-17766"/>
                  <a:pt x="2595584" y="25999"/>
                  <a:pt x="2801732" y="0"/>
                </a:cubicBezTo>
                <a:cubicBezTo>
                  <a:pt x="3007880" y="-25999"/>
                  <a:pt x="3137518" y="13035"/>
                  <a:pt x="3366284" y="0"/>
                </a:cubicBezTo>
                <a:cubicBezTo>
                  <a:pt x="3595050" y="-13035"/>
                  <a:pt x="3776537" y="-10232"/>
                  <a:pt x="4078111" y="0"/>
                </a:cubicBezTo>
                <a:cubicBezTo>
                  <a:pt x="4379685" y="10232"/>
                  <a:pt x="4346001" y="19694"/>
                  <a:pt x="4593572" y="0"/>
                </a:cubicBezTo>
                <a:cubicBezTo>
                  <a:pt x="4841143" y="-19694"/>
                  <a:pt x="5122143" y="3843"/>
                  <a:pt x="5256307" y="0"/>
                </a:cubicBezTo>
                <a:cubicBezTo>
                  <a:pt x="5482348" y="8250"/>
                  <a:pt x="5577529" y="151232"/>
                  <a:pt x="5603464" y="347157"/>
                </a:cubicBezTo>
                <a:cubicBezTo>
                  <a:pt x="5580055" y="643217"/>
                  <a:pt x="5637606" y="743872"/>
                  <a:pt x="5603464" y="1041452"/>
                </a:cubicBezTo>
                <a:cubicBezTo>
                  <a:pt x="5569322" y="1339033"/>
                  <a:pt x="5595993" y="1520042"/>
                  <a:pt x="5603464" y="1735746"/>
                </a:cubicBezTo>
                <a:cubicBezTo>
                  <a:pt x="5607113" y="1931946"/>
                  <a:pt x="5469858" y="2063797"/>
                  <a:pt x="5256307" y="2082903"/>
                </a:cubicBezTo>
                <a:cubicBezTo>
                  <a:pt x="5062093" y="2075279"/>
                  <a:pt x="4807651" y="2079080"/>
                  <a:pt x="4642663" y="2082903"/>
                </a:cubicBezTo>
                <a:cubicBezTo>
                  <a:pt x="4477675" y="2086726"/>
                  <a:pt x="4225419" y="2096360"/>
                  <a:pt x="4029020" y="2082903"/>
                </a:cubicBezTo>
                <a:cubicBezTo>
                  <a:pt x="3832621" y="2069446"/>
                  <a:pt x="3629413" y="2091106"/>
                  <a:pt x="3317193" y="2082903"/>
                </a:cubicBezTo>
                <a:cubicBezTo>
                  <a:pt x="3004973" y="2074700"/>
                  <a:pt x="2979199" y="2070691"/>
                  <a:pt x="2703549" y="2082903"/>
                </a:cubicBezTo>
                <a:cubicBezTo>
                  <a:pt x="2427899" y="2095115"/>
                  <a:pt x="2434386" y="2088307"/>
                  <a:pt x="2237180" y="2082903"/>
                </a:cubicBezTo>
                <a:cubicBezTo>
                  <a:pt x="2039974" y="2077499"/>
                  <a:pt x="1960500" y="2105500"/>
                  <a:pt x="1721719" y="2082903"/>
                </a:cubicBezTo>
                <a:cubicBezTo>
                  <a:pt x="1482938" y="2060306"/>
                  <a:pt x="1337558" y="2105188"/>
                  <a:pt x="1009892" y="2082903"/>
                </a:cubicBezTo>
                <a:cubicBezTo>
                  <a:pt x="682226" y="2060618"/>
                  <a:pt x="504309" y="2078515"/>
                  <a:pt x="347157" y="2082903"/>
                </a:cubicBezTo>
                <a:cubicBezTo>
                  <a:pt x="159410" y="2090789"/>
                  <a:pt x="-16270" y="1936056"/>
                  <a:pt x="0" y="1735746"/>
                </a:cubicBezTo>
                <a:cubicBezTo>
                  <a:pt x="-18927" y="1533786"/>
                  <a:pt x="-11439" y="1176689"/>
                  <a:pt x="0" y="1027566"/>
                </a:cubicBezTo>
                <a:cubicBezTo>
                  <a:pt x="11439" y="878443"/>
                  <a:pt x="26102" y="663788"/>
                  <a:pt x="0" y="34715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with Response Transformation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3724B30-F06D-B7D2-9FEC-6AE91A048E02}"/>
              </a:ext>
            </a:extLst>
          </p:cNvPr>
          <p:cNvSpPr/>
          <p:nvPr/>
        </p:nvSpPr>
        <p:spPr>
          <a:xfrm>
            <a:off x="887389" y="954170"/>
            <a:ext cx="3987913" cy="2082903"/>
          </a:xfrm>
          <a:custGeom>
            <a:avLst/>
            <a:gdLst>
              <a:gd name="connsiteX0" fmla="*/ 0 w 3987913"/>
              <a:gd name="connsiteY0" fmla="*/ 347157 h 2082903"/>
              <a:gd name="connsiteX1" fmla="*/ 347157 w 3987913"/>
              <a:gd name="connsiteY1" fmla="*/ 0 h 2082903"/>
              <a:gd name="connsiteX2" fmla="*/ 1038813 w 3987913"/>
              <a:gd name="connsiteY2" fmla="*/ 0 h 2082903"/>
              <a:gd name="connsiteX3" fmla="*/ 1631661 w 3987913"/>
              <a:gd name="connsiteY3" fmla="*/ 0 h 2082903"/>
              <a:gd name="connsiteX4" fmla="*/ 2290380 w 3987913"/>
              <a:gd name="connsiteY4" fmla="*/ 0 h 2082903"/>
              <a:gd name="connsiteX5" fmla="*/ 2850292 w 3987913"/>
              <a:gd name="connsiteY5" fmla="*/ 0 h 2082903"/>
              <a:gd name="connsiteX6" fmla="*/ 3640756 w 3987913"/>
              <a:gd name="connsiteY6" fmla="*/ 0 h 2082903"/>
              <a:gd name="connsiteX7" fmla="*/ 3987913 w 3987913"/>
              <a:gd name="connsiteY7" fmla="*/ 347157 h 2082903"/>
              <a:gd name="connsiteX8" fmla="*/ 3987913 w 3987913"/>
              <a:gd name="connsiteY8" fmla="*/ 1055337 h 2082903"/>
              <a:gd name="connsiteX9" fmla="*/ 3987913 w 3987913"/>
              <a:gd name="connsiteY9" fmla="*/ 1735746 h 2082903"/>
              <a:gd name="connsiteX10" fmla="*/ 3640756 w 3987913"/>
              <a:gd name="connsiteY10" fmla="*/ 2082903 h 2082903"/>
              <a:gd name="connsiteX11" fmla="*/ 2982036 w 3987913"/>
              <a:gd name="connsiteY11" fmla="*/ 2082903 h 2082903"/>
              <a:gd name="connsiteX12" fmla="*/ 2389188 w 3987913"/>
              <a:gd name="connsiteY12" fmla="*/ 2082903 h 2082903"/>
              <a:gd name="connsiteX13" fmla="*/ 1829277 w 3987913"/>
              <a:gd name="connsiteY13" fmla="*/ 2082903 h 2082903"/>
              <a:gd name="connsiteX14" fmla="*/ 1236429 w 3987913"/>
              <a:gd name="connsiteY14" fmla="*/ 2082903 h 2082903"/>
              <a:gd name="connsiteX15" fmla="*/ 347157 w 3987913"/>
              <a:gd name="connsiteY15" fmla="*/ 2082903 h 2082903"/>
              <a:gd name="connsiteX16" fmla="*/ 0 w 3987913"/>
              <a:gd name="connsiteY16" fmla="*/ 1735746 h 2082903"/>
              <a:gd name="connsiteX17" fmla="*/ 0 w 3987913"/>
              <a:gd name="connsiteY17" fmla="*/ 1069223 h 2082903"/>
              <a:gd name="connsiteX18" fmla="*/ 0 w 3987913"/>
              <a:gd name="connsiteY18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913" h="2082903" fill="none" extrusionOk="0">
                <a:moveTo>
                  <a:pt x="0" y="347157"/>
                </a:moveTo>
                <a:cubicBezTo>
                  <a:pt x="-14015" y="156004"/>
                  <a:pt x="165939" y="-18950"/>
                  <a:pt x="347157" y="0"/>
                </a:cubicBezTo>
                <a:cubicBezTo>
                  <a:pt x="676636" y="27748"/>
                  <a:pt x="761854" y="34243"/>
                  <a:pt x="1038813" y="0"/>
                </a:cubicBezTo>
                <a:cubicBezTo>
                  <a:pt x="1315772" y="-34243"/>
                  <a:pt x="1456771" y="-8878"/>
                  <a:pt x="1631661" y="0"/>
                </a:cubicBezTo>
                <a:cubicBezTo>
                  <a:pt x="1806551" y="8878"/>
                  <a:pt x="2089006" y="-10123"/>
                  <a:pt x="2290380" y="0"/>
                </a:cubicBezTo>
                <a:cubicBezTo>
                  <a:pt x="2491754" y="10123"/>
                  <a:pt x="2594260" y="-5006"/>
                  <a:pt x="2850292" y="0"/>
                </a:cubicBezTo>
                <a:cubicBezTo>
                  <a:pt x="3106324" y="5006"/>
                  <a:pt x="3388379" y="13837"/>
                  <a:pt x="3640756" y="0"/>
                </a:cubicBezTo>
                <a:cubicBezTo>
                  <a:pt x="3830206" y="4577"/>
                  <a:pt x="3977800" y="142009"/>
                  <a:pt x="3987913" y="347157"/>
                </a:cubicBezTo>
                <a:cubicBezTo>
                  <a:pt x="4022292" y="500492"/>
                  <a:pt x="3967331" y="880496"/>
                  <a:pt x="3987913" y="1055337"/>
                </a:cubicBezTo>
                <a:cubicBezTo>
                  <a:pt x="4008495" y="1230178"/>
                  <a:pt x="3963825" y="1403885"/>
                  <a:pt x="3987913" y="1735746"/>
                </a:cubicBezTo>
                <a:cubicBezTo>
                  <a:pt x="3981180" y="1948466"/>
                  <a:pt x="3826076" y="2062717"/>
                  <a:pt x="3640756" y="2082903"/>
                </a:cubicBezTo>
                <a:cubicBezTo>
                  <a:pt x="3410960" y="2059571"/>
                  <a:pt x="3213001" y="2102994"/>
                  <a:pt x="2982036" y="2082903"/>
                </a:cubicBezTo>
                <a:cubicBezTo>
                  <a:pt x="2751071" y="2062812"/>
                  <a:pt x="2544017" y="2109399"/>
                  <a:pt x="2389188" y="2082903"/>
                </a:cubicBezTo>
                <a:cubicBezTo>
                  <a:pt x="2234359" y="2056407"/>
                  <a:pt x="1943754" y="2068918"/>
                  <a:pt x="1829277" y="2082903"/>
                </a:cubicBezTo>
                <a:cubicBezTo>
                  <a:pt x="1714800" y="2096888"/>
                  <a:pt x="1432401" y="2110987"/>
                  <a:pt x="1236429" y="2082903"/>
                </a:cubicBezTo>
                <a:cubicBezTo>
                  <a:pt x="1040457" y="2054819"/>
                  <a:pt x="759103" y="2079266"/>
                  <a:pt x="347157" y="2082903"/>
                </a:cubicBezTo>
                <a:cubicBezTo>
                  <a:pt x="183213" y="2075549"/>
                  <a:pt x="-3712" y="1953187"/>
                  <a:pt x="0" y="1735746"/>
                </a:cubicBezTo>
                <a:cubicBezTo>
                  <a:pt x="-2175" y="1576914"/>
                  <a:pt x="12315" y="1280927"/>
                  <a:pt x="0" y="1069223"/>
                </a:cubicBezTo>
                <a:cubicBezTo>
                  <a:pt x="-12315" y="857519"/>
                  <a:pt x="12290" y="497386"/>
                  <a:pt x="0" y="347157"/>
                </a:cubicBezTo>
                <a:close/>
              </a:path>
              <a:path w="3987913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4568" y="14613"/>
                  <a:pt x="857377" y="-9172"/>
                  <a:pt x="1071749" y="0"/>
                </a:cubicBezTo>
                <a:cubicBezTo>
                  <a:pt x="1286121" y="9172"/>
                  <a:pt x="1511357" y="1786"/>
                  <a:pt x="1697533" y="0"/>
                </a:cubicBezTo>
                <a:cubicBezTo>
                  <a:pt x="1883709" y="-1786"/>
                  <a:pt x="2012464" y="-12925"/>
                  <a:pt x="2290380" y="0"/>
                </a:cubicBezTo>
                <a:cubicBezTo>
                  <a:pt x="2568296" y="12925"/>
                  <a:pt x="2691299" y="34462"/>
                  <a:pt x="2982036" y="0"/>
                </a:cubicBezTo>
                <a:cubicBezTo>
                  <a:pt x="3272773" y="-34462"/>
                  <a:pt x="3368349" y="19535"/>
                  <a:pt x="3640756" y="0"/>
                </a:cubicBezTo>
                <a:cubicBezTo>
                  <a:pt x="3840003" y="-12233"/>
                  <a:pt x="3953114" y="186008"/>
                  <a:pt x="3987913" y="347157"/>
                </a:cubicBezTo>
                <a:cubicBezTo>
                  <a:pt x="3957819" y="671989"/>
                  <a:pt x="3978130" y="852414"/>
                  <a:pt x="3987913" y="1041452"/>
                </a:cubicBezTo>
                <a:cubicBezTo>
                  <a:pt x="3997696" y="1230491"/>
                  <a:pt x="3988637" y="1463112"/>
                  <a:pt x="3987913" y="1735746"/>
                </a:cubicBezTo>
                <a:cubicBezTo>
                  <a:pt x="3974714" y="1926721"/>
                  <a:pt x="3839307" y="2064199"/>
                  <a:pt x="3640756" y="2082903"/>
                </a:cubicBezTo>
                <a:cubicBezTo>
                  <a:pt x="3448142" y="2084337"/>
                  <a:pt x="3249680" y="2088076"/>
                  <a:pt x="2949100" y="2082903"/>
                </a:cubicBezTo>
                <a:cubicBezTo>
                  <a:pt x="2648520" y="2077730"/>
                  <a:pt x="2528181" y="2072817"/>
                  <a:pt x="2224508" y="2082903"/>
                </a:cubicBezTo>
                <a:cubicBezTo>
                  <a:pt x="1920835" y="2092989"/>
                  <a:pt x="1679525" y="2080271"/>
                  <a:pt x="1499917" y="2082903"/>
                </a:cubicBezTo>
                <a:cubicBezTo>
                  <a:pt x="1320309" y="2085535"/>
                  <a:pt x="725486" y="2094138"/>
                  <a:pt x="347157" y="2082903"/>
                </a:cubicBezTo>
                <a:cubicBezTo>
                  <a:pt x="127646" y="2056728"/>
                  <a:pt x="-7553" y="1916185"/>
                  <a:pt x="0" y="1735746"/>
                </a:cubicBezTo>
                <a:cubicBezTo>
                  <a:pt x="24810" y="1454835"/>
                  <a:pt x="20691" y="1333329"/>
                  <a:pt x="0" y="1027566"/>
                </a:cubicBezTo>
                <a:cubicBezTo>
                  <a:pt x="-20691" y="721803"/>
                  <a:pt x="15317" y="601302"/>
                  <a:pt x="0" y="34715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Basic Transformations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3C378-DF4B-5298-004D-D52096E1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Math for the VPT?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BCAA8C-FABB-CB0D-6822-DFD19BBF253E}"/>
                  </a:ext>
                </a:extLst>
              </p:cNvPr>
              <p:cNvSpPr txBox="1"/>
              <p:nvPr/>
            </p:nvSpPr>
            <p:spPr>
              <a:xfrm>
                <a:off x="1288474" y="1610589"/>
                <a:ext cx="3185744" cy="494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BCAA8C-FABB-CB0D-6822-DFD19BBF2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474" y="1610589"/>
                <a:ext cx="3185744" cy="494944"/>
              </a:xfrm>
              <a:prstGeom prst="rect">
                <a:avLst/>
              </a:prstGeom>
              <a:blipFill>
                <a:blip r:embed="rId2"/>
                <a:stretch>
                  <a:fillRect t="-125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36FE39-3A26-4234-9A1D-20075E96CBB6}"/>
                  </a:ext>
                </a:extLst>
              </p:cNvPr>
              <p:cNvSpPr txBox="1"/>
              <p:nvPr/>
            </p:nvSpPr>
            <p:spPr>
              <a:xfrm>
                <a:off x="1472178" y="2313707"/>
                <a:ext cx="2818336" cy="496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𝑓𝑜𝑟𝑐𝑒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36FE39-3A26-4234-9A1D-20075E96C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78" y="2313707"/>
                <a:ext cx="2818336" cy="496226"/>
              </a:xfrm>
              <a:prstGeom prst="rect">
                <a:avLst/>
              </a:prstGeom>
              <a:blipFill>
                <a:blip r:embed="rId3"/>
                <a:stretch>
                  <a:fillRect t="-1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FE1F0F-BDBA-BBB0-35DC-F90DB37AD223}"/>
                  </a:ext>
                </a:extLst>
              </p:cNvPr>
              <p:cNvSpPr txBox="1"/>
              <p:nvPr/>
            </p:nvSpPr>
            <p:spPr>
              <a:xfrm>
                <a:off x="5817058" y="1536810"/>
                <a:ext cx="2731709" cy="424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FE1F0F-BDBA-BBB0-35DC-F90DB37AD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058" y="1536810"/>
                <a:ext cx="2731709" cy="424283"/>
              </a:xfrm>
              <a:prstGeom prst="rect">
                <a:avLst/>
              </a:prstGeom>
              <a:blipFill>
                <a:blip r:embed="rId4"/>
                <a:stretch>
                  <a:fillRect t="-14286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D37404-230E-7F7B-3314-2DDDB211DE8E}"/>
                  </a:ext>
                </a:extLst>
              </p:cNvPr>
              <p:cNvSpPr txBox="1"/>
              <p:nvPr/>
            </p:nvSpPr>
            <p:spPr>
              <a:xfrm>
                <a:off x="9374612" y="1564285"/>
                <a:ext cx="1794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D37404-230E-7F7B-3314-2DDDB211D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612" y="1564285"/>
                <a:ext cx="1794274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88D4DD-A9FE-141C-D53E-089628753F5E}"/>
                  </a:ext>
                </a:extLst>
              </p:cNvPr>
              <p:cNvSpPr txBox="1"/>
              <p:nvPr/>
            </p:nvSpPr>
            <p:spPr>
              <a:xfrm>
                <a:off x="6947236" y="2427310"/>
                <a:ext cx="3256469" cy="424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188D4DD-A9FE-141C-D53E-089628753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236" y="2427310"/>
                <a:ext cx="3256469" cy="424283"/>
              </a:xfrm>
              <a:prstGeom prst="rect">
                <a:avLst/>
              </a:prstGeom>
              <a:blipFill>
                <a:blip r:embed="rId6"/>
                <a:stretch>
                  <a:fillRect t="-1764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A351AE-FC7A-2941-3136-A5AEE39093EF}"/>
              </a:ext>
            </a:extLst>
          </p:cNvPr>
          <p:cNvCxnSpPr/>
          <p:nvPr/>
        </p:nvCxnSpPr>
        <p:spPr>
          <a:xfrm>
            <a:off x="7482626" y="1961093"/>
            <a:ext cx="1066141" cy="45564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B018A9-30C8-678C-120F-7AED62C059AA}"/>
              </a:ext>
            </a:extLst>
          </p:cNvPr>
          <p:cNvCxnSpPr>
            <a:cxnSpLocks/>
          </p:cNvCxnSpPr>
          <p:nvPr/>
        </p:nvCxnSpPr>
        <p:spPr>
          <a:xfrm flipH="1">
            <a:off x="9491731" y="1933617"/>
            <a:ext cx="605307" cy="51909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B99B5A8-B3F8-9C9C-BEF6-D6F75BCB2937}"/>
              </a:ext>
            </a:extLst>
          </p:cNvPr>
          <p:cNvSpPr/>
          <p:nvPr/>
        </p:nvSpPr>
        <p:spPr>
          <a:xfrm>
            <a:off x="450830" y="3532032"/>
            <a:ext cx="6362093" cy="2082903"/>
          </a:xfrm>
          <a:custGeom>
            <a:avLst/>
            <a:gdLst>
              <a:gd name="connsiteX0" fmla="*/ 0 w 6362093"/>
              <a:gd name="connsiteY0" fmla="*/ 347157 h 2082903"/>
              <a:gd name="connsiteX1" fmla="*/ 347157 w 6362093"/>
              <a:gd name="connsiteY1" fmla="*/ 0 h 2082903"/>
              <a:gd name="connsiteX2" fmla="*/ 920232 w 6362093"/>
              <a:gd name="connsiteY2" fmla="*/ 0 h 2082903"/>
              <a:gd name="connsiteX3" fmla="*/ 1379952 w 6362093"/>
              <a:gd name="connsiteY3" fmla="*/ 0 h 2082903"/>
              <a:gd name="connsiteX4" fmla="*/ 2066383 w 6362093"/>
              <a:gd name="connsiteY4" fmla="*/ 0 h 2082903"/>
              <a:gd name="connsiteX5" fmla="*/ 2582781 w 6362093"/>
              <a:gd name="connsiteY5" fmla="*/ 0 h 2082903"/>
              <a:gd name="connsiteX6" fmla="*/ 3042501 w 6362093"/>
              <a:gd name="connsiteY6" fmla="*/ 0 h 2082903"/>
              <a:gd name="connsiteX7" fmla="*/ 3558898 w 6362093"/>
              <a:gd name="connsiteY7" fmla="*/ 0 h 2082903"/>
              <a:gd name="connsiteX8" fmla="*/ 4245329 w 6362093"/>
              <a:gd name="connsiteY8" fmla="*/ 0 h 2082903"/>
              <a:gd name="connsiteX9" fmla="*/ 4761727 w 6362093"/>
              <a:gd name="connsiteY9" fmla="*/ 0 h 2082903"/>
              <a:gd name="connsiteX10" fmla="*/ 5221447 w 6362093"/>
              <a:gd name="connsiteY10" fmla="*/ 0 h 2082903"/>
              <a:gd name="connsiteX11" fmla="*/ 6014936 w 6362093"/>
              <a:gd name="connsiteY11" fmla="*/ 0 h 2082903"/>
              <a:gd name="connsiteX12" fmla="*/ 6362093 w 6362093"/>
              <a:gd name="connsiteY12" fmla="*/ 347157 h 2082903"/>
              <a:gd name="connsiteX13" fmla="*/ 6362093 w 6362093"/>
              <a:gd name="connsiteY13" fmla="*/ 999794 h 2082903"/>
              <a:gd name="connsiteX14" fmla="*/ 6362093 w 6362093"/>
              <a:gd name="connsiteY14" fmla="*/ 1735746 h 2082903"/>
              <a:gd name="connsiteX15" fmla="*/ 6014936 w 6362093"/>
              <a:gd name="connsiteY15" fmla="*/ 2082903 h 2082903"/>
              <a:gd name="connsiteX16" fmla="*/ 5555216 w 6362093"/>
              <a:gd name="connsiteY16" fmla="*/ 2082903 h 2082903"/>
              <a:gd name="connsiteX17" fmla="*/ 4982141 w 6362093"/>
              <a:gd name="connsiteY17" fmla="*/ 2082903 h 2082903"/>
              <a:gd name="connsiteX18" fmla="*/ 4295710 w 6362093"/>
              <a:gd name="connsiteY18" fmla="*/ 2082903 h 2082903"/>
              <a:gd name="connsiteX19" fmla="*/ 3779312 w 6362093"/>
              <a:gd name="connsiteY19" fmla="*/ 2082903 h 2082903"/>
              <a:gd name="connsiteX20" fmla="*/ 3149559 w 6362093"/>
              <a:gd name="connsiteY20" fmla="*/ 2082903 h 2082903"/>
              <a:gd name="connsiteX21" fmla="*/ 2689839 w 6362093"/>
              <a:gd name="connsiteY21" fmla="*/ 2082903 h 2082903"/>
              <a:gd name="connsiteX22" fmla="*/ 1946730 w 6362093"/>
              <a:gd name="connsiteY22" fmla="*/ 2082903 h 2082903"/>
              <a:gd name="connsiteX23" fmla="*/ 1316977 w 6362093"/>
              <a:gd name="connsiteY23" fmla="*/ 2082903 h 2082903"/>
              <a:gd name="connsiteX24" fmla="*/ 347157 w 6362093"/>
              <a:gd name="connsiteY24" fmla="*/ 2082903 h 2082903"/>
              <a:gd name="connsiteX25" fmla="*/ 0 w 6362093"/>
              <a:gd name="connsiteY25" fmla="*/ 1735746 h 2082903"/>
              <a:gd name="connsiteX26" fmla="*/ 0 w 6362093"/>
              <a:gd name="connsiteY26" fmla="*/ 1027566 h 2082903"/>
              <a:gd name="connsiteX27" fmla="*/ 0 w 6362093"/>
              <a:gd name="connsiteY27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62093" h="2082903" fill="none" extrusionOk="0">
                <a:moveTo>
                  <a:pt x="0" y="347157"/>
                </a:moveTo>
                <a:cubicBezTo>
                  <a:pt x="-2277" y="108178"/>
                  <a:pt x="179614" y="15238"/>
                  <a:pt x="347157" y="0"/>
                </a:cubicBezTo>
                <a:cubicBezTo>
                  <a:pt x="508994" y="13683"/>
                  <a:pt x="801164" y="115"/>
                  <a:pt x="920232" y="0"/>
                </a:cubicBezTo>
                <a:cubicBezTo>
                  <a:pt x="1039300" y="-115"/>
                  <a:pt x="1247294" y="-22736"/>
                  <a:pt x="1379952" y="0"/>
                </a:cubicBezTo>
                <a:cubicBezTo>
                  <a:pt x="1512610" y="22736"/>
                  <a:pt x="1804160" y="-28171"/>
                  <a:pt x="2066383" y="0"/>
                </a:cubicBezTo>
                <a:cubicBezTo>
                  <a:pt x="2328606" y="28171"/>
                  <a:pt x="2469910" y="-24726"/>
                  <a:pt x="2582781" y="0"/>
                </a:cubicBezTo>
                <a:cubicBezTo>
                  <a:pt x="2695652" y="24726"/>
                  <a:pt x="2822850" y="12887"/>
                  <a:pt x="3042501" y="0"/>
                </a:cubicBezTo>
                <a:cubicBezTo>
                  <a:pt x="3262152" y="-12887"/>
                  <a:pt x="3373213" y="10967"/>
                  <a:pt x="3558898" y="0"/>
                </a:cubicBezTo>
                <a:cubicBezTo>
                  <a:pt x="3744583" y="-10967"/>
                  <a:pt x="4032420" y="-4409"/>
                  <a:pt x="4245329" y="0"/>
                </a:cubicBezTo>
                <a:cubicBezTo>
                  <a:pt x="4458238" y="4409"/>
                  <a:pt x="4547753" y="12178"/>
                  <a:pt x="4761727" y="0"/>
                </a:cubicBezTo>
                <a:cubicBezTo>
                  <a:pt x="4975701" y="-12178"/>
                  <a:pt x="5115563" y="840"/>
                  <a:pt x="5221447" y="0"/>
                </a:cubicBezTo>
                <a:cubicBezTo>
                  <a:pt x="5327331" y="-840"/>
                  <a:pt x="5698069" y="9662"/>
                  <a:pt x="6014936" y="0"/>
                </a:cubicBezTo>
                <a:cubicBezTo>
                  <a:pt x="6219291" y="30859"/>
                  <a:pt x="6384813" y="177903"/>
                  <a:pt x="6362093" y="347157"/>
                </a:cubicBezTo>
                <a:cubicBezTo>
                  <a:pt x="6393142" y="514578"/>
                  <a:pt x="6378278" y="858132"/>
                  <a:pt x="6362093" y="999794"/>
                </a:cubicBezTo>
                <a:cubicBezTo>
                  <a:pt x="6345908" y="1141456"/>
                  <a:pt x="6331303" y="1555254"/>
                  <a:pt x="6362093" y="1735746"/>
                </a:cubicBezTo>
                <a:cubicBezTo>
                  <a:pt x="6358140" y="1920416"/>
                  <a:pt x="6202411" y="2084880"/>
                  <a:pt x="6014936" y="2082903"/>
                </a:cubicBezTo>
                <a:cubicBezTo>
                  <a:pt x="5790317" y="2082791"/>
                  <a:pt x="5655493" y="2060052"/>
                  <a:pt x="5555216" y="2082903"/>
                </a:cubicBezTo>
                <a:cubicBezTo>
                  <a:pt x="5454939" y="2105754"/>
                  <a:pt x="5248908" y="2056661"/>
                  <a:pt x="4982141" y="2082903"/>
                </a:cubicBezTo>
                <a:cubicBezTo>
                  <a:pt x="4715375" y="2109145"/>
                  <a:pt x="4591732" y="2063032"/>
                  <a:pt x="4295710" y="2082903"/>
                </a:cubicBezTo>
                <a:cubicBezTo>
                  <a:pt x="3999688" y="2102774"/>
                  <a:pt x="3926150" y="2074675"/>
                  <a:pt x="3779312" y="2082903"/>
                </a:cubicBezTo>
                <a:cubicBezTo>
                  <a:pt x="3632474" y="2091131"/>
                  <a:pt x="3287784" y="2059710"/>
                  <a:pt x="3149559" y="2082903"/>
                </a:cubicBezTo>
                <a:cubicBezTo>
                  <a:pt x="3011334" y="2106096"/>
                  <a:pt x="2898662" y="2076796"/>
                  <a:pt x="2689839" y="2082903"/>
                </a:cubicBezTo>
                <a:cubicBezTo>
                  <a:pt x="2481016" y="2089010"/>
                  <a:pt x="2258457" y="2105782"/>
                  <a:pt x="1946730" y="2082903"/>
                </a:cubicBezTo>
                <a:cubicBezTo>
                  <a:pt x="1635003" y="2060024"/>
                  <a:pt x="1582363" y="2090885"/>
                  <a:pt x="1316977" y="2082903"/>
                </a:cubicBezTo>
                <a:cubicBezTo>
                  <a:pt x="1051591" y="2074921"/>
                  <a:pt x="736030" y="2052942"/>
                  <a:pt x="347157" y="2082903"/>
                </a:cubicBezTo>
                <a:cubicBezTo>
                  <a:pt x="159934" y="2092520"/>
                  <a:pt x="-4448" y="1945669"/>
                  <a:pt x="0" y="1735746"/>
                </a:cubicBezTo>
                <a:cubicBezTo>
                  <a:pt x="27846" y="1516160"/>
                  <a:pt x="-76" y="1219184"/>
                  <a:pt x="0" y="1027566"/>
                </a:cubicBezTo>
                <a:cubicBezTo>
                  <a:pt x="76" y="835948"/>
                  <a:pt x="-25668" y="561896"/>
                  <a:pt x="0" y="347157"/>
                </a:cubicBezTo>
                <a:close/>
              </a:path>
              <a:path w="6362093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7614" y="32992"/>
                  <a:pt x="842981" y="-1771"/>
                  <a:pt x="1090266" y="0"/>
                </a:cubicBezTo>
                <a:cubicBezTo>
                  <a:pt x="1337551" y="1771"/>
                  <a:pt x="1535794" y="-17363"/>
                  <a:pt x="1663341" y="0"/>
                </a:cubicBezTo>
                <a:cubicBezTo>
                  <a:pt x="1790889" y="17363"/>
                  <a:pt x="1921845" y="-200"/>
                  <a:pt x="2179739" y="0"/>
                </a:cubicBezTo>
                <a:cubicBezTo>
                  <a:pt x="2437633" y="200"/>
                  <a:pt x="2622917" y="12623"/>
                  <a:pt x="2866170" y="0"/>
                </a:cubicBezTo>
                <a:cubicBezTo>
                  <a:pt x="3109423" y="-12623"/>
                  <a:pt x="3194541" y="-9553"/>
                  <a:pt x="3439245" y="0"/>
                </a:cubicBezTo>
                <a:cubicBezTo>
                  <a:pt x="3683950" y="9553"/>
                  <a:pt x="3982337" y="1559"/>
                  <a:pt x="4182354" y="0"/>
                </a:cubicBezTo>
                <a:cubicBezTo>
                  <a:pt x="4382371" y="-1559"/>
                  <a:pt x="4537888" y="-11448"/>
                  <a:pt x="4698752" y="0"/>
                </a:cubicBezTo>
                <a:cubicBezTo>
                  <a:pt x="4859616" y="11448"/>
                  <a:pt x="5094365" y="23183"/>
                  <a:pt x="5441861" y="0"/>
                </a:cubicBezTo>
                <a:cubicBezTo>
                  <a:pt x="5789357" y="-23183"/>
                  <a:pt x="5880691" y="2271"/>
                  <a:pt x="6014936" y="0"/>
                </a:cubicBezTo>
                <a:cubicBezTo>
                  <a:pt x="6193467" y="-755"/>
                  <a:pt x="6368914" y="136723"/>
                  <a:pt x="6362093" y="347157"/>
                </a:cubicBezTo>
                <a:cubicBezTo>
                  <a:pt x="6394584" y="568512"/>
                  <a:pt x="6369664" y="782575"/>
                  <a:pt x="6362093" y="1055337"/>
                </a:cubicBezTo>
                <a:cubicBezTo>
                  <a:pt x="6354522" y="1328099"/>
                  <a:pt x="6356746" y="1489457"/>
                  <a:pt x="6362093" y="1735746"/>
                </a:cubicBezTo>
                <a:cubicBezTo>
                  <a:pt x="6373476" y="1913346"/>
                  <a:pt x="6167622" y="2067810"/>
                  <a:pt x="6014936" y="2082903"/>
                </a:cubicBezTo>
                <a:cubicBezTo>
                  <a:pt x="5834735" y="2106316"/>
                  <a:pt x="5556408" y="2081893"/>
                  <a:pt x="5385183" y="2082903"/>
                </a:cubicBezTo>
                <a:cubicBezTo>
                  <a:pt x="5213958" y="2083913"/>
                  <a:pt x="5005386" y="2060086"/>
                  <a:pt x="4642074" y="2082903"/>
                </a:cubicBezTo>
                <a:cubicBezTo>
                  <a:pt x="4278762" y="2105720"/>
                  <a:pt x="4256390" y="2075646"/>
                  <a:pt x="4012321" y="2082903"/>
                </a:cubicBezTo>
                <a:cubicBezTo>
                  <a:pt x="3768252" y="2090160"/>
                  <a:pt x="3725984" y="2083334"/>
                  <a:pt x="3552601" y="2082903"/>
                </a:cubicBezTo>
                <a:cubicBezTo>
                  <a:pt x="3379218" y="2082472"/>
                  <a:pt x="3276515" y="2107652"/>
                  <a:pt x="3036203" y="2082903"/>
                </a:cubicBezTo>
                <a:cubicBezTo>
                  <a:pt x="2795891" y="2058154"/>
                  <a:pt x="2605226" y="2066649"/>
                  <a:pt x="2293094" y="2082903"/>
                </a:cubicBezTo>
                <a:cubicBezTo>
                  <a:pt x="1980962" y="2099157"/>
                  <a:pt x="1802263" y="2102524"/>
                  <a:pt x="1663341" y="2082903"/>
                </a:cubicBezTo>
                <a:cubicBezTo>
                  <a:pt x="1524419" y="2063282"/>
                  <a:pt x="1315624" y="2080369"/>
                  <a:pt x="1146944" y="2082903"/>
                </a:cubicBezTo>
                <a:cubicBezTo>
                  <a:pt x="978264" y="2085437"/>
                  <a:pt x="647112" y="2079449"/>
                  <a:pt x="347157" y="2082903"/>
                </a:cubicBezTo>
                <a:cubicBezTo>
                  <a:pt x="129474" y="2081434"/>
                  <a:pt x="8068" y="1934422"/>
                  <a:pt x="0" y="1735746"/>
                </a:cubicBezTo>
                <a:cubicBezTo>
                  <a:pt x="-12056" y="1561734"/>
                  <a:pt x="-8821" y="1196966"/>
                  <a:pt x="0" y="1041452"/>
                </a:cubicBezTo>
                <a:cubicBezTo>
                  <a:pt x="8821" y="885938"/>
                  <a:pt x="-4853" y="608453"/>
                  <a:pt x="0" y="347157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with Force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15E159-D2C0-72D6-63F1-1C333B4DAA18}"/>
                  </a:ext>
                </a:extLst>
              </p:cNvPr>
              <p:cNvSpPr txBox="1"/>
              <p:nvPr/>
            </p:nvSpPr>
            <p:spPr>
              <a:xfrm>
                <a:off x="566742" y="4114672"/>
                <a:ext cx="2330382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𝑓𝑜𝑟𝑐𝑒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15E159-D2C0-72D6-63F1-1C333B4DA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42" y="4114672"/>
                <a:ext cx="2330382" cy="425373"/>
              </a:xfrm>
              <a:prstGeom prst="rect">
                <a:avLst/>
              </a:prstGeom>
              <a:blipFill>
                <a:blip r:embed="rId7"/>
                <a:stretch>
                  <a:fillRect t="-1764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18DF1F-6148-8060-78BB-33E334B58ECF}"/>
                  </a:ext>
                </a:extLst>
              </p:cNvPr>
              <p:cNvSpPr txBox="1"/>
              <p:nvPr/>
            </p:nvSpPr>
            <p:spPr>
              <a:xfrm>
                <a:off x="4124296" y="4142147"/>
                <a:ext cx="1794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C18DF1F-6148-8060-78BB-33E334B58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96" y="4142147"/>
                <a:ext cx="1794274" cy="369332"/>
              </a:xfrm>
              <a:prstGeom prst="rect">
                <a:avLst/>
              </a:prstGeom>
              <a:blipFill>
                <a:blip r:embed="rId8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719738-F941-D506-6DC7-FC7E5A66D1D0}"/>
                  </a:ext>
                </a:extLst>
              </p:cNvPr>
              <p:cNvSpPr txBox="1"/>
              <p:nvPr/>
            </p:nvSpPr>
            <p:spPr>
              <a:xfrm>
                <a:off x="3760140" y="4878290"/>
                <a:ext cx="2962221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719738-F941-D506-6DC7-FC7E5A66D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140" y="4878290"/>
                <a:ext cx="2962221" cy="486608"/>
              </a:xfrm>
              <a:prstGeom prst="rect">
                <a:avLst/>
              </a:prstGeom>
              <a:blipFill>
                <a:blip r:embed="rId9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9F42627-1EA2-5555-5A3B-F4558261EC3A}"/>
              </a:ext>
            </a:extLst>
          </p:cNvPr>
          <p:cNvCxnSpPr>
            <a:cxnSpLocks/>
          </p:cNvCxnSpPr>
          <p:nvPr/>
        </p:nvCxnSpPr>
        <p:spPr>
          <a:xfrm>
            <a:off x="1258606" y="4568337"/>
            <a:ext cx="257577" cy="33485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6E86EE-8445-12CF-1AB6-04D022B284C9}"/>
                  </a:ext>
                </a:extLst>
              </p:cNvPr>
              <p:cNvSpPr txBox="1"/>
              <p:nvPr/>
            </p:nvSpPr>
            <p:spPr>
              <a:xfrm>
                <a:off x="828437" y="4834186"/>
                <a:ext cx="2506648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96E86EE-8445-12CF-1AB6-04D022B28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37" y="4834186"/>
                <a:ext cx="2506648" cy="486608"/>
              </a:xfrm>
              <a:prstGeom prst="rect">
                <a:avLst/>
              </a:prstGeom>
              <a:blipFill>
                <a:blip r:embed="rId10"/>
                <a:stretch>
                  <a:fillRect t="-2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93D19DD-DB40-0342-91AD-733C96FBE513}"/>
              </a:ext>
            </a:extLst>
          </p:cNvPr>
          <p:cNvCxnSpPr>
            <a:cxnSpLocks/>
          </p:cNvCxnSpPr>
          <p:nvPr/>
        </p:nvCxnSpPr>
        <p:spPr>
          <a:xfrm>
            <a:off x="3316992" y="5059861"/>
            <a:ext cx="425055" cy="12346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3E0263B-6E90-3B13-39FD-41C418D42EBA}"/>
              </a:ext>
            </a:extLst>
          </p:cNvPr>
          <p:cNvCxnSpPr>
            <a:cxnSpLocks/>
          </p:cNvCxnSpPr>
          <p:nvPr/>
        </p:nvCxnSpPr>
        <p:spPr>
          <a:xfrm>
            <a:off x="4829576" y="4540045"/>
            <a:ext cx="191857" cy="36314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5429BE7-AB3D-AF67-9139-9ED57F8085B9}"/>
              </a:ext>
            </a:extLst>
          </p:cNvPr>
          <p:cNvSpPr/>
          <p:nvPr/>
        </p:nvSpPr>
        <p:spPr>
          <a:xfrm>
            <a:off x="1593273" y="6072230"/>
            <a:ext cx="9575613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math uses basic transformation matrices and variable exchanges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88F2046-7BB7-AADB-EF78-68829F899936}"/>
              </a:ext>
            </a:extLst>
          </p:cNvPr>
          <p:cNvSpPr/>
          <p:nvPr/>
        </p:nvSpPr>
        <p:spPr>
          <a:xfrm>
            <a:off x="7190530" y="3820927"/>
            <a:ext cx="4434728" cy="1362399"/>
          </a:xfrm>
          <a:custGeom>
            <a:avLst/>
            <a:gdLst>
              <a:gd name="connsiteX0" fmla="*/ 0 w 4434728"/>
              <a:gd name="connsiteY0" fmla="*/ 227071 h 1362399"/>
              <a:gd name="connsiteX1" fmla="*/ 227071 w 4434728"/>
              <a:gd name="connsiteY1" fmla="*/ 0 h 1362399"/>
              <a:gd name="connsiteX2" fmla="*/ 930308 w 4434728"/>
              <a:gd name="connsiteY2" fmla="*/ 0 h 1362399"/>
              <a:gd name="connsiteX3" fmla="*/ 1474321 w 4434728"/>
              <a:gd name="connsiteY3" fmla="*/ 0 h 1362399"/>
              <a:gd name="connsiteX4" fmla="*/ 2137752 w 4434728"/>
              <a:gd name="connsiteY4" fmla="*/ 0 h 1362399"/>
              <a:gd name="connsiteX5" fmla="*/ 2721572 w 4434728"/>
              <a:gd name="connsiteY5" fmla="*/ 0 h 1362399"/>
              <a:gd name="connsiteX6" fmla="*/ 3424808 w 4434728"/>
              <a:gd name="connsiteY6" fmla="*/ 0 h 1362399"/>
              <a:gd name="connsiteX7" fmla="*/ 4207657 w 4434728"/>
              <a:gd name="connsiteY7" fmla="*/ 0 h 1362399"/>
              <a:gd name="connsiteX8" fmla="*/ 4434728 w 4434728"/>
              <a:gd name="connsiteY8" fmla="*/ 227071 h 1362399"/>
              <a:gd name="connsiteX9" fmla="*/ 4434728 w 4434728"/>
              <a:gd name="connsiteY9" fmla="*/ 681200 h 1362399"/>
              <a:gd name="connsiteX10" fmla="*/ 4434728 w 4434728"/>
              <a:gd name="connsiteY10" fmla="*/ 1135328 h 1362399"/>
              <a:gd name="connsiteX11" fmla="*/ 4207657 w 4434728"/>
              <a:gd name="connsiteY11" fmla="*/ 1362399 h 1362399"/>
              <a:gd name="connsiteX12" fmla="*/ 3464614 w 4434728"/>
              <a:gd name="connsiteY12" fmla="*/ 1362399 h 1362399"/>
              <a:gd name="connsiteX13" fmla="*/ 2880795 w 4434728"/>
              <a:gd name="connsiteY13" fmla="*/ 1362399 h 1362399"/>
              <a:gd name="connsiteX14" fmla="*/ 2336782 w 4434728"/>
              <a:gd name="connsiteY14" fmla="*/ 1362399 h 1362399"/>
              <a:gd name="connsiteX15" fmla="*/ 1752962 w 4434728"/>
              <a:gd name="connsiteY15" fmla="*/ 1362399 h 1362399"/>
              <a:gd name="connsiteX16" fmla="*/ 1129337 w 4434728"/>
              <a:gd name="connsiteY16" fmla="*/ 1362399 h 1362399"/>
              <a:gd name="connsiteX17" fmla="*/ 227071 w 4434728"/>
              <a:gd name="connsiteY17" fmla="*/ 1362399 h 1362399"/>
              <a:gd name="connsiteX18" fmla="*/ 0 w 4434728"/>
              <a:gd name="connsiteY18" fmla="*/ 1135328 h 1362399"/>
              <a:gd name="connsiteX19" fmla="*/ 0 w 4434728"/>
              <a:gd name="connsiteY19" fmla="*/ 663034 h 1362399"/>
              <a:gd name="connsiteX20" fmla="*/ 0 w 4434728"/>
              <a:gd name="connsiteY20" fmla="*/ 227071 h 136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34728" h="1362399" fill="none" extrusionOk="0">
                <a:moveTo>
                  <a:pt x="0" y="227071"/>
                </a:moveTo>
                <a:cubicBezTo>
                  <a:pt x="10119" y="121699"/>
                  <a:pt x="78330" y="12305"/>
                  <a:pt x="227071" y="0"/>
                </a:cubicBezTo>
                <a:cubicBezTo>
                  <a:pt x="485211" y="32019"/>
                  <a:pt x="751796" y="-4621"/>
                  <a:pt x="930308" y="0"/>
                </a:cubicBezTo>
                <a:cubicBezTo>
                  <a:pt x="1108820" y="4621"/>
                  <a:pt x="1267209" y="17866"/>
                  <a:pt x="1474321" y="0"/>
                </a:cubicBezTo>
                <a:cubicBezTo>
                  <a:pt x="1681433" y="-17866"/>
                  <a:pt x="1816333" y="12628"/>
                  <a:pt x="2137752" y="0"/>
                </a:cubicBezTo>
                <a:cubicBezTo>
                  <a:pt x="2459171" y="-12628"/>
                  <a:pt x="2541847" y="18010"/>
                  <a:pt x="2721572" y="0"/>
                </a:cubicBezTo>
                <a:cubicBezTo>
                  <a:pt x="2901297" y="-18010"/>
                  <a:pt x="3102493" y="-9334"/>
                  <a:pt x="3424808" y="0"/>
                </a:cubicBezTo>
                <a:cubicBezTo>
                  <a:pt x="3747123" y="9334"/>
                  <a:pt x="3867158" y="38640"/>
                  <a:pt x="4207657" y="0"/>
                </a:cubicBezTo>
                <a:cubicBezTo>
                  <a:pt x="4323552" y="29657"/>
                  <a:pt x="4430999" y="89921"/>
                  <a:pt x="4434728" y="227071"/>
                </a:cubicBezTo>
                <a:cubicBezTo>
                  <a:pt x="4448216" y="403113"/>
                  <a:pt x="4423679" y="516039"/>
                  <a:pt x="4434728" y="681200"/>
                </a:cubicBezTo>
                <a:cubicBezTo>
                  <a:pt x="4445777" y="846361"/>
                  <a:pt x="4412648" y="1028114"/>
                  <a:pt x="4434728" y="1135328"/>
                </a:cubicBezTo>
                <a:cubicBezTo>
                  <a:pt x="4412093" y="1273428"/>
                  <a:pt x="4338455" y="1377003"/>
                  <a:pt x="4207657" y="1362399"/>
                </a:cubicBezTo>
                <a:cubicBezTo>
                  <a:pt x="4008533" y="1364951"/>
                  <a:pt x="3626894" y="1382702"/>
                  <a:pt x="3464614" y="1362399"/>
                </a:cubicBezTo>
                <a:cubicBezTo>
                  <a:pt x="3302334" y="1342096"/>
                  <a:pt x="3052025" y="1377405"/>
                  <a:pt x="2880795" y="1362399"/>
                </a:cubicBezTo>
                <a:cubicBezTo>
                  <a:pt x="2709565" y="1347393"/>
                  <a:pt x="2454068" y="1384368"/>
                  <a:pt x="2336782" y="1362399"/>
                </a:cubicBezTo>
                <a:cubicBezTo>
                  <a:pt x="2219496" y="1340430"/>
                  <a:pt x="2034190" y="1378166"/>
                  <a:pt x="1752962" y="1362399"/>
                </a:cubicBezTo>
                <a:cubicBezTo>
                  <a:pt x="1471734" y="1346632"/>
                  <a:pt x="1305307" y="1349617"/>
                  <a:pt x="1129337" y="1362399"/>
                </a:cubicBezTo>
                <a:cubicBezTo>
                  <a:pt x="953367" y="1375181"/>
                  <a:pt x="646246" y="1371881"/>
                  <a:pt x="227071" y="1362399"/>
                </a:cubicBezTo>
                <a:cubicBezTo>
                  <a:pt x="81455" y="1382459"/>
                  <a:pt x="19198" y="1265045"/>
                  <a:pt x="0" y="1135328"/>
                </a:cubicBezTo>
                <a:cubicBezTo>
                  <a:pt x="5843" y="991397"/>
                  <a:pt x="18633" y="760045"/>
                  <a:pt x="0" y="663034"/>
                </a:cubicBezTo>
                <a:cubicBezTo>
                  <a:pt x="-18633" y="566023"/>
                  <a:pt x="-10216" y="432466"/>
                  <a:pt x="0" y="227071"/>
                </a:cubicBezTo>
                <a:close/>
              </a:path>
              <a:path w="4434728" h="1362399" stroke="0" extrusionOk="0">
                <a:moveTo>
                  <a:pt x="0" y="227071"/>
                </a:moveTo>
                <a:cubicBezTo>
                  <a:pt x="-9354" y="95893"/>
                  <a:pt x="89713" y="4485"/>
                  <a:pt x="227071" y="0"/>
                </a:cubicBezTo>
                <a:cubicBezTo>
                  <a:pt x="403944" y="20060"/>
                  <a:pt x="758041" y="-36693"/>
                  <a:pt x="970114" y="0"/>
                </a:cubicBezTo>
                <a:cubicBezTo>
                  <a:pt x="1182187" y="36693"/>
                  <a:pt x="1334427" y="-8835"/>
                  <a:pt x="1593739" y="0"/>
                </a:cubicBezTo>
                <a:cubicBezTo>
                  <a:pt x="1853052" y="8835"/>
                  <a:pt x="1891513" y="-17747"/>
                  <a:pt x="2177558" y="0"/>
                </a:cubicBezTo>
                <a:cubicBezTo>
                  <a:pt x="2463603" y="17747"/>
                  <a:pt x="2725621" y="27851"/>
                  <a:pt x="2880795" y="0"/>
                </a:cubicBezTo>
                <a:cubicBezTo>
                  <a:pt x="3035969" y="-27851"/>
                  <a:pt x="3374039" y="-28753"/>
                  <a:pt x="3504420" y="0"/>
                </a:cubicBezTo>
                <a:cubicBezTo>
                  <a:pt x="3634801" y="28753"/>
                  <a:pt x="3918166" y="-18854"/>
                  <a:pt x="4207657" y="0"/>
                </a:cubicBezTo>
                <a:cubicBezTo>
                  <a:pt x="4330047" y="-28782"/>
                  <a:pt x="4416771" y="126618"/>
                  <a:pt x="4434728" y="227071"/>
                </a:cubicBezTo>
                <a:cubicBezTo>
                  <a:pt x="4444687" y="318292"/>
                  <a:pt x="4435899" y="560220"/>
                  <a:pt x="4434728" y="663034"/>
                </a:cubicBezTo>
                <a:cubicBezTo>
                  <a:pt x="4433557" y="765848"/>
                  <a:pt x="4451332" y="924871"/>
                  <a:pt x="4434728" y="1135328"/>
                </a:cubicBezTo>
                <a:cubicBezTo>
                  <a:pt x="4445976" y="1277480"/>
                  <a:pt x="4334023" y="1372317"/>
                  <a:pt x="4207657" y="1362399"/>
                </a:cubicBezTo>
                <a:cubicBezTo>
                  <a:pt x="4023715" y="1337170"/>
                  <a:pt x="3790059" y="1367752"/>
                  <a:pt x="3663644" y="1362399"/>
                </a:cubicBezTo>
                <a:cubicBezTo>
                  <a:pt x="3537229" y="1357046"/>
                  <a:pt x="3224829" y="1337579"/>
                  <a:pt x="2920601" y="1362399"/>
                </a:cubicBezTo>
                <a:cubicBezTo>
                  <a:pt x="2616373" y="1387219"/>
                  <a:pt x="2477372" y="1367270"/>
                  <a:pt x="2336782" y="1362399"/>
                </a:cubicBezTo>
                <a:cubicBezTo>
                  <a:pt x="2196192" y="1357528"/>
                  <a:pt x="1953941" y="1344169"/>
                  <a:pt x="1673351" y="1362399"/>
                </a:cubicBezTo>
                <a:cubicBezTo>
                  <a:pt x="1392761" y="1380629"/>
                  <a:pt x="1188983" y="1367058"/>
                  <a:pt x="930308" y="1362399"/>
                </a:cubicBezTo>
                <a:cubicBezTo>
                  <a:pt x="671633" y="1357740"/>
                  <a:pt x="510321" y="1387110"/>
                  <a:pt x="227071" y="1362399"/>
                </a:cubicBezTo>
                <a:cubicBezTo>
                  <a:pt x="93316" y="1377323"/>
                  <a:pt x="5843" y="1265078"/>
                  <a:pt x="0" y="1135328"/>
                </a:cubicBezTo>
                <a:cubicBezTo>
                  <a:pt x="-8335" y="920197"/>
                  <a:pt x="-15329" y="855530"/>
                  <a:pt x="0" y="699365"/>
                </a:cubicBezTo>
                <a:cubicBezTo>
                  <a:pt x="15329" y="543200"/>
                  <a:pt x="22208" y="371796"/>
                  <a:pt x="0" y="22707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589457-8DE0-176B-BD8C-0724BB7B8815}"/>
                  </a:ext>
                </a:extLst>
              </p:cNvPr>
              <p:cNvSpPr txBox="1"/>
              <p:nvPr/>
            </p:nvSpPr>
            <p:spPr>
              <a:xfrm>
                <a:off x="7535811" y="4408310"/>
                <a:ext cx="3911840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A589457-8DE0-176B-BD8C-0724BB7B8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11" y="4408310"/>
                <a:ext cx="3911840" cy="486608"/>
              </a:xfrm>
              <a:prstGeom prst="rect">
                <a:avLst/>
              </a:prstGeom>
              <a:blipFill>
                <a:blip r:embed="rId11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 42">
            <a:extLst>
              <a:ext uri="{FF2B5EF4-FFF2-40B4-BE49-F238E27FC236}">
                <a16:creationId xmlns:a16="http://schemas.microsoft.com/office/drawing/2014/main" id="{C2857BF3-CB68-176F-1065-0A47B585D529}"/>
              </a:ext>
            </a:extLst>
          </p:cNvPr>
          <p:cNvSpPr/>
          <p:nvPr/>
        </p:nvSpPr>
        <p:spPr>
          <a:xfrm>
            <a:off x="6947236" y="3172276"/>
            <a:ext cx="4898400" cy="2563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7BDC9FB-2105-B61D-FAF6-26E9B7D0EEE6}"/>
              </a:ext>
            </a:extLst>
          </p:cNvPr>
          <p:cNvSpPr/>
          <p:nvPr/>
        </p:nvSpPr>
        <p:spPr>
          <a:xfrm>
            <a:off x="1453529" y="5818023"/>
            <a:ext cx="9851082" cy="949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9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B60C3-88A3-740C-6045-5F199363C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9518DB5-BD4B-314B-CDA2-A16A791843AB}"/>
              </a:ext>
            </a:extLst>
          </p:cNvPr>
          <p:cNvSpPr/>
          <p:nvPr/>
        </p:nvSpPr>
        <p:spPr>
          <a:xfrm>
            <a:off x="5701147" y="954170"/>
            <a:ext cx="5603464" cy="2082903"/>
          </a:xfrm>
          <a:custGeom>
            <a:avLst/>
            <a:gdLst>
              <a:gd name="connsiteX0" fmla="*/ 0 w 5603464"/>
              <a:gd name="connsiteY0" fmla="*/ 347157 h 2082903"/>
              <a:gd name="connsiteX1" fmla="*/ 347157 w 5603464"/>
              <a:gd name="connsiteY1" fmla="*/ 0 h 2082903"/>
              <a:gd name="connsiteX2" fmla="*/ 1009892 w 5603464"/>
              <a:gd name="connsiteY2" fmla="*/ 0 h 2082903"/>
              <a:gd name="connsiteX3" fmla="*/ 1525353 w 5603464"/>
              <a:gd name="connsiteY3" fmla="*/ 0 h 2082903"/>
              <a:gd name="connsiteX4" fmla="*/ 2188088 w 5603464"/>
              <a:gd name="connsiteY4" fmla="*/ 0 h 2082903"/>
              <a:gd name="connsiteX5" fmla="*/ 2654458 w 5603464"/>
              <a:gd name="connsiteY5" fmla="*/ 0 h 2082903"/>
              <a:gd name="connsiteX6" fmla="*/ 3317193 w 5603464"/>
              <a:gd name="connsiteY6" fmla="*/ 0 h 2082903"/>
              <a:gd name="connsiteX7" fmla="*/ 3832653 w 5603464"/>
              <a:gd name="connsiteY7" fmla="*/ 0 h 2082903"/>
              <a:gd name="connsiteX8" fmla="*/ 4299023 w 5603464"/>
              <a:gd name="connsiteY8" fmla="*/ 0 h 2082903"/>
              <a:gd name="connsiteX9" fmla="*/ 5256307 w 5603464"/>
              <a:gd name="connsiteY9" fmla="*/ 0 h 2082903"/>
              <a:gd name="connsiteX10" fmla="*/ 5603464 w 5603464"/>
              <a:gd name="connsiteY10" fmla="*/ 347157 h 2082903"/>
              <a:gd name="connsiteX11" fmla="*/ 5603464 w 5603464"/>
              <a:gd name="connsiteY11" fmla="*/ 1055337 h 2082903"/>
              <a:gd name="connsiteX12" fmla="*/ 5603464 w 5603464"/>
              <a:gd name="connsiteY12" fmla="*/ 1735746 h 2082903"/>
              <a:gd name="connsiteX13" fmla="*/ 5256307 w 5603464"/>
              <a:gd name="connsiteY13" fmla="*/ 2082903 h 2082903"/>
              <a:gd name="connsiteX14" fmla="*/ 4789938 w 5603464"/>
              <a:gd name="connsiteY14" fmla="*/ 2082903 h 2082903"/>
              <a:gd name="connsiteX15" fmla="*/ 4078111 w 5603464"/>
              <a:gd name="connsiteY15" fmla="*/ 2082903 h 2082903"/>
              <a:gd name="connsiteX16" fmla="*/ 3464467 w 5603464"/>
              <a:gd name="connsiteY16" fmla="*/ 2082903 h 2082903"/>
              <a:gd name="connsiteX17" fmla="*/ 2752641 w 5603464"/>
              <a:gd name="connsiteY17" fmla="*/ 2082903 h 2082903"/>
              <a:gd name="connsiteX18" fmla="*/ 2089905 w 5603464"/>
              <a:gd name="connsiteY18" fmla="*/ 2082903 h 2082903"/>
              <a:gd name="connsiteX19" fmla="*/ 1525353 w 5603464"/>
              <a:gd name="connsiteY19" fmla="*/ 2082903 h 2082903"/>
              <a:gd name="connsiteX20" fmla="*/ 347157 w 5603464"/>
              <a:gd name="connsiteY20" fmla="*/ 2082903 h 2082903"/>
              <a:gd name="connsiteX21" fmla="*/ 0 w 5603464"/>
              <a:gd name="connsiteY21" fmla="*/ 1735746 h 2082903"/>
              <a:gd name="connsiteX22" fmla="*/ 0 w 5603464"/>
              <a:gd name="connsiteY22" fmla="*/ 1041452 h 2082903"/>
              <a:gd name="connsiteX23" fmla="*/ 0 w 5603464"/>
              <a:gd name="connsiteY23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603464" h="2082903" fill="none" extrusionOk="0">
                <a:moveTo>
                  <a:pt x="0" y="347157"/>
                </a:moveTo>
                <a:cubicBezTo>
                  <a:pt x="-2280" y="160004"/>
                  <a:pt x="145314" y="-13418"/>
                  <a:pt x="347157" y="0"/>
                </a:cubicBezTo>
                <a:cubicBezTo>
                  <a:pt x="659602" y="14143"/>
                  <a:pt x="833975" y="19685"/>
                  <a:pt x="1009892" y="0"/>
                </a:cubicBezTo>
                <a:cubicBezTo>
                  <a:pt x="1185810" y="-19685"/>
                  <a:pt x="1286464" y="-13290"/>
                  <a:pt x="1525353" y="0"/>
                </a:cubicBezTo>
                <a:cubicBezTo>
                  <a:pt x="1764242" y="13290"/>
                  <a:pt x="1906405" y="-33071"/>
                  <a:pt x="2188088" y="0"/>
                </a:cubicBezTo>
                <a:cubicBezTo>
                  <a:pt x="2469771" y="33071"/>
                  <a:pt x="2521126" y="19942"/>
                  <a:pt x="2654458" y="0"/>
                </a:cubicBezTo>
                <a:cubicBezTo>
                  <a:pt x="2787790" y="-19942"/>
                  <a:pt x="3010075" y="-8754"/>
                  <a:pt x="3317193" y="0"/>
                </a:cubicBezTo>
                <a:cubicBezTo>
                  <a:pt x="3624311" y="8754"/>
                  <a:pt x="3610248" y="12115"/>
                  <a:pt x="3832653" y="0"/>
                </a:cubicBezTo>
                <a:cubicBezTo>
                  <a:pt x="4055058" y="-12115"/>
                  <a:pt x="4109731" y="-4822"/>
                  <a:pt x="4299023" y="0"/>
                </a:cubicBezTo>
                <a:cubicBezTo>
                  <a:pt x="4488315" y="4822"/>
                  <a:pt x="5049090" y="-33745"/>
                  <a:pt x="5256307" y="0"/>
                </a:cubicBezTo>
                <a:cubicBezTo>
                  <a:pt x="5442699" y="19974"/>
                  <a:pt x="5639546" y="165776"/>
                  <a:pt x="5603464" y="347157"/>
                </a:cubicBezTo>
                <a:cubicBezTo>
                  <a:pt x="5571931" y="661927"/>
                  <a:pt x="5570455" y="750464"/>
                  <a:pt x="5603464" y="1055337"/>
                </a:cubicBezTo>
                <a:cubicBezTo>
                  <a:pt x="5636473" y="1360210"/>
                  <a:pt x="5585478" y="1446084"/>
                  <a:pt x="5603464" y="1735746"/>
                </a:cubicBezTo>
                <a:cubicBezTo>
                  <a:pt x="5616089" y="1958335"/>
                  <a:pt x="5470757" y="2105379"/>
                  <a:pt x="5256307" y="2082903"/>
                </a:cubicBezTo>
                <a:cubicBezTo>
                  <a:pt x="5100303" y="2066384"/>
                  <a:pt x="4996698" y="2074739"/>
                  <a:pt x="4789938" y="2082903"/>
                </a:cubicBezTo>
                <a:cubicBezTo>
                  <a:pt x="4583178" y="2091067"/>
                  <a:pt x="4335783" y="2085872"/>
                  <a:pt x="4078111" y="2082903"/>
                </a:cubicBezTo>
                <a:cubicBezTo>
                  <a:pt x="3820439" y="2079934"/>
                  <a:pt x="3705236" y="2054282"/>
                  <a:pt x="3464467" y="2082903"/>
                </a:cubicBezTo>
                <a:cubicBezTo>
                  <a:pt x="3223698" y="2111524"/>
                  <a:pt x="2949310" y="2075305"/>
                  <a:pt x="2752641" y="2082903"/>
                </a:cubicBezTo>
                <a:cubicBezTo>
                  <a:pt x="2555972" y="2090501"/>
                  <a:pt x="2402298" y="2054089"/>
                  <a:pt x="2089905" y="2082903"/>
                </a:cubicBezTo>
                <a:cubicBezTo>
                  <a:pt x="1777512" y="2111717"/>
                  <a:pt x="1714367" y="2082793"/>
                  <a:pt x="1525353" y="2082903"/>
                </a:cubicBezTo>
                <a:cubicBezTo>
                  <a:pt x="1336339" y="2083013"/>
                  <a:pt x="755660" y="2062646"/>
                  <a:pt x="347157" y="2082903"/>
                </a:cubicBezTo>
                <a:cubicBezTo>
                  <a:pt x="155621" y="2091732"/>
                  <a:pt x="24880" y="1905151"/>
                  <a:pt x="0" y="1735746"/>
                </a:cubicBezTo>
                <a:cubicBezTo>
                  <a:pt x="-19513" y="1440503"/>
                  <a:pt x="-24480" y="1259767"/>
                  <a:pt x="0" y="1041452"/>
                </a:cubicBezTo>
                <a:cubicBezTo>
                  <a:pt x="24480" y="823137"/>
                  <a:pt x="17244" y="538640"/>
                  <a:pt x="0" y="347157"/>
                </a:cubicBezTo>
                <a:close/>
              </a:path>
              <a:path w="5603464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6687" y="26663"/>
                  <a:pt x="791967" y="-20427"/>
                  <a:pt x="1058984" y="0"/>
                </a:cubicBezTo>
                <a:cubicBezTo>
                  <a:pt x="1326001" y="20427"/>
                  <a:pt x="1348184" y="-12068"/>
                  <a:pt x="1623536" y="0"/>
                </a:cubicBezTo>
                <a:cubicBezTo>
                  <a:pt x="1898888" y="12068"/>
                  <a:pt x="1900968" y="17766"/>
                  <a:pt x="2138997" y="0"/>
                </a:cubicBezTo>
                <a:cubicBezTo>
                  <a:pt x="2377026" y="-17766"/>
                  <a:pt x="2595584" y="25999"/>
                  <a:pt x="2801732" y="0"/>
                </a:cubicBezTo>
                <a:cubicBezTo>
                  <a:pt x="3007880" y="-25999"/>
                  <a:pt x="3137518" y="13035"/>
                  <a:pt x="3366284" y="0"/>
                </a:cubicBezTo>
                <a:cubicBezTo>
                  <a:pt x="3595050" y="-13035"/>
                  <a:pt x="3776537" y="-10232"/>
                  <a:pt x="4078111" y="0"/>
                </a:cubicBezTo>
                <a:cubicBezTo>
                  <a:pt x="4379685" y="10232"/>
                  <a:pt x="4346001" y="19694"/>
                  <a:pt x="4593572" y="0"/>
                </a:cubicBezTo>
                <a:cubicBezTo>
                  <a:pt x="4841143" y="-19694"/>
                  <a:pt x="5122143" y="3843"/>
                  <a:pt x="5256307" y="0"/>
                </a:cubicBezTo>
                <a:cubicBezTo>
                  <a:pt x="5482348" y="8250"/>
                  <a:pt x="5577529" y="151232"/>
                  <a:pt x="5603464" y="347157"/>
                </a:cubicBezTo>
                <a:cubicBezTo>
                  <a:pt x="5580055" y="643217"/>
                  <a:pt x="5637606" y="743872"/>
                  <a:pt x="5603464" y="1041452"/>
                </a:cubicBezTo>
                <a:cubicBezTo>
                  <a:pt x="5569322" y="1339033"/>
                  <a:pt x="5595993" y="1520042"/>
                  <a:pt x="5603464" y="1735746"/>
                </a:cubicBezTo>
                <a:cubicBezTo>
                  <a:pt x="5607113" y="1931946"/>
                  <a:pt x="5469858" y="2063797"/>
                  <a:pt x="5256307" y="2082903"/>
                </a:cubicBezTo>
                <a:cubicBezTo>
                  <a:pt x="5062093" y="2075279"/>
                  <a:pt x="4807651" y="2079080"/>
                  <a:pt x="4642663" y="2082903"/>
                </a:cubicBezTo>
                <a:cubicBezTo>
                  <a:pt x="4477675" y="2086726"/>
                  <a:pt x="4225419" y="2096360"/>
                  <a:pt x="4029020" y="2082903"/>
                </a:cubicBezTo>
                <a:cubicBezTo>
                  <a:pt x="3832621" y="2069446"/>
                  <a:pt x="3629413" y="2091106"/>
                  <a:pt x="3317193" y="2082903"/>
                </a:cubicBezTo>
                <a:cubicBezTo>
                  <a:pt x="3004973" y="2074700"/>
                  <a:pt x="2979199" y="2070691"/>
                  <a:pt x="2703549" y="2082903"/>
                </a:cubicBezTo>
                <a:cubicBezTo>
                  <a:pt x="2427899" y="2095115"/>
                  <a:pt x="2434386" y="2088307"/>
                  <a:pt x="2237180" y="2082903"/>
                </a:cubicBezTo>
                <a:cubicBezTo>
                  <a:pt x="2039974" y="2077499"/>
                  <a:pt x="1960500" y="2105500"/>
                  <a:pt x="1721719" y="2082903"/>
                </a:cubicBezTo>
                <a:cubicBezTo>
                  <a:pt x="1482938" y="2060306"/>
                  <a:pt x="1337558" y="2105188"/>
                  <a:pt x="1009892" y="2082903"/>
                </a:cubicBezTo>
                <a:cubicBezTo>
                  <a:pt x="682226" y="2060618"/>
                  <a:pt x="504309" y="2078515"/>
                  <a:pt x="347157" y="2082903"/>
                </a:cubicBezTo>
                <a:cubicBezTo>
                  <a:pt x="159410" y="2090789"/>
                  <a:pt x="-16270" y="1936056"/>
                  <a:pt x="0" y="1735746"/>
                </a:cubicBezTo>
                <a:cubicBezTo>
                  <a:pt x="-18927" y="1533786"/>
                  <a:pt x="-11439" y="1176689"/>
                  <a:pt x="0" y="1027566"/>
                </a:cubicBezTo>
                <a:cubicBezTo>
                  <a:pt x="11439" y="878443"/>
                  <a:pt x="26102" y="663788"/>
                  <a:pt x="0" y="347157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with Response Transformation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85ED50-D3E8-76E5-D1AD-B7E1786A7EBF}"/>
              </a:ext>
            </a:extLst>
          </p:cNvPr>
          <p:cNvSpPr/>
          <p:nvPr/>
        </p:nvSpPr>
        <p:spPr>
          <a:xfrm>
            <a:off x="887389" y="954170"/>
            <a:ext cx="3987913" cy="2082903"/>
          </a:xfrm>
          <a:custGeom>
            <a:avLst/>
            <a:gdLst>
              <a:gd name="connsiteX0" fmla="*/ 0 w 3987913"/>
              <a:gd name="connsiteY0" fmla="*/ 347157 h 2082903"/>
              <a:gd name="connsiteX1" fmla="*/ 347157 w 3987913"/>
              <a:gd name="connsiteY1" fmla="*/ 0 h 2082903"/>
              <a:gd name="connsiteX2" fmla="*/ 1038813 w 3987913"/>
              <a:gd name="connsiteY2" fmla="*/ 0 h 2082903"/>
              <a:gd name="connsiteX3" fmla="*/ 1631661 w 3987913"/>
              <a:gd name="connsiteY3" fmla="*/ 0 h 2082903"/>
              <a:gd name="connsiteX4" fmla="*/ 2290380 w 3987913"/>
              <a:gd name="connsiteY4" fmla="*/ 0 h 2082903"/>
              <a:gd name="connsiteX5" fmla="*/ 2850292 w 3987913"/>
              <a:gd name="connsiteY5" fmla="*/ 0 h 2082903"/>
              <a:gd name="connsiteX6" fmla="*/ 3640756 w 3987913"/>
              <a:gd name="connsiteY6" fmla="*/ 0 h 2082903"/>
              <a:gd name="connsiteX7" fmla="*/ 3987913 w 3987913"/>
              <a:gd name="connsiteY7" fmla="*/ 347157 h 2082903"/>
              <a:gd name="connsiteX8" fmla="*/ 3987913 w 3987913"/>
              <a:gd name="connsiteY8" fmla="*/ 1055337 h 2082903"/>
              <a:gd name="connsiteX9" fmla="*/ 3987913 w 3987913"/>
              <a:gd name="connsiteY9" fmla="*/ 1735746 h 2082903"/>
              <a:gd name="connsiteX10" fmla="*/ 3640756 w 3987913"/>
              <a:gd name="connsiteY10" fmla="*/ 2082903 h 2082903"/>
              <a:gd name="connsiteX11" fmla="*/ 2982036 w 3987913"/>
              <a:gd name="connsiteY11" fmla="*/ 2082903 h 2082903"/>
              <a:gd name="connsiteX12" fmla="*/ 2389188 w 3987913"/>
              <a:gd name="connsiteY12" fmla="*/ 2082903 h 2082903"/>
              <a:gd name="connsiteX13" fmla="*/ 1829277 w 3987913"/>
              <a:gd name="connsiteY13" fmla="*/ 2082903 h 2082903"/>
              <a:gd name="connsiteX14" fmla="*/ 1236429 w 3987913"/>
              <a:gd name="connsiteY14" fmla="*/ 2082903 h 2082903"/>
              <a:gd name="connsiteX15" fmla="*/ 347157 w 3987913"/>
              <a:gd name="connsiteY15" fmla="*/ 2082903 h 2082903"/>
              <a:gd name="connsiteX16" fmla="*/ 0 w 3987913"/>
              <a:gd name="connsiteY16" fmla="*/ 1735746 h 2082903"/>
              <a:gd name="connsiteX17" fmla="*/ 0 w 3987913"/>
              <a:gd name="connsiteY17" fmla="*/ 1069223 h 2082903"/>
              <a:gd name="connsiteX18" fmla="*/ 0 w 3987913"/>
              <a:gd name="connsiteY18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987913" h="2082903" fill="none" extrusionOk="0">
                <a:moveTo>
                  <a:pt x="0" y="347157"/>
                </a:moveTo>
                <a:cubicBezTo>
                  <a:pt x="-14015" y="156004"/>
                  <a:pt x="165939" y="-18950"/>
                  <a:pt x="347157" y="0"/>
                </a:cubicBezTo>
                <a:cubicBezTo>
                  <a:pt x="676636" y="27748"/>
                  <a:pt x="761854" y="34243"/>
                  <a:pt x="1038813" y="0"/>
                </a:cubicBezTo>
                <a:cubicBezTo>
                  <a:pt x="1315772" y="-34243"/>
                  <a:pt x="1456771" y="-8878"/>
                  <a:pt x="1631661" y="0"/>
                </a:cubicBezTo>
                <a:cubicBezTo>
                  <a:pt x="1806551" y="8878"/>
                  <a:pt x="2089006" y="-10123"/>
                  <a:pt x="2290380" y="0"/>
                </a:cubicBezTo>
                <a:cubicBezTo>
                  <a:pt x="2491754" y="10123"/>
                  <a:pt x="2594260" y="-5006"/>
                  <a:pt x="2850292" y="0"/>
                </a:cubicBezTo>
                <a:cubicBezTo>
                  <a:pt x="3106324" y="5006"/>
                  <a:pt x="3388379" y="13837"/>
                  <a:pt x="3640756" y="0"/>
                </a:cubicBezTo>
                <a:cubicBezTo>
                  <a:pt x="3830206" y="4577"/>
                  <a:pt x="3977800" y="142009"/>
                  <a:pt x="3987913" y="347157"/>
                </a:cubicBezTo>
                <a:cubicBezTo>
                  <a:pt x="4022292" y="500492"/>
                  <a:pt x="3967331" y="880496"/>
                  <a:pt x="3987913" y="1055337"/>
                </a:cubicBezTo>
                <a:cubicBezTo>
                  <a:pt x="4008495" y="1230178"/>
                  <a:pt x="3963825" y="1403885"/>
                  <a:pt x="3987913" y="1735746"/>
                </a:cubicBezTo>
                <a:cubicBezTo>
                  <a:pt x="3981180" y="1948466"/>
                  <a:pt x="3826076" y="2062717"/>
                  <a:pt x="3640756" y="2082903"/>
                </a:cubicBezTo>
                <a:cubicBezTo>
                  <a:pt x="3410960" y="2059571"/>
                  <a:pt x="3213001" y="2102994"/>
                  <a:pt x="2982036" y="2082903"/>
                </a:cubicBezTo>
                <a:cubicBezTo>
                  <a:pt x="2751071" y="2062812"/>
                  <a:pt x="2544017" y="2109399"/>
                  <a:pt x="2389188" y="2082903"/>
                </a:cubicBezTo>
                <a:cubicBezTo>
                  <a:pt x="2234359" y="2056407"/>
                  <a:pt x="1943754" y="2068918"/>
                  <a:pt x="1829277" y="2082903"/>
                </a:cubicBezTo>
                <a:cubicBezTo>
                  <a:pt x="1714800" y="2096888"/>
                  <a:pt x="1432401" y="2110987"/>
                  <a:pt x="1236429" y="2082903"/>
                </a:cubicBezTo>
                <a:cubicBezTo>
                  <a:pt x="1040457" y="2054819"/>
                  <a:pt x="759103" y="2079266"/>
                  <a:pt x="347157" y="2082903"/>
                </a:cubicBezTo>
                <a:cubicBezTo>
                  <a:pt x="183213" y="2075549"/>
                  <a:pt x="-3712" y="1953187"/>
                  <a:pt x="0" y="1735746"/>
                </a:cubicBezTo>
                <a:cubicBezTo>
                  <a:pt x="-2175" y="1576914"/>
                  <a:pt x="12315" y="1280927"/>
                  <a:pt x="0" y="1069223"/>
                </a:cubicBezTo>
                <a:cubicBezTo>
                  <a:pt x="-12315" y="857519"/>
                  <a:pt x="12290" y="497386"/>
                  <a:pt x="0" y="347157"/>
                </a:cubicBezTo>
                <a:close/>
              </a:path>
              <a:path w="3987913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4568" y="14613"/>
                  <a:pt x="857377" y="-9172"/>
                  <a:pt x="1071749" y="0"/>
                </a:cubicBezTo>
                <a:cubicBezTo>
                  <a:pt x="1286121" y="9172"/>
                  <a:pt x="1511357" y="1786"/>
                  <a:pt x="1697533" y="0"/>
                </a:cubicBezTo>
                <a:cubicBezTo>
                  <a:pt x="1883709" y="-1786"/>
                  <a:pt x="2012464" y="-12925"/>
                  <a:pt x="2290380" y="0"/>
                </a:cubicBezTo>
                <a:cubicBezTo>
                  <a:pt x="2568296" y="12925"/>
                  <a:pt x="2691299" y="34462"/>
                  <a:pt x="2982036" y="0"/>
                </a:cubicBezTo>
                <a:cubicBezTo>
                  <a:pt x="3272773" y="-34462"/>
                  <a:pt x="3368349" y="19535"/>
                  <a:pt x="3640756" y="0"/>
                </a:cubicBezTo>
                <a:cubicBezTo>
                  <a:pt x="3840003" y="-12233"/>
                  <a:pt x="3953114" y="186008"/>
                  <a:pt x="3987913" y="347157"/>
                </a:cubicBezTo>
                <a:cubicBezTo>
                  <a:pt x="3957819" y="671989"/>
                  <a:pt x="3978130" y="852414"/>
                  <a:pt x="3987913" y="1041452"/>
                </a:cubicBezTo>
                <a:cubicBezTo>
                  <a:pt x="3997696" y="1230491"/>
                  <a:pt x="3988637" y="1463112"/>
                  <a:pt x="3987913" y="1735746"/>
                </a:cubicBezTo>
                <a:cubicBezTo>
                  <a:pt x="3974714" y="1926721"/>
                  <a:pt x="3839307" y="2064199"/>
                  <a:pt x="3640756" y="2082903"/>
                </a:cubicBezTo>
                <a:cubicBezTo>
                  <a:pt x="3448142" y="2084337"/>
                  <a:pt x="3249680" y="2088076"/>
                  <a:pt x="2949100" y="2082903"/>
                </a:cubicBezTo>
                <a:cubicBezTo>
                  <a:pt x="2648520" y="2077730"/>
                  <a:pt x="2528181" y="2072817"/>
                  <a:pt x="2224508" y="2082903"/>
                </a:cubicBezTo>
                <a:cubicBezTo>
                  <a:pt x="1920835" y="2092989"/>
                  <a:pt x="1679525" y="2080271"/>
                  <a:pt x="1499917" y="2082903"/>
                </a:cubicBezTo>
                <a:cubicBezTo>
                  <a:pt x="1320309" y="2085535"/>
                  <a:pt x="725486" y="2094138"/>
                  <a:pt x="347157" y="2082903"/>
                </a:cubicBezTo>
                <a:cubicBezTo>
                  <a:pt x="127646" y="2056728"/>
                  <a:pt x="-7553" y="1916185"/>
                  <a:pt x="0" y="1735746"/>
                </a:cubicBezTo>
                <a:cubicBezTo>
                  <a:pt x="24810" y="1454835"/>
                  <a:pt x="20691" y="1333329"/>
                  <a:pt x="0" y="1027566"/>
                </a:cubicBezTo>
                <a:cubicBezTo>
                  <a:pt x="-20691" y="721803"/>
                  <a:pt x="15317" y="601302"/>
                  <a:pt x="0" y="347157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Basic Transformations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CC6AC-D156-BC24-D6A1-554B9774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Math for the VPT?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BFB9AA-7477-EB40-6439-0982CD3AFB5C}"/>
                  </a:ext>
                </a:extLst>
              </p:cNvPr>
              <p:cNvSpPr txBox="1"/>
              <p:nvPr/>
            </p:nvSpPr>
            <p:spPr>
              <a:xfrm>
                <a:off x="1288474" y="1610589"/>
                <a:ext cx="3185744" cy="494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BFB9AA-7477-EB40-6439-0982CD3AF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474" y="1610589"/>
                <a:ext cx="3185744" cy="494944"/>
              </a:xfrm>
              <a:prstGeom prst="rect">
                <a:avLst/>
              </a:prstGeom>
              <a:blipFill>
                <a:blip r:embed="rId2"/>
                <a:stretch>
                  <a:fillRect t="-125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DAEF95-6DCD-666C-E887-17E0357C2D3F}"/>
                  </a:ext>
                </a:extLst>
              </p:cNvPr>
              <p:cNvSpPr txBox="1"/>
              <p:nvPr/>
            </p:nvSpPr>
            <p:spPr>
              <a:xfrm>
                <a:off x="1472178" y="2313707"/>
                <a:ext cx="2818336" cy="4962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𝑓𝑜𝑟𝑐𝑒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DAEF95-6DCD-666C-E887-17E0357C2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78" y="2313707"/>
                <a:ext cx="2818336" cy="496226"/>
              </a:xfrm>
              <a:prstGeom prst="rect">
                <a:avLst/>
              </a:prstGeom>
              <a:blipFill>
                <a:blip r:embed="rId3"/>
                <a:stretch>
                  <a:fillRect t="-1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C63DBA-E03A-95B9-2C83-91DF69F1CD43}"/>
                  </a:ext>
                </a:extLst>
              </p:cNvPr>
              <p:cNvSpPr txBox="1"/>
              <p:nvPr/>
            </p:nvSpPr>
            <p:spPr>
              <a:xfrm>
                <a:off x="5817058" y="1536810"/>
                <a:ext cx="2731709" cy="424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EC63DBA-E03A-95B9-2C83-91DF69F1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058" y="1536810"/>
                <a:ext cx="2731709" cy="424283"/>
              </a:xfrm>
              <a:prstGeom prst="rect">
                <a:avLst/>
              </a:prstGeom>
              <a:blipFill>
                <a:blip r:embed="rId4"/>
                <a:stretch>
                  <a:fillRect t="-14286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4488E5-E400-D9C4-CBDA-C7ED74B38D1D}"/>
                  </a:ext>
                </a:extLst>
              </p:cNvPr>
              <p:cNvSpPr txBox="1"/>
              <p:nvPr/>
            </p:nvSpPr>
            <p:spPr>
              <a:xfrm>
                <a:off x="9374612" y="1564285"/>
                <a:ext cx="1794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4488E5-E400-D9C4-CBDA-C7ED74B38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612" y="1564285"/>
                <a:ext cx="1794274" cy="369332"/>
              </a:xfrm>
              <a:prstGeom prst="rect">
                <a:avLst/>
              </a:prstGeom>
              <a:blipFill>
                <a:blip r:embed="rId5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F834A4-13DC-A8B0-1B31-A5EE3C3ABEA3}"/>
                  </a:ext>
                </a:extLst>
              </p:cNvPr>
              <p:cNvSpPr txBox="1"/>
              <p:nvPr/>
            </p:nvSpPr>
            <p:spPr>
              <a:xfrm>
                <a:off x="6947236" y="2427310"/>
                <a:ext cx="3256469" cy="4242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F834A4-13DC-A8B0-1B31-A5EE3C3AB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236" y="2427310"/>
                <a:ext cx="3256469" cy="424283"/>
              </a:xfrm>
              <a:prstGeom prst="rect">
                <a:avLst/>
              </a:prstGeom>
              <a:blipFill>
                <a:blip r:embed="rId6"/>
                <a:stretch>
                  <a:fillRect t="-17647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6D99EB-429E-9B87-0BA1-3A25E12CEBAE}"/>
              </a:ext>
            </a:extLst>
          </p:cNvPr>
          <p:cNvCxnSpPr/>
          <p:nvPr/>
        </p:nvCxnSpPr>
        <p:spPr>
          <a:xfrm>
            <a:off x="7482626" y="1961093"/>
            <a:ext cx="1066141" cy="45564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CB9C63-94C2-AD05-302C-8C1290D7E53B}"/>
              </a:ext>
            </a:extLst>
          </p:cNvPr>
          <p:cNvCxnSpPr>
            <a:cxnSpLocks/>
          </p:cNvCxnSpPr>
          <p:nvPr/>
        </p:nvCxnSpPr>
        <p:spPr>
          <a:xfrm flipH="1">
            <a:off x="9491731" y="1933617"/>
            <a:ext cx="605307" cy="51909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D82243-3AE3-8C6E-B56C-8F1F35C8033A}"/>
              </a:ext>
            </a:extLst>
          </p:cNvPr>
          <p:cNvSpPr/>
          <p:nvPr/>
        </p:nvSpPr>
        <p:spPr>
          <a:xfrm>
            <a:off x="450830" y="3532032"/>
            <a:ext cx="6362093" cy="2082903"/>
          </a:xfrm>
          <a:custGeom>
            <a:avLst/>
            <a:gdLst>
              <a:gd name="connsiteX0" fmla="*/ 0 w 6362093"/>
              <a:gd name="connsiteY0" fmla="*/ 347157 h 2082903"/>
              <a:gd name="connsiteX1" fmla="*/ 347157 w 6362093"/>
              <a:gd name="connsiteY1" fmla="*/ 0 h 2082903"/>
              <a:gd name="connsiteX2" fmla="*/ 920232 w 6362093"/>
              <a:gd name="connsiteY2" fmla="*/ 0 h 2082903"/>
              <a:gd name="connsiteX3" fmla="*/ 1379952 w 6362093"/>
              <a:gd name="connsiteY3" fmla="*/ 0 h 2082903"/>
              <a:gd name="connsiteX4" fmla="*/ 2066383 w 6362093"/>
              <a:gd name="connsiteY4" fmla="*/ 0 h 2082903"/>
              <a:gd name="connsiteX5" fmla="*/ 2582781 w 6362093"/>
              <a:gd name="connsiteY5" fmla="*/ 0 h 2082903"/>
              <a:gd name="connsiteX6" fmla="*/ 3042501 w 6362093"/>
              <a:gd name="connsiteY6" fmla="*/ 0 h 2082903"/>
              <a:gd name="connsiteX7" fmla="*/ 3558898 w 6362093"/>
              <a:gd name="connsiteY7" fmla="*/ 0 h 2082903"/>
              <a:gd name="connsiteX8" fmla="*/ 4245329 w 6362093"/>
              <a:gd name="connsiteY8" fmla="*/ 0 h 2082903"/>
              <a:gd name="connsiteX9" fmla="*/ 4761727 w 6362093"/>
              <a:gd name="connsiteY9" fmla="*/ 0 h 2082903"/>
              <a:gd name="connsiteX10" fmla="*/ 5221447 w 6362093"/>
              <a:gd name="connsiteY10" fmla="*/ 0 h 2082903"/>
              <a:gd name="connsiteX11" fmla="*/ 6014936 w 6362093"/>
              <a:gd name="connsiteY11" fmla="*/ 0 h 2082903"/>
              <a:gd name="connsiteX12" fmla="*/ 6362093 w 6362093"/>
              <a:gd name="connsiteY12" fmla="*/ 347157 h 2082903"/>
              <a:gd name="connsiteX13" fmla="*/ 6362093 w 6362093"/>
              <a:gd name="connsiteY13" fmla="*/ 999794 h 2082903"/>
              <a:gd name="connsiteX14" fmla="*/ 6362093 w 6362093"/>
              <a:gd name="connsiteY14" fmla="*/ 1735746 h 2082903"/>
              <a:gd name="connsiteX15" fmla="*/ 6014936 w 6362093"/>
              <a:gd name="connsiteY15" fmla="*/ 2082903 h 2082903"/>
              <a:gd name="connsiteX16" fmla="*/ 5555216 w 6362093"/>
              <a:gd name="connsiteY16" fmla="*/ 2082903 h 2082903"/>
              <a:gd name="connsiteX17" fmla="*/ 4982141 w 6362093"/>
              <a:gd name="connsiteY17" fmla="*/ 2082903 h 2082903"/>
              <a:gd name="connsiteX18" fmla="*/ 4295710 w 6362093"/>
              <a:gd name="connsiteY18" fmla="*/ 2082903 h 2082903"/>
              <a:gd name="connsiteX19" fmla="*/ 3779312 w 6362093"/>
              <a:gd name="connsiteY19" fmla="*/ 2082903 h 2082903"/>
              <a:gd name="connsiteX20" fmla="*/ 3149559 w 6362093"/>
              <a:gd name="connsiteY20" fmla="*/ 2082903 h 2082903"/>
              <a:gd name="connsiteX21" fmla="*/ 2689839 w 6362093"/>
              <a:gd name="connsiteY21" fmla="*/ 2082903 h 2082903"/>
              <a:gd name="connsiteX22" fmla="*/ 1946730 w 6362093"/>
              <a:gd name="connsiteY22" fmla="*/ 2082903 h 2082903"/>
              <a:gd name="connsiteX23" fmla="*/ 1316977 w 6362093"/>
              <a:gd name="connsiteY23" fmla="*/ 2082903 h 2082903"/>
              <a:gd name="connsiteX24" fmla="*/ 347157 w 6362093"/>
              <a:gd name="connsiteY24" fmla="*/ 2082903 h 2082903"/>
              <a:gd name="connsiteX25" fmla="*/ 0 w 6362093"/>
              <a:gd name="connsiteY25" fmla="*/ 1735746 h 2082903"/>
              <a:gd name="connsiteX26" fmla="*/ 0 w 6362093"/>
              <a:gd name="connsiteY26" fmla="*/ 1027566 h 2082903"/>
              <a:gd name="connsiteX27" fmla="*/ 0 w 6362093"/>
              <a:gd name="connsiteY27" fmla="*/ 347157 h 208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362093" h="2082903" fill="none" extrusionOk="0">
                <a:moveTo>
                  <a:pt x="0" y="347157"/>
                </a:moveTo>
                <a:cubicBezTo>
                  <a:pt x="-2277" y="108178"/>
                  <a:pt x="179614" y="15238"/>
                  <a:pt x="347157" y="0"/>
                </a:cubicBezTo>
                <a:cubicBezTo>
                  <a:pt x="508994" y="13683"/>
                  <a:pt x="801164" y="115"/>
                  <a:pt x="920232" y="0"/>
                </a:cubicBezTo>
                <a:cubicBezTo>
                  <a:pt x="1039300" y="-115"/>
                  <a:pt x="1247294" y="-22736"/>
                  <a:pt x="1379952" y="0"/>
                </a:cubicBezTo>
                <a:cubicBezTo>
                  <a:pt x="1512610" y="22736"/>
                  <a:pt x="1804160" y="-28171"/>
                  <a:pt x="2066383" y="0"/>
                </a:cubicBezTo>
                <a:cubicBezTo>
                  <a:pt x="2328606" y="28171"/>
                  <a:pt x="2469910" y="-24726"/>
                  <a:pt x="2582781" y="0"/>
                </a:cubicBezTo>
                <a:cubicBezTo>
                  <a:pt x="2695652" y="24726"/>
                  <a:pt x="2822850" y="12887"/>
                  <a:pt x="3042501" y="0"/>
                </a:cubicBezTo>
                <a:cubicBezTo>
                  <a:pt x="3262152" y="-12887"/>
                  <a:pt x="3373213" y="10967"/>
                  <a:pt x="3558898" y="0"/>
                </a:cubicBezTo>
                <a:cubicBezTo>
                  <a:pt x="3744583" y="-10967"/>
                  <a:pt x="4032420" y="-4409"/>
                  <a:pt x="4245329" y="0"/>
                </a:cubicBezTo>
                <a:cubicBezTo>
                  <a:pt x="4458238" y="4409"/>
                  <a:pt x="4547753" y="12178"/>
                  <a:pt x="4761727" y="0"/>
                </a:cubicBezTo>
                <a:cubicBezTo>
                  <a:pt x="4975701" y="-12178"/>
                  <a:pt x="5115563" y="840"/>
                  <a:pt x="5221447" y="0"/>
                </a:cubicBezTo>
                <a:cubicBezTo>
                  <a:pt x="5327331" y="-840"/>
                  <a:pt x="5698069" y="9662"/>
                  <a:pt x="6014936" y="0"/>
                </a:cubicBezTo>
                <a:cubicBezTo>
                  <a:pt x="6219291" y="30859"/>
                  <a:pt x="6384813" y="177903"/>
                  <a:pt x="6362093" y="347157"/>
                </a:cubicBezTo>
                <a:cubicBezTo>
                  <a:pt x="6393142" y="514578"/>
                  <a:pt x="6378278" y="858132"/>
                  <a:pt x="6362093" y="999794"/>
                </a:cubicBezTo>
                <a:cubicBezTo>
                  <a:pt x="6345908" y="1141456"/>
                  <a:pt x="6331303" y="1555254"/>
                  <a:pt x="6362093" y="1735746"/>
                </a:cubicBezTo>
                <a:cubicBezTo>
                  <a:pt x="6358140" y="1920416"/>
                  <a:pt x="6202411" y="2084880"/>
                  <a:pt x="6014936" y="2082903"/>
                </a:cubicBezTo>
                <a:cubicBezTo>
                  <a:pt x="5790317" y="2082791"/>
                  <a:pt x="5655493" y="2060052"/>
                  <a:pt x="5555216" y="2082903"/>
                </a:cubicBezTo>
                <a:cubicBezTo>
                  <a:pt x="5454939" y="2105754"/>
                  <a:pt x="5248908" y="2056661"/>
                  <a:pt x="4982141" y="2082903"/>
                </a:cubicBezTo>
                <a:cubicBezTo>
                  <a:pt x="4715375" y="2109145"/>
                  <a:pt x="4591732" y="2063032"/>
                  <a:pt x="4295710" y="2082903"/>
                </a:cubicBezTo>
                <a:cubicBezTo>
                  <a:pt x="3999688" y="2102774"/>
                  <a:pt x="3926150" y="2074675"/>
                  <a:pt x="3779312" y="2082903"/>
                </a:cubicBezTo>
                <a:cubicBezTo>
                  <a:pt x="3632474" y="2091131"/>
                  <a:pt x="3287784" y="2059710"/>
                  <a:pt x="3149559" y="2082903"/>
                </a:cubicBezTo>
                <a:cubicBezTo>
                  <a:pt x="3011334" y="2106096"/>
                  <a:pt x="2898662" y="2076796"/>
                  <a:pt x="2689839" y="2082903"/>
                </a:cubicBezTo>
                <a:cubicBezTo>
                  <a:pt x="2481016" y="2089010"/>
                  <a:pt x="2258457" y="2105782"/>
                  <a:pt x="1946730" y="2082903"/>
                </a:cubicBezTo>
                <a:cubicBezTo>
                  <a:pt x="1635003" y="2060024"/>
                  <a:pt x="1582363" y="2090885"/>
                  <a:pt x="1316977" y="2082903"/>
                </a:cubicBezTo>
                <a:cubicBezTo>
                  <a:pt x="1051591" y="2074921"/>
                  <a:pt x="736030" y="2052942"/>
                  <a:pt x="347157" y="2082903"/>
                </a:cubicBezTo>
                <a:cubicBezTo>
                  <a:pt x="159934" y="2092520"/>
                  <a:pt x="-4448" y="1945669"/>
                  <a:pt x="0" y="1735746"/>
                </a:cubicBezTo>
                <a:cubicBezTo>
                  <a:pt x="27846" y="1516160"/>
                  <a:pt x="-76" y="1219184"/>
                  <a:pt x="0" y="1027566"/>
                </a:cubicBezTo>
                <a:cubicBezTo>
                  <a:pt x="76" y="835948"/>
                  <a:pt x="-25668" y="561896"/>
                  <a:pt x="0" y="347157"/>
                </a:cubicBezTo>
                <a:close/>
              </a:path>
              <a:path w="6362093" h="2082903" stroke="0" extrusionOk="0">
                <a:moveTo>
                  <a:pt x="0" y="347157"/>
                </a:moveTo>
                <a:cubicBezTo>
                  <a:pt x="-26996" y="138775"/>
                  <a:pt x="116011" y="14794"/>
                  <a:pt x="347157" y="0"/>
                </a:cubicBezTo>
                <a:cubicBezTo>
                  <a:pt x="517614" y="32992"/>
                  <a:pt x="842981" y="-1771"/>
                  <a:pt x="1090266" y="0"/>
                </a:cubicBezTo>
                <a:cubicBezTo>
                  <a:pt x="1337551" y="1771"/>
                  <a:pt x="1535794" y="-17363"/>
                  <a:pt x="1663341" y="0"/>
                </a:cubicBezTo>
                <a:cubicBezTo>
                  <a:pt x="1790889" y="17363"/>
                  <a:pt x="1921845" y="-200"/>
                  <a:pt x="2179739" y="0"/>
                </a:cubicBezTo>
                <a:cubicBezTo>
                  <a:pt x="2437633" y="200"/>
                  <a:pt x="2622917" y="12623"/>
                  <a:pt x="2866170" y="0"/>
                </a:cubicBezTo>
                <a:cubicBezTo>
                  <a:pt x="3109423" y="-12623"/>
                  <a:pt x="3194541" y="-9553"/>
                  <a:pt x="3439245" y="0"/>
                </a:cubicBezTo>
                <a:cubicBezTo>
                  <a:pt x="3683950" y="9553"/>
                  <a:pt x="3982337" y="1559"/>
                  <a:pt x="4182354" y="0"/>
                </a:cubicBezTo>
                <a:cubicBezTo>
                  <a:pt x="4382371" y="-1559"/>
                  <a:pt x="4537888" y="-11448"/>
                  <a:pt x="4698752" y="0"/>
                </a:cubicBezTo>
                <a:cubicBezTo>
                  <a:pt x="4859616" y="11448"/>
                  <a:pt x="5094365" y="23183"/>
                  <a:pt x="5441861" y="0"/>
                </a:cubicBezTo>
                <a:cubicBezTo>
                  <a:pt x="5789357" y="-23183"/>
                  <a:pt x="5880691" y="2271"/>
                  <a:pt x="6014936" y="0"/>
                </a:cubicBezTo>
                <a:cubicBezTo>
                  <a:pt x="6193467" y="-755"/>
                  <a:pt x="6368914" y="136723"/>
                  <a:pt x="6362093" y="347157"/>
                </a:cubicBezTo>
                <a:cubicBezTo>
                  <a:pt x="6394584" y="568512"/>
                  <a:pt x="6369664" y="782575"/>
                  <a:pt x="6362093" y="1055337"/>
                </a:cubicBezTo>
                <a:cubicBezTo>
                  <a:pt x="6354522" y="1328099"/>
                  <a:pt x="6356746" y="1489457"/>
                  <a:pt x="6362093" y="1735746"/>
                </a:cubicBezTo>
                <a:cubicBezTo>
                  <a:pt x="6373476" y="1913346"/>
                  <a:pt x="6167622" y="2067810"/>
                  <a:pt x="6014936" y="2082903"/>
                </a:cubicBezTo>
                <a:cubicBezTo>
                  <a:pt x="5834735" y="2106316"/>
                  <a:pt x="5556408" y="2081893"/>
                  <a:pt x="5385183" y="2082903"/>
                </a:cubicBezTo>
                <a:cubicBezTo>
                  <a:pt x="5213958" y="2083913"/>
                  <a:pt x="5005386" y="2060086"/>
                  <a:pt x="4642074" y="2082903"/>
                </a:cubicBezTo>
                <a:cubicBezTo>
                  <a:pt x="4278762" y="2105720"/>
                  <a:pt x="4256390" y="2075646"/>
                  <a:pt x="4012321" y="2082903"/>
                </a:cubicBezTo>
                <a:cubicBezTo>
                  <a:pt x="3768252" y="2090160"/>
                  <a:pt x="3725984" y="2083334"/>
                  <a:pt x="3552601" y="2082903"/>
                </a:cubicBezTo>
                <a:cubicBezTo>
                  <a:pt x="3379218" y="2082472"/>
                  <a:pt x="3276515" y="2107652"/>
                  <a:pt x="3036203" y="2082903"/>
                </a:cubicBezTo>
                <a:cubicBezTo>
                  <a:pt x="2795891" y="2058154"/>
                  <a:pt x="2605226" y="2066649"/>
                  <a:pt x="2293094" y="2082903"/>
                </a:cubicBezTo>
                <a:cubicBezTo>
                  <a:pt x="1980962" y="2099157"/>
                  <a:pt x="1802263" y="2102524"/>
                  <a:pt x="1663341" y="2082903"/>
                </a:cubicBezTo>
                <a:cubicBezTo>
                  <a:pt x="1524419" y="2063282"/>
                  <a:pt x="1315624" y="2080369"/>
                  <a:pt x="1146944" y="2082903"/>
                </a:cubicBezTo>
                <a:cubicBezTo>
                  <a:pt x="978264" y="2085437"/>
                  <a:pt x="647112" y="2079449"/>
                  <a:pt x="347157" y="2082903"/>
                </a:cubicBezTo>
                <a:cubicBezTo>
                  <a:pt x="129474" y="2081434"/>
                  <a:pt x="8068" y="1934422"/>
                  <a:pt x="0" y="1735746"/>
                </a:cubicBezTo>
                <a:cubicBezTo>
                  <a:pt x="-12056" y="1561734"/>
                  <a:pt x="-8821" y="1196966"/>
                  <a:pt x="0" y="1041452"/>
                </a:cubicBezTo>
                <a:cubicBezTo>
                  <a:pt x="8821" y="885938"/>
                  <a:pt x="-4853" y="608453"/>
                  <a:pt x="0" y="347157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with Force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3FCCBB-9432-07C3-015E-9E6307D19ACA}"/>
                  </a:ext>
                </a:extLst>
              </p:cNvPr>
              <p:cNvSpPr txBox="1"/>
              <p:nvPr/>
            </p:nvSpPr>
            <p:spPr>
              <a:xfrm>
                <a:off x="566742" y="4114672"/>
                <a:ext cx="2330382" cy="4253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𝑓𝑜𝑟𝑐𝑒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3FCCBB-9432-07C3-015E-9E6307D19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42" y="4114672"/>
                <a:ext cx="2330382" cy="425373"/>
              </a:xfrm>
              <a:prstGeom prst="rect">
                <a:avLst/>
              </a:prstGeom>
              <a:blipFill>
                <a:blip r:embed="rId7"/>
                <a:stretch>
                  <a:fillRect t="-17647" b="-2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09C3B7-A402-C249-5066-7A96FF797ABD}"/>
                  </a:ext>
                </a:extLst>
              </p:cNvPr>
              <p:cNvSpPr txBox="1"/>
              <p:nvPr/>
            </p:nvSpPr>
            <p:spPr>
              <a:xfrm>
                <a:off x="4124296" y="4142147"/>
                <a:ext cx="1794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09C3B7-A402-C249-5066-7A96FF797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96" y="4142147"/>
                <a:ext cx="1794274" cy="369332"/>
              </a:xfrm>
              <a:prstGeom prst="rect">
                <a:avLst/>
              </a:prstGeom>
              <a:blipFill>
                <a:blip r:embed="rId8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FB5BD8-DEB5-C788-13B6-151DBCC9E437}"/>
                  </a:ext>
                </a:extLst>
              </p:cNvPr>
              <p:cNvSpPr txBox="1"/>
              <p:nvPr/>
            </p:nvSpPr>
            <p:spPr>
              <a:xfrm>
                <a:off x="3760140" y="4878290"/>
                <a:ext cx="2962221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FB5BD8-DEB5-C788-13B6-151DBCC9E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140" y="4878290"/>
                <a:ext cx="2962221" cy="486608"/>
              </a:xfrm>
              <a:prstGeom prst="rect">
                <a:avLst/>
              </a:prstGeom>
              <a:blipFill>
                <a:blip r:embed="rId9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395122-0B58-624E-C39D-AB3DF464E65B}"/>
              </a:ext>
            </a:extLst>
          </p:cNvPr>
          <p:cNvCxnSpPr>
            <a:cxnSpLocks/>
          </p:cNvCxnSpPr>
          <p:nvPr/>
        </p:nvCxnSpPr>
        <p:spPr>
          <a:xfrm>
            <a:off x="1258606" y="4568337"/>
            <a:ext cx="257577" cy="334851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7D07E9-51A7-C8A8-76D6-2774928C2DC5}"/>
                  </a:ext>
                </a:extLst>
              </p:cNvPr>
              <p:cNvSpPr txBox="1"/>
              <p:nvPr/>
            </p:nvSpPr>
            <p:spPr>
              <a:xfrm>
                <a:off x="828437" y="4834186"/>
                <a:ext cx="2506648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07D07E9-51A7-C8A8-76D6-2774928C2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37" y="4834186"/>
                <a:ext cx="2506648" cy="486608"/>
              </a:xfrm>
              <a:prstGeom prst="rect">
                <a:avLst/>
              </a:prstGeom>
              <a:blipFill>
                <a:blip r:embed="rId10"/>
                <a:stretch>
                  <a:fillRect t="-25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D01E05-F067-79FF-4D47-D2DA36E88A6D}"/>
              </a:ext>
            </a:extLst>
          </p:cNvPr>
          <p:cNvCxnSpPr>
            <a:cxnSpLocks/>
          </p:cNvCxnSpPr>
          <p:nvPr/>
        </p:nvCxnSpPr>
        <p:spPr>
          <a:xfrm>
            <a:off x="3316992" y="5059861"/>
            <a:ext cx="425055" cy="12346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B2E3B2C-1AD0-6DD7-6414-EE5EA3DDE240}"/>
              </a:ext>
            </a:extLst>
          </p:cNvPr>
          <p:cNvCxnSpPr>
            <a:cxnSpLocks/>
          </p:cNvCxnSpPr>
          <p:nvPr/>
        </p:nvCxnSpPr>
        <p:spPr>
          <a:xfrm>
            <a:off x="4829576" y="4540045"/>
            <a:ext cx="191857" cy="363143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A5DC2F0-7F09-D1AF-448C-BAB916A00AFC}"/>
              </a:ext>
            </a:extLst>
          </p:cNvPr>
          <p:cNvSpPr/>
          <p:nvPr/>
        </p:nvSpPr>
        <p:spPr>
          <a:xfrm>
            <a:off x="1593273" y="6072230"/>
            <a:ext cx="9575613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VPT math uses basic transformation matrices and variable exchanges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781BC78-9A8D-3886-69F4-6E597DDDE318}"/>
              </a:ext>
            </a:extLst>
          </p:cNvPr>
          <p:cNvSpPr/>
          <p:nvPr/>
        </p:nvSpPr>
        <p:spPr>
          <a:xfrm>
            <a:off x="7190530" y="3820927"/>
            <a:ext cx="4434728" cy="1362399"/>
          </a:xfrm>
          <a:custGeom>
            <a:avLst/>
            <a:gdLst>
              <a:gd name="connsiteX0" fmla="*/ 0 w 4434728"/>
              <a:gd name="connsiteY0" fmla="*/ 227071 h 1362399"/>
              <a:gd name="connsiteX1" fmla="*/ 227071 w 4434728"/>
              <a:gd name="connsiteY1" fmla="*/ 0 h 1362399"/>
              <a:gd name="connsiteX2" fmla="*/ 930308 w 4434728"/>
              <a:gd name="connsiteY2" fmla="*/ 0 h 1362399"/>
              <a:gd name="connsiteX3" fmla="*/ 1474321 w 4434728"/>
              <a:gd name="connsiteY3" fmla="*/ 0 h 1362399"/>
              <a:gd name="connsiteX4" fmla="*/ 2137752 w 4434728"/>
              <a:gd name="connsiteY4" fmla="*/ 0 h 1362399"/>
              <a:gd name="connsiteX5" fmla="*/ 2721572 w 4434728"/>
              <a:gd name="connsiteY5" fmla="*/ 0 h 1362399"/>
              <a:gd name="connsiteX6" fmla="*/ 3424808 w 4434728"/>
              <a:gd name="connsiteY6" fmla="*/ 0 h 1362399"/>
              <a:gd name="connsiteX7" fmla="*/ 4207657 w 4434728"/>
              <a:gd name="connsiteY7" fmla="*/ 0 h 1362399"/>
              <a:gd name="connsiteX8" fmla="*/ 4434728 w 4434728"/>
              <a:gd name="connsiteY8" fmla="*/ 227071 h 1362399"/>
              <a:gd name="connsiteX9" fmla="*/ 4434728 w 4434728"/>
              <a:gd name="connsiteY9" fmla="*/ 681200 h 1362399"/>
              <a:gd name="connsiteX10" fmla="*/ 4434728 w 4434728"/>
              <a:gd name="connsiteY10" fmla="*/ 1135328 h 1362399"/>
              <a:gd name="connsiteX11" fmla="*/ 4207657 w 4434728"/>
              <a:gd name="connsiteY11" fmla="*/ 1362399 h 1362399"/>
              <a:gd name="connsiteX12" fmla="*/ 3464614 w 4434728"/>
              <a:gd name="connsiteY12" fmla="*/ 1362399 h 1362399"/>
              <a:gd name="connsiteX13" fmla="*/ 2880795 w 4434728"/>
              <a:gd name="connsiteY13" fmla="*/ 1362399 h 1362399"/>
              <a:gd name="connsiteX14" fmla="*/ 2336782 w 4434728"/>
              <a:gd name="connsiteY14" fmla="*/ 1362399 h 1362399"/>
              <a:gd name="connsiteX15" fmla="*/ 1752962 w 4434728"/>
              <a:gd name="connsiteY15" fmla="*/ 1362399 h 1362399"/>
              <a:gd name="connsiteX16" fmla="*/ 1129337 w 4434728"/>
              <a:gd name="connsiteY16" fmla="*/ 1362399 h 1362399"/>
              <a:gd name="connsiteX17" fmla="*/ 227071 w 4434728"/>
              <a:gd name="connsiteY17" fmla="*/ 1362399 h 1362399"/>
              <a:gd name="connsiteX18" fmla="*/ 0 w 4434728"/>
              <a:gd name="connsiteY18" fmla="*/ 1135328 h 1362399"/>
              <a:gd name="connsiteX19" fmla="*/ 0 w 4434728"/>
              <a:gd name="connsiteY19" fmla="*/ 663034 h 1362399"/>
              <a:gd name="connsiteX20" fmla="*/ 0 w 4434728"/>
              <a:gd name="connsiteY20" fmla="*/ 227071 h 1362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34728" h="1362399" fill="none" extrusionOk="0">
                <a:moveTo>
                  <a:pt x="0" y="227071"/>
                </a:moveTo>
                <a:cubicBezTo>
                  <a:pt x="10119" y="121699"/>
                  <a:pt x="78330" y="12305"/>
                  <a:pt x="227071" y="0"/>
                </a:cubicBezTo>
                <a:cubicBezTo>
                  <a:pt x="485211" y="32019"/>
                  <a:pt x="751796" y="-4621"/>
                  <a:pt x="930308" y="0"/>
                </a:cubicBezTo>
                <a:cubicBezTo>
                  <a:pt x="1108820" y="4621"/>
                  <a:pt x="1267209" y="17866"/>
                  <a:pt x="1474321" y="0"/>
                </a:cubicBezTo>
                <a:cubicBezTo>
                  <a:pt x="1681433" y="-17866"/>
                  <a:pt x="1816333" y="12628"/>
                  <a:pt x="2137752" y="0"/>
                </a:cubicBezTo>
                <a:cubicBezTo>
                  <a:pt x="2459171" y="-12628"/>
                  <a:pt x="2541847" y="18010"/>
                  <a:pt x="2721572" y="0"/>
                </a:cubicBezTo>
                <a:cubicBezTo>
                  <a:pt x="2901297" y="-18010"/>
                  <a:pt x="3102493" y="-9334"/>
                  <a:pt x="3424808" y="0"/>
                </a:cubicBezTo>
                <a:cubicBezTo>
                  <a:pt x="3747123" y="9334"/>
                  <a:pt x="3867158" y="38640"/>
                  <a:pt x="4207657" y="0"/>
                </a:cubicBezTo>
                <a:cubicBezTo>
                  <a:pt x="4323552" y="29657"/>
                  <a:pt x="4430999" y="89921"/>
                  <a:pt x="4434728" y="227071"/>
                </a:cubicBezTo>
                <a:cubicBezTo>
                  <a:pt x="4448216" y="403113"/>
                  <a:pt x="4423679" y="516039"/>
                  <a:pt x="4434728" y="681200"/>
                </a:cubicBezTo>
                <a:cubicBezTo>
                  <a:pt x="4445777" y="846361"/>
                  <a:pt x="4412648" y="1028114"/>
                  <a:pt x="4434728" y="1135328"/>
                </a:cubicBezTo>
                <a:cubicBezTo>
                  <a:pt x="4412093" y="1273428"/>
                  <a:pt x="4338455" y="1377003"/>
                  <a:pt x="4207657" y="1362399"/>
                </a:cubicBezTo>
                <a:cubicBezTo>
                  <a:pt x="4008533" y="1364951"/>
                  <a:pt x="3626894" y="1382702"/>
                  <a:pt x="3464614" y="1362399"/>
                </a:cubicBezTo>
                <a:cubicBezTo>
                  <a:pt x="3302334" y="1342096"/>
                  <a:pt x="3052025" y="1377405"/>
                  <a:pt x="2880795" y="1362399"/>
                </a:cubicBezTo>
                <a:cubicBezTo>
                  <a:pt x="2709565" y="1347393"/>
                  <a:pt x="2454068" y="1384368"/>
                  <a:pt x="2336782" y="1362399"/>
                </a:cubicBezTo>
                <a:cubicBezTo>
                  <a:pt x="2219496" y="1340430"/>
                  <a:pt x="2034190" y="1378166"/>
                  <a:pt x="1752962" y="1362399"/>
                </a:cubicBezTo>
                <a:cubicBezTo>
                  <a:pt x="1471734" y="1346632"/>
                  <a:pt x="1305307" y="1349617"/>
                  <a:pt x="1129337" y="1362399"/>
                </a:cubicBezTo>
                <a:cubicBezTo>
                  <a:pt x="953367" y="1375181"/>
                  <a:pt x="646246" y="1371881"/>
                  <a:pt x="227071" y="1362399"/>
                </a:cubicBezTo>
                <a:cubicBezTo>
                  <a:pt x="81455" y="1382459"/>
                  <a:pt x="19198" y="1265045"/>
                  <a:pt x="0" y="1135328"/>
                </a:cubicBezTo>
                <a:cubicBezTo>
                  <a:pt x="5843" y="991397"/>
                  <a:pt x="18633" y="760045"/>
                  <a:pt x="0" y="663034"/>
                </a:cubicBezTo>
                <a:cubicBezTo>
                  <a:pt x="-18633" y="566023"/>
                  <a:pt x="-10216" y="432466"/>
                  <a:pt x="0" y="227071"/>
                </a:cubicBezTo>
                <a:close/>
              </a:path>
              <a:path w="4434728" h="1362399" stroke="0" extrusionOk="0">
                <a:moveTo>
                  <a:pt x="0" y="227071"/>
                </a:moveTo>
                <a:cubicBezTo>
                  <a:pt x="-9354" y="95893"/>
                  <a:pt x="89713" y="4485"/>
                  <a:pt x="227071" y="0"/>
                </a:cubicBezTo>
                <a:cubicBezTo>
                  <a:pt x="403944" y="20060"/>
                  <a:pt x="758041" y="-36693"/>
                  <a:pt x="970114" y="0"/>
                </a:cubicBezTo>
                <a:cubicBezTo>
                  <a:pt x="1182187" y="36693"/>
                  <a:pt x="1334427" y="-8835"/>
                  <a:pt x="1593739" y="0"/>
                </a:cubicBezTo>
                <a:cubicBezTo>
                  <a:pt x="1853052" y="8835"/>
                  <a:pt x="1891513" y="-17747"/>
                  <a:pt x="2177558" y="0"/>
                </a:cubicBezTo>
                <a:cubicBezTo>
                  <a:pt x="2463603" y="17747"/>
                  <a:pt x="2725621" y="27851"/>
                  <a:pt x="2880795" y="0"/>
                </a:cubicBezTo>
                <a:cubicBezTo>
                  <a:pt x="3035969" y="-27851"/>
                  <a:pt x="3374039" y="-28753"/>
                  <a:pt x="3504420" y="0"/>
                </a:cubicBezTo>
                <a:cubicBezTo>
                  <a:pt x="3634801" y="28753"/>
                  <a:pt x="3918166" y="-18854"/>
                  <a:pt x="4207657" y="0"/>
                </a:cubicBezTo>
                <a:cubicBezTo>
                  <a:pt x="4330047" y="-28782"/>
                  <a:pt x="4416771" y="126618"/>
                  <a:pt x="4434728" y="227071"/>
                </a:cubicBezTo>
                <a:cubicBezTo>
                  <a:pt x="4444687" y="318292"/>
                  <a:pt x="4435899" y="560220"/>
                  <a:pt x="4434728" y="663034"/>
                </a:cubicBezTo>
                <a:cubicBezTo>
                  <a:pt x="4433557" y="765848"/>
                  <a:pt x="4451332" y="924871"/>
                  <a:pt x="4434728" y="1135328"/>
                </a:cubicBezTo>
                <a:cubicBezTo>
                  <a:pt x="4445976" y="1277480"/>
                  <a:pt x="4334023" y="1372317"/>
                  <a:pt x="4207657" y="1362399"/>
                </a:cubicBezTo>
                <a:cubicBezTo>
                  <a:pt x="4023715" y="1337170"/>
                  <a:pt x="3790059" y="1367752"/>
                  <a:pt x="3663644" y="1362399"/>
                </a:cubicBezTo>
                <a:cubicBezTo>
                  <a:pt x="3537229" y="1357046"/>
                  <a:pt x="3224829" y="1337579"/>
                  <a:pt x="2920601" y="1362399"/>
                </a:cubicBezTo>
                <a:cubicBezTo>
                  <a:pt x="2616373" y="1387219"/>
                  <a:pt x="2477372" y="1367270"/>
                  <a:pt x="2336782" y="1362399"/>
                </a:cubicBezTo>
                <a:cubicBezTo>
                  <a:pt x="2196192" y="1357528"/>
                  <a:pt x="1953941" y="1344169"/>
                  <a:pt x="1673351" y="1362399"/>
                </a:cubicBezTo>
                <a:cubicBezTo>
                  <a:pt x="1392761" y="1380629"/>
                  <a:pt x="1188983" y="1367058"/>
                  <a:pt x="930308" y="1362399"/>
                </a:cubicBezTo>
                <a:cubicBezTo>
                  <a:pt x="671633" y="1357740"/>
                  <a:pt x="510321" y="1387110"/>
                  <a:pt x="227071" y="1362399"/>
                </a:cubicBezTo>
                <a:cubicBezTo>
                  <a:pt x="93316" y="1377323"/>
                  <a:pt x="5843" y="1265078"/>
                  <a:pt x="0" y="1135328"/>
                </a:cubicBezTo>
                <a:cubicBezTo>
                  <a:pt x="-8335" y="920197"/>
                  <a:pt x="-15329" y="855530"/>
                  <a:pt x="0" y="699365"/>
                </a:cubicBezTo>
                <a:cubicBezTo>
                  <a:pt x="15329" y="543200"/>
                  <a:pt x="22208" y="371796"/>
                  <a:pt x="0" y="22707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FRF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FF862B-8F8C-15C2-7C88-A272A8C714BF}"/>
                  </a:ext>
                </a:extLst>
              </p:cNvPr>
              <p:cNvSpPr txBox="1"/>
              <p:nvPr/>
            </p:nvSpPr>
            <p:spPr>
              <a:xfrm>
                <a:off x="7535811" y="4408310"/>
                <a:ext cx="3911840" cy="4866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𝑓𝑜𝑟𝑐𝑒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6FF862B-8F8C-15C2-7C88-A272A8C71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5811" y="4408310"/>
                <a:ext cx="3911840" cy="486608"/>
              </a:xfrm>
              <a:prstGeom prst="rect">
                <a:avLst/>
              </a:prstGeom>
              <a:blipFill>
                <a:blip r:embed="rId11"/>
                <a:stretch>
                  <a:fillRect t="-2564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71B26C1-7D0F-38BB-D0C9-2340F12ADA95}"/>
              </a:ext>
            </a:extLst>
          </p:cNvPr>
          <p:cNvCxnSpPr>
            <a:cxnSpLocks/>
          </p:cNvCxnSpPr>
          <p:nvPr/>
        </p:nvCxnSpPr>
        <p:spPr>
          <a:xfrm>
            <a:off x="7535811" y="2974991"/>
            <a:ext cx="373487" cy="149078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2055F26-C4F5-3A50-B61E-F61711BD7739}"/>
              </a:ext>
            </a:extLst>
          </p:cNvPr>
          <p:cNvCxnSpPr>
            <a:cxnSpLocks/>
          </p:cNvCxnSpPr>
          <p:nvPr/>
        </p:nvCxnSpPr>
        <p:spPr>
          <a:xfrm flipV="1">
            <a:off x="6555346" y="4735762"/>
            <a:ext cx="857715" cy="16742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548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F97B-6070-56B5-2D8C-FE27D65C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0FAA2-AAF7-DAF8-FC7A-04EE75FFA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2575775"/>
            <a:ext cx="8021537" cy="33426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Most VPT applications only use rigid body shapes </a:t>
            </a:r>
          </a:p>
          <a:p>
            <a:pPr lvl="1"/>
            <a:r>
              <a:rPr lang="en-US" i="1" dirty="0"/>
              <a:t>This is the same as a kinematic transformation</a:t>
            </a:r>
          </a:p>
          <a:p>
            <a:endParaRPr lang="en-US" dirty="0"/>
          </a:p>
          <a:p>
            <a:r>
              <a:rPr lang="en-US" dirty="0"/>
              <a:t>There is some interest in using elastic shapes </a:t>
            </a:r>
          </a:p>
          <a:p>
            <a:pPr lvl="1"/>
            <a:r>
              <a:rPr lang="en-US" i="1" dirty="0"/>
              <a:t>Which elastic shapes are important for interface dynamics?</a:t>
            </a:r>
          </a:p>
          <a:p>
            <a:pPr lvl="1"/>
            <a:r>
              <a:rPr lang="en-US" i="1" dirty="0"/>
              <a:t>How do we get consistent coupling DOFs between structures?</a:t>
            </a:r>
          </a:p>
          <a:p>
            <a:endParaRPr lang="en-US" i="1" dirty="0"/>
          </a:p>
          <a:p>
            <a:r>
              <a:rPr lang="en-US" dirty="0"/>
              <a:t>Need to make sure that the selected shapes capture the interface 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51F502-8145-6FE0-0C08-A4AF10244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965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082C10-04A2-5FBA-6B74-EC8616BBD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735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4D42E659-7361-FBF9-CBD9-78C95B629E9E}"/>
              </a:ext>
            </a:extLst>
          </p:cNvPr>
          <p:cNvSpPr/>
          <p:nvPr/>
        </p:nvSpPr>
        <p:spPr>
          <a:xfrm>
            <a:off x="9126811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E61E75-AB83-4931-0310-D002737772BE}"/>
              </a:ext>
            </a:extLst>
          </p:cNvPr>
          <p:cNvSpPr/>
          <p:nvPr/>
        </p:nvSpPr>
        <p:spPr>
          <a:xfrm>
            <a:off x="602673" y="883227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transformations are built as mode shapes about the virtual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54B231-A537-CB7B-A1E4-68A63737A024}"/>
                  </a:ext>
                </a:extLst>
              </p:cNvPr>
              <p:cNvSpPr txBox="1"/>
              <p:nvPr/>
            </p:nvSpPr>
            <p:spPr>
              <a:xfrm>
                <a:off x="602673" y="1809025"/>
                <a:ext cx="3185744" cy="494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A54B231-A537-CB7B-A1E4-68A63737A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73" y="1809025"/>
                <a:ext cx="3185744" cy="494944"/>
              </a:xfrm>
              <a:prstGeom prst="rect">
                <a:avLst/>
              </a:prstGeom>
              <a:blipFill>
                <a:blip r:embed="rId4"/>
                <a:stretch>
                  <a:fillRect t="-150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B9F154-3B9C-8BC2-EBA9-DCEF5B228D6A}"/>
                  </a:ext>
                </a:extLst>
              </p:cNvPr>
              <p:cNvSpPr txBox="1"/>
              <p:nvPr/>
            </p:nvSpPr>
            <p:spPr>
              <a:xfrm>
                <a:off x="5362832" y="1841054"/>
                <a:ext cx="23769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8B9F154-3B9C-8BC2-EBA9-DCEF5B228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832" y="1841054"/>
                <a:ext cx="2376933" cy="430887"/>
              </a:xfrm>
              <a:prstGeom prst="rect">
                <a:avLst/>
              </a:prstGeom>
              <a:blipFill>
                <a:blip r:embed="rId5"/>
                <a:stretch>
                  <a:fillRect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8C696638-0999-4E5C-FAFF-6641DAE0D9CE}"/>
              </a:ext>
            </a:extLst>
          </p:cNvPr>
          <p:cNvSpPr/>
          <p:nvPr/>
        </p:nvSpPr>
        <p:spPr>
          <a:xfrm>
            <a:off x="3952108" y="1781653"/>
            <a:ext cx="1247033" cy="5496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04D135-9BDA-1C16-A919-B5551B62F1EB}"/>
              </a:ext>
            </a:extLst>
          </p:cNvPr>
          <p:cNvSpPr/>
          <p:nvPr/>
        </p:nvSpPr>
        <p:spPr>
          <a:xfrm>
            <a:off x="105031" y="2379925"/>
            <a:ext cx="7927142" cy="33426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29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EA97D-CA1D-0DC8-3F60-EC59F887D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C831-E52A-0AD8-51DE-52F9890A7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81ED9-FBD8-6BBD-4BA4-DFBDA965D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2575775"/>
            <a:ext cx="8021537" cy="33426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Most VPT applications only use rigid body shapes </a:t>
            </a:r>
          </a:p>
          <a:p>
            <a:pPr lvl="1"/>
            <a:r>
              <a:rPr lang="en-US" i="1" dirty="0"/>
              <a:t>This is the same as a kinematic transformation</a:t>
            </a:r>
          </a:p>
          <a:p>
            <a:endParaRPr lang="en-US" dirty="0"/>
          </a:p>
          <a:p>
            <a:r>
              <a:rPr lang="en-US" dirty="0"/>
              <a:t>There is some interest in using elastic shapes </a:t>
            </a:r>
          </a:p>
          <a:p>
            <a:pPr lvl="1"/>
            <a:r>
              <a:rPr lang="en-US" i="1" dirty="0"/>
              <a:t>Which elastic shapes are important for interface dynamics?</a:t>
            </a:r>
          </a:p>
          <a:p>
            <a:pPr lvl="1"/>
            <a:r>
              <a:rPr lang="en-US" i="1" dirty="0"/>
              <a:t>How do we get consistent coupling DOFs between structures?</a:t>
            </a:r>
          </a:p>
          <a:p>
            <a:endParaRPr lang="en-US" i="1" dirty="0"/>
          </a:p>
          <a:p>
            <a:r>
              <a:rPr lang="en-US" dirty="0"/>
              <a:t>Need to make sure that the selected shapes capture the interface 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373707-B8A5-5ABA-B847-6F8E5F01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965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3081C5-24A9-9773-BB93-76EAF4F90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735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DBD7A5E8-AD9B-7F2F-563D-84CAF3893D59}"/>
              </a:ext>
            </a:extLst>
          </p:cNvPr>
          <p:cNvSpPr/>
          <p:nvPr/>
        </p:nvSpPr>
        <p:spPr>
          <a:xfrm>
            <a:off x="9126811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F18B075-C17F-3AA1-145A-03941625A240}"/>
              </a:ext>
            </a:extLst>
          </p:cNvPr>
          <p:cNvSpPr/>
          <p:nvPr/>
        </p:nvSpPr>
        <p:spPr>
          <a:xfrm>
            <a:off x="602673" y="883227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transformations are built as mode shapes about the virtual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ABDF33-D8C2-B6E7-61C4-61645B3AF33C}"/>
                  </a:ext>
                </a:extLst>
              </p:cNvPr>
              <p:cNvSpPr txBox="1"/>
              <p:nvPr/>
            </p:nvSpPr>
            <p:spPr>
              <a:xfrm>
                <a:off x="602673" y="1809025"/>
                <a:ext cx="3185744" cy="494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ABDF33-D8C2-B6E7-61C4-61645B3AF3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73" y="1809025"/>
                <a:ext cx="3185744" cy="494944"/>
              </a:xfrm>
              <a:prstGeom prst="rect">
                <a:avLst/>
              </a:prstGeom>
              <a:blipFill>
                <a:blip r:embed="rId4"/>
                <a:stretch>
                  <a:fillRect t="-150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A4F99F-35B5-0DEB-4BF4-8CAEC9C748AB}"/>
                  </a:ext>
                </a:extLst>
              </p:cNvPr>
              <p:cNvSpPr txBox="1"/>
              <p:nvPr/>
            </p:nvSpPr>
            <p:spPr>
              <a:xfrm>
                <a:off x="5362832" y="1841054"/>
                <a:ext cx="23769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A4F99F-35B5-0DEB-4BF4-8CAEC9C74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832" y="1841054"/>
                <a:ext cx="2376933" cy="430887"/>
              </a:xfrm>
              <a:prstGeom prst="rect">
                <a:avLst/>
              </a:prstGeom>
              <a:blipFill>
                <a:blip r:embed="rId5"/>
                <a:stretch>
                  <a:fillRect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09EE8189-B107-9249-7119-6D730E20A091}"/>
              </a:ext>
            </a:extLst>
          </p:cNvPr>
          <p:cNvSpPr/>
          <p:nvPr/>
        </p:nvSpPr>
        <p:spPr>
          <a:xfrm>
            <a:off x="3952108" y="1781653"/>
            <a:ext cx="1247033" cy="5496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676963-FE7B-D963-FA29-632D1E26DF94}"/>
              </a:ext>
            </a:extLst>
          </p:cNvPr>
          <p:cNvSpPr/>
          <p:nvPr/>
        </p:nvSpPr>
        <p:spPr>
          <a:xfrm>
            <a:off x="105031" y="3413771"/>
            <a:ext cx="7927142" cy="2308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5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6C46C-89BE-8734-ADFA-47FEF375D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25D6-6579-DAFA-7CD5-D9149037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800B7-E756-015C-0541-4811CB628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2575775"/>
            <a:ext cx="8021537" cy="33426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Most VPT applications only use rigid body shapes </a:t>
            </a:r>
          </a:p>
          <a:p>
            <a:pPr lvl="1"/>
            <a:r>
              <a:rPr lang="en-US" i="1" dirty="0"/>
              <a:t>This is the same as a kinematic transformation</a:t>
            </a:r>
          </a:p>
          <a:p>
            <a:endParaRPr lang="en-US" dirty="0"/>
          </a:p>
          <a:p>
            <a:r>
              <a:rPr lang="en-US" dirty="0"/>
              <a:t>There is some interest in using elastic shapes </a:t>
            </a:r>
          </a:p>
          <a:p>
            <a:pPr lvl="1"/>
            <a:r>
              <a:rPr lang="en-US" i="1" dirty="0"/>
              <a:t>Which elastic shapes are important for interface dynamics?</a:t>
            </a:r>
          </a:p>
          <a:p>
            <a:pPr lvl="1"/>
            <a:r>
              <a:rPr lang="en-US" i="1" dirty="0"/>
              <a:t>How do we get consistent coupling DOFs between structures?</a:t>
            </a:r>
          </a:p>
          <a:p>
            <a:endParaRPr lang="en-US" i="1" dirty="0"/>
          </a:p>
          <a:p>
            <a:r>
              <a:rPr lang="en-US" dirty="0"/>
              <a:t>Need to make sure that the selected shapes capture the interface 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172FE1-D3D3-37E7-8BD2-C1D703C50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965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6EF34E-F679-26D5-B27A-F4A36D6FC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735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4E2AC23E-B61D-17A3-DC87-C5055346F59C}"/>
              </a:ext>
            </a:extLst>
          </p:cNvPr>
          <p:cNvSpPr/>
          <p:nvPr/>
        </p:nvSpPr>
        <p:spPr>
          <a:xfrm>
            <a:off x="9126811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21130D8-D08F-8C2F-5633-3FE771733DE2}"/>
              </a:ext>
            </a:extLst>
          </p:cNvPr>
          <p:cNvSpPr/>
          <p:nvPr/>
        </p:nvSpPr>
        <p:spPr>
          <a:xfrm>
            <a:off x="602673" y="883227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transformations are built as mode shapes about the virtual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07BFDF-7FF6-8771-7CCA-216A744BF76B}"/>
                  </a:ext>
                </a:extLst>
              </p:cNvPr>
              <p:cNvSpPr txBox="1"/>
              <p:nvPr/>
            </p:nvSpPr>
            <p:spPr>
              <a:xfrm>
                <a:off x="602673" y="1809025"/>
                <a:ext cx="3185744" cy="494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07BFDF-7FF6-8771-7CCA-216A744BF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73" y="1809025"/>
                <a:ext cx="3185744" cy="494944"/>
              </a:xfrm>
              <a:prstGeom prst="rect">
                <a:avLst/>
              </a:prstGeom>
              <a:blipFill>
                <a:blip r:embed="rId4"/>
                <a:stretch>
                  <a:fillRect t="-150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DACFAF-3A22-55E2-C304-1EAB9D25189C}"/>
                  </a:ext>
                </a:extLst>
              </p:cNvPr>
              <p:cNvSpPr txBox="1"/>
              <p:nvPr/>
            </p:nvSpPr>
            <p:spPr>
              <a:xfrm>
                <a:off x="5362832" y="1841054"/>
                <a:ext cx="23769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DACFAF-3A22-55E2-C304-1EAB9D251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832" y="1841054"/>
                <a:ext cx="2376933" cy="430887"/>
              </a:xfrm>
              <a:prstGeom prst="rect">
                <a:avLst/>
              </a:prstGeom>
              <a:blipFill>
                <a:blip r:embed="rId5"/>
                <a:stretch>
                  <a:fillRect b="-2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100ABF32-B3A6-8558-A105-2B97C636AEA8}"/>
              </a:ext>
            </a:extLst>
          </p:cNvPr>
          <p:cNvSpPr/>
          <p:nvPr/>
        </p:nvSpPr>
        <p:spPr>
          <a:xfrm>
            <a:off x="3952108" y="1781653"/>
            <a:ext cx="1247033" cy="5496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4751CF-9639-4195-E907-93C0ECDA5CE3}"/>
              </a:ext>
            </a:extLst>
          </p:cNvPr>
          <p:cNvSpPr/>
          <p:nvPr/>
        </p:nvSpPr>
        <p:spPr>
          <a:xfrm>
            <a:off x="105031" y="4738255"/>
            <a:ext cx="7927142" cy="984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15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8CEB-2F61-7B76-32E9-D7C8C1AC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53E2-B707-EE4F-4E5E-D2445045F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93FFD-D6F5-B469-3B4A-FE1CC430D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31" y="2575775"/>
            <a:ext cx="8021537" cy="33426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Most VPT applications only use rigid body shapes </a:t>
            </a:r>
          </a:p>
          <a:p>
            <a:pPr lvl="1"/>
            <a:r>
              <a:rPr lang="en-US" i="1" dirty="0"/>
              <a:t>This is the same as a kinematic transformation</a:t>
            </a:r>
          </a:p>
          <a:p>
            <a:endParaRPr lang="en-US" dirty="0"/>
          </a:p>
          <a:p>
            <a:r>
              <a:rPr lang="en-US" dirty="0"/>
              <a:t>There is some interest in using elastic shapes </a:t>
            </a:r>
          </a:p>
          <a:p>
            <a:pPr lvl="1"/>
            <a:r>
              <a:rPr lang="en-US" i="1" dirty="0"/>
              <a:t>Which elastic shapes are important for interface dynamics?</a:t>
            </a:r>
          </a:p>
          <a:p>
            <a:pPr lvl="1"/>
            <a:r>
              <a:rPr lang="en-US" i="1" dirty="0"/>
              <a:t>How do we get consistent coupling DOFs between structures?</a:t>
            </a:r>
          </a:p>
          <a:p>
            <a:endParaRPr lang="en-US" i="1" dirty="0"/>
          </a:p>
          <a:p>
            <a:r>
              <a:rPr lang="en-US" dirty="0"/>
              <a:t>Need to make sure that the selected shapes capture the interface dynamics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713D0F-B040-1A74-93B8-32F156592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965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5DFCA9-A6D3-B5B2-AC4D-AD08790D9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735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3F92AA06-14B1-B54D-650A-C653CE5ECA97}"/>
              </a:ext>
            </a:extLst>
          </p:cNvPr>
          <p:cNvSpPr/>
          <p:nvPr/>
        </p:nvSpPr>
        <p:spPr>
          <a:xfrm>
            <a:off x="9126811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01899B-FA53-6807-18EA-2CA766FD15DD}"/>
              </a:ext>
            </a:extLst>
          </p:cNvPr>
          <p:cNvSpPr/>
          <p:nvPr/>
        </p:nvSpPr>
        <p:spPr>
          <a:xfrm>
            <a:off x="602673" y="883227"/>
            <a:ext cx="10598727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transformations are built as mode shapes about the virtual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FF03F-8A88-6AEB-E632-64EB7EB4B11E}"/>
                  </a:ext>
                </a:extLst>
              </p:cNvPr>
              <p:cNvSpPr txBox="1"/>
              <p:nvPr/>
            </p:nvSpPr>
            <p:spPr>
              <a:xfrm>
                <a:off x="602673" y="1809025"/>
                <a:ext cx="3185744" cy="4949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𝑟𝑒𝑠𝑝𝑜𝑛𝑠𝑒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7FF03F-8A88-6AEB-E632-64EB7EB4B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73" y="1809025"/>
                <a:ext cx="3185744" cy="494944"/>
              </a:xfrm>
              <a:prstGeom prst="rect">
                <a:avLst/>
              </a:prstGeom>
              <a:blipFill>
                <a:blip r:embed="rId4"/>
                <a:stretch>
                  <a:fillRect t="-15000" b="-1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B6BC0D-BD4A-C9E4-7065-488FA9593A27}"/>
                  </a:ext>
                </a:extLst>
              </p:cNvPr>
              <p:cNvSpPr txBox="1"/>
              <p:nvPr/>
            </p:nvSpPr>
            <p:spPr>
              <a:xfrm>
                <a:off x="5362832" y="1841054"/>
                <a:ext cx="237693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B6BC0D-BD4A-C9E4-7065-488FA9593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832" y="1841054"/>
                <a:ext cx="237693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Left-Right Arrow 10">
            <a:extLst>
              <a:ext uri="{FF2B5EF4-FFF2-40B4-BE49-F238E27FC236}">
                <a16:creationId xmlns:a16="http://schemas.microsoft.com/office/drawing/2014/main" id="{F9F827FF-79BF-70D4-2114-4525C2C60B13}"/>
              </a:ext>
            </a:extLst>
          </p:cNvPr>
          <p:cNvSpPr/>
          <p:nvPr/>
        </p:nvSpPr>
        <p:spPr>
          <a:xfrm>
            <a:off x="3952108" y="1781653"/>
            <a:ext cx="1247033" cy="54968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86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C442-B94A-CCC1-A5C3-0EA74905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 –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B12382-0AFD-63DD-58E3-8399CAD123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Physical responses are an expansion of the virtual point responses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Virtual point forces are the composite of the physical forces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B12382-0AFD-63DD-58E3-8399CAD12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  <a:blipFill>
                <a:blip r:embed="rId2"/>
                <a:stretch>
                  <a:fillRect l="-1187" t="-6633" b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14A8661-9728-3898-5A17-282AB1EEE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848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7FF4C5-C540-FD11-8D83-D8D38648D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618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D6C41EDC-A1A8-8F43-14A1-13E56F1064D7}"/>
              </a:ext>
            </a:extLst>
          </p:cNvPr>
          <p:cNvSpPr/>
          <p:nvPr/>
        </p:nvSpPr>
        <p:spPr>
          <a:xfrm>
            <a:off x="9564694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61EFB7D-1480-690C-E1E4-537EB4F744D0}"/>
              </a:ext>
            </a:extLst>
          </p:cNvPr>
          <p:cNvSpPr/>
          <p:nvPr/>
        </p:nvSpPr>
        <p:spPr>
          <a:xfrm>
            <a:off x="105032" y="883227"/>
            <a:ext cx="11981936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Need to think about the dependent and independent variables when creating transformation matrices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C3350-82C0-8BF1-B15A-84AE24CBAB70}"/>
              </a:ext>
            </a:extLst>
          </p:cNvPr>
          <p:cNvSpPr txBox="1"/>
          <p:nvPr/>
        </p:nvSpPr>
        <p:spPr>
          <a:xfrm>
            <a:off x="10650829" y="1996225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C05C8-5EFB-9A1C-07AE-6E78732C4BEC}"/>
              </a:ext>
            </a:extLst>
          </p:cNvPr>
          <p:cNvSpPr txBox="1"/>
          <p:nvPr/>
        </p:nvSpPr>
        <p:spPr>
          <a:xfrm>
            <a:off x="9798677" y="3138596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05FB6-06D0-5FDD-6634-C9CF846E9297}"/>
              </a:ext>
            </a:extLst>
          </p:cNvPr>
          <p:cNvSpPr txBox="1"/>
          <p:nvPr/>
        </p:nvSpPr>
        <p:spPr>
          <a:xfrm>
            <a:off x="11421415" y="3181594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CAAB5F-2BC5-715E-4E09-84B2653841EE}"/>
                  </a:ext>
                </a:extLst>
              </p:cNvPr>
              <p:cNvSpPr txBox="1"/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𝑟𝑖𝑔𝑖𝑑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CAAB5F-2BC5-715E-4E09-84B265384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blipFill>
                <a:blip r:embed="rId5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312357-40B5-1DDE-DCE3-E228E90ECF0A}"/>
                  </a:ext>
                </a:extLst>
              </p:cNvPr>
              <p:cNvSpPr txBox="1"/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𝑅𝑍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312357-40B5-1DDE-DCE3-E228E90E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1F6497B5-3F90-E620-605C-57327025ED34}"/>
              </a:ext>
            </a:extLst>
          </p:cNvPr>
          <p:cNvSpPr/>
          <p:nvPr/>
        </p:nvSpPr>
        <p:spPr>
          <a:xfrm>
            <a:off x="2959998" y="2276557"/>
            <a:ext cx="2002353" cy="844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65172F-5B2E-F97C-ABE0-A672FF877CA6}"/>
              </a:ext>
            </a:extLst>
          </p:cNvPr>
          <p:cNvSpPr/>
          <p:nvPr/>
        </p:nvSpPr>
        <p:spPr>
          <a:xfrm>
            <a:off x="173379" y="3818725"/>
            <a:ext cx="8404185" cy="2222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F2099A-E4FB-0848-E7B8-34590EE7BAEF}"/>
              </a:ext>
            </a:extLst>
          </p:cNvPr>
          <p:cNvSpPr/>
          <p:nvPr/>
        </p:nvSpPr>
        <p:spPr>
          <a:xfrm>
            <a:off x="1599748" y="4064644"/>
            <a:ext cx="7140155" cy="2494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55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C442-B94A-CCC1-A5C3-0EA74905C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 –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B12382-0AFD-63DD-58E3-8399CAD123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Physical responses are an expansion of the virtual point responses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Virtual point forces are the composite of the physical forces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B12382-0AFD-63DD-58E3-8399CAD12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  <a:blipFill>
                <a:blip r:embed="rId2"/>
                <a:stretch>
                  <a:fillRect l="-1187" t="-6633" b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14A8661-9728-3898-5A17-282AB1EEE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848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7FF4C5-C540-FD11-8D83-D8D38648D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618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D6C41EDC-A1A8-8F43-14A1-13E56F1064D7}"/>
              </a:ext>
            </a:extLst>
          </p:cNvPr>
          <p:cNvSpPr/>
          <p:nvPr/>
        </p:nvSpPr>
        <p:spPr>
          <a:xfrm>
            <a:off x="9564694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61EFB7D-1480-690C-E1E4-537EB4F744D0}"/>
              </a:ext>
            </a:extLst>
          </p:cNvPr>
          <p:cNvSpPr/>
          <p:nvPr/>
        </p:nvSpPr>
        <p:spPr>
          <a:xfrm>
            <a:off x="105032" y="883227"/>
            <a:ext cx="11981936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Need to think about the dependent and independent variables when creating transformation matrices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C3350-82C0-8BF1-B15A-84AE24CBAB70}"/>
              </a:ext>
            </a:extLst>
          </p:cNvPr>
          <p:cNvSpPr txBox="1"/>
          <p:nvPr/>
        </p:nvSpPr>
        <p:spPr>
          <a:xfrm>
            <a:off x="10650829" y="1996225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C05C8-5EFB-9A1C-07AE-6E78732C4BEC}"/>
              </a:ext>
            </a:extLst>
          </p:cNvPr>
          <p:cNvSpPr txBox="1"/>
          <p:nvPr/>
        </p:nvSpPr>
        <p:spPr>
          <a:xfrm>
            <a:off x="9798677" y="3138596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05FB6-06D0-5FDD-6634-C9CF846E9297}"/>
              </a:ext>
            </a:extLst>
          </p:cNvPr>
          <p:cNvSpPr txBox="1"/>
          <p:nvPr/>
        </p:nvSpPr>
        <p:spPr>
          <a:xfrm>
            <a:off x="11421415" y="3181594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CAAB5F-2BC5-715E-4E09-84B2653841EE}"/>
                  </a:ext>
                </a:extLst>
              </p:cNvPr>
              <p:cNvSpPr txBox="1"/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𝑟𝑖𝑔𝑖𝑑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CAAB5F-2BC5-715E-4E09-84B265384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blipFill>
                <a:blip r:embed="rId5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312357-40B5-1DDE-DCE3-E228E90ECF0A}"/>
                  </a:ext>
                </a:extLst>
              </p:cNvPr>
              <p:cNvSpPr txBox="1"/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𝑅𝑍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F312357-40B5-1DDE-DCE3-E228E90EC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1F6497B5-3F90-E620-605C-57327025ED34}"/>
              </a:ext>
            </a:extLst>
          </p:cNvPr>
          <p:cNvSpPr/>
          <p:nvPr/>
        </p:nvSpPr>
        <p:spPr>
          <a:xfrm>
            <a:off x="2959998" y="2276557"/>
            <a:ext cx="2002353" cy="844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65172F-5B2E-F97C-ABE0-A672FF877CA6}"/>
              </a:ext>
            </a:extLst>
          </p:cNvPr>
          <p:cNvSpPr/>
          <p:nvPr/>
        </p:nvSpPr>
        <p:spPr>
          <a:xfrm>
            <a:off x="173379" y="3818725"/>
            <a:ext cx="8404185" cy="2222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F2099A-E4FB-0848-E7B8-34590EE7BAEF}"/>
              </a:ext>
            </a:extLst>
          </p:cNvPr>
          <p:cNvSpPr/>
          <p:nvPr/>
        </p:nvSpPr>
        <p:spPr>
          <a:xfrm>
            <a:off x="1599748" y="4064644"/>
            <a:ext cx="7140155" cy="2494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C722E88-3BC2-C3B5-C8F0-67D096A729FA}"/>
              </a:ext>
            </a:extLst>
          </p:cNvPr>
          <p:cNvSpPr/>
          <p:nvPr/>
        </p:nvSpPr>
        <p:spPr>
          <a:xfrm>
            <a:off x="6299818" y="1653036"/>
            <a:ext cx="332509" cy="21449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C333AF-BA24-75EC-2C9F-047CD86CB57D}"/>
              </a:ext>
            </a:extLst>
          </p:cNvPr>
          <p:cNvSpPr txBox="1"/>
          <p:nvPr/>
        </p:nvSpPr>
        <p:spPr>
          <a:xfrm>
            <a:off x="5009082" y="4283675"/>
            <a:ext cx="2279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Translating rigid body shape in X-direction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95C9AB2-20D2-EAAA-16EB-C5ABE4AE4772}"/>
              </a:ext>
            </a:extLst>
          </p:cNvPr>
          <p:cNvCxnSpPr>
            <a:stCxn id="17" idx="0"/>
            <a:endCxn id="16" idx="2"/>
          </p:cNvCxnSpPr>
          <p:nvPr/>
        </p:nvCxnSpPr>
        <p:spPr>
          <a:xfrm flipV="1">
            <a:off x="6148862" y="3797943"/>
            <a:ext cx="317211" cy="48573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221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9F588-017B-AF65-58E8-DA09D69F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E54CE-92A9-4290-E86F-C7464109B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 –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C08CC4-21AB-6065-844D-078BBDDF00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Physical responses are an expansion of the virtual point responses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Virtual point forces are the composite of the physical forces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C08CC4-21AB-6065-844D-078BBDDF0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  <a:blipFill>
                <a:blip r:embed="rId2"/>
                <a:stretch>
                  <a:fillRect l="-1187" t="-6633" b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3B3D790-8938-33F3-D323-B97B2ECB6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848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373E92-C90D-8B4B-3073-3937AC3A6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618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0162321E-48D1-903A-5D9C-68E6F78EB4DF}"/>
              </a:ext>
            </a:extLst>
          </p:cNvPr>
          <p:cNvSpPr/>
          <p:nvPr/>
        </p:nvSpPr>
        <p:spPr>
          <a:xfrm>
            <a:off x="9564694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0429F0-28F5-6541-BDEF-CC94A5B62F6E}"/>
              </a:ext>
            </a:extLst>
          </p:cNvPr>
          <p:cNvSpPr/>
          <p:nvPr/>
        </p:nvSpPr>
        <p:spPr>
          <a:xfrm>
            <a:off x="105032" y="883227"/>
            <a:ext cx="11981936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Need to think about the dependent and independent variables when creating transformation matrices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15F7A-6F7F-8C28-8605-22A66A4DD990}"/>
              </a:ext>
            </a:extLst>
          </p:cNvPr>
          <p:cNvSpPr txBox="1"/>
          <p:nvPr/>
        </p:nvSpPr>
        <p:spPr>
          <a:xfrm>
            <a:off x="10650829" y="1996225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C922DF-6273-4CD3-52B3-4335181E9F68}"/>
              </a:ext>
            </a:extLst>
          </p:cNvPr>
          <p:cNvSpPr txBox="1"/>
          <p:nvPr/>
        </p:nvSpPr>
        <p:spPr>
          <a:xfrm>
            <a:off x="9798677" y="3138596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C20EC-2944-11B9-F2CE-F908C32DC3BD}"/>
              </a:ext>
            </a:extLst>
          </p:cNvPr>
          <p:cNvSpPr txBox="1"/>
          <p:nvPr/>
        </p:nvSpPr>
        <p:spPr>
          <a:xfrm>
            <a:off x="11421415" y="3181594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EAC73F-978B-FD13-1B88-FF184846121A}"/>
                  </a:ext>
                </a:extLst>
              </p:cNvPr>
              <p:cNvSpPr txBox="1"/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𝑟𝑖𝑔𝑖𝑑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EAC73F-978B-FD13-1B88-FF1848461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blipFill>
                <a:blip r:embed="rId5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D091FF-2B4A-8E2F-C41A-155BC798EBB2}"/>
                  </a:ext>
                </a:extLst>
              </p:cNvPr>
              <p:cNvSpPr txBox="1"/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𝑅𝑍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D091FF-2B4A-8E2F-C41A-155BC798E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053FE0E6-50F6-694A-D7BE-9ED9D321B04C}"/>
              </a:ext>
            </a:extLst>
          </p:cNvPr>
          <p:cNvSpPr/>
          <p:nvPr/>
        </p:nvSpPr>
        <p:spPr>
          <a:xfrm>
            <a:off x="2959998" y="2276557"/>
            <a:ext cx="2002353" cy="844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80CE65-3FB8-D31C-8322-A9711E6889EE}"/>
              </a:ext>
            </a:extLst>
          </p:cNvPr>
          <p:cNvSpPr/>
          <p:nvPr/>
        </p:nvSpPr>
        <p:spPr>
          <a:xfrm>
            <a:off x="173379" y="3818725"/>
            <a:ext cx="8404185" cy="2222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3A0825-7F62-1C65-FF12-D00C005BE092}"/>
              </a:ext>
            </a:extLst>
          </p:cNvPr>
          <p:cNvSpPr/>
          <p:nvPr/>
        </p:nvSpPr>
        <p:spPr>
          <a:xfrm>
            <a:off x="1589809" y="4064644"/>
            <a:ext cx="7140155" cy="2494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3079F86-1F8F-F3BE-8000-6242C4418348}"/>
              </a:ext>
            </a:extLst>
          </p:cNvPr>
          <p:cNvSpPr/>
          <p:nvPr/>
        </p:nvSpPr>
        <p:spPr>
          <a:xfrm>
            <a:off x="6776337" y="1653036"/>
            <a:ext cx="332509" cy="21449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712339-61ED-D064-1586-1D4B867B1321}"/>
              </a:ext>
            </a:extLst>
          </p:cNvPr>
          <p:cNvSpPr txBox="1"/>
          <p:nvPr/>
        </p:nvSpPr>
        <p:spPr>
          <a:xfrm>
            <a:off x="5485601" y="4283675"/>
            <a:ext cx="2279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Translating rigid body shape in Y-direction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4AE7C8-A30D-2DF3-F1BD-D2FD5C8CC647}"/>
              </a:ext>
            </a:extLst>
          </p:cNvPr>
          <p:cNvCxnSpPr>
            <a:stCxn id="17" idx="0"/>
            <a:endCxn id="16" idx="2"/>
          </p:cNvCxnSpPr>
          <p:nvPr/>
        </p:nvCxnSpPr>
        <p:spPr>
          <a:xfrm flipV="1">
            <a:off x="6625381" y="3797943"/>
            <a:ext cx="317211" cy="48573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7286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7BA8-D9B9-0C1A-3CC2-6B9DE95E3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DA92-B8E0-50A7-1509-10C74012D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 –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E8F9E-DC5D-7624-50B5-02E983FF6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Physical responses are an expansion of the virtual point responses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Virtual point forces are the composite of the physical forces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E8F9E-DC5D-7624-50B5-02E983FF6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  <a:blipFill>
                <a:blip r:embed="rId2"/>
                <a:stretch>
                  <a:fillRect l="-1187" t="-6633" b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782923C-F086-A01A-1E16-977424DBF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848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489D54-453A-288F-32E5-18176DA8F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618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9907F3BD-F80C-0E6C-CEE7-6D038DEE1CFD}"/>
              </a:ext>
            </a:extLst>
          </p:cNvPr>
          <p:cNvSpPr/>
          <p:nvPr/>
        </p:nvSpPr>
        <p:spPr>
          <a:xfrm>
            <a:off x="9564694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BBCB61-1785-6F20-6252-2AEB58F7E1B9}"/>
              </a:ext>
            </a:extLst>
          </p:cNvPr>
          <p:cNvSpPr/>
          <p:nvPr/>
        </p:nvSpPr>
        <p:spPr>
          <a:xfrm>
            <a:off x="105032" y="883227"/>
            <a:ext cx="11981936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Need to think about the dependent and independent variables when creating transformation matrices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576AB-CBC1-F07B-CB73-DA473C23F06B}"/>
              </a:ext>
            </a:extLst>
          </p:cNvPr>
          <p:cNvSpPr txBox="1"/>
          <p:nvPr/>
        </p:nvSpPr>
        <p:spPr>
          <a:xfrm>
            <a:off x="10650829" y="1996225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5B043-F3DB-4044-EB14-984673930451}"/>
              </a:ext>
            </a:extLst>
          </p:cNvPr>
          <p:cNvSpPr txBox="1"/>
          <p:nvPr/>
        </p:nvSpPr>
        <p:spPr>
          <a:xfrm>
            <a:off x="9798677" y="3138596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CFDA5C-EDA4-F9C3-14A2-9587D8EA2311}"/>
              </a:ext>
            </a:extLst>
          </p:cNvPr>
          <p:cNvSpPr txBox="1"/>
          <p:nvPr/>
        </p:nvSpPr>
        <p:spPr>
          <a:xfrm>
            <a:off x="11421415" y="3181594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BB6B93-8990-1E71-4334-E8A8324B5858}"/>
                  </a:ext>
                </a:extLst>
              </p:cNvPr>
              <p:cNvSpPr txBox="1"/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𝑟𝑖𝑔𝑖𝑑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BB6B93-8990-1E71-4334-E8A8324B5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blipFill>
                <a:blip r:embed="rId5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F65A00-D45F-9048-1395-910122D9684B}"/>
                  </a:ext>
                </a:extLst>
              </p:cNvPr>
              <p:cNvSpPr txBox="1"/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𝑅𝑍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F65A00-D45F-9048-1395-910122D96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595AAB82-D4A6-E885-FF24-68221AC9AF17}"/>
              </a:ext>
            </a:extLst>
          </p:cNvPr>
          <p:cNvSpPr/>
          <p:nvPr/>
        </p:nvSpPr>
        <p:spPr>
          <a:xfrm>
            <a:off x="2959998" y="2276557"/>
            <a:ext cx="2002353" cy="844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637CEE-79AD-DE1D-149A-0E069D16608F}"/>
              </a:ext>
            </a:extLst>
          </p:cNvPr>
          <p:cNvSpPr/>
          <p:nvPr/>
        </p:nvSpPr>
        <p:spPr>
          <a:xfrm>
            <a:off x="173379" y="3818725"/>
            <a:ext cx="8404185" cy="22225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165825-6658-A2F0-6AA1-15B502D4A03F}"/>
              </a:ext>
            </a:extLst>
          </p:cNvPr>
          <p:cNvSpPr/>
          <p:nvPr/>
        </p:nvSpPr>
        <p:spPr>
          <a:xfrm>
            <a:off x="1589809" y="4064644"/>
            <a:ext cx="7140155" cy="24940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BDBD66D-323D-50D5-9260-61FF697D85F1}"/>
              </a:ext>
            </a:extLst>
          </p:cNvPr>
          <p:cNvSpPr/>
          <p:nvPr/>
        </p:nvSpPr>
        <p:spPr>
          <a:xfrm>
            <a:off x="7278614" y="1653036"/>
            <a:ext cx="448710" cy="2144907"/>
          </a:xfrm>
          <a:prstGeom prst="round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E0F068-EAA9-5254-E850-8462457300B7}"/>
              </a:ext>
            </a:extLst>
          </p:cNvPr>
          <p:cNvSpPr txBox="1"/>
          <p:nvPr/>
        </p:nvSpPr>
        <p:spPr>
          <a:xfrm>
            <a:off x="6387124" y="4283675"/>
            <a:ext cx="1803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Rotating rigid body shape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EA288F-51E1-4BE3-F899-A6951994E22F}"/>
              </a:ext>
            </a:extLst>
          </p:cNvPr>
          <p:cNvCxnSpPr>
            <a:cxnSpLocks/>
            <a:stCxn id="17" idx="0"/>
            <a:endCxn id="16" idx="2"/>
          </p:cNvCxnSpPr>
          <p:nvPr/>
        </p:nvCxnSpPr>
        <p:spPr>
          <a:xfrm flipV="1">
            <a:off x="7289045" y="3797943"/>
            <a:ext cx="213924" cy="48573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76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D347E-2C01-079D-F947-AE389011E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6943-AFC4-3DF4-27AA-6875E1AE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 –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A589F-7914-7729-13A3-88F446AFDF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Physical responses are an expansion of the virtual point responses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Virtual point forces are the composite of the physical forces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EE8F9E-DC5D-7624-50B5-02E983FF6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  <a:blipFill>
                <a:blip r:embed="rId2"/>
                <a:stretch>
                  <a:fillRect l="-1187" t="-6633" b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BB79148-115B-AE8D-9CE3-6E12688D7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848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6EB4C-AEB1-A155-C2B4-2F3420FBB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618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69B31290-B3A9-C4B2-F3CD-C6D80DAC68C3}"/>
              </a:ext>
            </a:extLst>
          </p:cNvPr>
          <p:cNvSpPr/>
          <p:nvPr/>
        </p:nvSpPr>
        <p:spPr>
          <a:xfrm>
            <a:off x="9564694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449008B-5F7F-B46A-8224-D82BEDC14549}"/>
              </a:ext>
            </a:extLst>
          </p:cNvPr>
          <p:cNvSpPr/>
          <p:nvPr/>
        </p:nvSpPr>
        <p:spPr>
          <a:xfrm>
            <a:off x="105032" y="883227"/>
            <a:ext cx="11981936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Need to think about the dependent and independent variables when creating transformation matrices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340D9-885B-6CDF-DED6-29581A24892D}"/>
              </a:ext>
            </a:extLst>
          </p:cNvPr>
          <p:cNvSpPr txBox="1"/>
          <p:nvPr/>
        </p:nvSpPr>
        <p:spPr>
          <a:xfrm>
            <a:off x="10650829" y="1996225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A31AB-BA07-71D3-715B-4EC201B7421B}"/>
              </a:ext>
            </a:extLst>
          </p:cNvPr>
          <p:cNvSpPr txBox="1"/>
          <p:nvPr/>
        </p:nvSpPr>
        <p:spPr>
          <a:xfrm>
            <a:off x="9798677" y="3138596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A3F96-8E00-7759-ADFC-145ADF58E895}"/>
              </a:ext>
            </a:extLst>
          </p:cNvPr>
          <p:cNvSpPr txBox="1"/>
          <p:nvPr/>
        </p:nvSpPr>
        <p:spPr>
          <a:xfrm>
            <a:off x="11421415" y="3181594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D200ED-B90D-D081-335C-E174A72D5C10}"/>
                  </a:ext>
                </a:extLst>
              </p:cNvPr>
              <p:cNvSpPr txBox="1"/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𝑟𝑖𝑔𝑖𝑑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BB6B93-8990-1E71-4334-E8A8324B5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blipFill>
                <a:blip r:embed="rId5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0E4069-41F0-A76E-6A20-E275F82EA352}"/>
                  </a:ext>
                </a:extLst>
              </p:cNvPr>
              <p:cNvSpPr txBox="1"/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𝑅𝑍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F65A00-D45F-9048-1395-910122D96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13E1F120-E80D-D142-568C-9D2B48B40571}"/>
              </a:ext>
            </a:extLst>
          </p:cNvPr>
          <p:cNvSpPr/>
          <p:nvPr/>
        </p:nvSpPr>
        <p:spPr>
          <a:xfrm>
            <a:off x="2959998" y="2276557"/>
            <a:ext cx="2002353" cy="844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Transformation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27DFE1-2ACF-EC3A-1F81-A4B487928618}"/>
              </a:ext>
            </a:extLst>
          </p:cNvPr>
          <p:cNvSpPr/>
          <p:nvPr/>
        </p:nvSpPr>
        <p:spPr>
          <a:xfrm>
            <a:off x="173379" y="5184182"/>
            <a:ext cx="8404185" cy="8571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78E0BA-CF4B-43A6-1A49-FA3B5A1EE0C1}"/>
              </a:ext>
            </a:extLst>
          </p:cNvPr>
          <p:cNvSpPr/>
          <p:nvPr/>
        </p:nvSpPr>
        <p:spPr>
          <a:xfrm>
            <a:off x="1589809" y="5184181"/>
            <a:ext cx="7140155" cy="1374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27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7EFFF-3501-F2F3-B2B0-E1E202FB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D496-073B-5096-07D0-6F9518391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Transformation Matrices – 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804FD5-29DF-7925-6595-2586C34F10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Physical responses are an expansion of the virtual point responses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Virtual point forces are the composite of the physical forces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𝑣𝑖𝑟𝑡𝑢𝑎𝑙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𝑝𝑜𝑖𝑛𝑡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𝑟𝑖𝑔𝑖𝑑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𝑝h𝑦𝑠𝑖𝑐𝑎𝑙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804FD5-29DF-7925-6595-2586C34F10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5032" y="3992450"/>
                <a:ext cx="8545270" cy="2472744"/>
              </a:xfrm>
              <a:blipFill>
                <a:blip r:embed="rId2"/>
                <a:stretch>
                  <a:fillRect l="-1187" t="-6633" b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546F906-5743-6C13-F9AB-0E0FBCE0E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848" y="1741780"/>
            <a:ext cx="2947794" cy="21508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446F22-1E29-3428-CCC1-D9DCA90D9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618" y="4179105"/>
            <a:ext cx="2945024" cy="214884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0BBB37BC-C00C-A7E3-2AB1-805589335B48}"/>
              </a:ext>
            </a:extLst>
          </p:cNvPr>
          <p:cNvSpPr/>
          <p:nvPr/>
        </p:nvSpPr>
        <p:spPr>
          <a:xfrm>
            <a:off x="9564694" y="3601255"/>
            <a:ext cx="1584102" cy="92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VPT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0D3C60-E353-9987-4622-DC91680A0FC6}"/>
              </a:ext>
            </a:extLst>
          </p:cNvPr>
          <p:cNvSpPr/>
          <p:nvPr/>
        </p:nvSpPr>
        <p:spPr>
          <a:xfrm>
            <a:off x="105032" y="883227"/>
            <a:ext cx="11981936" cy="5507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Need to think about the dependent and independent variables when creating transformation matrices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05B81-79C6-C131-C3D9-D3BA3D9E6DCA}"/>
              </a:ext>
            </a:extLst>
          </p:cNvPr>
          <p:cNvSpPr txBox="1"/>
          <p:nvPr/>
        </p:nvSpPr>
        <p:spPr>
          <a:xfrm>
            <a:off x="10650829" y="1996225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D4795-FB9D-9729-9504-D5A123B03B6F}"/>
              </a:ext>
            </a:extLst>
          </p:cNvPr>
          <p:cNvSpPr txBox="1"/>
          <p:nvPr/>
        </p:nvSpPr>
        <p:spPr>
          <a:xfrm>
            <a:off x="9798677" y="3138596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9DEE21-E1BD-F646-5EF3-66412284F5A4}"/>
              </a:ext>
            </a:extLst>
          </p:cNvPr>
          <p:cNvSpPr txBox="1"/>
          <p:nvPr/>
        </p:nvSpPr>
        <p:spPr>
          <a:xfrm>
            <a:off x="11421415" y="3181594"/>
            <a:ext cx="2962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38C027-C370-45FD-8E7E-68FB8ECC622E}"/>
                  </a:ext>
                </a:extLst>
              </p:cNvPr>
              <p:cNvSpPr txBox="1"/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𝑟𝑖𝑔𝑖𝑑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638C027-C370-45FD-8E7E-68FB8ECC6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32" y="2450281"/>
                <a:ext cx="2778133" cy="496739"/>
              </a:xfrm>
              <a:prstGeom prst="rect">
                <a:avLst/>
              </a:prstGeom>
              <a:blipFill>
                <a:blip r:embed="rId5"/>
                <a:stretch>
                  <a:fillRect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DDC3EF-093C-1DB1-60D5-D0861074DCFE}"/>
                  </a:ext>
                </a:extLst>
              </p:cNvPr>
              <p:cNvSpPr txBox="1"/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𝑟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  <m:r>
                                                  <a:rPr lang="en-US" sz="24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3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𝑅𝑍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DDC3EF-093C-1DB1-60D5-D0861074D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899" y="1673818"/>
                <a:ext cx="3533403" cy="2049664"/>
              </a:xfrm>
              <a:prstGeom prst="rect">
                <a:avLst/>
              </a:prstGeom>
              <a:blipFill>
                <a:blip r:embed="rId6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Arrow 12">
            <a:extLst>
              <a:ext uri="{FF2B5EF4-FFF2-40B4-BE49-F238E27FC236}">
                <a16:creationId xmlns:a16="http://schemas.microsoft.com/office/drawing/2014/main" id="{B3588A20-0F90-E6A2-5E25-0206D39EF028}"/>
              </a:ext>
            </a:extLst>
          </p:cNvPr>
          <p:cNvSpPr/>
          <p:nvPr/>
        </p:nvSpPr>
        <p:spPr>
          <a:xfrm>
            <a:off x="2959998" y="2276557"/>
            <a:ext cx="2002353" cy="8441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392525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7965E-F4BD-0D4A-C71C-D476300B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E140-70C0-1AE9-4A8C-047B2621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Interface Weakening with VPT</a:t>
            </a:r>
          </a:p>
        </p:txBody>
      </p:sp>
    </p:spTree>
    <p:extLst>
      <p:ext uri="{BB962C8B-B14F-4D97-AF65-F5344CB8AC3E}">
        <p14:creationId xmlns:p14="http://schemas.microsoft.com/office/powerpoint/2010/main" val="2878650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EBE6-DDCA-26EB-5C3A-BF1E8FA8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449659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Why Don’t we use the Physical Measurements?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8B6A26-FA9B-1BE4-94FA-ECAFE0D4C8C5}"/>
              </a:ext>
            </a:extLst>
          </p:cNvPr>
          <p:cNvSpPr/>
          <p:nvPr/>
        </p:nvSpPr>
        <p:spPr>
          <a:xfrm>
            <a:off x="602673" y="894533"/>
            <a:ext cx="10598727" cy="6433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equivalent multi-point connection typically over constrains the coupling and the VPT can eliminate redundant information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E2756-A8C9-F54A-302C-A8F54A694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8" t="62652" r="65471" b="28446"/>
          <a:stretch>
            <a:fillRect/>
          </a:stretch>
        </p:blipFill>
        <p:spPr>
          <a:xfrm>
            <a:off x="817415" y="2358737"/>
            <a:ext cx="4182156" cy="2990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5EA5BB-B0F0-AF39-29A1-949EAE94E84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421078" y="3086100"/>
            <a:ext cx="503081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DF38015-05EA-D73F-DB13-DF7A8B1881AF}"/>
              </a:ext>
            </a:extLst>
          </p:cNvPr>
          <p:cNvSpPr/>
          <p:nvPr/>
        </p:nvSpPr>
        <p:spPr>
          <a:xfrm>
            <a:off x="2924159" y="2948940"/>
            <a:ext cx="274320" cy="27432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C8CBE7-E922-5D89-F62A-8C668E154CD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061319" y="2483428"/>
            <a:ext cx="0" cy="46551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C63C76-8A32-901B-93B0-E36AEEB8929A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253833" y="4495800"/>
            <a:ext cx="503081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B463FC4-39FF-F16D-73E5-137F798B9BBF}"/>
              </a:ext>
            </a:extLst>
          </p:cNvPr>
          <p:cNvSpPr/>
          <p:nvPr/>
        </p:nvSpPr>
        <p:spPr>
          <a:xfrm>
            <a:off x="1756914" y="4358640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AAD2ED-56F7-F078-FC48-4C7FA31C378B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894074" y="3893128"/>
            <a:ext cx="0" cy="46551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EA8A44-665F-5904-7BA6-49C30A97CF11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661060" y="4590011"/>
            <a:ext cx="503081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40ADCE1-49C7-D07A-5730-D948E3271B8F}"/>
              </a:ext>
            </a:extLst>
          </p:cNvPr>
          <p:cNvSpPr/>
          <p:nvPr/>
        </p:nvSpPr>
        <p:spPr>
          <a:xfrm>
            <a:off x="4164141" y="4452851"/>
            <a:ext cx="274320" cy="2743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5F77BD-9B2C-7FB5-C71C-78AACB90EC33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4301301" y="3987339"/>
            <a:ext cx="0" cy="465512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8D87DC-260F-258F-B3E0-251EC654A1F4}"/>
              </a:ext>
            </a:extLst>
          </p:cNvPr>
          <p:cNvSpPr txBox="1"/>
          <p:nvPr/>
        </p:nvSpPr>
        <p:spPr>
          <a:xfrm>
            <a:off x="361756" y="1813489"/>
            <a:ext cx="50934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Equivalent Multi-point Connection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F7D3A6-4D0C-FC21-7F31-2A7AC77AE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8" t="62652" r="65471" b="28446"/>
          <a:stretch>
            <a:fillRect/>
          </a:stretch>
        </p:blipFill>
        <p:spPr>
          <a:xfrm>
            <a:off x="7051431" y="2358737"/>
            <a:ext cx="4182156" cy="2990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D058C2F-BC99-E513-289B-621FAB24C210}"/>
              </a:ext>
            </a:extLst>
          </p:cNvPr>
          <p:cNvSpPr txBox="1"/>
          <p:nvPr/>
        </p:nvSpPr>
        <p:spPr>
          <a:xfrm>
            <a:off x="7051430" y="1813489"/>
            <a:ext cx="418215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Virtual Point Connection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681391C-2808-E3CC-ED64-33C07A2B5A1F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8510151" y="4285212"/>
            <a:ext cx="495196" cy="900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D1A43A7-0EC7-6B89-6276-AA4065129082}"/>
              </a:ext>
            </a:extLst>
          </p:cNvPr>
          <p:cNvSpPr/>
          <p:nvPr/>
        </p:nvSpPr>
        <p:spPr>
          <a:xfrm>
            <a:off x="9005347" y="4148052"/>
            <a:ext cx="274320" cy="27432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E04DE6-83DA-47CF-0ACE-0734D8183ECA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9142507" y="3691545"/>
            <a:ext cx="7885" cy="45650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72AB2DF8-E863-935F-9ADB-8F091645F32E}"/>
              </a:ext>
            </a:extLst>
          </p:cNvPr>
          <p:cNvSpPr/>
          <p:nvPr/>
        </p:nvSpPr>
        <p:spPr>
          <a:xfrm>
            <a:off x="8799607" y="3942312"/>
            <a:ext cx="685800" cy="685800"/>
          </a:xfrm>
          <a:prstGeom prst="arc">
            <a:avLst>
              <a:gd name="adj1" fmla="val 18671154"/>
              <a:gd name="adj2" fmla="val 7017618"/>
            </a:avLst>
          </a:prstGeom>
          <a:ln w="5715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9817-4B0E-2E8F-203B-AA3C9C283D44}"/>
              </a:ext>
            </a:extLst>
          </p:cNvPr>
          <p:cNvSpPr txBox="1"/>
          <p:nvPr/>
        </p:nvSpPr>
        <p:spPr>
          <a:xfrm>
            <a:off x="2649844" y="2423255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E0600-1ABB-CA54-11C1-547754079F54}"/>
              </a:ext>
            </a:extLst>
          </p:cNvPr>
          <p:cNvSpPr txBox="1"/>
          <p:nvPr/>
        </p:nvSpPr>
        <p:spPr>
          <a:xfrm>
            <a:off x="2089570" y="2916823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CA4D60-5698-109A-669C-9FB3D28A61EC}"/>
              </a:ext>
            </a:extLst>
          </p:cNvPr>
          <p:cNvSpPr txBox="1"/>
          <p:nvPr/>
        </p:nvSpPr>
        <p:spPr>
          <a:xfrm>
            <a:off x="1490905" y="3832955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2F29A9-432C-3307-5492-5605770F2E57}"/>
              </a:ext>
            </a:extLst>
          </p:cNvPr>
          <p:cNvSpPr txBox="1"/>
          <p:nvPr/>
        </p:nvSpPr>
        <p:spPr>
          <a:xfrm>
            <a:off x="930631" y="4326523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C04359-F5C7-06D3-4426-519AFABB56E0}"/>
              </a:ext>
            </a:extLst>
          </p:cNvPr>
          <p:cNvSpPr txBox="1"/>
          <p:nvPr/>
        </p:nvSpPr>
        <p:spPr>
          <a:xfrm>
            <a:off x="3897711" y="3895049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687CDE-D9F9-5445-B314-20C79F3ABCAE}"/>
              </a:ext>
            </a:extLst>
          </p:cNvPr>
          <p:cNvSpPr txBox="1"/>
          <p:nvPr/>
        </p:nvSpPr>
        <p:spPr>
          <a:xfrm>
            <a:off x="3337437" y="4388617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F34B67-3F33-AAD0-BF18-7CCA21782CDF}"/>
              </a:ext>
            </a:extLst>
          </p:cNvPr>
          <p:cNvSpPr txBox="1"/>
          <p:nvPr/>
        </p:nvSpPr>
        <p:spPr>
          <a:xfrm>
            <a:off x="8746800" y="3631810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7C17FB-9926-432B-F4AA-4C3BB8A92C2B}"/>
              </a:ext>
            </a:extLst>
          </p:cNvPr>
          <p:cNvSpPr txBox="1"/>
          <p:nvPr/>
        </p:nvSpPr>
        <p:spPr>
          <a:xfrm>
            <a:off x="8186526" y="4125378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C4A30-BAD1-A3C7-5488-5A8818913829}"/>
              </a:ext>
            </a:extLst>
          </p:cNvPr>
          <p:cNvSpPr txBox="1"/>
          <p:nvPr/>
        </p:nvSpPr>
        <p:spPr>
          <a:xfrm>
            <a:off x="9595936" y="3881541"/>
            <a:ext cx="43630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RZ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1D68E5-F9BE-25CE-AAD2-504023723BC3}"/>
              </a:ext>
            </a:extLst>
          </p:cNvPr>
          <p:cNvCxnSpPr>
            <a:cxnSpLocks/>
          </p:cNvCxnSpPr>
          <p:nvPr/>
        </p:nvCxnSpPr>
        <p:spPr>
          <a:xfrm>
            <a:off x="5912427" y="1714500"/>
            <a:ext cx="0" cy="4738255"/>
          </a:xfrm>
          <a:prstGeom prst="line">
            <a:avLst/>
          </a:prstGeom>
          <a:ln w="762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B0BF3DF-8741-A837-26FF-5F41761340EE}"/>
              </a:ext>
            </a:extLst>
          </p:cNvPr>
          <p:cNvSpPr txBox="1"/>
          <p:nvPr/>
        </p:nvSpPr>
        <p:spPr>
          <a:xfrm>
            <a:off x="817413" y="5527964"/>
            <a:ext cx="4182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6 DOFs to constrain 3 DOFs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D16CCA-6582-32A8-36AF-6DB1B97A6A97}"/>
              </a:ext>
            </a:extLst>
          </p:cNvPr>
          <p:cNvSpPr txBox="1"/>
          <p:nvPr/>
        </p:nvSpPr>
        <p:spPr>
          <a:xfrm>
            <a:off x="7051427" y="5527964"/>
            <a:ext cx="4182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 DOFs to constrain 3 DOFs</a:t>
            </a:r>
          </a:p>
        </p:txBody>
      </p:sp>
    </p:spTree>
    <p:extLst>
      <p:ext uri="{BB962C8B-B14F-4D97-AF65-F5344CB8AC3E}">
        <p14:creationId xmlns:p14="http://schemas.microsoft.com/office/powerpoint/2010/main" val="1396886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EBE6-DDCA-26EB-5C3A-BF1E8FA8C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449659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Why Don’t we use the Physical Measurements?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8B6A26-FA9B-1BE4-94FA-ECAFE0D4C8C5}"/>
              </a:ext>
            </a:extLst>
          </p:cNvPr>
          <p:cNvSpPr/>
          <p:nvPr/>
        </p:nvSpPr>
        <p:spPr>
          <a:xfrm>
            <a:off x="602673" y="894533"/>
            <a:ext cx="10598727" cy="6433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equivalent multi-point connection typically over constrains the coupling and the VPT can eliminate redundant information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E2756-A8C9-F54A-302C-A8F54A694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8" t="62652" r="65471" b="28446"/>
          <a:stretch>
            <a:fillRect/>
          </a:stretch>
        </p:blipFill>
        <p:spPr>
          <a:xfrm>
            <a:off x="817415" y="2358737"/>
            <a:ext cx="4182156" cy="2990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5EA5BB-B0F0-AF39-29A1-949EAE94E849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421078" y="3086100"/>
            <a:ext cx="503081" cy="0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DF38015-05EA-D73F-DB13-DF7A8B1881AF}"/>
              </a:ext>
            </a:extLst>
          </p:cNvPr>
          <p:cNvSpPr/>
          <p:nvPr/>
        </p:nvSpPr>
        <p:spPr>
          <a:xfrm>
            <a:off x="2924159" y="2948940"/>
            <a:ext cx="274320" cy="27432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C8CBE7-E922-5D89-F62A-8C668E154CD6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3061319" y="2483428"/>
            <a:ext cx="0" cy="46551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C63C76-8A32-901B-93B0-E36AEEB8929A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1253833" y="4495800"/>
            <a:ext cx="503081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B463FC4-39FF-F16D-73E5-137F798B9BBF}"/>
              </a:ext>
            </a:extLst>
          </p:cNvPr>
          <p:cNvSpPr/>
          <p:nvPr/>
        </p:nvSpPr>
        <p:spPr>
          <a:xfrm>
            <a:off x="1756914" y="4358640"/>
            <a:ext cx="274320" cy="27432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AAD2ED-56F7-F078-FC48-4C7FA31C378B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894074" y="3893128"/>
            <a:ext cx="0" cy="46551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EA8A44-665F-5904-7BA6-49C30A97CF11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661060" y="4590011"/>
            <a:ext cx="503081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840ADCE1-49C7-D07A-5730-D948E3271B8F}"/>
              </a:ext>
            </a:extLst>
          </p:cNvPr>
          <p:cNvSpPr/>
          <p:nvPr/>
        </p:nvSpPr>
        <p:spPr>
          <a:xfrm>
            <a:off x="4164141" y="4452851"/>
            <a:ext cx="274320" cy="27432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5F77BD-9B2C-7FB5-C71C-78AACB90EC33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4301301" y="3987339"/>
            <a:ext cx="0" cy="465512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8D87DC-260F-258F-B3E0-251EC654A1F4}"/>
              </a:ext>
            </a:extLst>
          </p:cNvPr>
          <p:cNvSpPr txBox="1"/>
          <p:nvPr/>
        </p:nvSpPr>
        <p:spPr>
          <a:xfrm>
            <a:off x="361756" y="1813489"/>
            <a:ext cx="509347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Equivalent Multi-point Connection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F7D3A6-4D0C-FC21-7F31-2A7AC77AE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28" t="62652" r="65471" b="28446"/>
          <a:stretch>
            <a:fillRect/>
          </a:stretch>
        </p:blipFill>
        <p:spPr>
          <a:xfrm>
            <a:off x="7051431" y="2358737"/>
            <a:ext cx="4182156" cy="29907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D058C2F-BC99-E513-289B-621FAB24C210}"/>
              </a:ext>
            </a:extLst>
          </p:cNvPr>
          <p:cNvSpPr txBox="1"/>
          <p:nvPr/>
        </p:nvSpPr>
        <p:spPr>
          <a:xfrm>
            <a:off x="7051430" y="1813489"/>
            <a:ext cx="418215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Virtual Point Connection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681391C-2808-E3CC-ED64-33C07A2B5A1F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8510151" y="4285212"/>
            <a:ext cx="495196" cy="900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D1A43A7-0EC7-6B89-6276-AA4065129082}"/>
              </a:ext>
            </a:extLst>
          </p:cNvPr>
          <p:cNvSpPr/>
          <p:nvPr/>
        </p:nvSpPr>
        <p:spPr>
          <a:xfrm>
            <a:off x="9005347" y="4148052"/>
            <a:ext cx="274320" cy="27432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E04DE6-83DA-47CF-0ACE-0734D8183ECA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9142507" y="3691545"/>
            <a:ext cx="7885" cy="456507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 20">
            <a:extLst>
              <a:ext uri="{FF2B5EF4-FFF2-40B4-BE49-F238E27FC236}">
                <a16:creationId xmlns:a16="http://schemas.microsoft.com/office/drawing/2014/main" id="{72AB2DF8-E863-935F-9ADB-8F091645F32E}"/>
              </a:ext>
            </a:extLst>
          </p:cNvPr>
          <p:cNvSpPr/>
          <p:nvPr/>
        </p:nvSpPr>
        <p:spPr>
          <a:xfrm>
            <a:off x="8799607" y="3942312"/>
            <a:ext cx="685800" cy="685800"/>
          </a:xfrm>
          <a:prstGeom prst="arc">
            <a:avLst>
              <a:gd name="adj1" fmla="val 18671154"/>
              <a:gd name="adj2" fmla="val 7017618"/>
            </a:avLst>
          </a:prstGeom>
          <a:ln w="5715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CB9817-4B0E-2E8F-203B-AA3C9C283D44}"/>
              </a:ext>
            </a:extLst>
          </p:cNvPr>
          <p:cNvSpPr txBox="1"/>
          <p:nvPr/>
        </p:nvSpPr>
        <p:spPr>
          <a:xfrm>
            <a:off x="2649844" y="2423255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AE0600-1ABB-CA54-11C1-547754079F54}"/>
              </a:ext>
            </a:extLst>
          </p:cNvPr>
          <p:cNvSpPr txBox="1"/>
          <p:nvPr/>
        </p:nvSpPr>
        <p:spPr>
          <a:xfrm>
            <a:off x="2089570" y="2916823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CA4D60-5698-109A-669C-9FB3D28A61EC}"/>
              </a:ext>
            </a:extLst>
          </p:cNvPr>
          <p:cNvSpPr txBox="1"/>
          <p:nvPr/>
        </p:nvSpPr>
        <p:spPr>
          <a:xfrm>
            <a:off x="1490905" y="3832955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2F29A9-432C-3307-5492-5605770F2E57}"/>
              </a:ext>
            </a:extLst>
          </p:cNvPr>
          <p:cNvSpPr txBox="1"/>
          <p:nvPr/>
        </p:nvSpPr>
        <p:spPr>
          <a:xfrm>
            <a:off x="930631" y="4326523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C04359-F5C7-06D3-4426-519AFABB56E0}"/>
              </a:ext>
            </a:extLst>
          </p:cNvPr>
          <p:cNvSpPr txBox="1"/>
          <p:nvPr/>
        </p:nvSpPr>
        <p:spPr>
          <a:xfrm>
            <a:off x="3897711" y="3895049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687CDE-D9F9-5445-B314-20C79F3ABCAE}"/>
              </a:ext>
            </a:extLst>
          </p:cNvPr>
          <p:cNvSpPr txBox="1"/>
          <p:nvPr/>
        </p:nvSpPr>
        <p:spPr>
          <a:xfrm>
            <a:off x="3337437" y="4388617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F34B67-3F33-AAD0-BF18-7CCA21782CDF}"/>
              </a:ext>
            </a:extLst>
          </p:cNvPr>
          <p:cNvSpPr txBox="1"/>
          <p:nvPr/>
        </p:nvSpPr>
        <p:spPr>
          <a:xfrm>
            <a:off x="8746800" y="3631810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7C17FB-9926-432B-F4AA-4C3BB8A92C2B}"/>
              </a:ext>
            </a:extLst>
          </p:cNvPr>
          <p:cNvSpPr txBox="1"/>
          <p:nvPr/>
        </p:nvSpPr>
        <p:spPr>
          <a:xfrm>
            <a:off x="8186526" y="4125378"/>
            <a:ext cx="27431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1C4A30-BAD1-A3C7-5488-5A8818913829}"/>
              </a:ext>
            </a:extLst>
          </p:cNvPr>
          <p:cNvSpPr txBox="1"/>
          <p:nvPr/>
        </p:nvSpPr>
        <p:spPr>
          <a:xfrm>
            <a:off x="9595936" y="3881541"/>
            <a:ext cx="43630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RZ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1D68E5-F9BE-25CE-AAD2-504023723BC3}"/>
              </a:ext>
            </a:extLst>
          </p:cNvPr>
          <p:cNvCxnSpPr>
            <a:cxnSpLocks/>
          </p:cNvCxnSpPr>
          <p:nvPr/>
        </p:nvCxnSpPr>
        <p:spPr>
          <a:xfrm>
            <a:off x="5912427" y="1714500"/>
            <a:ext cx="0" cy="4738255"/>
          </a:xfrm>
          <a:prstGeom prst="line">
            <a:avLst/>
          </a:prstGeom>
          <a:ln w="762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B0BF3DF-8741-A837-26FF-5F41761340EE}"/>
              </a:ext>
            </a:extLst>
          </p:cNvPr>
          <p:cNvSpPr txBox="1"/>
          <p:nvPr/>
        </p:nvSpPr>
        <p:spPr>
          <a:xfrm>
            <a:off x="817413" y="5527964"/>
            <a:ext cx="4182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6 DOFs to constrain 3 DOFs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D16CCA-6582-32A8-36AF-6DB1B97A6A97}"/>
              </a:ext>
            </a:extLst>
          </p:cNvPr>
          <p:cNvSpPr txBox="1"/>
          <p:nvPr/>
        </p:nvSpPr>
        <p:spPr>
          <a:xfrm>
            <a:off x="7051427" y="5527964"/>
            <a:ext cx="4182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3 DOFs to constrain 3 DOFs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D46850-CC8A-716E-7112-BF2EFC1BDBF8}"/>
              </a:ext>
            </a:extLst>
          </p:cNvPr>
          <p:cNvSpPr/>
          <p:nvPr/>
        </p:nvSpPr>
        <p:spPr>
          <a:xfrm>
            <a:off x="1505454" y="2959325"/>
            <a:ext cx="8813946" cy="1494684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The virtual point transformation is a spatial filter and will eliminate any information that isn’t compatible with the transformation definition</a:t>
            </a:r>
          </a:p>
        </p:txBody>
      </p:sp>
    </p:spTree>
    <p:extLst>
      <p:ext uri="{BB962C8B-B14F-4D97-AF65-F5344CB8AC3E}">
        <p14:creationId xmlns:p14="http://schemas.microsoft.com/office/powerpoint/2010/main" val="1042659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3372-01BF-D15C-D010-A12D093A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61474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Spatial Filtering on Measurement Noise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0C00B6-6D58-B6CD-AA66-18F205AD5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961" y="2234662"/>
            <a:ext cx="4352223" cy="2156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AD8D57-67C7-F8A1-9275-867607BD2BB3}"/>
              </a:ext>
            </a:extLst>
          </p:cNvPr>
          <p:cNvSpPr txBox="1"/>
          <p:nvPr/>
        </p:nvSpPr>
        <p:spPr>
          <a:xfrm>
            <a:off x="873674" y="1034372"/>
            <a:ext cx="364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CC9E8-64B9-53DC-997E-B6BBB49BEF39}"/>
              </a:ext>
            </a:extLst>
          </p:cNvPr>
          <p:cNvSpPr txBox="1"/>
          <p:nvPr/>
        </p:nvSpPr>
        <p:spPr>
          <a:xfrm>
            <a:off x="3078050" y="1677737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F67D13-274E-8674-9355-4BFA0053ED32}"/>
              </a:ext>
            </a:extLst>
          </p:cNvPr>
          <p:cNvCxnSpPr>
            <a:stCxn id="7" idx="1"/>
          </p:cNvCxnSpPr>
          <p:nvPr/>
        </p:nvCxnSpPr>
        <p:spPr>
          <a:xfrm flipH="1">
            <a:off x="2696035" y="1908570"/>
            <a:ext cx="382015" cy="43538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029BBC-AC98-ABF9-D780-8F79B16EEA34}"/>
              </a:ext>
            </a:extLst>
          </p:cNvPr>
          <p:cNvSpPr txBox="1"/>
          <p:nvPr/>
        </p:nvSpPr>
        <p:spPr>
          <a:xfrm>
            <a:off x="3307723" y="3657142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C636BF-D4ED-0B01-36FE-A702CFC1419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884868" y="3657142"/>
            <a:ext cx="422855" cy="2308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B1CDE6-A205-C677-DC93-031714A7C1CB}"/>
              </a:ext>
            </a:extLst>
          </p:cNvPr>
          <p:cNvSpPr txBox="1"/>
          <p:nvPr/>
        </p:nvSpPr>
        <p:spPr>
          <a:xfrm>
            <a:off x="400273" y="4611105"/>
            <a:ext cx="5420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and beam are rigidly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 is simulated with measurement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FRFs are estimated directly and with beam FRFs using the VPT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05AD57-B08E-8B11-4C87-9419387D1AE7}"/>
              </a:ext>
            </a:extLst>
          </p:cNvPr>
          <p:cNvSpPr/>
          <p:nvPr/>
        </p:nvSpPr>
        <p:spPr>
          <a:xfrm>
            <a:off x="294961" y="4611105"/>
            <a:ext cx="5526291" cy="1340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26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3372-01BF-D15C-D010-A12D093A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61474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Spatial Filtering on Measurement Noise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0C00B6-6D58-B6CD-AA66-18F205AD5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961" y="2234662"/>
            <a:ext cx="4352223" cy="2156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AD8D57-67C7-F8A1-9275-867607BD2BB3}"/>
              </a:ext>
            </a:extLst>
          </p:cNvPr>
          <p:cNvSpPr txBox="1"/>
          <p:nvPr/>
        </p:nvSpPr>
        <p:spPr>
          <a:xfrm>
            <a:off x="873674" y="1034372"/>
            <a:ext cx="364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CC9E8-64B9-53DC-997E-B6BBB49BEF39}"/>
              </a:ext>
            </a:extLst>
          </p:cNvPr>
          <p:cNvSpPr txBox="1"/>
          <p:nvPr/>
        </p:nvSpPr>
        <p:spPr>
          <a:xfrm>
            <a:off x="3078050" y="1677737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F67D13-274E-8674-9355-4BFA0053ED32}"/>
              </a:ext>
            </a:extLst>
          </p:cNvPr>
          <p:cNvCxnSpPr>
            <a:stCxn id="7" idx="1"/>
          </p:cNvCxnSpPr>
          <p:nvPr/>
        </p:nvCxnSpPr>
        <p:spPr>
          <a:xfrm flipH="1">
            <a:off x="2696035" y="1908570"/>
            <a:ext cx="382015" cy="43538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029BBC-AC98-ABF9-D780-8F79B16EEA34}"/>
              </a:ext>
            </a:extLst>
          </p:cNvPr>
          <p:cNvSpPr txBox="1"/>
          <p:nvPr/>
        </p:nvSpPr>
        <p:spPr>
          <a:xfrm>
            <a:off x="3307723" y="3657142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C636BF-D4ED-0B01-36FE-A702CFC1419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884868" y="3657142"/>
            <a:ext cx="422855" cy="2308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B1CDE6-A205-C677-DC93-031714A7C1CB}"/>
              </a:ext>
            </a:extLst>
          </p:cNvPr>
          <p:cNvSpPr txBox="1"/>
          <p:nvPr/>
        </p:nvSpPr>
        <p:spPr>
          <a:xfrm>
            <a:off x="400273" y="4611105"/>
            <a:ext cx="5420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and beam are rigidly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 is simulated with measurement errors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FRFs are estimated directly and with beam FRFs using the VPT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05AD57-B08E-8B11-4C87-9419387D1AE7}"/>
              </a:ext>
            </a:extLst>
          </p:cNvPr>
          <p:cNvSpPr/>
          <p:nvPr/>
        </p:nvSpPr>
        <p:spPr>
          <a:xfrm>
            <a:off x="294961" y="4997237"/>
            <a:ext cx="5526291" cy="9539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78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3372-01BF-D15C-D010-A12D093A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61474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Spatial Filtering on Measurement Noise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0C00B6-6D58-B6CD-AA66-18F205AD5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961" y="2234662"/>
            <a:ext cx="4352223" cy="2156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AD8D57-67C7-F8A1-9275-867607BD2BB3}"/>
              </a:ext>
            </a:extLst>
          </p:cNvPr>
          <p:cNvSpPr txBox="1"/>
          <p:nvPr/>
        </p:nvSpPr>
        <p:spPr>
          <a:xfrm>
            <a:off x="873674" y="1034372"/>
            <a:ext cx="364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CC9E8-64B9-53DC-997E-B6BBB49BEF39}"/>
              </a:ext>
            </a:extLst>
          </p:cNvPr>
          <p:cNvSpPr txBox="1"/>
          <p:nvPr/>
        </p:nvSpPr>
        <p:spPr>
          <a:xfrm>
            <a:off x="3078050" y="1677737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F67D13-274E-8674-9355-4BFA0053ED32}"/>
              </a:ext>
            </a:extLst>
          </p:cNvPr>
          <p:cNvCxnSpPr>
            <a:stCxn id="7" idx="1"/>
          </p:cNvCxnSpPr>
          <p:nvPr/>
        </p:nvCxnSpPr>
        <p:spPr>
          <a:xfrm flipH="1">
            <a:off x="2696035" y="1908570"/>
            <a:ext cx="382015" cy="43538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029BBC-AC98-ABF9-D780-8F79B16EEA34}"/>
              </a:ext>
            </a:extLst>
          </p:cNvPr>
          <p:cNvSpPr txBox="1"/>
          <p:nvPr/>
        </p:nvSpPr>
        <p:spPr>
          <a:xfrm>
            <a:off x="3307723" y="3657142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C636BF-D4ED-0B01-36FE-A702CFC1419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884868" y="3657142"/>
            <a:ext cx="422855" cy="2308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B1CDE6-A205-C677-DC93-031714A7C1CB}"/>
              </a:ext>
            </a:extLst>
          </p:cNvPr>
          <p:cNvSpPr txBox="1"/>
          <p:nvPr/>
        </p:nvSpPr>
        <p:spPr>
          <a:xfrm>
            <a:off x="400273" y="4611105"/>
            <a:ext cx="5420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and beam are rigidly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FRFs are estimated directly and with beam FRFs using the VPT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 is simulated with measurement errors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E23E4-6569-47AF-A44B-C2C920353AA5}"/>
              </a:ext>
            </a:extLst>
          </p:cNvPr>
          <p:cNvSpPr/>
          <p:nvPr/>
        </p:nvSpPr>
        <p:spPr>
          <a:xfrm>
            <a:off x="294961" y="5588840"/>
            <a:ext cx="5526291" cy="398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33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3372-01BF-D15C-D010-A12D093A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61474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Spatial Filtering on Measurement Noise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0C00B6-6D58-B6CD-AA66-18F205AD5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961" y="2234662"/>
            <a:ext cx="4352223" cy="2156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AD8D57-67C7-F8A1-9275-867607BD2BB3}"/>
              </a:ext>
            </a:extLst>
          </p:cNvPr>
          <p:cNvSpPr txBox="1"/>
          <p:nvPr/>
        </p:nvSpPr>
        <p:spPr>
          <a:xfrm>
            <a:off x="873674" y="1034372"/>
            <a:ext cx="364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CC9E8-64B9-53DC-997E-B6BBB49BEF39}"/>
              </a:ext>
            </a:extLst>
          </p:cNvPr>
          <p:cNvSpPr txBox="1"/>
          <p:nvPr/>
        </p:nvSpPr>
        <p:spPr>
          <a:xfrm>
            <a:off x="3078050" y="1677737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F67D13-274E-8674-9355-4BFA0053ED32}"/>
              </a:ext>
            </a:extLst>
          </p:cNvPr>
          <p:cNvCxnSpPr>
            <a:stCxn id="7" idx="1"/>
          </p:cNvCxnSpPr>
          <p:nvPr/>
        </p:nvCxnSpPr>
        <p:spPr>
          <a:xfrm flipH="1">
            <a:off x="2696035" y="1908570"/>
            <a:ext cx="382015" cy="43538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029BBC-AC98-ABF9-D780-8F79B16EEA34}"/>
              </a:ext>
            </a:extLst>
          </p:cNvPr>
          <p:cNvSpPr txBox="1"/>
          <p:nvPr/>
        </p:nvSpPr>
        <p:spPr>
          <a:xfrm>
            <a:off x="3307723" y="3657142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C636BF-D4ED-0B01-36FE-A702CFC1419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884868" y="3657142"/>
            <a:ext cx="422855" cy="2308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B1CDE6-A205-C677-DC93-031714A7C1CB}"/>
              </a:ext>
            </a:extLst>
          </p:cNvPr>
          <p:cNvSpPr txBox="1"/>
          <p:nvPr/>
        </p:nvSpPr>
        <p:spPr>
          <a:xfrm>
            <a:off x="400273" y="4611105"/>
            <a:ext cx="5420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and beam are rigidly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FRFs are estimated directly and with beam FRFs using the VPT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 is simulated with measurement errors</a:t>
            </a:r>
          </a:p>
        </p:txBody>
      </p:sp>
    </p:spTree>
    <p:extLst>
      <p:ext uri="{BB962C8B-B14F-4D97-AF65-F5344CB8AC3E}">
        <p14:creationId xmlns:p14="http://schemas.microsoft.com/office/powerpoint/2010/main" val="1629476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09BA9B2-8771-51F3-AA3F-6EF50072F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327" y="1034372"/>
            <a:ext cx="6121400" cy="5499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083372-01BF-D15C-D010-A12D093A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61474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Spatial Filtering on Measurement Noise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50C00B6-6D58-B6CD-AA66-18F205AD5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4961" y="2234662"/>
            <a:ext cx="4352223" cy="21568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AD8D57-67C7-F8A1-9275-867607BD2BB3}"/>
              </a:ext>
            </a:extLst>
          </p:cNvPr>
          <p:cNvSpPr txBox="1"/>
          <p:nvPr/>
        </p:nvSpPr>
        <p:spPr>
          <a:xfrm>
            <a:off x="873674" y="1034372"/>
            <a:ext cx="364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Example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CC9E8-64B9-53DC-997E-B6BBB49BEF39}"/>
              </a:ext>
            </a:extLst>
          </p:cNvPr>
          <p:cNvSpPr txBox="1"/>
          <p:nvPr/>
        </p:nvSpPr>
        <p:spPr>
          <a:xfrm>
            <a:off x="3078050" y="1677737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Beam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F67D13-274E-8674-9355-4BFA0053ED32}"/>
              </a:ext>
            </a:extLst>
          </p:cNvPr>
          <p:cNvCxnSpPr>
            <a:stCxn id="7" idx="1"/>
          </p:cNvCxnSpPr>
          <p:nvPr/>
        </p:nvCxnSpPr>
        <p:spPr>
          <a:xfrm flipH="1">
            <a:off x="2696035" y="1908570"/>
            <a:ext cx="382015" cy="435384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029BBC-AC98-ABF9-D780-8F79B16EEA34}"/>
              </a:ext>
            </a:extLst>
          </p:cNvPr>
          <p:cNvSpPr txBox="1"/>
          <p:nvPr/>
        </p:nvSpPr>
        <p:spPr>
          <a:xfrm>
            <a:off x="3307723" y="3657142"/>
            <a:ext cx="1983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Point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C636BF-D4ED-0B01-36FE-A702CFC14199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884868" y="3657142"/>
            <a:ext cx="422855" cy="23083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B1CDE6-A205-C677-DC93-031714A7C1CB}"/>
              </a:ext>
            </a:extLst>
          </p:cNvPr>
          <p:cNvSpPr txBox="1"/>
          <p:nvPr/>
        </p:nvSpPr>
        <p:spPr>
          <a:xfrm>
            <a:off x="400273" y="4611105"/>
            <a:ext cx="54209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and beam are rigidly connected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Point FRFs are estimated directly and with beam FRFs using the VPT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Test is simulated with measurement errors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3ACD2A-ED59-ABD7-CD93-6BEF7750CCAC}"/>
              </a:ext>
            </a:extLst>
          </p:cNvPr>
          <p:cNvSpPr txBox="1"/>
          <p:nvPr/>
        </p:nvSpPr>
        <p:spPr>
          <a:xfrm>
            <a:off x="6478073" y="709405"/>
            <a:ext cx="5035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Sample Physical and VPT FRF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1B8E67-A234-7C37-96FC-8ED7B712587A}"/>
              </a:ext>
            </a:extLst>
          </p:cNvPr>
          <p:cNvSpPr txBox="1"/>
          <p:nvPr/>
        </p:nvSpPr>
        <p:spPr>
          <a:xfrm>
            <a:off x="8075054" y="4992631"/>
            <a:ext cx="3267300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The VPT can help reduce measurement errors in FRFs</a:t>
            </a:r>
          </a:p>
        </p:txBody>
      </p:sp>
    </p:spTree>
    <p:extLst>
      <p:ext uri="{BB962C8B-B14F-4D97-AF65-F5344CB8AC3E}">
        <p14:creationId xmlns:p14="http://schemas.microsoft.com/office/powerpoint/2010/main" val="3964321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A7FB911D-1FE8-A3E7-7CAB-C743104129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7762" y="847364"/>
            <a:ext cx="11355385" cy="51632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0A5336-5292-FB37-3CA7-328A910D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33732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Spatial Filtering on System Dynamics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CB131CA8-2DEA-4152-55F3-9CD10B20C0B2}"/>
              </a:ext>
            </a:extLst>
          </p:cNvPr>
          <p:cNvSpPr/>
          <p:nvPr/>
        </p:nvSpPr>
        <p:spPr>
          <a:xfrm>
            <a:off x="3763436" y="5136944"/>
            <a:ext cx="1262269" cy="3693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9D0B5-5BB2-BB48-78ED-5C4F06833C03}"/>
              </a:ext>
            </a:extLst>
          </p:cNvPr>
          <p:cNvSpPr txBox="1"/>
          <p:nvPr/>
        </p:nvSpPr>
        <p:spPr>
          <a:xfrm>
            <a:off x="5085339" y="5152333"/>
            <a:ext cx="135172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Unmeasured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232F2E-EC87-1E88-BA6E-05031543C30E}"/>
              </a:ext>
            </a:extLst>
          </p:cNvPr>
          <p:cNvSpPr txBox="1"/>
          <p:nvPr/>
        </p:nvSpPr>
        <p:spPr>
          <a:xfrm>
            <a:off x="2630372" y="5152333"/>
            <a:ext cx="106876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Measured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077BAE-D8F8-AC2C-EB8F-5122A2239439}"/>
              </a:ext>
            </a:extLst>
          </p:cNvPr>
          <p:cNvSpPr/>
          <p:nvPr/>
        </p:nvSpPr>
        <p:spPr>
          <a:xfrm>
            <a:off x="1514060" y="6009763"/>
            <a:ext cx="9442173" cy="6494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Filtering out the residual effects of the high frequency modes may or may not be desirable (similar to modal truncation in CMS), depending on the problem</a:t>
            </a:r>
          </a:p>
        </p:txBody>
      </p:sp>
    </p:spTree>
    <p:extLst>
      <p:ext uri="{BB962C8B-B14F-4D97-AF65-F5344CB8AC3E}">
        <p14:creationId xmlns:p14="http://schemas.microsoft.com/office/powerpoint/2010/main" val="17085367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66D01BD-3747-EE95-E426-94737AC49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856891"/>
            <a:ext cx="11364911" cy="51442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0A5336-5292-FB37-3CA7-328A910D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33732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Spatial Filtering on System Dynamics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CB131CA8-2DEA-4152-55F3-9CD10B20C0B2}"/>
              </a:ext>
            </a:extLst>
          </p:cNvPr>
          <p:cNvSpPr/>
          <p:nvPr/>
        </p:nvSpPr>
        <p:spPr>
          <a:xfrm>
            <a:off x="3763436" y="5136944"/>
            <a:ext cx="1262269" cy="3693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9D0B5-5BB2-BB48-78ED-5C4F06833C03}"/>
              </a:ext>
            </a:extLst>
          </p:cNvPr>
          <p:cNvSpPr txBox="1"/>
          <p:nvPr/>
        </p:nvSpPr>
        <p:spPr>
          <a:xfrm>
            <a:off x="5085339" y="5152333"/>
            <a:ext cx="135172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Unmeasured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232F2E-EC87-1E88-BA6E-05031543C30E}"/>
              </a:ext>
            </a:extLst>
          </p:cNvPr>
          <p:cNvSpPr txBox="1"/>
          <p:nvPr/>
        </p:nvSpPr>
        <p:spPr>
          <a:xfrm>
            <a:off x="2630372" y="5152333"/>
            <a:ext cx="106876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Measured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077BAE-D8F8-AC2C-EB8F-5122A2239439}"/>
              </a:ext>
            </a:extLst>
          </p:cNvPr>
          <p:cNvSpPr/>
          <p:nvPr/>
        </p:nvSpPr>
        <p:spPr>
          <a:xfrm>
            <a:off x="1514060" y="6009763"/>
            <a:ext cx="9442173" cy="6494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Filtering out the residual effects of the high frequency modes may or may not be desirable (similar to modal truncation in CMS), depending on the problem</a:t>
            </a:r>
          </a:p>
        </p:txBody>
      </p:sp>
    </p:spTree>
    <p:extLst>
      <p:ext uri="{BB962C8B-B14F-4D97-AF65-F5344CB8AC3E}">
        <p14:creationId xmlns:p14="http://schemas.microsoft.com/office/powerpoint/2010/main" val="3746188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66D01BD-3747-EE95-E426-94737AC49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856891"/>
            <a:ext cx="11364911" cy="51442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80A5336-5292-FB37-3CA7-328A910D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031" y="136525"/>
            <a:ext cx="11337323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Effect of Spatial Filtering on System Dynamics</a:t>
            </a:r>
          </a:p>
        </p:txBody>
      </p:sp>
      <p:sp>
        <p:nvSpPr>
          <p:cNvPr id="10" name="Left-Right Arrow 9">
            <a:extLst>
              <a:ext uri="{FF2B5EF4-FFF2-40B4-BE49-F238E27FC236}">
                <a16:creationId xmlns:a16="http://schemas.microsoft.com/office/drawing/2014/main" id="{CB131CA8-2DEA-4152-55F3-9CD10B20C0B2}"/>
              </a:ext>
            </a:extLst>
          </p:cNvPr>
          <p:cNvSpPr/>
          <p:nvPr/>
        </p:nvSpPr>
        <p:spPr>
          <a:xfrm>
            <a:off x="3763436" y="5136944"/>
            <a:ext cx="1262269" cy="3693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C9D0B5-5BB2-BB48-78ED-5C4F06833C03}"/>
              </a:ext>
            </a:extLst>
          </p:cNvPr>
          <p:cNvSpPr txBox="1"/>
          <p:nvPr/>
        </p:nvSpPr>
        <p:spPr>
          <a:xfrm>
            <a:off x="5085339" y="5152333"/>
            <a:ext cx="1351722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Unmeasured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232F2E-EC87-1E88-BA6E-05031543C30E}"/>
              </a:ext>
            </a:extLst>
          </p:cNvPr>
          <p:cNvSpPr txBox="1"/>
          <p:nvPr/>
        </p:nvSpPr>
        <p:spPr>
          <a:xfrm>
            <a:off x="2630372" y="5152333"/>
            <a:ext cx="106876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Measured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077BAE-D8F8-AC2C-EB8F-5122A2239439}"/>
              </a:ext>
            </a:extLst>
          </p:cNvPr>
          <p:cNvSpPr/>
          <p:nvPr/>
        </p:nvSpPr>
        <p:spPr>
          <a:xfrm>
            <a:off x="1514060" y="6009763"/>
            <a:ext cx="9442173" cy="6494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Filtering out the residual effects of the high frequency modes may or may not be desirable (similar to modal truncation in CMS), depending on the problem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9970A-8583-87F6-A0C4-8EDBC06DA95B}"/>
              </a:ext>
            </a:extLst>
          </p:cNvPr>
          <p:cNvSpPr txBox="1"/>
          <p:nvPr/>
        </p:nvSpPr>
        <p:spPr>
          <a:xfrm>
            <a:off x="4863013" y="4206052"/>
            <a:ext cx="380202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VPT could be used to filter out the residual effects of high frequency modes, which weakens the coupling constraint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C170F1-2F2D-01EE-5059-F52D87FD5F3C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2781074" y="3503137"/>
            <a:ext cx="2081939" cy="111841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5DCC86-2732-E06C-DB8C-62A17E48415F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3231292" y="4335502"/>
            <a:ext cx="1631721" cy="28604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082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835C-1A9F-24BF-5D04-343B776E7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32" y="1409120"/>
            <a:ext cx="10515600" cy="662781"/>
          </a:xfrm>
        </p:spPr>
        <p:txBody>
          <a:bodyPr>
            <a:normAutofit fontScale="90000"/>
          </a:bodyPr>
          <a:lstStyle/>
          <a:p>
            <a:r>
              <a:rPr lang="en-US" dirty="0"/>
              <a:t>Closing Remarks for the VPT</a:t>
            </a:r>
          </a:p>
        </p:txBody>
      </p:sp>
    </p:spTree>
    <p:extLst>
      <p:ext uri="{BB962C8B-B14F-4D97-AF65-F5344CB8AC3E}">
        <p14:creationId xmlns:p14="http://schemas.microsoft.com/office/powerpoint/2010/main" val="42546727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28433-24B7-6392-3B55-0C230CEE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BAA4-7E0C-CF9F-38F9-66BBDC2C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Guidance for using the VPT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711D7-CC65-6B54-4991-9ABE474A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While the VPT seems like a simple concept, there are many non-intuitive aspects with the transformation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Have a robust process for documenting all the extra information from the VPT</a:t>
            </a:r>
          </a:p>
          <a:p>
            <a:pPr lvl="1"/>
            <a:r>
              <a:rPr lang="en-US" dirty="0"/>
              <a:t>All the extra data</a:t>
            </a:r>
          </a:p>
          <a:p>
            <a:pPr lvl="1"/>
            <a:r>
              <a:rPr lang="en-US" dirty="0"/>
              <a:t>Individual sensor locations and orientations</a:t>
            </a:r>
          </a:p>
          <a:p>
            <a:pPr lvl="1"/>
            <a:r>
              <a:rPr lang="en-US" dirty="0"/>
              <a:t>Virtual point location and orientation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Simplify the process and make sure that the measurements in the VPT can be transformed with rigid body shapes – </a:t>
            </a:r>
            <a:r>
              <a:rPr lang="en-US" i="1" dirty="0"/>
              <a:t>a handful of metrics are available to help with this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FCB194-1973-9023-617B-9A8060E9E39F}"/>
              </a:ext>
            </a:extLst>
          </p:cNvPr>
          <p:cNvSpPr/>
          <p:nvPr/>
        </p:nvSpPr>
        <p:spPr>
          <a:xfrm>
            <a:off x="105032" y="874643"/>
            <a:ext cx="11821925" cy="4661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07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28433-24B7-6392-3B55-0C230CEE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BAA4-7E0C-CF9F-38F9-66BBDC2C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Guidance for using the VPT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711D7-CC65-6B54-4991-9ABE474AD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While the VPT seems like a simple concept, there are many non-intuitive aspects with the transformation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Have a robust process for documenting all the extra information from the VPT</a:t>
            </a:r>
          </a:p>
          <a:p>
            <a:pPr lvl="1"/>
            <a:r>
              <a:rPr lang="en-US" dirty="0"/>
              <a:t>All the extra data</a:t>
            </a:r>
          </a:p>
          <a:p>
            <a:pPr lvl="1"/>
            <a:r>
              <a:rPr lang="en-US" dirty="0"/>
              <a:t>Individual sensor locations and orientations</a:t>
            </a:r>
          </a:p>
          <a:p>
            <a:pPr lvl="1"/>
            <a:r>
              <a:rPr lang="en-US" dirty="0"/>
              <a:t>Virtual point location and orientation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Simplify the process and make sure that the measurements in the VPT can be transformed with rigid body shapes – </a:t>
            </a:r>
            <a:r>
              <a:rPr lang="en-US" i="1" dirty="0"/>
              <a:t>a handful of metrics are available to help with this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FCB194-1973-9023-617B-9A8060E9E39F}"/>
              </a:ext>
            </a:extLst>
          </p:cNvPr>
          <p:cNvSpPr/>
          <p:nvPr/>
        </p:nvSpPr>
        <p:spPr>
          <a:xfrm>
            <a:off x="105032" y="1759226"/>
            <a:ext cx="11821925" cy="3776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910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A616-18BC-19FC-A44F-B5F5A273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E6EE6-B6BA-4A36-7448-0A52CB159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Guidance for using the VPT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47F28-0B1C-4FD1-8DCF-E93D181C5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While the VPT seems like a simple concept, there are many non-intuitive aspects with the transformation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Have a robust process for managing all the extra information from the VPT</a:t>
            </a:r>
          </a:p>
          <a:p>
            <a:pPr lvl="1"/>
            <a:r>
              <a:rPr lang="en-US" dirty="0"/>
              <a:t>All the extra data</a:t>
            </a:r>
          </a:p>
          <a:p>
            <a:pPr lvl="1"/>
            <a:r>
              <a:rPr lang="en-US" dirty="0"/>
              <a:t>Individual sensor locations and orientations</a:t>
            </a:r>
          </a:p>
          <a:p>
            <a:pPr lvl="1"/>
            <a:r>
              <a:rPr lang="en-US" dirty="0"/>
              <a:t>Virtual point location and orientation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Simplify the process and make sure that the measurements in the VPT can be transformed with rigid body shapes – </a:t>
            </a:r>
            <a:r>
              <a:rPr lang="en-US" i="1" dirty="0"/>
              <a:t>a handful of metrics are available to help with this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BBC92D-46E0-A2FD-56A4-D248160158A8}"/>
              </a:ext>
            </a:extLst>
          </p:cNvPr>
          <p:cNvSpPr/>
          <p:nvPr/>
        </p:nvSpPr>
        <p:spPr>
          <a:xfrm>
            <a:off x="105032" y="3955774"/>
            <a:ext cx="11821925" cy="15803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725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B9CD-E191-956A-732D-51BD18E2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Basic Guidance for using the VPT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CBF4C-5075-8761-B992-B9AFC21A7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While the VPT seems like a simple concept, there are many non-intuitive aspects with the transformation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Have a robust process for managing all the extra information from the VPT</a:t>
            </a:r>
          </a:p>
          <a:p>
            <a:pPr lvl="1"/>
            <a:r>
              <a:rPr lang="en-US" dirty="0"/>
              <a:t>All the extra data</a:t>
            </a:r>
          </a:p>
          <a:p>
            <a:pPr lvl="1"/>
            <a:r>
              <a:rPr lang="en-US" dirty="0"/>
              <a:t>Individual sensor locations and orientations</a:t>
            </a:r>
          </a:p>
          <a:p>
            <a:pPr lvl="1"/>
            <a:r>
              <a:rPr lang="en-US" dirty="0"/>
              <a:t>Virtual point location and orientation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Simplify the process and make sure that the measurements in the VPT can be transformed with rigid body shapes – </a:t>
            </a:r>
            <a:r>
              <a:rPr lang="en-US" i="1" dirty="0"/>
              <a:t>a handful of metrics are available to help with this</a:t>
            </a:r>
          </a:p>
        </p:txBody>
      </p:sp>
    </p:spTree>
    <p:extLst>
      <p:ext uri="{BB962C8B-B14F-4D97-AF65-F5344CB8AC3E}">
        <p14:creationId xmlns:p14="http://schemas.microsoft.com/office/powerpoint/2010/main" val="9042613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E398-370E-92CD-700C-26DBFF34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Advice for Setting Up a Virtual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DEA27-113B-01C7-97B6-3333C5B46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Should have 1.5-2x the number of physical DOFs vs. virtual point DOFs –</a:t>
            </a:r>
            <a:r>
              <a:rPr lang="en-US" i="1" dirty="0"/>
              <a:t> it’s nice to be able to drop measurements that mess-up the processing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Choose locations that are easy access and define – </a:t>
            </a:r>
            <a:r>
              <a:rPr lang="en-US" i="1" dirty="0"/>
              <a:t>no need for driving point FRFs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Use tools to automate the test geometry generation</a:t>
            </a:r>
            <a:r>
              <a:rPr lang="en-US" i="1" dirty="0"/>
              <a:t> – small errors in the test geometry could lead to significant problems in the virtual 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Keep a close eye on data quality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B8E21-E4E0-A4C8-D2F8-2978AA952F0F}"/>
              </a:ext>
            </a:extLst>
          </p:cNvPr>
          <p:cNvSpPr/>
          <p:nvPr/>
        </p:nvSpPr>
        <p:spPr>
          <a:xfrm>
            <a:off x="105033" y="799306"/>
            <a:ext cx="11337324" cy="5054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108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E398-370E-92CD-700C-26DBFF34F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Advice for Setting Up a Virtual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DEA27-113B-01C7-97B6-3333C5B46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Should have 1.5-2x the number of physical DOFs vs. virtual point DOFs –</a:t>
            </a:r>
            <a:r>
              <a:rPr lang="en-US" i="1" dirty="0"/>
              <a:t> it’s nice to be able to drop measurements that mess-up the processing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Choose locations that are easy access and define – </a:t>
            </a:r>
            <a:r>
              <a:rPr lang="en-US" i="1" dirty="0"/>
              <a:t>no need for driving point FRFs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Use tools to automate the test geometry generation</a:t>
            </a:r>
            <a:r>
              <a:rPr lang="en-US" i="1" dirty="0"/>
              <a:t> – small errors in the test geometry could lead to significant problems in the virtual 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Keep a close eye on data quality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B8E21-E4E0-A4C8-D2F8-2978AA952F0F}"/>
              </a:ext>
            </a:extLst>
          </p:cNvPr>
          <p:cNvSpPr/>
          <p:nvPr/>
        </p:nvSpPr>
        <p:spPr>
          <a:xfrm>
            <a:off x="105033" y="1898374"/>
            <a:ext cx="11337324" cy="39557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70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6AA7-E4EF-A258-1B07-07062861B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FAC0-9A0B-E2DE-587F-87A0BEAB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Advice for Setting Up a Virtual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4DDCC-C872-720E-29AB-11E09AEFF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Should have 1.5-2x the number of physical DOFs vs. virtual point DOFs –</a:t>
            </a:r>
            <a:r>
              <a:rPr lang="en-US" i="1" dirty="0"/>
              <a:t> it’s nice to be able to drop measurements that mess-up the processing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Choose locations that are easy access and define – </a:t>
            </a:r>
            <a:r>
              <a:rPr lang="en-US" i="1" dirty="0"/>
              <a:t>no need for driving point FRFs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Use tools to automate the test geometry generation</a:t>
            </a:r>
            <a:r>
              <a:rPr lang="en-US" i="1" dirty="0"/>
              <a:t> – small errors in the test geometry could lead to significant problems in the virtual 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Keep a close eye on data quality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BD1891-30A2-F30F-5A31-DED45916BFD9}"/>
              </a:ext>
            </a:extLst>
          </p:cNvPr>
          <p:cNvSpPr/>
          <p:nvPr/>
        </p:nvSpPr>
        <p:spPr>
          <a:xfrm>
            <a:off x="105033" y="3001616"/>
            <a:ext cx="11337324" cy="28525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902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A8D9F-BDFA-6941-537C-09AD2C09E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CC7C0-19B0-1423-FBF0-88FE01B30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Advice for Setting Up a Virtual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EB45F-E81D-8DC0-5D24-B3F93C4C4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Should have 1.5-2x the number of physical DOFs vs. virtual point DOFs –</a:t>
            </a:r>
            <a:r>
              <a:rPr lang="en-US" i="1" dirty="0"/>
              <a:t> it’s nice to be able to drop measurements that mess-up the processing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Choose locations that are easy access and define – </a:t>
            </a:r>
            <a:r>
              <a:rPr lang="en-US" i="1" dirty="0"/>
              <a:t>no need for driving point FRFs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Use tools to automate the test geometry generation</a:t>
            </a:r>
            <a:r>
              <a:rPr lang="en-US" i="1" dirty="0"/>
              <a:t> – small errors in the test geometry could lead to significant problems in the virtual 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Keep a close eye on data quality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F3CC70-C094-3E05-A03E-2F5769F0AC3A}"/>
              </a:ext>
            </a:extLst>
          </p:cNvPr>
          <p:cNvSpPr/>
          <p:nvPr/>
        </p:nvSpPr>
        <p:spPr>
          <a:xfrm>
            <a:off x="105033" y="4760843"/>
            <a:ext cx="11337324" cy="1093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43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66A77-A828-8453-682E-EB0C9CE4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9EE9-F16A-AAB5-59D9-A8DF9E421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Advice for Setting Up a Virtual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15D35-0416-3C8E-54C4-71AA479F0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Should have 1.5-2x the number of physical DOFs vs. virtual point DOFs –</a:t>
            </a:r>
            <a:r>
              <a:rPr lang="en-US" i="1" dirty="0"/>
              <a:t> it’s nice to be able to drop measurements that mess-up the processing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Choose locations that are easy access and define – </a:t>
            </a:r>
            <a:r>
              <a:rPr lang="en-US" i="1" dirty="0"/>
              <a:t>no need for driving point FRFs</a:t>
            </a:r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Use tools to automate the test geometry generation</a:t>
            </a:r>
            <a:r>
              <a:rPr lang="en-US" i="1" dirty="0"/>
              <a:t> – small errors in the test geometry could lead to significant problems in the virtual point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Keep a close eye on data quality</a:t>
            </a:r>
          </a:p>
        </p:txBody>
      </p:sp>
    </p:spTree>
    <p:extLst>
      <p:ext uri="{BB962C8B-B14F-4D97-AF65-F5344CB8AC3E}">
        <p14:creationId xmlns:p14="http://schemas.microsoft.com/office/powerpoint/2010/main" val="21627149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26B3-E21D-3947-B40C-827B3C10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Next Up: Decoupling</a:t>
            </a:r>
          </a:p>
        </p:txBody>
      </p:sp>
    </p:spTree>
    <p:extLst>
      <p:ext uri="{BB962C8B-B14F-4D97-AF65-F5344CB8AC3E}">
        <p14:creationId xmlns:p14="http://schemas.microsoft.com/office/powerpoint/2010/main" val="414862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2387</Words>
  <Application>Microsoft Office PowerPoint</Application>
  <PresentationFormat>Widescreen</PresentationFormat>
  <Paragraphs>453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Office Theme</vt:lpstr>
      <vt:lpstr>Module #9: Virtual Point Transformation (VPT)</vt:lpstr>
      <vt:lpstr>Required Information in Substructuring</vt:lpstr>
      <vt:lpstr>Why is the VPT Used?</vt:lpstr>
      <vt:lpstr>Why is the VPT Used?</vt:lpstr>
      <vt:lpstr>Why is the VPT Used?</vt:lpstr>
      <vt:lpstr>Why is the VPT Used?</vt:lpstr>
      <vt:lpstr>Interface Modeling with VPT</vt:lpstr>
      <vt:lpstr>Interface Modeling with the VPT</vt:lpstr>
      <vt:lpstr>What is the Math for the VPT?</vt:lpstr>
      <vt:lpstr>What is the Math for the VPT?</vt:lpstr>
      <vt:lpstr>What is the Math for the VPT?</vt:lpstr>
      <vt:lpstr>What is the Math for the VPT?</vt:lpstr>
      <vt:lpstr>Building Transformation Matrices</vt:lpstr>
      <vt:lpstr>Building Transformation Matrices</vt:lpstr>
      <vt:lpstr>Building Transformation Matrices</vt:lpstr>
      <vt:lpstr>Building Transformation Matrices</vt:lpstr>
      <vt:lpstr>Building Transformation Matrices – Example </vt:lpstr>
      <vt:lpstr>Building Transformation Matrices – Example </vt:lpstr>
      <vt:lpstr>Building Transformation Matrices – Example </vt:lpstr>
      <vt:lpstr>Building Transformation Matrices – Example </vt:lpstr>
      <vt:lpstr>Building Transformation Matrices – Example </vt:lpstr>
      <vt:lpstr>Building Transformation Matrices – Example </vt:lpstr>
      <vt:lpstr>Interface Weakening with VPT</vt:lpstr>
      <vt:lpstr>Why Don’t we use the Physical Measurements?</vt:lpstr>
      <vt:lpstr>Why Don’t we use the Physical Measurements?</vt:lpstr>
      <vt:lpstr>Effect of Spatial Filtering on Measurement Noise</vt:lpstr>
      <vt:lpstr>Effect of Spatial Filtering on Measurement Noise</vt:lpstr>
      <vt:lpstr>Effect of Spatial Filtering on Measurement Noise</vt:lpstr>
      <vt:lpstr>Effect of Spatial Filtering on Measurement Noise</vt:lpstr>
      <vt:lpstr>Effect of Spatial Filtering on Measurement Noise</vt:lpstr>
      <vt:lpstr>Effect of Spatial Filtering on System Dynamics</vt:lpstr>
      <vt:lpstr>Effect of Spatial Filtering on System Dynamics</vt:lpstr>
      <vt:lpstr>Effect of Spatial Filtering on System Dynamics</vt:lpstr>
      <vt:lpstr>Closing Remarks for the VPT</vt:lpstr>
      <vt:lpstr>Basic Guidance for using the VPT</vt:lpstr>
      <vt:lpstr>Basic Guidance for using the VPT</vt:lpstr>
      <vt:lpstr>Basic Guidance for using the VPT</vt:lpstr>
      <vt:lpstr>Basic Guidance for using the VPT</vt:lpstr>
      <vt:lpstr>Advice for Setting Up a Virtual Point</vt:lpstr>
      <vt:lpstr>Advice for Setting Up a Virtual Point</vt:lpstr>
      <vt:lpstr>Advice for Setting Up a Virtual Point</vt:lpstr>
      <vt:lpstr>Advice for Setting Up a Virtual Point</vt:lpstr>
      <vt:lpstr>Advice for Setting Up a Virtual Point</vt:lpstr>
      <vt:lpstr>Next Up: Decoupling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Roettgen, Daniel Robert</dc:creator>
  <cp:lastModifiedBy>Roettgen, Daniel Robert</cp:lastModifiedBy>
  <cp:revision>17</cp:revision>
  <dcterms:created xsi:type="dcterms:W3CDTF">2025-09-04T01:59:06Z</dcterms:created>
  <dcterms:modified xsi:type="dcterms:W3CDTF">2026-01-15T03:24:41Z</dcterms:modified>
</cp:coreProperties>
</file>