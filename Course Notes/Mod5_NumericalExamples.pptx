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74" r:id="rId3"/>
    <p:sldId id="375" r:id="rId4"/>
    <p:sldId id="376" r:id="rId5"/>
    <p:sldId id="788" r:id="rId6"/>
    <p:sldId id="786" r:id="rId7"/>
    <p:sldId id="774" r:id="rId8"/>
    <p:sldId id="778" r:id="rId9"/>
    <p:sldId id="775" r:id="rId10"/>
    <p:sldId id="790" r:id="rId11"/>
    <p:sldId id="792" r:id="rId12"/>
    <p:sldId id="793" r:id="rId13"/>
    <p:sldId id="794" r:id="rId14"/>
    <p:sldId id="795" r:id="rId15"/>
    <p:sldId id="33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B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44288-261C-447B-BD06-944FADE8655D}" v="3" dt="2026-01-17T05:47:39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7419" autoAdjust="0"/>
  </p:normalViewPr>
  <p:slideViewPr>
    <p:cSldViewPr snapToGrid="0">
      <p:cViewPr varScale="1">
        <p:scale>
          <a:sx n="102" d="100"/>
          <a:sy n="102" d="100"/>
        </p:scale>
        <p:origin x="114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Moldenhauer" userId="2637f4f4e8f1f6cf" providerId="LiveId" clId="{CB62CB89-E405-40A8-B2E3-0D4C109FC5FD}"/>
    <pc:docChg chg="modSld">
      <pc:chgData name="Benjamin Moldenhauer" userId="2637f4f4e8f1f6cf" providerId="LiveId" clId="{CB62CB89-E405-40A8-B2E3-0D4C109FC5FD}" dt="2026-01-17T05:47:39.105" v="125" actId="6549"/>
      <pc:docMkLst>
        <pc:docMk/>
      </pc:docMkLst>
      <pc:sldChg chg="modSp mod">
        <pc:chgData name="Benjamin Moldenhauer" userId="2637f4f4e8f1f6cf" providerId="LiveId" clId="{CB62CB89-E405-40A8-B2E3-0D4C109FC5FD}" dt="2026-01-17T01:12:39.843" v="123" actId="20577"/>
        <pc:sldMkLst>
          <pc:docMk/>
          <pc:sldMk cId="2238727134" sldId="374"/>
        </pc:sldMkLst>
        <pc:spChg chg="mod">
          <ac:chgData name="Benjamin Moldenhauer" userId="2637f4f4e8f1f6cf" providerId="LiveId" clId="{CB62CB89-E405-40A8-B2E3-0D4C109FC5FD}" dt="2026-01-17T01:12:39.843" v="123" actId="20577"/>
          <ac:spMkLst>
            <pc:docMk/>
            <pc:sldMk cId="2238727134" sldId="374"/>
            <ac:spMk id="3" creationId="{D4940C96-5EC0-7D91-65D6-B9C65A022D96}"/>
          </ac:spMkLst>
        </pc:spChg>
      </pc:sldChg>
      <pc:sldChg chg="modSp">
        <pc:chgData name="Benjamin Moldenhauer" userId="2637f4f4e8f1f6cf" providerId="LiveId" clId="{CB62CB89-E405-40A8-B2E3-0D4C109FC5FD}" dt="2026-01-17T05:47:39.105" v="125" actId="6549"/>
        <pc:sldMkLst>
          <pc:docMk/>
          <pc:sldMk cId="2418827531" sldId="788"/>
        </pc:sldMkLst>
        <pc:spChg chg="mod">
          <ac:chgData name="Benjamin Moldenhauer" userId="2637f4f4e8f1f6cf" providerId="LiveId" clId="{CB62CB89-E405-40A8-B2E3-0D4C109FC5FD}" dt="2026-01-17T05:47:39.105" v="125" actId="6549"/>
          <ac:spMkLst>
            <pc:docMk/>
            <pc:sldMk cId="2418827531" sldId="788"/>
            <ac:spMk id="5" creationId="{4119B04F-270B-4C5B-67EE-F3BE4BB4B263}"/>
          </ac:spMkLst>
        </pc:spChg>
      </pc:sldChg>
      <pc:sldChg chg="modSp mod">
        <pc:chgData name="Benjamin Moldenhauer" userId="2637f4f4e8f1f6cf" providerId="LiveId" clId="{CB62CB89-E405-40A8-B2E3-0D4C109FC5FD}" dt="2026-01-16T19:41:53.140" v="94" actId="1076"/>
        <pc:sldMkLst>
          <pc:docMk/>
          <pc:sldMk cId="281696578" sldId="795"/>
        </pc:sldMkLst>
        <pc:spChg chg="mod">
          <ac:chgData name="Benjamin Moldenhauer" userId="2637f4f4e8f1f6cf" providerId="LiveId" clId="{CB62CB89-E405-40A8-B2E3-0D4C109FC5FD}" dt="2026-01-16T19:41:53.140" v="94" actId="1076"/>
          <ac:spMkLst>
            <pc:docMk/>
            <pc:sldMk cId="281696578" sldId="795"/>
            <ac:spMk id="6" creationId="{1839317E-9FFA-7C7B-1F7A-2061B3138E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8E9B4-49CA-4854-BDC2-2D8960612057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CADE5-90C9-4886-8ACA-1725E38D5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74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uniform small stiffness is added to each DOF to be a soft BC and slightly raise RBM above 0 Hz. This can help with avoiding inconsistencies with near-zero frequencies.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CADE5-90C9-4886-8ACA-1725E38D54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6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17.9768299067246	18.1491193846868	0.958397441907769</a:t>
            </a:r>
          </a:p>
          <a:p>
            <a:r>
              <a:rPr lang="en-US" dirty="0"/>
              <a:t>103.347962855095	118.527258027761	14.6875610832779</a:t>
            </a:r>
          </a:p>
          <a:p>
            <a:r>
              <a:rPr lang="en-US" dirty="0"/>
              <a:t>288.754991882320	364.463065456242	26.2187929913872</a:t>
            </a:r>
          </a:p>
          <a:p>
            <a:r>
              <a:rPr lang="en-US" dirty="0"/>
              <a:t>565.712423282355	580.065152782729	2.53710700166296</a:t>
            </a:r>
          </a:p>
          <a:p>
            <a:endParaRPr lang="en-US" dirty="0"/>
          </a:p>
          <a:p>
            <a:r>
              <a:rPr lang="en-US" dirty="0"/>
              <a:t>0.00568562820926678	0.00563504992501362	-0.889581280934195</a:t>
            </a:r>
          </a:p>
          <a:p>
            <a:r>
              <a:rPr lang="en-US" dirty="0"/>
              <a:t>0.00198127186630458	0.00200887165335677	1.39303381436830</a:t>
            </a:r>
          </a:p>
          <a:p>
            <a:r>
              <a:rPr lang="en-US" dirty="0"/>
              <a:t>0.00320184581946280	0.00388020483260246	21.1864983946500</a:t>
            </a:r>
          </a:p>
          <a:p>
            <a:r>
              <a:rPr lang="en-US" dirty="0"/>
              <a:t>0.00577613118011763	0.00591390688699863	2.38525931258701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CADE5-90C9-4886-8ACA-1725E38D54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62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17.9768299067246	18.1491193846868	0.958397441907769</a:t>
            </a:r>
          </a:p>
          <a:p>
            <a:r>
              <a:rPr lang="en-US" dirty="0"/>
              <a:t>103.347962855095	118.527258027761	14.6875610832779</a:t>
            </a:r>
          </a:p>
          <a:p>
            <a:r>
              <a:rPr lang="en-US" dirty="0"/>
              <a:t>288.754991882320	364.463065456242	26.2187929913872</a:t>
            </a:r>
          </a:p>
          <a:p>
            <a:r>
              <a:rPr lang="en-US" dirty="0"/>
              <a:t>565.712423282355	580.065152782729	2.53710700166296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CADE5-90C9-4886-8ACA-1725E38D54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07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17.9768299067246	18.1491193846868	0.958397441907769</a:t>
            </a:r>
          </a:p>
          <a:p>
            <a:r>
              <a:rPr lang="en-US" dirty="0"/>
              <a:t>103.347962855095	118.527258027761	14.6875610832779</a:t>
            </a:r>
          </a:p>
          <a:p>
            <a:r>
              <a:rPr lang="en-US" dirty="0"/>
              <a:t>288.754991882320	364.463065456242	26.2187929913872</a:t>
            </a:r>
          </a:p>
          <a:p>
            <a:r>
              <a:rPr lang="en-US" dirty="0"/>
              <a:t>565.712423282355	580.065152782729	2.53710700166296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CADE5-90C9-4886-8ACA-1725E38D54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1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17.9768299067246	18.1491193846868	0.958397441907769</a:t>
            </a:r>
          </a:p>
          <a:p>
            <a:r>
              <a:rPr lang="en-US" dirty="0"/>
              <a:t>103.347962855095	118.527258027761	14.6875610832779</a:t>
            </a:r>
          </a:p>
          <a:p>
            <a:r>
              <a:rPr lang="en-US" dirty="0"/>
              <a:t>288.754991882320	364.463065456242	26.2187929913872</a:t>
            </a:r>
          </a:p>
          <a:p>
            <a:r>
              <a:rPr lang="en-US" dirty="0"/>
              <a:t>565.712423282355	580.065152782729	2.53710700166296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CADE5-90C9-4886-8ACA-1725E38D54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37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17.9768299067246	18.1491193846855	0.958397441900635</a:t>
            </a:r>
          </a:p>
          <a:p>
            <a:r>
              <a:rPr lang="en-US" dirty="0"/>
              <a:t>103.347962855095	118.527258027761	14.6875610832778</a:t>
            </a:r>
          </a:p>
          <a:p>
            <a:r>
              <a:rPr lang="en-US" dirty="0"/>
              <a:t>288.754991882320	364.463065456242	26.2187929913871</a:t>
            </a:r>
          </a:p>
          <a:p>
            <a:r>
              <a:rPr lang="en-US" dirty="0"/>
              <a:t>565.712423282355	580.065152782731	2.53710700166326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CADE5-90C9-4886-8ACA-1725E38D54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1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1/16/2026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5: Numerical Examples in MATLAB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13B625-871C-41F0-06A4-8D81D9C6287F}"/>
              </a:ext>
            </a:extLst>
          </p:cNvPr>
          <p:cNvSpPr/>
          <p:nvPr/>
        </p:nvSpPr>
        <p:spPr>
          <a:xfrm>
            <a:off x="6567786" y="1250134"/>
            <a:ext cx="45720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46915-170A-BB5B-1571-BC528A7C5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Outline of the Substructuring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40C96-5EC0-7D91-65D6-B9C65A02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2093391"/>
            <a:ext cx="11337324" cy="3897413"/>
          </a:xfrm>
        </p:spPr>
        <p:txBody>
          <a:bodyPr>
            <a:normAutofit/>
          </a:bodyPr>
          <a:lstStyle/>
          <a:p>
            <a:r>
              <a:rPr lang="en-US" dirty="0"/>
              <a:t>Beam A &amp; Beam B subsystems combine into Beam C</a:t>
            </a:r>
          </a:p>
          <a:p>
            <a:pPr lvl="1"/>
            <a:r>
              <a:rPr lang="en-US" dirty="0"/>
              <a:t>Truth Answer formed by directly superimposing matrices </a:t>
            </a:r>
          </a:p>
          <a:p>
            <a:r>
              <a:rPr lang="en-US" dirty="0"/>
              <a:t>Substructuring Assemblies:</a:t>
            </a:r>
          </a:p>
          <a:p>
            <a:pPr lvl="1"/>
            <a:r>
              <a:rPr lang="en-US" dirty="0"/>
              <a:t>Physical Substructuring with M, C &amp; K of the beams</a:t>
            </a:r>
          </a:p>
          <a:p>
            <a:pPr lvl="1"/>
            <a:r>
              <a:rPr lang="en-US" dirty="0"/>
              <a:t>LM-FBS assembly of subsystem FRFs</a:t>
            </a:r>
          </a:p>
          <a:p>
            <a:pPr lvl="1"/>
            <a:r>
              <a:rPr lang="en-US" dirty="0"/>
              <a:t>Primal CMS assembly of A and B via modal basis</a:t>
            </a:r>
          </a:p>
          <a:p>
            <a:r>
              <a:rPr lang="en-US" dirty="0"/>
              <a:t>What are some errors that can come in? </a:t>
            </a:r>
          </a:p>
          <a:p>
            <a:pPr lvl="1"/>
            <a:r>
              <a:rPr lang="en-US" dirty="0"/>
              <a:t>LM-FBS: Noise in the FRFs</a:t>
            </a:r>
          </a:p>
          <a:p>
            <a:pPr lvl="1"/>
            <a:r>
              <a:rPr lang="en-US" dirty="0"/>
              <a:t>CMS: Modal Truncation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EB4019-4647-7516-9E6B-DD5C3E6AA827}"/>
              </a:ext>
            </a:extLst>
          </p:cNvPr>
          <p:cNvSpPr/>
          <p:nvPr/>
        </p:nvSpPr>
        <p:spPr>
          <a:xfrm>
            <a:off x="574248" y="1250134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3EA3AC-A18B-24CD-91BF-9DE736CE5811}"/>
              </a:ext>
            </a:extLst>
          </p:cNvPr>
          <p:cNvSpPr/>
          <p:nvPr/>
        </p:nvSpPr>
        <p:spPr>
          <a:xfrm>
            <a:off x="4201132" y="1250134"/>
            <a:ext cx="18288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E0068-B68F-4F1D-B4C5-6AA4EA3B7AA6}"/>
              </a:ext>
            </a:extLst>
          </p:cNvPr>
          <p:cNvSpPr txBox="1"/>
          <p:nvPr/>
        </p:nvSpPr>
        <p:spPr>
          <a:xfrm>
            <a:off x="3605193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BFAA6B-4826-9724-15E9-87E23319C117}"/>
              </a:ext>
            </a:extLst>
          </p:cNvPr>
          <p:cNvSpPr/>
          <p:nvPr/>
        </p:nvSpPr>
        <p:spPr>
          <a:xfrm>
            <a:off x="3276147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517B90-41C0-2489-3E49-3C8861856E0F}"/>
              </a:ext>
            </a:extLst>
          </p:cNvPr>
          <p:cNvSpPr/>
          <p:nvPr/>
        </p:nvSpPr>
        <p:spPr>
          <a:xfrm>
            <a:off x="4158270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81D022-8DFA-0FF6-86CD-7F4E64577B13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3317448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660753C0-1975-2219-608F-19219BEAE3D2}"/>
              </a:ext>
            </a:extLst>
          </p:cNvPr>
          <p:cNvSpPr/>
          <p:nvPr/>
        </p:nvSpPr>
        <p:spPr>
          <a:xfrm>
            <a:off x="3126205" y="1292798"/>
            <a:ext cx="384048" cy="384048"/>
          </a:xfrm>
          <a:prstGeom prst="arc">
            <a:avLst>
              <a:gd name="adj1" fmla="val 17589694"/>
              <a:gd name="adj2" fmla="val 451070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4E17F0-08A5-B9A9-DA14-F9DE2AB43896}"/>
              </a:ext>
            </a:extLst>
          </p:cNvPr>
          <p:cNvCxnSpPr>
            <a:cxnSpLocks/>
          </p:cNvCxnSpPr>
          <p:nvPr/>
        </p:nvCxnSpPr>
        <p:spPr>
          <a:xfrm flipH="1" flipV="1">
            <a:off x="4199571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44D03B03-13C0-534F-BA5E-AD5800B29A47}"/>
              </a:ext>
            </a:extLst>
          </p:cNvPr>
          <p:cNvSpPr/>
          <p:nvPr/>
        </p:nvSpPr>
        <p:spPr>
          <a:xfrm>
            <a:off x="4008328" y="1292798"/>
            <a:ext cx="384048" cy="384048"/>
          </a:xfrm>
          <a:prstGeom prst="arc">
            <a:avLst>
              <a:gd name="adj1" fmla="val 5948162"/>
              <a:gd name="adj2" fmla="val 1493808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368E14-CDF2-D8C5-652A-D8A5007DD48A}"/>
              </a:ext>
            </a:extLst>
          </p:cNvPr>
          <p:cNvSpPr txBox="1"/>
          <p:nvPr/>
        </p:nvSpPr>
        <p:spPr>
          <a:xfrm>
            <a:off x="6138398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26393A-E9A1-5314-148C-9588FB0ECB7A}"/>
              </a:ext>
            </a:extLst>
          </p:cNvPr>
          <p:cNvCxnSpPr/>
          <p:nvPr/>
        </p:nvCxnSpPr>
        <p:spPr>
          <a:xfrm>
            <a:off x="9310986" y="1250134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C7F2831-6849-27EF-1278-66E70A11598E}"/>
              </a:ext>
            </a:extLst>
          </p:cNvPr>
          <p:cNvSpPr/>
          <p:nvPr/>
        </p:nvSpPr>
        <p:spPr>
          <a:xfrm>
            <a:off x="9266031" y="14394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34E1C0-A9DE-694C-E028-6A34241AA48D}"/>
              </a:ext>
            </a:extLst>
          </p:cNvPr>
          <p:cNvCxnSpPr>
            <a:cxnSpLocks/>
          </p:cNvCxnSpPr>
          <p:nvPr/>
        </p:nvCxnSpPr>
        <p:spPr>
          <a:xfrm flipH="1" flipV="1">
            <a:off x="9310205" y="98040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2F2ED778-2D9E-CCAE-6792-4FA82A66EF50}"/>
              </a:ext>
            </a:extLst>
          </p:cNvPr>
          <p:cNvSpPr/>
          <p:nvPr/>
        </p:nvSpPr>
        <p:spPr>
          <a:xfrm>
            <a:off x="9118962" y="1294068"/>
            <a:ext cx="384048" cy="384048"/>
          </a:xfrm>
          <a:prstGeom prst="arc">
            <a:avLst>
              <a:gd name="adj1" fmla="val 17390596"/>
              <a:gd name="adj2" fmla="val 4028325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3872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858E-8CA0-B82E-EBCC-A69D08E60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36525"/>
            <a:ext cx="12192001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Section 1 &amp; 2 : Beam Subsystems A &amp;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FC335-C083-D0B4-9F74-AB2B7B6BF3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2095837"/>
                <a:ext cx="11337324" cy="3943012"/>
              </a:xfrm>
            </p:spPr>
            <p:txBody>
              <a:bodyPr/>
              <a:lstStyle/>
              <a:p>
                <a:r>
                  <a:rPr lang="en-US" dirty="0"/>
                  <a:t>Beams A &amp; B are connected through translation and rotation DOFs at the tips</a:t>
                </a:r>
              </a:p>
              <a:p>
                <a:r>
                  <a:rPr lang="en-US" dirty="0"/>
                  <a:t>Parameters: width, height, total length, length split ratio, total number of elements, material properties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/>
                  <a:t>) and Rayleigh Damping parameters</a:t>
                </a:r>
              </a:p>
              <a:p>
                <a:r>
                  <a:rPr lang="en-US" dirty="0"/>
                  <a:t>Provided script </a:t>
                </a:r>
                <a:r>
                  <a:rPr lang="en-US" dirty="0" err="1"/>
                  <a:t>beamkm_ur.m</a:t>
                </a:r>
                <a:r>
                  <a:rPr lang="en-US" dirty="0"/>
                  <a:t> generates Mass, M, and Stiffness, K, matrices composed of Euler-Bernoulli Beam elements. The damping matrix, C, is then constructed proportional to M &amp; K.</a:t>
                </a:r>
              </a:p>
              <a:p>
                <a:r>
                  <a:rPr lang="en-US" dirty="0"/>
                  <a:t>Boundary Conditions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Define a cantilever or fixed-fixed beam by fixing one or both of the outer beam ends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FC335-C083-D0B4-9F74-AB2B7B6BF3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2095837"/>
                <a:ext cx="11337324" cy="3943012"/>
              </a:xfrm>
              <a:blipFill>
                <a:blip r:embed="rId3"/>
                <a:stretch>
                  <a:fillRect l="-968" t="-2782" r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08F85ED-28F7-5B77-8114-7A2DD90A05ED}"/>
              </a:ext>
            </a:extLst>
          </p:cNvPr>
          <p:cNvSpPr/>
          <p:nvPr/>
        </p:nvSpPr>
        <p:spPr>
          <a:xfrm>
            <a:off x="6567786" y="1250589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D72E4-089D-6029-AB9C-B46501164868}"/>
              </a:ext>
            </a:extLst>
          </p:cNvPr>
          <p:cNvSpPr/>
          <p:nvPr/>
        </p:nvSpPr>
        <p:spPr>
          <a:xfrm>
            <a:off x="9310987" y="1250362"/>
            <a:ext cx="18288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408DA-86E8-E310-82A9-E880450ADAAC}"/>
              </a:ext>
            </a:extLst>
          </p:cNvPr>
          <p:cNvSpPr/>
          <p:nvPr/>
        </p:nvSpPr>
        <p:spPr>
          <a:xfrm>
            <a:off x="6567786" y="1250134"/>
            <a:ext cx="45720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FC80A-514E-C93B-AD35-C8EBBA6B6AB6}"/>
              </a:ext>
            </a:extLst>
          </p:cNvPr>
          <p:cNvSpPr/>
          <p:nvPr/>
        </p:nvSpPr>
        <p:spPr>
          <a:xfrm>
            <a:off x="574248" y="1250134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C2FBAF-1900-601F-541A-C674CC454786}"/>
              </a:ext>
            </a:extLst>
          </p:cNvPr>
          <p:cNvSpPr/>
          <p:nvPr/>
        </p:nvSpPr>
        <p:spPr>
          <a:xfrm>
            <a:off x="4201132" y="1250134"/>
            <a:ext cx="18288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B2BF2-D5B9-9DA3-3195-0D07B122CC84}"/>
              </a:ext>
            </a:extLst>
          </p:cNvPr>
          <p:cNvSpPr txBox="1"/>
          <p:nvPr/>
        </p:nvSpPr>
        <p:spPr>
          <a:xfrm>
            <a:off x="3605193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EB810D-9F5A-80DC-3394-8A8019AC2B96}"/>
              </a:ext>
            </a:extLst>
          </p:cNvPr>
          <p:cNvSpPr/>
          <p:nvPr/>
        </p:nvSpPr>
        <p:spPr>
          <a:xfrm>
            <a:off x="3276147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90BD19-BA46-BC0A-3888-38B71C77FCF3}"/>
              </a:ext>
            </a:extLst>
          </p:cNvPr>
          <p:cNvSpPr/>
          <p:nvPr/>
        </p:nvSpPr>
        <p:spPr>
          <a:xfrm>
            <a:off x="4158270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7C921A-8E6F-923F-94BF-6015921FCEDA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3317448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69B0AB5C-CED7-8995-3BCC-6D21669C00FD}"/>
              </a:ext>
            </a:extLst>
          </p:cNvPr>
          <p:cNvSpPr/>
          <p:nvPr/>
        </p:nvSpPr>
        <p:spPr>
          <a:xfrm>
            <a:off x="3126205" y="1292798"/>
            <a:ext cx="384048" cy="384048"/>
          </a:xfrm>
          <a:prstGeom prst="arc">
            <a:avLst>
              <a:gd name="adj1" fmla="val 17589694"/>
              <a:gd name="adj2" fmla="val 451070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3F5172-CBFD-5FF3-777E-7C5D2B868411}"/>
              </a:ext>
            </a:extLst>
          </p:cNvPr>
          <p:cNvCxnSpPr>
            <a:cxnSpLocks/>
          </p:cNvCxnSpPr>
          <p:nvPr/>
        </p:nvCxnSpPr>
        <p:spPr>
          <a:xfrm flipH="1" flipV="1">
            <a:off x="4199571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rc 14">
            <a:extLst>
              <a:ext uri="{FF2B5EF4-FFF2-40B4-BE49-F238E27FC236}">
                <a16:creationId xmlns:a16="http://schemas.microsoft.com/office/drawing/2014/main" id="{679123DF-C305-6064-74C9-41D65D82F5CE}"/>
              </a:ext>
            </a:extLst>
          </p:cNvPr>
          <p:cNvSpPr/>
          <p:nvPr/>
        </p:nvSpPr>
        <p:spPr>
          <a:xfrm>
            <a:off x="4008328" y="1292798"/>
            <a:ext cx="384048" cy="384048"/>
          </a:xfrm>
          <a:prstGeom prst="arc">
            <a:avLst>
              <a:gd name="adj1" fmla="val 5948162"/>
              <a:gd name="adj2" fmla="val 1493808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B45FB1-F190-BACB-E213-93BDFAC70428}"/>
              </a:ext>
            </a:extLst>
          </p:cNvPr>
          <p:cNvSpPr txBox="1"/>
          <p:nvPr/>
        </p:nvSpPr>
        <p:spPr>
          <a:xfrm>
            <a:off x="6138398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28A881-F0B1-84FD-92E2-153F3E57EAA4}"/>
              </a:ext>
            </a:extLst>
          </p:cNvPr>
          <p:cNvCxnSpPr/>
          <p:nvPr/>
        </p:nvCxnSpPr>
        <p:spPr>
          <a:xfrm>
            <a:off x="9310986" y="1250134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7981DEA-8D71-E9BF-A3E8-3BD2BB2B5431}"/>
              </a:ext>
            </a:extLst>
          </p:cNvPr>
          <p:cNvSpPr/>
          <p:nvPr/>
        </p:nvSpPr>
        <p:spPr>
          <a:xfrm>
            <a:off x="9266031" y="14394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1AE8C2-96F5-7755-A0E2-F7373F5C1075}"/>
              </a:ext>
            </a:extLst>
          </p:cNvPr>
          <p:cNvCxnSpPr>
            <a:cxnSpLocks/>
          </p:cNvCxnSpPr>
          <p:nvPr/>
        </p:nvCxnSpPr>
        <p:spPr>
          <a:xfrm flipH="1" flipV="1">
            <a:off x="9310205" y="98040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E10F81AA-9858-7964-4B0F-79E4A92C8ED1}"/>
              </a:ext>
            </a:extLst>
          </p:cNvPr>
          <p:cNvSpPr/>
          <p:nvPr/>
        </p:nvSpPr>
        <p:spPr>
          <a:xfrm>
            <a:off x="9118962" y="1294068"/>
            <a:ext cx="384048" cy="384048"/>
          </a:xfrm>
          <a:prstGeom prst="arc">
            <a:avLst>
              <a:gd name="adj1" fmla="val 17390596"/>
              <a:gd name="adj2" fmla="val 4028325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5906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22A2-F07C-F629-28E3-725C4E50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Section 1 &amp; 2 : Truth Assembly By Superimposing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D6A726-C8A9-E128-AF09-CFAD728B6AAE}"/>
                  </a:ext>
                </a:extLst>
              </p:cNvPr>
              <p:cNvSpPr/>
              <p:nvPr/>
            </p:nvSpPr>
            <p:spPr>
              <a:xfrm>
                <a:off x="7321675" y="1154403"/>
                <a:ext cx="2926080" cy="292608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D6A726-C8A9-E128-AF09-CFAD728B6A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675" y="1154403"/>
                <a:ext cx="2926080" cy="29260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0571A65-AE11-7307-11AD-5E565455F3D8}"/>
                  </a:ext>
                </a:extLst>
              </p:cNvPr>
              <p:cNvSpPr/>
              <p:nvPr/>
            </p:nvSpPr>
            <p:spPr>
              <a:xfrm>
                <a:off x="9881994" y="3714723"/>
                <a:ext cx="2011680" cy="201168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0571A65-AE11-7307-11AD-5E565455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1994" y="3714723"/>
                <a:ext cx="2011680" cy="2011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420998E-7F76-60D1-D394-A121253E0BD4}"/>
              </a:ext>
            </a:extLst>
          </p:cNvPr>
          <p:cNvSpPr/>
          <p:nvPr/>
        </p:nvSpPr>
        <p:spPr>
          <a:xfrm>
            <a:off x="7321675" y="1154403"/>
            <a:ext cx="4572000" cy="4572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0A9E61-8C0E-3932-D003-B2D5FB2FD08B}"/>
                  </a:ext>
                </a:extLst>
              </p:cNvPr>
              <p:cNvSpPr/>
              <p:nvPr/>
            </p:nvSpPr>
            <p:spPr>
              <a:xfrm>
                <a:off x="433760" y="2724947"/>
                <a:ext cx="2926080" cy="292608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Mass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10A9E61-8C0E-3932-D003-B2D5FB2FD0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60" y="2724947"/>
                <a:ext cx="2926080" cy="29260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079CF8-5349-0146-9D51-A2A6DD0177E5}"/>
                  </a:ext>
                </a:extLst>
              </p:cNvPr>
              <p:cNvSpPr/>
              <p:nvPr/>
            </p:nvSpPr>
            <p:spPr>
              <a:xfrm>
                <a:off x="4251340" y="3179469"/>
                <a:ext cx="2011680" cy="2011680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Mass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079CF8-5349-0146-9D51-A2A6DD017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340" y="3179469"/>
                <a:ext cx="2011680" cy="20116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B1ED11-97FC-EBD1-12EF-2AC7745D37AE}"/>
                  </a:ext>
                </a:extLst>
              </p:cNvPr>
              <p:cNvSpPr txBox="1"/>
              <p:nvPr/>
            </p:nvSpPr>
            <p:spPr>
              <a:xfrm>
                <a:off x="9323736" y="3209570"/>
                <a:ext cx="607567" cy="46166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BB1ED11-97FC-EBD1-12EF-2AC7745D3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736" y="3209570"/>
                <a:ext cx="607567" cy="461665"/>
              </a:xfrm>
              <a:prstGeom prst="rect">
                <a:avLst/>
              </a:prstGeom>
              <a:blipFill>
                <a:blip r:embed="rId6"/>
                <a:stretch>
                  <a:fillRect l="-97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4A4D9B-B01E-09EE-0F43-7C6EED61895E}"/>
                  </a:ext>
                </a:extLst>
              </p:cNvPr>
              <p:cNvSpPr txBox="1"/>
              <p:nvPr/>
            </p:nvSpPr>
            <p:spPr>
              <a:xfrm>
                <a:off x="3386857" y="3997766"/>
                <a:ext cx="5175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4A4D9B-B01E-09EE-0F43-7C6EED618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57" y="3997766"/>
                <a:ext cx="5175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05310D-7EFE-D561-3EAC-39FC6AFBCD7E}"/>
                  </a:ext>
                </a:extLst>
              </p:cNvPr>
              <p:cNvSpPr txBox="1"/>
              <p:nvPr/>
            </p:nvSpPr>
            <p:spPr>
              <a:xfrm>
                <a:off x="6328179" y="3619709"/>
                <a:ext cx="5175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05310D-7EFE-D561-3EAC-39FC6AFBC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179" y="3619709"/>
                <a:ext cx="51750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1271DB-C892-9916-7464-0099E14A3A62}"/>
                  </a:ext>
                </a:extLst>
              </p:cNvPr>
              <p:cNvSpPr txBox="1"/>
              <p:nvPr/>
            </p:nvSpPr>
            <p:spPr>
              <a:xfrm>
                <a:off x="1622480" y="2355615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1271DB-C892-9916-7464-0099E14A3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480" y="2355615"/>
                <a:ext cx="5486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494F7A-DD41-3692-6711-C184B133BBCB}"/>
              </a:ext>
            </a:extLst>
          </p:cNvPr>
          <p:cNvCxnSpPr/>
          <p:nvPr/>
        </p:nvCxnSpPr>
        <p:spPr>
          <a:xfrm>
            <a:off x="2171120" y="2540281"/>
            <a:ext cx="1188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837A9A-7021-E241-A41A-F507DF142F8A}"/>
              </a:ext>
            </a:extLst>
          </p:cNvPr>
          <p:cNvCxnSpPr>
            <a:cxnSpLocks/>
          </p:cNvCxnSpPr>
          <p:nvPr/>
        </p:nvCxnSpPr>
        <p:spPr>
          <a:xfrm flipH="1">
            <a:off x="433760" y="2543052"/>
            <a:ext cx="1188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A4D05B-48B4-5442-CF74-9F6C420FECEC}"/>
                  </a:ext>
                </a:extLst>
              </p:cNvPr>
              <p:cNvSpPr txBox="1"/>
              <p:nvPr/>
            </p:nvSpPr>
            <p:spPr>
              <a:xfrm>
                <a:off x="-49650" y="4000643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A4D05B-48B4-5442-CF74-9F6C420FE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650" y="4000643"/>
                <a:ext cx="5486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0B4BC0-8D75-69CF-3395-A4C206F8B70E}"/>
              </a:ext>
            </a:extLst>
          </p:cNvPr>
          <p:cNvCxnSpPr>
            <a:cxnSpLocks/>
          </p:cNvCxnSpPr>
          <p:nvPr/>
        </p:nvCxnSpPr>
        <p:spPr>
          <a:xfrm rot="16200000">
            <a:off x="-369690" y="3319307"/>
            <a:ext cx="1188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0D21CE-512B-69A9-F4B5-5F00986916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-369690" y="5056667"/>
            <a:ext cx="1188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82CC10-46EE-CE4C-A2F3-1162B31124E6}"/>
                  </a:ext>
                </a:extLst>
              </p:cNvPr>
              <p:cNvSpPr txBox="1"/>
              <p:nvPr/>
            </p:nvSpPr>
            <p:spPr>
              <a:xfrm>
                <a:off x="8562501" y="741583"/>
                <a:ext cx="20903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382CC10-46EE-CE4C-A2F3-1162B3112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501" y="741583"/>
                <a:ext cx="209034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AFAF46-5C6C-08BC-D378-3669A4601D42}"/>
              </a:ext>
            </a:extLst>
          </p:cNvPr>
          <p:cNvCxnSpPr/>
          <p:nvPr/>
        </p:nvCxnSpPr>
        <p:spPr>
          <a:xfrm>
            <a:off x="10704954" y="940149"/>
            <a:ext cx="1188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DB9747-79F1-CFAF-D0A8-52C08340FB3A}"/>
              </a:ext>
            </a:extLst>
          </p:cNvPr>
          <p:cNvCxnSpPr>
            <a:cxnSpLocks/>
          </p:cNvCxnSpPr>
          <p:nvPr/>
        </p:nvCxnSpPr>
        <p:spPr>
          <a:xfrm flipH="1">
            <a:off x="7295800" y="942920"/>
            <a:ext cx="1188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1E3F55-EBBF-091C-9A61-3479AB25D8F7}"/>
                  </a:ext>
                </a:extLst>
              </p:cNvPr>
              <p:cNvSpPr txBox="1"/>
              <p:nvPr/>
            </p:nvSpPr>
            <p:spPr>
              <a:xfrm>
                <a:off x="6773035" y="3255645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1E3F55-EBBF-091C-9A61-3479AB25D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035" y="3255645"/>
                <a:ext cx="54864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F77AC7-0B47-2405-7336-281C20882282}"/>
              </a:ext>
            </a:extLst>
          </p:cNvPr>
          <p:cNvCxnSpPr>
            <a:cxnSpLocks/>
          </p:cNvCxnSpPr>
          <p:nvPr/>
        </p:nvCxnSpPr>
        <p:spPr>
          <a:xfrm flipV="1">
            <a:off x="7112329" y="1133216"/>
            <a:ext cx="0" cy="201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6BF1F3B-14D0-6165-33C2-A9C388BD38E2}"/>
              </a:ext>
            </a:extLst>
          </p:cNvPr>
          <p:cNvCxnSpPr>
            <a:cxnSpLocks/>
          </p:cNvCxnSpPr>
          <p:nvPr/>
        </p:nvCxnSpPr>
        <p:spPr>
          <a:xfrm>
            <a:off x="7112329" y="3714723"/>
            <a:ext cx="0" cy="2011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4E0F3C-191C-07F0-B3A4-690A5B3CB930}"/>
                  </a:ext>
                </a:extLst>
              </p:cNvPr>
              <p:cNvSpPr txBox="1"/>
              <p:nvPr/>
            </p:nvSpPr>
            <p:spPr>
              <a:xfrm>
                <a:off x="4982859" y="2799568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4E0F3C-191C-07F0-B3A4-690A5B3CB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2859" y="2799568"/>
                <a:ext cx="54864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C85B0A-E2DA-9A2D-6D33-E12CB1D7B741}"/>
              </a:ext>
            </a:extLst>
          </p:cNvPr>
          <p:cNvCxnSpPr/>
          <p:nvPr/>
        </p:nvCxnSpPr>
        <p:spPr>
          <a:xfrm>
            <a:off x="5531500" y="3024726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519F8C0-2D9D-07EE-CA5F-CEB00734F363}"/>
              </a:ext>
            </a:extLst>
          </p:cNvPr>
          <p:cNvCxnSpPr>
            <a:cxnSpLocks/>
          </p:cNvCxnSpPr>
          <p:nvPr/>
        </p:nvCxnSpPr>
        <p:spPr>
          <a:xfrm flipH="1">
            <a:off x="4251340" y="3024726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155D1C8-10B2-C58D-B5CB-DA8B61B92504}"/>
                  </a:ext>
                </a:extLst>
              </p:cNvPr>
              <p:cNvSpPr txBox="1"/>
              <p:nvPr/>
            </p:nvSpPr>
            <p:spPr>
              <a:xfrm>
                <a:off x="3782010" y="4004805"/>
                <a:ext cx="548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155D1C8-10B2-C58D-B5CB-DA8B61B92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010" y="4004805"/>
                <a:ext cx="54864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CDAB24A-ADC3-ECD7-4D86-BD7A4B416307}"/>
              </a:ext>
            </a:extLst>
          </p:cNvPr>
          <p:cNvCxnSpPr>
            <a:cxnSpLocks/>
          </p:cNvCxnSpPr>
          <p:nvPr/>
        </p:nvCxnSpPr>
        <p:spPr>
          <a:xfrm rot="16200000">
            <a:off x="3739804" y="3545229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0FE002-B4D7-180B-211C-685AC39D4EA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39804" y="4825389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D3662D9-DD1E-A59A-528F-BA9C98E973C7}"/>
                  </a:ext>
                </a:extLst>
              </p:cNvPr>
              <p:cNvSpPr txBox="1"/>
              <p:nvPr/>
            </p:nvSpPr>
            <p:spPr>
              <a:xfrm>
                <a:off x="433760" y="1428897"/>
                <a:ext cx="3126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Same procedure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D3662D9-DD1E-A59A-528F-BA9C98E97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60" y="1428897"/>
                <a:ext cx="3126882" cy="369332"/>
              </a:xfrm>
              <a:prstGeom prst="rect">
                <a:avLst/>
              </a:prstGeom>
              <a:blipFill>
                <a:blip r:embed="rId15"/>
                <a:stretch>
                  <a:fillRect l="-155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0B1EA96-85D1-EE08-EF6A-E97BC5FFB4C7}"/>
                  </a:ext>
                </a:extLst>
              </p:cNvPr>
              <p:cNvSpPr txBox="1"/>
              <p:nvPr/>
            </p:nvSpPr>
            <p:spPr>
              <a:xfrm>
                <a:off x="4251340" y="1154403"/>
                <a:ext cx="183726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b="1" dirty="0"/>
                  <a:t>: # DOF in 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b="1" dirty="0"/>
                  <a:t>: # DOF in B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/>
                  <a:t>: # DOF in C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0B1EA96-85D1-EE08-EF6A-E97BC5FFB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340" y="1154403"/>
                <a:ext cx="1837265" cy="923330"/>
              </a:xfrm>
              <a:prstGeom prst="rect">
                <a:avLst/>
              </a:prstGeom>
              <a:blipFill>
                <a:blip r:embed="rId16"/>
                <a:stretch>
                  <a:fillRect t="-263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6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0FF74F-E07C-975F-7306-8FABCEB31170}"/>
              </a:ext>
            </a:extLst>
          </p:cNvPr>
          <p:cNvSpPr/>
          <p:nvPr/>
        </p:nvSpPr>
        <p:spPr>
          <a:xfrm>
            <a:off x="6567786" y="1250134"/>
            <a:ext cx="45720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8D23D-B1EF-D0AA-E6D8-4896C941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Section 3: Physical Substructuring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1BFF7-F38D-2D40-53E8-11AD74435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223" y="1938970"/>
                <a:ext cx="12002047" cy="2312151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Q1: Form the Signed Boolean Matrix,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3000" dirty="0"/>
                  <a:t>, that specifies the constraint DOF between A &amp; B</a:t>
                </a:r>
              </a:p>
              <a:p>
                <a:pPr marL="0" indent="0">
                  <a:buNone/>
                </a:pPr>
                <a:r>
                  <a:rPr lang="en-US" sz="3000" dirty="0"/>
                  <a:t>Q2: For Primal Assembly, generate the Localization Matrix,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3000" dirty="0"/>
                  <a:t>, which is the null space of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3000" dirty="0"/>
              </a:p>
              <a:p>
                <a:pPr marL="0" indent="0">
                  <a:buNone/>
                </a:pPr>
                <a:r>
                  <a:rPr lang="en-US" sz="3000" dirty="0"/>
                  <a:t>Q3: Compute the Coupled System M, C &amp; K matrices and associated modal parameters </a:t>
                </a:r>
              </a:p>
              <a:p>
                <a:r>
                  <a:rPr lang="en-US" sz="3000" dirty="0"/>
                  <a:t>How does the result compare to superimposing the matrices? Is this process better? </a:t>
                </a:r>
              </a:p>
              <a:p>
                <a:r>
                  <a:rPr lang="en-US" sz="3000" dirty="0"/>
                  <a:t>Extra Challenge: Can you setup the same solution in the Dual Formulation?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1BFF7-F38D-2D40-53E8-11AD74435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223" y="1938970"/>
                <a:ext cx="12002047" cy="2312151"/>
              </a:xfrm>
              <a:blipFill>
                <a:blip r:embed="rId2"/>
                <a:stretch>
                  <a:fillRect l="-914" t="-5277" b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FD2D568-BBB9-C44C-9C7C-08C2D5461C28}"/>
              </a:ext>
            </a:extLst>
          </p:cNvPr>
          <p:cNvSpPr/>
          <p:nvPr/>
        </p:nvSpPr>
        <p:spPr>
          <a:xfrm>
            <a:off x="574248" y="1250134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1D8A6-1FE4-43D2-5DCB-326B0222985D}"/>
              </a:ext>
            </a:extLst>
          </p:cNvPr>
          <p:cNvSpPr/>
          <p:nvPr/>
        </p:nvSpPr>
        <p:spPr>
          <a:xfrm>
            <a:off x="4201132" y="1250134"/>
            <a:ext cx="18288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060E4-E9AE-F599-CED7-5BF0EB77F31F}"/>
              </a:ext>
            </a:extLst>
          </p:cNvPr>
          <p:cNvSpPr txBox="1"/>
          <p:nvPr/>
        </p:nvSpPr>
        <p:spPr>
          <a:xfrm>
            <a:off x="3605193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+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A34B66-3EDA-0136-EB85-D0ACCBEF1FB7}"/>
              </a:ext>
            </a:extLst>
          </p:cNvPr>
          <p:cNvSpPr/>
          <p:nvPr/>
        </p:nvSpPr>
        <p:spPr>
          <a:xfrm>
            <a:off x="3276147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9B7C03-925D-E050-397F-7BAED202CD66}"/>
              </a:ext>
            </a:extLst>
          </p:cNvPr>
          <p:cNvSpPr/>
          <p:nvPr/>
        </p:nvSpPr>
        <p:spPr>
          <a:xfrm>
            <a:off x="4158270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FF42C9-E3C9-5A67-4122-7E2FB6DDDDB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317448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2250DAF1-EBA2-94FA-F585-6260E5390EA1}"/>
              </a:ext>
            </a:extLst>
          </p:cNvPr>
          <p:cNvSpPr/>
          <p:nvPr/>
        </p:nvSpPr>
        <p:spPr>
          <a:xfrm>
            <a:off x="3126205" y="1292798"/>
            <a:ext cx="384048" cy="384048"/>
          </a:xfrm>
          <a:prstGeom prst="arc">
            <a:avLst>
              <a:gd name="adj1" fmla="val 17589694"/>
              <a:gd name="adj2" fmla="val 451070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9CB74D-BDD9-5271-207F-17BFC917F9D1}"/>
              </a:ext>
            </a:extLst>
          </p:cNvPr>
          <p:cNvCxnSpPr>
            <a:cxnSpLocks/>
          </p:cNvCxnSpPr>
          <p:nvPr/>
        </p:nvCxnSpPr>
        <p:spPr>
          <a:xfrm flipH="1" flipV="1">
            <a:off x="4199571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7B24548C-470B-CA07-D08E-27F8854E5E15}"/>
              </a:ext>
            </a:extLst>
          </p:cNvPr>
          <p:cNvSpPr/>
          <p:nvPr/>
        </p:nvSpPr>
        <p:spPr>
          <a:xfrm>
            <a:off x="4008328" y="1292798"/>
            <a:ext cx="384048" cy="384048"/>
          </a:xfrm>
          <a:prstGeom prst="arc">
            <a:avLst>
              <a:gd name="adj1" fmla="val 5948162"/>
              <a:gd name="adj2" fmla="val 1493808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FCE18-734F-642E-FDD2-2EFDF1C9CD7F}"/>
              </a:ext>
            </a:extLst>
          </p:cNvPr>
          <p:cNvSpPr txBox="1"/>
          <p:nvPr/>
        </p:nvSpPr>
        <p:spPr>
          <a:xfrm>
            <a:off x="6138398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229ED5-3CCE-2BB8-2E10-F903E4B41F3E}"/>
              </a:ext>
            </a:extLst>
          </p:cNvPr>
          <p:cNvCxnSpPr/>
          <p:nvPr/>
        </p:nvCxnSpPr>
        <p:spPr>
          <a:xfrm>
            <a:off x="9310986" y="1250134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3AB0FA0-D594-1CB6-52A6-8B3CD0A5F388}"/>
              </a:ext>
            </a:extLst>
          </p:cNvPr>
          <p:cNvSpPr/>
          <p:nvPr/>
        </p:nvSpPr>
        <p:spPr>
          <a:xfrm>
            <a:off x="9266031" y="14394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934819-6D84-7595-D7A8-C4D7057A7949}"/>
              </a:ext>
            </a:extLst>
          </p:cNvPr>
          <p:cNvCxnSpPr>
            <a:cxnSpLocks/>
          </p:cNvCxnSpPr>
          <p:nvPr/>
        </p:nvCxnSpPr>
        <p:spPr>
          <a:xfrm flipH="1" flipV="1">
            <a:off x="9310205" y="98040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4E93FFDD-758A-8A7C-423D-86690835BD52}"/>
              </a:ext>
            </a:extLst>
          </p:cNvPr>
          <p:cNvSpPr/>
          <p:nvPr/>
        </p:nvSpPr>
        <p:spPr>
          <a:xfrm>
            <a:off x="9118962" y="1294068"/>
            <a:ext cx="384048" cy="384048"/>
          </a:xfrm>
          <a:prstGeom prst="arc">
            <a:avLst>
              <a:gd name="adj1" fmla="val 17390596"/>
              <a:gd name="adj2" fmla="val 4028325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19B04F-270B-4C5B-67EE-F3BE4BB4B263}"/>
                  </a:ext>
                </a:extLst>
              </p:cNvPr>
              <p:cNvSpPr txBox="1"/>
              <p:nvPr/>
            </p:nvSpPr>
            <p:spPr>
              <a:xfrm>
                <a:off x="1106676" y="4204924"/>
                <a:ext cx="10628124" cy="25579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Uncoupled EOM: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b="0" dirty="0">
                  <a:solidFill>
                    <a:schemeClr val="accent1"/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Compatibility: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dirty="0">
                  <a:solidFill>
                    <a:schemeClr val="accent1"/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</a:rPr>
                  <a:t>Localization: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𝑛𝑢𝑙𝑙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sz="2000" b="0" dirty="0">
                  <a:solidFill>
                    <a:schemeClr val="accent1"/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solidFill>
                      <a:schemeClr val="accent1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Coupled EOM: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𝐌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𝐂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𝐊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19B04F-270B-4C5B-67EE-F3BE4BB4B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676" y="4204924"/>
                <a:ext cx="10628124" cy="25579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AA8557A-1C95-B8E5-072D-C13F118182F4}"/>
              </a:ext>
            </a:extLst>
          </p:cNvPr>
          <p:cNvSpPr txBox="1"/>
          <p:nvPr/>
        </p:nvSpPr>
        <p:spPr>
          <a:xfrm>
            <a:off x="67224" y="4330122"/>
            <a:ext cx="153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Equations:</a:t>
            </a:r>
          </a:p>
        </p:txBody>
      </p:sp>
    </p:spTree>
    <p:extLst>
      <p:ext uri="{BB962C8B-B14F-4D97-AF65-F5344CB8AC3E}">
        <p14:creationId xmlns:p14="http://schemas.microsoft.com/office/powerpoint/2010/main" val="241882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B8D22B-EF92-3FCE-315E-33F8DF16D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" y="2023534"/>
            <a:ext cx="575945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BD524-4D58-5895-D7AF-48356A86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Physical Substructuring Results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C3252-EF8C-B10F-5516-F7BF32868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6"/>
            <a:ext cx="11799102" cy="1083948"/>
          </a:xfrm>
        </p:spPr>
        <p:txBody>
          <a:bodyPr>
            <a:normAutofit fontScale="92500"/>
          </a:bodyPr>
          <a:lstStyle/>
          <a:p>
            <a:r>
              <a:rPr lang="en-US" dirty="0"/>
              <a:t>Results should be exactly the same as the Truth setup. </a:t>
            </a:r>
          </a:p>
          <a:p>
            <a:r>
              <a:rPr lang="en-US" dirty="0"/>
              <a:t>Superimposing is straightforward, but the substructuring framework is more general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08209-F3FC-0848-9F83-A40631D71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684" y="2023534"/>
            <a:ext cx="5759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4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0FF74F-E07C-975F-7306-8FABCEB31170}"/>
              </a:ext>
            </a:extLst>
          </p:cNvPr>
          <p:cNvSpPr/>
          <p:nvPr/>
        </p:nvSpPr>
        <p:spPr>
          <a:xfrm>
            <a:off x="6567786" y="1250134"/>
            <a:ext cx="45720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8D23D-B1EF-D0AA-E6D8-4896C941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Section 4: Frequency Based Substructuring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1BFF7-F38D-2D40-53E8-11AD74435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1" y="1938970"/>
                <a:ext cx="11640557" cy="42035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Q1: Form the Reference and Response Signed Boolean Matrices,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Q2: Implement the LM-FBS assembly equation: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p>
                        </m:e>
                      </m:d>
                      <m:r>
                        <a:rPr lang="en-US" sz="2400" b="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𝑟𝑒𝑠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𝐴𝐵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𝑟𝑒𝑓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accent1"/>
                          </a:solidFill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Q3: What happens as you add noise to the FRFs?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Is there a different effect on low or high frequency content? Low or high magnitude?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Do you expect resonance peaks or anti-resonances to be most effected?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1BFF7-F38D-2D40-53E8-11AD74435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1" y="1938970"/>
                <a:ext cx="11640557" cy="4203599"/>
              </a:xfrm>
              <a:blipFill>
                <a:blip r:embed="rId2"/>
                <a:stretch>
                  <a:fillRect l="-1047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FD2D568-BBB9-C44C-9C7C-08C2D5461C28}"/>
              </a:ext>
            </a:extLst>
          </p:cNvPr>
          <p:cNvSpPr/>
          <p:nvPr/>
        </p:nvSpPr>
        <p:spPr>
          <a:xfrm>
            <a:off x="574248" y="1250134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1D8A6-1FE4-43D2-5DCB-326B0222985D}"/>
              </a:ext>
            </a:extLst>
          </p:cNvPr>
          <p:cNvSpPr/>
          <p:nvPr/>
        </p:nvSpPr>
        <p:spPr>
          <a:xfrm>
            <a:off x="4201132" y="1250134"/>
            <a:ext cx="18288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060E4-E9AE-F599-CED7-5BF0EB77F31F}"/>
              </a:ext>
            </a:extLst>
          </p:cNvPr>
          <p:cNvSpPr txBox="1"/>
          <p:nvPr/>
        </p:nvSpPr>
        <p:spPr>
          <a:xfrm>
            <a:off x="3605193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+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A34B66-3EDA-0136-EB85-D0ACCBEF1FB7}"/>
              </a:ext>
            </a:extLst>
          </p:cNvPr>
          <p:cNvSpPr/>
          <p:nvPr/>
        </p:nvSpPr>
        <p:spPr>
          <a:xfrm>
            <a:off x="3276147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9B7C03-925D-E050-397F-7BAED202CD66}"/>
              </a:ext>
            </a:extLst>
          </p:cNvPr>
          <p:cNvSpPr/>
          <p:nvPr/>
        </p:nvSpPr>
        <p:spPr>
          <a:xfrm>
            <a:off x="4158270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FF42C9-E3C9-5A67-4122-7E2FB6DDDDB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317448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2250DAF1-EBA2-94FA-F585-6260E5390EA1}"/>
              </a:ext>
            </a:extLst>
          </p:cNvPr>
          <p:cNvSpPr/>
          <p:nvPr/>
        </p:nvSpPr>
        <p:spPr>
          <a:xfrm>
            <a:off x="3126205" y="1292798"/>
            <a:ext cx="384048" cy="384048"/>
          </a:xfrm>
          <a:prstGeom prst="arc">
            <a:avLst>
              <a:gd name="adj1" fmla="val 17589694"/>
              <a:gd name="adj2" fmla="val 451070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9CB74D-BDD9-5271-207F-17BFC917F9D1}"/>
              </a:ext>
            </a:extLst>
          </p:cNvPr>
          <p:cNvCxnSpPr>
            <a:cxnSpLocks/>
          </p:cNvCxnSpPr>
          <p:nvPr/>
        </p:nvCxnSpPr>
        <p:spPr>
          <a:xfrm flipH="1" flipV="1">
            <a:off x="4199571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7B24548C-470B-CA07-D08E-27F8854E5E15}"/>
              </a:ext>
            </a:extLst>
          </p:cNvPr>
          <p:cNvSpPr/>
          <p:nvPr/>
        </p:nvSpPr>
        <p:spPr>
          <a:xfrm>
            <a:off x="4008328" y="1292798"/>
            <a:ext cx="384048" cy="384048"/>
          </a:xfrm>
          <a:prstGeom prst="arc">
            <a:avLst>
              <a:gd name="adj1" fmla="val 5948162"/>
              <a:gd name="adj2" fmla="val 1493808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FCE18-734F-642E-FDD2-2EFDF1C9CD7F}"/>
              </a:ext>
            </a:extLst>
          </p:cNvPr>
          <p:cNvSpPr txBox="1"/>
          <p:nvPr/>
        </p:nvSpPr>
        <p:spPr>
          <a:xfrm>
            <a:off x="6138398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229ED5-3CCE-2BB8-2E10-F903E4B41F3E}"/>
              </a:ext>
            </a:extLst>
          </p:cNvPr>
          <p:cNvCxnSpPr/>
          <p:nvPr/>
        </p:nvCxnSpPr>
        <p:spPr>
          <a:xfrm>
            <a:off x="9310986" y="1250134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3AB0FA0-D594-1CB6-52A6-8B3CD0A5F388}"/>
              </a:ext>
            </a:extLst>
          </p:cNvPr>
          <p:cNvSpPr/>
          <p:nvPr/>
        </p:nvSpPr>
        <p:spPr>
          <a:xfrm>
            <a:off x="9266031" y="14394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934819-6D84-7595-D7A8-C4D7057A7949}"/>
              </a:ext>
            </a:extLst>
          </p:cNvPr>
          <p:cNvCxnSpPr>
            <a:cxnSpLocks/>
          </p:cNvCxnSpPr>
          <p:nvPr/>
        </p:nvCxnSpPr>
        <p:spPr>
          <a:xfrm flipH="1" flipV="1">
            <a:off x="9310205" y="98040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4E93FFDD-758A-8A7C-423D-86690835BD52}"/>
              </a:ext>
            </a:extLst>
          </p:cNvPr>
          <p:cNvSpPr/>
          <p:nvPr/>
        </p:nvSpPr>
        <p:spPr>
          <a:xfrm>
            <a:off x="9118962" y="1294068"/>
            <a:ext cx="384048" cy="384048"/>
          </a:xfrm>
          <a:prstGeom prst="arc">
            <a:avLst>
              <a:gd name="adj1" fmla="val 17390596"/>
              <a:gd name="adj2" fmla="val 4028325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394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887F3681-2AFE-507C-61C6-468F761D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" y="1917916"/>
            <a:ext cx="5759450" cy="41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C273853-FFAF-E73A-9E97-82A633988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65" y="1866900"/>
            <a:ext cx="575945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13DD13-93FE-8337-774F-CE554CB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FBS Results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204-2050-B845-D10D-A62D6FD1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6"/>
            <a:ext cx="11337324" cy="956948"/>
          </a:xfrm>
        </p:spPr>
        <p:txBody>
          <a:bodyPr>
            <a:normAutofit/>
          </a:bodyPr>
          <a:lstStyle/>
          <a:p>
            <a:r>
              <a:rPr lang="en-US" dirty="0"/>
              <a:t>Noise and uncertainty in the FRFs can significantly deteriorate the results. This is a major concern when working with experimental FRFs. 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2F5ED6A-8F10-F5B8-3233-80E8FBD151FC}"/>
              </a:ext>
            </a:extLst>
          </p:cNvPr>
          <p:cNvSpPr/>
          <p:nvPr/>
        </p:nvSpPr>
        <p:spPr>
          <a:xfrm rot="20227490">
            <a:off x="5820688" y="4931277"/>
            <a:ext cx="520700" cy="34713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4A45E8-0BBC-67C6-7A9F-301842727434}"/>
              </a:ext>
            </a:extLst>
          </p:cNvPr>
          <p:cNvSpPr/>
          <p:nvPr/>
        </p:nvSpPr>
        <p:spPr>
          <a:xfrm>
            <a:off x="8152014" y="2588946"/>
            <a:ext cx="489286" cy="12951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C6C38-3060-FF3B-537C-8D05FDFA6260}"/>
              </a:ext>
            </a:extLst>
          </p:cNvPr>
          <p:cNvSpPr/>
          <p:nvPr/>
        </p:nvSpPr>
        <p:spPr>
          <a:xfrm>
            <a:off x="9629775" y="4105274"/>
            <a:ext cx="368300" cy="292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377864-B08D-7975-9A7E-844461FC33E4}"/>
              </a:ext>
            </a:extLst>
          </p:cNvPr>
          <p:cNvCxnSpPr>
            <a:cxnSpLocks/>
          </p:cNvCxnSpPr>
          <p:nvPr/>
        </p:nvCxnSpPr>
        <p:spPr>
          <a:xfrm flipV="1">
            <a:off x="8152014" y="2247369"/>
            <a:ext cx="603362" cy="3415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4C6A463-25BB-1F5F-1BA0-00ED20B279FE}"/>
              </a:ext>
            </a:extLst>
          </p:cNvPr>
          <p:cNvCxnSpPr>
            <a:cxnSpLocks/>
          </p:cNvCxnSpPr>
          <p:nvPr/>
        </p:nvCxnSpPr>
        <p:spPr>
          <a:xfrm flipV="1">
            <a:off x="8641300" y="3592090"/>
            <a:ext cx="1903933" cy="285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E81C38D-E952-9427-E5A3-56984F4E4BC7}"/>
              </a:ext>
            </a:extLst>
          </p:cNvPr>
          <p:cNvCxnSpPr>
            <a:cxnSpLocks/>
          </p:cNvCxnSpPr>
          <p:nvPr/>
        </p:nvCxnSpPr>
        <p:spPr>
          <a:xfrm flipV="1">
            <a:off x="8891587" y="4105274"/>
            <a:ext cx="733424" cy="333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AD0EDA-9567-127F-E555-E14D497034D4}"/>
              </a:ext>
            </a:extLst>
          </p:cNvPr>
          <p:cNvCxnSpPr>
            <a:cxnSpLocks/>
          </p:cNvCxnSpPr>
          <p:nvPr/>
        </p:nvCxnSpPr>
        <p:spPr>
          <a:xfrm flipV="1">
            <a:off x="9569450" y="4400551"/>
            <a:ext cx="420685" cy="533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75D12232-7D18-A1C9-9113-FCEBF5BE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87" t="7202" r="8912" b="10597"/>
          <a:stretch/>
        </p:blipFill>
        <p:spPr>
          <a:xfrm>
            <a:off x="8760108" y="2256589"/>
            <a:ext cx="1785125" cy="13355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114C16B-F460-33B3-0404-7EB261E3E8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587" t="7202" r="8839" b="10494"/>
          <a:stretch/>
        </p:blipFill>
        <p:spPr>
          <a:xfrm>
            <a:off x="8357195" y="4458757"/>
            <a:ext cx="1212255" cy="90720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8" name="Arrow: Right 67">
            <a:extLst>
              <a:ext uri="{FF2B5EF4-FFF2-40B4-BE49-F238E27FC236}">
                <a16:creationId xmlns:a16="http://schemas.microsoft.com/office/drawing/2014/main" id="{0C360C44-33B6-71AC-F3DA-548C168116E9}"/>
              </a:ext>
            </a:extLst>
          </p:cNvPr>
          <p:cNvSpPr/>
          <p:nvPr/>
        </p:nvSpPr>
        <p:spPr>
          <a:xfrm rot="5400000">
            <a:off x="1053671" y="3900248"/>
            <a:ext cx="520700" cy="34713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1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0FF74F-E07C-975F-7306-8FABCEB31170}"/>
              </a:ext>
            </a:extLst>
          </p:cNvPr>
          <p:cNvSpPr/>
          <p:nvPr/>
        </p:nvSpPr>
        <p:spPr>
          <a:xfrm>
            <a:off x="6567786" y="1250134"/>
            <a:ext cx="45720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8D23D-B1EF-D0AA-E6D8-4896C941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Section 5: Component Mode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1BFF7-F38D-2D40-53E8-11AD74435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1938970"/>
            <a:ext cx="11911642" cy="26119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Q1,2,3: Compile the modal system matrices and construct the modal constraint matrix</a:t>
            </a:r>
          </a:p>
          <a:p>
            <a:pPr lvl="1"/>
            <a:r>
              <a:rPr lang="en-US" dirty="0"/>
              <a:t>Hint: the process is very similar to what you just did for the physical substructuring case</a:t>
            </a:r>
          </a:p>
          <a:p>
            <a:r>
              <a:rPr lang="en-US" dirty="0"/>
              <a:t>Compute the assembled system modal parameters</a:t>
            </a:r>
          </a:p>
          <a:p>
            <a:r>
              <a:rPr lang="en-US" dirty="0">
                <a:solidFill>
                  <a:schemeClr val="accent1"/>
                </a:solidFill>
              </a:rPr>
              <a:t>How does Modal Truncation affect the result?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Reduce the bandwidth of the modes in Beam A &amp; Beam 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Change the position of the beam split and see effect on the resultant mode shapes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2D568-BBB9-C44C-9C7C-08C2D5461C28}"/>
              </a:ext>
            </a:extLst>
          </p:cNvPr>
          <p:cNvSpPr/>
          <p:nvPr/>
        </p:nvSpPr>
        <p:spPr>
          <a:xfrm>
            <a:off x="574248" y="1250134"/>
            <a:ext cx="27432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1D8A6-1FE4-43D2-5DCB-326B0222985D}"/>
              </a:ext>
            </a:extLst>
          </p:cNvPr>
          <p:cNvSpPr/>
          <p:nvPr/>
        </p:nvSpPr>
        <p:spPr>
          <a:xfrm>
            <a:off x="4201132" y="1250134"/>
            <a:ext cx="1828800" cy="4572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060E4-E9AE-F599-CED7-5BF0EB77F31F}"/>
              </a:ext>
            </a:extLst>
          </p:cNvPr>
          <p:cNvSpPr txBox="1"/>
          <p:nvPr/>
        </p:nvSpPr>
        <p:spPr>
          <a:xfrm>
            <a:off x="3605193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+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A34B66-3EDA-0136-EB85-D0ACCBEF1FB7}"/>
              </a:ext>
            </a:extLst>
          </p:cNvPr>
          <p:cNvSpPr/>
          <p:nvPr/>
        </p:nvSpPr>
        <p:spPr>
          <a:xfrm>
            <a:off x="3276147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9B7C03-925D-E050-397F-7BAED202CD66}"/>
              </a:ext>
            </a:extLst>
          </p:cNvPr>
          <p:cNvSpPr/>
          <p:nvPr/>
        </p:nvSpPr>
        <p:spPr>
          <a:xfrm>
            <a:off x="4158270" y="14389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FF42C9-E3C9-5A67-4122-7E2FB6DDDDBD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3317448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2250DAF1-EBA2-94FA-F585-6260E5390EA1}"/>
              </a:ext>
            </a:extLst>
          </p:cNvPr>
          <p:cNvSpPr/>
          <p:nvPr/>
        </p:nvSpPr>
        <p:spPr>
          <a:xfrm>
            <a:off x="3126205" y="1292798"/>
            <a:ext cx="384048" cy="384048"/>
          </a:xfrm>
          <a:prstGeom prst="arc">
            <a:avLst>
              <a:gd name="adj1" fmla="val 17589694"/>
              <a:gd name="adj2" fmla="val 451070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9CB74D-BDD9-5271-207F-17BFC917F9D1}"/>
              </a:ext>
            </a:extLst>
          </p:cNvPr>
          <p:cNvCxnSpPr>
            <a:cxnSpLocks/>
          </p:cNvCxnSpPr>
          <p:nvPr/>
        </p:nvCxnSpPr>
        <p:spPr>
          <a:xfrm flipH="1" flipV="1">
            <a:off x="4199571" y="97913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7B24548C-470B-CA07-D08E-27F8854E5E15}"/>
              </a:ext>
            </a:extLst>
          </p:cNvPr>
          <p:cNvSpPr/>
          <p:nvPr/>
        </p:nvSpPr>
        <p:spPr>
          <a:xfrm>
            <a:off x="4008328" y="1292798"/>
            <a:ext cx="384048" cy="384048"/>
          </a:xfrm>
          <a:prstGeom prst="arc">
            <a:avLst>
              <a:gd name="adj1" fmla="val 5948162"/>
              <a:gd name="adj2" fmla="val 1493808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8FCE18-734F-642E-FDD2-2EFDF1C9CD7F}"/>
              </a:ext>
            </a:extLst>
          </p:cNvPr>
          <p:cNvSpPr txBox="1"/>
          <p:nvPr/>
        </p:nvSpPr>
        <p:spPr>
          <a:xfrm>
            <a:off x="6138398" y="129528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=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229ED5-3CCE-2BB8-2E10-F903E4B41F3E}"/>
              </a:ext>
            </a:extLst>
          </p:cNvPr>
          <p:cNvCxnSpPr/>
          <p:nvPr/>
        </p:nvCxnSpPr>
        <p:spPr>
          <a:xfrm>
            <a:off x="9310986" y="1250134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3AB0FA0-D594-1CB6-52A6-8B3CD0A5F388}"/>
              </a:ext>
            </a:extLst>
          </p:cNvPr>
          <p:cNvSpPr/>
          <p:nvPr/>
        </p:nvSpPr>
        <p:spPr>
          <a:xfrm>
            <a:off x="9266031" y="1439469"/>
            <a:ext cx="85725" cy="785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934819-6D84-7595-D7A8-C4D7057A7949}"/>
              </a:ext>
            </a:extLst>
          </p:cNvPr>
          <p:cNvCxnSpPr>
            <a:cxnSpLocks/>
          </p:cNvCxnSpPr>
          <p:nvPr/>
        </p:nvCxnSpPr>
        <p:spPr>
          <a:xfrm flipH="1" flipV="1">
            <a:off x="9310205" y="980401"/>
            <a:ext cx="1562" cy="45983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4E93FFDD-758A-8A7C-423D-86690835BD52}"/>
              </a:ext>
            </a:extLst>
          </p:cNvPr>
          <p:cNvSpPr/>
          <p:nvPr/>
        </p:nvSpPr>
        <p:spPr>
          <a:xfrm>
            <a:off x="9118962" y="1294068"/>
            <a:ext cx="384048" cy="384048"/>
          </a:xfrm>
          <a:prstGeom prst="arc">
            <a:avLst>
              <a:gd name="adj1" fmla="val 17390596"/>
              <a:gd name="adj2" fmla="val 4028325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8E3710-D743-10A2-4F38-676404344E98}"/>
                  </a:ext>
                </a:extLst>
              </p:cNvPr>
              <p:cNvSpPr txBox="1"/>
              <p:nvPr/>
            </p:nvSpPr>
            <p:spPr>
              <a:xfrm>
                <a:off x="1604264" y="4601291"/>
                <a:ext cx="9710208" cy="21253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accent1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Uncoupled EOM: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8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8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sz="18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800" b="0" dirty="0">
                  <a:solidFill>
                    <a:schemeClr val="accent1"/>
                  </a:solidFill>
                </a:endParaRPr>
              </a:p>
              <a:p>
                <a:r>
                  <a:rPr lang="en-US" sz="1800" dirty="0">
                    <a:solidFill>
                      <a:schemeClr val="accent1"/>
                    </a:solidFill>
                  </a:rPr>
                  <a:t>Compatibility: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𝐵𝑢</m:t>
                    </m:r>
                    <m:r>
                      <a:rPr lang="en-US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 →</m:t>
                    </m:r>
                    <m:r>
                      <a:rPr lang="en-US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Φq</m:t>
                    </m:r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 → </m:t>
                    </m:r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800" b="0" dirty="0">
                  <a:solidFill>
                    <a:schemeClr val="accent1"/>
                  </a:solidFill>
                </a:endParaRPr>
              </a:p>
              <a:p>
                <a:r>
                  <a:rPr lang="en-US" sz="1800" dirty="0">
                    <a:solidFill>
                      <a:schemeClr val="accent1"/>
                    </a:solidFill>
                  </a:rPr>
                  <a:t>Localization: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𝑛𝑢𝑙𝑙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sz="1800" b="0" dirty="0">
                  <a:solidFill>
                    <a:schemeClr val="accent1"/>
                  </a:solidFill>
                </a:endParaRPr>
              </a:p>
              <a:p>
                <a:r>
                  <a:rPr lang="en-US" sz="1800" dirty="0">
                    <a:solidFill>
                      <a:schemeClr val="accent1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Coupled EOM: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8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sz="18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8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18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800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8E3710-D743-10A2-4F38-676404344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4264" y="4601291"/>
                <a:ext cx="9710208" cy="2125390"/>
              </a:xfrm>
              <a:prstGeom prst="rect">
                <a:avLst/>
              </a:prstGeom>
              <a:blipFill>
                <a:blip r:embed="rId2"/>
                <a:stretch>
                  <a:fillRect l="-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2932007B-68B0-4799-86E3-BBECA3DCC498}"/>
              </a:ext>
            </a:extLst>
          </p:cNvPr>
          <p:cNvSpPr txBox="1"/>
          <p:nvPr/>
        </p:nvSpPr>
        <p:spPr>
          <a:xfrm>
            <a:off x="67224" y="4740759"/>
            <a:ext cx="153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Equations:</a:t>
            </a:r>
          </a:p>
        </p:txBody>
      </p:sp>
    </p:spTree>
    <p:extLst>
      <p:ext uri="{BB962C8B-B14F-4D97-AF65-F5344CB8AC3E}">
        <p14:creationId xmlns:p14="http://schemas.microsoft.com/office/powerpoint/2010/main" val="410949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F3A3177-8F19-F2FB-1F04-11757A01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96" y="3860800"/>
            <a:ext cx="6540500" cy="2743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A01A8C-FA77-C214-AB5F-771BFDD7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3" y="3081867"/>
            <a:ext cx="5029200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13DD13-93FE-8337-774F-CE554CB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CMS Results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204-2050-B845-D10D-A62D6FD1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4"/>
            <a:ext cx="5241668" cy="2049149"/>
          </a:xfrm>
        </p:spPr>
        <p:txBody>
          <a:bodyPr>
            <a:normAutofit/>
          </a:bodyPr>
          <a:lstStyle/>
          <a:p>
            <a:r>
              <a:rPr lang="en-US" dirty="0"/>
              <a:t>How Modal Truncation affects the resultant model is not obvious and depends on exactly what modes are involved and where the constraints 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386D6-8E34-9EAE-858D-46E14EA51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173" y="939584"/>
            <a:ext cx="6534150" cy="27432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B80A79C-0137-FA6E-D32E-5A59CE99DFD7}"/>
              </a:ext>
            </a:extLst>
          </p:cNvPr>
          <p:cNvSpPr/>
          <p:nvPr/>
        </p:nvSpPr>
        <p:spPr>
          <a:xfrm>
            <a:off x="622479" y="3211609"/>
            <a:ext cx="240406" cy="1094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F9D82D-020C-C3BB-7574-F6CC0452F478}"/>
              </a:ext>
            </a:extLst>
          </p:cNvPr>
          <p:cNvSpPr txBox="1"/>
          <p:nvPr/>
        </p:nvSpPr>
        <p:spPr>
          <a:xfrm>
            <a:off x="2066744" y="6146801"/>
            <a:ext cx="3108960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Mode 1 Error: </a:t>
            </a:r>
          </a:p>
          <a:p>
            <a:r>
              <a:rPr lang="en-US" sz="1600" dirty="0"/>
              <a:t>Frequency: 1%, Damping: -1%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3655E5B-3556-953D-6452-F14A4B364406}"/>
              </a:ext>
            </a:extLst>
          </p:cNvPr>
          <p:cNvSpPr/>
          <p:nvPr/>
        </p:nvSpPr>
        <p:spPr>
          <a:xfrm rot="5400000">
            <a:off x="6938288" y="3585157"/>
            <a:ext cx="520700" cy="34713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A52973A-5487-E32F-E16A-3859B23B50FC}"/>
              </a:ext>
            </a:extLst>
          </p:cNvPr>
          <p:cNvSpPr/>
          <p:nvPr/>
        </p:nvSpPr>
        <p:spPr>
          <a:xfrm rot="5400000">
            <a:off x="9897345" y="3585157"/>
            <a:ext cx="520700" cy="34713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1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BD8B2-759D-32A3-B7F1-AFC7A8E52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96" y="3860800"/>
            <a:ext cx="6540500" cy="2743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A01A8C-FA77-C214-AB5F-771BFDD7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3" y="3081867"/>
            <a:ext cx="5029200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13DD13-93FE-8337-774F-CE554CB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CMS Results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204-2050-B845-D10D-A62D6FD1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4"/>
            <a:ext cx="5241668" cy="2049149"/>
          </a:xfrm>
        </p:spPr>
        <p:txBody>
          <a:bodyPr>
            <a:normAutofit/>
          </a:bodyPr>
          <a:lstStyle/>
          <a:p>
            <a:r>
              <a:rPr lang="en-US" dirty="0"/>
              <a:t>How Modal Truncation affects the resultant model is not obvious and depends on exactly what modes are involved and where the constraints 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386D6-8E34-9EAE-858D-46E14EA51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173" y="939584"/>
            <a:ext cx="653415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1E902B-8206-9E5D-A848-ED9BA43538D2}"/>
              </a:ext>
            </a:extLst>
          </p:cNvPr>
          <p:cNvSpPr/>
          <p:nvPr/>
        </p:nvSpPr>
        <p:spPr>
          <a:xfrm>
            <a:off x="983087" y="3478309"/>
            <a:ext cx="321972" cy="1094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0A38E0-657C-700E-543A-F5C963DCFF8D}"/>
              </a:ext>
            </a:extLst>
          </p:cNvPr>
          <p:cNvSpPr txBox="1"/>
          <p:nvPr/>
        </p:nvSpPr>
        <p:spPr>
          <a:xfrm>
            <a:off x="2066743" y="6146801"/>
            <a:ext cx="3108960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Mode 2 Error: </a:t>
            </a:r>
          </a:p>
          <a:p>
            <a:r>
              <a:rPr lang="en-US" sz="1600" dirty="0"/>
              <a:t>Frequency: 14%, Damping: 1.4%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EE5B05B-6D21-BDBD-9521-B90C67B2E91E}"/>
              </a:ext>
            </a:extLst>
          </p:cNvPr>
          <p:cNvSpPr/>
          <p:nvPr/>
        </p:nvSpPr>
        <p:spPr>
          <a:xfrm rot="5400000">
            <a:off x="6938288" y="3585157"/>
            <a:ext cx="520700" cy="34713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A87C2BD-F222-17CE-446F-F3D7F0D85E09}"/>
              </a:ext>
            </a:extLst>
          </p:cNvPr>
          <p:cNvSpPr/>
          <p:nvPr/>
        </p:nvSpPr>
        <p:spPr>
          <a:xfrm rot="5400000">
            <a:off x="9897345" y="3585157"/>
            <a:ext cx="520700" cy="34713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F9C1E8-33D8-94F9-C698-AC24078D0135}"/>
              </a:ext>
            </a:extLst>
          </p:cNvPr>
          <p:cNvSpPr/>
          <p:nvPr/>
        </p:nvSpPr>
        <p:spPr>
          <a:xfrm rot="19872957">
            <a:off x="8585973" y="5406537"/>
            <a:ext cx="1417185" cy="5421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C36E90-B08F-ADCE-7241-D34E1139C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96" y="3860800"/>
            <a:ext cx="6540500" cy="2743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A01A8C-FA77-C214-AB5F-771BFDD7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3" y="3081867"/>
            <a:ext cx="5029200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13DD13-93FE-8337-774F-CE554CB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CMS Results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204-2050-B845-D10D-A62D6FD1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4"/>
            <a:ext cx="5241668" cy="2049149"/>
          </a:xfrm>
        </p:spPr>
        <p:txBody>
          <a:bodyPr>
            <a:normAutofit/>
          </a:bodyPr>
          <a:lstStyle/>
          <a:p>
            <a:r>
              <a:rPr lang="en-US" dirty="0"/>
              <a:t>How Modal Truncation affects the resultant model is not obvious and depends on exactly what modes are involved and where the constraints 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386D6-8E34-9EAE-858D-46E14EA51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173" y="939584"/>
            <a:ext cx="653415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3B8AAA-F7C6-41F5-17E9-8347860726F7}"/>
              </a:ext>
            </a:extLst>
          </p:cNvPr>
          <p:cNvSpPr/>
          <p:nvPr/>
        </p:nvSpPr>
        <p:spPr>
          <a:xfrm>
            <a:off x="1687132" y="3610503"/>
            <a:ext cx="802783" cy="1094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A0788-3AF4-2AB6-1745-7D3547E357E1}"/>
              </a:ext>
            </a:extLst>
          </p:cNvPr>
          <p:cNvSpPr txBox="1"/>
          <p:nvPr/>
        </p:nvSpPr>
        <p:spPr>
          <a:xfrm>
            <a:off x="2066743" y="6146801"/>
            <a:ext cx="3108960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Mode 3 Error: </a:t>
            </a:r>
          </a:p>
          <a:p>
            <a:r>
              <a:rPr lang="en-US" sz="1600" dirty="0"/>
              <a:t>Frequency: 26%, Damping: 21%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FCF113-3D40-0D9A-EFC2-DF84669E1193}"/>
              </a:ext>
            </a:extLst>
          </p:cNvPr>
          <p:cNvSpPr/>
          <p:nvPr/>
        </p:nvSpPr>
        <p:spPr>
          <a:xfrm rot="1018204">
            <a:off x="8725701" y="5553704"/>
            <a:ext cx="1040047" cy="5459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1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284CF1-1CC2-4F6E-CEFB-1CB2A2FF5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96" y="3860800"/>
            <a:ext cx="6540500" cy="2743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A01A8C-FA77-C214-AB5F-771BFDD7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3" y="3081867"/>
            <a:ext cx="5029200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13DD13-93FE-8337-774F-CE554CB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CMS Results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204-2050-B845-D10D-A62D6FD1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4"/>
            <a:ext cx="5241668" cy="2049149"/>
          </a:xfrm>
        </p:spPr>
        <p:txBody>
          <a:bodyPr>
            <a:normAutofit/>
          </a:bodyPr>
          <a:lstStyle/>
          <a:p>
            <a:r>
              <a:rPr lang="en-US" dirty="0"/>
              <a:t>How Modal Truncation affects the resultant model is not obvious and depends on exactly what modes are involved and where the constraints 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386D6-8E34-9EAE-858D-46E14EA51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173" y="939584"/>
            <a:ext cx="653415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544E7A-6698-6E2A-6CD6-0FE941E8A883}"/>
              </a:ext>
            </a:extLst>
          </p:cNvPr>
          <p:cNvSpPr/>
          <p:nvPr/>
        </p:nvSpPr>
        <p:spPr>
          <a:xfrm>
            <a:off x="2747494" y="3860800"/>
            <a:ext cx="691166" cy="8228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61D14-AD2C-DEED-DED5-E2CDA919F9E8}"/>
              </a:ext>
            </a:extLst>
          </p:cNvPr>
          <p:cNvSpPr txBox="1"/>
          <p:nvPr/>
        </p:nvSpPr>
        <p:spPr>
          <a:xfrm>
            <a:off x="2066742" y="6146801"/>
            <a:ext cx="3108960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Mode 4 Error: </a:t>
            </a:r>
          </a:p>
          <a:p>
            <a:r>
              <a:rPr lang="en-US" sz="1600" dirty="0"/>
              <a:t>Frequency: 2.5%, Damping: 2.4%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BD11E6-D377-4EB0-20B2-3549B084A998}"/>
              </a:ext>
            </a:extLst>
          </p:cNvPr>
          <p:cNvSpPr/>
          <p:nvPr/>
        </p:nvSpPr>
        <p:spPr>
          <a:xfrm rot="3095067">
            <a:off x="8706392" y="5098953"/>
            <a:ext cx="1040047" cy="3959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EDD9B22-D9DA-3541-E50F-3568AD000B72}"/>
              </a:ext>
            </a:extLst>
          </p:cNvPr>
          <p:cNvCxnSpPr/>
          <p:nvPr/>
        </p:nvCxnSpPr>
        <p:spPr>
          <a:xfrm flipH="1">
            <a:off x="4702047" y="3957311"/>
            <a:ext cx="387092" cy="22436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286B92-AB23-393F-3B1F-F738BC1475F2}"/>
              </a:ext>
            </a:extLst>
          </p:cNvPr>
          <p:cNvSpPr txBox="1"/>
          <p:nvPr/>
        </p:nvSpPr>
        <p:spPr>
          <a:xfrm>
            <a:off x="5077626" y="3554225"/>
            <a:ext cx="38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924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56270C-78FA-794B-CB81-D88A6403E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062" y="3860800"/>
            <a:ext cx="6540500" cy="2743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A01A8C-FA77-C214-AB5F-771BFDD76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3" y="3081867"/>
            <a:ext cx="5029200" cy="2971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13DD13-93FE-8337-774F-CE554CBB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2000" cy="6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CMS Results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A2204-2050-B845-D10D-A62D6FD1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4"/>
            <a:ext cx="5241668" cy="2049149"/>
          </a:xfrm>
        </p:spPr>
        <p:txBody>
          <a:bodyPr>
            <a:normAutofit/>
          </a:bodyPr>
          <a:lstStyle/>
          <a:p>
            <a:r>
              <a:rPr lang="en-US" dirty="0"/>
              <a:t>How Modal Truncation affects the resultant model is not obvious and depends on exactly what modes are involved and where the constraints 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5386D6-8E34-9EAE-858D-46E14EA51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173" y="939584"/>
            <a:ext cx="6534150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39317E-9FFA-7C7B-1F7A-2061B3138E95}"/>
              </a:ext>
            </a:extLst>
          </p:cNvPr>
          <p:cNvSpPr txBox="1"/>
          <p:nvPr/>
        </p:nvSpPr>
        <p:spPr>
          <a:xfrm>
            <a:off x="3337283" y="2891304"/>
            <a:ext cx="4018834" cy="193899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In this scenario, a lot of subsystem modes are needed to correctly capture the curvature seen in the truth beam modes. Truncating the modes yields a connection that is too stiff</a:t>
            </a:r>
          </a:p>
        </p:txBody>
      </p:sp>
    </p:spTree>
    <p:extLst>
      <p:ext uri="{BB962C8B-B14F-4D97-AF65-F5344CB8AC3E}">
        <p14:creationId xmlns:p14="http://schemas.microsoft.com/office/powerpoint/2010/main" val="281696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9835-F37B-5854-84DA-3D4E381D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 – Experimental Considerations!</a:t>
            </a:r>
          </a:p>
        </p:txBody>
      </p:sp>
    </p:spTree>
    <p:extLst>
      <p:ext uri="{BB962C8B-B14F-4D97-AF65-F5344CB8AC3E}">
        <p14:creationId xmlns:p14="http://schemas.microsoft.com/office/powerpoint/2010/main" val="114490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6888</TotalTime>
  <Words>1087</Words>
  <Application>Microsoft Office PowerPoint</Application>
  <PresentationFormat>Widescreen</PresentationFormat>
  <Paragraphs>164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Times New Roman</vt:lpstr>
      <vt:lpstr>Office Theme</vt:lpstr>
      <vt:lpstr>Module 5: Numerical Examples in MATLAB</vt:lpstr>
      <vt:lpstr>Outline of the Substructuring Exercises</vt:lpstr>
      <vt:lpstr>Section 1 &amp; 2 : Beam Subsystems A &amp; B</vt:lpstr>
      <vt:lpstr>Section 1 &amp; 2 : Truth Assembly By Superimposing Matrices</vt:lpstr>
      <vt:lpstr>Section 3: Physical Substructuring</vt:lpstr>
      <vt:lpstr>Physical Substructuring Results &amp; Takeaways</vt:lpstr>
      <vt:lpstr>Section 4: Frequency Based Substructuring</vt:lpstr>
      <vt:lpstr>FBS Results and Takeaways</vt:lpstr>
      <vt:lpstr>Section 5: Component Mode Synthesis</vt:lpstr>
      <vt:lpstr>CMS Results and Takeaways</vt:lpstr>
      <vt:lpstr>CMS Results and Takeaways</vt:lpstr>
      <vt:lpstr>CMS Results and Takeaways</vt:lpstr>
      <vt:lpstr>CMS Results and Takeaways</vt:lpstr>
      <vt:lpstr>CMS Results and Takeaways</vt:lpstr>
      <vt:lpstr>Next Up – Experimental Considerations!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Benjamin Moldenhauer</cp:lastModifiedBy>
  <cp:revision>56</cp:revision>
  <dcterms:created xsi:type="dcterms:W3CDTF">2025-09-04T01:59:06Z</dcterms:created>
  <dcterms:modified xsi:type="dcterms:W3CDTF">2026-01-17T05:47:47Z</dcterms:modified>
</cp:coreProperties>
</file>