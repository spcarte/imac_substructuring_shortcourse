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7"/>
  </p:notesMasterIdLst>
  <p:sldIdLst>
    <p:sldId id="256" r:id="rId2"/>
    <p:sldId id="374" r:id="rId3"/>
    <p:sldId id="375" r:id="rId4"/>
    <p:sldId id="376" r:id="rId5"/>
    <p:sldId id="788" r:id="rId6"/>
    <p:sldId id="786" r:id="rId7"/>
    <p:sldId id="774" r:id="rId8"/>
    <p:sldId id="778" r:id="rId9"/>
    <p:sldId id="775" r:id="rId10"/>
    <p:sldId id="790" r:id="rId11"/>
    <p:sldId id="792" r:id="rId12"/>
    <p:sldId id="793" r:id="rId13"/>
    <p:sldId id="794" r:id="rId14"/>
    <p:sldId id="795" r:id="rId15"/>
    <p:sldId id="333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CB45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651" autoAdjust="0"/>
    <p:restoredTop sz="97419" autoAdjust="0"/>
  </p:normalViewPr>
  <p:slideViewPr>
    <p:cSldViewPr snapToGrid="0">
      <p:cViewPr varScale="1">
        <p:scale>
          <a:sx n="157" d="100"/>
          <a:sy n="157" d="100"/>
        </p:scale>
        <p:origin x="696" y="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528E9B4-49CA-4854-BDC2-2D8960612057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27CADE5-90C9-4886-8ACA-1725E38D54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957483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uniform small stiffness is added to each DOF to be a soft BC and slightly raise RBM above 0 Hz. This can help with avoiding inconsistencies with near-zero frequencies.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7CADE5-90C9-4886-8ACA-1725E38D544C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636910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17.9768299067246	18.1491193846868	0.958397441907769</a:t>
            </a:r>
          </a:p>
          <a:p>
            <a:r>
              <a:rPr lang="en-US" dirty="0"/>
              <a:t>103.347962855095	118.527258027761	14.6875610832779</a:t>
            </a:r>
          </a:p>
          <a:p>
            <a:r>
              <a:rPr lang="en-US" dirty="0"/>
              <a:t>288.754991882320	364.463065456242	26.2187929913872</a:t>
            </a:r>
          </a:p>
          <a:p>
            <a:r>
              <a:rPr lang="en-US" dirty="0"/>
              <a:t>565.712423282355	580.065152782729	2.53710700166296</a:t>
            </a:r>
          </a:p>
          <a:p>
            <a:endParaRPr lang="en-US" dirty="0"/>
          </a:p>
          <a:p>
            <a:r>
              <a:rPr lang="en-US" dirty="0"/>
              <a:t>0.00568562820926678	0.00563504992501362	-0.889581280934195</a:t>
            </a:r>
          </a:p>
          <a:p>
            <a:r>
              <a:rPr lang="en-US" dirty="0"/>
              <a:t>0.00198127186630458	0.00200887165335677	1.39303381436830</a:t>
            </a:r>
          </a:p>
          <a:p>
            <a:r>
              <a:rPr lang="en-US" dirty="0"/>
              <a:t>0.00320184581946280	0.00388020483260246	21.1864983946500</a:t>
            </a:r>
          </a:p>
          <a:p>
            <a:r>
              <a:rPr lang="en-US" dirty="0"/>
              <a:t>0.00577613118011763	0.00591390688699863	2.38525931258701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7CADE5-90C9-4886-8ACA-1725E38D544C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756275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17.9768299067246	18.1491193846868	0.958397441907769</a:t>
            </a:r>
          </a:p>
          <a:p>
            <a:r>
              <a:rPr lang="en-US" dirty="0"/>
              <a:t>103.347962855095	118.527258027761	14.6875610832779</a:t>
            </a:r>
          </a:p>
          <a:p>
            <a:r>
              <a:rPr lang="en-US" dirty="0"/>
              <a:t>288.754991882320	364.463065456242	26.2187929913872</a:t>
            </a:r>
          </a:p>
          <a:p>
            <a:r>
              <a:rPr lang="en-US" dirty="0"/>
              <a:t>565.712423282355	580.065152782729	2.53710700166296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7CADE5-90C9-4886-8ACA-1725E38D544C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210727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17.9768299067246	18.1491193846868	0.958397441907769</a:t>
            </a:r>
          </a:p>
          <a:p>
            <a:r>
              <a:rPr lang="en-US" dirty="0"/>
              <a:t>103.347962855095	118.527258027761	14.6875610832779</a:t>
            </a:r>
          </a:p>
          <a:p>
            <a:r>
              <a:rPr lang="en-US" dirty="0"/>
              <a:t>288.754991882320	364.463065456242	26.2187929913872</a:t>
            </a:r>
          </a:p>
          <a:p>
            <a:r>
              <a:rPr lang="en-US" dirty="0"/>
              <a:t>565.712423282355	580.065152782729	2.53710700166296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7CADE5-90C9-4886-8ACA-1725E38D544C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360170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17.9768299067246	18.1491193846868	0.958397441907769</a:t>
            </a:r>
          </a:p>
          <a:p>
            <a:r>
              <a:rPr lang="en-US" dirty="0"/>
              <a:t>103.347962855095	118.527258027761	14.6875610832779</a:t>
            </a:r>
          </a:p>
          <a:p>
            <a:r>
              <a:rPr lang="en-US" dirty="0"/>
              <a:t>288.754991882320	364.463065456242	26.2187929913872</a:t>
            </a:r>
          </a:p>
          <a:p>
            <a:r>
              <a:rPr lang="en-US" dirty="0"/>
              <a:t>565.712423282355	580.065152782729	2.53710700166296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7CADE5-90C9-4886-8ACA-1725E38D544C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793737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17.9768299067246	18.1491193846855	0.958397441900635</a:t>
            </a:r>
          </a:p>
          <a:p>
            <a:r>
              <a:rPr lang="en-US" dirty="0"/>
              <a:t>103.347962855095	118.527258027761	14.6875610832778</a:t>
            </a:r>
          </a:p>
          <a:p>
            <a:r>
              <a:rPr lang="en-US" dirty="0"/>
              <a:t>288.754991882320	364.463065456242	26.2187929913871</a:t>
            </a:r>
          </a:p>
          <a:p>
            <a:r>
              <a:rPr lang="en-US" dirty="0"/>
              <a:t>565.712423282355	580.065152782731	2.53710700166326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7CADE5-90C9-4886-8ACA-1725E38D544C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231828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odule Title">
    <p:bg>
      <p:bgPr>
        <a:blipFill dpi="0" rotWithShape="1">
          <a:blip r:embed="rId2">
            <a:lum/>
          </a:blip>
          <a:srcRect/>
          <a:stretch>
            <a:fillRect t="-2000" b="-2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DBEEFF38-9219-3402-6C1E-B326B8FB361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5032" y="6356350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32B7F7EA-D5FA-48A9-A388-858D3B14DD11}" type="datetimeFigureOut">
              <a:rPr lang="en-US" smtClean="0"/>
              <a:pPr/>
              <a:t>1/15/2026</a:t>
            </a:fld>
            <a:endParaRPr lang="en-US"/>
          </a:p>
        </p:txBody>
      </p:sp>
      <p:pic>
        <p:nvPicPr>
          <p:cNvPr id="1026" name="Picture 2" descr="lnu_wordmark_symbol_eng_rgb">
            <a:extLst>
              <a:ext uri="{FF2B5EF4-FFF2-40B4-BE49-F238E27FC236}">
                <a16:creationId xmlns:a16="http://schemas.microsoft.com/office/drawing/2014/main" id="{C8BBA26D-0448-C98D-A6E4-7D55251344C0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duotone>
              <a:prstClr val="black"/>
              <a:schemeClr val="bg1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82361" y="5087024"/>
            <a:ext cx="4303240" cy="6975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1682C91-27D9-7A04-4E8D-33817B2D740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213086" y="537502"/>
            <a:ext cx="6847472" cy="1976513"/>
          </a:xfrm>
          <a:prstGeom prst="rect">
            <a:avLst/>
          </a:prstGeom>
        </p:spPr>
        <p:txBody>
          <a:bodyPr anchor="b"/>
          <a:lstStyle>
            <a:lvl1pPr algn="l"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Module #: Title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4DD5900-7FFF-4234-2E19-03956DD10669}"/>
              </a:ext>
            </a:extLst>
          </p:cNvPr>
          <p:cNvSpPr txBox="1"/>
          <p:nvPr userDrawn="1"/>
        </p:nvSpPr>
        <p:spPr>
          <a:xfrm>
            <a:off x="213085" y="2570480"/>
            <a:ext cx="6695715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>
              <a:solidFill>
                <a:schemeClr val="bg1"/>
              </a:solidFill>
            </a:endParaRPr>
          </a:p>
          <a:p>
            <a:r>
              <a:rPr lang="en-US" b="1" dirty="0">
                <a:solidFill>
                  <a:schemeClr val="bg1"/>
                </a:solidFill>
              </a:rPr>
              <a:t>Andreas Linderholt</a:t>
            </a:r>
          </a:p>
          <a:p>
            <a:r>
              <a:rPr lang="en-US" b="0" i="1" dirty="0">
                <a:solidFill>
                  <a:schemeClr val="bg1"/>
                </a:solidFill>
              </a:rPr>
              <a:t>Linnaeus University </a:t>
            </a:r>
          </a:p>
          <a:p>
            <a:r>
              <a:rPr lang="en-US" b="0" i="1" dirty="0">
                <a:solidFill>
                  <a:schemeClr val="bg1"/>
                </a:solidFill>
              </a:rPr>
              <a:t>Department of Mechanical Engineering</a:t>
            </a:r>
          </a:p>
          <a:p>
            <a:endParaRPr lang="en-US" b="1" dirty="0">
              <a:solidFill>
                <a:schemeClr val="bg1"/>
              </a:solidFill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b="1" dirty="0">
                <a:solidFill>
                  <a:schemeClr val="bg1"/>
                </a:solidFill>
              </a:rPr>
              <a:t>Steven Carter</a:t>
            </a:r>
          </a:p>
          <a:p>
            <a:r>
              <a:rPr lang="en-US" b="1" dirty="0">
                <a:solidFill>
                  <a:schemeClr val="bg1"/>
                </a:solidFill>
              </a:rPr>
              <a:t>Benjamin Moldenhauer</a:t>
            </a:r>
          </a:p>
          <a:p>
            <a:r>
              <a:rPr lang="en-US" b="1" dirty="0">
                <a:solidFill>
                  <a:schemeClr val="bg1"/>
                </a:solidFill>
              </a:rPr>
              <a:t>Daniel Roettgen</a:t>
            </a:r>
          </a:p>
          <a:p>
            <a:r>
              <a:rPr lang="en-US" b="0" i="1" dirty="0">
                <a:solidFill>
                  <a:schemeClr val="bg1"/>
                </a:solidFill>
              </a:rPr>
              <a:t>Sandia National Laboratories</a:t>
            </a:r>
          </a:p>
          <a:p>
            <a:r>
              <a:rPr lang="en-US" b="0" i="1" dirty="0">
                <a:solidFill>
                  <a:schemeClr val="bg1"/>
                </a:solidFill>
              </a:rPr>
              <a:t>Experimental Structural Dynamics</a:t>
            </a:r>
          </a:p>
          <a:p>
            <a:endParaRPr lang="en-US" dirty="0"/>
          </a:p>
        </p:txBody>
      </p:sp>
      <p:sp>
        <p:nvSpPr>
          <p:cNvPr id="17" name="Picture Placeholder 8">
            <a:extLst>
              <a:ext uri="{FF2B5EF4-FFF2-40B4-BE49-F238E27FC236}">
                <a16:creationId xmlns:a16="http://schemas.microsoft.com/office/drawing/2014/main" id="{55A49339-AFD2-293D-5083-71E4E4D94B10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9522779" y="297608"/>
            <a:ext cx="2262822" cy="1463992"/>
          </a:xfrm>
          <a:prstGeom prst="rect">
            <a:avLst/>
          </a:prstGeom>
          <a:ln w="19050">
            <a:noFill/>
          </a:ln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Picture</a:t>
            </a:r>
          </a:p>
        </p:txBody>
      </p:sp>
      <p:sp>
        <p:nvSpPr>
          <p:cNvPr id="18" name="Picture Placeholder 8">
            <a:extLst>
              <a:ext uri="{FF2B5EF4-FFF2-40B4-BE49-F238E27FC236}">
                <a16:creationId xmlns:a16="http://schemas.microsoft.com/office/drawing/2014/main" id="{58CEA6CC-F9AC-D943-BDC1-48802068B7AC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9522779" y="1838484"/>
            <a:ext cx="2262822" cy="1463992"/>
          </a:xfrm>
          <a:prstGeom prst="rect">
            <a:avLst/>
          </a:prstGeom>
          <a:ln w="19050">
            <a:noFill/>
          </a:ln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Picture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4EAA5A42-DD64-4CDB-4EF6-E5FD7223D67D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740" b="18728"/>
          <a:stretch/>
        </p:blipFill>
        <p:spPr>
          <a:xfrm>
            <a:off x="5704659" y="5766266"/>
            <a:ext cx="6487341" cy="1091734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0640B613-3A6D-056E-0592-B710A66DBB4A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8390065" y="3358941"/>
            <a:ext cx="3151696" cy="1775351"/>
          </a:xfrm>
          <a:prstGeom prst="rect">
            <a:avLst/>
          </a:prstGeom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E0AED2AD-3489-102B-FD4A-EF0FD9432851}"/>
              </a:ext>
            </a:extLst>
          </p:cNvPr>
          <p:cNvSpPr txBox="1"/>
          <p:nvPr userDrawn="1"/>
        </p:nvSpPr>
        <p:spPr>
          <a:xfrm>
            <a:off x="324845" y="5393103"/>
            <a:ext cx="4051642" cy="391517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l">
              <a:lnSpc>
                <a:spcPct val="110000"/>
              </a:lnSpc>
            </a:pPr>
            <a:r>
              <a:rPr lang="en-US" sz="800" b="0" i="0" u="none" strike="noStrike" dirty="0">
                <a:solidFill>
                  <a:schemeClr val="bg1"/>
                </a:solidFill>
                <a:effectLst/>
                <a:latin typeface="+mn-lt"/>
              </a:rPr>
              <a:t>Sandia National Laboratories is a </a:t>
            </a:r>
            <a:r>
              <a:rPr lang="en-US" sz="800" b="0" i="0" u="none" strike="noStrike" dirty="0" err="1">
                <a:solidFill>
                  <a:schemeClr val="bg1"/>
                </a:solidFill>
                <a:effectLst/>
                <a:latin typeface="+mn-lt"/>
              </a:rPr>
              <a:t>multimission</a:t>
            </a:r>
            <a:r>
              <a:rPr lang="en-US" sz="800" b="0" i="0" u="none" strike="noStrike" dirty="0">
                <a:solidFill>
                  <a:schemeClr val="bg1"/>
                </a:solidFill>
                <a:effectLst/>
                <a:latin typeface="+mn-lt"/>
              </a:rPr>
              <a:t> laboratory managed and operated by National Technology and Engineering Solutions of Sandia, LLC, a wholly owned subsidiary of Honeywell International Inc., for the U.S. Department of Energy’s National Nuclear Security Administration under contract DE-NA0003525</a:t>
            </a:r>
            <a:endParaRPr lang="en-US" sz="800" b="0" i="0" dirty="0">
              <a:solidFill>
                <a:schemeClr val="bg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98210420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>
            <a:extLst>
              <a:ext uri="{FF2B5EF4-FFF2-40B4-BE49-F238E27FC236}">
                <a16:creationId xmlns:a16="http://schemas.microsoft.com/office/drawing/2014/main" id="{3AEC8612-5184-DD49-1D2B-3D06982D383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67440"/>
          <a:stretch/>
        </p:blipFill>
        <p:spPr>
          <a:xfrm>
            <a:off x="11385383" y="5620835"/>
            <a:ext cx="869482" cy="150426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95B5B12-DA50-06BD-F47C-576C09DE646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5032" y="136525"/>
            <a:ext cx="10515600" cy="662781"/>
          </a:xfrm>
          <a:prstGeom prst="rect">
            <a:avLst/>
          </a:prstGeom>
        </p:spPr>
        <p:txBody>
          <a:bodyPr/>
          <a:lstStyle>
            <a:lvl1pPr>
              <a:defRPr b="1">
                <a:solidFill>
                  <a:schemeClr val="accent1"/>
                </a:solidFill>
                <a:latin typeface="+mn-lt"/>
              </a:defRPr>
            </a:lvl1pPr>
          </a:lstStyle>
          <a:p>
            <a:r>
              <a:rPr lang="en-US" dirty="0"/>
              <a:t>Title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A49D2C-832F-6FF3-40A6-F5F2FE06B1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32" y="939585"/>
            <a:ext cx="11337324" cy="4978829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1"/>
                </a:solidFill>
                <a:latin typeface="+mj-lt"/>
              </a:defRPr>
            </a:lvl1pPr>
            <a:lvl2pPr>
              <a:defRPr>
                <a:solidFill>
                  <a:schemeClr val="accent1"/>
                </a:solidFill>
                <a:latin typeface="+mj-lt"/>
              </a:defRPr>
            </a:lvl2pPr>
            <a:lvl3pPr>
              <a:defRPr>
                <a:solidFill>
                  <a:schemeClr val="accent1"/>
                </a:solidFill>
                <a:latin typeface="+mj-lt"/>
              </a:defRPr>
            </a:lvl3pPr>
            <a:lvl4pPr>
              <a:defRPr>
                <a:solidFill>
                  <a:schemeClr val="accent1"/>
                </a:solidFill>
                <a:latin typeface="+mj-lt"/>
              </a:defRPr>
            </a:lvl4pPr>
            <a:lvl5pPr>
              <a:defRPr>
                <a:solidFill>
                  <a:schemeClr val="accent1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13A23D71-51C1-E310-51CE-7DE5CD2D46C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-3939" r="45728"/>
          <a:stretch/>
        </p:blipFill>
        <p:spPr>
          <a:xfrm>
            <a:off x="-125729" y="5642823"/>
            <a:ext cx="1554480" cy="1504260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0E0252BF-FA0F-2F01-F0F1-01835876CA31}"/>
              </a:ext>
            </a:extLst>
          </p:cNvPr>
          <p:cNvSpPr txBox="1"/>
          <p:nvPr userDrawn="1"/>
        </p:nvSpPr>
        <p:spPr>
          <a:xfrm>
            <a:off x="11687175" y="6231361"/>
            <a:ext cx="4649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fld id="{44A6E8EF-84EE-4D27-9E43-1F81D0E00356}" type="slidenum">
              <a:rPr lang="en-US" smtClean="0">
                <a:solidFill>
                  <a:schemeClr val="bg1"/>
                </a:solidFill>
              </a:rPr>
              <a:pPr algn="ctr"/>
              <a:t>‹#›</a:t>
            </a:fld>
            <a:endParaRPr 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618872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5B5B12-DA50-06BD-F47C-576C09DE646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5032" y="136525"/>
            <a:ext cx="10515600" cy="662781"/>
          </a:xfrm>
          <a:prstGeom prst="rect">
            <a:avLst/>
          </a:prstGeom>
        </p:spPr>
        <p:txBody>
          <a:bodyPr/>
          <a:lstStyle>
            <a:lvl1pPr>
              <a:defRPr b="1">
                <a:solidFill>
                  <a:schemeClr val="accent1"/>
                </a:solidFill>
                <a:latin typeface="+mn-lt"/>
              </a:defRPr>
            </a:lvl1pPr>
          </a:lstStyle>
          <a:p>
            <a:r>
              <a:rPr lang="en-US" dirty="0"/>
              <a:t>Title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A49D2C-832F-6FF3-40A6-F5F2FE06B1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32" y="939585"/>
            <a:ext cx="8683368" cy="4978829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1"/>
                </a:solidFill>
                <a:latin typeface="+mj-lt"/>
              </a:defRPr>
            </a:lvl1pPr>
            <a:lvl2pPr>
              <a:defRPr>
                <a:solidFill>
                  <a:schemeClr val="accent1"/>
                </a:solidFill>
                <a:latin typeface="+mj-lt"/>
              </a:defRPr>
            </a:lvl2pPr>
            <a:lvl3pPr>
              <a:defRPr>
                <a:solidFill>
                  <a:schemeClr val="accent1"/>
                </a:solidFill>
                <a:latin typeface="+mj-lt"/>
              </a:defRPr>
            </a:lvl3pPr>
            <a:lvl4pPr>
              <a:defRPr>
                <a:solidFill>
                  <a:schemeClr val="accent1"/>
                </a:solidFill>
                <a:latin typeface="+mj-lt"/>
              </a:defRPr>
            </a:lvl4pPr>
            <a:lvl5pPr>
              <a:defRPr>
                <a:solidFill>
                  <a:schemeClr val="accent1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463C00C0-AFE4-5CDB-792C-B1FF128BB46B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8918876" y="876197"/>
            <a:ext cx="3087687" cy="2366963"/>
          </a:xfrm>
          <a:ln>
            <a:solidFill>
              <a:schemeClr val="accent1"/>
            </a:solidFill>
          </a:ln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Picture here</a:t>
            </a:r>
          </a:p>
        </p:txBody>
      </p:sp>
      <p:sp>
        <p:nvSpPr>
          <p:cNvPr id="6" name="Picture Placeholder 4">
            <a:extLst>
              <a:ext uri="{FF2B5EF4-FFF2-40B4-BE49-F238E27FC236}">
                <a16:creationId xmlns:a16="http://schemas.microsoft.com/office/drawing/2014/main" id="{602C02E6-8B4E-746B-32D8-FBA12F839E67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8918875" y="3339996"/>
            <a:ext cx="3087687" cy="2366963"/>
          </a:xfrm>
          <a:ln>
            <a:solidFill>
              <a:schemeClr val="accent1"/>
            </a:solidFill>
          </a:ln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Picture here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4230CF3A-888A-B8BC-F56F-72E990F0AF6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67440"/>
          <a:stretch/>
        </p:blipFill>
        <p:spPr>
          <a:xfrm>
            <a:off x="11385383" y="5620835"/>
            <a:ext cx="869482" cy="150426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BAC3CC7A-4227-B03B-A890-0B34C7C41C16}"/>
              </a:ext>
            </a:extLst>
          </p:cNvPr>
          <p:cNvSpPr txBox="1"/>
          <p:nvPr userDrawn="1"/>
        </p:nvSpPr>
        <p:spPr>
          <a:xfrm>
            <a:off x="11687175" y="6231361"/>
            <a:ext cx="4649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fld id="{44A6E8EF-84EE-4D27-9E43-1F81D0E00356}" type="slidenum">
              <a:rPr lang="en-US" smtClean="0">
                <a:solidFill>
                  <a:schemeClr val="bg1"/>
                </a:solidFill>
              </a:rPr>
              <a:pPr algn="ctr"/>
              <a:t>‹#›</a:t>
            </a:fld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30157A07-85D3-76EC-2529-437C905C2B5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-3939" r="45728"/>
          <a:stretch/>
        </p:blipFill>
        <p:spPr>
          <a:xfrm>
            <a:off x="-125729" y="5642823"/>
            <a:ext cx="1554480" cy="15042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57036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ansition / Break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5B5B12-DA50-06BD-F47C-576C09DE646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9832" y="1409120"/>
            <a:ext cx="10515600" cy="662781"/>
          </a:xfrm>
          <a:prstGeom prst="rect">
            <a:avLst/>
          </a:prstGeom>
        </p:spPr>
        <p:txBody>
          <a:bodyPr/>
          <a:lstStyle>
            <a:lvl1pPr algn="ctr">
              <a:defRPr b="1">
                <a:solidFill>
                  <a:schemeClr val="accent1"/>
                </a:solidFill>
                <a:latin typeface="+mn-lt"/>
              </a:defRPr>
            </a:lvl1pPr>
          </a:lstStyle>
          <a:p>
            <a:r>
              <a:rPr lang="en-US" dirty="0"/>
              <a:t>Transition Title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6EE25C2B-00D8-B739-8A7C-9F78150F5A9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2225040" y="1841555"/>
            <a:ext cx="6675121" cy="3760097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D1A11BA6-9A4D-41B0-FE13-D42E91F591C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67440"/>
          <a:stretch/>
        </p:blipFill>
        <p:spPr>
          <a:xfrm>
            <a:off x="11385383" y="5620835"/>
            <a:ext cx="869482" cy="150426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C92307F5-1B86-EB7B-529A-B5AC3C3702F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-3939" r="45728"/>
          <a:stretch/>
        </p:blipFill>
        <p:spPr>
          <a:xfrm>
            <a:off x="-125729" y="5642823"/>
            <a:ext cx="1554480" cy="1504260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CEA77C6D-65EF-D438-A2B7-B79287A44518}"/>
              </a:ext>
            </a:extLst>
          </p:cNvPr>
          <p:cNvSpPr txBox="1"/>
          <p:nvPr userDrawn="1"/>
        </p:nvSpPr>
        <p:spPr>
          <a:xfrm>
            <a:off x="11687175" y="6231361"/>
            <a:ext cx="4649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fld id="{44A6E8EF-84EE-4D27-9E43-1F81D0E00356}" type="slidenum">
              <a:rPr lang="en-US" smtClean="0">
                <a:solidFill>
                  <a:schemeClr val="bg1"/>
                </a:solidFill>
              </a:rPr>
              <a:pPr algn="ctr"/>
              <a:t>‹#›</a:t>
            </a:fld>
            <a:endParaRPr 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311076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Placeholder 12">
            <a:extLst>
              <a:ext uri="{FF2B5EF4-FFF2-40B4-BE49-F238E27FC236}">
                <a16:creationId xmlns:a16="http://schemas.microsoft.com/office/drawing/2014/main" id="{AE4A825A-4063-94F5-2E60-E497DE3FD8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4AC2EE41-D82D-F945-F481-EC0ADFBAC9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2043324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3" r:id="rId3"/>
    <p:sldLayoutId id="2147483651" r:id="rId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13" Type="http://schemas.openxmlformats.org/officeDocument/2006/relationships/image" Target="../media/image17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12" Type="http://schemas.openxmlformats.org/officeDocument/2006/relationships/image" Target="../media/image16.png"/><Relationship Id="rId2" Type="http://schemas.openxmlformats.org/officeDocument/2006/relationships/image" Target="../media/image6.png"/><Relationship Id="rId16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11" Type="http://schemas.openxmlformats.org/officeDocument/2006/relationships/image" Target="../media/image15.png"/><Relationship Id="rId5" Type="http://schemas.openxmlformats.org/officeDocument/2006/relationships/image" Target="../media/image9.png"/><Relationship Id="rId15" Type="http://schemas.openxmlformats.org/officeDocument/2006/relationships/image" Target="../media/image19.png"/><Relationship Id="rId10" Type="http://schemas.openxmlformats.org/officeDocument/2006/relationships/image" Target="../media/image14.png"/><Relationship Id="rId4" Type="http://schemas.openxmlformats.org/officeDocument/2006/relationships/image" Target="../media/image8.png"/><Relationship Id="rId9" Type="http://schemas.openxmlformats.org/officeDocument/2006/relationships/image" Target="../media/image13.png"/><Relationship Id="rId14" Type="http://schemas.openxmlformats.org/officeDocument/2006/relationships/image" Target="../media/image1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2" Type="http://schemas.openxmlformats.org/officeDocument/2006/relationships/image" Target="../media/image6.emf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emf"/><Relationship Id="rId2" Type="http://schemas.openxmlformats.org/officeDocument/2006/relationships/image" Target="../media/image24.emf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7.emf"/><Relationship Id="rId4" Type="http://schemas.openxmlformats.org/officeDocument/2006/relationships/image" Target="../media/image26.emf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em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0.emf"/><Relationship Id="rId4" Type="http://schemas.openxmlformats.org/officeDocument/2006/relationships/image" Target="../media/image29.emf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emf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0.emf"/><Relationship Id="rId4" Type="http://schemas.openxmlformats.org/officeDocument/2006/relationships/image" Target="../media/image29.emf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emf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0.emf"/><Relationship Id="rId4" Type="http://schemas.openxmlformats.org/officeDocument/2006/relationships/image" Target="../media/image29.emf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emf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0.emf"/><Relationship Id="rId4" Type="http://schemas.openxmlformats.org/officeDocument/2006/relationships/image" Target="../media/image29.emf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emf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0.emf"/><Relationship Id="rId4" Type="http://schemas.openxmlformats.org/officeDocument/2006/relationships/image" Target="../media/image29.emf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527616-A4B2-51B4-6A7C-6CC82304D79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Module 5: Numerical Examples in MATLAB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226D44A-C018-0E6F-20C2-3A945BDF396F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DC6B8D1A-23C5-ACFC-ED38-9CA45829D829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71766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8813B625-871C-41F0-06A4-8D81D9C6287F}"/>
              </a:ext>
            </a:extLst>
          </p:cNvPr>
          <p:cNvSpPr/>
          <p:nvPr/>
        </p:nvSpPr>
        <p:spPr>
          <a:xfrm>
            <a:off x="6567786" y="1250134"/>
            <a:ext cx="4572000" cy="457200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B646915-170A-BB5B-1571-BC528A7C5A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36525"/>
            <a:ext cx="12192000" cy="662781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Outline of the Substructuring Exercises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940C96-5EC0-7D91-65D6-B9C65A022D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32" y="2093391"/>
            <a:ext cx="11337324" cy="3897413"/>
          </a:xfrm>
        </p:spPr>
        <p:txBody>
          <a:bodyPr>
            <a:normAutofit/>
          </a:bodyPr>
          <a:lstStyle/>
          <a:p>
            <a:r>
              <a:rPr lang="en-US" dirty="0"/>
              <a:t>Beam C composed of Beam A &amp; Beam B subsystems</a:t>
            </a:r>
          </a:p>
          <a:p>
            <a:pPr lvl="1"/>
            <a:r>
              <a:rPr lang="en-US" dirty="0"/>
              <a:t>Truth Answer formed by directly superimposing matrices </a:t>
            </a:r>
          </a:p>
          <a:p>
            <a:r>
              <a:rPr lang="en-US" dirty="0"/>
              <a:t>Substructuring Assemblies:</a:t>
            </a:r>
          </a:p>
          <a:p>
            <a:pPr lvl="1"/>
            <a:r>
              <a:rPr lang="en-US" dirty="0"/>
              <a:t>Physical Substructuring with M, C &amp; K of the beams</a:t>
            </a:r>
          </a:p>
          <a:p>
            <a:pPr lvl="1"/>
            <a:r>
              <a:rPr lang="en-US" dirty="0"/>
              <a:t>LM-FBS assembly of subsystem FRFs</a:t>
            </a:r>
          </a:p>
          <a:p>
            <a:pPr lvl="1"/>
            <a:r>
              <a:rPr lang="en-US" dirty="0"/>
              <a:t>Primal CMS assembly of A and B via modal basis</a:t>
            </a:r>
          </a:p>
          <a:p>
            <a:r>
              <a:rPr lang="en-US" dirty="0"/>
              <a:t>What are some errors that can come in? </a:t>
            </a:r>
          </a:p>
          <a:p>
            <a:pPr lvl="1"/>
            <a:r>
              <a:rPr lang="en-US" dirty="0"/>
              <a:t>LM-FBS: Noise in the FRFs</a:t>
            </a:r>
          </a:p>
          <a:p>
            <a:pPr lvl="1"/>
            <a:r>
              <a:rPr lang="en-US" dirty="0"/>
              <a:t>CMS: Modal Truncation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9EB4019-4647-7516-9E6B-DD5C3E6AA827}"/>
              </a:ext>
            </a:extLst>
          </p:cNvPr>
          <p:cNvSpPr/>
          <p:nvPr/>
        </p:nvSpPr>
        <p:spPr>
          <a:xfrm>
            <a:off x="574248" y="1250134"/>
            <a:ext cx="2743200" cy="4572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83EA3AC-A18B-24CD-91BF-9DE736CE5811}"/>
              </a:ext>
            </a:extLst>
          </p:cNvPr>
          <p:cNvSpPr/>
          <p:nvPr/>
        </p:nvSpPr>
        <p:spPr>
          <a:xfrm>
            <a:off x="4201132" y="1250134"/>
            <a:ext cx="1828800" cy="457200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E6E0068-B68F-4F1D-B4C5-6AA4EA3B7AA6}"/>
              </a:ext>
            </a:extLst>
          </p:cNvPr>
          <p:cNvSpPr txBox="1"/>
          <p:nvPr/>
        </p:nvSpPr>
        <p:spPr>
          <a:xfrm>
            <a:off x="3605193" y="1295288"/>
            <a:ext cx="32092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+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DBBFAA6B-4826-9724-15E9-87E23319C117}"/>
              </a:ext>
            </a:extLst>
          </p:cNvPr>
          <p:cNvSpPr/>
          <p:nvPr/>
        </p:nvSpPr>
        <p:spPr>
          <a:xfrm>
            <a:off x="3276147" y="1438969"/>
            <a:ext cx="85725" cy="7853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C4517B90-41C0-2489-3E49-3C8861856E0F}"/>
              </a:ext>
            </a:extLst>
          </p:cNvPr>
          <p:cNvSpPr/>
          <p:nvPr/>
        </p:nvSpPr>
        <p:spPr>
          <a:xfrm>
            <a:off x="4158270" y="1438969"/>
            <a:ext cx="85725" cy="7853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EE81D022-8DFA-0FF6-86CD-7F4E64577B13}"/>
              </a:ext>
            </a:extLst>
          </p:cNvPr>
          <p:cNvCxnSpPr>
            <a:cxnSpLocks/>
            <a:stCxn id="10" idx="0"/>
          </p:cNvCxnSpPr>
          <p:nvPr/>
        </p:nvCxnSpPr>
        <p:spPr>
          <a:xfrm flipH="1" flipV="1">
            <a:off x="3317448" y="979131"/>
            <a:ext cx="1562" cy="459838"/>
          </a:xfrm>
          <a:prstGeom prst="straightConnector1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Arc 12">
            <a:extLst>
              <a:ext uri="{FF2B5EF4-FFF2-40B4-BE49-F238E27FC236}">
                <a16:creationId xmlns:a16="http://schemas.microsoft.com/office/drawing/2014/main" id="{660753C0-1975-2219-608F-19219BEAE3D2}"/>
              </a:ext>
            </a:extLst>
          </p:cNvPr>
          <p:cNvSpPr/>
          <p:nvPr/>
        </p:nvSpPr>
        <p:spPr>
          <a:xfrm>
            <a:off x="3126205" y="1292798"/>
            <a:ext cx="384048" cy="384048"/>
          </a:xfrm>
          <a:prstGeom prst="arc">
            <a:avLst>
              <a:gd name="adj1" fmla="val 17589694"/>
              <a:gd name="adj2" fmla="val 4510709"/>
            </a:avLst>
          </a:prstGeom>
          <a:ln w="38100">
            <a:solidFill>
              <a:schemeClr val="tx1">
                <a:lumMod val="95000"/>
                <a:lumOff val="5000"/>
              </a:schemeClr>
            </a:solidFill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dirty="0"/>
              <a:t>  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5B4E17F0-08A5-B9A9-DA14-F9DE2AB43896}"/>
              </a:ext>
            </a:extLst>
          </p:cNvPr>
          <p:cNvCxnSpPr>
            <a:cxnSpLocks/>
          </p:cNvCxnSpPr>
          <p:nvPr/>
        </p:nvCxnSpPr>
        <p:spPr>
          <a:xfrm flipH="1" flipV="1">
            <a:off x="4199571" y="979131"/>
            <a:ext cx="1562" cy="459838"/>
          </a:xfrm>
          <a:prstGeom prst="straightConnector1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Arc 14">
            <a:extLst>
              <a:ext uri="{FF2B5EF4-FFF2-40B4-BE49-F238E27FC236}">
                <a16:creationId xmlns:a16="http://schemas.microsoft.com/office/drawing/2014/main" id="{44D03B03-13C0-534F-BA5E-AD5800B29A47}"/>
              </a:ext>
            </a:extLst>
          </p:cNvPr>
          <p:cNvSpPr/>
          <p:nvPr/>
        </p:nvSpPr>
        <p:spPr>
          <a:xfrm>
            <a:off x="4008328" y="1292798"/>
            <a:ext cx="384048" cy="384048"/>
          </a:xfrm>
          <a:prstGeom prst="arc">
            <a:avLst>
              <a:gd name="adj1" fmla="val 5948162"/>
              <a:gd name="adj2" fmla="val 14938086"/>
            </a:avLst>
          </a:prstGeom>
          <a:ln w="38100">
            <a:solidFill>
              <a:schemeClr val="tx1">
                <a:lumMod val="95000"/>
                <a:lumOff val="5000"/>
              </a:schemeClr>
            </a:solidFill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dirty="0"/>
              <a:t>  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1368E14-CDF2-D8C5-652A-D8A5007DD48A}"/>
              </a:ext>
            </a:extLst>
          </p:cNvPr>
          <p:cNvSpPr txBox="1"/>
          <p:nvPr/>
        </p:nvSpPr>
        <p:spPr>
          <a:xfrm>
            <a:off x="6138398" y="1295288"/>
            <a:ext cx="32092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=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5326393A-E9A1-5314-148C-9588FB0ECB7A}"/>
              </a:ext>
            </a:extLst>
          </p:cNvPr>
          <p:cNvCxnSpPr/>
          <p:nvPr/>
        </p:nvCxnSpPr>
        <p:spPr>
          <a:xfrm>
            <a:off x="9310986" y="1250134"/>
            <a:ext cx="0" cy="457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>
            <a:extLst>
              <a:ext uri="{FF2B5EF4-FFF2-40B4-BE49-F238E27FC236}">
                <a16:creationId xmlns:a16="http://schemas.microsoft.com/office/drawing/2014/main" id="{4C7F2831-6849-27EF-1278-66E70A11598E}"/>
              </a:ext>
            </a:extLst>
          </p:cNvPr>
          <p:cNvSpPr/>
          <p:nvPr/>
        </p:nvSpPr>
        <p:spPr>
          <a:xfrm>
            <a:off x="9266031" y="1439469"/>
            <a:ext cx="85725" cy="7853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4534E1C0-A9DE-694C-E028-6A34241AA48D}"/>
              </a:ext>
            </a:extLst>
          </p:cNvPr>
          <p:cNvCxnSpPr>
            <a:cxnSpLocks/>
          </p:cNvCxnSpPr>
          <p:nvPr/>
        </p:nvCxnSpPr>
        <p:spPr>
          <a:xfrm flipH="1" flipV="1">
            <a:off x="9310205" y="980401"/>
            <a:ext cx="1562" cy="459838"/>
          </a:xfrm>
          <a:prstGeom prst="straightConnector1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Arc 19">
            <a:extLst>
              <a:ext uri="{FF2B5EF4-FFF2-40B4-BE49-F238E27FC236}">
                <a16:creationId xmlns:a16="http://schemas.microsoft.com/office/drawing/2014/main" id="{2F2ED778-2D9E-CCAE-6792-4FA82A66EF50}"/>
              </a:ext>
            </a:extLst>
          </p:cNvPr>
          <p:cNvSpPr/>
          <p:nvPr/>
        </p:nvSpPr>
        <p:spPr>
          <a:xfrm>
            <a:off x="9118962" y="1294068"/>
            <a:ext cx="384048" cy="384048"/>
          </a:xfrm>
          <a:prstGeom prst="arc">
            <a:avLst>
              <a:gd name="adj1" fmla="val 17390596"/>
              <a:gd name="adj2" fmla="val 4028325"/>
            </a:avLst>
          </a:prstGeom>
          <a:ln w="38100">
            <a:solidFill>
              <a:schemeClr val="tx1">
                <a:lumMod val="95000"/>
                <a:lumOff val="5000"/>
              </a:schemeClr>
            </a:solidFill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dirty="0"/>
              <a:t>  </a:t>
            </a:r>
          </a:p>
        </p:txBody>
      </p:sp>
    </p:spTree>
    <p:extLst>
      <p:ext uri="{BB962C8B-B14F-4D97-AF65-F5344CB8AC3E}">
        <p14:creationId xmlns:p14="http://schemas.microsoft.com/office/powerpoint/2010/main" val="22387271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CB858E-8CA0-B82E-EBCC-A69D08E60E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" y="136525"/>
            <a:ext cx="12192001" cy="662781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Section 1 &amp; 2 : Beam Subsystems A &amp; B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E2FC335-C083-D0B4-9F74-AB2B7B6BF3F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05032" y="2095837"/>
                <a:ext cx="11337324" cy="3943012"/>
              </a:xfrm>
            </p:spPr>
            <p:txBody>
              <a:bodyPr/>
              <a:lstStyle/>
              <a:p>
                <a:r>
                  <a:rPr lang="en-US" dirty="0"/>
                  <a:t>Beams A &amp; B are connected through translation and rotation DOFs at the tips</a:t>
                </a:r>
              </a:p>
              <a:p>
                <a:r>
                  <a:rPr lang="en-US" dirty="0"/>
                  <a:t>Parameters: width, height, total length, length split ratio, total number of elements, material properties (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𝜈</m:t>
                    </m:r>
                  </m:oMath>
                </a14:m>
                <a:r>
                  <a:rPr lang="en-US" dirty="0"/>
                  <a:t>) and Rayleigh Damping parameters</a:t>
                </a:r>
              </a:p>
              <a:p>
                <a:r>
                  <a:rPr lang="en-US" dirty="0"/>
                  <a:t>Provided script </a:t>
                </a:r>
                <a:r>
                  <a:rPr lang="en-US" dirty="0" err="1"/>
                  <a:t>beamkm_ur.m</a:t>
                </a:r>
                <a:r>
                  <a:rPr lang="en-US" dirty="0"/>
                  <a:t> generates Mass, M, and Stiffness, K, matrices composed of Euler-Bernoulli Beam elements. The damping matrix, C, is then constructed proportional to M &amp; K.</a:t>
                </a:r>
              </a:p>
              <a:p>
                <a:r>
                  <a:rPr lang="en-US" dirty="0"/>
                  <a:t>Boundary Conditions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/>
                  <a:t> Define a cantilever or fixed-fixed beam by fixing one or both of the outer beam ends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E2FC335-C083-D0B4-9F74-AB2B7B6BF3F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05032" y="2095837"/>
                <a:ext cx="11337324" cy="3943012"/>
              </a:xfrm>
              <a:blipFill>
                <a:blip r:embed="rId3"/>
                <a:stretch>
                  <a:fillRect l="-968" t="-2782" r="-11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F08F85ED-28F7-5B77-8114-7A2DD90A05ED}"/>
              </a:ext>
            </a:extLst>
          </p:cNvPr>
          <p:cNvSpPr/>
          <p:nvPr/>
        </p:nvSpPr>
        <p:spPr>
          <a:xfrm>
            <a:off x="6567786" y="1250589"/>
            <a:ext cx="2743200" cy="4572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2CD72E4-089D-6029-AB9C-B46501164868}"/>
              </a:ext>
            </a:extLst>
          </p:cNvPr>
          <p:cNvSpPr/>
          <p:nvPr/>
        </p:nvSpPr>
        <p:spPr>
          <a:xfrm>
            <a:off x="9310987" y="1250362"/>
            <a:ext cx="1828800" cy="457200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35408DA-86E8-E310-82A9-E880450ADAAC}"/>
              </a:ext>
            </a:extLst>
          </p:cNvPr>
          <p:cNvSpPr/>
          <p:nvPr/>
        </p:nvSpPr>
        <p:spPr>
          <a:xfrm>
            <a:off x="6567786" y="1250134"/>
            <a:ext cx="4572000" cy="457200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39FC80A-514E-C93B-AD35-C8EBBA6B6AB6}"/>
              </a:ext>
            </a:extLst>
          </p:cNvPr>
          <p:cNvSpPr/>
          <p:nvPr/>
        </p:nvSpPr>
        <p:spPr>
          <a:xfrm>
            <a:off x="574248" y="1250134"/>
            <a:ext cx="2743200" cy="4572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9C2FBAF-1900-601F-541A-C674CC454786}"/>
              </a:ext>
            </a:extLst>
          </p:cNvPr>
          <p:cNvSpPr/>
          <p:nvPr/>
        </p:nvSpPr>
        <p:spPr>
          <a:xfrm>
            <a:off x="4201132" y="1250134"/>
            <a:ext cx="1828800" cy="457200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C8B2BF2-D5B9-9DA3-3195-0D07B122CC84}"/>
              </a:ext>
            </a:extLst>
          </p:cNvPr>
          <p:cNvSpPr txBox="1"/>
          <p:nvPr/>
        </p:nvSpPr>
        <p:spPr>
          <a:xfrm>
            <a:off x="3605193" y="1295288"/>
            <a:ext cx="32092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+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BEEB810D-9F5A-80DC-3394-8A8019AC2B96}"/>
              </a:ext>
            </a:extLst>
          </p:cNvPr>
          <p:cNvSpPr/>
          <p:nvPr/>
        </p:nvSpPr>
        <p:spPr>
          <a:xfrm>
            <a:off x="3276147" y="1438969"/>
            <a:ext cx="85725" cy="7853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3C90BD19-BA46-BC0A-3888-38B71C77FCF3}"/>
              </a:ext>
            </a:extLst>
          </p:cNvPr>
          <p:cNvSpPr/>
          <p:nvPr/>
        </p:nvSpPr>
        <p:spPr>
          <a:xfrm>
            <a:off x="4158270" y="1438969"/>
            <a:ext cx="85725" cy="7853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9D7C921A-8E6F-923F-94BF-6015921FCEDA}"/>
              </a:ext>
            </a:extLst>
          </p:cNvPr>
          <p:cNvCxnSpPr>
            <a:cxnSpLocks/>
            <a:stCxn id="10" idx="0"/>
          </p:cNvCxnSpPr>
          <p:nvPr/>
        </p:nvCxnSpPr>
        <p:spPr>
          <a:xfrm flipH="1" flipV="1">
            <a:off x="3317448" y="979131"/>
            <a:ext cx="1562" cy="459838"/>
          </a:xfrm>
          <a:prstGeom prst="straightConnector1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Arc 12">
            <a:extLst>
              <a:ext uri="{FF2B5EF4-FFF2-40B4-BE49-F238E27FC236}">
                <a16:creationId xmlns:a16="http://schemas.microsoft.com/office/drawing/2014/main" id="{69B0AB5C-CED7-8995-3BCC-6D21669C00FD}"/>
              </a:ext>
            </a:extLst>
          </p:cNvPr>
          <p:cNvSpPr/>
          <p:nvPr/>
        </p:nvSpPr>
        <p:spPr>
          <a:xfrm>
            <a:off x="3126205" y="1292798"/>
            <a:ext cx="384048" cy="384048"/>
          </a:xfrm>
          <a:prstGeom prst="arc">
            <a:avLst>
              <a:gd name="adj1" fmla="val 17589694"/>
              <a:gd name="adj2" fmla="val 4510709"/>
            </a:avLst>
          </a:prstGeom>
          <a:ln w="38100">
            <a:solidFill>
              <a:schemeClr val="tx1">
                <a:lumMod val="95000"/>
                <a:lumOff val="5000"/>
              </a:schemeClr>
            </a:solidFill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dirty="0"/>
              <a:t>  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493F5172-CBFD-5FF3-777E-7C5D2B868411}"/>
              </a:ext>
            </a:extLst>
          </p:cNvPr>
          <p:cNvCxnSpPr>
            <a:cxnSpLocks/>
          </p:cNvCxnSpPr>
          <p:nvPr/>
        </p:nvCxnSpPr>
        <p:spPr>
          <a:xfrm flipH="1" flipV="1">
            <a:off x="4199571" y="979131"/>
            <a:ext cx="1562" cy="459838"/>
          </a:xfrm>
          <a:prstGeom prst="straightConnector1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Arc 14">
            <a:extLst>
              <a:ext uri="{FF2B5EF4-FFF2-40B4-BE49-F238E27FC236}">
                <a16:creationId xmlns:a16="http://schemas.microsoft.com/office/drawing/2014/main" id="{679123DF-C305-6064-74C9-41D65D82F5CE}"/>
              </a:ext>
            </a:extLst>
          </p:cNvPr>
          <p:cNvSpPr/>
          <p:nvPr/>
        </p:nvSpPr>
        <p:spPr>
          <a:xfrm>
            <a:off x="4008328" y="1292798"/>
            <a:ext cx="384048" cy="384048"/>
          </a:xfrm>
          <a:prstGeom prst="arc">
            <a:avLst>
              <a:gd name="adj1" fmla="val 5948162"/>
              <a:gd name="adj2" fmla="val 14938086"/>
            </a:avLst>
          </a:prstGeom>
          <a:ln w="38100">
            <a:solidFill>
              <a:schemeClr val="tx1">
                <a:lumMod val="95000"/>
                <a:lumOff val="5000"/>
              </a:schemeClr>
            </a:solidFill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dirty="0"/>
              <a:t>  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CB45FB1-F190-BACB-E213-93BDFAC70428}"/>
              </a:ext>
            </a:extLst>
          </p:cNvPr>
          <p:cNvSpPr txBox="1"/>
          <p:nvPr/>
        </p:nvSpPr>
        <p:spPr>
          <a:xfrm>
            <a:off x="6138398" y="1295288"/>
            <a:ext cx="32092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=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BD28A881-F0B1-84FD-92E2-153F3E57EAA4}"/>
              </a:ext>
            </a:extLst>
          </p:cNvPr>
          <p:cNvCxnSpPr/>
          <p:nvPr/>
        </p:nvCxnSpPr>
        <p:spPr>
          <a:xfrm>
            <a:off x="9310986" y="1250134"/>
            <a:ext cx="0" cy="457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>
            <a:extLst>
              <a:ext uri="{FF2B5EF4-FFF2-40B4-BE49-F238E27FC236}">
                <a16:creationId xmlns:a16="http://schemas.microsoft.com/office/drawing/2014/main" id="{57981DEA-8D71-E9BF-A3E8-3BD2BB2B5431}"/>
              </a:ext>
            </a:extLst>
          </p:cNvPr>
          <p:cNvSpPr/>
          <p:nvPr/>
        </p:nvSpPr>
        <p:spPr>
          <a:xfrm>
            <a:off x="9266031" y="1439469"/>
            <a:ext cx="85725" cy="7853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731AE8C2-96F5-7755-A0E2-F7373F5C1075}"/>
              </a:ext>
            </a:extLst>
          </p:cNvPr>
          <p:cNvCxnSpPr>
            <a:cxnSpLocks/>
          </p:cNvCxnSpPr>
          <p:nvPr/>
        </p:nvCxnSpPr>
        <p:spPr>
          <a:xfrm flipH="1" flipV="1">
            <a:off x="9310205" y="980401"/>
            <a:ext cx="1562" cy="459838"/>
          </a:xfrm>
          <a:prstGeom prst="straightConnector1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Arc 19">
            <a:extLst>
              <a:ext uri="{FF2B5EF4-FFF2-40B4-BE49-F238E27FC236}">
                <a16:creationId xmlns:a16="http://schemas.microsoft.com/office/drawing/2014/main" id="{E10F81AA-9858-7964-4B0F-79E4A92C8ED1}"/>
              </a:ext>
            </a:extLst>
          </p:cNvPr>
          <p:cNvSpPr/>
          <p:nvPr/>
        </p:nvSpPr>
        <p:spPr>
          <a:xfrm>
            <a:off x="9118962" y="1294068"/>
            <a:ext cx="384048" cy="384048"/>
          </a:xfrm>
          <a:prstGeom prst="arc">
            <a:avLst>
              <a:gd name="adj1" fmla="val 17390596"/>
              <a:gd name="adj2" fmla="val 4028325"/>
            </a:avLst>
          </a:prstGeom>
          <a:ln w="38100">
            <a:solidFill>
              <a:schemeClr val="tx1">
                <a:lumMod val="95000"/>
                <a:lumOff val="5000"/>
              </a:schemeClr>
            </a:solidFill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dirty="0"/>
              <a:t>  </a:t>
            </a:r>
          </a:p>
        </p:txBody>
      </p:sp>
    </p:spTree>
    <p:extLst>
      <p:ext uri="{BB962C8B-B14F-4D97-AF65-F5344CB8AC3E}">
        <p14:creationId xmlns:p14="http://schemas.microsoft.com/office/powerpoint/2010/main" val="13590653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ED22A2-F07C-F629-28E3-725C4E5031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36525"/>
            <a:ext cx="12192000" cy="662781"/>
          </a:xfrm>
        </p:spPr>
        <p:txBody>
          <a:bodyPr>
            <a:noAutofit/>
          </a:bodyPr>
          <a:lstStyle/>
          <a:p>
            <a:pPr algn="ctr"/>
            <a:r>
              <a:rPr lang="en-US" sz="3600" dirty="0"/>
              <a:t>Section 1 &amp; 2 : Truth Assembly By Superimposing Matrices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42D6A726-C8A9-E128-AF09-CFAD728B6AAE}"/>
                  </a:ext>
                </a:extLst>
              </p:cNvPr>
              <p:cNvSpPr/>
              <p:nvPr/>
            </p:nvSpPr>
            <p:spPr>
              <a:xfrm>
                <a:off x="7321675" y="1154403"/>
                <a:ext cx="2926080" cy="2926080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𝑴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𝑨</m:t>
                          </m:r>
                        </m:sub>
                      </m:sSub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42D6A726-C8A9-E128-AF09-CFAD728B6AA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21675" y="1154403"/>
                <a:ext cx="2926080" cy="292608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30571A65-AE11-7307-11AD-5E565455F3D8}"/>
                  </a:ext>
                </a:extLst>
              </p:cNvPr>
              <p:cNvSpPr/>
              <p:nvPr/>
            </p:nvSpPr>
            <p:spPr>
              <a:xfrm>
                <a:off x="9881994" y="3714723"/>
                <a:ext cx="2011680" cy="2011680"/>
              </a:xfrm>
              <a:prstGeom prst="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𝑴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𝑩</m:t>
                          </m:r>
                        </m:sub>
                      </m:sSub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30571A65-AE11-7307-11AD-5E565455F3D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81994" y="3714723"/>
                <a:ext cx="2011680" cy="201168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Rectangle 8">
            <a:extLst>
              <a:ext uri="{FF2B5EF4-FFF2-40B4-BE49-F238E27FC236}">
                <a16:creationId xmlns:a16="http://schemas.microsoft.com/office/drawing/2014/main" id="{3420998E-7F76-60D1-D394-A121253E0BD4}"/>
              </a:ext>
            </a:extLst>
          </p:cNvPr>
          <p:cNvSpPr/>
          <p:nvPr/>
        </p:nvSpPr>
        <p:spPr>
          <a:xfrm>
            <a:off x="7321675" y="1154403"/>
            <a:ext cx="4572000" cy="4572000"/>
          </a:xfrm>
          <a:prstGeom prst="rect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010A9E61-8C0E-3932-D003-B2D5FB2FD08B}"/>
                  </a:ext>
                </a:extLst>
              </p:cNvPr>
              <p:cNvSpPr/>
              <p:nvPr/>
            </p:nvSpPr>
            <p:spPr>
              <a:xfrm>
                <a:off x="433760" y="2724947"/>
                <a:ext cx="2926080" cy="2926080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b="1" dirty="0"/>
                  <a:t>Mass Matrix: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𝑴</m:t>
                        </m:r>
                      </m:e>
                      <m:sub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𝑨</m:t>
                        </m:r>
                      </m:sub>
                    </m:sSub>
                  </m:oMath>
                </a14:m>
                <a:endParaRPr lang="en-US" b="1" dirty="0"/>
              </a:p>
            </p:txBody>
          </p:sp>
        </mc:Choice>
        <mc:Fallback xmlns=""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010A9E61-8C0E-3932-D003-B2D5FB2FD08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3760" y="2724947"/>
                <a:ext cx="2926080" cy="292608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9B079CF8-5349-0146-9D51-A2A6DD0177E5}"/>
                  </a:ext>
                </a:extLst>
              </p:cNvPr>
              <p:cNvSpPr/>
              <p:nvPr/>
            </p:nvSpPr>
            <p:spPr>
              <a:xfrm>
                <a:off x="4251340" y="3179469"/>
                <a:ext cx="2011680" cy="2011680"/>
              </a:xfrm>
              <a:prstGeom prst="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b="1" dirty="0"/>
                  <a:t>Mass Matrix: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𝑴</m:t>
                        </m:r>
                      </m:e>
                      <m:sub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𝑩</m:t>
                        </m:r>
                      </m:sub>
                    </m:sSub>
                  </m:oMath>
                </a14:m>
                <a:endParaRPr lang="en-US" b="1" dirty="0"/>
              </a:p>
            </p:txBody>
          </p:sp>
        </mc:Choice>
        <mc:Fallback xmlns=""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9B079CF8-5349-0146-9D51-A2A6DD0177E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51340" y="3179469"/>
                <a:ext cx="2011680" cy="201168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EBB1ED11-97FC-EBD1-12EF-2AC7745D37AE}"/>
                  </a:ext>
                </a:extLst>
              </p:cNvPr>
              <p:cNvSpPr txBox="1"/>
              <p:nvPr/>
            </p:nvSpPr>
            <p:spPr>
              <a:xfrm>
                <a:off x="9323736" y="3209570"/>
                <a:ext cx="607567" cy="461665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 i="1" smtClean="0">
                              <a:latin typeface="Cambria Math" panose="02040503050406030204" pitchFamily="18" charset="0"/>
                            </a:rPr>
                            <m:t>𝑴</m:t>
                          </m:r>
                        </m:e>
                        <m:sub>
                          <m:r>
                            <a:rPr lang="en-US" sz="2400" b="1" i="1" smtClean="0">
                              <a:latin typeface="Cambria Math" panose="02040503050406030204" pitchFamily="18" charset="0"/>
                            </a:rPr>
                            <m:t>𝑪</m:t>
                          </m:r>
                        </m:sub>
                      </m:sSub>
                    </m:oMath>
                  </m:oMathPara>
                </a14:m>
                <a:endParaRPr lang="en-US" sz="2400" b="1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EBB1ED11-97FC-EBD1-12EF-2AC7745D37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23736" y="3209570"/>
                <a:ext cx="607567" cy="461665"/>
              </a:xfrm>
              <a:prstGeom prst="rect">
                <a:avLst/>
              </a:prstGeom>
              <a:blipFill>
                <a:blip r:embed="rId6"/>
                <a:stretch>
                  <a:fillRect l="-971"/>
                </a:stretch>
              </a:blipFill>
              <a:ln w="190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3B4A4D9B-B01E-09EE-0F43-7C6EED61895E}"/>
                  </a:ext>
                </a:extLst>
              </p:cNvPr>
              <p:cNvSpPr txBox="1"/>
              <p:nvPr/>
            </p:nvSpPr>
            <p:spPr>
              <a:xfrm>
                <a:off x="3386857" y="3997766"/>
                <a:ext cx="517503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3B4A4D9B-B01E-09EE-0F43-7C6EED6189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86857" y="3997766"/>
                <a:ext cx="517503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4405310D-7EFE-D561-3EAC-39FC6AFBCD7E}"/>
                  </a:ext>
                </a:extLst>
              </p:cNvPr>
              <p:cNvSpPr txBox="1"/>
              <p:nvPr/>
            </p:nvSpPr>
            <p:spPr>
              <a:xfrm>
                <a:off x="6328179" y="3619709"/>
                <a:ext cx="517503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4405310D-7EFE-D561-3EAC-39FC6AFBCD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28179" y="3619709"/>
                <a:ext cx="517503" cy="3693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F01271DB-C892-9916-7464-0099E14A3A62}"/>
                  </a:ext>
                </a:extLst>
              </p:cNvPr>
              <p:cNvSpPr txBox="1"/>
              <p:nvPr/>
            </p:nvSpPr>
            <p:spPr>
              <a:xfrm>
                <a:off x="1622480" y="2355615"/>
                <a:ext cx="54864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𝑵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𝑨</m:t>
                          </m:r>
                        </m:sub>
                      </m:sSub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F01271DB-C892-9916-7464-0099E14A3A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22480" y="2355615"/>
                <a:ext cx="548640" cy="36933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CD494F7A-DD41-3692-6711-C184B133BBCB}"/>
              </a:ext>
            </a:extLst>
          </p:cNvPr>
          <p:cNvCxnSpPr/>
          <p:nvPr/>
        </p:nvCxnSpPr>
        <p:spPr>
          <a:xfrm>
            <a:off x="2171120" y="2540281"/>
            <a:ext cx="118872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9B837A9A-7021-E241-A41A-F507DF142F8A}"/>
              </a:ext>
            </a:extLst>
          </p:cNvPr>
          <p:cNvCxnSpPr>
            <a:cxnSpLocks/>
          </p:cNvCxnSpPr>
          <p:nvPr/>
        </p:nvCxnSpPr>
        <p:spPr>
          <a:xfrm flipH="1">
            <a:off x="433760" y="2543052"/>
            <a:ext cx="118872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5EA4D05B-48B4-5442-CF74-9F6C420FECEC}"/>
                  </a:ext>
                </a:extLst>
              </p:cNvPr>
              <p:cNvSpPr txBox="1"/>
              <p:nvPr/>
            </p:nvSpPr>
            <p:spPr>
              <a:xfrm>
                <a:off x="-49650" y="4000643"/>
                <a:ext cx="54864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𝑵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𝑨</m:t>
                          </m:r>
                        </m:sub>
                      </m:sSub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5EA4D05B-48B4-5442-CF74-9F6C420FEC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49650" y="4000643"/>
                <a:ext cx="548640" cy="369332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A70B4BC0-8D75-69CF-3395-A4C206F8B70E}"/>
              </a:ext>
            </a:extLst>
          </p:cNvPr>
          <p:cNvCxnSpPr>
            <a:cxnSpLocks/>
          </p:cNvCxnSpPr>
          <p:nvPr/>
        </p:nvCxnSpPr>
        <p:spPr>
          <a:xfrm rot="16200000">
            <a:off x="-369690" y="3319307"/>
            <a:ext cx="118872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6F0D21CE-512B-69A9-F4B5-5F009869162D}"/>
              </a:ext>
            </a:extLst>
          </p:cNvPr>
          <p:cNvCxnSpPr>
            <a:cxnSpLocks/>
          </p:cNvCxnSpPr>
          <p:nvPr/>
        </p:nvCxnSpPr>
        <p:spPr>
          <a:xfrm rot="16200000" flipH="1">
            <a:off x="-369690" y="5056667"/>
            <a:ext cx="118872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E382CC10-46EE-CE4C-A2F3-1162B31124E6}"/>
                  </a:ext>
                </a:extLst>
              </p:cNvPr>
              <p:cNvSpPr txBox="1"/>
              <p:nvPr/>
            </p:nvSpPr>
            <p:spPr>
              <a:xfrm>
                <a:off x="8562501" y="741583"/>
                <a:ext cx="2090347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𝑵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𝑪</m:t>
                          </m:r>
                        </m:sub>
                      </m:sSub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𝑵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𝑨</m:t>
                          </m:r>
                        </m:sub>
                      </m:sSub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𝑵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𝑩</m:t>
                          </m:r>
                        </m:sub>
                      </m:sSub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𝟐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E382CC10-46EE-CE4C-A2F3-1162B31124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62501" y="741583"/>
                <a:ext cx="2090347" cy="369332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27AFAF46-5C6C-08BC-D378-3669A4601D42}"/>
              </a:ext>
            </a:extLst>
          </p:cNvPr>
          <p:cNvCxnSpPr/>
          <p:nvPr/>
        </p:nvCxnSpPr>
        <p:spPr>
          <a:xfrm>
            <a:off x="10704954" y="940149"/>
            <a:ext cx="118872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1DDB9747-79F1-CFAF-D0A8-52C08340FB3A}"/>
              </a:ext>
            </a:extLst>
          </p:cNvPr>
          <p:cNvCxnSpPr>
            <a:cxnSpLocks/>
          </p:cNvCxnSpPr>
          <p:nvPr/>
        </p:nvCxnSpPr>
        <p:spPr>
          <a:xfrm flipH="1">
            <a:off x="7295800" y="942920"/>
            <a:ext cx="118872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8C1E3F55-EBBF-091C-9A61-3479AB25D8F7}"/>
                  </a:ext>
                </a:extLst>
              </p:cNvPr>
              <p:cNvSpPr txBox="1"/>
              <p:nvPr/>
            </p:nvSpPr>
            <p:spPr>
              <a:xfrm>
                <a:off x="6773035" y="3255645"/>
                <a:ext cx="54864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𝑵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𝑪</m:t>
                          </m:r>
                        </m:sub>
                      </m:sSub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8C1E3F55-EBBF-091C-9A61-3479AB25D8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73035" y="3255645"/>
                <a:ext cx="548640" cy="369332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A1F77AC7-0B47-2405-7336-281C20882282}"/>
              </a:ext>
            </a:extLst>
          </p:cNvPr>
          <p:cNvCxnSpPr>
            <a:cxnSpLocks/>
          </p:cNvCxnSpPr>
          <p:nvPr/>
        </p:nvCxnSpPr>
        <p:spPr>
          <a:xfrm flipV="1">
            <a:off x="7112329" y="1133216"/>
            <a:ext cx="0" cy="201168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86BF1F3B-14D0-6165-33C2-A9C388BD38E2}"/>
              </a:ext>
            </a:extLst>
          </p:cNvPr>
          <p:cNvCxnSpPr>
            <a:cxnSpLocks/>
          </p:cNvCxnSpPr>
          <p:nvPr/>
        </p:nvCxnSpPr>
        <p:spPr>
          <a:xfrm>
            <a:off x="7112329" y="3714723"/>
            <a:ext cx="0" cy="201149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264E0F3C-191C-07F0-B3A4-690A5B3CB930}"/>
                  </a:ext>
                </a:extLst>
              </p:cNvPr>
              <p:cNvSpPr txBox="1"/>
              <p:nvPr/>
            </p:nvSpPr>
            <p:spPr>
              <a:xfrm>
                <a:off x="4982859" y="2799568"/>
                <a:ext cx="54864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𝑵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𝑩</m:t>
                          </m:r>
                        </m:sub>
                      </m:sSub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264E0F3C-191C-07F0-B3A4-690A5B3CB9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82859" y="2799568"/>
                <a:ext cx="548640" cy="369332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27C85B0A-E2DA-9A2D-6D33-E12CB1D7B741}"/>
              </a:ext>
            </a:extLst>
          </p:cNvPr>
          <p:cNvCxnSpPr/>
          <p:nvPr/>
        </p:nvCxnSpPr>
        <p:spPr>
          <a:xfrm>
            <a:off x="5531500" y="3024726"/>
            <a:ext cx="73152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3519F8C0-2D9D-07EE-CA5F-CEB00734F363}"/>
              </a:ext>
            </a:extLst>
          </p:cNvPr>
          <p:cNvCxnSpPr>
            <a:cxnSpLocks/>
          </p:cNvCxnSpPr>
          <p:nvPr/>
        </p:nvCxnSpPr>
        <p:spPr>
          <a:xfrm flipH="1">
            <a:off x="4251340" y="3024726"/>
            <a:ext cx="73152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0155D1C8-10B2-C58D-B5CB-DA8B61B92504}"/>
                  </a:ext>
                </a:extLst>
              </p:cNvPr>
              <p:cNvSpPr txBox="1"/>
              <p:nvPr/>
            </p:nvSpPr>
            <p:spPr>
              <a:xfrm>
                <a:off x="3782010" y="4004805"/>
                <a:ext cx="54864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𝑵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𝑩</m:t>
                          </m:r>
                        </m:sub>
                      </m:sSub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0155D1C8-10B2-C58D-B5CB-DA8B61B925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82010" y="4004805"/>
                <a:ext cx="548640" cy="369332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6CDAB24A-ADC3-ECD7-4D86-BD7A4B416307}"/>
              </a:ext>
            </a:extLst>
          </p:cNvPr>
          <p:cNvCxnSpPr>
            <a:cxnSpLocks/>
          </p:cNvCxnSpPr>
          <p:nvPr/>
        </p:nvCxnSpPr>
        <p:spPr>
          <a:xfrm rot="16200000">
            <a:off x="3739804" y="3545229"/>
            <a:ext cx="73152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020FE002-B4D7-180B-211C-685AC39D4EA2}"/>
              </a:ext>
            </a:extLst>
          </p:cNvPr>
          <p:cNvCxnSpPr>
            <a:cxnSpLocks/>
          </p:cNvCxnSpPr>
          <p:nvPr/>
        </p:nvCxnSpPr>
        <p:spPr>
          <a:xfrm rot="16200000" flipH="1">
            <a:off x="3739804" y="4825389"/>
            <a:ext cx="73152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7D3662D9-DD1E-A59A-528F-BA9C98E973C7}"/>
                  </a:ext>
                </a:extLst>
              </p:cNvPr>
              <p:cNvSpPr txBox="1"/>
              <p:nvPr/>
            </p:nvSpPr>
            <p:spPr>
              <a:xfrm>
                <a:off x="433760" y="1428897"/>
                <a:ext cx="312688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b="0" dirty="0"/>
                  <a:t>Same procedure for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&amp;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7D3662D9-DD1E-A59A-528F-BA9C98E973C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3760" y="1428897"/>
                <a:ext cx="3126882" cy="369332"/>
              </a:xfrm>
              <a:prstGeom prst="rect">
                <a:avLst/>
              </a:prstGeom>
              <a:blipFill>
                <a:blip r:embed="rId15"/>
                <a:stretch>
                  <a:fillRect l="-1559" t="-6557" b="-262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40B1EA96-85D1-EE08-EF6A-E97BC5FFB4C7}"/>
                  </a:ext>
                </a:extLst>
              </p:cNvPr>
              <p:cNvSpPr txBox="1"/>
              <p:nvPr/>
            </p:nvSpPr>
            <p:spPr>
              <a:xfrm>
                <a:off x="4251340" y="1154403"/>
                <a:ext cx="1837265" cy="92333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𝑵</m:t>
                        </m:r>
                      </m:e>
                      <m:sub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𝑨</m:t>
                        </m:r>
                      </m:sub>
                    </m:sSub>
                  </m:oMath>
                </a14:m>
                <a:r>
                  <a:rPr lang="en-US" b="1" dirty="0"/>
                  <a:t>: # DOF in A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𝑵</m:t>
                        </m:r>
                      </m:e>
                      <m:sub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𝑩</m:t>
                        </m:r>
                      </m:sub>
                    </m:sSub>
                  </m:oMath>
                </a14:m>
                <a:r>
                  <a:rPr lang="en-US" b="1" dirty="0"/>
                  <a:t>: # DOF in B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𝑵</m:t>
                        </m:r>
                      </m:e>
                      <m:sub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𝑪</m:t>
                        </m:r>
                      </m:sub>
                    </m:sSub>
                  </m:oMath>
                </a14:m>
                <a:r>
                  <a:rPr lang="en-US" b="1" dirty="0"/>
                  <a:t>: # DOF in C </a:t>
                </a:r>
              </a:p>
            </p:txBody>
          </p:sp>
        </mc:Choice>
        <mc:Fallback xmlns="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40B1EA96-85D1-EE08-EF6A-E97BC5FFB4C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51340" y="1154403"/>
                <a:ext cx="1837265" cy="923330"/>
              </a:xfrm>
              <a:prstGeom prst="rect">
                <a:avLst/>
              </a:prstGeom>
              <a:blipFill>
                <a:blip r:embed="rId16"/>
                <a:stretch>
                  <a:fillRect t="-2632" b="-98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46688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400FF74F-E07C-975F-7306-8FABCEB31170}"/>
              </a:ext>
            </a:extLst>
          </p:cNvPr>
          <p:cNvSpPr/>
          <p:nvPr/>
        </p:nvSpPr>
        <p:spPr>
          <a:xfrm>
            <a:off x="6567786" y="1250134"/>
            <a:ext cx="4572000" cy="457200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2A8D23D-B1EF-D0AA-E6D8-4896C9412A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36525"/>
            <a:ext cx="12192000" cy="662781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Section 3: Physical Substructuring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BA1BFF7-F38D-2D40-53E8-11AD744353C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7223" y="1938970"/>
                <a:ext cx="12002047" cy="2312151"/>
              </a:xfrm>
            </p:spPr>
            <p:txBody>
              <a:bodyPr>
                <a:normAutofit fontScale="85000" lnSpcReduction="10000"/>
              </a:bodyPr>
              <a:lstStyle/>
              <a:p>
                <a:pPr marL="0" indent="0">
                  <a:buNone/>
                </a:pPr>
                <a:r>
                  <a:rPr lang="en-US" sz="3000" dirty="0"/>
                  <a:t>Q1: Form the Signed Boolean Matrix, </a:t>
                </a:r>
                <a14:m>
                  <m:oMath xmlns:m="http://schemas.openxmlformats.org/officeDocument/2006/math">
                    <m:r>
                      <a:rPr lang="en-US" sz="3000" b="0" i="1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sz="3000" dirty="0"/>
                  <a:t>, that specifies the constraint DOF between A &amp; B</a:t>
                </a:r>
              </a:p>
              <a:p>
                <a:pPr marL="0" indent="0">
                  <a:buNone/>
                </a:pPr>
                <a:r>
                  <a:rPr lang="en-US" sz="3000" dirty="0"/>
                  <a:t>Q2: For Primal Assembly, generate the Localization Matrix, </a:t>
                </a:r>
                <a14:m>
                  <m:oMath xmlns:m="http://schemas.openxmlformats.org/officeDocument/2006/math">
                    <m:r>
                      <a:rPr lang="en-US" sz="3000" b="0" i="1" smtClean="0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en-US" sz="3000" dirty="0"/>
                  <a:t>, which is the null space of </a:t>
                </a:r>
                <a14:m>
                  <m:oMath xmlns:m="http://schemas.openxmlformats.org/officeDocument/2006/math">
                    <m:r>
                      <a:rPr lang="en-US" sz="3000" b="0" i="1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endParaRPr lang="en-US" sz="3000" dirty="0"/>
              </a:p>
              <a:p>
                <a:pPr marL="0" indent="0">
                  <a:buNone/>
                </a:pPr>
                <a:r>
                  <a:rPr lang="en-US" sz="3000" dirty="0"/>
                  <a:t>Q3: Compute the Coupled System M, C &amp; K matrices and associated modal parameters </a:t>
                </a:r>
              </a:p>
              <a:p>
                <a:r>
                  <a:rPr lang="en-US" sz="3000" dirty="0"/>
                  <a:t>How does the result compare to superimposing the matrices? Is this process better? </a:t>
                </a:r>
              </a:p>
              <a:p>
                <a:r>
                  <a:rPr lang="en-US" sz="3000" dirty="0"/>
                  <a:t>Extra Challenge: Can you setup the same solution in the Dual Formulation?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BA1BFF7-F38D-2D40-53E8-11AD744353C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7223" y="1938970"/>
                <a:ext cx="12002047" cy="2312151"/>
              </a:xfrm>
              <a:blipFill>
                <a:blip r:embed="rId2"/>
                <a:stretch>
                  <a:fillRect l="-914" t="-5277" b="-18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Rectangle 7">
            <a:extLst>
              <a:ext uri="{FF2B5EF4-FFF2-40B4-BE49-F238E27FC236}">
                <a16:creationId xmlns:a16="http://schemas.microsoft.com/office/drawing/2014/main" id="{8FD2D568-BBB9-C44C-9C7C-08C2D5461C28}"/>
              </a:ext>
            </a:extLst>
          </p:cNvPr>
          <p:cNvSpPr/>
          <p:nvPr/>
        </p:nvSpPr>
        <p:spPr>
          <a:xfrm>
            <a:off x="574248" y="1250134"/>
            <a:ext cx="2743200" cy="4572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831D8A6-1FE4-43D2-5DCB-326B0222985D}"/>
              </a:ext>
            </a:extLst>
          </p:cNvPr>
          <p:cNvSpPr/>
          <p:nvPr/>
        </p:nvSpPr>
        <p:spPr>
          <a:xfrm>
            <a:off x="4201132" y="1250134"/>
            <a:ext cx="1828800" cy="457200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27060E4-E9AE-F599-CED7-5BF0EB77F31F}"/>
              </a:ext>
            </a:extLst>
          </p:cNvPr>
          <p:cNvSpPr txBox="1"/>
          <p:nvPr/>
        </p:nvSpPr>
        <p:spPr>
          <a:xfrm>
            <a:off x="3605193" y="1295288"/>
            <a:ext cx="32092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+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3FA34B66-3EDA-0136-EB85-D0ACCBEF1FB7}"/>
              </a:ext>
            </a:extLst>
          </p:cNvPr>
          <p:cNvSpPr/>
          <p:nvPr/>
        </p:nvSpPr>
        <p:spPr>
          <a:xfrm>
            <a:off x="3276147" y="1438969"/>
            <a:ext cx="85725" cy="7853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6E9B7C03-925D-E050-397F-7BAED202CD66}"/>
              </a:ext>
            </a:extLst>
          </p:cNvPr>
          <p:cNvSpPr/>
          <p:nvPr/>
        </p:nvSpPr>
        <p:spPr>
          <a:xfrm>
            <a:off x="4158270" y="1438969"/>
            <a:ext cx="85725" cy="7853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42FF42C9-E3C9-5A67-4122-7E2FB6DDDDBD}"/>
              </a:ext>
            </a:extLst>
          </p:cNvPr>
          <p:cNvCxnSpPr>
            <a:cxnSpLocks/>
            <a:stCxn id="11" idx="0"/>
          </p:cNvCxnSpPr>
          <p:nvPr/>
        </p:nvCxnSpPr>
        <p:spPr>
          <a:xfrm flipH="1" flipV="1">
            <a:off x="3317448" y="979131"/>
            <a:ext cx="1562" cy="459838"/>
          </a:xfrm>
          <a:prstGeom prst="straightConnector1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Arc 13">
            <a:extLst>
              <a:ext uri="{FF2B5EF4-FFF2-40B4-BE49-F238E27FC236}">
                <a16:creationId xmlns:a16="http://schemas.microsoft.com/office/drawing/2014/main" id="{2250DAF1-EBA2-94FA-F585-6260E5390EA1}"/>
              </a:ext>
            </a:extLst>
          </p:cNvPr>
          <p:cNvSpPr/>
          <p:nvPr/>
        </p:nvSpPr>
        <p:spPr>
          <a:xfrm>
            <a:off x="3126205" y="1292798"/>
            <a:ext cx="384048" cy="384048"/>
          </a:xfrm>
          <a:prstGeom prst="arc">
            <a:avLst>
              <a:gd name="adj1" fmla="val 17589694"/>
              <a:gd name="adj2" fmla="val 4510709"/>
            </a:avLst>
          </a:prstGeom>
          <a:ln w="38100">
            <a:solidFill>
              <a:schemeClr val="tx1">
                <a:lumMod val="95000"/>
                <a:lumOff val="5000"/>
              </a:schemeClr>
            </a:solidFill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dirty="0"/>
              <a:t>  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C89CB74D-BDD9-5271-207F-17BFC917F9D1}"/>
              </a:ext>
            </a:extLst>
          </p:cNvPr>
          <p:cNvCxnSpPr>
            <a:cxnSpLocks/>
          </p:cNvCxnSpPr>
          <p:nvPr/>
        </p:nvCxnSpPr>
        <p:spPr>
          <a:xfrm flipH="1" flipV="1">
            <a:off x="4199571" y="979131"/>
            <a:ext cx="1562" cy="459838"/>
          </a:xfrm>
          <a:prstGeom prst="straightConnector1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Arc 15">
            <a:extLst>
              <a:ext uri="{FF2B5EF4-FFF2-40B4-BE49-F238E27FC236}">
                <a16:creationId xmlns:a16="http://schemas.microsoft.com/office/drawing/2014/main" id="{7B24548C-470B-CA07-D08E-27F8854E5E15}"/>
              </a:ext>
            </a:extLst>
          </p:cNvPr>
          <p:cNvSpPr/>
          <p:nvPr/>
        </p:nvSpPr>
        <p:spPr>
          <a:xfrm>
            <a:off x="4008328" y="1292798"/>
            <a:ext cx="384048" cy="384048"/>
          </a:xfrm>
          <a:prstGeom prst="arc">
            <a:avLst>
              <a:gd name="adj1" fmla="val 5948162"/>
              <a:gd name="adj2" fmla="val 14938086"/>
            </a:avLst>
          </a:prstGeom>
          <a:ln w="38100">
            <a:solidFill>
              <a:schemeClr val="tx1">
                <a:lumMod val="95000"/>
                <a:lumOff val="5000"/>
              </a:schemeClr>
            </a:solidFill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dirty="0"/>
              <a:t>  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F8FCE18-734F-642E-FDD2-2EFDF1C9CD7F}"/>
              </a:ext>
            </a:extLst>
          </p:cNvPr>
          <p:cNvSpPr txBox="1"/>
          <p:nvPr/>
        </p:nvSpPr>
        <p:spPr>
          <a:xfrm>
            <a:off x="6138398" y="1295288"/>
            <a:ext cx="32092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=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7A229ED5-3CCE-2BB8-2E10-F903E4B41F3E}"/>
              </a:ext>
            </a:extLst>
          </p:cNvPr>
          <p:cNvCxnSpPr/>
          <p:nvPr/>
        </p:nvCxnSpPr>
        <p:spPr>
          <a:xfrm>
            <a:off x="9310986" y="1250134"/>
            <a:ext cx="0" cy="457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Oval 18">
            <a:extLst>
              <a:ext uri="{FF2B5EF4-FFF2-40B4-BE49-F238E27FC236}">
                <a16:creationId xmlns:a16="http://schemas.microsoft.com/office/drawing/2014/main" id="{93AB0FA0-D594-1CB6-52A6-8B3CD0A5F388}"/>
              </a:ext>
            </a:extLst>
          </p:cNvPr>
          <p:cNvSpPr/>
          <p:nvPr/>
        </p:nvSpPr>
        <p:spPr>
          <a:xfrm>
            <a:off x="9266031" y="1439469"/>
            <a:ext cx="85725" cy="7853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33934819-6D84-7595-D7A8-C4D7057A7949}"/>
              </a:ext>
            </a:extLst>
          </p:cNvPr>
          <p:cNvCxnSpPr>
            <a:cxnSpLocks/>
          </p:cNvCxnSpPr>
          <p:nvPr/>
        </p:nvCxnSpPr>
        <p:spPr>
          <a:xfrm flipH="1" flipV="1">
            <a:off x="9310205" y="980401"/>
            <a:ext cx="1562" cy="459838"/>
          </a:xfrm>
          <a:prstGeom prst="straightConnector1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Arc 20">
            <a:extLst>
              <a:ext uri="{FF2B5EF4-FFF2-40B4-BE49-F238E27FC236}">
                <a16:creationId xmlns:a16="http://schemas.microsoft.com/office/drawing/2014/main" id="{4E93FFDD-758A-8A7C-423D-86690835BD52}"/>
              </a:ext>
            </a:extLst>
          </p:cNvPr>
          <p:cNvSpPr/>
          <p:nvPr/>
        </p:nvSpPr>
        <p:spPr>
          <a:xfrm>
            <a:off x="9118962" y="1294068"/>
            <a:ext cx="384048" cy="384048"/>
          </a:xfrm>
          <a:prstGeom prst="arc">
            <a:avLst>
              <a:gd name="adj1" fmla="val 17390596"/>
              <a:gd name="adj2" fmla="val 4028325"/>
            </a:avLst>
          </a:prstGeom>
          <a:ln w="38100">
            <a:solidFill>
              <a:schemeClr val="tx1">
                <a:lumMod val="95000"/>
                <a:lumOff val="5000"/>
              </a:schemeClr>
            </a:solidFill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dirty="0"/>
              <a:t> 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4119B04F-270B-4C5B-67EE-F3BE4BB4B263}"/>
                  </a:ext>
                </a:extLst>
              </p:cNvPr>
              <p:cNvSpPr txBox="1"/>
              <p:nvPr/>
            </p:nvSpPr>
            <p:spPr>
              <a:xfrm>
                <a:off x="1106676" y="4204924"/>
                <a:ext cx="10628124" cy="255794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en-US" sz="2000" dirty="0">
                    <a:solidFill>
                      <a:schemeClr val="accent1"/>
                    </a:solidFill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Uncoupled EOM: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sz="200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m>
                          <m:mPr>
                            <m:plcHide m:val="on"/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US" sz="20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US" sz="20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b="1" i="0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𝐌</m:t>
                                  </m:r>
                                </m:e>
                                <m:sub>
                                  <m:r>
                                    <a:rPr lang="en-US" sz="20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𝐴</m:t>
                                  </m:r>
                                </m:sub>
                              </m:sSub>
                            </m:e>
                            <m:e>
                              <m:r>
                                <a:rPr lang="en-US" sz="200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US" sz="200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0</m:t>
                              </m:r>
                            </m:e>
                            <m:e>
                              <m:sSub>
                                <m:sSubPr>
                                  <m:ctrlPr>
                                    <a:rPr lang="en-US" sz="20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b="1" i="0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𝐌</m:t>
                                  </m:r>
                                </m:e>
                                <m:sub>
                                  <m:r>
                                    <a:rPr lang="en-US" sz="20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𝐵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  <m:d>
                      <m:dPr>
                        <m:begChr m:val="{"/>
                        <m:endChr m:val="}"/>
                        <m:ctrlPr>
                          <a:rPr lang="en-US" sz="20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m>
                          <m:mPr>
                            <m:plcHide m:val="on"/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US" sz="20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US" sz="20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̈"/>
                                      <m:ctrlPr>
                                        <a:rPr lang="en-US" sz="2000" i="1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sz="20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𝑥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sz="20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𝐴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US" sz="20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̈"/>
                                      <m:ctrlPr>
                                        <a:rPr lang="en-US" sz="2000" i="1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sz="20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𝑥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sz="20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𝐵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  <m:r>
                      <a:rPr lang="en-US" sz="200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+</m:t>
                    </m:r>
                    <m:d>
                      <m:dPr>
                        <m:begChr m:val="["/>
                        <m:endChr m:val="]"/>
                        <m:ctrlPr>
                          <a:rPr lang="en-US" sz="20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m>
                          <m:mPr>
                            <m:plcHide m:val="on"/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US" sz="20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US" sz="20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b="1" i="0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𝐂</m:t>
                                  </m:r>
                                </m:e>
                                <m:sub>
                                  <m:r>
                                    <a:rPr lang="en-US" sz="20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𝐴</m:t>
                                  </m:r>
                                </m:sub>
                              </m:sSub>
                            </m:e>
                            <m:e>
                              <m:r>
                                <a:rPr lang="en-US" sz="200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US" sz="200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0</m:t>
                              </m:r>
                            </m:e>
                            <m:e>
                              <m:sSub>
                                <m:sSubPr>
                                  <m:ctrlPr>
                                    <a:rPr lang="en-US" sz="20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b="1" i="0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𝐂</m:t>
                                  </m:r>
                                </m:e>
                                <m:sub>
                                  <m:r>
                                    <a:rPr lang="en-US" sz="20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𝐵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  <m:d>
                      <m:dPr>
                        <m:begChr m:val="{"/>
                        <m:endChr m:val="}"/>
                        <m:ctrlPr>
                          <a:rPr lang="en-US" sz="20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m>
                          <m:mPr>
                            <m:plcHide m:val="on"/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US" sz="20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US" sz="20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̇"/>
                                      <m:ctrlPr>
                                        <a:rPr lang="en-US" sz="200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sz="20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𝑥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sz="20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𝐴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US" sz="20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̇"/>
                                      <m:ctrlPr>
                                        <a:rPr lang="en-US" sz="200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sz="20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𝑥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sz="20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𝐵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  <m:r>
                      <a:rPr lang="en-US" sz="200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+</m:t>
                    </m:r>
                    <m:d>
                      <m:dPr>
                        <m:begChr m:val="["/>
                        <m:endChr m:val="]"/>
                        <m:ctrlPr>
                          <a:rPr lang="en-US" sz="20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m>
                          <m:mPr>
                            <m:plcHide m:val="on"/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US" sz="20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US" sz="20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b="1" i="0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𝐊</m:t>
                                  </m:r>
                                </m:e>
                                <m:sub>
                                  <m:r>
                                    <a:rPr lang="en-US" sz="20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𝐴</m:t>
                                  </m:r>
                                </m:sub>
                              </m:sSub>
                            </m:e>
                            <m:e>
                              <m:r>
                                <a:rPr lang="en-US" sz="200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US" sz="200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0</m:t>
                              </m:r>
                            </m:e>
                            <m:e>
                              <m:sSub>
                                <m:sSubPr>
                                  <m:ctrlPr>
                                    <a:rPr lang="en-US" sz="20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b="1" i="0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𝐊</m:t>
                                  </m:r>
                                </m:e>
                                <m:sub>
                                  <m:r>
                                    <a:rPr lang="en-US" sz="20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𝐵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  <m:d>
                      <m:dPr>
                        <m:begChr m:val="{"/>
                        <m:endChr m:val="}"/>
                        <m:ctrlPr>
                          <a:rPr lang="en-US" sz="20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m>
                          <m:mPr>
                            <m:plcHide m:val="on"/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US" sz="20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US" sz="20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20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𝐴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US" sz="20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20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𝐵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  <m:r>
                      <a:rPr lang="en-US" sz="200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en-US" sz="20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m>
                          <m:mPr>
                            <m:plcHide m:val="on"/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US" sz="20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US" sz="20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𝐹</m:t>
                                  </m:r>
                                </m:e>
                                <m:sub>
                                  <m:r>
                                    <a:rPr lang="en-US" sz="20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𝐴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US" sz="20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𝐹</m:t>
                                  </m:r>
                                </m:e>
                                <m:sub>
                                  <m:r>
                                    <a:rPr lang="en-US" sz="20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𝐵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</m:oMath>
                </a14:m>
                <a:endParaRPr lang="en-US" sz="2000" b="0" dirty="0">
                  <a:solidFill>
                    <a:schemeClr val="accent1"/>
                  </a:solidFill>
                </a:endParaRPr>
              </a:p>
              <a:p>
                <a:pPr lvl="1"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en-US" sz="2000" dirty="0">
                    <a:solidFill>
                      <a:schemeClr val="accent1"/>
                    </a:solidFill>
                  </a:rPr>
                  <a:t>Compatibility: </a:t>
                </a:r>
                <a14:m>
                  <m:oMath xmlns:m="http://schemas.openxmlformats.org/officeDocument/2006/math">
                    <m:r>
                      <a:rPr lang="en-US" sz="20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𝐵𝑢</m:t>
                    </m:r>
                    <m:r>
                      <a:rPr lang="en-US" sz="20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=0 </m:t>
                    </m:r>
                    <m:r>
                      <a:rPr lang="en-US" sz="200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→ </m:t>
                    </m:r>
                    <m:d>
                      <m:dPr>
                        <m:begChr m:val="["/>
                        <m:endChr m:val="]"/>
                        <m:ctrlPr>
                          <a:rPr lang="en-US" sz="20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6"/>
                                  <m:mcJc m:val="center"/>
                                </m:mcPr>
                              </m:mc>
                            </m:mcs>
                            <m:ctrlPr>
                              <a:rPr lang="en-US" sz="20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US" sz="20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⋯</m:t>
                              </m:r>
                            </m:e>
                            <m:e>
                              <m:r>
                                <a:rPr lang="en-US" sz="20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en-US" sz="20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sz="20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e>
                            <m:e>
                              <m:r>
                                <a:rPr lang="en-US" sz="20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sz="20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⋯</m:t>
                              </m:r>
                            </m:e>
                          </m:mr>
                          <m:mr>
                            <m:e>
                              <m:r>
                                <a:rPr lang="en-US" sz="20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⋯</m:t>
                              </m:r>
                            </m:e>
                            <m:e>
                              <m:r>
                                <a:rPr lang="en-US" sz="20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sz="20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en-US" sz="20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sz="20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−1</m:t>
                              </m:r>
                            </m:e>
                            <m:e>
                              <m:r>
                                <a:rPr lang="en-US" sz="20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⋯</m:t>
                              </m:r>
                            </m:e>
                          </m:mr>
                        </m:m>
                      </m:e>
                    </m:d>
                    <m:d>
                      <m:dPr>
                        <m:begChr m:val="["/>
                        <m:endChr m:val="]"/>
                        <m:ctrlPr>
                          <a:rPr lang="en-US" sz="20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plcHide m:val="on"/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US" sz="20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US" sz="20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20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𝐴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US" sz="20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20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𝐵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  <m:r>
                      <a:rPr lang="en-US" sz="20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en-US" sz="2000" b="0" dirty="0">
                  <a:solidFill>
                    <a:schemeClr val="accent1"/>
                  </a:solidFill>
                </a:endParaRPr>
              </a:p>
              <a:p>
                <a:pPr lvl="1"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en-US" sz="2000" dirty="0">
                    <a:solidFill>
                      <a:schemeClr val="accent1"/>
                    </a:solidFill>
                  </a:rPr>
                  <a:t>Localization: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 sz="20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𝑛𝑢𝑙𝑙</m:t>
                    </m:r>
                    <m:d>
                      <m:dPr>
                        <m:ctrlPr>
                          <a:rPr lang="en-US" sz="20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</m:oMath>
                </a14:m>
                <a:endParaRPr lang="en-US" sz="2000" b="0" dirty="0">
                  <a:solidFill>
                    <a:schemeClr val="accent1"/>
                  </a:solidFill>
                </a:endParaRPr>
              </a:p>
              <a:p>
                <a:pPr lvl="1"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en-US" sz="2000" dirty="0">
                    <a:solidFill>
                      <a:schemeClr val="accent1"/>
                    </a:solidFill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Coupled EOM: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0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sz="2000" b="0" i="0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L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en-US" sz="2000" b="0" i="0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T</m:t>
                        </m:r>
                      </m:sup>
                    </m:sSup>
                    <m:d>
                      <m:dPr>
                        <m:begChr m:val="["/>
                        <m:endChr m:val="]"/>
                        <m:ctrlPr>
                          <a:rPr lang="en-US" sz="200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m>
                          <m:mPr>
                            <m:plcHide m:val="on"/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US" sz="20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US" sz="20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b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𝐌</m:t>
                                  </m:r>
                                </m:e>
                                <m:sub>
                                  <m:r>
                                    <a:rPr lang="en-US" sz="20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𝐴</m:t>
                                  </m:r>
                                </m:sub>
                              </m:sSub>
                            </m:e>
                            <m:e>
                              <m:r>
                                <a:rPr lang="en-US" sz="200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US" sz="200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0</m:t>
                              </m:r>
                            </m:e>
                            <m:e>
                              <m:sSub>
                                <m:sSubPr>
                                  <m:ctrlPr>
                                    <a:rPr lang="en-US" sz="20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b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𝐌</m:t>
                                  </m:r>
                                </m:e>
                                <m:sub>
                                  <m:r>
                                    <a:rPr lang="en-US" sz="20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𝐵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  <m:r>
                      <a:rPr lang="en-US" sz="20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𝐿</m:t>
                    </m:r>
                    <m:d>
                      <m:dPr>
                        <m:begChr m:val="{"/>
                        <m:endChr m:val="}"/>
                        <m:ctrlPr>
                          <a:rPr lang="en-US" sz="20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m>
                          <m:mPr>
                            <m:plcHide m:val="on"/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US" sz="20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US" sz="20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̈"/>
                                      <m:ctrlPr>
                                        <a:rPr lang="en-US" sz="2000" i="1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sz="20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𝜂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sz="20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𝐴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US" sz="20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̈"/>
                                      <m:ctrlPr>
                                        <a:rPr lang="en-US" sz="2000" i="1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sz="20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𝜂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sz="20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𝐵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  <m:r>
                      <a:rPr lang="en-US" sz="200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+</m:t>
                    </m:r>
                    <m:sSup>
                      <m:sSupPr>
                        <m:ctrlPr>
                          <a:rPr lang="en-US" sz="20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sz="200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L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en-US" sz="200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T</m:t>
                        </m:r>
                      </m:sup>
                    </m:sSup>
                    <m:d>
                      <m:dPr>
                        <m:begChr m:val="["/>
                        <m:endChr m:val="]"/>
                        <m:ctrlPr>
                          <a:rPr lang="en-US" sz="20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m>
                          <m:mPr>
                            <m:plcHide m:val="on"/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US" sz="20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US" sz="20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b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𝐂</m:t>
                                  </m:r>
                                </m:e>
                                <m:sub>
                                  <m:r>
                                    <a:rPr lang="en-US" sz="20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𝐴</m:t>
                                  </m:r>
                                </m:sub>
                              </m:sSub>
                            </m:e>
                            <m:e>
                              <m:r>
                                <a:rPr lang="en-US" sz="200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US" sz="200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0</m:t>
                              </m:r>
                            </m:e>
                            <m:e>
                              <m:sSub>
                                <m:sSubPr>
                                  <m:ctrlPr>
                                    <a:rPr lang="en-US" sz="20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b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𝐂</m:t>
                                  </m:r>
                                </m:e>
                                <m:sub>
                                  <m:r>
                                    <a:rPr lang="en-US" sz="20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𝐵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  <m:r>
                      <a:rPr lang="en-US" sz="20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𝐿</m:t>
                    </m:r>
                    <m:d>
                      <m:dPr>
                        <m:begChr m:val="{"/>
                        <m:endChr m:val="}"/>
                        <m:ctrlPr>
                          <a:rPr lang="en-US" sz="20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m>
                          <m:mPr>
                            <m:plcHide m:val="on"/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US" sz="20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US" sz="20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̇"/>
                                      <m:ctrlPr>
                                        <a:rPr lang="en-US" sz="2000" i="1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sz="2000" i="1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𝜂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sz="20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𝐴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US" sz="20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̇"/>
                                      <m:ctrlPr>
                                        <a:rPr lang="en-US" sz="2000" i="1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sz="2000" i="1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𝜂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sz="20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𝐵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  <m:r>
                      <a:rPr lang="en-US" sz="200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+</m:t>
                    </m:r>
                    <m:sSup>
                      <m:sSupPr>
                        <m:ctrlPr>
                          <a:rPr lang="en-US" sz="20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r>
                          <a:rPr lang="en-US" sz="20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𝐿</m:t>
                        </m:r>
                      </m:e>
                      <m:sup>
                        <m:r>
                          <a:rPr lang="en-US" sz="20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𝑇</m:t>
                        </m:r>
                      </m:sup>
                    </m:sSup>
                    <m:d>
                      <m:dPr>
                        <m:begChr m:val="["/>
                        <m:endChr m:val="]"/>
                        <m:ctrlPr>
                          <a:rPr lang="en-US" sz="20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m>
                          <m:mPr>
                            <m:plcHide m:val="on"/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US" sz="20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US" sz="20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b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𝐊</m:t>
                                  </m:r>
                                </m:e>
                                <m:sub>
                                  <m:r>
                                    <a:rPr lang="en-US" sz="20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𝐴</m:t>
                                  </m:r>
                                </m:sub>
                              </m:sSub>
                            </m:e>
                            <m:e>
                              <m:r>
                                <a:rPr lang="en-US" sz="200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US" sz="200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0</m:t>
                              </m:r>
                            </m:e>
                            <m:e>
                              <m:sSub>
                                <m:sSubPr>
                                  <m:ctrlPr>
                                    <a:rPr lang="en-US" sz="20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b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𝐊</m:t>
                                  </m:r>
                                </m:e>
                                <m:sub>
                                  <m:r>
                                    <a:rPr lang="en-US" sz="20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𝐵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  <m:r>
                      <a:rPr lang="en-US" sz="20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𝐿</m:t>
                    </m:r>
                    <m:d>
                      <m:dPr>
                        <m:begChr m:val="{"/>
                        <m:endChr m:val="}"/>
                        <m:ctrlPr>
                          <a:rPr lang="en-US" sz="20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m>
                          <m:mPr>
                            <m:plcHide m:val="on"/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US" sz="20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US" sz="20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𝜂</m:t>
                                  </m:r>
                                </m:e>
                                <m:sub>
                                  <m:r>
                                    <a:rPr lang="en-US" sz="20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𝐴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US" sz="20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𝜂</m:t>
                                  </m:r>
                                </m:e>
                                <m:sub>
                                  <m:r>
                                    <a:rPr lang="en-US" sz="20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𝐵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  <m:r>
                      <a:rPr lang="en-US" sz="200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=</m:t>
                    </m:r>
                    <m:sSup>
                      <m:sSupPr>
                        <m:ctrlPr>
                          <a:rPr lang="en-US" sz="20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r>
                          <a:rPr lang="en-US" sz="20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𝐿</m:t>
                        </m:r>
                      </m:e>
                      <m:sup>
                        <m:r>
                          <a:rPr lang="en-US" sz="20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𝑇</m:t>
                        </m:r>
                      </m:sup>
                    </m:sSup>
                    <m:d>
                      <m:dPr>
                        <m:begChr m:val="{"/>
                        <m:endChr m:val="}"/>
                        <m:ctrlPr>
                          <a:rPr lang="en-US" sz="20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m>
                          <m:mPr>
                            <m:plcHide m:val="on"/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US" sz="20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US" sz="20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𝐹</m:t>
                                  </m:r>
                                </m:e>
                                <m:sub>
                                  <m:r>
                                    <a:rPr lang="en-US" sz="20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𝐴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US" sz="20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𝐹</m:t>
                                  </m:r>
                                </m:e>
                                <m:sub>
                                  <m:r>
                                    <a:rPr lang="en-US" sz="20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𝐵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</m:oMath>
                </a14:m>
                <a:endParaRPr lang="en-US" sz="2000" b="0" dirty="0">
                  <a:solidFill>
                    <a:schemeClr val="accent1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4119B04F-270B-4C5B-67EE-F3BE4BB4B2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6676" y="4204924"/>
                <a:ext cx="10628124" cy="255794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TextBox 21">
            <a:extLst>
              <a:ext uri="{FF2B5EF4-FFF2-40B4-BE49-F238E27FC236}">
                <a16:creationId xmlns:a16="http://schemas.microsoft.com/office/drawing/2014/main" id="{AAA8557A-1C95-B8E5-072D-C13F118182F4}"/>
              </a:ext>
            </a:extLst>
          </p:cNvPr>
          <p:cNvSpPr txBox="1"/>
          <p:nvPr/>
        </p:nvSpPr>
        <p:spPr>
          <a:xfrm>
            <a:off x="67224" y="4330122"/>
            <a:ext cx="153704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b="1" dirty="0">
                <a:solidFill>
                  <a:schemeClr val="accent1"/>
                </a:solidFill>
                <a:ea typeface="Times New Roman" panose="02020603050405020304" pitchFamily="18" charset="0"/>
                <a:cs typeface="Times New Roman" panose="02020603050405020304" pitchFamily="18" charset="0"/>
              </a:rPr>
              <a:t>Equations:</a:t>
            </a:r>
          </a:p>
        </p:txBody>
      </p:sp>
    </p:spTree>
    <p:extLst>
      <p:ext uri="{BB962C8B-B14F-4D97-AF65-F5344CB8AC3E}">
        <p14:creationId xmlns:p14="http://schemas.microsoft.com/office/powerpoint/2010/main" val="241882753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0EB8D22B-EF92-3FCE-315E-33F8DF16DD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6550" y="2023534"/>
            <a:ext cx="5759450" cy="41148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C0BD524-4D58-5895-D7AF-48356A868C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36525"/>
            <a:ext cx="12192000" cy="662781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Physical Substructuring Results &amp; Takeaways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EC3252-EF8C-B10F-5516-F7BF328682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32" y="939586"/>
            <a:ext cx="11799102" cy="1083948"/>
          </a:xfrm>
        </p:spPr>
        <p:txBody>
          <a:bodyPr>
            <a:normAutofit fontScale="92500"/>
          </a:bodyPr>
          <a:lstStyle/>
          <a:p>
            <a:r>
              <a:rPr lang="en-US" dirty="0"/>
              <a:t>Results should be exactly the same as the Truth setup. </a:t>
            </a:r>
          </a:p>
          <a:p>
            <a:r>
              <a:rPr lang="en-US" dirty="0"/>
              <a:t>Superimposing is straightforward, but the substructuring framework is more general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5908209-F3FC-0848-9F83-A40631D711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44684" y="2023534"/>
            <a:ext cx="5759450" cy="411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63463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400FF74F-E07C-975F-7306-8FABCEB31170}"/>
              </a:ext>
            </a:extLst>
          </p:cNvPr>
          <p:cNvSpPr/>
          <p:nvPr/>
        </p:nvSpPr>
        <p:spPr>
          <a:xfrm>
            <a:off x="6567786" y="1250134"/>
            <a:ext cx="4572000" cy="457200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2A8D23D-B1EF-D0AA-E6D8-4896C9412A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36525"/>
            <a:ext cx="12192000" cy="662781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Section 4: Frequency Based Substructuring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BA1BFF7-F38D-2D40-53E8-11AD744353C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05031" y="1938970"/>
                <a:ext cx="11640557" cy="4203599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Q1: Form the Reference and Response Signed Boolean Matrices,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𝑟𝑒𝑓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 &amp;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𝑟𝑒𝑠</m:t>
                        </m:r>
                      </m:sub>
                    </m:sSub>
                  </m:oMath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Q2: Implement the LM-FBS assembly equation: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𝐻</m:t>
                              </m:r>
                            </m:e>
                            <m:sup>
                              <m: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sup>
                          </m:sSup>
                        </m:e>
                      </m:d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40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400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acc>
                                <m:accPr>
                                  <m:chr m:val="̅"/>
                                  <m:ctrlPr>
                                    <a:rPr lang="en-US" sz="24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400" b="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𝐻</m:t>
                                  </m:r>
                                </m:e>
                              </m:acc>
                            </m:e>
                            <m:sup>
                              <m:r>
                                <a:rPr lang="en-US" sz="24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𝐴𝐵</m:t>
                              </m:r>
                            </m:sup>
                          </m:sSup>
                        </m:e>
                      </m:d>
                      <m:r>
                        <a:rPr lang="en-US" sz="2400" b="0" i="1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400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acc>
                                <m:accPr>
                                  <m:chr m:val="̅"/>
                                  <m:ctrlPr>
                                    <a:rPr lang="en-US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𝐻</m:t>
                                  </m:r>
                                </m:e>
                              </m:acc>
                            </m:e>
                            <m:sup>
                              <m:r>
                                <a:rPr lang="en-US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𝐴𝐵</m:t>
                              </m:r>
                            </m:sup>
                          </m:sSup>
                        </m:e>
                      </m:d>
                      <m:sSup>
                        <m:sSupPr>
                          <m:ctrlPr>
                            <a:rPr lang="en-US" sz="2400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sz="2400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4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  <m:sub>
                                  <m:r>
                                    <a:rPr lang="en-US" sz="2400" b="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𝑟𝑒𝑓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en-US" sz="2400" b="0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r>
                        <m:rPr>
                          <m:nor/>
                        </m:rPr>
                        <a:rPr lang="en-US" sz="2400" dirty="0">
                          <a:solidFill>
                            <a:schemeClr val="accent1"/>
                          </a:solidFill>
                          <a:ea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lang="en-US" sz="2400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2400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sz="24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2400" i="1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b="0" i="1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𝐵</m:t>
                                      </m:r>
                                    </m:e>
                                    <m:sub>
                                      <m:r>
                                        <a:rPr lang="en-US" sz="2400" b="0" i="1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𝑟𝑒𝑠</m:t>
                                      </m:r>
                                    </m:sub>
                                  </m:sSub>
                                </m:e>
                              </m:d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sz="24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US" i="1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acc>
                                        <m:accPr>
                                          <m:chr m:val="̅"/>
                                          <m:ctrlPr>
                                            <a:rPr lang="en-US" i="1">
                                              <a:solidFill>
                                                <a:schemeClr val="accent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i="1">
                                              <a:solidFill>
                                                <a:schemeClr val="accent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𝐻</m:t>
                                          </m:r>
                                        </m:e>
                                      </m:acc>
                                    </m:e>
                                    <m:sup>
                                      <m:r>
                                        <a:rPr lang="en-US" i="1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𝐴𝐵</m:t>
                                      </m:r>
                                    </m:sup>
                                  </m:sSup>
                                </m:e>
                              </m:d>
                              <m:sSup>
                                <m:sSupPr>
                                  <m:ctrlPr>
                                    <a:rPr lang="en-US" sz="24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begChr m:val="["/>
                                      <m:endChr m:val="]"/>
                                      <m:ctrlPr>
                                        <a:rPr lang="en-US" sz="2400" i="1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2400" i="1">
                                              <a:solidFill>
                                                <a:schemeClr val="accent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400" b="0" i="1">
                                              <a:solidFill>
                                                <a:schemeClr val="accent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𝐵</m:t>
                                          </m:r>
                                        </m:e>
                                        <m:sub>
                                          <m:r>
                                            <a:rPr lang="en-US" sz="2400" b="0" i="1">
                                              <a:solidFill>
                                                <a:schemeClr val="accent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𝑟𝑒𝑓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a:rPr lang="en-US" sz="2400" b="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</m:e>
                          </m:d>
                        </m:e>
                        <m:sup>
                          <m:r>
                            <a:rPr lang="en-US" sz="2400" b="0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</m:sup>
                      </m:sSup>
                      <m:r>
                        <m:rPr>
                          <m:nor/>
                        </m:rPr>
                        <a:rPr lang="en-US" sz="2400" dirty="0">
                          <a:solidFill>
                            <a:schemeClr val="accent1"/>
                          </a:solidFill>
                        </a:rPr>
                        <m:t> 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400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en-US" sz="2400" b="0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𝑟𝑒𝑠</m:t>
                              </m:r>
                            </m:sub>
                          </m:sSub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en-US" sz="2400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acc>
                                <m:accPr>
                                  <m:chr m:val="̅"/>
                                  <m:ctrlPr>
                                    <a:rPr lang="en-US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𝐻</m:t>
                                  </m:r>
                                </m:e>
                              </m:acc>
                            </m:e>
                            <m:sup>
                              <m:r>
                                <a:rPr lang="en-US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𝐴𝐵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sz="2400" dirty="0"/>
              </a:p>
              <a:p>
                <a:pPr marL="0" indent="0">
                  <a:buNone/>
                </a:pPr>
                <a:r>
                  <a:rPr lang="en-US" dirty="0"/>
                  <a:t>Q3: What happens as you add noise to the FRFs?</a:t>
                </a:r>
              </a:p>
              <a:p>
                <a:pPr lvl="1"/>
                <a:r>
                  <a:rPr lang="en-US" dirty="0">
                    <a:solidFill>
                      <a:schemeClr val="accent1"/>
                    </a:solidFill>
                  </a:rPr>
                  <a:t>Is there a different effect on low or high frequency content? Low or high magnitude?</a:t>
                </a:r>
              </a:p>
              <a:p>
                <a:pPr lvl="1"/>
                <a:r>
                  <a:rPr lang="en-US" dirty="0">
                    <a:solidFill>
                      <a:schemeClr val="accent1"/>
                    </a:solidFill>
                  </a:rPr>
                  <a:t>Do you expect resonance peaks or anti-resonances to be most effected? 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BA1BFF7-F38D-2D40-53E8-11AD744353C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05031" y="1938970"/>
                <a:ext cx="11640557" cy="4203599"/>
              </a:xfrm>
              <a:blipFill>
                <a:blip r:embed="rId2"/>
                <a:stretch>
                  <a:fillRect l="-1047" t="-20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Rectangle 7">
            <a:extLst>
              <a:ext uri="{FF2B5EF4-FFF2-40B4-BE49-F238E27FC236}">
                <a16:creationId xmlns:a16="http://schemas.microsoft.com/office/drawing/2014/main" id="{8FD2D568-BBB9-C44C-9C7C-08C2D5461C28}"/>
              </a:ext>
            </a:extLst>
          </p:cNvPr>
          <p:cNvSpPr/>
          <p:nvPr/>
        </p:nvSpPr>
        <p:spPr>
          <a:xfrm>
            <a:off x="574248" y="1250134"/>
            <a:ext cx="2743200" cy="4572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831D8A6-1FE4-43D2-5DCB-326B0222985D}"/>
              </a:ext>
            </a:extLst>
          </p:cNvPr>
          <p:cNvSpPr/>
          <p:nvPr/>
        </p:nvSpPr>
        <p:spPr>
          <a:xfrm>
            <a:off x="4201132" y="1250134"/>
            <a:ext cx="1828800" cy="457200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27060E4-E9AE-F599-CED7-5BF0EB77F31F}"/>
              </a:ext>
            </a:extLst>
          </p:cNvPr>
          <p:cNvSpPr txBox="1"/>
          <p:nvPr/>
        </p:nvSpPr>
        <p:spPr>
          <a:xfrm>
            <a:off x="3605193" y="1295288"/>
            <a:ext cx="32092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+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3FA34B66-3EDA-0136-EB85-D0ACCBEF1FB7}"/>
              </a:ext>
            </a:extLst>
          </p:cNvPr>
          <p:cNvSpPr/>
          <p:nvPr/>
        </p:nvSpPr>
        <p:spPr>
          <a:xfrm>
            <a:off x="3276147" y="1438969"/>
            <a:ext cx="85725" cy="7853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6E9B7C03-925D-E050-397F-7BAED202CD66}"/>
              </a:ext>
            </a:extLst>
          </p:cNvPr>
          <p:cNvSpPr/>
          <p:nvPr/>
        </p:nvSpPr>
        <p:spPr>
          <a:xfrm>
            <a:off x="4158270" y="1438969"/>
            <a:ext cx="85725" cy="7853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42FF42C9-E3C9-5A67-4122-7E2FB6DDDDBD}"/>
              </a:ext>
            </a:extLst>
          </p:cNvPr>
          <p:cNvCxnSpPr>
            <a:cxnSpLocks/>
            <a:stCxn id="11" idx="0"/>
          </p:cNvCxnSpPr>
          <p:nvPr/>
        </p:nvCxnSpPr>
        <p:spPr>
          <a:xfrm flipH="1" flipV="1">
            <a:off x="3317448" y="979131"/>
            <a:ext cx="1562" cy="459838"/>
          </a:xfrm>
          <a:prstGeom prst="straightConnector1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Arc 13">
            <a:extLst>
              <a:ext uri="{FF2B5EF4-FFF2-40B4-BE49-F238E27FC236}">
                <a16:creationId xmlns:a16="http://schemas.microsoft.com/office/drawing/2014/main" id="{2250DAF1-EBA2-94FA-F585-6260E5390EA1}"/>
              </a:ext>
            </a:extLst>
          </p:cNvPr>
          <p:cNvSpPr/>
          <p:nvPr/>
        </p:nvSpPr>
        <p:spPr>
          <a:xfrm>
            <a:off x="3126205" y="1292798"/>
            <a:ext cx="384048" cy="384048"/>
          </a:xfrm>
          <a:prstGeom prst="arc">
            <a:avLst>
              <a:gd name="adj1" fmla="val 17589694"/>
              <a:gd name="adj2" fmla="val 4510709"/>
            </a:avLst>
          </a:prstGeom>
          <a:ln w="38100">
            <a:solidFill>
              <a:schemeClr val="tx1">
                <a:lumMod val="95000"/>
                <a:lumOff val="5000"/>
              </a:schemeClr>
            </a:solidFill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dirty="0"/>
              <a:t>  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C89CB74D-BDD9-5271-207F-17BFC917F9D1}"/>
              </a:ext>
            </a:extLst>
          </p:cNvPr>
          <p:cNvCxnSpPr>
            <a:cxnSpLocks/>
          </p:cNvCxnSpPr>
          <p:nvPr/>
        </p:nvCxnSpPr>
        <p:spPr>
          <a:xfrm flipH="1" flipV="1">
            <a:off x="4199571" y="979131"/>
            <a:ext cx="1562" cy="459838"/>
          </a:xfrm>
          <a:prstGeom prst="straightConnector1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Arc 15">
            <a:extLst>
              <a:ext uri="{FF2B5EF4-FFF2-40B4-BE49-F238E27FC236}">
                <a16:creationId xmlns:a16="http://schemas.microsoft.com/office/drawing/2014/main" id="{7B24548C-470B-CA07-D08E-27F8854E5E15}"/>
              </a:ext>
            </a:extLst>
          </p:cNvPr>
          <p:cNvSpPr/>
          <p:nvPr/>
        </p:nvSpPr>
        <p:spPr>
          <a:xfrm>
            <a:off x="4008328" y="1292798"/>
            <a:ext cx="384048" cy="384048"/>
          </a:xfrm>
          <a:prstGeom prst="arc">
            <a:avLst>
              <a:gd name="adj1" fmla="val 5948162"/>
              <a:gd name="adj2" fmla="val 14938086"/>
            </a:avLst>
          </a:prstGeom>
          <a:ln w="38100">
            <a:solidFill>
              <a:schemeClr val="tx1">
                <a:lumMod val="95000"/>
                <a:lumOff val="5000"/>
              </a:schemeClr>
            </a:solidFill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dirty="0"/>
              <a:t>  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F8FCE18-734F-642E-FDD2-2EFDF1C9CD7F}"/>
              </a:ext>
            </a:extLst>
          </p:cNvPr>
          <p:cNvSpPr txBox="1"/>
          <p:nvPr/>
        </p:nvSpPr>
        <p:spPr>
          <a:xfrm>
            <a:off x="6138398" y="1295288"/>
            <a:ext cx="32092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=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7A229ED5-3CCE-2BB8-2E10-F903E4B41F3E}"/>
              </a:ext>
            </a:extLst>
          </p:cNvPr>
          <p:cNvCxnSpPr/>
          <p:nvPr/>
        </p:nvCxnSpPr>
        <p:spPr>
          <a:xfrm>
            <a:off x="9310986" y="1250134"/>
            <a:ext cx="0" cy="457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Oval 18">
            <a:extLst>
              <a:ext uri="{FF2B5EF4-FFF2-40B4-BE49-F238E27FC236}">
                <a16:creationId xmlns:a16="http://schemas.microsoft.com/office/drawing/2014/main" id="{93AB0FA0-D594-1CB6-52A6-8B3CD0A5F388}"/>
              </a:ext>
            </a:extLst>
          </p:cNvPr>
          <p:cNvSpPr/>
          <p:nvPr/>
        </p:nvSpPr>
        <p:spPr>
          <a:xfrm>
            <a:off x="9266031" y="1439469"/>
            <a:ext cx="85725" cy="7853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33934819-6D84-7595-D7A8-C4D7057A7949}"/>
              </a:ext>
            </a:extLst>
          </p:cNvPr>
          <p:cNvCxnSpPr>
            <a:cxnSpLocks/>
          </p:cNvCxnSpPr>
          <p:nvPr/>
        </p:nvCxnSpPr>
        <p:spPr>
          <a:xfrm flipH="1" flipV="1">
            <a:off x="9310205" y="980401"/>
            <a:ext cx="1562" cy="459838"/>
          </a:xfrm>
          <a:prstGeom prst="straightConnector1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Arc 20">
            <a:extLst>
              <a:ext uri="{FF2B5EF4-FFF2-40B4-BE49-F238E27FC236}">
                <a16:creationId xmlns:a16="http://schemas.microsoft.com/office/drawing/2014/main" id="{4E93FFDD-758A-8A7C-423D-86690835BD52}"/>
              </a:ext>
            </a:extLst>
          </p:cNvPr>
          <p:cNvSpPr/>
          <p:nvPr/>
        </p:nvSpPr>
        <p:spPr>
          <a:xfrm>
            <a:off x="9118962" y="1294068"/>
            <a:ext cx="384048" cy="384048"/>
          </a:xfrm>
          <a:prstGeom prst="arc">
            <a:avLst>
              <a:gd name="adj1" fmla="val 17390596"/>
              <a:gd name="adj2" fmla="val 4028325"/>
            </a:avLst>
          </a:prstGeom>
          <a:ln w="38100">
            <a:solidFill>
              <a:schemeClr val="tx1">
                <a:lumMod val="95000"/>
                <a:lumOff val="5000"/>
              </a:schemeClr>
            </a:solidFill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dirty="0"/>
              <a:t>  </a:t>
            </a:r>
          </a:p>
        </p:txBody>
      </p:sp>
    </p:spTree>
    <p:extLst>
      <p:ext uri="{BB962C8B-B14F-4D97-AF65-F5344CB8AC3E}">
        <p14:creationId xmlns:p14="http://schemas.microsoft.com/office/powerpoint/2010/main" val="111394852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7" name="Picture 66">
            <a:extLst>
              <a:ext uri="{FF2B5EF4-FFF2-40B4-BE49-F238E27FC236}">
                <a16:creationId xmlns:a16="http://schemas.microsoft.com/office/drawing/2014/main" id="{887F3681-2AFE-507C-61C6-468F761DAA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44" y="1917916"/>
            <a:ext cx="5759450" cy="4114800"/>
          </a:xfrm>
          <a:prstGeom prst="rect">
            <a:avLst/>
          </a:prstGeom>
        </p:spPr>
      </p:pic>
      <p:pic>
        <p:nvPicPr>
          <p:cNvPr id="59" name="Picture 58">
            <a:extLst>
              <a:ext uri="{FF2B5EF4-FFF2-40B4-BE49-F238E27FC236}">
                <a16:creationId xmlns:a16="http://schemas.microsoft.com/office/drawing/2014/main" id="{DC273853-FFAF-E73A-9E97-82A6339889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9365" y="1866900"/>
            <a:ext cx="5759450" cy="41148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213DD13-93FE-8337-774F-CE554CBB58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36525"/>
            <a:ext cx="12192000" cy="662781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FBS Results and Takeaways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3A2204-2050-B845-D10D-A62D6FD1CB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32" y="939586"/>
            <a:ext cx="11337324" cy="956948"/>
          </a:xfrm>
        </p:spPr>
        <p:txBody>
          <a:bodyPr>
            <a:normAutofit/>
          </a:bodyPr>
          <a:lstStyle/>
          <a:p>
            <a:r>
              <a:rPr lang="en-US" dirty="0"/>
              <a:t>Noise and uncertainty in the FRFs can significantly deteriorate the results. This is a major concern when working with experimental FRFs. </a:t>
            </a:r>
          </a:p>
        </p:txBody>
      </p:sp>
      <p:sp>
        <p:nvSpPr>
          <p:cNvPr id="10" name="Arrow: Right 9">
            <a:extLst>
              <a:ext uri="{FF2B5EF4-FFF2-40B4-BE49-F238E27FC236}">
                <a16:creationId xmlns:a16="http://schemas.microsoft.com/office/drawing/2014/main" id="{A2F5ED6A-8F10-F5B8-3233-80E8FBD151FC}"/>
              </a:ext>
            </a:extLst>
          </p:cNvPr>
          <p:cNvSpPr/>
          <p:nvPr/>
        </p:nvSpPr>
        <p:spPr>
          <a:xfrm rot="20227490">
            <a:off x="5820688" y="4931277"/>
            <a:ext cx="520700" cy="347133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34A45E8-0BBC-67C6-7A9F-301842727434}"/>
              </a:ext>
            </a:extLst>
          </p:cNvPr>
          <p:cNvSpPr/>
          <p:nvPr/>
        </p:nvSpPr>
        <p:spPr>
          <a:xfrm>
            <a:off x="8152014" y="2588946"/>
            <a:ext cx="489286" cy="129513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12FC6C38-3060-FF3B-537C-8D05FDFA6260}"/>
              </a:ext>
            </a:extLst>
          </p:cNvPr>
          <p:cNvSpPr/>
          <p:nvPr/>
        </p:nvSpPr>
        <p:spPr>
          <a:xfrm>
            <a:off x="9629775" y="4105274"/>
            <a:ext cx="368300" cy="29210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70377864-B08D-7975-9A7E-844461FC33E4}"/>
              </a:ext>
            </a:extLst>
          </p:cNvPr>
          <p:cNvCxnSpPr>
            <a:cxnSpLocks/>
          </p:cNvCxnSpPr>
          <p:nvPr/>
        </p:nvCxnSpPr>
        <p:spPr>
          <a:xfrm flipV="1">
            <a:off x="8152014" y="2247369"/>
            <a:ext cx="603362" cy="34157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54C6A463-25BB-1F5F-1BA0-00ED20B279FE}"/>
              </a:ext>
            </a:extLst>
          </p:cNvPr>
          <p:cNvCxnSpPr>
            <a:cxnSpLocks/>
          </p:cNvCxnSpPr>
          <p:nvPr/>
        </p:nvCxnSpPr>
        <p:spPr>
          <a:xfrm flipV="1">
            <a:off x="8641300" y="3592090"/>
            <a:ext cx="1903933" cy="28529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FE81C38D-E952-9427-E5A3-56984F4E4BC7}"/>
              </a:ext>
            </a:extLst>
          </p:cNvPr>
          <p:cNvCxnSpPr>
            <a:cxnSpLocks/>
          </p:cNvCxnSpPr>
          <p:nvPr/>
        </p:nvCxnSpPr>
        <p:spPr>
          <a:xfrm flipV="1">
            <a:off x="8891587" y="4105274"/>
            <a:ext cx="733424" cy="33337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5CAD0EDA-9567-127F-E555-E14D497034D4}"/>
              </a:ext>
            </a:extLst>
          </p:cNvPr>
          <p:cNvCxnSpPr>
            <a:cxnSpLocks/>
          </p:cNvCxnSpPr>
          <p:nvPr/>
        </p:nvCxnSpPr>
        <p:spPr>
          <a:xfrm flipV="1">
            <a:off x="9569450" y="4400551"/>
            <a:ext cx="420685" cy="53339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2" name="Picture 61">
            <a:extLst>
              <a:ext uri="{FF2B5EF4-FFF2-40B4-BE49-F238E27FC236}">
                <a16:creationId xmlns:a16="http://schemas.microsoft.com/office/drawing/2014/main" id="{75D12232-7D18-A1C9-9113-FCEBF5BE183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2587" t="7202" r="8912" b="10597"/>
          <a:stretch/>
        </p:blipFill>
        <p:spPr>
          <a:xfrm>
            <a:off x="8760108" y="2256589"/>
            <a:ext cx="1785125" cy="1335501"/>
          </a:xfrm>
          <a:prstGeom prst="rect">
            <a:avLst/>
          </a:prstGeom>
          <a:ln w="19050">
            <a:solidFill>
              <a:schemeClr val="tx1"/>
            </a:solidFill>
          </a:ln>
        </p:spPr>
      </p:pic>
      <p:pic>
        <p:nvPicPr>
          <p:cNvPr id="64" name="Picture 63">
            <a:extLst>
              <a:ext uri="{FF2B5EF4-FFF2-40B4-BE49-F238E27FC236}">
                <a16:creationId xmlns:a16="http://schemas.microsoft.com/office/drawing/2014/main" id="{F114C16B-F460-33B3-0404-7EB261E3E8CE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12587" t="7202" r="8839" b="10494"/>
          <a:stretch/>
        </p:blipFill>
        <p:spPr>
          <a:xfrm>
            <a:off x="8357195" y="4458757"/>
            <a:ext cx="1212255" cy="907207"/>
          </a:xfrm>
          <a:prstGeom prst="rect">
            <a:avLst/>
          </a:prstGeom>
          <a:ln w="19050">
            <a:solidFill>
              <a:schemeClr val="tx1"/>
            </a:solidFill>
          </a:ln>
        </p:spPr>
      </p:pic>
      <p:sp>
        <p:nvSpPr>
          <p:cNvPr id="68" name="Arrow: Right 67">
            <a:extLst>
              <a:ext uri="{FF2B5EF4-FFF2-40B4-BE49-F238E27FC236}">
                <a16:creationId xmlns:a16="http://schemas.microsoft.com/office/drawing/2014/main" id="{0C360C44-33B6-71AC-F3DA-548C168116E9}"/>
              </a:ext>
            </a:extLst>
          </p:cNvPr>
          <p:cNvSpPr/>
          <p:nvPr/>
        </p:nvSpPr>
        <p:spPr>
          <a:xfrm rot="5400000">
            <a:off x="1053671" y="3900248"/>
            <a:ext cx="520700" cy="347133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601121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400FF74F-E07C-975F-7306-8FABCEB31170}"/>
              </a:ext>
            </a:extLst>
          </p:cNvPr>
          <p:cNvSpPr/>
          <p:nvPr/>
        </p:nvSpPr>
        <p:spPr>
          <a:xfrm>
            <a:off x="6567786" y="1250134"/>
            <a:ext cx="4572000" cy="457200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2A8D23D-B1EF-D0AA-E6D8-4896C9412A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36525"/>
            <a:ext cx="12192000" cy="662781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Section 5: Component Mode Synthesis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A1BFF7-F38D-2D40-53E8-11AD744353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32" y="1938970"/>
            <a:ext cx="11911642" cy="2611954"/>
          </a:xfrm>
        </p:spPr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en-US" dirty="0">
                <a:solidFill>
                  <a:schemeClr val="accent1"/>
                </a:solidFill>
              </a:rPr>
              <a:t>Q1,2,3: Compile the modal system matrices and construct the modal constraint matrix</a:t>
            </a:r>
          </a:p>
          <a:p>
            <a:pPr lvl="1"/>
            <a:r>
              <a:rPr lang="en-US" dirty="0"/>
              <a:t>Hint: the process is very similar to what you just did for the physical substructuring case</a:t>
            </a:r>
          </a:p>
          <a:p>
            <a:r>
              <a:rPr lang="en-US" dirty="0"/>
              <a:t>Compute the assembled system modal parameters</a:t>
            </a:r>
          </a:p>
          <a:p>
            <a:r>
              <a:rPr lang="en-US" dirty="0">
                <a:solidFill>
                  <a:schemeClr val="accent1"/>
                </a:solidFill>
              </a:rPr>
              <a:t>How does Modal Truncation affect the result? 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Reduce the bandwidth of the modes in Beam A &amp; Beam B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Change the position of the beam split and see effect on the resultant mode shapes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FD2D568-BBB9-C44C-9C7C-08C2D5461C28}"/>
              </a:ext>
            </a:extLst>
          </p:cNvPr>
          <p:cNvSpPr/>
          <p:nvPr/>
        </p:nvSpPr>
        <p:spPr>
          <a:xfrm>
            <a:off x="574248" y="1250134"/>
            <a:ext cx="2743200" cy="4572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831D8A6-1FE4-43D2-5DCB-326B0222985D}"/>
              </a:ext>
            </a:extLst>
          </p:cNvPr>
          <p:cNvSpPr/>
          <p:nvPr/>
        </p:nvSpPr>
        <p:spPr>
          <a:xfrm>
            <a:off x="4201132" y="1250134"/>
            <a:ext cx="1828800" cy="457200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27060E4-E9AE-F599-CED7-5BF0EB77F31F}"/>
              </a:ext>
            </a:extLst>
          </p:cNvPr>
          <p:cNvSpPr txBox="1"/>
          <p:nvPr/>
        </p:nvSpPr>
        <p:spPr>
          <a:xfrm>
            <a:off x="3605193" y="1295288"/>
            <a:ext cx="32092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+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3FA34B66-3EDA-0136-EB85-D0ACCBEF1FB7}"/>
              </a:ext>
            </a:extLst>
          </p:cNvPr>
          <p:cNvSpPr/>
          <p:nvPr/>
        </p:nvSpPr>
        <p:spPr>
          <a:xfrm>
            <a:off x="3276147" y="1438969"/>
            <a:ext cx="85725" cy="7853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6E9B7C03-925D-E050-397F-7BAED202CD66}"/>
              </a:ext>
            </a:extLst>
          </p:cNvPr>
          <p:cNvSpPr/>
          <p:nvPr/>
        </p:nvSpPr>
        <p:spPr>
          <a:xfrm>
            <a:off x="4158270" y="1438969"/>
            <a:ext cx="85725" cy="7853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42FF42C9-E3C9-5A67-4122-7E2FB6DDDDBD}"/>
              </a:ext>
            </a:extLst>
          </p:cNvPr>
          <p:cNvCxnSpPr>
            <a:cxnSpLocks/>
            <a:stCxn id="11" idx="0"/>
          </p:cNvCxnSpPr>
          <p:nvPr/>
        </p:nvCxnSpPr>
        <p:spPr>
          <a:xfrm flipH="1" flipV="1">
            <a:off x="3317448" y="979131"/>
            <a:ext cx="1562" cy="459838"/>
          </a:xfrm>
          <a:prstGeom prst="straightConnector1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Arc 13">
            <a:extLst>
              <a:ext uri="{FF2B5EF4-FFF2-40B4-BE49-F238E27FC236}">
                <a16:creationId xmlns:a16="http://schemas.microsoft.com/office/drawing/2014/main" id="{2250DAF1-EBA2-94FA-F585-6260E5390EA1}"/>
              </a:ext>
            </a:extLst>
          </p:cNvPr>
          <p:cNvSpPr/>
          <p:nvPr/>
        </p:nvSpPr>
        <p:spPr>
          <a:xfrm>
            <a:off x="3126205" y="1292798"/>
            <a:ext cx="384048" cy="384048"/>
          </a:xfrm>
          <a:prstGeom prst="arc">
            <a:avLst>
              <a:gd name="adj1" fmla="val 17589694"/>
              <a:gd name="adj2" fmla="val 4510709"/>
            </a:avLst>
          </a:prstGeom>
          <a:ln w="38100">
            <a:solidFill>
              <a:schemeClr val="tx1">
                <a:lumMod val="95000"/>
                <a:lumOff val="5000"/>
              </a:schemeClr>
            </a:solidFill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dirty="0"/>
              <a:t>  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C89CB74D-BDD9-5271-207F-17BFC917F9D1}"/>
              </a:ext>
            </a:extLst>
          </p:cNvPr>
          <p:cNvCxnSpPr>
            <a:cxnSpLocks/>
          </p:cNvCxnSpPr>
          <p:nvPr/>
        </p:nvCxnSpPr>
        <p:spPr>
          <a:xfrm flipH="1" flipV="1">
            <a:off x="4199571" y="979131"/>
            <a:ext cx="1562" cy="459838"/>
          </a:xfrm>
          <a:prstGeom prst="straightConnector1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Arc 15">
            <a:extLst>
              <a:ext uri="{FF2B5EF4-FFF2-40B4-BE49-F238E27FC236}">
                <a16:creationId xmlns:a16="http://schemas.microsoft.com/office/drawing/2014/main" id="{7B24548C-470B-CA07-D08E-27F8854E5E15}"/>
              </a:ext>
            </a:extLst>
          </p:cNvPr>
          <p:cNvSpPr/>
          <p:nvPr/>
        </p:nvSpPr>
        <p:spPr>
          <a:xfrm>
            <a:off x="4008328" y="1292798"/>
            <a:ext cx="384048" cy="384048"/>
          </a:xfrm>
          <a:prstGeom prst="arc">
            <a:avLst>
              <a:gd name="adj1" fmla="val 5948162"/>
              <a:gd name="adj2" fmla="val 14938086"/>
            </a:avLst>
          </a:prstGeom>
          <a:ln w="38100">
            <a:solidFill>
              <a:schemeClr val="tx1">
                <a:lumMod val="95000"/>
                <a:lumOff val="5000"/>
              </a:schemeClr>
            </a:solidFill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dirty="0"/>
              <a:t>  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F8FCE18-734F-642E-FDD2-2EFDF1C9CD7F}"/>
              </a:ext>
            </a:extLst>
          </p:cNvPr>
          <p:cNvSpPr txBox="1"/>
          <p:nvPr/>
        </p:nvSpPr>
        <p:spPr>
          <a:xfrm>
            <a:off x="6138398" y="1295288"/>
            <a:ext cx="32092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=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7A229ED5-3CCE-2BB8-2E10-F903E4B41F3E}"/>
              </a:ext>
            </a:extLst>
          </p:cNvPr>
          <p:cNvCxnSpPr/>
          <p:nvPr/>
        </p:nvCxnSpPr>
        <p:spPr>
          <a:xfrm>
            <a:off x="9310986" y="1250134"/>
            <a:ext cx="0" cy="457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Oval 18">
            <a:extLst>
              <a:ext uri="{FF2B5EF4-FFF2-40B4-BE49-F238E27FC236}">
                <a16:creationId xmlns:a16="http://schemas.microsoft.com/office/drawing/2014/main" id="{93AB0FA0-D594-1CB6-52A6-8B3CD0A5F388}"/>
              </a:ext>
            </a:extLst>
          </p:cNvPr>
          <p:cNvSpPr/>
          <p:nvPr/>
        </p:nvSpPr>
        <p:spPr>
          <a:xfrm>
            <a:off x="9266031" y="1439469"/>
            <a:ext cx="85725" cy="7853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33934819-6D84-7595-D7A8-C4D7057A7949}"/>
              </a:ext>
            </a:extLst>
          </p:cNvPr>
          <p:cNvCxnSpPr>
            <a:cxnSpLocks/>
          </p:cNvCxnSpPr>
          <p:nvPr/>
        </p:nvCxnSpPr>
        <p:spPr>
          <a:xfrm flipH="1" flipV="1">
            <a:off x="9310205" y="980401"/>
            <a:ext cx="1562" cy="459838"/>
          </a:xfrm>
          <a:prstGeom prst="straightConnector1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Arc 20">
            <a:extLst>
              <a:ext uri="{FF2B5EF4-FFF2-40B4-BE49-F238E27FC236}">
                <a16:creationId xmlns:a16="http://schemas.microsoft.com/office/drawing/2014/main" id="{4E93FFDD-758A-8A7C-423D-86690835BD52}"/>
              </a:ext>
            </a:extLst>
          </p:cNvPr>
          <p:cNvSpPr/>
          <p:nvPr/>
        </p:nvSpPr>
        <p:spPr>
          <a:xfrm>
            <a:off x="9118962" y="1294068"/>
            <a:ext cx="384048" cy="384048"/>
          </a:xfrm>
          <a:prstGeom prst="arc">
            <a:avLst>
              <a:gd name="adj1" fmla="val 17390596"/>
              <a:gd name="adj2" fmla="val 4028325"/>
            </a:avLst>
          </a:prstGeom>
          <a:ln w="38100">
            <a:solidFill>
              <a:schemeClr val="tx1">
                <a:lumMod val="95000"/>
                <a:lumOff val="5000"/>
              </a:schemeClr>
            </a:solidFill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dirty="0"/>
              <a:t> 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7D8E3710-D743-10A2-4F38-676404344E98}"/>
                  </a:ext>
                </a:extLst>
              </p:cNvPr>
              <p:cNvSpPr txBox="1"/>
              <p:nvPr/>
            </p:nvSpPr>
            <p:spPr>
              <a:xfrm>
                <a:off x="1604264" y="4601291"/>
                <a:ext cx="9710208" cy="212539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800" dirty="0">
                    <a:solidFill>
                      <a:schemeClr val="accent1"/>
                    </a:solidFill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Uncoupled EOM: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sz="180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m>
                          <m:mPr>
                            <m:plcHide m:val="on"/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US" sz="18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US" sz="18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b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𝐈</m:t>
                                  </m:r>
                                </m:e>
                                <m:sub>
                                  <m:r>
                                    <a:rPr lang="en-US" sz="18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𝐴</m:t>
                                  </m:r>
                                </m:sub>
                              </m:sSub>
                            </m:e>
                            <m:e>
                              <m:r>
                                <a:rPr lang="en-US" sz="180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US" sz="180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0</m:t>
                              </m:r>
                            </m:e>
                            <m:e>
                              <m:sSub>
                                <m:sSubPr>
                                  <m:ctrlPr>
                                    <a:rPr lang="en-US" sz="18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b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𝐈</m:t>
                                  </m:r>
                                </m:e>
                                <m:sub>
                                  <m:r>
                                    <a:rPr lang="en-US" sz="18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𝐵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  <m:d>
                      <m:dPr>
                        <m:begChr m:val="{"/>
                        <m:endChr m:val="}"/>
                        <m:ctrlPr>
                          <a:rPr lang="en-US" sz="18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m>
                          <m:mPr>
                            <m:plcHide m:val="on"/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US" sz="18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US" sz="18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̈"/>
                                      <m:ctrlPr>
                                        <a:rPr lang="en-US" sz="1800" i="1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sz="1800" i="1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Times New Roman" panose="02020603050405020304" pitchFamily="18" charset="0"/>
                                        </a:rPr>
                                        <m:t>𝑞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sz="18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𝐴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US" sz="18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̈"/>
                                      <m:ctrlPr>
                                        <a:rPr lang="en-US" sz="1800" i="1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sz="1800" i="1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Times New Roman" panose="02020603050405020304" pitchFamily="18" charset="0"/>
                                        </a:rPr>
                                        <m:t>𝑞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sz="18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𝐵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  <m:r>
                      <a:rPr lang="en-US" sz="180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+</m:t>
                    </m:r>
                    <m:d>
                      <m:dPr>
                        <m:begChr m:val="["/>
                        <m:endChr m:val="]"/>
                        <m:ctrlPr>
                          <a:rPr lang="en-US" sz="18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m>
                          <m:mPr>
                            <m:plcHide m:val="on"/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US" sz="18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a:rPr lang="en-US" sz="18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2</m:t>
                              </m:r>
                              <m:sSub>
                                <m:sSubPr>
                                  <m:ctrlPr>
                                    <a:rPr lang="en-US" sz="18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𝜁</m:t>
                                  </m:r>
                                </m:e>
                                <m:sub>
                                  <m:r>
                                    <a:rPr lang="en-US" sz="18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𝐴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sz="18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en-US" sz="18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𝐴</m:t>
                                  </m:r>
                                </m:sub>
                              </m:sSub>
                            </m:e>
                            <m:e>
                              <m:r>
                                <a:rPr lang="en-US" sz="180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US" sz="180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sz="1800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2</m:t>
                              </m:r>
                              <m:sSub>
                                <m:sSubPr>
                                  <m:ctrlPr>
                                    <a:rPr lang="en-US" sz="18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𝜁</m:t>
                                  </m:r>
                                </m:e>
                                <m:sub>
                                  <m:r>
                                    <a:rPr lang="en-US" sz="18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𝐵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sz="18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en-US" sz="18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𝐵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  <m:d>
                      <m:dPr>
                        <m:begChr m:val="{"/>
                        <m:endChr m:val="}"/>
                        <m:ctrlPr>
                          <a:rPr lang="en-US" sz="18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m>
                          <m:mPr>
                            <m:plcHide m:val="on"/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US" sz="18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US" sz="18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̇"/>
                                      <m:ctrlPr>
                                        <a:rPr lang="en-US" sz="180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sz="1800" i="1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Times New Roman" panose="02020603050405020304" pitchFamily="18" charset="0"/>
                                        </a:rPr>
                                        <m:t>𝑞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sz="18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𝐴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US" sz="18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̇"/>
                                      <m:ctrlPr>
                                        <a:rPr lang="en-US" sz="180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sz="1800" i="1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Times New Roman" panose="02020603050405020304" pitchFamily="18" charset="0"/>
                                        </a:rPr>
                                        <m:t>𝑞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sz="18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𝐵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  <m:r>
                      <a:rPr lang="en-US" sz="180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+</m:t>
                    </m:r>
                    <m:d>
                      <m:dPr>
                        <m:begChr m:val="["/>
                        <m:endChr m:val="]"/>
                        <m:ctrlPr>
                          <a:rPr lang="en-US" sz="18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m>
                          <m:mPr>
                            <m:plcHide m:val="on"/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US" sz="18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</m:ctrlPr>
                          </m:mPr>
                          <m:mr>
                            <m:e>
                              <m:sSubSup>
                                <m:sSubSupPr>
                                  <m:ctrlPr>
                                    <a:rPr lang="en-US" sz="18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18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en-US" sz="18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𝐴</m:t>
                                  </m:r>
                                </m:sub>
                                <m:sup>
                                  <m:r>
                                    <a:rPr lang="en-US" sz="180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</m:e>
                            <m:e>
                              <m:r>
                                <a:rPr lang="en-US" sz="180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US" sz="180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0</m:t>
                              </m:r>
                            </m:e>
                            <m:e>
                              <m:sSubSup>
                                <m:sSubSupPr>
                                  <m:ctrlPr>
                                    <a:rPr lang="en-US" sz="18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18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en-US" sz="18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𝐵</m:t>
                                  </m:r>
                                </m:sub>
                                <m:sup>
                                  <m:r>
                                    <a:rPr lang="en-US" sz="18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</m:e>
                          </m:mr>
                        </m:m>
                      </m:e>
                    </m:d>
                    <m:d>
                      <m:dPr>
                        <m:begChr m:val="{"/>
                        <m:endChr m:val="}"/>
                        <m:ctrlPr>
                          <a:rPr lang="en-US" sz="18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m>
                          <m:mPr>
                            <m:plcHide m:val="on"/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US" sz="18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US" sz="18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sz="18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𝐴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US" sz="18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sz="18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𝐵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  <m:r>
                      <a:rPr lang="en-US" sz="180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en-US" sz="18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m>
                          <m:mPr>
                            <m:plcHide m:val="on"/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US" sz="18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</m:ctrlPr>
                          </m:mPr>
                          <m:mr>
                            <m:e>
                              <m:sSubSup>
                                <m:sSubSupPr>
                                  <m:ctrlPr>
                                    <a:rPr lang="en-US" sz="18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18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𝜙</m:t>
                                  </m:r>
                                </m:e>
                                <m:sub>
                                  <m:r>
                                    <a:rPr lang="en-US" sz="18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𝐴</m:t>
                                  </m:r>
                                </m:sub>
                                <m:sup>
                                  <m:r>
                                    <m:rPr>
                                      <m:sty m:val="p"/>
                                    </m:rPr>
                                    <a:rPr lang="en-US" sz="180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T</m:t>
                                  </m:r>
                                </m:sup>
                              </m:sSubSup>
                              <m:sSub>
                                <m:sSubPr>
                                  <m:ctrlPr>
                                    <a:rPr lang="en-US" sz="18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𝐹</m:t>
                                  </m:r>
                                </m:e>
                                <m:sub>
                                  <m:r>
                                    <a:rPr lang="en-US" sz="18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𝐴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sSubSup>
                                <m:sSubSupPr>
                                  <m:ctrlPr>
                                    <a:rPr lang="en-US" sz="18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18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𝜙</m:t>
                                  </m:r>
                                </m:e>
                                <m:sub>
                                  <m:r>
                                    <a:rPr lang="en-US" sz="18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𝐵</m:t>
                                  </m:r>
                                </m:sub>
                                <m:sup>
                                  <m:r>
                                    <m:rPr>
                                      <m:sty m:val="p"/>
                                    </m:rPr>
                                    <a:rPr lang="en-US" sz="180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T</m:t>
                                  </m:r>
                                </m:sup>
                              </m:sSubSup>
                              <m:sSub>
                                <m:sSubPr>
                                  <m:ctrlPr>
                                    <a:rPr lang="en-US" sz="18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𝐹</m:t>
                                  </m:r>
                                </m:e>
                                <m:sub>
                                  <m:r>
                                    <a:rPr lang="en-US" sz="18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𝐵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</m:oMath>
                </a14:m>
                <a:endParaRPr lang="en-US" sz="1800" b="0" dirty="0">
                  <a:solidFill>
                    <a:schemeClr val="accent1"/>
                  </a:solidFill>
                </a:endParaRPr>
              </a:p>
              <a:p>
                <a:r>
                  <a:rPr lang="en-US" sz="1800" dirty="0">
                    <a:solidFill>
                      <a:schemeClr val="accent1"/>
                    </a:solidFill>
                  </a:rPr>
                  <a:t>Compatibility: </a:t>
                </a:r>
                <a14:m>
                  <m:oMath xmlns:m="http://schemas.openxmlformats.org/officeDocument/2006/math">
                    <m:r>
                      <a:rPr lang="en-US" sz="18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𝐵𝑢</m:t>
                    </m:r>
                    <m:r>
                      <a:rPr lang="en-US" sz="18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=0 →</m:t>
                    </m:r>
                    <m:r>
                      <a:rPr lang="en-US" sz="18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𝐵</m:t>
                    </m:r>
                    <m:r>
                      <m:rPr>
                        <m:sty m:val="p"/>
                      </m:rPr>
                      <a:rPr lang="en-US" sz="180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Φq</m:t>
                    </m:r>
                    <m:r>
                      <a:rPr lang="en-US" sz="180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=0 → </m:t>
                    </m:r>
                    <m:d>
                      <m:dPr>
                        <m:begChr m:val="["/>
                        <m:endChr m:val="]"/>
                        <m:ctrlPr>
                          <a:rPr lang="en-US" sz="18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6"/>
                                  <m:mcJc m:val="center"/>
                                </m:mcPr>
                              </m:mc>
                            </m:mcs>
                            <m:ctrlPr>
                              <a:rPr lang="en-US" sz="18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US" sz="18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⋯</m:t>
                              </m:r>
                            </m:e>
                            <m:e>
                              <m:r>
                                <a:rPr lang="en-US" sz="18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en-US" sz="18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sz="18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e>
                            <m:e>
                              <m:r>
                                <a:rPr lang="en-US" sz="18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sz="18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⋯</m:t>
                              </m:r>
                            </m:e>
                          </m:mr>
                          <m:mr>
                            <m:e>
                              <m:r>
                                <a:rPr lang="en-US" sz="18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⋯</m:t>
                              </m:r>
                            </m:e>
                            <m:e>
                              <m:r>
                                <a:rPr lang="en-US" sz="18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sz="18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en-US" sz="18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sz="18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−1</m:t>
                              </m:r>
                            </m:e>
                            <m:e>
                              <m:r>
                                <a:rPr lang="en-US" sz="18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⋯</m:t>
                              </m:r>
                            </m:e>
                          </m:mr>
                        </m:m>
                      </m:e>
                    </m:d>
                    <m:d>
                      <m:dPr>
                        <m:begChr m:val="["/>
                        <m:endChr m:val="]"/>
                        <m:ctrlPr>
                          <a:rPr lang="en-US" sz="18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US" sz="18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US" sz="18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𝜙</m:t>
                                  </m:r>
                                </m:e>
                                <m:sub>
                                  <m:r>
                                    <a:rPr lang="en-US" sz="18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sub>
                              </m:sSub>
                            </m:e>
                            <m:e>
                              <m:r>
                                <a:rPr lang="en-US" sz="18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US" sz="18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sSub>
                                <m:sSubPr>
                                  <m:ctrlPr>
                                    <a:rPr lang="en-US" sz="18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𝜙</m:t>
                                  </m:r>
                                </m:e>
                                <m:sub>
                                  <m:r>
                                    <a:rPr lang="en-US" sz="18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  <m:d>
                      <m:dPr>
                        <m:begChr m:val="["/>
                        <m:endChr m:val="]"/>
                        <m:ctrlPr>
                          <a:rPr lang="en-US" sz="18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plcHide m:val="on"/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US" sz="18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US" sz="18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sz="18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𝐴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US" sz="18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sz="18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𝐵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  <m:r>
                      <a:rPr lang="en-US" sz="18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en-US" sz="1800" b="0" dirty="0">
                  <a:solidFill>
                    <a:schemeClr val="accent1"/>
                  </a:solidFill>
                </a:endParaRPr>
              </a:p>
              <a:p>
                <a:r>
                  <a:rPr lang="en-US" sz="1800" dirty="0">
                    <a:solidFill>
                      <a:schemeClr val="accent1"/>
                    </a:solidFill>
                  </a:rPr>
                  <a:t>Localization: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 sz="18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8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𝑛𝑢𝑙𝑙</m:t>
                    </m:r>
                    <m:d>
                      <m:dPr>
                        <m:ctrlPr>
                          <a:rPr lang="en-US" sz="18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m:rPr>
                            <m:sty m:val="p"/>
                          </m:rPr>
                          <a:rPr lang="en-US" sz="180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Φ</m:t>
                        </m:r>
                      </m:e>
                    </m:d>
                  </m:oMath>
                </a14:m>
                <a:endParaRPr lang="en-US" sz="1800" b="0" dirty="0">
                  <a:solidFill>
                    <a:schemeClr val="accent1"/>
                  </a:solidFill>
                </a:endParaRPr>
              </a:p>
              <a:p>
                <a:r>
                  <a:rPr lang="en-US" sz="1800" dirty="0">
                    <a:solidFill>
                      <a:schemeClr val="accent1"/>
                    </a:solidFill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Coupled EOM: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8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sz="1800" b="0" i="0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L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en-US" sz="1800" b="0" i="0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T</m:t>
                        </m:r>
                      </m:sup>
                    </m:sSup>
                    <m:d>
                      <m:dPr>
                        <m:begChr m:val="["/>
                        <m:endChr m:val="]"/>
                        <m:ctrlPr>
                          <a:rPr lang="en-US" sz="180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m>
                          <m:mPr>
                            <m:plcHide m:val="on"/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US" sz="18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US" sz="18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b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𝐈</m:t>
                                  </m:r>
                                </m:e>
                                <m:sub>
                                  <m:r>
                                    <a:rPr lang="en-US" sz="18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𝐴</m:t>
                                  </m:r>
                                </m:sub>
                              </m:sSub>
                            </m:e>
                            <m:e>
                              <m:r>
                                <a:rPr lang="en-US" sz="180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US" sz="180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0</m:t>
                              </m:r>
                            </m:e>
                            <m:e>
                              <m:sSub>
                                <m:sSubPr>
                                  <m:ctrlPr>
                                    <a:rPr lang="en-US" sz="18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b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𝐈</m:t>
                                  </m:r>
                                </m:e>
                                <m:sub>
                                  <m:r>
                                    <a:rPr lang="en-US" sz="18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𝐵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  <m:r>
                      <a:rPr lang="en-US" sz="18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𝐿</m:t>
                    </m:r>
                    <m:d>
                      <m:dPr>
                        <m:begChr m:val="{"/>
                        <m:endChr m:val="}"/>
                        <m:ctrlPr>
                          <a:rPr lang="en-US" sz="18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m>
                          <m:mPr>
                            <m:plcHide m:val="on"/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US" sz="18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US" sz="18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̈"/>
                                      <m:ctrlPr>
                                        <a:rPr lang="en-US" sz="1800" i="1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sz="18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𝜂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sz="18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𝐴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US" sz="18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̈"/>
                                      <m:ctrlPr>
                                        <a:rPr lang="en-US" sz="1800" i="1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sz="18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𝜂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sz="18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𝐵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  <m:r>
                      <a:rPr lang="en-US" sz="180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+</m:t>
                    </m:r>
                    <m:sSup>
                      <m:sSupPr>
                        <m:ctrlPr>
                          <a:rPr lang="en-US" sz="18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sz="180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L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en-US" sz="180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T</m:t>
                        </m:r>
                      </m:sup>
                    </m:sSup>
                    <m:d>
                      <m:dPr>
                        <m:begChr m:val="["/>
                        <m:endChr m:val="]"/>
                        <m:ctrlPr>
                          <a:rPr lang="en-US" sz="18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m>
                          <m:mPr>
                            <m:plcHide m:val="on"/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US" sz="18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a:rPr lang="en-US" sz="1800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2</m:t>
                              </m:r>
                              <m:sSub>
                                <m:sSubPr>
                                  <m:ctrlPr>
                                    <a:rPr lang="en-US" sz="18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𝜁</m:t>
                                  </m:r>
                                </m:e>
                                <m:sub>
                                  <m:r>
                                    <a:rPr lang="en-US" sz="18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𝐴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sz="18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en-US" sz="18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𝐴</m:t>
                                  </m:r>
                                </m:sub>
                              </m:sSub>
                            </m:e>
                            <m:e>
                              <m:r>
                                <a:rPr lang="en-US" sz="180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US" sz="180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sz="1800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2</m:t>
                              </m:r>
                              <m:sSub>
                                <m:sSubPr>
                                  <m:ctrlPr>
                                    <a:rPr lang="en-US" sz="18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𝜁</m:t>
                                  </m:r>
                                </m:e>
                                <m:sub>
                                  <m:r>
                                    <a:rPr lang="en-US" sz="18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𝐵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sz="18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en-US" sz="18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𝐵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  <m:r>
                      <a:rPr lang="en-US" sz="18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𝐿</m:t>
                    </m:r>
                    <m:d>
                      <m:dPr>
                        <m:begChr m:val="{"/>
                        <m:endChr m:val="}"/>
                        <m:ctrlPr>
                          <a:rPr lang="en-US" sz="18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m>
                          <m:mPr>
                            <m:plcHide m:val="on"/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US" sz="18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US" sz="18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̇"/>
                                      <m:ctrlPr>
                                        <a:rPr lang="en-US" sz="1800" i="1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sz="1800" i="1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𝜂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sz="18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𝐴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US" sz="18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̇"/>
                                      <m:ctrlPr>
                                        <a:rPr lang="en-US" sz="1800" i="1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sz="1800" i="1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𝜂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sz="18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𝐵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  <m:r>
                      <a:rPr lang="en-US" sz="180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+</m:t>
                    </m:r>
                    <m:sSup>
                      <m:sSupPr>
                        <m:ctrlPr>
                          <a:rPr lang="en-US" sz="18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r>
                          <a:rPr lang="en-US" sz="18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𝐿</m:t>
                        </m:r>
                      </m:e>
                      <m:sup>
                        <m:r>
                          <a:rPr lang="en-US" sz="18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𝑇</m:t>
                        </m:r>
                      </m:sup>
                    </m:sSup>
                    <m:d>
                      <m:dPr>
                        <m:begChr m:val="["/>
                        <m:endChr m:val="]"/>
                        <m:ctrlPr>
                          <a:rPr lang="en-US" sz="18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m>
                          <m:mPr>
                            <m:plcHide m:val="on"/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US" sz="18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</m:ctrlPr>
                          </m:mPr>
                          <m:mr>
                            <m:e>
                              <m:sSubSup>
                                <m:sSubSupPr>
                                  <m:ctrlPr>
                                    <a:rPr lang="en-US" sz="18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18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en-US" sz="18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𝐴</m:t>
                                  </m:r>
                                </m:sub>
                                <m:sup>
                                  <m:r>
                                    <a:rPr lang="en-US" sz="180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</m:e>
                            <m:e>
                              <m:r>
                                <a:rPr lang="en-US" sz="180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US" sz="180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0</m:t>
                              </m:r>
                            </m:e>
                            <m:e>
                              <m:sSubSup>
                                <m:sSubSupPr>
                                  <m:ctrlPr>
                                    <a:rPr lang="en-US" sz="18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18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en-US" sz="18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𝐵</m:t>
                                  </m:r>
                                </m:sub>
                                <m:sup>
                                  <m:r>
                                    <a:rPr lang="en-US" sz="18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</m:e>
                          </m:mr>
                        </m:m>
                      </m:e>
                    </m:d>
                    <m:r>
                      <a:rPr lang="en-US" sz="18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𝐿</m:t>
                    </m:r>
                    <m:d>
                      <m:dPr>
                        <m:begChr m:val="{"/>
                        <m:endChr m:val="}"/>
                        <m:ctrlPr>
                          <a:rPr lang="en-US" sz="18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m>
                          <m:mPr>
                            <m:plcHide m:val="on"/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US" sz="18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US" sz="18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𝜂</m:t>
                                  </m:r>
                                </m:e>
                                <m:sub>
                                  <m:r>
                                    <a:rPr lang="en-US" sz="18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𝐴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US" sz="18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𝜂</m:t>
                                  </m:r>
                                </m:e>
                                <m:sub>
                                  <m:r>
                                    <a:rPr lang="en-US" sz="18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𝐵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  <m:r>
                      <a:rPr lang="en-US" sz="180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=</m:t>
                    </m:r>
                    <m:sSup>
                      <m:sSupPr>
                        <m:ctrlPr>
                          <a:rPr lang="en-US" sz="18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r>
                          <a:rPr lang="en-US" sz="18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𝐿</m:t>
                        </m:r>
                      </m:e>
                      <m:sup>
                        <m:r>
                          <a:rPr lang="en-US" sz="18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𝑇</m:t>
                        </m:r>
                      </m:sup>
                    </m:sSup>
                    <m:d>
                      <m:dPr>
                        <m:begChr m:val="{"/>
                        <m:endChr m:val="}"/>
                        <m:ctrlPr>
                          <a:rPr lang="en-US" sz="18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m>
                          <m:mPr>
                            <m:plcHide m:val="on"/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US" sz="18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</m:ctrlPr>
                          </m:mPr>
                          <m:mr>
                            <m:e>
                              <m:sSubSup>
                                <m:sSubSupPr>
                                  <m:ctrlPr>
                                    <a:rPr lang="en-US" sz="18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18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𝜙</m:t>
                                  </m:r>
                                </m:e>
                                <m:sub>
                                  <m:r>
                                    <a:rPr lang="en-US" sz="18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𝐴</m:t>
                                  </m:r>
                                </m:sub>
                                <m:sup>
                                  <m:r>
                                    <m:rPr>
                                      <m:sty m:val="p"/>
                                    </m:rPr>
                                    <a:rPr lang="en-US" sz="180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T</m:t>
                                  </m:r>
                                </m:sup>
                              </m:sSubSup>
                              <m:sSub>
                                <m:sSubPr>
                                  <m:ctrlPr>
                                    <a:rPr lang="en-US" sz="18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𝐹</m:t>
                                  </m:r>
                                </m:e>
                                <m:sub>
                                  <m:r>
                                    <a:rPr lang="en-US" sz="18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𝐴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sSubSup>
                                <m:sSubSupPr>
                                  <m:ctrlPr>
                                    <a:rPr lang="en-US" sz="18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18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𝜙</m:t>
                                  </m:r>
                                </m:e>
                                <m:sub>
                                  <m:r>
                                    <a:rPr lang="en-US" sz="18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𝐵</m:t>
                                  </m:r>
                                </m:sub>
                                <m:sup>
                                  <m:r>
                                    <m:rPr>
                                      <m:sty m:val="p"/>
                                    </m:rPr>
                                    <a:rPr lang="en-US" sz="180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T</m:t>
                                  </m:r>
                                </m:sup>
                              </m:sSubSup>
                              <m:sSub>
                                <m:sSubPr>
                                  <m:ctrlPr>
                                    <a:rPr lang="en-US" sz="18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𝐹</m:t>
                                  </m:r>
                                </m:e>
                                <m:sub>
                                  <m:r>
                                    <a:rPr lang="en-US" sz="18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𝐵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</m:oMath>
                </a14:m>
                <a:endParaRPr lang="en-US" sz="1800" b="0" dirty="0">
                  <a:solidFill>
                    <a:schemeClr val="accent1"/>
                  </a:solidFill>
                </a:endParaRPr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7D8E3710-D743-10A2-4F38-676404344E9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04264" y="4601291"/>
                <a:ext cx="9710208" cy="2125390"/>
              </a:xfrm>
              <a:prstGeom prst="rect">
                <a:avLst/>
              </a:prstGeom>
              <a:blipFill>
                <a:blip r:embed="rId2"/>
                <a:stretch>
                  <a:fillRect l="-50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TextBox 22">
            <a:extLst>
              <a:ext uri="{FF2B5EF4-FFF2-40B4-BE49-F238E27FC236}">
                <a16:creationId xmlns:a16="http://schemas.microsoft.com/office/drawing/2014/main" id="{2932007B-68B0-4799-86E3-BBECA3DCC498}"/>
              </a:ext>
            </a:extLst>
          </p:cNvPr>
          <p:cNvSpPr txBox="1"/>
          <p:nvPr/>
        </p:nvSpPr>
        <p:spPr>
          <a:xfrm>
            <a:off x="67224" y="4740759"/>
            <a:ext cx="153704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b="1" dirty="0">
                <a:solidFill>
                  <a:schemeClr val="accent1"/>
                </a:solidFill>
                <a:ea typeface="Times New Roman" panose="02020603050405020304" pitchFamily="18" charset="0"/>
                <a:cs typeface="Times New Roman" panose="02020603050405020304" pitchFamily="18" charset="0"/>
              </a:rPr>
              <a:t>Equations:</a:t>
            </a:r>
          </a:p>
        </p:txBody>
      </p:sp>
    </p:spTree>
    <p:extLst>
      <p:ext uri="{BB962C8B-B14F-4D97-AF65-F5344CB8AC3E}">
        <p14:creationId xmlns:p14="http://schemas.microsoft.com/office/powerpoint/2010/main" val="410949505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9F3A3177-8F19-F2FB-1F04-11757A0189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8496" y="3860800"/>
            <a:ext cx="6540500" cy="274320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65A01A8C-FA77-C214-AB5F-771BFDD7652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03" y="3081867"/>
            <a:ext cx="5029200" cy="29718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213DD13-93FE-8337-774F-CE554CBB58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36525"/>
            <a:ext cx="12192000" cy="662781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CMS Results and Takeaways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3A2204-2050-B845-D10D-A62D6FD1CB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32" y="939584"/>
            <a:ext cx="5241668" cy="2049149"/>
          </a:xfrm>
        </p:spPr>
        <p:txBody>
          <a:bodyPr>
            <a:normAutofit/>
          </a:bodyPr>
          <a:lstStyle/>
          <a:p>
            <a:r>
              <a:rPr lang="en-US" dirty="0"/>
              <a:t>How Modal Truncation affects the resultant model is not obvious and depends on exactly what modes are involved and where the constraints are.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95386D6-8E34-9EAE-858D-46E14EA513F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25173" y="939584"/>
            <a:ext cx="6534150" cy="2743200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8B80A79C-0137-FA6E-D32E-5A59CE99DFD7}"/>
              </a:ext>
            </a:extLst>
          </p:cNvPr>
          <p:cNvSpPr/>
          <p:nvPr/>
        </p:nvSpPr>
        <p:spPr>
          <a:xfrm>
            <a:off x="622479" y="3211609"/>
            <a:ext cx="240406" cy="109422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CF9D82D-020C-C3BB-7574-F6CC0452F478}"/>
              </a:ext>
            </a:extLst>
          </p:cNvPr>
          <p:cNvSpPr txBox="1"/>
          <p:nvPr/>
        </p:nvSpPr>
        <p:spPr>
          <a:xfrm>
            <a:off x="2066744" y="6146801"/>
            <a:ext cx="3108960" cy="584775"/>
          </a:xfrm>
          <a:prstGeom prst="rect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/>
              <a:t>Mode 1 Error: </a:t>
            </a:r>
          </a:p>
          <a:p>
            <a:r>
              <a:rPr lang="en-US" sz="1600" dirty="0"/>
              <a:t>Frequency: 1%, Damping: -1%</a:t>
            </a:r>
          </a:p>
        </p:txBody>
      </p:sp>
      <p:sp>
        <p:nvSpPr>
          <p:cNvPr id="17" name="Arrow: Right 16">
            <a:extLst>
              <a:ext uri="{FF2B5EF4-FFF2-40B4-BE49-F238E27FC236}">
                <a16:creationId xmlns:a16="http://schemas.microsoft.com/office/drawing/2014/main" id="{83655E5B-3556-953D-6452-F14A4B364406}"/>
              </a:ext>
            </a:extLst>
          </p:cNvPr>
          <p:cNvSpPr/>
          <p:nvPr/>
        </p:nvSpPr>
        <p:spPr>
          <a:xfrm rot="5400000">
            <a:off x="6938288" y="3585157"/>
            <a:ext cx="520700" cy="347133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Arrow: Right 17">
            <a:extLst>
              <a:ext uri="{FF2B5EF4-FFF2-40B4-BE49-F238E27FC236}">
                <a16:creationId xmlns:a16="http://schemas.microsoft.com/office/drawing/2014/main" id="{8A52973A-5487-E32F-E16A-3859B23B50FC}"/>
              </a:ext>
            </a:extLst>
          </p:cNvPr>
          <p:cNvSpPr/>
          <p:nvPr/>
        </p:nvSpPr>
        <p:spPr>
          <a:xfrm rot="5400000">
            <a:off x="9897345" y="3585157"/>
            <a:ext cx="520700" cy="347133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06159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6" grpId="0" animBg="1"/>
      <p:bldP spid="17" grpId="0" animBg="1"/>
      <p:bldP spid="18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76BD8B2-759D-32A3-B7F1-AFC7A8E525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8496" y="3860800"/>
            <a:ext cx="6540500" cy="274320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65A01A8C-FA77-C214-AB5F-771BFDD7652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03" y="3081867"/>
            <a:ext cx="5029200" cy="29718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213DD13-93FE-8337-774F-CE554CBB58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36525"/>
            <a:ext cx="12192000" cy="662781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CMS Results and Takeaways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3A2204-2050-B845-D10D-A62D6FD1CB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32" y="939584"/>
            <a:ext cx="5241668" cy="2049149"/>
          </a:xfrm>
        </p:spPr>
        <p:txBody>
          <a:bodyPr>
            <a:normAutofit/>
          </a:bodyPr>
          <a:lstStyle/>
          <a:p>
            <a:r>
              <a:rPr lang="en-US" dirty="0"/>
              <a:t>How Modal Truncation affects the resultant model is not obvious and depends on exactly what modes are involved and where the constraints are.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95386D6-8E34-9EAE-858D-46E14EA513F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25173" y="939584"/>
            <a:ext cx="6534150" cy="27432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1C1E902B-8206-9E5D-A848-ED9BA43538D2}"/>
              </a:ext>
            </a:extLst>
          </p:cNvPr>
          <p:cNvSpPr/>
          <p:nvPr/>
        </p:nvSpPr>
        <p:spPr>
          <a:xfrm>
            <a:off x="983087" y="3478309"/>
            <a:ext cx="321972" cy="109422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50A38E0-657C-700E-543A-F5C963DCFF8D}"/>
              </a:ext>
            </a:extLst>
          </p:cNvPr>
          <p:cNvSpPr txBox="1"/>
          <p:nvPr/>
        </p:nvSpPr>
        <p:spPr>
          <a:xfrm>
            <a:off x="2066743" y="6146801"/>
            <a:ext cx="3108960" cy="584775"/>
          </a:xfrm>
          <a:prstGeom prst="rect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/>
              <a:t>Mode 2 Error: </a:t>
            </a:r>
          </a:p>
          <a:p>
            <a:r>
              <a:rPr lang="en-US" sz="1600" dirty="0"/>
              <a:t>Frequency: 14%, Damping: 1.4%</a:t>
            </a:r>
          </a:p>
        </p:txBody>
      </p:sp>
      <p:sp>
        <p:nvSpPr>
          <p:cNvPr id="10" name="Arrow: Right 9">
            <a:extLst>
              <a:ext uri="{FF2B5EF4-FFF2-40B4-BE49-F238E27FC236}">
                <a16:creationId xmlns:a16="http://schemas.microsoft.com/office/drawing/2014/main" id="{FEE5B05B-6D21-BDBD-9521-B90C67B2E91E}"/>
              </a:ext>
            </a:extLst>
          </p:cNvPr>
          <p:cNvSpPr/>
          <p:nvPr/>
        </p:nvSpPr>
        <p:spPr>
          <a:xfrm rot="5400000">
            <a:off x="6938288" y="3585157"/>
            <a:ext cx="520700" cy="347133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Arrow: Right 10">
            <a:extLst>
              <a:ext uri="{FF2B5EF4-FFF2-40B4-BE49-F238E27FC236}">
                <a16:creationId xmlns:a16="http://schemas.microsoft.com/office/drawing/2014/main" id="{9A87C2BD-F222-17CE-446F-F3D7F0D85E09}"/>
              </a:ext>
            </a:extLst>
          </p:cNvPr>
          <p:cNvSpPr/>
          <p:nvPr/>
        </p:nvSpPr>
        <p:spPr>
          <a:xfrm rot="5400000">
            <a:off x="9897345" y="3585157"/>
            <a:ext cx="520700" cy="347133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5FF9C1E8-33D8-94F9-C698-AC24078D0135}"/>
              </a:ext>
            </a:extLst>
          </p:cNvPr>
          <p:cNvSpPr/>
          <p:nvPr/>
        </p:nvSpPr>
        <p:spPr>
          <a:xfrm rot="19872957">
            <a:off x="8585973" y="5406537"/>
            <a:ext cx="1417185" cy="542119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50766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64C36E90-B08F-ADCE-7241-D34E1139CA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8496" y="3860800"/>
            <a:ext cx="6540500" cy="274320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65A01A8C-FA77-C214-AB5F-771BFDD7652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03" y="3081867"/>
            <a:ext cx="5029200" cy="29718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213DD13-93FE-8337-774F-CE554CBB58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36525"/>
            <a:ext cx="12192000" cy="662781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CMS Results and Takeaways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3A2204-2050-B845-D10D-A62D6FD1CB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32" y="939584"/>
            <a:ext cx="5241668" cy="2049149"/>
          </a:xfrm>
        </p:spPr>
        <p:txBody>
          <a:bodyPr>
            <a:normAutofit/>
          </a:bodyPr>
          <a:lstStyle/>
          <a:p>
            <a:r>
              <a:rPr lang="en-US" dirty="0"/>
              <a:t>How Modal Truncation affects the resultant model is not obvious and depends on exactly what modes are involved and where the constraints are.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95386D6-8E34-9EAE-858D-46E14EA513F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25173" y="939584"/>
            <a:ext cx="6534150" cy="27432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963B8AAA-F7C6-41F5-17E9-8347860726F7}"/>
              </a:ext>
            </a:extLst>
          </p:cNvPr>
          <p:cNvSpPr/>
          <p:nvPr/>
        </p:nvSpPr>
        <p:spPr>
          <a:xfrm>
            <a:off x="1687132" y="3610503"/>
            <a:ext cx="802783" cy="109422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EEA0788-3AF4-2AB6-1745-7D3547E357E1}"/>
              </a:ext>
            </a:extLst>
          </p:cNvPr>
          <p:cNvSpPr txBox="1"/>
          <p:nvPr/>
        </p:nvSpPr>
        <p:spPr>
          <a:xfrm>
            <a:off x="2066743" y="6146801"/>
            <a:ext cx="3108960" cy="584775"/>
          </a:xfrm>
          <a:prstGeom prst="rect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/>
              <a:t>Mode 3 Error: </a:t>
            </a:r>
          </a:p>
          <a:p>
            <a:r>
              <a:rPr lang="en-US" sz="1600" dirty="0"/>
              <a:t>Frequency: 26%, Damping: 21%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6BFCF113-3D40-0D9A-EFC2-DF84669E1193}"/>
              </a:ext>
            </a:extLst>
          </p:cNvPr>
          <p:cNvSpPr/>
          <p:nvPr/>
        </p:nvSpPr>
        <p:spPr>
          <a:xfrm rot="1018204">
            <a:off x="8725701" y="5553704"/>
            <a:ext cx="1040047" cy="545983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871584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A284CF1-1CC2-4F6E-CEFB-1CB2A2FF5E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8496" y="3860800"/>
            <a:ext cx="6540500" cy="274320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65A01A8C-FA77-C214-AB5F-771BFDD7652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03" y="3081867"/>
            <a:ext cx="5029200" cy="29718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213DD13-93FE-8337-774F-CE554CBB58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36525"/>
            <a:ext cx="12192000" cy="662781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CMS Results and Takeaways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3A2204-2050-B845-D10D-A62D6FD1CB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32" y="939584"/>
            <a:ext cx="5241668" cy="2049149"/>
          </a:xfrm>
        </p:spPr>
        <p:txBody>
          <a:bodyPr>
            <a:normAutofit/>
          </a:bodyPr>
          <a:lstStyle/>
          <a:p>
            <a:r>
              <a:rPr lang="en-US" dirty="0"/>
              <a:t>How Modal Truncation affects the resultant model is not obvious and depends on exactly what modes are involved and where the constraints are.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95386D6-8E34-9EAE-858D-46E14EA513F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25173" y="939584"/>
            <a:ext cx="6534150" cy="27432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C544E7A-6698-6E2A-6CD6-0FE941E8A883}"/>
              </a:ext>
            </a:extLst>
          </p:cNvPr>
          <p:cNvSpPr/>
          <p:nvPr/>
        </p:nvSpPr>
        <p:spPr>
          <a:xfrm>
            <a:off x="2747494" y="3860800"/>
            <a:ext cx="691166" cy="82281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A661D14-AD2C-DEED-DED5-E2CDA919F9E8}"/>
              </a:ext>
            </a:extLst>
          </p:cNvPr>
          <p:cNvSpPr txBox="1"/>
          <p:nvPr/>
        </p:nvSpPr>
        <p:spPr>
          <a:xfrm>
            <a:off x="2066742" y="6146801"/>
            <a:ext cx="3108960" cy="584775"/>
          </a:xfrm>
          <a:prstGeom prst="rect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/>
              <a:t>Mode 4 Error: </a:t>
            </a:r>
          </a:p>
          <a:p>
            <a:r>
              <a:rPr lang="en-US" sz="1600" dirty="0"/>
              <a:t>Frequency: 2.5%, Damping: 2.4%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22BD11E6-D377-4EB0-20B2-3549B084A998}"/>
              </a:ext>
            </a:extLst>
          </p:cNvPr>
          <p:cNvSpPr/>
          <p:nvPr/>
        </p:nvSpPr>
        <p:spPr>
          <a:xfrm rot="3095067">
            <a:off x="8706392" y="5098953"/>
            <a:ext cx="1040047" cy="395956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AEDD9B22-D9DA-3541-E50F-3568AD000B72}"/>
              </a:ext>
            </a:extLst>
          </p:cNvPr>
          <p:cNvCxnSpPr/>
          <p:nvPr/>
        </p:nvCxnSpPr>
        <p:spPr>
          <a:xfrm flipH="1">
            <a:off x="4702047" y="3957311"/>
            <a:ext cx="387092" cy="224367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1A286B92-AB23-393F-3B1F-F738BC1475F2}"/>
              </a:ext>
            </a:extLst>
          </p:cNvPr>
          <p:cNvSpPr txBox="1"/>
          <p:nvPr/>
        </p:nvSpPr>
        <p:spPr>
          <a:xfrm>
            <a:off x="5077626" y="3554225"/>
            <a:ext cx="387092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4000" b="1" dirty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40692449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E56270C-78FA-794B-CB81-D88A6403EB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8062" y="3860800"/>
            <a:ext cx="6540500" cy="274320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65A01A8C-FA77-C214-AB5F-771BFDD7652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03" y="3081867"/>
            <a:ext cx="5029200" cy="29718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213DD13-93FE-8337-774F-CE554CBB58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36525"/>
            <a:ext cx="12192000" cy="662781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CMS Results and Takeaways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3A2204-2050-B845-D10D-A62D6FD1CB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32" y="939584"/>
            <a:ext cx="5241668" cy="2049149"/>
          </a:xfrm>
        </p:spPr>
        <p:txBody>
          <a:bodyPr>
            <a:normAutofit/>
          </a:bodyPr>
          <a:lstStyle/>
          <a:p>
            <a:r>
              <a:rPr lang="en-US" dirty="0"/>
              <a:t>How Modal Truncation affects the resultant model is not obvious and depends on exactly what modes are involved and where the constraints are.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95386D6-8E34-9EAE-858D-46E14EA513F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25173" y="939584"/>
            <a:ext cx="6534150" cy="27432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839317E-9FFA-7C7B-1F7A-2061B3138E95}"/>
              </a:ext>
            </a:extLst>
          </p:cNvPr>
          <p:cNvSpPr txBox="1"/>
          <p:nvPr/>
        </p:nvSpPr>
        <p:spPr>
          <a:xfrm>
            <a:off x="4434140" y="2551837"/>
            <a:ext cx="3323719" cy="1754326"/>
          </a:xfrm>
          <a:prstGeom prst="rect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Too many modes of the subsystems are required to correctly exhibit the curvature in the truth beam modes. Truncating the modes yields a connection that is too stiff</a:t>
            </a:r>
          </a:p>
        </p:txBody>
      </p:sp>
    </p:spTree>
    <p:extLst>
      <p:ext uri="{BB962C8B-B14F-4D97-AF65-F5344CB8AC3E}">
        <p14:creationId xmlns:p14="http://schemas.microsoft.com/office/powerpoint/2010/main" val="28169657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B39835-F37B-5854-84DA-3D4E381D5D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Next Up – Experimental Considerations!</a:t>
            </a:r>
          </a:p>
        </p:txBody>
      </p:sp>
    </p:spTree>
    <p:extLst>
      <p:ext uri="{BB962C8B-B14F-4D97-AF65-F5344CB8AC3E}">
        <p14:creationId xmlns:p14="http://schemas.microsoft.com/office/powerpoint/2010/main" val="114490196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6280</TotalTime>
  <Words>1083</Words>
  <Application>Microsoft Office PowerPoint</Application>
  <PresentationFormat>Widescreen</PresentationFormat>
  <Paragraphs>164</Paragraphs>
  <Slides>15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1" baseType="lpstr">
      <vt:lpstr>Aptos</vt:lpstr>
      <vt:lpstr>Aptos Display</vt:lpstr>
      <vt:lpstr>Arial</vt:lpstr>
      <vt:lpstr>Cambria Math</vt:lpstr>
      <vt:lpstr>Times New Roman</vt:lpstr>
      <vt:lpstr>Office Theme</vt:lpstr>
      <vt:lpstr>Module 5: Numerical Examples in MATLAB</vt:lpstr>
      <vt:lpstr>Outline of the Substructuring Exercises</vt:lpstr>
      <vt:lpstr>Section 1 &amp; 2 : Beam Subsystems A &amp; B</vt:lpstr>
      <vt:lpstr>Section 1 &amp; 2 : Truth Assembly By Superimposing Matrices</vt:lpstr>
      <vt:lpstr>Section 3: Physical Substructuring</vt:lpstr>
      <vt:lpstr>Physical Substructuring Results &amp; Takeaways</vt:lpstr>
      <vt:lpstr>Section 4: Frequency Based Substructuring</vt:lpstr>
      <vt:lpstr>FBS Results and Takeaways</vt:lpstr>
      <vt:lpstr>Section 5: Component Mode Synthesis</vt:lpstr>
      <vt:lpstr>CMS Results and Takeaways</vt:lpstr>
      <vt:lpstr>CMS Results and Takeaways</vt:lpstr>
      <vt:lpstr>CMS Results and Takeaways</vt:lpstr>
      <vt:lpstr>CMS Results and Takeaways</vt:lpstr>
      <vt:lpstr>CMS Results and Takeaways</vt:lpstr>
      <vt:lpstr>Next Up – Experimental Considerations!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Roettgen, Daniel Robert</dc:creator>
  <cp:lastModifiedBy>Moldenhauer, Benjamin John</cp:lastModifiedBy>
  <cp:revision>56</cp:revision>
  <dcterms:created xsi:type="dcterms:W3CDTF">2025-09-04T01:59:06Z</dcterms:created>
  <dcterms:modified xsi:type="dcterms:W3CDTF">2026-01-16T08:59:30Z</dcterms:modified>
</cp:coreProperties>
</file>