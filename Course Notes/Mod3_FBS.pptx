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37" r:id="rId47"/>
    <p:sldId id="338" r:id="rId48"/>
    <p:sldId id="339" r:id="rId49"/>
    <p:sldId id="340" r:id="rId50"/>
    <p:sldId id="341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3" r:id="rId59"/>
    <p:sldId id="322" r:id="rId60"/>
    <p:sldId id="321" r:id="rId61"/>
    <p:sldId id="320" r:id="rId62"/>
    <p:sldId id="324" r:id="rId63"/>
    <p:sldId id="329" r:id="rId64"/>
    <p:sldId id="330" r:id="rId65"/>
    <p:sldId id="334" r:id="rId66"/>
    <p:sldId id="335" r:id="rId67"/>
    <p:sldId id="336" r:id="rId68"/>
    <p:sldId id="327" r:id="rId69"/>
    <p:sldId id="328" r:id="rId70"/>
    <p:sldId id="325" r:id="rId71"/>
    <p:sldId id="326" r:id="rId72"/>
    <p:sldId id="331" r:id="rId73"/>
    <p:sldId id="332" r:id="rId74"/>
    <p:sldId id="333" r:id="rId75"/>
    <p:sldId id="267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6559" autoAdjust="0"/>
  </p:normalViewPr>
  <p:slideViewPr>
    <p:cSldViewPr snapToGrid="0">
      <p:cViewPr varScale="1">
        <p:scale>
          <a:sx n="91" d="100"/>
          <a:sy n="91" d="100"/>
        </p:scale>
        <p:origin x="4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Titl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BEEFF38-9219-3402-6C1E-B326B8FB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32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B7F7EA-D5FA-48A9-A388-858D3B14DD11}" type="datetimeFigureOut">
              <a:rPr lang="en-US" smtClean="0"/>
              <a:pPr/>
              <a:t>1/14/2026</a:t>
            </a:fld>
            <a:endParaRPr lang="en-US"/>
          </a:p>
        </p:txBody>
      </p:sp>
      <p:pic>
        <p:nvPicPr>
          <p:cNvPr id="1026" name="Picture 2" descr="lnu_wordmark_symbol_eng_rgb">
            <a:extLst>
              <a:ext uri="{FF2B5EF4-FFF2-40B4-BE49-F238E27FC236}">
                <a16:creationId xmlns:a16="http://schemas.microsoft.com/office/drawing/2014/main" id="{C8BBA26D-0448-C98D-A6E4-7D55251344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61" y="5087024"/>
            <a:ext cx="4303240" cy="6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82C91-27D9-7A04-4E8D-33817B2D7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3086" y="537502"/>
            <a:ext cx="6847472" cy="1976513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Module #: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D5900-7FFF-4234-2E19-03956DD10669}"/>
              </a:ext>
            </a:extLst>
          </p:cNvPr>
          <p:cNvSpPr txBox="1"/>
          <p:nvPr userDrawn="1"/>
        </p:nvSpPr>
        <p:spPr>
          <a:xfrm>
            <a:off x="213085" y="2570480"/>
            <a:ext cx="66957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Andreas Linderholt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Linnaeus University 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Department of Mechanical Engineering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Steven Carter</a:t>
            </a:r>
          </a:p>
          <a:p>
            <a:r>
              <a:rPr lang="en-US" b="1" dirty="0">
                <a:solidFill>
                  <a:schemeClr val="bg1"/>
                </a:solidFill>
              </a:rPr>
              <a:t>Benjamin Moldenhauer</a:t>
            </a:r>
          </a:p>
          <a:p>
            <a:r>
              <a:rPr lang="en-US" b="1" dirty="0">
                <a:solidFill>
                  <a:schemeClr val="bg1"/>
                </a:solidFill>
              </a:rPr>
              <a:t>Daniel Roettgen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Sandia National Laboratories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Experimental Structural Dynamics</a:t>
            </a:r>
          </a:p>
          <a:p>
            <a:endParaRPr lang="en-US" dirty="0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55A49339-AFD2-293D-5083-71E4E4D94B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22779" y="297608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58CEA6CC-F9AC-D943-BDC1-48802068B7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22779" y="1838484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AA5A42-DD64-4CDB-4EF6-E5FD7223D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0" b="18728"/>
          <a:stretch/>
        </p:blipFill>
        <p:spPr>
          <a:xfrm>
            <a:off x="5704659" y="5766266"/>
            <a:ext cx="6487341" cy="10917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40B613-3A6D-056E-0592-B710A66DBB4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0065" y="3358941"/>
            <a:ext cx="3151696" cy="17753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AED2AD-3489-102B-FD4A-EF0FD9432851}"/>
              </a:ext>
            </a:extLst>
          </p:cNvPr>
          <p:cNvSpPr txBox="1"/>
          <p:nvPr userDrawn="1"/>
        </p:nvSpPr>
        <p:spPr>
          <a:xfrm>
            <a:off x="324845" y="5393103"/>
            <a:ext cx="4051642" cy="3915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Sandia National Laboratories is a </a:t>
            </a:r>
            <a:r>
              <a:rPr lang="en-US" sz="800" b="0" i="0" u="none" strike="noStrike" dirty="0" err="1">
                <a:solidFill>
                  <a:schemeClr val="bg1"/>
                </a:solidFill>
                <a:effectLst/>
                <a:latin typeface="+mn-lt"/>
              </a:rPr>
              <a:t>multimission</a:t>
            </a: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 laboratory managed and operated by National Technology and Engineering Solutions of Sandia, LLC, a wholly owned subsidiary of Honeywell International Inc., for the U.S. Department of Energy’s National Nuclear Security Administration under contract DE-NA0003525</a:t>
            </a:r>
            <a:endParaRPr lang="en-US" sz="800" b="0" i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210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AEC8612-5184-DD49-1D2B-3D06982D3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11337324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A23D71-51C1-E310-51CE-7DE5CD2D4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0252BF-FA0F-2F01-F0F1-01835876CA31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8683368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3C00C0-AFE4-5CDB-792C-B1FF128BB4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18876" y="876197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02C02E6-8B4E-746B-32D8-FBA12F839E6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18875" y="3339996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30CF3A-888A-B8BC-F56F-72E990F0A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3CC7A-4227-B03B-A890-0B34C7C41C16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57A07-85D3-76EC-2529-437C905C2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0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/ Brea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832" y="1409120"/>
            <a:ext cx="10515600" cy="66278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Transition 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E25C2B-00D8-B739-8A7C-9F78150F5A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5040" y="1841555"/>
            <a:ext cx="6675121" cy="37600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A11BA6-9A4D-41B0-FE13-D42E91F591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2307F5-1B86-EB7B-529A-B5AC3C3702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EA77C6D-65EF-D438-A2B7-B79287A44518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0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AE4A825A-4063-94F5-2E60-E497DE3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C2EE41-D82D-F945-F481-EC0ADFBA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33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7616-A4B2-51B4-6A7C-6CC82304D7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Module 3: </a:t>
            </a:r>
            <a:r>
              <a:rPr lang="en-US" dirty="0"/>
              <a:t>Frequency Based Substructuring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6D44A-C018-0E6F-20C2-3A945BDF39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6B8D1A-23C5-ACFC-ED38-9CA45829D8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7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525E-AF84-91ED-603B-78A46B7A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FBS: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5551-18FF-9CE4-0844-669DDEBB8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General introduction to FBS and the problem form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Deriving the FBS equations with simple math/physics</a:t>
            </a:r>
          </a:p>
          <a:p>
            <a:pPr lvl="1"/>
            <a:r>
              <a:rPr lang="en-US" dirty="0"/>
              <a:t>One-way FBS</a:t>
            </a:r>
          </a:p>
          <a:p>
            <a:pPr lvl="1"/>
            <a:r>
              <a:rPr lang="en-US" dirty="0"/>
              <a:t>Two-way FBS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Deriving the Lagrange multiplier FBS equations</a:t>
            </a:r>
          </a:p>
          <a:p>
            <a:pPr lvl="1"/>
            <a:r>
              <a:rPr lang="en-US" dirty="0"/>
              <a:t>Algebraic derivation</a:t>
            </a:r>
          </a:p>
          <a:p>
            <a:pPr lvl="1"/>
            <a:r>
              <a:rPr lang="en-US" dirty="0"/>
              <a:t>Constrained optimization (akin to </a:t>
            </a:r>
            <a:r>
              <a:rPr lang="en-US" dirty="0" err="1"/>
              <a:t>Lagrangian</a:t>
            </a:r>
            <a:r>
              <a:rPr lang="en-US" dirty="0"/>
              <a:t> mechanics)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028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System for FBS Derivation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7A4D3-68D4-97ED-7D96-57BE0B104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39838"/>
            <a:ext cx="7772400" cy="361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82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System for FBS Derivation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14B2DA-79F6-2621-A8FD-CDCDC2538B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784" b="61451"/>
          <a:stretch>
            <a:fillRect/>
          </a:stretch>
        </p:blipFill>
        <p:spPr>
          <a:xfrm>
            <a:off x="1661159" y="1941006"/>
            <a:ext cx="3203448" cy="13935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B572C5-B8F8-23D5-B113-BCEDF51A6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784" b="61451"/>
          <a:stretch>
            <a:fillRect/>
          </a:stretch>
        </p:blipFill>
        <p:spPr>
          <a:xfrm>
            <a:off x="7560076" y="1941006"/>
            <a:ext cx="3203448" cy="13935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4B8313-14A6-EFE9-6F9A-077DAB8BEC33}"/>
                  </a:ext>
                </a:extLst>
              </p:cNvPr>
              <p:cNvSpPr txBox="1"/>
              <p:nvPr/>
            </p:nvSpPr>
            <p:spPr>
              <a:xfrm>
                <a:off x="1180807" y="3878604"/>
                <a:ext cx="4164153" cy="1070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4B8313-14A6-EFE9-6F9A-077DAB8BE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807" y="3878604"/>
                <a:ext cx="4164153" cy="1070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C5A0AB-1EFF-6DFC-E5AA-9F6895FCA20E}"/>
                  </a:ext>
                </a:extLst>
              </p:cNvPr>
              <p:cNvSpPr txBox="1"/>
              <p:nvPr/>
            </p:nvSpPr>
            <p:spPr>
              <a:xfrm>
                <a:off x="6949913" y="3813426"/>
                <a:ext cx="4397358" cy="12152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C5A0AB-1EFF-6DFC-E5AA-9F6895FCA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913" y="3813426"/>
                <a:ext cx="4397358" cy="1215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DA2309-FF42-A4E7-D4E2-23225ECBD160}"/>
              </a:ext>
            </a:extLst>
          </p:cNvPr>
          <p:cNvCxnSpPr>
            <a:cxnSpLocks/>
          </p:cNvCxnSpPr>
          <p:nvPr/>
        </p:nvCxnSpPr>
        <p:spPr>
          <a:xfrm>
            <a:off x="6096000" y="1341120"/>
            <a:ext cx="0" cy="521208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81B7FEF-E1C3-B972-5A47-18F5250A8EEF}"/>
              </a:ext>
            </a:extLst>
          </p:cNvPr>
          <p:cNvSpPr txBox="1"/>
          <p:nvPr/>
        </p:nvSpPr>
        <p:spPr>
          <a:xfrm>
            <a:off x="1746503" y="1146048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/>
              <a:t>System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8F992-D87E-0C32-8D96-A1074930F615}"/>
              </a:ext>
            </a:extLst>
          </p:cNvPr>
          <p:cNvSpPr txBox="1"/>
          <p:nvPr/>
        </p:nvSpPr>
        <p:spPr>
          <a:xfrm>
            <a:off x="7645420" y="1146048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/>
              <a:t>System B</a:t>
            </a:r>
          </a:p>
        </p:txBody>
      </p:sp>
    </p:spTree>
    <p:extLst>
      <p:ext uri="{BB962C8B-B14F-4D97-AF65-F5344CB8AC3E}">
        <p14:creationId xmlns:p14="http://schemas.microsoft.com/office/powerpoint/2010/main" val="1703288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Assemble the FRFs in Block Diagonal Format</a:t>
            </a:r>
          </a:p>
        </p:txBody>
      </p:sp>
      <p:sp>
        <p:nvSpPr>
          <p:cNvPr id="16" name="Rounded Rectangle 18">
            <a:extLst>
              <a:ext uri="{FF2B5EF4-FFF2-40B4-BE49-F238E27FC236}">
                <a16:creationId xmlns:a16="http://schemas.microsoft.com/office/drawing/2014/main" id="{CB0FA69F-954C-D0DD-2B99-178AF4D0C882}"/>
              </a:ext>
            </a:extLst>
          </p:cNvPr>
          <p:cNvSpPr/>
          <p:nvPr/>
        </p:nvSpPr>
        <p:spPr>
          <a:xfrm>
            <a:off x="6449568" y="4608576"/>
            <a:ext cx="1693455" cy="1060704"/>
          </a:xfrm>
          <a:prstGeom prst="roundRect">
            <a:avLst/>
          </a:prstGeom>
          <a:solidFill>
            <a:srgbClr val="8A2B78">
              <a:lumMod val="20000"/>
              <a:lumOff val="80000"/>
            </a:srgbClr>
          </a:solidFill>
          <a:ln w="12700" cap="flat" cmpd="sng" algn="ctr">
            <a:solidFill>
              <a:srgbClr val="8A2B7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B04D3FB8-6364-B5CB-CA24-3509B27FEF79}"/>
              </a:ext>
            </a:extLst>
          </p:cNvPr>
          <p:cNvSpPr/>
          <p:nvPr/>
        </p:nvSpPr>
        <p:spPr>
          <a:xfrm>
            <a:off x="8540969" y="4608576"/>
            <a:ext cx="487208" cy="1060704"/>
          </a:xfrm>
          <a:prstGeom prst="roundRect">
            <a:avLst/>
          </a:prstGeom>
          <a:solidFill>
            <a:srgbClr val="8A2B78">
              <a:lumMod val="20000"/>
              <a:lumOff val="80000"/>
            </a:srgbClr>
          </a:solidFill>
          <a:ln w="12700" cap="flat" cmpd="sng" algn="ctr">
            <a:solidFill>
              <a:srgbClr val="8A2B7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2A59288C-6BD3-8F75-A881-8E26C803FBF1}"/>
              </a:ext>
            </a:extLst>
          </p:cNvPr>
          <p:cNvSpPr/>
          <p:nvPr/>
        </p:nvSpPr>
        <p:spPr>
          <a:xfrm>
            <a:off x="3115057" y="4608576"/>
            <a:ext cx="451104" cy="1060704"/>
          </a:xfrm>
          <a:prstGeom prst="roundRect">
            <a:avLst/>
          </a:prstGeom>
          <a:solidFill>
            <a:srgbClr val="8A2B78">
              <a:lumMod val="20000"/>
              <a:lumOff val="80000"/>
            </a:srgbClr>
          </a:solidFill>
          <a:ln w="12700" cap="flat" cmpd="sng" algn="ctr">
            <a:solidFill>
              <a:srgbClr val="8A2B7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9" name="Rounded Rectangle 16">
            <a:extLst>
              <a:ext uri="{FF2B5EF4-FFF2-40B4-BE49-F238E27FC236}">
                <a16:creationId xmlns:a16="http://schemas.microsoft.com/office/drawing/2014/main" id="{D37010A3-13D3-DC22-C69E-EB3950125B99}"/>
              </a:ext>
            </a:extLst>
          </p:cNvPr>
          <p:cNvSpPr/>
          <p:nvPr/>
        </p:nvSpPr>
        <p:spPr>
          <a:xfrm>
            <a:off x="8547065" y="3547872"/>
            <a:ext cx="487208" cy="963168"/>
          </a:xfrm>
          <a:prstGeom prst="roundRect">
            <a:avLst/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9C392B18-888B-2B4D-A8B7-4F9896586D30}"/>
              </a:ext>
            </a:extLst>
          </p:cNvPr>
          <p:cNvSpPr/>
          <p:nvPr/>
        </p:nvSpPr>
        <p:spPr>
          <a:xfrm>
            <a:off x="4486655" y="3547872"/>
            <a:ext cx="1645921" cy="963168"/>
          </a:xfrm>
          <a:prstGeom prst="roundRect">
            <a:avLst/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FD82BD23-1273-EBE8-7A85-9D7F6DBE8A1E}"/>
              </a:ext>
            </a:extLst>
          </p:cNvPr>
          <p:cNvSpPr/>
          <p:nvPr/>
        </p:nvSpPr>
        <p:spPr>
          <a:xfrm>
            <a:off x="3121153" y="3547872"/>
            <a:ext cx="451104" cy="963168"/>
          </a:xfrm>
          <a:prstGeom prst="roundRect">
            <a:avLst/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EAEABED1-09CC-05FD-414A-08EBB2ADA070}"/>
              </a:ext>
            </a:extLst>
          </p:cNvPr>
          <p:cNvSpPr/>
          <p:nvPr/>
        </p:nvSpPr>
        <p:spPr>
          <a:xfrm>
            <a:off x="6693881" y="1362834"/>
            <a:ext cx="4397358" cy="1227334"/>
          </a:xfrm>
          <a:prstGeom prst="roundRect">
            <a:avLst/>
          </a:prstGeom>
          <a:solidFill>
            <a:srgbClr val="8A2B78">
              <a:lumMod val="20000"/>
              <a:lumOff val="80000"/>
            </a:srgbClr>
          </a:solidFill>
          <a:ln w="12700" cap="flat" cmpd="sng" algn="ctr">
            <a:solidFill>
              <a:srgbClr val="8A2B7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41552AEA-36E1-5424-7929-3BFC2980F777}"/>
              </a:ext>
            </a:extLst>
          </p:cNvPr>
          <p:cNvSpPr/>
          <p:nvPr/>
        </p:nvSpPr>
        <p:spPr>
          <a:xfrm>
            <a:off x="924774" y="1428012"/>
            <a:ext cx="4164153" cy="1070999"/>
          </a:xfrm>
          <a:prstGeom prst="roundRect">
            <a:avLst/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307D4C-4CDC-61A4-02B4-586ECE9F94AA}"/>
                  </a:ext>
                </a:extLst>
              </p:cNvPr>
              <p:cNvSpPr txBox="1"/>
              <p:nvPr/>
            </p:nvSpPr>
            <p:spPr>
              <a:xfrm>
                <a:off x="924775" y="1428012"/>
                <a:ext cx="4164153" cy="1070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307D4C-4CDC-61A4-02B4-586ECE9F9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75" y="1428012"/>
                <a:ext cx="4164153" cy="1070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00E6963-17C7-C2DE-8C50-95F1E0CCA3C0}"/>
                  </a:ext>
                </a:extLst>
              </p:cNvPr>
              <p:cNvSpPr txBox="1"/>
              <p:nvPr/>
            </p:nvSpPr>
            <p:spPr>
              <a:xfrm>
                <a:off x="6693881" y="1362834"/>
                <a:ext cx="4397358" cy="12152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00E6963-17C7-C2DE-8C50-95F1E0CCA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881" y="1362834"/>
                <a:ext cx="4397358" cy="12152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B0AF5EC-3E16-6152-DEF6-9D248E17D5F9}"/>
                  </a:ext>
                </a:extLst>
              </p:cNvPr>
              <p:cNvSpPr txBox="1"/>
              <p:nvPr/>
            </p:nvSpPr>
            <p:spPr>
              <a:xfrm>
                <a:off x="2780380" y="3487328"/>
                <a:ext cx="6631239" cy="22973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B0AF5EC-3E16-6152-DEF6-9D248E17D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380" y="3487328"/>
                <a:ext cx="6631239" cy="22973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12CC5DA-6225-DCF2-A434-6724E382EC27}"/>
              </a:ext>
            </a:extLst>
          </p:cNvPr>
          <p:cNvCxnSpPr>
            <a:cxnSpLocks/>
          </p:cNvCxnSpPr>
          <p:nvPr/>
        </p:nvCxnSpPr>
        <p:spPr>
          <a:xfrm>
            <a:off x="3377184" y="2732324"/>
            <a:ext cx="609600" cy="600456"/>
          </a:xfrm>
          <a:prstGeom prst="straightConnector1">
            <a:avLst/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5EE6D4B-7F84-AA8A-30CC-1A1E8C30B9A3}"/>
              </a:ext>
            </a:extLst>
          </p:cNvPr>
          <p:cNvCxnSpPr>
            <a:cxnSpLocks/>
          </p:cNvCxnSpPr>
          <p:nvPr/>
        </p:nvCxnSpPr>
        <p:spPr>
          <a:xfrm flipH="1">
            <a:off x="7801883" y="2706926"/>
            <a:ext cx="682279" cy="651253"/>
          </a:xfrm>
          <a:prstGeom prst="straightConnector1">
            <a:avLst/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8822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0992459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Add the Coupling Force at the Interface DOFs</a:t>
            </a:r>
          </a:p>
        </p:txBody>
      </p:sp>
      <p:sp>
        <p:nvSpPr>
          <p:cNvPr id="3" name="Rounded Rectangle 18">
            <a:extLst>
              <a:ext uri="{FF2B5EF4-FFF2-40B4-BE49-F238E27FC236}">
                <a16:creationId xmlns:a16="http://schemas.microsoft.com/office/drawing/2014/main" id="{78CD1C7E-D4FC-EACC-130B-A57F88365647}"/>
              </a:ext>
            </a:extLst>
          </p:cNvPr>
          <p:cNvSpPr/>
          <p:nvPr/>
        </p:nvSpPr>
        <p:spPr>
          <a:xfrm>
            <a:off x="5449824" y="4730496"/>
            <a:ext cx="1693455" cy="1060704"/>
          </a:xfrm>
          <a:prstGeom prst="roundRect">
            <a:avLst/>
          </a:prstGeom>
          <a:solidFill>
            <a:srgbClr val="8A2B78">
              <a:lumMod val="20000"/>
              <a:lumOff val="80000"/>
            </a:srgbClr>
          </a:solidFill>
          <a:ln w="12700" cap="flat" cmpd="sng" algn="ctr">
            <a:solidFill>
              <a:srgbClr val="8A2B7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D41099D-B662-1F23-4DCB-F1BD46E19B76}"/>
              </a:ext>
            </a:extLst>
          </p:cNvPr>
          <p:cNvSpPr/>
          <p:nvPr/>
        </p:nvSpPr>
        <p:spPr>
          <a:xfrm>
            <a:off x="7809449" y="4730496"/>
            <a:ext cx="487208" cy="1060704"/>
          </a:xfrm>
          <a:prstGeom prst="roundRect">
            <a:avLst/>
          </a:prstGeom>
          <a:solidFill>
            <a:srgbClr val="8A2B78">
              <a:lumMod val="20000"/>
              <a:lumOff val="80000"/>
            </a:srgbClr>
          </a:solidFill>
          <a:ln w="12700" cap="flat" cmpd="sng" algn="ctr">
            <a:solidFill>
              <a:srgbClr val="8A2B7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" name="Rounded Rectangle 19">
            <a:extLst>
              <a:ext uri="{FF2B5EF4-FFF2-40B4-BE49-F238E27FC236}">
                <a16:creationId xmlns:a16="http://schemas.microsoft.com/office/drawing/2014/main" id="{E0EF51D8-9C93-2915-7A14-AB91693A084B}"/>
              </a:ext>
            </a:extLst>
          </p:cNvPr>
          <p:cNvSpPr/>
          <p:nvPr/>
        </p:nvSpPr>
        <p:spPr>
          <a:xfrm>
            <a:off x="2115313" y="4730496"/>
            <a:ext cx="451104" cy="1060704"/>
          </a:xfrm>
          <a:prstGeom prst="roundRect">
            <a:avLst/>
          </a:prstGeom>
          <a:solidFill>
            <a:srgbClr val="8A2B78">
              <a:lumMod val="20000"/>
              <a:lumOff val="80000"/>
            </a:srgbClr>
          </a:solidFill>
          <a:ln w="12700" cap="flat" cmpd="sng" algn="ctr">
            <a:solidFill>
              <a:srgbClr val="8A2B7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CC8DADD2-1EE7-3E42-4AB0-2E1BB6DADC4E}"/>
              </a:ext>
            </a:extLst>
          </p:cNvPr>
          <p:cNvSpPr/>
          <p:nvPr/>
        </p:nvSpPr>
        <p:spPr>
          <a:xfrm>
            <a:off x="7815545" y="3669792"/>
            <a:ext cx="487208" cy="963168"/>
          </a:xfrm>
          <a:prstGeom prst="roundRect">
            <a:avLst/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7" name="Rounded Rectangle 15">
            <a:extLst>
              <a:ext uri="{FF2B5EF4-FFF2-40B4-BE49-F238E27FC236}">
                <a16:creationId xmlns:a16="http://schemas.microsoft.com/office/drawing/2014/main" id="{267CB9CB-8031-AF88-8889-CDCC284DD0B8}"/>
              </a:ext>
            </a:extLst>
          </p:cNvPr>
          <p:cNvSpPr/>
          <p:nvPr/>
        </p:nvSpPr>
        <p:spPr>
          <a:xfrm>
            <a:off x="3486911" y="3669792"/>
            <a:ext cx="1645921" cy="963168"/>
          </a:xfrm>
          <a:prstGeom prst="roundRect">
            <a:avLst/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493D31BD-3003-DFDE-6DF5-EC57AB94F561}"/>
              </a:ext>
            </a:extLst>
          </p:cNvPr>
          <p:cNvSpPr/>
          <p:nvPr/>
        </p:nvSpPr>
        <p:spPr>
          <a:xfrm>
            <a:off x="2121409" y="3669792"/>
            <a:ext cx="451104" cy="963168"/>
          </a:xfrm>
          <a:prstGeom prst="roundRect">
            <a:avLst/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6FA7DD3E-0976-469A-44E2-63DBE9F3A84E}"/>
              </a:ext>
            </a:extLst>
          </p:cNvPr>
          <p:cNvSpPr/>
          <p:nvPr/>
        </p:nvSpPr>
        <p:spPr>
          <a:xfrm>
            <a:off x="6693881" y="1362834"/>
            <a:ext cx="4397358" cy="1227334"/>
          </a:xfrm>
          <a:prstGeom prst="roundRect">
            <a:avLst/>
          </a:prstGeom>
          <a:solidFill>
            <a:srgbClr val="8A2B78">
              <a:lumMod val="20000"/>
              <a:lumOff val="80000"/>
            </a:srgbClr>
          </a:solidFill>
          <a:ln w="12700" cap="flat" cmpd="sng" algn="ctr">
            <a:solidFill>
              <a:srgbClr val="8A2B7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F5B5DE30-9B74-B706-9ADD-78C2D2EC21D4}"/>
              </a:ext>
            </a:extLst>
          </p:cNvPr>
          <p:cNvSpPr/>
          <p:nvPr/>
        </p:nvSpPr>
        <p:spPr>
          <a:xfrm>
            <a:off x="924774" y="1428012"/>
            <a:ext cx="4164153" cy="1070999"/>
          </a:xfrm>
          <a:prstGeom prst="roundRect">
            <a:avLst/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384AE62-4C99-4906-FDD0-552E3D61F1C5}"/>
              </a:ext>
            </a:extLst>
          </p:cNvPr>
          <p:cNvSpPr/>
          <p:nvPr/>
        </p:nvSpPr>
        <p:spPr>
          <a:xfrm>
            <a:off x="9058656" y="3718560"/>
            <a:ext cx="999744" cy="1987296"/>
          </a:xfrm>
          <a:prstGeom prst="roundRect">
            <a:avLst/>
          </a:prstGeom>
          <a:solidFill>
            <a:srgbClr val="00ACCF">
              <a:lumMod val="40000"/>
              <a:lumOff val="60000"/>
            </a:srgbClr>
          </a:solidFill>
          <a:ln w="12700" cap="flat" cmpd="sng" algn="ctr">
            <a:solidFill>
              <a:srgbClr val="00ACC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FD4A7A-28AF-9CD7-3A50-733F9FFFAC1E}"/>
                  </a:ext>
                </a:extLst>
              </p:cNvPr>
              <p:cNvSpPr txBox="1"/>
              <p:nvPr/>
            </p:nvSpPr>
            <p:spPr>
              <a:xfrm>
                <a:off x="924775" y="1428012"/>
                <a:ext cx="4164153" cy="1070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FD4A7A-28AF-9CD7-3A50-733F9FFFA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75" y="1428012"/>
                <a:ext cx="4164153" cy="1070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A074DC-87EB-DB07-1841-393AC028FCCF}"/>
                  </a:ext>
                </a:extLst>
              </p:cNvPr>
              <p:cNvSpPr txBox="1"/>
              <p:nvPr/>
            </p:nvSpPr>
            <p:spPr>
              <a:xfrm>
                <a:off x="6693881" y="1362834"/>
                <a:ext cx="4397358" cy="12152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A074DC-87EB-DB07-1841-393AC028F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881" y="1362834"/>
                <a:ext cx="4397358" cy="12152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0FB6F5-7093-3503-CB97-2CE8BBE3644B}"/>
                  </a:ext>
                </a:extLst>
              </p:cNvPr>
              <p:cNvSpPr txBox="1"/>
              <p:nvPr/>
            </p:nvSpPr>
            <p:spPr>
              <a:xfrm>
                <a:off x="1755036" y="3511296"/>
                <a:ext cx="8681928" cy="24682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0FB6F5-7093-3503-CB97-2CE8BBE36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036" y="3511296"/>
                <a:ext cx="8681928" cy="24682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BF0DBDB-E9F2-C8D8-AE86-45D13AFBC755}"/>
              </a:ext>
            </a:extLst>
          </p:cNvPr>
          <p:cNvSpPr txBox="1"/>
          <p:nvPr/>
        </p:nvSpPr>
        <p:spPr>
          <a:xfrm>
            <a:off x="8199120" y="6043049"/>
            <a:ext cx="2718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1B1B1B"/>
                </a:solidFill>
                <a:latin typeface="Open Sans"/>
              </a:rPr>
              <a:t>Coupling Force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81B1B3-922F-E3D8-6033-5E2CF36CD0F1}"/>
              </a:ext>
            </a:extLst>
          </p:cNvPr>
          <p:cNvCxnSpPr>
            <a:stCxn id="15" idx="0"/>
          </p:cNvCxnSpPr>
          <p:nvPr/>
        </p:nvCxnSpPr>
        <p:spPr>
          <a:xfrm flipV="1">
            <a:off x="9558528" y="5705856"/>
            <a:ext cx="0" cy="337193"/>
          </a:xfrm>
          <a:prstGeom prst="straightConnector1">
            <a:avLst/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35EF9D2-BFC7-EE0C-091E-AC8F110C4C6F}"/>
              </a:ext>
            </a:extLst>
          </p:cNvPr>
          <p:cNvCxnSpPr>
            <a:cxnSpLocks/>
          </p:cNvCxnSpPr>
          <p:nvPr/>
        </p:nvCxnSpPr>
        <p:spPr>
          <a:xfrm>
            <a:off x="3377184" y="2732324"/>
            <a:ext cx="609600" cy="600456"/>
          </a:xfrm>
          <a:prstGeom prst="straightConnector1">
            <a:avLst/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CF074F-2EBD-87DB-A013-A515DFD74110}"/>
              </a:ext>
            </a:extLst>
          </p:cNvPr>
          <p:cNvCxnSpPr>
            <a:cxnSpLocks/>
          </p:cNvCxnSpPr>
          <p:nvPr/>
        </p:nvCxnSpPr>
        <p:spPr>
          <a:xfrm flipH="1">
            <a:off x="7801883" y="2706926"/>
            <a:ext cx="682279" cy="651253"/>
          </a:xfrm>
          <a:prstGeom prst="straightConnector1">
            <a:avLst/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14582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856984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Define the Compatibility Condition for the Forces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0E05D9D8-C8C8-207F-79C5-DFCD1FF43186}"/>
              </a:ext>
            </a:extLst>
          </p:cNvPr>
          <p:cNvSpPr/>
          <p:nvPr/>
        </p:nvSpPr>
        <p:spPr>
          <a:xfrm>
            <a:off x="3488203" y="5496806"/>
            <a:ext cx="1889760" cy="655402"/>
          </a:xfrm>
          <a:prstGeom prst="roundRect">
            <a:avLst/>
          </a:prstGeom>
          <a:solidFill>
            <a:srgbClr val="0075A9">
              <a:lumMod val="20000"/>
              <a:lumOff val="80000"/>
            </a:srgbClr>
          </a:solidFill>
          <a:ln w="12700" cap="flat" cmpd="sng" algn="ctr">
            <a:solidFill>
              <a:srgbClr val="0075A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" name="Rounded Rectangle 16">
            <a:extLst>
              <a:ext uri="{FF2B5EF4-FFF2-40B4-BE49-F238E27FC236}">
                <a16:creationId xmlns:a16="http://schemas.microsoft.com/office/drawing/2014/main" id="{4276E861-5221-45EF-59C9-A739AE19E65D}"/>
              </a:ext>
            </a:extLst>
          </p:cNvPr>
          <p:cNvSpPr/>
          <p:nvPr/>
        </p:nvSpPr>
        <p:spPr>
          <a:xfrm>
            <a:off x="3596639" y="4503158"/>
            <a:ext cx="1694689" cy="655402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22B824-B336-20AC-3F7C-0655AEC6544D}"/>
                  </a:ext>
                </a:extLst>
              </p:cNvPr>
              <p:cNvSpPr txBox="1"/>
              <p:nvPr/>
            </p:nvSpPr>
            <p:spPr>
              <a:xfrm>
                <a:off x="1755036" y="1914144"/>
                <a:ext cx="8681928" cy="24682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22B824-B336-20AC-3F7C-0655AEC65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036" y="1914144"/>
                <a:ext cx="8681928" cy="24682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39C66F5-3395-D5D0-6F35-DD0B5DA43FAB}"/>
              </a:ext>
            </a:extLst>
          </p:cNvPr>
          <p:cNvSpPr/>
          <p:nvPr/>
        </p:nvSpPr>
        <p:spPr>
          <a:xfrm>
            <a:off x="613791" y="914400"/>
            <a:ext cx="10964418" cy="865632"/>
          </a:xfrm>
          <a:prstGeom prst="roundRect">
            <a:avLst/>
          </a:prstGeom>
          <a:solidFill>
            <a:srgbClr val="00ACCF"/>
          </a:solidFill>
          <a:ln w="12700" cap="flat" cmpd="sng" algn="ctr">
            <a:solidFill>
              <a:srgbClr val="00ACC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The FRFs are coupled by estimating coupling forces that satisfy interface compatibility and force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592FD9-C6A0-9BA1-53BE-05A9A4FD00C8}"/>
                  </a:ext>
                </a:extLst>
              </p:cNvPr>
              <p:cNvSpPr txBox="1"/>
              <p:nvPr/>
            </p:nvSpPr>
            <p:spPr>
              <a:xfrm>
                <a:off x="3116347" y="5521091"/>
                <a:ext cx="2657856" cy="606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32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592FD9-C6A0-9BA1-53BE-05A9A4FD0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347" y="5521091"/>
                <a:ext cx="2657856" cy="606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DDC86C-DA17-1770-8A08-C90766E0FE8A}"/>
                  </a:ext>
                </a:extLst>
              </p:cNvPr>
              <p:cNvSpPr txBox="1"/>
              <p:nvPr/>
            </p:nvSpPr>
            <p:spPr>
              <a:xfrm>
                <a:off x="3500395" y="4527443"/>
                <a:ext cx="1889760" cy="606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32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DDC86C-DA17-1770-8A08-C90766E0F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395" y="4527443"/>
                <a:ext cx="1889760" cy="606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AA1ADCD-9ED6-FD83-FE03-827A5D8FBB54}"/>
              </a:ext>
            </a:extLst>
          </p:cNvPr>
          <p:cNvSpPr txBox="1"/>
          <p:nvPr/>
        </p:nvSpPr>
        <p:spPr>
          <a:xfrm>
            <a:off x="5955792" y="4630804"/>
            <a:ext cx="4163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1B1B1B"/>
                </a:solidFill>
                <a:latin typeface="Open Sans"/>
              </a:rPr>
              <a:t>Interface Compatibility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CD5A01-1054-DF43-63F2-F4BECAF36C05}"/>
              </a:ext>
            </a:extLst>
          </p:cNvPr>
          <p:cNvCxnSpPr>
            <a:cxnSpLocks/>
          </p:cNvCxnSpPr>
          <p:nvPr/>
        </p:nvCxnSpPr>
        <p:spPr>
          <a:xfrm flipH="1">
            <a:off x="5291328" y="4830859"/>
            <a:ext cx="664464" cy="0"/>
          </a:xfrm>
          <a:prstGeom prst="straightConnector1">
            <a:avLst/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2E58CB-A902-D69B-F1C0-5F763DFB8A79}"/>
              </a:ext>
            </a:extLst>
          </p:cNvPr>
          <p:cNvSpPr txBox="1"/>
          <p:nvPr/>
        </p:nvSpPr>
        <p:spPr>
          <a:xfrm>
            <a:off x="6071616" y="5612260"/>
            <a:ext cx="4163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1B1B1B"/>
                </a:solidFill>
                <a:latin typeface="Open Sans"/>
              </a:rPr>
              <a:t>Force Equilibrium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CC2CBA-8F84-BA4A-22F9-F8039E584946}"/>
              </a:ext>
            </a:extLst>
          </p:cNvPr>
          <p:cNvCxnSpPr>
            <a:cxnSpLocks/>
          </p:cNvCxnSpPr>
          <p:nvPr/>
        </p:nvCxnSpPr>
        <p:spPr>
          <a:xfrm flipH="1">
            <a:off x="5390155" y="5812315"/>
            <a:ext cx="681461" cy="0"/>
          </a:xfrm>
          <a:prstGeom prst="straightConnector1">
            <a:avLst/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39812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856984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Apply the Compatibility Condition to the Equations</a:t>
            </a: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3FA506BB-6DE4-CD1A-11CA-BD97D79865F8}"/>
              </a:ext>
            </a:extLst>
          </p:cNvPr>
          <p:cNvSpPr/>
          <p:nvPr/>
        </p:nvSpPr>
        <p:spPr>
          <a:xfrm>
            <a:off x="8988171" y="3182112"/>
            <a:ext cx="640080" cy="1086432"/>
          </a:xfrm>
          <a:prstGeom prst="roundRect">
            <a:avLst/>
          </a:prstGeom>
          <a:solidFill>
            <a:srgbClr val="0075A9">
              <a:lumMod val="20000"/>
              <a:lumOff val="80000"/>
            </a:srgbClr>
          </a:solidFill>
          <a:ln w="12700" cap="flat" cmpd="sng" algn="ctr">
            <a:solidFill>
              <a:srgbClr val="0075A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C3336ECD-883B-F00F-86AD-035C621F8FF7}"/>
              </a:ext>
            </a:extLst>
          </p:cNvPr>
          <p:cNvSpPr/>
          <p:nvPr/>
        </p:nvSpPr>
        <p:spPr>
          <a:xfrm>
            <a:off x="2573655" y="3182112"/>
            <a:ext cx="658368" cy="1086432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BB4A84-6F43-9F4E-B490-4AD293B5E801}"/>
                  </a:ext>
                </a:extLst>
              </p:cNvPr>
              <p:cNvSpPr txBox="1"/>
              <p:nvPr/>
            </p:nvSpPr>
            <p:spPr>
              <a:xfrm>
                <a:off x="2304481" y="2621280"/>
                <a:ext cx="7583038" cy="22973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  <m:r>
                                        <a:rPr lang="en-US" sz="32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  <m:r>
                                        <a:rPr lang="en-US" sz="32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BB4A84-6F43-9F4E-B490-4AD293B5E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481" y="2621280"/>
                <a:ext cx="7583038" cy="22973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19">
            <a:extLst>
              <a:ext uri="{FF2B5EF4-FFF2-40B4-BE49-F238E27FC236}">
                <a16:creationId xmlns:a16="http://schemas.microsoft.com/office/drawing/2014/main" id="{74D2AB2D-14C6-5CE5-1867-22A1845304A6}"/>
              </a:ext>
            </a:extLst>
          </p:cNvPr>
          <p:cNvSpPr/>
          <p:nvPr/>
        </p:nvSpPr>
        <p:spPr>
          <a:xfrm>
            <a:off x="613791" y="1255776"/>
            <a:ext cx="10964418" cy="865632"/>
          </a:xfrm>
          <a:prstGeom prst="roundRect">
            <a:avLst/>
          </a:prstGeom>
          <a:solidFill>
            <a:srgbClr val="00ACCF"/>
          </a:solidFill>
          <a:ln w="12700" cap="flat" cmpd="sng" algn="ctr">
            <a:solidFill>
              <a:srgbClr val="00ACC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Applying the compatibility condition to the block diagonal FRFs makes it easy to see a path for estimating the coupling force</a:t>
            </a:r>
          </a:p>
        </p:txBody>
      </p:sp>
    </p:spTree>
    <p:extLst>
      <p:ext uri="{BB962C8B-B14F-4D97-AF65-F5344CB8AC3E}">
        <p14:creationId xmlns:p14="http://schemas.microsoft.com/office/powerpoint/2010/main" val="1003436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9835-F37B-5854-84DA-3D4E381D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FBS Derivation</a:t>
            </a:r>
          </a:p>
        </p:txBody>
      </p:sp>
    </p:spTree>
    <p:extLst>
      <p:ext uri="{BB962C8B-B14F-4D97-AF65-F5344CB8AC3E}">
        <p14:creationId xmlns:p14="http://schemas.microsoft.com/office/powerpoint/2010/main" val="1335978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FBS Derivation with Basic Linear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4020-B937-00D5-9707-E3E95D6E7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FBS can be derived with a basic understanding of:</a:t>
            </a:r>
          </a:p>
          <a:p>
            <a:pPr lvl="1"/>
            <a:r>
              <a:rPr lang="en-US" dirty="0"/>
              <a:t>Basic linear algebra</a:t>
            </a:r>
          </a:p>
          <a:p>
            <a:pPr lvl="1"/>
            <a:r>
              <a:rPr lang="en-US" dirty="0"/>
              <a:t>Newton’s second law</a:t>
            </a:r>
          </a:p>
          <a:p>
            <a:pPr lvl="1"/>
            <a:r>
              <a:rPr lang="en-US" dirty="0"/>
              <a:t>Frequency response functions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are two forms of FBS</a:t>
            </a:r>
          </a:p>
          <a:p>
            <a:pPr lvl="1"/>
            <a:r>
              <a:rPr lang="en-US" dirty="0"/>
              <a:t>One-way – Computes FRFs with responses on one component and forces on another component</a:t>
            </a:r>
          </a:p>
          <a:p>
            <a:pPr lvl="1"/>
            <a:r>
              <a:rPr lang="en-US" dirty="0"/>
              <a:t>Two-way – Computes FRFs with responses and forces on all components</a:t>
            </a:r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19422E-18E3-CDA7-0B08-5AB4A6391CEB}"/>
              </a:ext>
            </a:extLst>
          </p:cNvPr>
          <p:cNvSpPr/>
          <p:nvPr/>
        </p:nvSpPr>
        <p:spPr>
          <a:xfrm>
            <a:off x="552450" y="5373487"/>
            <a:ext cx="11087100" cy="609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We’ll first show the derivation with basic math, then introduce LM-FBS</a:t>
            </a:r>
          </a:p>
        </p:txBody>
      </p:sp>
    </p:spTree>
    <p:extLst>
      <p:ext uri="{BB962C8B-B14F-4D97-AF65-F5344CB8AC3E}">
        <p14:creationId xmlns:p14="http://schemas.microsoft.com/office/powerpoint/2010/main" val="221300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906859" cy="662781"/>
          </a:xfrm>
        </p:spPr>
        <p:txBody>
          <a:bodyPr>
            <a:noAutofit/>
          </a:bodyPr>
          <a:lstStyle/>
          <a:p>
            <a:r>
              <a:rPr lang="en-US" sz="3200" dirty="0"/>
              <a:t>Solve the System of Equations to Find the Coupling Force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670AC598-244C-72EE-6AC4-8D916D0346AC}"/>
              </a:ext>
            </a:extLst>
          </p:cNvPr>
          <p:cNvSpPr/>
          <p:nvPr/>
        </p:nvSpPr>
        <p:spPr>
          <a:xfrm>
            <a:off x="2048256" y="2487168"/>
            <a:ext cx="6973824" cy="548640"/>
          </a:xfrm>
          <a:prstGeom prst="roundRect">
            <a:avLst/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C79A1E7E-70DA-4295-63C6-359669A06FAE}"/>
              </a:ext>
            </a:extLst>
          </p:cNvPr>
          <p:cNvSpPr/>
          <p:nvPr/>
        </p:nvSpPr>
        <p:spPr>
          <a:xfrm>
            <a:off x="2048256" y="1943578"/>
            <a:ext cx="6973823" cy="507014"/>
          </a:xfrm>
          <a:prstGeom prst="roundRect">
            <a:avLst/>
          </a:prstGeom>
          <a:solidFill>
            <a:srgbClr val="287968">
              <a:lumMod val="20000"/>
              <a:lumOff val="80000"/>
            </a:srgbClr>
          </a:solidFill>
          <a:ln w="12700" cap="flat" cmpd="sng" algn="ctr">
            <a:solidFill>
              <a:srgbClr val="28796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" name="Rounded Rectangle 15">
            <a:extLst>
              <a:ext uri="{FF2B5EF4-FFF2-40B4-BE49-F238E27FC236}">
                <a16:creationId xmlns:a16="http://schemas.microsoft.com/office/drawing/2014/main" id="{1751A672-1144-298D-24F6-65CC59545AE4}"/>
              </a:ext>
            </a:extLst>
          </p:cNvPr>
          <p:cNvSpPr/>
          <p:nvPr/>
        </p:nvSpPr>
        <p:spPr>
          <a:xfrm>
            <a:off x="6576963" y="4574834"/>
            <a:ext cx="4218432" cy="975360"/>
          </a:xfrm>
          <a:prstGeom prst="roundRect">
            <a:avLst/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75A88AFF-4F93-81D6-61E1-8C793161D1E9}"/>
              </a:ext>
            </a:extLst>
          </p:cNvPr>
          <p:cNvSpPr/>
          <p:nvPr/>
        </p:nvSpPr>
        <p:spPr>
          <a:xfrm>
            <a:off x="1950720" y="4574834"/>
            <a:ext cx="4218432" cy="975360"/>
          </a:xfrm>
          <a:prstGeom prst="roundRect">
            <a:avLst/>
          </a:prstGeom>
          <a:solidFill>
            <a:srgbClr val="287968">
              <a:lumMod val="20000"/>
              <a:lumOff val="80000"/>
            </a:srgbClr>
          </a:solidFill>
          <a:ln w="12700" cap="flat" cmpd="sng" algn="ctr">
            <a:solidFill>
              <a:srgbClr val="28796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AE49D9-A8E1-9FA2-E638-8119B36A4043}"/>
                  </a:ext>
                </a:extLst>
              </p:cNvPr>
              <p:cNvSpPr txBox="1"/>
              <p:nvPr/>
            </p:nvSpPr>
            <p:spPr>
              <a:xfrm>
                <a:off x="352326" y="4740810"/>
                <a:ext cx="11070336" cy="606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sSubSup>
                        <m:sSub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32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AE49D9-A8E1-9FA2-E638-8119B36A4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26" y="4740810"/>
                <a:ext cx="11070336" cy="6068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9">
            <a:extLst>
              <a:ext uri="{FF2B5EF4-FFF2-40B4-BE49-F238E27FC236}">
                <a16:creationId xmlns:a16="http://schemas.microsoft.com/office/drawing/2014/main" id="{535D1F67-F83A-BB05-BB65-64A1344F99FA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H="1">
            <a:off x="4059936" y="2197085"/>
            <a:ext cx="4962143" cy="2377749"/>
          </a:xfrm>
          <a:prstGeom prst="bentConnector4">
            <a:avLst>
              <a:gd name="adj1" fmla="val -4607"/>
              <a:gd name="adj2" fmla="val 75328"/>
            </a:avLst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" name="Elbow Connector 18">
            <a:extLst>
              <a:ext uri="{FF2B5EF4-FFF2-40B4-BE49-F238E27FC236}">
                <a16:creationId xmlns:a16="http://schemas.microsoft.com/office/drawing/2014/main" id="{4CAD57AF-D772-4AAD-4753-38B113D11404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 flipH="1">
            <a:off x="8686179" y="2761488"/>
            <a:ext cx="335901" cy="1813346"/>
          </a:xfrm>
          <a:prstGeom prst="bentConnector4">
            <a:avLst>
              <a:gd name="adj1" fmla="val -151538"/>
              <a:gd name="adj2" fmla="val 81096"/>
            </a:avLst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A0A184-BA29-AF5E-F7DC-1E75F52F46AC}"/>
                  </a:ext>
                </a:extLst>
              </p:cNvPr>
              <p:cNvSpPr txBox="1"/>
              <p:nvPr/>
            </p:nvSpPr>
            <p:spPr>
              <a:xfrm>
                <a:off x="1755036" y="1389888"/>
                <a:ext cx="7583038" cy="22973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  <m:r>
                                        <a:rPr lang="en-US" sz="32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  <m:r>
                                        <a:rPr lang="en-US" sz="32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A0A184-BA29-AF5E-F7DC-1E75F52F4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036" y="1389888"/>
                <a:ext cx="7583038" cy="2297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9394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906859" cy="662781"/>
          </a:xfrm>
        </p:spPr>
        <p:txBody>
          <a:bodyPr>
            <a:noAutofit/>
          </a:bodyPr>
          <a:lstStyle/>
          <a:p>
            <a:r>
              <a:rPr lang="en-US" sz="3200" dirty="0"/>
              <a:t>Solve the System of Equations to Find the Coupling Force</a:t>
            </a:r>
          </a:p>
        </p:txBody>
      </p:sp>
      <p:sp>
        <p:nvSpPr>
          <p:cNvPr id="3" name="Rounded Rectangle 20">
            <a:extLst>
              <a:ext uri="{FF2B5EF4-FFF2-40B4-BE49-F238E27FC236}">
                <a16:creationId xmlns:a16="http://schemas.microsoft.com/office/drawing/2014/main" id="{AB9D16C7-A556-A17A-60CD-0FBCB93BF22F}"/>
              </a:ext>
            </a:extLst>
          </p:cNvPr>
          <p:cNvSpPr/>
          <p:nvPr/>
        </p:nvSpPr>
        <p:spPr>
          <a:xfrm>
            <a:off x="158497" y="3767774"/>
            <a:ext cx="11873260" cy="2019912"/>
          </a:xfrm>
          <a:prstGeom prst="roundRect">
            <a:avLst>
              <a:gd name="adj" fmla="val 7613"/>
            </a:avLst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" name="Rounded Rectangle 19">
            <a:extLst>
              <a:ext uri="{FF2B5EF4-FFF2-40B4-BE49-F238E27FC236}">
                <a16:creationId xmlns:a16="http://schemas.microsoft.com/office/drawing/2014/main" id="{087D9EDB-B46A-9C42-13F9-18320485A753}"/>
              </a:ext>
            </a:extLst>
          </p:cNvPr>
          <p:cNvSpPr/>
          <p:nvPr/>
        </p:nvSpPr>
        <p:spPr>
          <a:xfrm>
            <a:off x="158496" y="1695467"/>
            <a:ext cx="11873261" cy="2019912"/>
          </a:xfrm>
          <a:prstGeom prst="roundRect">
            <a:avLst>
              <a:gd name="adj" fmla="val 6378"/>
            </a:avLst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2D17E4C9-D7C5-F9CF-945E-E653459867BE}"/>
              </a:ext>
            </a:extLst>
          </p:cNvPr>
          <p:cNvSpPr/>
          <p:nvPr/>
        </p:nvSpPr>
        <p:spPr>
          <a:xfrm>
            <a:off x="158496" y="836597"/>
            <a:ext cx="11873261" cy="810680"/>
          </a:xfrm>
          <a:prstGeom prst="roundRect">
            <a:avLst/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FBDD40-D269-5B52-F53E-628208E616D9}"/>
                  </a:ext>
                </a:extLst>
              </p:cNvPr>
              <p:cNvSpPr txBox="1"/>
              <p:nvPr/>
            </p:nvSpPr>
            <p:spPr>
              <a:xfrm>
                <a:off x="3860826" y="970709"/>
                <a:ext cx="8313702" cy="542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FBDD40-D269-5B52-F53E-628208E61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826" y="970709"/>
                <a:ext cx="8313702" cy="5424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1E50EB-AE47-E1B5-DAD9-7B7B9AABFD51}"/>
                  </a:ext>
                </a:extLst>
              </p:cNvPr>
              <p:cNvSpPr txBox="1"/>
              <p:nvPr/>
            </p:nvSpPr>
            <p:spPr>
              <a:xfrm>
                <a:off x="4182557" y="1733939"/>
                <a:ext cx="7670241" cy="1942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  <m:sup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  <m:sup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  <m:sup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34</m:t>
                                        </m:r>
                                      </m:sub>
                                      <m:sup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8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  <m:sup>
                                        <m:r>
                                          <a:rPr lang="en-US" sz="28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sz="2800" i="1" smtClean="0">
                        <a:solidFill>
                          <a:srgbClr val="1B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8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sub>
                          <m:sup>
                            <m:r>
                              <a:rPr lang="en-US" sz="28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bSup>
                        <m:r>
                          <a:rPr lang="en-US" sz="28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8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en-US" sz="28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800" dirty="0">
                    <a:solidFill>
                      <a:srgbClr val="1B1B1B"/>
                    </a:solidFill>
                    <a:latin typeface="Open Sans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8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endParaRPr lang="en-US" sz="28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1E50EB-AE47-E1B5-DAD9-7B7B9AABF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557" y="1733939"/>
                <a:ext cx="7670241" cy="1942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59C11F-56EF-C5C6-F2B4-0D49F9980508}"/>
                  </a:ext>
                </a:extLst>
              </p:cNvPr>
              <p:cNvSpPr txBox="1"/>
              <p:nvPr/>
            </p:nvSpPr>
            <p:spPr>
              <a:xfrm>
                <a:off x="4003597" y="3767774"/>
                <a:ext cx="8028160" cy="2019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59C11F-56EF-C5C6-F2B4-0D49F9980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597" y="3767774"/>
                <a:ext cx="8028160" cy="20199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78C3171-88AD-A609-A49D-62F315B75EC4}"/>
              </a:ext>
            </a:extLst>
          </p:cNvPr>
          <p:cNvSpPr txBox="1"/>
          <p:nvPr/>
        </p:nvSpPr>
        <p:spPr>
          <a:xfrm>
            <a:off x="766854" y="918772"/>
            <a:ext cx="3093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Gather external and coupling forces together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F1454-7501-440C-54B2-47D14C64ED9A}"/>
              </a:ext>
            </a:extLst>
          </p:cNvPr>
          <p:cNvSpPr txBox="1"/>
          <p:nvPr/>
        </p:nvSpPr>
        <p:spPr>
          <a:xfrm>
            <a:off x="766854" y="2382258"/>
            <a:ext cx="2427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Convert back to matrix notation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E4FF93-512D-6885-B139-FD7E5916B7C8}"/>
              </a:ext>
            </a:extLst>
          </p:cNvPr>
          <p:cNvSpPr txBox="1"/>
          <p:nvPr/>
        </p:nvSpPr>
        <p:spPr>
          <a:xfrm>
            <a:off x="766854" y="4454565"/>
            <a:ext cx="2427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Solve for the coupling force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7CE05-442F-08E0-D7F6-E2D8AD9E56D4}"/>
              </a:ext>
            </a:extLst>
          </p:cNvPr>
          <p:cNvSpPr txBox="1"/>
          <p:nvPr/>
        </p:nvSpPr>
        <p:spPr>
          <a:xfrm>
            <a:off x="114582" y="949550"/>
            <a:ext cx="792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1.)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9FF546-A67F-7BF4-74E6-06F2538429E1}"/>
              </a:ext>
            </a:extLst>
          </p:cNvPr>
          <p:cNvSpPr txBox="1"/>
          <p:nvPr/>
        </p:nvSpPr>
        <p:spPr>
          <a:xfrm>
            <a:off x="114582" y="2413036"/>
            <a:ext cx="792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2.)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C25CDD-D7B8-9D7A-EB20-155FA535A309}"/>
              </a:ext>
            </a:extLst>
          </p:cNvPr>
          <p:cNvSpPr txBox="1"/>
          <p:nvPr/>
        </p:nvSpPr>
        <p:spPr>
          <a:xfrm>
            <a:off x="114582" y="4485343"/>
            <a:ext cx="792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3.)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822B37-7B94-3409-21D6-EFBE73EBE030}"/>
              </a:ext>
            </a:extLst>
          </p:cNvPr>
          <p:cNvSpPr/>
          <p:nvPr/>
        </p:nvSpPr>
        <p:spPr>
          <a:xfrm>
            <a:off x="1535085" y="6005253"/>
            <a:ext cx="9820102" cy="609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coupling force is all we need to solve the substructuring problem</a:t>
            </a:r>
          </a:p>
        </p:txBody>
      </p:sp>
    </p:spTree>
    <p:extLst>
      <p:ext uri="{BB962C8B-B14F-4D97-AF65-F5344CB8AC3E}">
        <p14:creationId xmlns:p14="http://schemas.microsoft.com/office/powerpoint/2010/main" val="58692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0389-CB57-EF67-DB85-17CF0506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One-way FBS</a:t>
            </a:r>
          </a:p>
        </p:txBody>
      </p:sp>
    </p:spTree>
    <p:extLst>
      <p:ext uri="{BB962C8B-B14F-4D97-AF65-F5344CB8AC3E}">
        <p14:creationId xmlns:p14="http://schemas.microsoft.com/office/powerpoint/2010/main" val="3540602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One-way FBS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1F8C9-0686-F184-7905-EB31569396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693323"/>
            <a:ext cx="7772400" cy="1343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AF8541-F6BF-B66F-DF03-7E831A41D615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/>
              <a:t>System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9C09E-B9C9-4DA9-EBC6-E88DF4765441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/>
              <a:t>System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11E2EC-41D7-93F7-E9F4-12EF21098016}"/>
              </a:ext>
            </a:extLst>
          </p:cNvPr>
          <p:cNvCxnSpPr>
            <a:cxnSpLocks/>
          </p:cNvCxnSpPr>
          <p:nvPr/>
        </p:nvCxnSpPr>
        <p:spPr>
          <a:xfrm flipV="1">
            <a:off x="6120384" y="2351947"/>
            <a:ext cx="0" cy="1962912"/>
          </a:xfrm>
          <a:prstGeom prst="line">
            <a:avLst/>
          </a:prstGeom>
          <a:ln w="762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11BCF59-53A3-0F99-0D3E-F3A0917811A5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One-way FBS is only concerned with responses on system B due to forces on system A and is particularly useful in TPA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4C78C1-8CBA-1044-F16C-0C4915BA6A03}"/>
              </a:ext>
            </a:extLst>
          </p:cNvPr>
          <p:cNvCxnSpPr/>
          <p:nvPr/>
        </p:nvCxnSpPr>
        <p:spPr>
          <a:xfrm>
            <a:off x="4419600" y="3742978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3C9C70-7E54-B412-E89E-B977CCB58380}"/>
              </a:ext>
            </a:extLst>
          </p:cNvPr>
          <p:cNvCxnSpPr/>
          <p:nvPr/>
        </p:nvCxnSpPr>
        <p:spPr>
          <a:xfrm>
            <a:off x="4419600" y="4466878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C78DA1-E414-710A-9FF9-559F77F380D2}"/>
              </a:ext>
            </a:extLst>
          </p:cNvPr>
          <p:cNvCxnSpPr/>
          <p:nvPr/>
        </p:nvCxnSpPr>
        <p:spPr>
          <a:xfrm>
            <a:off x="5732663" y="3742978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F9667B-13DD-4489-C879-D3834691437E}"/>
              </a:ext>
            </a:extLst>
          </p:cNvPr>
          <p:cNvCxnSpPr/>
          <p:nvPr/>
        </p:nvCxnSpPr>
        <p:spPr>
          <a:xfrm>
            <a:off x="5732663" y="4466878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C244C3-C693-7C0A-3722-5B1E4B121442}"/>
              </a:ext>
            </a:extLst>
          </p:cNvPr>
          <p:cNvCxnSpPr/>
          <p:nvPr/>
        </p:nvCxnSpPr>
        <p:spPr>
          <a:xfrm>
            <a:off x="6524625" y="3742978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CC1D28-81AA-F4E8-7182-7F4F36AC6B44}"/>
              </a:ext>
            </a:extLst>
          </p:cNvPr>
          <p:cNvCxnSpPr/>
          <p:nvPr/>
        </p:nvCxnSpPr>
        <p:spPr>
          <a:xfrm>
            <a:off x="6524625" y="4466878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324B14-6972-28E2-95A4-EFABB047483C}"/>
              </a:ext>
            </a:extLst>
          </p:cNvPr>
          <p:cNvCxnSpPr/>
          <p:nvPr/>
        </p:nvCxnSpPr>
        <p:spPr>
          <a:xfrm>
            <a:off x="7857084" y="3749333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C6349E-62CF-EE91-1C57-41A775D67C74}"/>
              </a:ext>
            </a:extLst>
          </p:cNvPr>
          <p:cNvCxnSpPr/>
          <p:nvPr/>
        </p:nvCxnSpPr>
        <p:spPr>
          <a:xfrm>
            <a:off x="7857084" y="4473233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78C745-8E3E-5CE8-583F-0070EA2CCAF7}"/>
                  </a:ext>
                </a:extLst>
              </p:cNvPr>
              <p:cNvSpPr txBox="1"/>
              <p:nvPr/>
            </p:nvSpPr>
            <p:spPr>
              <a:xfrm>
                <a:off x="4697325" y="4475092"/>
                <a:ext cx="477630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78C745-8E3E-5CE8-583F-0070EA2CC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325" y="4475092"/>
                <a:ext cx="477630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2104EE-8001-E7A4-4963-53DBEAA1660E}"/>
                  </a:ext>
                </a:extLst>
              </p:cNvPr>
              <p:cNvSpPr txBox="1"/>
              <p:nvPr/>
            </p:nvSpPr>
            <p:spPr>
              <a:xfrm>
                <a:off x="5894249" y="4475092"/>
                <a:ext cx="477630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2104EE-8001-E7A4-4963-53DBEAA16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249" y="4475092"/>
                <a:ext cx="477630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B57DFA-D177-80E4-B181-3126620BE2A2}"/>
                  </a:ext>
                </a:extLst>
              </p:cNvPr>
              <p:cNvSpPr txBox="1"/>
              <p:nvPr/>
            </p:nvSpPr>
            <p:spPr>
              <a:xfrm>
                <a:off x="6789711" y="4465474"/>
                <a:ext cx="463204" cy="527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B57DFA-D177-80E4-B181-3126620BE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711" y="4465474"/>
                <a:ext cx="463204" cy="5270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89121C2-DB8C-D3C4-35C7-6A83D04D109D}"/>
                  </a:ext>
                </a:extLst>
              </p:cNvPr>
              <p:cNvSpPr txBox="1"/>
              <p:nvPr/>
            </p:nvSpPr>
            <p:spPr>
              <a:xfrm>
                <a:off x="8152358" y="4467461"/>
                <a:ext cx="463204" cy="5230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89121C2-DB8C-D3C4-35C7-6A83D04D1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358" y="4467461"/>
                <a:ext cx="463204" cy="5230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387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One-way FBS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11BCF59-53A3-0F99-0D3E-F3A0917811A5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One-way FBS is only concerned with responses on system B due to forces on system A and is particularly useful in TPA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F77AB0-B664-5521-FE9C-BDEC043BB639}"/>
                  </a:ext>
                </a:extLst>
              </p:cNvPr>
              <p:cNvSpPr txBox="1"/>
              <p:nvPr/>
            </p:nvSpPr>
            <p:spPr>
              <a:xfrm>
                <a:off x="3452295" y="4714760"/>
                <a:ext cx="5287409" cy="1176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  <m:r>
                                  <a:rPr lang="en-US" sz="32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F77AB0-B664-5521-FE9C-BDEC043BB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295" y="4714760"/>
                <a:ext cx="5287409" cy="1176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06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One-way FBS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11BCF59-53A3-0F99-0D3E-F3A0917811A5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One-way FBS is only concerned with responses on system B due to forces on system A and is particularly useful in TPA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F77AB0-B664-5521-FE9C-BDEC043BB639}"/>
                  </a:ext>
                </a:extLst>
              </p:cNvPr>
              <p:cNvSpPr txBox="1"/>
              <p:nvPr/>
            </p:nvSpPr>
            <p:spPr>
              <a:xfrm>
                <a:off x="3452295" y="4714760"/>
                <a:ext cx="5287409" cy="1176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  <m:r>
                                  <a:rPr lang="en-US" sz="32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F77AB0-B664-5521-FE9C-BDEC043BB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295" y="4714760"/>
                <a:ext cx="5287409" cy="1176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050105-A8D1-0A4F-E7EF-164A36F90732}"/>
              </a:ext>
            </a:extLst>
          </p:cNvPr>
          <p:cNvCxnSpPr/>
          <p:nvPr/>
        </p:nvCxnSpPr>
        <p:spPr>
          <a:xfrm flipV="1">
            <a:off x="6059423" y="4787912"/>
            <a:ext cx="487680" cy="105205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8C2870-40DD-DBF9-42DB-7A790DD6EE41}"/>
              </a:ext>
            </a:extLst>
          </p:cNvPr>
          <p:cNvCxnSpPr>
            <a:cxnSpLocks/>
          </p:cNvCxnSpPr>
          <p:nvPr/>
        </p:nvCxnSpPr>
        <p:spPr>
          <a:xfrm flipH="1" flipV="1">
            <a:off x="6062471" y="4777314"/>
            <a:ext cx="484632" cy="105156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66779F-03F8-E700-C2F4-0D099F51E96A}"/>
              </a:ext>
            </a:extLst>
          </p:cNvPr>
          <p:cNvCxnSpPr>
            <a:cxnSpLocks/>
          </p:cNvCxnSpPr>
          <p:nvPr/>
        </p:nvCxnSpPr>
        <p:spPr>
          <a:xfrm flipH="1" flipV="1">
            <a:off x="7491496" y="5359482"/>
            <a:ext cx="456712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4ADDEA-DF84-9FB9-80C3-88410AAFC8A2}"/>
              </a:ext>
            </a:extLst>
          </p:cNvPr>
          <p:cNvCxnSpPr>
            <a:cxnSpLocks/>
          </p:cNvCxnSpPr>
          <p:nvPr/>
        </p:nvCxnSpPr>
        <p:spPr>
          <a:xfrm flipV="1">
            <a:off x="7491252" y="5359482"/>
            <a:ext cx="457200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BE653A-16DF-7220-1036-5E49630F3ED8}"/>
              </a:ext>
            </a:extLst>
          </p:cNvPr>
          <p:cNvCxnSpPr>
            <a:cxnSpLocks/>
          </p:cNvCxnSpPr>
          <p:nvPr/>
        </p:nvCxnSpPr>
        <p:spPr>
          <a:xfrm flipH="1" flipV="1">
            <a:off x="7056953" y="4807545"/>
            <a:ext cx="456712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F5456E-C21C-B148-3480-276CC926A1B6}"/>
              </a:ext>
            </a:extLst>
          </p:cNvPr>
          <p:cNvCxnSpPr>
            <a:cxnSpLocks/>
          </p:cNvCxnSpPr>
          <p:nvPr/>
        </p:nvCxnSpPr>
        <p:spPr>
          <a:xfrm flipV="1">
            <a:off x="7056709" y="4807545"/>
            <a:ext cx="457200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397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One-way FBS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11BCF59-53A3-0F99-0D3E-F3A0917811A5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One-way FBS is only concerned with responses on system B due to forces on system A and is particularly useful in TPA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2268CF-23F4-9541-C8A8-14DFC29CF912}"/>
                  </a:ext>
                </a:extLst>
              </p:cNvPr>
              <p:cNvSpPr txBox="1"/>
              <p:nvPr/>
            </p:nvSpPr>
            <p:spPr>
              <a:xfrm>
                <a:off x="4606923" y="4714760"/>
                <a:ext cx="3026919" cy="1176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sSubSup>
                        <m:sSub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3200" dirty="0" err="1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2268CF-23F4-9541-C8A8-14DFC29CF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923" y="4714760"/>
                <a:ext cx="3026919" cy="1176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532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One-way FBS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11BCF59-53A3-0F99-0D3E-F3A0917811A5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One-way FBS is only concerned with responses on system B due to forces on system A and is particularly useful in TPA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C50DAD-3D6A-397D-DC73-B40D3560FE39}"/>
                  </a:ext>
                </a:extLst>
              </p:cNvPr>
              <p:cNvSpPr txBox="1"/>
              <p:nvPr/>
            </p:nvSpPr>
            <p:spPr>
              <a:xfrm>
                <a:off x="805819" y="4158304"/>
                <a:ext cx="10629128" cy="22973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C50DAD-3D6A-397D-DC73-B40D3560F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19" y="4158304"/>
                <a:ext cx="10629128" cy="2297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901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One-way FBS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11BCF59-53A3-0F99-0D3E-F3A0917811A5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One-way FBS is only concerned with responses on system B due to forces on system A and is particularly useful in TPA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0C43E3-DFB6-7828-CDA5-8F36D5B968DA}"/>
              </a:ext>
            </a:extLst>
          </p:cNvPr>
          <p:cNvSpPr/>
          <p:nvPr/>
        </p:nvSpPr>
        <p:spPr>
          <a:xfrm>
            <a:off x="10542679" y="5262562"/>
            <a:ext cx="566936" cy="561974"/>
          </a:xfrm>
          <a:prstGeom prst="roundRect">
            <a:avLst/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0CF6DD-E49C-B8FA-19B3-AF588FE803CC}"/>
              </a:ext>
            </a:extLst>
          </p:cNvPr>
          <p:cNvSpPr/>
          <p:nvPr/>
        </p:nvSpPr>
        <p:spPr>
          <a:xfrm>
            <a:off x="10542679" y="5859112"/>
            <a:ext cx="566936" cy="561975"/>
          </a:xfrm>
          <a:prstGeom prst="roundRect">
            <a:avLst/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371EBB-0DD3-AB39-E49B-F55F51E197DF}"/>
              </a:ext>
            </a:extLst>
          </p:cNvPr>
          <p:cNvSpPr/>
          <p:nvPr/>
        </p:nvSpPr>
        <p:spPr>
          <a:xfrm>
            <a:off x="7848600" y="5000625"/>
            <a:ext cx="971550" cy="561975"/>
          </a:xfrm>
          <a:prstGeom prst="roundRect">
            <a:avLst/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469C0F5-451E-1A6B-1B9B-5A83B52E15F0}"/>
              </a:ext>
            </a:extLst>
          </p:cNvPr>
          <p:cNvSpPr/>
          <p:nvPr/>
        </p:nvSpPr>
        <p:spPr>
          <a:xfrm>
            <a:off x="9155998" y="5000624"/>
            <a:ext cx="971550" cy="561975"/>
          </a:xfrm>
          <a:prstGeom prst="roundRect">
            <a:avLst/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85C374-74AE-D97D-EEB6-D11E4D695E7D}"/>
                  </a:ext>
                </a:extLst>
              </p:cNvPr>
              <p:cNvSpPr txBox="1"/>
              <p:nvPr/>
            </p:nvSpPr>
            <p:spPr>
              <a:xfrm>
                <a:off x="805819" y="4158304"/>
                <a:ext cx="10629128" cy="22973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32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32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85C374-74AE-D97D-EEB6-D11E4D695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19" y="4158304"/>
                <a:ext cx="10629128" cy="2297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8284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One-way FBS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11BCF59-53A3-0F99-0D3E-F3A0917811A5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One-way FBS is only concerned with responses on system B due to forces on system A and is particularly useful in TPA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FF494E-F10D-2E50-23D2-01CDC48F8552}"/>
                  </a:ext>
                </a:extLst>
              </p:cNvPr>
              <p:cNvSpPr txBox="1"/>
              <p:nvPr/>
            </p:nvSpPr>
            <p:spPr>
              <a:xfrm>
                <a:off x="805819" y="4158304"/>
                <a:ext cx="10629128" cy="22973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FF494E-F10D-2E50-23D2-01CDC48F8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19" y="4158304"/>
                <a:ext cx="10629128" cy="2297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C8701F-D64E-1564-B4D3-88EC9DEF7E86}"/>
              </a:ext>
            </a:extLst>
          </p:cNvPr>
          <p:cNvCxnSpPr>
            <a:cxnSpLocks/>
          </p:cNvCxnSpPr>
          <p:nvPr/>
        </p:nvCxnSpPr>
        <p:spPr>
          <a:xfrm flipH="1" flipV="1">
            <a:off x="8196316" y="5053584"/>
            <a:ext cx="456712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AACCDF-498A-1A59-7901-9C351B41C92D}"/>
              </a:ext>
            </a:extLst>
          </p:cNvPr>
          <p:cNvCxnSpPr>
            <a:cxnSpLocks/>
          </p:cNvCxnSpPr>
          <p:nvPr/>
        </p:nvCxnSpPr>
        <p:spPr>
          <a:xfrm flipV="1">
            <a:off x="8196072" y="5053584"/>
            <a:ext cx="457200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E4702A-F8A0-4C69-5880-46D4CF71EE56}"/>
              </a:ext>
            </a:extLst>
          </p:cNvPr>
          <p:cNvCxnSpPr>
            <a:cxnSpLocks/>
          </p:cNvCxnSpPr>
          <p:nvPr/>
        </p:nvCxnSpPr>
        <p:spPr>
          <a:xfrm flipH="1" flipV="1">
            <a:off x="9527560" y="5042490"/>
            <a:ext cx="456712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6ECB45-5EB9-BADA-38BF-B1781C7EBE6B}"/>
              </a:ext>
            </a:extLst>
          </p:cNvPr>
          <p:cNvCxnSpPr>
            <a:cxnSpLocks/>
          </p:cNvCxnSpPr>
          <p:nvPr/>
        </p:nvCxnSpPr>
        <p:spPr>
          <a:xfrm flipV="1">
            <a:off x="9527316" y="5042490"/>
            <a:ext cx="457200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568FA1-D9AC-1985-6891-20B575B822C6}"/>
              </a:ext>
            </a:extLst>
          </p:cNvPr>
          <p:cNvCxnSpPr>
            <a:cxnSpLocks/>
          </p:cNvCxnSpPr>
          <p:nvPr/>
        </p:nvCxnSpPr>
        <p:spPr>
          <a:xfrm flipH="1" flipV="1">
            <a:off x="10564923" y="5340096"/>
            <a:ext cx="456712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194C1F-5FBF-0855-DF4D-DBB97A4E1783}"/>
              </a:ext>
            </a:extLst>
          </p:cNvPr>
          <p:cNvCxnSpPr>
            <a:cxnSpLocks/>
          </p:cNvCxnSpPr>
          <p:nvPr/>
        </p:nvCxnSpPr>
        <p:spPr>
          <a:xfrm flipV="1">
            <a:off x="10564679" y="5340096"/>
            <a:ext cx="457200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9BF0B4-41C3-DF6F-18EA-792621E6E1D9}"/>
              </a:ext>
            </a:extLst>
          </p:cNvPr>
          <p:cNvCxnSpPr>
            <a:cxnSpLocks/>
          </p:cNvCxnSpPr>
          <p:nvPr/>
        </p:nvCxnSpPr>
        <p:spPr>
          <a:xfrm flipH="1" flipV="1">
            <a:off x="10571019" y="5882640"/>
            <a:ext cx="456712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8B732F-CBEF-DABA-AA62-10DC0C3EBD5A}"/>
              </a:ext>
            </a:extLst>
          </p:cNvPr>
          <p:cNvCxnSpPr>
            <a:cxnSpLocks/>
          </p:cNvCxnSpPr>
          <p:nvPr/>
        </p:nvCxnSpPr>
        <p:spPr>
          <a:xfrm flipV="1">
            <a:off x="10570775" y="5882640"/>
            <a:ext cx="457200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900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One-way FBS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11BCF59-53A3-0F99-0D3E-F3A0917811A5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One-way FBS is only concerned with responses on system B due to forces on system A and is particularly useful in TPA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3766B0-579B-0316-7EDE-1646B8AB81AB}"/>
                  </a:ext>
                </a:extLst>
              </p:cNvPr>
              <p:cNvSpPr txBox="1"/>
              <p:nvPr/>
            </p:nvSpPr>
            <p:spPr>
              <a:xfrm>
                <a:off x="2189787" y="4714760"/>
                <a:ext cx="7861191" cy="1176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3766B0-579B-0316-7EDE-1646B8AB8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787" y="4714760"/>
                <a:ext cx="7861191" cy="1176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994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One-way FBS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11BCF59-53A3-0F99-0D3E-F3A0917811A5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One-way FBS is only concerned with responses on system B due to forces on system A and is particularly useful in TPA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4" name="Rounded Rectangle 10">
            <a:extLst>
              <a:ext uri="{FF2B5EF4-FFF2-40B4-BE49-F238E27FC236}">
                <a16:creationId xmlns:a16="http://schemas.microsoft.com/office/drawing/2014/main" id="{278050F8-DA0C-404B-8F1F-DD4DF9596D35}"/>
              </a:ext>
            </a:extLst>
          </p:cNvPr>
          <p:cNvSpPr/>
          <p:nvPr/>
        </p:nvSpPr>
        <p:spPr>
          <a:xfrm>
            <a:off x="3695700" y="4680624"/>
            <a:ext cx="5391149" cy="1199304"/>
          </a:xfrm>
          <a:prstGeom prst="roundRect">
            <a:avLst/>
          </a:prstGeom>
          <a:solidFill>
            <a:srgbClr val="00ACCF">
              <a:lumMod val="40000"/>
              <a:lumOff val="60000"/>
            </a:srgbClr>
          </a:solidFill>
          <a:ln w="12700" cap="flat" cmpd="sng" algn="ctr">
            <a:solidFill>
              <a:srgbClr val="00ACC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E324E-556C-2FCC-5441-127FCF92BCB1}"/>
              </a:ext>
            </a:extLst>
          </p:cNvPr>
          <p:cNvSpPr txBox="1"/>
          <p:nvPr/>
        </p:nvSpPr>
        <p:spPr>
          <a:xfrm>
            <a:off x="4358260" y="6223580"/>
            <a:ext cx="406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1B1B1B"/>
                </a:solidFill>
                <a:latin typeface="Open Sans"/>
              </a:rPr>
              <a:t>Coupled FRF Matrix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602F97-F480-2B12-AF75-31D59A40E914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H="1" flipV="1">
            <a:off x="6391275" y="5879928"/>
            <a:ext cx="1" cy="343652"/>
          </a:xfrm>
          <a:prstGeom prst="straightConnector1">
            <a:avLst/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522DFC-1E5D-7E99-0F69-7B0B0FCCCABA}"/>
                  </a:ext>
                </a:extLst>
              </p:cNvPr>
              <p:cNvSpPr txBox="1"/>
              <p:nvPr/>
            </p:nvSpPr>
            <p:spPr>
              <a:xfrm>
                <a:off x="2189787" y="4714760"/>
                <a:ext cx="7861191" cy="1176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32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522DFC-1E5D-7E99-0F69-7B0B0FCCC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787" y="4714760"/>
                <a:ext cx="7861191" cy="1176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972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53E5-FEA4-1B1A-139E-40F9473A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FBS</a:t>
            </a:r>
          </a:p>
        </p:txBody>
      </p:sp>
    </p:spTree>
    <p:extLst>
      <p:ext uri="{BB962C8B-B14F-4D97-AF65-F5344CB8AC3E}">
        <p14:creationId xmlns:p14="http://schemas.microsoft.com/office/powerpoint/2010/main" val="3060672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Two-way FBS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1F8C9-0686-F184-7905-EB31569396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3424844"/>
            <a:ext cx="7772400" cy="1343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AF8541-F6BF-B66F-DF03-7E831A41D615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/>
              <a:t>System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9C09E-B9C9-4DA9-EBC6-E88DF4765441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/>
              <a:t>System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11E2EC-41D7-93F7-E9F4-12EF21098016}"/>
              </a:ext>
            </a:extLst>
          </p:cNvPr>
          <p:cNvCxnSpPr>
            <a:cxnSpLocks/>
          </p:cNvCxnSpPr>
          <p:nvPr/>
        </p:nvCxnSpPr>
        <p:spPr>
          <a:xfrm flipV="1">
            <a:off x="6120384" y="3083468"/>
            <a:ext cx="0" cy="1962912"/>
          </a:xfrm>
          <a:prstGeom prst="line">
            <a:avLst/>
          </a:prstGeom>
          <a:ln w="762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11BCF59-53A3-0F99-0D3E-F3A0917811A5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Two-way FBS is the full substructuring problem and computes FRFs between all the DOFs in the coupled system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4C78C1-8CBA-1044-F16C-0C4915BA6A03}"/>
              </a:ext>
            </a:extLst>
          </p:cNvPr>
          <p:cNvCxnSpPr/>
          <p:nvPr/>
        </p:nvCxnSpPr>
        <p:spPr>
          <a:xfrm>
            <a:off x="4419600" y="4474499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3C9C70-7E54-B412-E89E-B977CCB58380}"/>
              </a:ext>
            </a:extLst>
          </p:cNvPr>
          <p:cNvCxnSpPr/>
          <p:nvPr/>
        </p:nvCxnSpPr>
        <p:spPr>
          <a:xfrm>
            <a:off x="4419600" y="5198399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C78DA1-E414-710A-9FF9-559F77F380D2}"/>
              </a:ext>
            </a:extLst>
          </p:cNvPr>
          <p:cNvCxnSpPr/>
          <p:nvPr/>
        </p:nvCxnSpPr>
        <p:spPr>
          <a:xfrm>
            <a:off x="5732663" y="4474499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F9667B-13DD-4489-C879-D3834691437E}"/>
              </a:ext>
            </a:extLst>
          </p:cNvPr>
          <p:cNvCxnSpPr/>
          <p:nvPr/>
        </p:nvCxnSpPr>
        <p:spPr>
          <a:xfrm>
            <a:off x="5732663" y="5198399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C244C3-C693-7C0A-3722-5B1E4B121442}"/>
              </a:ext>
            </a:extLst>
          </p:cNvPr>
          <p:cNvCxnSpPr/>
          <p:nvPr/>
        </p:nvCxnSpPr>
        <p:spPr>
          <a:xfrm>
            <a:off x="6524625" y="4474499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CC1D28-81AA-F4E8-7182-7F4F36AC6B44}"/>
              </a:ext>
            </a:extLst>
          </p:cNvPr>
          <p:cNvCxnSpPr/>
          <p:nvPr/>
        </p:nvCxnSpPr>
        <p:spPr>
          <a:xfrm>
            <a:off x="6524625" y="5198399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324B14-6972-28E2-95A4-EFABB047483C}"/>
              </a:ext>
            </a:extLst>
          </p:cNvPr>
          <p:cNvCxnSpPr/>
          <p:nvPr/>
        </p:nvCxnSpPr>
        <p:spPr>
          <a:xfrm>
            <a:off x="7857084" y="4480854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C6349E-62CF-EE91-1C57-41A775D67C74}"/>
              </a:ext>
            </a:extLst>
          </p:cNvPr>
          <p:cNvCxnSpPr/>
          <p:nvPr/>
        </p:nvCxnSpPr>
        <p:spPr>
          <a:xfrm>
            <a:off x="7857084" y="5204754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78C745-8E3E-5CE8-583F-0070EA2CCAF7}"/>
                  </a:ext>
                </a:extLst>
              </p:cNvPr>
              <p:cNvSpPr txBox="1"/>
              <p:nvPr/>
            </p:nvSpPr>
            <p:spPr>
              <a:xfrm>
                <a:off x="4668337" y="5206613"/>
                <a:ext cx="477630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78C745-8E3E-5CE8-583F-0070EA2CC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337" y="5206613"/>
                <a:ext cx="477630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2104EE-8001-E7A4-4963-53DBEAA1660E}"/>
                  </a:ext>
                </a:extLst>
              </p:cNvPr>
              <p:cNvSpPr txBox="1"/>
              <p:nvPr/>
            </p:nvSpPr>
            <p:spPr>
              <a:xfrm>
                <a:off x="5910543" y="5206613"/>
                <a:ext cx="477630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2104EE-8001-E7A4-4963-53DBEAA16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543" y="5206613"/>
                <a:ext cx="477630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B57DFA-D177-80E4-B181-3126620BE2A2}"/>
                  </a:ext>
                </a:extLst>
              </p:cNvPr>
              <p:cNvSpPr txBox="1"/>
              <p:nvPr/>
            </p:nvSpPr>
            <p:spPr>
              <a:xfrm>
                <a:off x="6791096" y="5196995"/>
                <a:ext cx="471859" cy="527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B57DFA-D177-80E4-B181-3126620BE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096" y="5196995"/>
                <a:ext cx="471859" cy="5270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89121C2-DB8C-D3C4-35C7-6A83D04D109D}"/>
                  </a:ext>
                </a:extLst>
              </p:cNvPr>
              <p:cNvSpPr txBox="1"/>
              <p:nvPr/>
            </p:nvSpPr>
            <p:spPr>
              <a:xfrm>
                <a:off x="8153743" y="5198982"/>
                <a:ext cx="471859" cy="5230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89121C2-DB8C-D3C4-35C7-6A83D04D1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743" y="5198982"/>
                <a:ext cx="471859" cy="5230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05BB09-07BA-EDF4-586C-57D0982833BD}"/>
              </a:ext>
            </a:extLst>
          </p:cNvPr>
          <p:cNvCxnSpPr/>
          <p:nvPr/>
        </p:nvCxnSpPr>
        <p:spPr>
          <a:xfrm>
            <a:off x="4414060" y="2590281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2316E8-38B3-7B98-64BD-7D8460304AF5}"/>
              </a:ext>
            </a:extLst>
          </p:cNvPr>
          <p:cNvCxnSpPr/>
          <p:nvPr/>
        </p:nvCxnSpPr>
        <p:spPr>
          <a:xfrm>
            <a:off x="4414060" y="2948425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8F1E90-65A3-19AA-4C21-B85B16477436}"/>
              </a:ext>
            </a:extLst>
          </p:cNvPr>
          <p:cNvCxnSpPr/>
          <p:nvPr/>
        </p:nvCxnSpPr>
        <p:spPr>
          <a:xfrm>
            <a:off x="5727123" y="2590281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6AE9BF0-CAF8-6F24-50AE-027A7FED8571}"/>
              </a:ext>
            </a:extLst>
          </p:cNvPr>
          <p:cNvCxnSpPr/>
          <p:nvPr/>
        </p:nvCxnSpPr>
        <p:spPr>
          <a:xfrm>
            <a:off x="5727123" y="2948425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92C818-B862-8D21-BEF8-ECF08AC03DC4}"/>
              </a:ext>
            </a:extLst>
          </p:cNvPr>
          <p:cNvCxnSpPr/>
          <p:nvPr/>
        </p:nvCxnSpPr>
        <p:spPr>
          <a:xfrm>
            <a:off x="6519085" y="2590281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3225F4-CBE2-5E71-FF17-AB919CB35B18}"/>
              </a:ext>
            </a:extLst>
          </p:cNvPr>
          <p:cNvCxnSpPr/>
          <p:nvPr/>
        </p:nvCxnSpPr>
        <p:spPr>
          <a:xfrm>
            <a:off x="6519085" y="2948425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FFD48DB-BF54-7BF5-BD05-2CE8FAAF632A}"/>
              </a:ext>
            </a:extLst>
          </p:cNvPr>
          <p:cNvCxnSpPr/>
          <p:nvPr/>
        </p:nvCxnSpPr>
        <p:spPr>
          <a:xfrm>
            <a:off x="7851544" y="2596636"/>
            <a:ext cx="0" cy="11144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C305F7D-458A-8968-5C80-B87A62D44FC3}"/>
              </a:ext>
            </a:extLst>
          </p:cNvPr>
          <p:cNvCxnSpPr/>
          <p:nvPr/>
        </p:nvCxnSpPr>
        <p:spPr>
          <a:xfrm>
            <a:off x="7851544" y="2954780"/>
            <a:ext cx="29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80D6279-3C03-D474-52C8-DF5B3AC26CCD}"/>
                  </a:ext>
                </a:extLst>
              </p:cNvPr>
              <p:cNvSpPr txBox="1"/>
              <p:nvPr/>
            </p:nvSpPr>
            <p:spPr>
              <a:xfrm>
                <a:off x="6795423" y="2516273"/>
                <a:ext cx="463204" cy="527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80D6279-3C03-D474-52C8-DF5B3AC26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423" y="2516273"/>
                <a:ext cx="463204" cy="5270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0E7941-714F-17E1-4B74-AFE2D5A03A68}"/>
                  </a:ext>
                </a:extLst>
              </p:cNvPr>
              <p:cNvSpPr txBox="1"/>
              <p:nvPr/>
            </p:nvSpPr>
            <p:spPr>
              <a:xfrm>
                <a:off x="8153743" y="2518260"/>
                <a:ext cx="463204" cy="5230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0E7941-714F-17E1-4B74-AFE2D5A03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743" y="2518260"/>
                <a:ext cx="463204" cy="5230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04CDA4-AE9F-CDFF-34D1-98D1E45645F3}"/>
                  </a:ext>
                </a:extLst>
              </p:cNvPr>
              <p:cNvSpPr txBox="1"/>
              <p:nvPr/>
            </p:nvSpPr>
            <p:spPr>
              <a:xfrm>
                <a:off x="4672665" y="2525891"/>
                <a:ext cx="468975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04CDA4-AE9F-CDFF-34D1-98D1E4564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665" y="2525891"/>
                <a:ext cx="468975" cy="5078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CCDDBC2-14B8-63CD-DE10-D9A78D4F1234}"/>
                  </a:ext>
                </a:extLst>
              </p:cNvPr>
              <p:cNvSpPr txBox="1"/>
              <p:nvPr/>
            </p:nvSpPr>
            <p:spPr>
              <a:xfrm>
                <a:off x="5914871" y="2525891"/>
                <a:ext cx="468975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CCDDBC2-14B8-63CD-DE10-D9A78D4F1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871" y="2525891"/>
                <a:ext cx="468975" cy="5078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943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Two-way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9AC252DC-87AC-4A73-349B-408A502632DC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Two-way FBS is the full substructuring problem and computes FRFs between all the DOFs in the coupled system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F10103-BAB8-1604-DA75-E3FA8013459F}"/>
                  </a:ext>
                </a:extLst>
              </p:cNvPr>
              <p:cNvSpPr txBox="1"/>
              <p:nvPr/>
            </p:nvSpPr>
            <p:spPr>
              <a:xfrm>
                <a:off x="2304481" y="4279612"/>
                <a:ext cx="7583038" cy="22973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 err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F10103-BAB8-1604-DA75-E3FA80134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481" y="4279612"/>
                <a:ext cx="7583038" cy="2297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4370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Two-way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9AC252DC-87AC-4A73-349B-408A502632DC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Two-way FBS is the full substructuring problem and computes FRFs between all the DOFs in the coupled system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06AC61-0E0B-7F77-1568-D1DD615852EA}"/>
                  </a:ext>
                </a:extLst>
              </p:cNvPr>
              <p:cNvSpPr txBox="1"/>
              <p:nvPr/>
            </p:nvSpPr>
            <p:spPr>
              <a:xfrm>
                <a:off x="667559" y="4421870"/>
                <a:ext cx="10856882" cy="2019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06AC61-0E0B-7F77-1568-D1DD61585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59" y="4421870"/>
                <a:ext cx="10856882" cy="20199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426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Two-way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9AC252DC-87AC-4A73-349B-408A502632DC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Two-way FBS is the full substructuring problem and computes FRFs between all the DOFs in the coupled system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ADE828-B1C1-E651-A561-8AF07DD3749F}"/>
                  </a:ext>
                </a:extLst>
              </p:cNvPr>
              <p:cNvSpPr txBox="1"/>
              <p:nvPr/>
            </p:nvSpPr>
            <p:spPr>
              <a:xfrm>
                <a:off x="449294" y="4421870"/>
                <a:ext cx="11293413" cy="2019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ADE828-B1C1-E651-A561-8AF07DD37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94" y="4421870"/>
                <a:ext cx="11293413" cy="20199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8184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Two-way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9AC252DC-87AC-4A73-349B-408A502632DC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Two-way FBS is the full substructuring problem and computes FRFs between all the DOFs in the coupled system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24E623-064A-7BD4-597C-27BA0B724CA6}"/>
              </a:ext>
            </a:extLst>
          </p:cNvPr>
          <p:cNvSpPr/>
          <p:nvPr/>
        </p:nvSpPr>
        <p:spPr>
          <a:xfrm>
            <a:off x="6677025" y="4421870"/>
            <a:ext cx="4391022" cy="1931305"/>
          </a:xfrm>
          <a:prstGeom prst="roundRect">
            <a:avLst>
              <a:gd name="adj" fmla="val 9923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D7677A-1C92-4A4E-D48B-B58783E7F529}"/>
                  </a:ext>
                </a:extLst>
              </p:cNvPr>
              <p:cNvSpPr txBox="1"/>
              <p:nvPr/>
            </p:nvSpPr>
            <p:spPr>
              <a:xfrm>
                <a:off x="449294" y="4421870"/>
                <a:ext cx="11293413" cy="2019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D7677A-1C92-4A4E-D48B-B58783E7F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94" y="4421870"/>
                <a:ext cx="11293413" cy="20199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12FBA7A-CEDF-39CF-7BDB-5508FF864D58}"/>
              </a:ext>
            </a:extLst>
          </p:cNvPr>
          <p:cNvSpPr txBox="1"/>
          <p:nvPr/>
        </p:nvSpPr>
        <p:spPr>
          <a:xfrm>
            <a:off x="9194291" y="3682231"/>
            <a:ext cx="2718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1B1B1B"/>
                </a:solidFill>
                <a:latin typeface="Open Sans"/>
              </a:rPr>
              <a:t>Multiply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0C7C5D-A8AF-0903-9B87-B8B2782865C8}"/>
              </a:ext>
            </a:extLst>
          </p:cNvPr>
          <p:cNvCxnSpPr>
            <a:cxnSpLocks/>
          </p:cNvCxnSpPr>
          <p:nvPr/>
        </p:nvCxnSpPr>
        <p:spPr>
          <a:xfrm flipH="1">
            <a:off x="10115276" y="4067175"/>
            <a:ext cx="181249" cy="354695"/>
          </a:xfrm>
          <a:prstGeom prst="straightConnector1">
            <a:avLst/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06982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Two-way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9AC252DC-87AC-4A73-349B-408A502632DC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Two-way FBS is the full substructuring problem and computes FRFs between all the DOFs in the coupled system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85469D-EB6A-18D5-EB00-5C532390C7F8}"/>
                  </a:ext>
                </a:extLst>
              </p:cNvPr>
              <p:cNvSpPr txBox="1"/>
              <p:nvPr/>
            </p:nvSpPr>
            <p:spPr>
              <a:xfrm>
                <a:off x="2109236" y="4421870"/>
                <a:ext cx="7973528" cy="2019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85469D-EB6A-18D5-EB00-5C532390C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236" y="4421870"/>
                <a:ext cx="7973528" cy="20199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233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Two-way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9AC252DC-87AC-4A73-349B-408A502632DC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Two-way FBS is the full substructuring problem and computes FRFs between all the DOFs in the coupled system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A2951E-B862-277D-617C-C18FD3402730}"/>
                  </a:ext>
                </a:extLst>
              </p:cNvPr>
              <p:cNvSpPr txBox="1"/>
              <p:nvPr/>
            </p:nvSpPr>
            <p:spPr>
              <a:xfrm>
                <a:off x="85541" y="4356759"/>
                <a:ext cx="12020919" cy="16728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b="0" i="1" smtClean="0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b="0" i="1" smtClean="0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b="0" i="1" smtClean="0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b="0" i="1" smtClean="0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3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3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300" dirty="0" err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A2951E-B862-277D-617C-C18FD3402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1" y="4356759"/>
                <a:ext cx="12020919" cy="1672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180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Two-way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9AC252DC-87AC-4A73-349B-408A502632DC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Two-way FBS is the full substructuring problem and computes FRFs between all the DOFs in the coupled system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DD86B1-3F07-FC7D-0275-A54BBF1DB711}"/>
                  </a:ext>
                </a:extLst>
              </p:cNvPr>
              <p:cNvSpPr txBox="1"/>
              <p:nvPr/>
            </p:nvSpPr>
            <p:spPr>
              <a:xfrm>
                <a:off x="254433" y="4273628"/>
                <a:ext cx="11683135" cy="17572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en-US" sz="23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33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34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43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44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33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43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33</m:t>
                                      </m:r>
                                    </m:sub>
                                    <m:sup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bSup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  <m:sup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begChr m:val="{"/>
                              <m:endChr m:val="}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33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34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300" dirty="0" err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DD86B1-3F07-FC7D-0275-A54BBF1DB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33" y="4273628"/>
                <a:ext cx="11683135" cy="1757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7444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D12A-198C-9554-4452-393D324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Two-way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70F45-DDBC-ADE9-458C-A4557C72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2560320"/>
            <a:ext cx="7772400" cy="13435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A25147-C31C-B69B-AA69-84F3AB522713}"/>
              </a:ext>
            </a:extLst>
          </p:cNvPr>
          <p:cNvSpPr txBox="1"/>
          <p:nvPr/>
        </p:nvSpPr>
        <p:spPr>
          <a:xfrm>
            <a:off x="3209543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C4C31-195A-C3B1-28A7-25F742BBEBC2}"/>
              </a:ext>
            </a:extLst>
          </p:cNvPr>
          <p:cNvSpPr txBox="1"/>
          <p:nvPr/>
        </p:nvSpPr>
        <p:spPr>
          <a:xfrm>
            <a:off x="5987308" y="187778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F969A9-B226-946A-F338-DD8C967BE90B}"/>
              </a:ext>
            </a:extLst>
          </p:cNvPr>
          <p:cNvCxnSpPr>
            <a:cxnSpLocks/>
          </p:cNvCxnSpPr>
          <p:nvPr/>
        </p:nvCxnSpPr>
        <p:spPr>
          <a:xfrm flipV="1">
            <a:off x="6120384" y="221894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9AC252DC-87AC-4A73-349B-408A502632DC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Two-way FBS is the full substructuring problem and computes FRFs between all the DOFs in the coupled system 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2E5ADBF6-EEFE-90C2-1B29-0E3D01B566FB}"/>
              </a:ext>
            </a:extLst>
          </p:cNvPr>
          <p:cNvSpPr/>
          <p:nvPr/>
        </p:nvSpPr>
        <p:spPr>
          <a:xfrm>
            <a:off x="1390650" y="4265310"/>
            <a:ext cx="9705967" cy="1708880"/>
          </a:xfrm>
          <a:prstGeom prst="roundRect">
            <a:avLst/>
          </a:prstGeom>
          <a:solidFill>
            <a:srgbClr val="00ACCF">
              <a:lumMod val="40000"/>
              <a:lumOff val="60000"/>
            </a:srgbClr>
          </a:solidFill>
          <a:ln w="12700" cap="flat" cmpd="sng" algn="ctr">
            <a:solidFill>
              <a:srgbClr val="00ACC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BEE3FE-82CF-1E92-DB95-F9614589188C}"/>
                  </a:ext>
                </a:extLst>
              </p:cNvPr>
              <p:cNvSpPr txBox="1"/>
              <p:nvPr/>
            </p:nvSpPr>
            <p:spPr>
              <a:xfrm>
                <a:off x="254433" y="4265310"/>
                <a:ext cx="11683135" cy="17572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3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3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3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3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3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3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en-US" sz="23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300" i="1" smtClean="0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r>
                            <a:rPr lang="en-US" sz="23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3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3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en-US" sz="23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3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3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3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33</m:t>
                                      </m:r>
                                    </m:sub>
                                    <m:sup>
                                      <m:r>
                                        <a:rPr lang="en-US" sz="23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bSup>
                                  <m:r>
                                    <a:rPr lang="en-US" sz="23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sz="23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3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  <m:sup>
                                      <m:r>
                                        <a:rPr lang="en-US" sz="23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23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begChr m:val="{"/>
                              <m:endChr m:val="}"/>
                              <m:ctrlPr>
                                <a:rPr lang="en-US" sz="23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3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3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3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3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3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3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BEE3FE-82CF-1E92-DB95-F96145891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33" y="4265310"/>
                <a:ext cx="11683135" cy="1757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81143C5-D7E5-FE45-3A87-7745186B1392}"/>
              </a:ext>
            </a:extLst>
          </p:cNvPr>
          <p:cNvSpPr txBox="1"/>
          <p:nvPr/>
        </p:nvSpPr>
        <p:spPr>
          <a:xfrm>
            <a:off x="3954292" y="6335618"/>
            <a:ext cx="406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1B1B1B"/>
                </a:solidFill>
                <a:latin typeface="Open Sans"/>
              </a:rPr>
              <a:t>Coupled FRF Matrix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0C1CBD-EFD2-86B9-2560-E930E768E173}"/>
              </a:ext>
            </a:extLst>
          </p:cNvPr>
          <p:cNvCxnSpPr>
            <a:cxnSpLocks/>
            <a:stCxn id="11" idx="0"/>
            <a:endCxn id="10" idx="2"/>
          </p:cNvCxnSpPr>
          <p:nvPr/>
        </p:nvCxnSpPr>
        <p:spPr>
          <a:xfrm flipV="1">
            <a:off x="5987308" y="6022586"/>
            <a:ext cx="108693" cy="313032"/>
          </a:xfrm>
          <a:prstGeom prst="straightConnector1">
            <a:avLst/>
          </a:prstGeom>
          <a:noFill/>
          <a:ln w="57150" cap="flat" cmpd="sng" algn="ctr">
            <a:solidFill>
              <a:srgbClr val="00ACCF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22634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52F25-E9FF-C95D-CE8E-FFAA1275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Summarizing the FBS Process</a:t>
            </a:r>
          </a:p>
        </p:txBody>
      </p:sp>
    </p:spTree>
    <p:extLst>
      <p:ext uri="{BB962C8B-B14F-4D97-AF65-F5344CB8AC3E}">
        <p14:creationId xmlns:p14="http://schemas.microsoft.com/office/powerpoint/2010/main" val="714082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892D-8DE9-9AD8-83C9-4ED19A2A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FBS Process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EBBD-1C39-266B-B74B-EBD4239A3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Define constraints for interface compatibility and force equilibrium</a:t>
            </a:r>
          </a:p>
          <a:p>
            <a:pPr lvl="1"/>
            <a:r>
              <a:rPr lang="en-US" dirty="0"/>
              <a:t>Responses at coupling DOFs must be the same</a:t>
            </a:r>
          </a:p>
          <a:p>
            <a:pPr lvl="1"/>
            <a:r>
              <a:rPr lang="en-US" dirty="0"/>
              <a:t>Forces at coupling DOFs must be equal and opposite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constraints to the block diagonal FRF equation of motion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Solve for the coupling force – </a:t>
            </a:r>
            <a:r>
              <a:rPr lang="en-US" i="1" dirty="0"/>
              <a:t>some of the literature makes the math look really fancy, but it can be done with simple algebra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coupling force to the original FRF based equation of motion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1859F3-6362-37CB-1FBA-82C9A3A60ACB}"/>
              </a:ext>
            </a:extLst>
          </p:cNvPr>
          <p:cNvSpPr/>
          <p:nvPr/>
        </p:nvSpPr>
        <p:spPr>
          <a:xfrm>
            <a:off x="166255" y="2576945"/>
            <a:ext cx="11413374" cy="334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17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892D-8DE9-9AD8-83C9-4ED19A2A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FBS Process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EBBD-1C39-266B-B74B-EBD4239A3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Define constraints for interface compatibility and force equilibrium</a:t>
            </a:r>
          </a:p>
          <a:p>
            <a:pPr lvl="1"/>
            <a:r>
              <a:rPr lang="en-US" dirty="0"/>
              <a:t>Responses at coupling DOFs must be the same</a:t>
            </a:r>
          </a:p>
          <a:p>
            <a:pPr lvl="1"/>
            <a:r>
              <a:rPr lang="en-US" dirty="0"/>
              <a:t>Forces at coupling DOFs must be equal and opposite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constraints to the block diagonal FRF equation of motion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Solve for the coupling force – </a:t>
            </a:r>
            <a:r>
              <a:rPr lang="en-US" i="1" dirty="0"/>
              <a:t>some of the literature makes the math look really fancy, but it can be done with simple algebra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coupling force to the original FRF based equation of motion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FCD5C4-AB5A-78DC-B66A-D072FDF1BDF0}"/>
              </a:ext>
            </a:extLst>
          </p:cNvPr>
          <p:cNvSpPr/>
          <p:nvPr/>
        </p:nvSpPr>
        <p:spPr>
          <a:xfrm>
            <a:off x="166255" y="3429000"/>
            <a:ext cx="11413374" cy="24894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06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892D-8DE9-9AD8-83C9-4ED19A2A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FBS Process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EBBD-1C39-266B-B74B-EBD4239A3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Define constraints for interface compatibility and force equilibrium</a:t>
            </a:r>
          </a:p>
          <a:p>
            <a:pPr lvl="1"/>
            <a:r>
              <a:rPr lang="en-US" dirty="0"/>
              <a:t>Responses at coupling DOFs must be the same</a:t>
            </a:r>
          </a:p>
          <a:p>
            <a:pPr lvl="1"/>
            <a:r>
              <a:rPr lang="en-US" dirty="0"/>
              <a:t>Forces at coupling DOFs must be equal and opposite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constraints to the block diagonal FRF equation of motion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Solve for the coupling force – </a:t>
            </a:r>
            <a:r>
              <a:rPr lang="en-US" i="1" dirty="0"/>
              <a:t>some of the literature makes the math look really fancy, but it can be done with simple algebra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coupling force to the original FRF based equation of motion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642A0-ABB4-4737-CF48-E21095F47854}"/>
              </a:ext>
            </a:extLst>
          </p:cNvPr>
          <p:cNvSpPr/>
          <p:nvPr/>
        </p:nvSpPr>
        <p:spPr>
          <a:xfrm>
            <a:off x="166255" y="4680065"/>
            <a:ext cx="11413374" cy="12383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45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892D-8DE9-9AD8-83C9-4ED19A2A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FBS Process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EBBD-1C39-266B-B74B-EBD4239A3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Define constraints for interface compatibility and force equilibrium</a:t>
            </a:r>
          </a:p>
          <a:p>
            <a:pPr lvl="1"/>
            <a:r>
              <a:rPr lang="en-US" dirty="0"/>
              <a:t>Responses at coupling DOFs must be the same</a:t>
            </a:r>
          </a:p>
          <a:p>
            <a:pPr lvl="1"/>
            <a:r>
              <a:rPr lang="en-US" dirty="0"/>
              <a:t>Forces at coupling DOFs must be equal and opposite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constraints to the block diagonal FRF equation of motion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Solve for the coupling force – </a:t>
            </a:r>
            <a:r>
              <a:rPr lang="en-US" i="1" dirty="0"/>
              <a:t>some of the literature makes the math look really fancy, but it can be done with simple algebra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coupling force to the original FRF based equation of motion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5990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1DE3-3E44-1664-34F2-30578B1F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Closer Look at the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E98E8-641D-37DA-C12B-C34AF881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3341716"/>
            <a:ext cx="11337324" cy="257669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The equation has a pattern, with distinct information in the different vector/matrix quantities</a:t>
            </a:r>
          </a:p>
          <a:p>
            <a:endParaRPr lang="en-US" sz="2400" dirty="0"/>
          </a:p>
          <a:p>
            <a:r>
              <a:rPr lang="en-US" sz="2400" dirty="0"/>
              <a:t>The coupling forces are estimated via an inverse problem, which requires special attention</a:t>
            </a:r>
          </a:p>
          <a:p>
            <a:endParaRPr lang="en-US" sz="2400" dirty="0"/>
          </a:p>
          <a:p>
            <a:r>
              <a:rPr lang="en-US" sz="2400" dirty="0"/>
              <a:t>FBS results in duplicate response/reference DOFs at the coupling, since the method doesn’t reshape the FRF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/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E0C3336-4BB6-2211-2585-E5AA7FB84169}"/>
              </a:ext>
            </a:extLst>
          </p:cNvPr>
          <p:cNvSpPr/>
          <p:nvPr/>
        </p:nvSpPr>
        <p:spPr>
          <a:xfrm>
            <a:off x="166255" y="3948545"/>
            <a:ext cx="11413374" cy="19698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78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F79B7DBC-F802-D112-3E27-8E4844B9BFFF}"/>
              </a:ext>
            </a:extLst>
          </p:cNvPr>
          <p:cNvSpPr/>
          <p:nvPr/>
        </p:nvSpPr>
        <p:spPr>
          <a:xfrm>
            <a:off x="354160" y="1204111"/>
            <a:ext cx="3441076" cy="1892174"/>
          </a:xfrm>
          <a:prstGeom prst="roundRect">
            <a:avLst>
              <a:gd name="adj" fmla="val 1947"/>
            </a:avLst>
          </a:prstGeom>
          <a:solidFill>
            <a:srgbClr val="00ACCF">
              <a:lumMod val="40000"/>
              <a:lumOff val="60000"/>
            </a:srgbClr>
          </a:solidFill>
          <a:ln w="12700" cap="flat" cmpd="sng" algn="ctr">
            <a:solidFill>
              <a:srgbClr val="00ACC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1C470-A058-87FC-0FFD-D0F262F51E78}"/>
              </a:ext>
            </a:extLst>
          </p:cNvPr>
          <p:cNvSpPr txBox="1"/>
          <p:nvPr/>
        </p:nvSpPr>
        <p:spPr>
          <a:xfrm>
            <a:off x="41682" y="815727"/>
            <a:ext cx="406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Block Diagonal FRF Matrix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91DE3-3E44-1664-34F2-30578B1F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Closer Look at the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E98E8-641D-37DA-C12B-C34AF881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3341716"/>
            <a:ext cx="11337324" cy="257669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The equation has a pattern, with distinct information in the different vector/matrix quantities</a:t>
            </a:r>
          </a:p>
          <a:p>
            <a:endParaRPr lang="en-US" sz="2400" dirty="0"/>
          </a:p>
          <a:p>
            <a:r>
              <a:rPr lang="en-US" sz="2400" dirty="0"/>
              <a:t>The coupling forces are estimated via an inverse problem, which requires special attention</a:t>
            </a:r>
          </a:p>
          <a:p>
            <a:endParaRPr lang="en-US" sz="2400" dirty="0"/>
          </a:p>
          <a:p>
            <a:r>
              <a:rPr lang="en-US" sz="2400" dirty="0"/>
              <a:t>FBS results in duplicate response/reference DOFs at the coupling, since the method doesn’t reshape the FRF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/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E0C3336-4BB6-2211-2585-E5AA7FB84169}"/>
              </a:ext>
            </a:extLst>
          </p:cNvPr>
          <p:cNvSpPr/>
          <p:nvPr/>
        </p:nvSpPr>
        <p:spPr>
          <a:xfrm>
            <a:off x="166255" y="3948545"/>
            <a:ext cx="11413374" cy="19698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267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E9245482-E8F1-DEAE-298B-15A19998CED2}"/>
              </a:ext>
            </a:extLst>
          </p:cNvPr>
          <p:cNvSpPr/>
          <p:nvPr/>
        </p:nvSpPr>
        <p:spPr>
          <a:xfrm>
            <a:off x="4209860" y="1204111"/>
            <a:ext cx="1213165" cy="1892174"/>
          </a:xfrm>
          <a:prstGeom prst="roundRect">
            <a:avLst>
              <a:gd name="adj" fmla="val 1947"/>
            </a:avLst>
          </a:prstGeom>
          <a:solidFill>
            <a:srgbClr val="00ACCF">
              <a:lumMod val="40000"/>
              <a:lumOff val="60000"/>
            </a:srgbClr>
          </a:solidFill>
          <a:ln w="12700" cap="flat" cmpd="sng" algn="ctr">
            <a:solidFill>
              <a:srgbClr val="00ACC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690E8-7247-DB6D-06ED-C23CBE0DE85E}"/>
              </a:ext>
            </a:extLst>
          </p:cNvPr>
          <p:cNvSpPr txBox="1"/>
          <p:nvPr/>
        </p:nvSpPr>
        <p:spPr>
          <a:xfrm>
            <a:off x="41682" y="815727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Block Diagonal FRF 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910E43-D0E2-2895-FB87-5A574D8173E0}"/>
              </a:ext>
            </a:extLst>
          </p:cNvPr>
          <p:cNvSpPr txBox="1"/>
          <p:nvPr/>
        </p:nvSpPr>
        <p:spPr>
          <a:xfrm>
            <a:off x="2783426" y="780927"/>
            <a:ext cx="406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Response/Coupling FRFs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91DE3-3E44-1664-34F2-30578B1F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Closer Look at the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E98E8-641D-37DA-C12B-C34AF881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3341716"/>
            <a:ext cx="11337324" cy="257669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The equation has a pattern, with distinct information in the different vector/matrix quantities</a:t>
            </a:r>
          </a:p>
          <a:p>
            <a:endParaRPr lang="en-US" sz="2400" dirty="0"/>
          </a:p>
          <a:p>
            <a:r>
              <a:rPr lang="en-US" sz="2400" dirty="0"/>
              <a:t>The coupling forces are estimated via an inverse problem, which requires special attention</a:t>
            </a:r>
          </a:p>
          <a:p>
            <a:endParaRPr lang="en-US" sz="2400" dirty="0"/>
          </a:p>
          <a:p>
            <a:r>
              <a:rPr lang="en-US" sz="2400" dirty="0"/>
              <a:t>FBS results in duplicate response/reference DOFs at the coupling, since the method doesn’t reshape the FRF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/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E0C3336-4BB6-2211-2585-E5AA7FB84169}"/>
              </a:ext>
            </a:extLst>
          </p:cNvPr>
          <p:cNvSpPr/>
          <p:nvPr/>
        </p:nvSpPr>
        <p:spPr>
          <a:xfrm>
            <a:off x="166255" y="3948545"/>
            <a:ext cx="11413374" cy="19698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315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E48161D1-8844-9090-8E77-0B5FA00ADE34}"/>
              </a:ext>
            </a:extLst>
          </p:cNvPr>
          <p:cNvSpPr/>
          <p:nvPr/>
        </p:nvSpPr>
        <p:spPr>
          <a:xfrm>
            <a:off x="5468293" y="1801639"/>
            <a:ext cx="2163778" cy="624689"/>
          </a:xfrm>
          <a:prstGeom prst="roundRect">
            <a:avLst>
              <a:gd name="adj" fmla="val 1947"/>
            </a:avLst>
          </a:prstGeom>
          <a:solidFill>
            <a:srgbClr val="00ACCF">
              <a:lumMod val="40000"/>
              <a:lumOff val="60000"/>
            </a:srgbClr>
          </a:solidFill>
          <a:ln w="12700" cap="flat" cmpd="sng" algn="ctr">
            <a:solidFill>
              <a:srgbClr val="00ACC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1F518-ED6A-6AAD-DA5D-1A87D805D096}"/>
              </a:ext>
            </a:extLst>
          </p:cNvPr>
          <p:cNvSpPr txBox="1"/>
          <p:nvPr/>
        </p:nvSpPr>
        <p:spPr>
          <a:xfrm>
            <a:off x="41682" y="815727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Block Diagonal FRF 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8CD564-963A-B8CE-C54E-D66395CF915C}"/>
              </a:ext>
            </a:extLst>
          </p:cNvPr>
          <p:cNvSpPr txBox="1"/>
          <p:nvPr/>
        </p:nvSpPr>
        <p:spPr>
          <a:xfrm>
            <a:off x="2783426" y="815726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Response/Coupling FRFs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87774-B557-D03E-4F10-F400B6F8B396}"/>
              </a:ext>
            </a:extLst>
          </p:cNvPr>
          <p:cNvSpPr txBox="1"/>
          <p:nvPr/>
        </p:nvSpPr>
        <p:spPr>
          <a:xfrm>
            <a:off x="4816442" y="1351829"/>
            <a:ext cx="406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Coupling/Coupling FRFs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91DE3-3E44-1664-34F2-30578B1F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Closer Look at the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E98E8-641D-37DA-C12B-C34AF881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3341716"/>
            <a:ext cx="11337324" cy="257669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The equation has a pattern, with distinct information in the different vector/matrix quantities</a:t>
            </a:r>
          </a:p>
          <a:p>
            <a:endParaRPr lang="en-US" sz="2400" dirty="0"/>
          </a:p>
          <a:p>
            <a:r>
              <a:rPr lang="en-US" sz="2400" dirty="0"/>
              <a:t>The coupling forces are estimated via an inverse problem, which requires special attention</a:t>
            </a:r>
          </a:p>
          <a:p>
            <a:endParaRPr lang="en-US" sz="2400" dirty="0"/>
          </a:p>
          <a:p>
            <a:r>
              <a:rPr lang="en-US" sz="2400" dirty="0"/>
              <a:t>FBS results in duplicate response/reference DOFs at the coupling, since the method doesn’t reshape the FRF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/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E0C3336-4BB6-2211-2585-E5AA7FB84169}"/>
              </a:ext>
            </a:extLst>
          </p:cNvPr>
          <p:cNvSpPr/>
          <p:nvPr/>
        </p:nvSpPr>
        <p:spPr>
          <a:xfrm>
            <a:off x="166255" y="3948545"/>
            <a:ext cx="11413374" cy="19698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101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21BE71A-41B7-015E-1A76-50B519999ACC}"/>
              </a:ext>
            </a:extLst>
          </p:cNvPr>
          <p:cNvSpPr/>
          <p:nvPr/>
        </p:nvSpPr>
        <p:spPr>
          <a:xfrm>
            <a:off x="7606412" y="1910093"/>
            <a:ext cx="3959754" cy="516235"/>
          </a:xfrm>
          <a:prstGeom prst="roundRect">
            <a:avLst>
              <a:gd name="adj" fmla="val 1947"/>
            </a:avLst>
          </a:prstGeom>
          <a:solidFill>
            <a:srgbClr val="00ACCF">
              <a:lumMod val="40000"/>
              <a:lumOff val="60000"/>
            </a:srgbClr>
          </a:solidFill>
          <a:ln w="12700" cap="flat" cmpd="sng" algn="ctr">
            <a:solidFill>
              <a:srgbClr val="00ACC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01EF3-B3BF-2B2B-6002-A25185FFF01B}"/>
              </a:ext>
            </a:extLst>
          </p:cNvPr>
          <p:cNvSpPr txBox="1"/>
          <p:nvPr/>
        </p:nvSpPr>
        <p:spPr>
          <a:xfrm>
            <a:off x="41682" y="815727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Block Diagonal FRF Matrix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065474-859B-1000-8F33-340C07A09A8B}"/>
              </a:ext>
            </a:extLst>
          </p:cNvPr>
          <p:cNvSpPr txBox="1"/>
          <p:nvPr/>
        </p:nvSpPr>
        <p:spPr>
          <a:xfrm>
            <a:off x="2783426" y="815726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Response/Coupling FRFs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3ED73E-9196-34AB-6625-685482A7F299}"/>
              </a:ext>
            </a:extLst>
          </p:cNvPr>
          <p:cNvSpPr txBox="1"/>
          <p:nvPr/>
        </p:nvSpPr>
        <p:spPr>
          <a:xfrm>
            <a:off x="4517166" y="1441359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Coupling/Coupling FRFs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0E20D6-D592-9E09-58B2-AB48566D6685}"/>
              </a:ext>
            </a:extLst>
          </p:cNvPr>
          <p:cNvSpPr txBox="1"/>
          <p:nvPr/>
        </p:nvSpPr>
        <p:spPr>
          <a:xfrm>
            <a:off x="7553273" y="1407003"/>
            <a:ext cx="406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Coupling/Force FRFs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91DE3-3E44-1664-34F2-30578B1F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Closer Look at the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E98E8-641D-37DA-C12B-C34AF881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3341716"/>
            <a:ext cx="11337324" cy="257669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The equation has a pattern, with distinct information in the different vector/matrix quantities</a:t>
            </a:r>
          </a:p>
          <a:p>
            <a:endParaRPr lang="en-US" sz="2400" dirty="0"/>
          </a:p>
          <a:p>
            <a:r>
              <a:rPr lang="en-US" sz="2400" dirty="0"/>
              <a:t>The coupling forces are estimated via an inverse problem, which requires special attention</a:t>
            </a:r>
          </a:p>
          <a:p>
            <a:endParaRPr lang="en-US" sz="2400" dirty="0"/>
          </a:p>
          <a:p>
            <a:r>
              <a:rPr lang="en-US" sz="2400" dirty="0"/>
              <a:t>FBS results in duplicate response/reference DOFs at the coupling, since the method doesn’t reshape the FRF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/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E0C3336-4BB6-2211-2585-E5AA7FB84169}"/>
              </a:ext>
            </a:extLst>
          </p:cNvPr>
          <p:cNvSpPr/>
          <p:nvPr/>
        </p:nvSpPr>
        <p:spPr>
          <a:xfrm>
            <a:off x="166255" y="3948545"/>
            <a:ext cx="11413374" cy="19698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97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6B01EF3-B3BF-2B2B-6002-A25185FFF01B}"/>
              </a:ext>
            </a:extLst>
          </p:cNvPr>
          <p:cNvSpPr txBox="1"/>
          <p:nvPr/>
        </p:nvSpPr>
        <p:spPr>
          <a:xfrm>
            <a:off x="41682" y="815727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Block Diagonal FRF Matrix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065474-859B-1000-8F33-340C07A09A8B}"/>
              </a:ext>
            </a:extLst>
          </p:cNvPr>
          <p:cNvSpPr txBox="1"/>
          <p:nvPr/>
        </p:nvSpPr>
        <p:spPr>
          <a:xfrm>
            <a:off x="2783426" y="815726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Response/Coupling FRFs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3ED73E-9196-34AB-6625-685482A7F299}"/>
              </a:ext>
            </a:extLst>
          </p:cNvPr>
          <p:cNvSpPr txBox="1"/>
          <p:nvPr/>
        </p:nvSpPr>
        <p:spPr>
          <a:xfrm>
            <a:off x="4517166" y="1424181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Coupling/Coupling FRFs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0E20D6-D592-9E09-58B2-AB48566D6685}"/>
              </a:ext>
            </a:extLst>
          </p:cNvPr>
          <p:cNvSpPr txBox="1"/>
          <p:nvPr/>
        </p:nvSpPr>
        <p:spPr>
          <a:xfrm>
            <a:off x="7553273" y="1424181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Coupling/Force FRFs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91DE3-3E44-1664-34F2-30578B1F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Closer Look at the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E98E8-641D-37DA-C12B-C34AF881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3341716"/>
            <a:ext cx="11337324" cy="257669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The equation has a pattern, with distinct information in the different vector/matrix quantities</a:t>
            </a:r>
          </a:p>
          <a:p>
            <a:endParaRPr lang="en-US" sz="2400" dirty="0"/>
          </a:p>
          <a:p>
            <a:r>
              <a:rPr lang="en-US" sz="2400" dirty="0"/>
              <a:t>The coupling forces are estimated via an inverse problem, which requires special attention</a:t>
            </a:r>
          </a:p>
          <a:p>
            <a:endParaRPr lang="en-US" sz="2400" dirty="0"/>
          </a:p>
          <a:p>
            <a:r>
              <a:rPr lang="en-US" sz="2400" dirty="0"/>
              <a:t>FBS results in duplicate response/reference DOFs at the coupling, since the method doesn’t reshape the FRF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/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E0C3336-4BB6-2211-2585-E5AA7FB84169}"/>
              </a:ext>
            </a:extLst>
          </p:cNvPr>
          <p:cNvSpPr/>
          <p:nvPr/>
        </p:nvSpPr>
        <p:spPr>
          <a:xfrm>
            <a:off x="166255" y="4754880"/>
            <a:ext cx="11413374" cy="11635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529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6B01EF3-B3BF-2B2B-6002-A25185FFF01B}"/>
              </a:ext>
            </a:extLst>
          </p:cNvPr>
          <p:cNvSpPr txBox="1"/>
          <p:nvPr/>
        </p:nvSpPr>
        <p:spPr>
          <a:xfrm>
            <a:off x="41682" y="815727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Block Diagonal FRF Matrix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065474-859B-1000-8F33-340C07A09A8B}"/>
              </a:ext>
            </a:extLst>
          </p:cNvPr>
          <p:cNvSpPr txBox="1"/>
          <p:nvPr/>
        </p:nvSpPr>
        <p:spPr>
          <a:xfrm>
            <a:off x="2783426" y="815726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Response/Coupling FRFs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3ED73E-9196-34AB-6625-685482A7F299}"/>
              </a:ext>
            </a:extLst>
          </p:cNvPr>
          <p:cNvSpPr txBox="1"/>
          <p:nvPr/>
        </p:nvSpPr>
        <p:spPr>
          <a:xfrm>
            <a:off x="4517166" y="1424181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Coupling/Coupling FRFs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0E20D6-D592-9E09-58B2-AB48566D6685}"/>
              </a:ext>
            </a:extLst>
          </p:cNvPr>
          <p:cNvSpPr txBox="1"/>
          <p:nvPr/>
        </p:nvSpPr>
        <p:spPr>
          <a:xfrm>
            <a:off x="7553273" y="1424181"/>
            <a:ext cx="406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rgbClr val="1B1B1B"/>
                </a:solidFill>
                <a:latin typeface="Open Sans"/>
              </a:rPr>
              <a:t>Coupling/Force FRFs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91DE3-3E44-1664-34F2-30578B1F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Closer Look at the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E98E8-641D-37DA-C12B-C34AF881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3341716"/>
            <a:ext cx="11337324" cy="257669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The equation has a pattern, with distinct information in the different vector/matrix quantities</a:t>
            </a:r>
          </a:p>
          <a:p>
            <a:endParaRPr lang="en-US" sz="2400" dirty="0"/>
          </a:p>
          <a:p>
            <a:r>
              <a:rPr lang="en-US" sz="2400" dirty="0"/>
              <a:t>The coupling forces are estimated via an inverse problem, which requires special attention</a:t>
            </a:r>
          </a:p>
          <a:p>
            <a:endParaRPr lang="en-US" sz="2400" dirty="0"/>
          </a:p>
          <a:p>
            <a:r>
              <a:rPr lang="en-US" sz="2400" dirty="0"/>
              <a:t>FBS results in duplicate response/reference DOFs at the coupling, since the method doesn’t reshape the FRF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/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F2C475-AE5E-A686-66DB-D01967D88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12" y="1139794"/>
                <a:ext cx="11679728" cy="2035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3796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3BA08-0BD5-592A-2CAC-805D886F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LM-FBS – Algebraic Derivation</a:t>
            </a:r>
          </a:p>
        </p:txBody>
      </p:sp>
    </p:spTree>
    <p:extLst>
      <p:ext uri="{BB962C8B-B14F-4D97-AF65-F5344CB8AC3E}">
        <p14:creationId xmlns:p14="http://schemas.microsoft.com/office/powerpoint/2010/main" val="16651795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492C-5A7E-AA13-FD73-3E36364E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LM-FBS – The Standard FBS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F095-EA28-1661-F3CD-999BBD17F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986742"/>
            <a:ext cx="11337324" cy="39316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LM-FBS is arguably the most common FBS method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 matrix is the same as the other domains if the response and reference DOFs are the same on all the components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Different B matrices for references and responses if they have different DOFs in the FRFs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C65C7F-968D-B8D6-BED0-A04B472984A2}"/>
                  </a:ext>
                </a:extLst>
              </p:cNvPr>
              <p:cNvSpPr txBox="1"/>
              <p:nvPr/>
            </p:nvSpPr>
            <p:spPr>
              <a:xfrm>
                <a:off x="1009640" y="1113886"/>
                <a:ext cx="10172721" cy="807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𝒓𝒆𝒇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𝒓𝒆</m:t>
                                      </m:r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𝒔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𝒂𝒃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  <m:sub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𝒓𝒆𝒇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𝒓𝒆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b="1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C65C7F-968D-B8D6-BED0-A04B47298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40" y="1113886"/>
                <a:ext cx="10172721" cy="807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DBC8990F-D2E8-E570-489F-9A71154BDDF7}"/>
              </a:ext>
            </a:extLst>
          </p:cNvPr>
          <p:cNvSpPr/>
          <p:nvPr/>
        </p:nvSpPr>
        <p:spPr>
          <a:xfrm>
            <a:off x="1690677" y="5884915"/>
            <a:ext cx="9337278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You should use this method when using FBS in practice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C5CF9-1756-0638-1FF5-DC8C1C878DC9}"/>
              </a:ext>
            </a:extLst>
          </p:cNvPr>
          <p:cNvSpPr/>
          <p:nvPr/>
        </p:nvSpPr>
        <p:spPr>
          <a:xfrm>
            <a:off x="105032" y="1986742"/>
            <a:ext cx="11405287" cy="38332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8985AC-65CF-C074-8064-726A25E86B17}"/>
              </a:ext>
            </a:extLst>
          </p:cNvPr>
          <p:cNvSpPr/>
          <p:nvPr/>
        </p:nvSpPr>
        <p:spPr>
          <a:xfrm>
            <a:off x="1618735" y="5820037"/>
            <a:ext cx="9563626" cy="9014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58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492C-5A7E-AA13-FD73-3E36364E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LM-FBS – The Standard FBS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F095-EA28-1661-F3CD-999BBD17F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986742"/>
            <a:ext cx="11337324" cy="39316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LM-FBS is arguably the most common FBS method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 matrix is the same as the other domains if the response and reference DOFs are the same on all the components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Different B matrices for references and responses if they have different DOFs in the FRFs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C65C7F-968D-B8D6-BED0-A04B472984A2}"/>
                  </a:ext>
                </a:extLst>
              </p:cNvPr>
              <p:cNvSpPr txBox="1"/>
              <p:nvPr/>
            </p:nvSpPr>
            <p:spPr>
              <a:xfrm>
                <a:off x="1009640" y="1113886"/>
                <a:ext cx="10172721" cy="807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𝒓𝒆𝒇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𝒓𝒆</m:t>
                                      </m:r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𝒔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𝒂𝒃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  <m:sub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𝒓𝒆𝒇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𝒓𝒆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b="1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C65C7F-968D-B8D6-BED0-A04B47298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40" y="1113886"/>
                <a:ext cx="10172721" cy="807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DBC8990F-D2E8-E570-489F-9A71154BDDF7}"/>
              </a:ext>
            </a:extLst>
          </p:cNvPr>
          <p:cNvSpPr/>
          <p:nvPr/>
        </p:nvSpPr>
        <p:spPr>
          <a:xfrm>
            <a:off x="1690677" y="5884915"/>
            <a:ext cx="9337278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You should use this method when using FBS in practice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C5CF9-1756-0638-1FF5-DC8C1C878DC9}"/>
              </a:ext>
            </a:extLst>
          </p:cNvPr>
          <p:cNvSpPr/>
          <p:nvPr/>
        </p:nvSpPr>
        <p:spPr>
          <a:xfrm>
            <a:off x="105032" y="2669059"/>
            <a:ext cx="11405287" cy="3150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8985AC-65CF-C074-8064-726A25E86B17}"/>
              </a:ext>
            </a:extLst>
          </p:cNvPr>
          <p:cNvSpPr/>
          <p:nvPr/>
        </p:nvSpPr>
        <p:spPr>
          <a:xfrm>
            <a:off x="1618735" y="5820037"/>
            <a:ext cx="9563626" cy="9014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085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492C-5A7E-AA13-FD73-3E36364E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LM-FBS – The Standard FBS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F095-EA28-1661-F3CD-999BBD17F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986742"/>
            <a:ext cx="11337324" cy="39316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LM-FBS is arguably the most common FBS method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 matrix is the same as the other domains if the response and reference DOFs are the same on all the components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Different B matrices for references and responses if they have different DOFs in the FRFs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C65C7F-968D-B8D6-BED0-A04B472984A2}"/>
                  </a:ext>
                </a:extLst>
              </p:cNvPr>
              <p:cNvSpPr txBox="1"/>
              <p:nvPr/>
            </p:nvSpPr>
            <p:spPr>
              <a:xfrm>
                <a:off x="1009640" y="1113886"/>
                <a:ext cx="10172721" cy="807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𝒓𝒆𝒇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𝒓𝒆</m:t>
                                      </m:r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𝒔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𝒂𝒃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  <m:sub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𝒓𝒆𝒇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𝒓𝒆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b="1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C65C7F-968D-B8D6-BED0-A04B47298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40" y="1113886"/>
                <a:ext cx="10172721" cy="807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DBC8990F-D2E8-E570-489F-9A71154BDDF7}"/>
              </a:ext>
            </a:extLst>
          </p:cNvPr>
          <p:cNvSpPr/>
          <p:nvPr/>
        </p:nvSpPr>
        <p:spPr>
          <a:xfrm>
            <a:off x="1690677" y="5884915"/>
            <a:ext cx="9337278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You should use this method when using FBS in practice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C5CF9-1756-0638-1FF5-DC8C1C878DC9}"/>
              </a:ext>
            </a:extLst>
          </p:cNvPr>
          <p:cNvSpPr/>
          <p:nvPr/>
        </p:nvSpPr>
        <p:spPr>
          <a:xfrm>
            <a:off x="105032" y="4392827"/>
            <a:ext cx="11405287" cy="14272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8985AC-65CF-C074-8064-726A25E86B17}"/>
              </a:ext>
            </a:extLst>
          </p:cNvPr>
          <p:cNvSpPr/>
          <p:nvPr/>
        </p:nvSpPr>
        <p:spPr>
          <a:xfrm>
            <a:off x="1618735" y="5820037"/>
            <a:ext cx="9563626" cy="9014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58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492C-5A7E-AA13-FD73-3E36364E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LM-FBS – The Standard FBS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F095-EA28-1661-F3CD-999BBD17F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986742"/>
            <a:ext cx="11337324" cy="39316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LM-FBS is arguably the most common FBS method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 matrix is the same as the other domains if the response and reference DOFs are the same on all the components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Different B matrices for references and responses if they have different DOFs in the FRFs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C65C7F-968D-B8D6-BED0-A04B472984A2}"/>
                  </a:ext>
                </a:extLst>
              </p:cNvPr>
              <p:cNvSpPr txBox="1"/>
              <p:nvPr/>
            </p:nvSpPr>
            <p:spPr>
              <a:xfrm>
                <a:off x="1009640" y="1113886"/>
                <a:ext cx="10172721" cy="807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𝒓𝒆𝒇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𝒓𝒆</m:t>
                                      </m:r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𝒔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𝒂𝒃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  <m:sub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𝒓𝒆𝒇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𝒓𝒆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b="1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C65C7F-968D-B8D6-BED0-A04B47298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40" y="1113886"/>
                <a:ext cx="10172721" cy="807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DBC8990F-D2E8-E570-489F-9A71154BDDF7}"/>
              </a:ext>
            </a:extLst>
          </p:cNvPr>
          <p:cNvSpPr/>
          <p:nvPr/>
        </p:nvSpPr>
        <p:spPr>
          <a:xfrm>
            <a:off x="1690677" y="5884915"/>
            <a:ext cx="9337278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You should use this method when using FBS in practice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8985AC-65CF-C074-8064-726A25E86B17}"/>
              </a:ext>
            </a:extLst>
          </p:cNvPr>
          <p:cNvSpPr/>
          <p:nvPr/>
        </p:nvSpPr>
        <p:spPr>
          <a:xfrm>
            <a:off x="1618735" y="5820037"/>
            <a:ext cx="9563626" cy="9014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174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492C-5A7E-AA13-FD73-3E36364E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LM-FBS – The Standard FBS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F095-EA28-1661-F3CD-999BBD17F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986742"/>
            <a:ext cx="11337324" cy="39316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LM-FBS is arguably the most common FBS method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 matrix is the same as the other domains if the response and reference DOFs are the same on all the components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Different B matrices for references and responses if they have different DOFs in the FRFs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C65C7F-968D-B8D6-BED0-A04B472984A2}"/>
                  </a:ext>
                </a:extLst>
              </p:cNvPr>
              <p:cNvSpPr txBox="1"/>
              <p:nvPr/>
            </p:nvSpPr>
            <p:spPr>
              <a:xfrm>
                <a:off x="1009640" y="1113886"/>
                <a:ext cx="10172721" cy="807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𝒓𝒆𝒇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𝒓𝒆</m:t>
                                      </m:r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𝒔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𝒂𝒃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  <m:sub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</a:rPr>
                                            <m:t>𝒓𝒆𝒇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𝒓𝒆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b="1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C65C7F-968D-B8D6-BED0-A04B47298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40" y="1113886"/>
                <a:ext cx="10172721" cy="807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DBC8990F-D2E8-E570-489F-9A71154BDDF7}"/>
              </a:ext>
            </a:extLst>
          </p:cNvPr>
          <p:cNvSpPr/>
          <p:nvPr/>
        </p:nvSpPr>
        <p:spPr>
          <a:xfrm>
            <a:off x="1690677" y="5884915"/>
            <a:ext cx="9337278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You should use this method when using FBS in practice</a:t>
            </a:r>
          </a:p>
        </p:txBody>
      </p:sp>
    </p:spTree>
    <p:extLst>
      <p:ext uri="{BB962C8B-B14F-4D97-AF65-F5344CB8AC3E}">
        <p14:creationId xmlns:p14="http://schemas.microsoft.com/office/powerpoint/2010/main" val="15510941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E884-E65F-7634-4B80-C5F81473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Defining the LM-FBS Compatibility Condition</a:t>
            </a:r>
          </a:p>
        </p:txBody>
      </p:sp>
      <p:sp>
        <p:nvSpPr>
          <p:cNvPr id="4" name="Rounded Rectangle 19">
            <a:extLst>
              <a:ext uri="{FF2B5EF4-FFF2-40B4-BE49-F238E27FC236}">
                <a16:creationId xmlns:a16="http://schemas.microsoft.com/office/drawing/2014/main" id="{93686045-976C-E471-8DF7-1FA6FB2AA56C}"/>
              </a:ext>
            </a:extLst>
          </p:cNvPr>
          <p:cNvSpPr/>
          <p:nvPr/>
        </p:nvSpPr>
        <p:spPr>
          <a:xfrm>
            <a:off x="180975" y="1255776"/>
            <a:ext cx="11830050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LM-FBS derivation is the same as before, but with a change in how we express the compatibility condition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ECA5BC9E-41A1-C40F-A36A-F3F9A31EE8CA}"/>
              </a:ext>
            </a:extLst>
          </p:cNvPr>
          <p:cNvSpPr/>
          <p:nvPr/>
        </p:nvSpPr>
        <p:spPr>
          <a:xfrm>
            <a:off x="1592596" y="5470317"/>
            <a:ext cx="2426177" cy="569387"/>
          </a:xfrm>
          <a:prstGeom prst="roundRect">
            <a:avLst>
              <a:gd name="adj" fmla="val 8014"/>
            </a:avLst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4127DB0F-FF38-E8AB-004E-4847A702DF53}"/>
              </a:ext>
            </a:extLst>
          </p:cNvPr>
          <p:cNvSpPr/>
          <p:nvPr/>
        </p:nvSpPr>
        <p:spPr>
          <a:xfrm>
            <a:off x="9105899" y="2352675"/>
            <a:ext cx="1000125" cy="2190750"/>
          </a:xfrm>
          <a:prstGeom prst="roundRect">
            <a:avLst/>
          </a:prstGeom>
          <a:solidFill>
            <a:srgbClr val="0075A9">
              <a:lumMod val="20000"/>
              <a:lumOff val="80000"/>
            </a:srgbClr>
          </a:solidFill>
          <a:ln w="12700" cap="flat" cmpd="sng" algn="ctr">
            <a:solidFill>
              <a:srgbClr val="0075A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DE67997D-635B-0474-3876-11B06C30274F}"/>
              </a:ext>
            </a:extLst>
          </p:cNvPr>
          <p:cNvSpPr/>
          <p:nvPr/>
        </p:nvSpPr>
        <p:spPr>
          <a:xfrm>
            <a:off x="1838325" y="2352675"/>
            <a:ext cx="1000125" cy="2190750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57C49C-4133-8FE1-8CDB-4C54A16B6FC7}"/>
                  </a:ext>
                </a:extLst>
              </p:cNvPr>
              <p:cNvSpPr txBox="1"/>
              <p:nvPr/>
            </p:nvSpPr>
            <p:spPr>
              <a:xfrm>
                <a:off x="1755036" y="2266569"/>
                <a:ext cx="8773812" cy="2425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57C49C-4133-8FE1-8CDB-4C54A16B6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036" y="2266569"/>
                <a:ext cx="8773812" cy="2425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6B91BC-462A-6A1C-FF83-2723E6B05EA8}"/>
                  </a:ext>
                </a:extLst>
              </p:cNvPr>
              <p:cNvSpPr txBox="1"/>
              <p:nvPr/>
            </p:nvSpPr>
            <p:spPr>
              <a:xfrm>
                <a:off x="1592596" y="5470317"/>
                <a:ext cx="2426177" cy="569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6B91BC-462A-6A1C-FF83-2723E6B05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596" y="5470317"/>
                <a:ext cx="2426177" cy="5693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8FEAF22A-B084-4D4E-B10D-C1FF2BB51137}"/>
              </a:ext>
            </a:extLst>
          </p:cNvPr>
          <p:cNvSpPr txBox="1"/>
          <p:nvPr/>
        </p:nvSpPr>
        <p:spPr>
          <a:xfrm>
            <a:off x="723900" y="4887590"/>
            <a:ext cx="4163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1B1B1B"/>
                </a:solidFill>
                <a:latin typeface="Open Sans"/>
              </a:rPr>
              <a:t>Interface Compatibility</a:t>
            </a: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A7DEF4C2-EE02-B1A5-FE83-EDBBD9EAAFD2}"/>
              </a:ext>
            </a:extLst>
          </p:cNvPr>
          <p:cNvSpPr/>
          <p:nvPr/>
        </p:nvSpPr>
        <p:spPr>
          <a:xfrm>
            <a:off x="7459610" y="5384204"/>
            <a:ext cx="3023455" cy="741613"/>
          </a:xfrm>
          <a:prstGeom prst="roundRect">
            <a:avLst/>
          </a:prstGeom>
          <a:solidFill>
            <a:srgbClr val="0075A9">
              <a:lumMod val="20000"/>
              <a:lumOff val="80000"/>
            </a:srgbClr>
          </a:solidFill>
          <a:ln w="12700" cap="flat" cmpd="sng" algn="ctr">
            <a:solidFill>
              <a:srgbClr val="0075A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3216C9-1210-3625-D132-E4A18072BFD5}"/>
              </a:ext>
            </a:extLst>
          </p:cNvPr>
          <p:cNvSpPr txBox="1"/>
          <p:nvPr/>
        </p:nvSpPr>
        <p:spPr>
          <a:xfrm>
            <a:off x="6889553" y="4887590"/>
            <a:ext cx="4163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1B1B1B"/>
                </a:solidFill>
                <a:latin typeface="Open Sans"/>
              </a:rPr>
              <a:t>Force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040E5C-43DF-0770-D277-BFB636ABB846}"/>
                  </a:ext>
                </a:extLst>
              </p:cNvPr>
              <p:cNvSpPr txBox="1"/>
              <p:nvPr/>
            </p:nvSpPr>
            <p:spPr>
              <a:xfrm>
                <a:off x="7459609" y="5384204"/>
                <a:ext cx="3023456" cy="741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040E5C-43DF-0770-D277-BFB636ABB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609" y="5384204"/>
                <a:ext cx="3023456" cy="741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7218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EBABE-F20E-8830-1A84-45B72E5FF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615913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Making the B Matrices – Interface Compatibility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95F18-9646-747A-FC32-2E7DE0BAAA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1626870"/>
            <a:ext cx="7772400" cy="1343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5D039F-754F-1EB4-6CA8-90F45334E7C9}"/>
              </a:ext>
            </a:extLst>
          </p:cNvPr>
          <p:cNvSpPr txBox="1"/>
          <p:nvPr/>
        </p:nvSpPr>
        <p:spPr>
          <a:xfrm>
            <a:off x="3209543" y="94433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01C9F-418E-B332-851F-B4E334AEC66D}"/>
              </a:ext>
            </a:extLst>
          </p:cNvPr>
          <p:cNvSpPr txBox="1"/>
          <p:nvPr/>
        </p:nvSpPr>
        <p:spPr>
          <a:xfrm>
            <a:off x="5987308" y="94433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F1CEAF-95F7-4B97-6F01-78B228BA1C9A}"/>
              </a:ext>
            </a:extLst>
          </p:cNvPr>
          <p:cNvCxnSpPr>
            <a:cxnSpLocks/>
          </p:cNvCxnSpPr>
          <p:nvPr/>
        </p:nvCxnSpPr>
        <p:spPr>
          <a:xfrm flipV="1">
            <a:off x="6120384" y="128549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3DE35D-B5E6-0F60-8F34-EA675F7F8965}"/>
                  </a:ext>
                </a:extLst>
              </p:cNvPr>
              <p:cNvSpPr txBox="1"/>
              <p:nvPr/>
            </p:nvSpPr>
            <p:spPr>
              <a:xfrm>
                <a:off x="6612159" y="4253514"/>
                <a:ext cx="2123274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8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3DE35D-B5E6-0F60-8F34-EA675F7F8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159" y="4253514"/>
                <a:ext cx="2123274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70A8D71-23B9-95BD-4220-3A9C39F15520}"/>
              </a:ext>
            </a:extLst>
          </p:cNvPr>
          <p:cNvSpPr/>
          <p:nvPr/>
        </p:nvSpPr>
        <p:spPr>
          <a:xfrm>
            <a:off x="1809751" y="3506154"/>
            <a:ext cx="3150798" cy="2618776"/>
          </a:xfrm>
          <a:prstGeom prst="roundRect">
            <a:avLst>
              <a:gd name="adj" fmla="val 7157"/>
            </a:avLst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9BDCDD-ADFB-0901-C180-428B047B2D76}"/>
                  </a:ext>
                </a:extLst>
              </p:cNvPr>
              <p:cNvSpPr txBox="1"/>
              <p:nvPr/>
            </p:nvSpPr>
            <p:spPr>
              <a:xfrm>
                <a:off x="1934412" y="4009768"/>
                <a:ext cx="2956835" cy="2036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d>
                          </m:e>
                          <m:e>
                            <m:r>
                              <a:rPr lang="en-US" sz="2800" i="1" smtClean="0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</m: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 smtClean="0">
                                                <a:solidFill>
                                                  <a:srgbClr val="1B1B1B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 smtClean="0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 smtClean="0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800" i="1" smtClean="0">
                                                <a:solidFill>
                                                  <a:srgbClr val="1B1B1B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9BDCDD-ADFB-0901-C180-428B047B2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412" y="4009768"/>
                <a:ext cx="2956835" cy="2036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786DF51-53B3-B7E3-B302-685F41AD0CAB}"/>
              </a:ext>
            </a:extLst>
          </p:cNvPr>
          <p:cNvSpPr txBox="1"/>
          <p:nvPr/>
        </p:nvSpPr>
        <p:spPr>
          <a:xfrm>
            <a:off x="1295780" y="3506154"/>
            <a:ext cx="4163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1B1B1B"/>
                </a:solidFill>
                <a:latin typeface="Open Sans"/>
              </a:rPr>
              <a:t>Interface Compatibility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C33D28-B623-6488-9A50-ECDC3343A1D0}"/>
                  </a:ext>
                </a:extLst>
              </p:cNvPr>
              <p:cNvSpPr txBox="1"/>
              <p:nvPr/>
            </p:nvSpPr>
            <p:spPr>
              <a:xfrm>
                <a:off x="5695950" y="3545628"/>
                <a:ext cx="509587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sz="2000" dirty="0">
                    <a:solidFill>
                      <a:srgbClr val="1B1B1B"/>
                    </a:solidFill>
                    <a:latin typeface="Open Sans"/>
                  </a:rPr>
                  <a:t>Select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1B1B1B"/>
                    </a:solidFill>
                    <a:latin typeface="Open Sans"/>
                  </a:rPr>
                  <a:t> to enforce interface compatibility: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C33D28-B623-6488-9A50-ECDC3343A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3545628"/>
                <a:ext cx="5095873" cy="707886"/>
              </a:xfrm>
              <a:prstGeom prst="rect">
                <a:avLst/>
              </a:prstGeom>
              <a:blipFill>
                <a:blip r:embed="rId5"/>
                <a:stretch>
                  <a:fillRect l="-1196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E97FC2A-8EBE-44CA-1B2E-FE25C24BE074}"/>
              </a:ext>
            </a:extLst>
          </p:cNvPr>
          <p:cNvSpPr txBox="1"/>
          <p:nvPr/>
        </p:nvSpPr>
        <p:spPr>
          <a:xfrm>
            <a:off x="5695950" y="4761345"/>
            <a:ext cx="5095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2000" dirty="0">
                <a:solidFill>
                  <a:srgbClr val="1B1B1B"/>
                </a:solidFill>
                <a:latin typeface="Open Sans"/>
              </a:rPr>
              <a:t>Which should be equivalent to applying this constraint: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AF3A6F-B897-70C4-5285-25BE289A4E8C}"/>
                  </a:ext>
                </a:extLst>
              </p:cNvPr>
              <p:cNvSpPr txBox="1"/>
              <p:nvPr/>
            </p:nvSpPr>
            <p:spPr>
              <a:xfrm>
                <a:off x="6168009" y="5469231"/>
                <a:ext cx="3011574" cy="559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AF3A6F-B897-70C4-5285-25BE289A4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9" y="5469231"/>
                <a:ext cx="3011574" cy="559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2805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EBABE-F20E-8830-1A84-45B72E5FF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615913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Making the B Matrices – Interface Compatibility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95F18-9646-747A-FC32-2E7DE0BAAA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1626870"/>
            <a:ext cx="7772400" cy="1343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5D039F-754F-1EB4-6CA8-90F45334E7C9}"/>
              </a:ext>
            </a:extLst>
          </p:cNvPr>
          <p:cNvSpPr txBox="1"/>
          <p:nvPr/>
        </p:nvSpPr>
        <p:spPr>
          <a:xfrm>
            <a:off x="3209543" y="94433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01C9F-418E-B332-851F-B4E334AEC66D}"/>
              </a:ext>
            </a:extLst>
          </p:cNvPr>
          <p:cNvSpPr txBox="1"/>
          <p:nvPr/>
        </p:nvSpPr>
        <p:spPr>
          <a:xfrm>
            <a:off x="5987308" y="94433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F1CEAF-95F7-4B97-6F01-78B228BA1C9A}"/>
              </a:ext>
            </a:extLst>
          </p:cNvPr>
          <p:cNvCxnSpPr>
            <a:cxnSpLocks/>
          </p:cNvCxnSpPr>
          <p:nvPr/>
        </p:nvCxnSpPr>
        <p:spPr>
          <a:xfrm flipV="1">
            <a:off x="6120384" y="128549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3DE35D-B5E6-0F60-8F34-EA675F7F8965}"/>
                  </a:ext>
                </a:extLst>
              </p:cNvPr>
              <p:cNvSpPr txBox="1"/>
              <p:nvPr/>
            </p:nvSpPr>
            <p:spPr>
              <a:xfrm>
                <a:off x="6612159" y="4253514"/>
                <a:ext cx="2123274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8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3DE35D-B5E6-0F60-8F34-EA675F7F8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159" y="4253514"/>
                <a:ext cx="2123274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70A8D71-23B9-95BD-4220-3A9C39F15520}"/>
              </a:ext>
            </a:extLst>
          </p:cNvPr>
          <p:cNvSpPr/>
          <p:nvPr/>
        </p:nvSpPr>
        <p:spPr>
          <a:xfrm>
            <a:off x="1809751" y="3506154"/>
            <a:ext cx="3150798" cy="2618776"/>
          </a:xfrm>
          <a:prstGeom prst="roundRect">
            <a:avLst>
              <a:gd name="adj" fmla="val 7157"/>
            </a:avLst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9BDCDD-ADFB-0901-C180-428B047B2D76}"/>
                  </a:ext>
                </a:extLst>
              </p:cNvPr>
              <p:cNvSpPr txBox="1"/>
              <p:nvPr/>
            </p:nvSpPr>
            <p:spPr>
              <a:xfrm>
                <a:off x="1934412" y="4009768"/>
                <a:ext cx="2956835" cy="2036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d>
                          </m:e>
                          <m:e>
                            <m:r>
                              <a:rPr lang="en-US" sz="2800" i="1" smtClean="0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</m: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 smtClean="0">
                                                <a:solidFill>
                                                  <a:srgbClr val="1B1B1B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 smtClean="0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 smtClean="0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̈"/>
                                                    <m:ctrlP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800" i="1">
                                                        <a:solidFill>
                                                          <a:srgbClr val="1B1B1B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solidFill>
                                                      <a:srgbClr val="1B1B1B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800" i="1" smtClean="0">
                                                <a:solidFill>
                                                  <a:srgbClr val="1B1B1B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9BDCDD-ADFB-0901-C180-428B047B2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412" y="4009768"/>
                <a:ext cx="2956835" cy="2036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786DF51-53B3-B7E3-B302-685F41AD0CAB}"/>
              </a:ext>
            </a:extLst>
          </p:cNvPr>
          <p:cNvSpPr txBox="1"/>
          <p:nvPr/>
        </p:nvSpPr>
        <p:spPr>
          <a:xfrm>
            <a:off x="1295780" y="3506154"/>
            <a:ext cx="4163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1B1B1B"/>
                </a:solidFill>
                <a:latin typeface="Open Sans"/>
              </a:rPr>
              <a:t>Interface Compatibility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C33D28-B623-6488-9A50-ECDC3343A1D0}"/>
                  </a:ext>
                </a:extLst>
              </p:cNvPr>
              <p:cNvSpPr txBox="1"/>
              <p:nvPr/>
            </p:nvSpPr>
            <p:spPr>
              <a:xfrm>
                <a:off x="5695950" y="3545628"/>
                <a:ext cx="509587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sz="2000" dirty="0">
                    <a:solidFill>
                      <a:srgbClr val="1B1B1B"/>
                    </a:solidFill>
                    <a:latin typeface="Open Sans"/>
                  </a:rPr>
                  <a:t>Select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1B1B1B"/>
                    </a:solidFill>
                    <a:latin typeface="Open Sans"/>
                  </a:rPr>
                  <a:t> to enforce interface compatibility: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C33D28-B623-6488-9A50-ECDC3343A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3545628"/>
                <a:ext cx="5095873" cy="707886"/>
              </a:xfrm>
              <a:prstGeom prst="rect">
                <a:avLst/>
              </a:prstGeom>
              <a:blipFill>
                <a:blip r:embed="rId5"/>
                <a:stretch>
                  <a:fillRect l="-1196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E97FC2A-8EBE-44CA-1B2E-FE25C24BE074}"/>
              </a:ext>
            </a:extLst>
          </p:cNvPr>
          <p:cNvSpPr txBox="1"/>
          <p:nvPr/>
        </p:nvSpPr>
        <p:spPr>
          <a:xfrm>
            <a:off x="5695950" y="4761345"/>
            <a:ext cx="5095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2000" dirty="0">
                <a:solidFill>
                  <a:srgbClr val="1B1B1B"/>
                </a:solidFill>
                <a:latin typeface="Open Sans"/>
              </a:rPr>
              <a:t>Which should be equivalent to applying this constraint: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AF3A6F-B897-70C4-5285-25BE289A4E8C}"/>
                  </a:ext>
                </a:extLst>
              </p:cNvPr>
              <p:cNvSpPr txBox="1"/>
              <p:nvPr/>
            </p:nvSpPr>
            <p:spPr>
              <a:xfrm>
                <a:off x="6168009" y="5469231"/>
                <a:ext cx="3011574" cy="559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sz="28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AF3A6F-B897-70C4-5285-25BE289A4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9" y="5469231"/>
                <a:ext cx="3011574" cy="559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454EE8-F3D1-E2BC-45BC-DD9823F574F7}"/>
                  </a:ext>
                </a:extLst>
              </p:cNvPr>
              <p:cNvSpPr txBox="1"/>
              <p:nvPr/>
            </p:nvSpPr>
            <p:spPr>
              <a:xfrm>
                <a:off x="5424864" y="6065340"/>
                <a:ext cx="44978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454EE8-F3D1-E2BC-45BC-DD9823F57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864" y="6065340"/>
                <a:ext cx="449786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0D852DD-220C-7663-3AB0-7E4205989FB3}"/>
              </a:ext>
            </a:extLst>
          </p:cNvPr>
          <p:cNvSpPr txBox="1"/>
          <p:nvPr/>
        </p:nvSpPr>
        <p:spPr>
          <a:xfrm>
            <a:off x="9467652" y="5357454"/>
            <a:ext cx="1971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dirty="0"/>
              <a:t>Negative sign could be flipped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FAE40C-0F06-F46B-CD9F-19B768BFA180}"/>
              </a:ext>
            </a:extLst>
          </p:cNvPr>
          <p:cNvCxnSpPr>
            <a:cxnSpLocks/>
          </p:cNvCxnSpPr>
          <p:nvPr/>
        </p:nvCxnSpPr>
        <p:spPr>
          <a:xfrm flipH="1">
            <a:off x="8915400" y="5872888"/>
            <a:ext cx="628650" cy="2520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6696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D4DCDDA1-C2EF-D5B7-090F-EDD4E8B7196B}"/>
              </a:ext>
            </a:extLst>
          </p:cNvPr>
          <p:cNvSpPr/>
          <p:nvPr/>
        </p:nvSpPr>
        <p:spPr>
          <a:xfrm>
            <a:off x="1819276" y="3506154"/>
            <a:ext cx="3150798" cy="2618776"/>
          </a:xfrm>
          <a:prstGeom prst="roundRect">
            <a:avLst>
              <a:gd name="adj" fmla="val 7157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066BD-AE8F-FEBC-5CC4-21ACB1B69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Making the B Matrices – Force Equilibrium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A8436-076D-9A44-D7AB-FBB27FF4DE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1626870"/>
            <a:ext cx="7772400" cy="1343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9516B9-75A6-9A7D-2D7B-500FAF225826}"/>
              </a:ext>
            </a:extLst>
          </p:cNvPr>
          <p:cNvSpPr txBox="1"/>
          <p:nvPr/>
        </p:nvSpPr>
        <p:spPr>
          <a:xfrm>
            <a:off x="3209543" y="94433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/>
              <a:t>System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1F9B63-20B3-0219-43D4-320404807B52}"/>
              </a:ext>
            </a:extLst>
          </p:cNvPr>
          <p:cNvSpPr txBox="1"/>
          <p:nvPr/>
        </p:nvSpPr>
        <p:spPr>
          <a:xfrm>
            <a:off x="5987308" y="94433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/>
              <a:t>System B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04A8EB-1A56-A35A-CFB9-EF786E02C285}"/>
              </a:ext>
            </a:extLst>
          </p:cNvPr>
          <p:cNvCxnSpPr>
            <a:cxnSpLocks/>
          </p:cNvCxnSpPr>
          <p:nvPr/>
        </p:nvCxnSpPr>
        <p:spPr>
          <a:xfrm flipV="1">
            <a:off x="6120384" y="1285494"/>
            <a:ext cx="0" cy="1962912"/>
          </a:xfrm>
          <a:prstGeom prst="line">
            <a:avLst/>
          </a:prstGeom>
          <a:ln w="762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A3F581E-D449-8EA7-C43B-41AAA6BD3A25}"/>
              </a:ext>
            </a:extLst>
          </p:cNvPr>
          <p:cNvSpPr txBox="1"/>
          <p:nvPr/>
        </p:nvSpPr>
        <p:spPr>
          <a:xfrm>
            <a:off x="1305305" y="3506154"/>
            <a:ext cx="4163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000" b="1" dirty="0"/>
              <a:t>Force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D6F0B6-AF85-51D1-85C7-3BF692019473}"/>
                  </a:ext>
                </a:extLst>
              </p:cNvPr>
              <p:cNvSpPr txBox="1"/>
              <p:nvPr/>
            </p:nvSpPr>
            <p:spPr>
              <a:xfrm>
                <a:off x="6732158" y="4278136"/>
                <a:ext cx="2643544" cy="6585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D6F0B6-AF85-51D1-85C7-3BF692019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158" y="4278136"/>
                <a:ext cx="2643544" cy="658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552ED8-3F0B-7940-6017-D70E2CC6FB40}"/>
                  </a:ext>
                </a:extLst>
              </p:cNvPr>
              <p:cNvSpPr txBox="1"/>
              <p:nvPr/>
            </p:nvSpPr>
            <p:spPr>
              <a:xfrm>
                <a:off x="1819275" y="4009768"/>
                <a:ext cx="3150799" cy="2019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d>
                          </m:e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</m: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552ED8-3F0B-7940-6017-D70E2CC6F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275" y="4009768"/>
                <a:ext cx="3150799" cy="20199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B51AF7-F142-3B68-98DE-60036BFF2323}"/>
                  </a:ext>
                </a:extLst>
              </p:cNvPr>
              <p:cNvSpPr txBox="1"/>
              <p:nvPr/>
            </p:nvSpPr>
            <p:spPr>
              <a:xfrm>
                <a:off x="5695950" y="3545628"/>
                <a:ext cx="5095873" cy="732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sz="2000" dirty="0"/>
                  <a:t>Select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2000" dirty="0"/>
                  <a:t> to enforce force equilibrium with a Lagrange Multiplier: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B51AF7-F142-3B68-98DE-60036BFF2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3545628"/>
                <a:ext cx="5095873" cy="732508"/>
              </a:xfrm>
              <a:prstGeom prst="rect">
                <a:avLst/>
              </a:prstGeom>
              <a:blipFill>
                <a:blip r:embed="rId5"/>
                <a:stretch>
                  <a:fillRect l="-1196" t="-3333" b="-1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0BC20B8-C885-410E-E5F8-FF22C6F0FFB2}"/>
              </a:ext>
            </a:extLst>
          </p:cNvPr>
          <p:cNvSpPr txBox="1"/>
          <p:nvPr/>
        </p:nvSpPr>
        <p:spPr>
          <a:xfrm>
            <a:off x="5695950" y="4936650"/>
            <a:ext cx="509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lang="en-US" sz="2000" dirty="0"/>
              <a:t>Where: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E94E7B-6D93-4F22-2C5F-83C172946FFE}"/>
                  </a:ext>
                </a:extLst>
              </p:cNvPr>
              <p:cNvSpPr txBox="1"/>
              <p:nvPr/>
            </p:nvSpPr>
            <p:spPr>
              <a:xfrm>
                <a:off x="6546375" y="5330432"/>
                <a:ext cx="3395021" cy="542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E94E7B-6D93-4F22-2C5F-83C172946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375" y="5330432"/>
                <a:ext cx="3395021" cy="5424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8930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6436BAC0-042A-53E3-7534-CD5C695D19EB}"/>
              </a:ext>
            </a:extLst>
          </p:cNvPr>
          <p:cNvSpPr/>
          <p:nvPr/>
        </p:nvSpPr>
        <p:spPr>
          <a:xfrm>
            <a:off x="1819276" y="3506154"/>
            <a:ext cx="3150798" cy="2618776"/>
          </a:xfrm>
          <a:prstGeom prst="roundRect">
            <a:avLst>
              <a:gd name="adj" fmla="val 7157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066BD-AE8F-FEBC-5CC4-21ACB1B69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Making the B Matrices – Force Equilibrium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A8436-076D-9A44-D7AB-FBB27FF4DE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1626870"/>
            <a:ext cx="7772400" cy="1343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9516B9-75A6-9A7D-2D7B-500FAF225826}"/>
              </a:ext>
            </a:extLst>
          </p:cNvPr>
          <p:cNvSpPr txBox="1"/>
          <p:nvPr/>
        </p:nvSpPr>
        <p:spPr>
          <a:xfrm>
            <a:off x="3209543" y="94433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/>
              <a:t>System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1F9B63-20B3-0219-43D4-320404807B52}"/>
              </a:ext>
            </a:extLst>
          </p:cNvPr>
          <p:cNvSpPr txBox="1"/>
          <p:nvPr/>
        </p:nvSpPr>
        <p:spPr>
          <a:xfrm>
            <a:off x="5987308" y="94433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/>
              <a:t>System B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04A8EB-1A56-A35A-CFB9-EF786E02C285}"/>
              </a:ext>
            </a:extLst>
          </p:cNvPr>
          <p:cNvCxnSpPr>
            <a:cxnSpLocks/>
          </p:cNvCxnSpPr>
          <p:nvPr/>
        </p:nvCxnSpPr>
        <p:spPr>
          <a:xfrm flipV="1">
            <a:off x="6120384" y="1285494"/>
            <a:ext cx="0" cy="1962912"/>
          </a:xfrm>
          <a:prstGeom prst="line">
            <a:avLst/>
          </a:prstGeom>
          <a:ln w="762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A3F581E-D449-8EA7-C43B-41AAA6BD3A25}"/>
              </a:ext>
            </a:extLst>
          </p:cNvPr>
          <p:cNvSpPr txBox="1"/>
          <p:nvPr/>
        </p:nvSpPr>
        <p:spPr>
          <a:xfrm>
            <a:off x="1305305" y="3506154"/>
            <a:ext cx="4163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000" b="1" dirty="0"/>
              <a:t>Force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D6F0B6-AF85-51D1-85C7-3BF692019473}"/>
                  </a:ext>
                </a:extLst>
              </p:cNvPr>
              <p:cNvSpPr txBox="1"/>
              <p:nvPr/>
            </p:nvSpPr>
            <p:spPr>
              <a:xfrm>
                <a:off x="6732158" y="4278136"/>
                <a:ext cx="2643544" cy="6585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D6F0B6-AF85-51D1-85C7-3BF692019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158" y="4278136"/>
                <a:ext cx="2643544" cy="658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552ED8-3F0B-7940-6017-D70E2CC6FB40}"/>
                  </a:ext>
                </a:extLst>
              </p:cNvPr>
              <p:cNvSpPr txBox="1"/>
              <p:nvPr/>
            </p:nvSpPr>
            <p:spPr>
              <a:xfrm>
                <a:off x="1819275" y="4009768"/>
                <a:ext cx="3150799" cy="2019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d>
                          </m:e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</m: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 err="1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552ED8-3F0B-7940-6017-D70E2CC6F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275" y="4009768"/>
                <a:ext cx="3150799" cy="20199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B51AF7-F142-3B68-98DE-60036BFF2323}"/>
                  </a:ext>
                </a:extLst>
              </p:cNvPr>
              <p:cNvSpPr txBox="1"/>
              <p:nvPr/>
            </p:nvSpPr>
            <p:spPr>
              <a:xfrm>
                <a:off x="5695950" y="3545628"/>
                <a:ext cx="5095873" cy="732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sz="2000" dirty="0"/>
                  <a:t>Select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2000" dirty="0"/>
                  <a:t> to enforce force equilibrium with a Lagrange Multiplier: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B51AF7-F142-3B68-98DE-60036BFF2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3545628"/>
                <a:ext cx="5095873" cy="732508"/>
              </a:xfrm>
              <a:prstGeom prst="rect">
                <a:avLst/>
              </a:prstGeom>
              <a:blipFill>
                <a:blip r:embed="rId5"/>
                <a:stretch>
                  <a:fillRect l="-1196" t="-3333" b="-1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0BC20B8-C885-410E-E5F8-FF22C6F0FFB2}"/>
              </a:ext>
            </a:extLst>
          </p:cNvPr>
          <p:cNvSpPr txBox="1"/>
          <p:nvPr/>
        </p:nvSpPr>
        <p:spPr>
          <a:xfrm>
            <a:off x="5695950" y="4936650"/>
            <a:ext cx="509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lang="en-US" sz="2000" dirty="0"/>
              <a:t>Where: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E94E7B-6D93-4F22-2C5F-83C172946FFE}"/>
                  </a:ext>
                </a:extLst>
              </p:cNvPr>
              <p:cNvSpPr txBox="1"/>
              <p:nvPr/>
            </p:nvSpPr>
            <p:spPr>
              <a:xfrm>
                <a:off x="6546375" y="5330432"/>
                <a:ext cx="3395021" cy="542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E94E7B-6D93-4F22-2C5F-83C172946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375" y="5330432"/>
                <a:ext cx="3395021" cy="5424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73B4DF-EDCC-6542-DA43-6AF3CA6A0CFF}"/>
                  </a:ext>
                </a:extLst>
              </p:cNvPr>
              <p:cNvSpPr txBox="1"/>
              <p:nvPr/>
            </p:nvSpPr>
            <p:spPr>
              <a:xfrm>
                <a:off x="5804998" y="6069672"/>
                <a:ext cx="4497863" cy="59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𝒓𝒆𝒇</m:t>
                              </m:r>
                            </m:sub>
                          </m:sSub>
                        </m:e>
                      </m:d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73B4DF-EDCC-6542-DA43-6AF3CA6A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998" y="6069672"/>
                <a:ext cx="4497863" cy="5949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7A940AB-E81E-B3A5-17BC-6498CD121E23}"/>
              </a:ext>
            </a:extLst>
          </p:cNvPr>
          <p:cNvSpPr txBox="1"/>
          <p:nvPr/>
        </p:nvSpPr>
        <p:spPr>
          <a:xfrm>
            <a:off x="9705777" y="5357454"/>
            <a:ext cx="1971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dirty="0"/>
              <a:t>Negative sign could be flipped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3CFA90-F2BF-1095-E703-A3E4B4661146}"/>
              </a:ext>
            </a:extLst>
          </p:cNvPr>
          <p:cNvCxnSpPr>
            <a:cxnSpLocks/>
          </p:cNvCxnSpPr>
          <p:nvPr/>
        </p:nvCxnSpPr>
        <p:spPr>
          <a:xfrm flipH="1">
            <a:off x="9153525" y="5872888"/>
            <a:ext cx="628650" cy="2520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9601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2C24B-CA5B-FB63-8494-8CF8AC34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LM-FBS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3209E59D-B906-F9DB-2A26-A1F405B268BD}"/>
              </a:ext>
            </a:extLst>
          </p:cNvPr>
          <p:cNvSpPr/>
          <p:nvPr/>
        </p:nvSpPr>
        <p:spPr>
          <a:xfrm>
            <a:off x="1592596" y="4955967"/>
            <a:ext cx="2426177" cy="569387"/>
          </a:xfrm>
          <a:prstGeom prst="roundRect">
            <a:avLst>
              <a:gd name="adj" fmla="val 8014"/>
            </a:avLst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49FB9968-6D6A-CFF2-C82D-708AF7AE2821}"/>
              </a:ext>
            </a:extLst>
          </p:cNvPr>
          <p:cNvSpPr/>
          <p:nvPr/>
        </p:nvSpPr>
        <p:spPr>
          <a:xfrm>
            <a:off x="9105899" y="1838325"/>
            <a:ext cx="1000125" cy="2190750"/>
          </a:xfrm>
          <a:prstGeom prst="roundRect">
            <a:avLst/>
          </a:prstGeom>
          <a:solidFill>
            <a:srgbClr val="0075A9">
              <a:lumMod val="20000"/>
              <a:lumOff val="80000"/>
            </a:srgbClr>
          </a:solidFill>
          <a:ln w="12700" cap="flat" cmpd="sng" algn="ctr">
            <a:solidFill>
              <a:srgbClr val="0075A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C3E93E54-CA67-2085-9087-E52CD2BF16F7}"/>
              </a:ext>
            </a:extLst>
          </p:cNvPr>
          <p:cNvSpPr/>
          <p:nvPr/>
        </p:nvSpPr>
        <p:spPr>
          <a:xfrm>
            <a:off x="1838325" y="1838325"/>
            <a:ext cx="1000125" cy="2190750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0E38A8-CC89-EC21-8D1B-D6C76F937570}"/>
                  </a:ext>
                </a:extLst>
              </p:cNvPr>
              <p:cNvSpPr txBox="1"/>
              <p:nvPr/>
            </p:nvSpPr>
            <p:spPr>
              <a:xfrm>
                <a:off x="1755036" y="1752219"/>
                <a:ext cx="8773812" cy="2425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 smtClean="0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32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i="1" smtClean="0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smtClean="0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solidFill>
                                                    <a:srgbClr val="1B1B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0E38A8-CC89-EC21-8D1B-D6C76F937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036" y="1752219"/>
                <a:ext cx="8773812" cy="2425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F33FB2-B408-CC27-E9FA-D2B41B685595}"/>
                  </a:ext>
                </a:extLst>
              </p:cNvPr>
              <p:cNvSpPr txBox="1"/>
              <p:nvPr/>
            </p:nvSpPr>
            <p:spPr>
              <a:xfrm>
                <a:off x="1592596" y="4955967"/>
                <a:ext cx="2426177" cy="569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2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F33FB2-B408-CC27-E9FA-D2B41B68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596" y="4955967"/>
                <a:ext cx="2426177" cy="5693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897D835-2F53-6CA2-29F8-10DECB106074}"/>
              </a:ext>
            </a:extLst>
          </p:cNvPr>
          <p:cNvSpPr txBox="1"/>
          <p:nvPr/>
        </p:nvSpPr>
        <p:spPr>
          <a:xfrm>
            <a:off x="723900" y="4373240"/>
            <a:ext cx="4163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1B1B1B"/>
                </a:solidFill>
                <a:latin typeface="Open Sans"/>
              </a:rPr>
              <a:t>Interface Compatibility</a:t>
            </a: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04DD1D68-6B06-C354-2DA1-4F0E721EA71C}"/>
              </a:ext>
            </a:extLst>
          </p:cNvPr>
          <p:cNvSpPr/>
          <p:nvPr/>
        </p:nvSpPr>
        <p:spPr>
          <a:xfrm>
            <a:off x="7459610" y="4869854"/>
            <a:ext cx="3023455" cy="741613"/>
          </a:xfrm>
          <a:prstGeom prst="roundRect">
            <a:avLst/>
          </a:prstGeom>
          <a:solidFill>
            <a:srgbClr val="0075A9">
              <a:lumMod val="20000"/>
              <a:lumOff val="80000"/>
            </a:srgbClr>
          </a:solidFill>
          <a:ln w="12700" cap="flat" cmpd="sng" algn="ctr">
            <a:solidFill>
              <a:srgbClr val="0075A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D3C9FA-DC74-24A8-C38F-73CF8B9392DD}"/>
              </a:ext>
            </a:extLst>
          </p:cNvPr>
          <p:cNvSpPr txBox="1"/>
          <p:nvPr/>
        </p:nvSpPr>
        <p:spPr>
          <a:xfrm>
            <a:off x="6889553" y="4373240"/>
            <a:ext cx="4163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1B1B1B"/>
                </a:solidFill>
                <a:latin typeface="Open Sans"/>
              </a:rPr>
              <a:t>Force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333CE5-6E21-356A-9578-11CCB65AFF52}"/>
                  </a:ext>
                </a:extLst>
              </p:cNvPr>
              <p:cNvSpPr txBox="1"/>
              <p:nvPr/>
            </p:nvSpPr>
            <p:spPr>
              <a:xfrm>
                <a:off x="7459609" y="4869854"/>
                <a:ext cx="3023456" cy="741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3200" i="1" smtClean="0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32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3200" dirty="0" err="1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333CE5-6E21-356A-9578-11CCB65AF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609" y="4869854"/>
                <a:ext cx="3023456" cy="741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3975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4E46-A86E-4ED3-E25E-B03E3838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LM-FBS</a:t>
            </a:r>
          </a:p>
        </p:txBody>
      </p:sp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051732E7-35A5-F41B-1741-5F7388BB497C}"/>
              </a:ext>
            </a:extLst>
          </p:cNvPr>
          <p:cNvSpPr/>
          <p:nvPr/>
        </p:nvSpPr>
        <p:spPr>
          <a:xfrm>
            <a:off x="1936861" y="2483995"/>
            <a:ext cx="5601322" cy="2369570"/>
          </a:xfrm>
          <a:prstGeom prst="roundRect">
            <a:avLst>
              <a:gd name="adj" fmla="val 3518"/>
            </a:avLst>
          </a:prstGeom>
          <a:solidFill>
            <a:srgbClr val="287968">
              <a:lumMod val="20000"/>
              <a:lumOff val="80000"/>
            </a:srgbClr>
          </a:solidFill>
          <a:ln w="12700" cap="flat" cmpd="sng" algn="ctr">
            <a:solidFill>
              <a:srgbClr val="28796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CE46F-ABFA-0B76-1C0E-3AD865DD2DB7}"/>
                  </a:ext>
                </a:extLst>
              </p:cNvPr>
              <p:cNvSpPr txBox="1"/>
              <p:nvPr/>
            </p:nvSpPr>
            <p:spPr>
              <a:xfrm>
                <a:off x="1913616" y="4147707"/>
                <a:ext cx="5779687" cy="711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B1B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i="1" smtClean="0">
                        <a:solidFill>
                          <a:srgbClr val="1B1B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𝑟𝑒𝑠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p>
                                </m:sSup>
                              </m:e>
                            </m:d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𝑟𝑒𝑓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CE46F-ABFA-0B76-1C0E-3AD865DD2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4147707"/>
                <a:ext cx="5779687" cy="7115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E496E611-55D0-7092-A53C-9E7E0C4B2F85}"/>
              </a:ext>
            </a:extLst>
          </p:cNvPr>
          <p:cNvSpPr/>
          <p:nvPr/>
        </p:nvSpPr>
        <p:spPr>
          <a:xfrm>
            <a:off x="1936860" y="4897598"/>
            <a:ext cx="8846941" cy="1848816"/>
          </a:xfrm>
          <a:prstGeom prst="roundRect">
            <a:avLst>
              <a:gd name="adj" fmla="val 3518"/>
            </a:avLst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535999FA-9E55-E691-69F4-15FEA7FAE3A1}"/>
              </a:ext>
            </a:extLst>
          </p:cNvPr>
          <p:cNvSpPr/>
          <p:nvPr/>
        </p:nvSpPr>
        <p:spPr>
          <a:xfrm>
            <a:off x="1936861" y="1916247"/>
            <a:ext cx="5443838" cy="544555"/>
          </a:xfrm>
          <a:prstGeom prst="roundRect">
            <a:avLst>
              <a:gd name="adj" fmla="val 8014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8287CD9B-C32D-3EC0-CB81-1FDC93AE6E0A}"/>
              </a:ext>
            </a:extLst>
          </p:cNvPr>
          <p:cNvSpPr/>
          <p:nvPr/>
        </p:nvSpPr>
        <p:spPr>
          <a:xfrm>
            <a:off x="1936861" y="1311999"/>
            <a:ext cx="3883054" cy="570904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ounded Rectangle 8">
            <a:extLst>
              <a:ext uri="{FF2B5EF4-FFF2-40B4-BE49-F238E27FC236}">
                <a16:creationId xmlns:a16="http://schemas.microsoft.com/office/drawing/2014/main" id="{87D339ED-7DF1-C760-6C84-4FCFD3443521}"/>
              </a:ext>
            </a:extLst>
          </p:cNvPr>
          <p:cNvSpPr/>
          <p:nvPr/>
        </p:nvSpPr>
        <p:spPr>
          <a:xfrm>
            <a:off x="1936861" y="808782"/>
            <a:ext cx="3089234" cy="466344"/>
          </a:xfrm>
          <a:prstGeom prst="roundRect">
            <a:avLst>
              <a:gd name="adj" fmla="val 8014"/>
            </a:avLst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7B2695-DFC0-7BF9-60BF-E4E2E6D922E3}"/>
                  </a:ext>
                </a:extLst>
              </p:cNvPr>
              <p:cNvSpPr txBox="1"/>
              <p:nvPr/>
            </p:nvSpPr>
            <p:spPr>
              <a:xfrm>
                <a:off x="1913616" y="807852"/>
                <a:ext cx="4074711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7B2695-DFC0-7BF9-60BF-E4E2E6D92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807852"/>
                <a:ext cx="4074711" cy="46820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C7CBA0-07BD-91F3-CEFE-FA441C8A62C6}"/>
                  </a:ext>
                </a:extLst>
              </p:cNvPr>
              <p:cNvSpPr txBox="1"/>
              <p:nvPr/>
            </p:nvSpPr>
            <p:spPr>
              <a:xfrm>
                <a:off x="1913616" y="1268579"/>
                <a:ext cx="4665262" cy="65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𝒓𝒆𝒇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C7CBA0-07BD-91F3-CEFE-FA441C8A6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1268579"/>
                <a:ext cx="4665262" cy="657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7EC221-583B-664B-D46E-4E4671CA8453}"/>
                  </a:ext>
                </a:extLst>
              </p:cNvPr>
              <p:cNvSpPr txBox="1"/>
              <p:nvPr/>
            </p:nvSpPr>
            <p:spPr>
              <a:xfrm>
                <a:off x="1913616" y="1863371"/>
                <a:ext cx="5779687" cy="650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7EC221-583B-664B-D46E-4E4671CA8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1863371"/>
                <a:ext cx="5779687" cy="6503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1B827C-5A30-941E-D67F-2BAFAA35B56D}"/>
                  </a:ext>
                </a:extLst>
              </p:cNvPr>
              <p:cNvSpPr txBox="1"/>
              <p:nvPr/>
            </p:nvSpPr>
            <p:spPr>
              <a:xfrm>
                <a:off x="1913616" y="2449887"/>
                <a:ext cx="4889980" cy="650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1B827C-5A30-941E-D67F-2BAFAA35B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2449887"/>
                <a:ext cx="4889980" cy="6503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7547D0-985F-F454-2FE5-F5C60D4DB475}"/>
                  </a:ext>
                </a:extLst>
              </p:cNvPr>
              <p:cNvSpPr txBox="1"/>
              <p:nvPr/>
            </p:nvSpPr>
            <p:spPr>
              <a:xfrm>
                <a:off x="1913616" y="3055453"/>
                <a:ext cx="5779687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7547D0-985F-F454-2FE5-F5C60D4DB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3055453"/>
                <a:ext cx="5779687" cy="5908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7FFEF06-E13F-E017-036B-CB22CB9DB98C}"/>
                  </a:ext>
                </a:extLst>
              </p:cNvPr>
              <p:cNvSpPr txBox="1"/>
              <p:nvPr/>
            </p:nvSpPr>
            <p:spPr>
              <a:xfrm>
                <a:off x="1913616" y="3601580"/>
                <a:ext cx="5779687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7FFEF06-E13F-E017-036B-CB22CB9DB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3601580"/>
                <a:ext cx="5779687" cy="5908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479047-6032-2683-9369-24826E1C7612}"/>
                  </a:ext>
                </a:extLst>
              </p:cNvPr>
              <p:cNvSpPr txBox="1"/>
              <p:nvPr/>
            </p:nvSpPr>
            <p:spPr>
              <a:xfrm>
                <a:off x="1913616" y="4814508"/>
                <a:ext cx="4665262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479047-6032-2683-9369-24826E1C7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4814508"/>
                <a:ext cx="4665262" cy="5908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E4B983-475C-2F85-488E-F9A3AD9988E6}"/>
                  </a:ext>
                </a:extLst>
              </p:cNvPr>
              <p:cNvSpPr txBox="1"/>
              <p:nvPr/>
            </p:nvSpPr>
            <p:spPr>
              <a:xfrm>
                <a:off x="1913616" y="5360635"/>
                <a:ext cx="9818288" cy="711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̈"/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400" i="1" smtClean="0">
                        <a:solidFill>
                          <a:srgbClr val="1B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400" i="1">
                        <a:solidFill>
                          <a:srgbClr val="1B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𝑟𝑒𝑠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p>
                                </m:sSup>
                              </m:e>
                            </m:d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𝑟𝑒𝑓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E4B983-475C-2F85-488E-F9A3AD998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5360635"/>
                <a:ext cx="9818288" cy="7115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DBCDC4-AD19-D824-D65B-371779509DF9}"/>
                  </a:ext>
                </a:extLst>
              </p:cNvPr>
              <p:cNvSpPr txBox="1"/>
              <p:nvPr/>
            </p:nvSpPr>
            <p:spPr>
              <a:xfrm>
                <a:off x="1913615" y="6027435"/>
                <a:ext cx="9171635" cy="718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𝒓𝒆𝒇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1B1B1B"/>
                          </a:solidFill>
                          <a:latin typeface="Open Sans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𝒓𝒆𝒔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𝒂𝒃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𝒓𝒆𝒇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1B1B1B"/>
                          </a:solidFill>
                          <a:latin typeface="Open Sans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DBCDC4-AD19-D824-D65B-371779509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5" y="6027435"/>
                <a:ext cx="9171635" cy="71897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E70D167-5353-28B7-C6A8-47BFF0E83447}"/>
              </a:ext>
            </a:extLst>
          </p:cNvPr>
          <p:cNvSpPr txBox="1"/>
          <p:nvPr/>
        </p:nvSpPr>
        <p:spPr>
          <a:xfrm>
            <a:off x="1391422" y="857288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1.)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314A59-DAC4-0661-6E7B-EEAA842111B5}"/>
              </a:ext>
            </a:extLst>
          </p:cNvPr>
          <p:cNvSpPr txBox="1"/>
          <p:nvPr/>
        </p:nvSpPr>
        <p:spPr>
          <a:xfrm>
            <a:off x="1391422" y="1412785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2.)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9395C4-4FF2-CDC2-7040-02CE743B60DF}"/>
              </a:ext>
            </a:extLst>
          </p:cNvPr>
          <p:cNvSpPr txBox="1"/>
          <p:nvPr/>
        </p:nvSpPr>
        <p:spPr>
          <a:xfrm>
            <a:off x="1391422" y="2003858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3.)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EF77DA-9DCE-CF32-C2A3-F0BF71FEB4D5}"/>
              </a:ext>
            </a:extLst>
          </p:cNvPr>
          <p:cNvSpPr txBox="1"/>
          <p:nvPr/>
        </p:nvSpPr>
        <p:spPr>
          <a:xfrm>
            <a:off x="1391422" y="2590374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4.)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32769C-44AB-6BE7-7966-A145F31862D0}"/>
              </a:ext>
            </a:extLst>
          </p:cNvPr>
          <p:cNvSpPr txBox="1"/>
          <p:nvPr/>
        </p:nvSpPr>
        <p:spPr>
          <a:xfrm>
            <a:off x="1391422" y="3166220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5.)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93DCD7-96D0-74A2-D17D-DABD46944EE8}"/>
              </a:ext>
            </a:extLst>
          </p:cNvPr>
          <p:cNvSpPr txBox="1"/>
          <p:nvPr/>
        </p:nvSpPr>
        <p:spPr>
          <a:xfrm>
            <a:off x="1391422" y="3712347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6.)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B7A15F-EE12-8129-AA80-E888852BA53F}"/>
              </a:ext>
            </a:extLst>
          </p:cNvPr>
          <p:cNvSpPr txBox="1"/>
          <p:nvPr/>
        </p:nvSpPr>
        <p:spPr>
          <a:xfrm>
            <a:off x="1391422" y="4318811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7.)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8BD3EC-9871-3500-FC56-5A82FA889489}"/>
              </a:ext>
            </a:extLst>
          </p:cNvPr>
          <p:cNvSpPr txBox="1"/>
          <p:nvPr/>
        </p:nvSpPr>
        <p:spPr>
          <a:xfrm>
            <a:off x="1391422" y="4925275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8.)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103F4B-DA19-56AF-FF15-9EBEFD04DBDA}"/>
              </a:ext>
            </a:extLst>
          </p:cNvPr>
          <p:cNvSpPr txBox="1"/>
          <p:nvPr/>
        </p:nvSpPr>
        <p:spPr>
          <a:xfrm>
            <a:off x="1391422" y="5531739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9.)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4786E6-9616-3108-88EC-C0F009A656E0}"/>
              </a:ext>
            </a:extLst>
          </p:cNvPr>
          <p:cNvSpPr txBox="1"/>
          <p:nvPr/>
        </p:nvSpPr>
        <p:spPr>
          <a:xfrm>
            <a:off x="1338351" y="6202258"/>
            <a:ext cx="598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10.)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3EE51B9-3E14-2BD5-5D32-48C675AE82F2}"/>
              </a:ext>
            </a:extLst>
          </p:cNvPr>
          <p:cNvSpPr/>
          <p:nvPr/>
        </p:nvSpPr>
        <p:spPr>
          <a:xfrm>
            <a:off x="1435526" y="1303686"/>
            <a:ext cx="9818288" cy="5487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3C51B0-468E-C59D-C0C5-E0954DECFE68}"/>
              </a:ext>
            </a:extLst>
          </p:cNvPr>
          <p:cNvSpPr txBox="1"/>
          <p:nvPr/>
        </p:nvSpPr>
        <p:spPr>
          <a:xfrm>
            <a:off x="5968273" y="856701"/>
            <a:ext cx="1504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dirty="0"/>
              <a:t>Starting point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6ED8453-EB56-FD26-2F04-9D9ED84C85C9}"/>
              </a:ext>
            </a:extLst>
          </p:cNvPr>
          <p:cNvCxnSpPr>
            <a:cxnSpLocks/>
          </p:cNvCxnSpPr>
          <p:nvPr/>
        </p:nvCxnSpPr>
        <p:spPr>
          <a:xfrm flipH="1" flipV="1">
            <a:off x="5088944" y="1041367"/>
            <a:ext cx="8793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8366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4E46-A86E-4ED3-E25E-B03E3838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LM-FBS</a:t>
            </a:r>
          </a:p>
        </p:txBody>
      </p:sp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051732E7-35A5-F41B-1741-5F7388BB497C}"/>
              </a:ext>
            </a:extLst>
          </p:cNvPr>
          <p:cNvSpPr/>
          <p:nvPr/>
        </p:nvSpPr>
        <p:spPr>
          <a:xfrm>
            <a:off x="1936861" y="2483995"/>
            <a:ext cx="5601322" cy="2369570"/>
          </a:xfrm>
          <a:prstGeom prst="roundRect">
            <a:avLst>
              <a:gd name="adj" fmla="val 3518"/>
            </a:avLst>
          </a:prstGeom>
          <a:solidFill>
            <a:srgbClr val="287968">
              <a:lumMod val="20000"/>
              <a:lumOff val="80000"/>
            </a:srgbClr>
          </a:solidFill>
          <a:ln w="12700" cap="flat" cmpd="sng" algn="ctr">
            <a:solidFill>
              <a:srgbClr val="28796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CE46F-ABFA-0B76-1C0E-3AD865DD2DB7}"/>
                  </a:ext>
                </a:extLst>
              </p:cNvPr>
              <p:cNvSpPr txBox="1"/>
              <p:nvPr/>
            </p:nvSpPr>
            <p:spPr>
              <a:xfrm>
                <a:off x="1913616" y="4147707"/>
                <a:ext cx="5779687" cy="711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B1B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i="1" smtClean="0">
                        <a:solidFill>
                          <a:srgbClr val="1B1B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𝑟𝑒𝑠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p>
                                </m:sSup>
                              </m:e>
                            </m:d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𝑟𝑒𝑓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CE46F-ABFA-0B76-1C0E-3AD865DD2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4147707"/>
                <a:ext cx="5779687" cy="7115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E496E611-55D0-7092-A53C-9E7E0C4B2F85}"/>
              </a:ext>
            </a:extLst>
          </p:cNvPr>
          <p:cNvSpPr/>
          <p:nvPr/>
        </p:nvSpPr>
        <p:spPr>
          <a:xfrm>
            <a:off x="1936860" y="4897598"/>
            <a:ext cx="8846941" cy="1848816"/>
          </a:xfrm>
          <a:prstGeom prst="roundRect">
            <a:avLst>
              <a:gd name="adj" fmla="val 3518"/>
            </a:avLst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535999FA-9E55-E691-69F4-15FEA7FAE3A1}"/>
              </a:ext>
            </a:extLst>
          </p:cNvPr>
          <p:cNvSpPr/>
          <p:nvPr/>
        </p:nvSpPr>
        <p:spPr>
          <a:xfrm>
            <a:off x="1936861" y="1916247"/>
            <a:ext cx="5443838" cy="544555"/>
          </a:xfrm>
          <a:prstGeom prst="roundRect">
            <a:avLst>
              <a:gd name="adj" fmla="val 8014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8287CD9B-C32D-3EC0-CB81-1FDC93AE6E0A}"/>
              </a:ext>
            </a:extLst>
          </p:cNvPr>
          <p:cNvSpPr/>
          <p:nvPr/>
        </p:nvSpPr>
        <p:spPr>
          <a:xfrm>
            <a:off x="1936861" y="1311999"/>
            <a:ext cx="3883054" cy="570904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ounded Rectangle 8">
            <a:extLst>
              <a:ext uri="{FF2B5EF4-FFF2-40B4-BE49-F238E27FC236}">
                <a16:creationId xmlns:a16="http://schemas.microsoft.com/office/drawing/2014/main" id="{87D339ED-7DF1-C760-6C84-4FCFD3443521}"/>
              </a:ext>
            </a:extLst>
          </p:cNvPr>
          <p:cNvSpPr/>
          <p:nvPr/>
        </p:nvSpPr>
        <p:spPr>
          <a:xfrm>
            <a:off x="1936861" y="808782"/>
            <a:ext cx="3089234" cy="466344"/>
          </a:xfrm>
          <a:prstGeom prst="roundRect">
            <a:avLst>
              <a:gd name="adj" fmla="val 8014"/>
            </a:avLst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7B2695-DFC0-7BF9-60BF-E4E2E6D922E3}"/>
                  </a:ext>
                </a:extLst>
              </p:cNvPr>
              <p:cNvSpPr txBox="1"/>
              <p:nvPr/>
            </p:nvSpPr>
            <p:spPr>
              <a:xfrm>
                <a:off x="1913616" y="807852"/>
                <a:ext cx="4074711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7B2695-DFC0-7BF9-60BF-E4E2E6D92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807852"/>
                <a:ext cx="4074711" cy="46820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C7CBA0-07BD-91F3-CEFE-FA441C8A62C6}"/>
                  </a:ext>
                </a:extLst>
              </p:cNvPr>
              <p:cNvSpPr txBox="1"/>
              <p:nvPr/>
            </p:nvSpPr>
            <p:spPr>
              <a:xfrm>
                <a:off x="1913616" y="1268579"/>
                <a:ext cx="4665262" cy="65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𝒓𝒆𝒇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C7CBA0-07BD-91F3-CEFE-FA441C8A6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1268579"/>
                <a:ext cx="4665262" cy="657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7EC221-583B-664B-D46E-4E4671CA8453}"/>
                  </a:ext>
                </a:extLst>
              </p:cNvPr>
              <p:cNvSpPr txBox="1"/>
              <p:nvPr/>
            </p:nvSpPr>
            <p:spPr>
              <a:xfrm>
                <a:off x="1913616" y="1863371"/>
                <a:ext cx="5779687" cy="650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7EC221-583B-664B-D46E-4E4671CA8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1863371"/>
                <a:ext cx="5779687" cy="6503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1B827C-5A30-941E-D67F-2BAFAA35B56D}"/>
                  </a:ext>
                </a:extLst>
              </p:cNvPr>
              <p:cNvSpPr txBox="1"/>
              <p:nvPr/>
            </p:nvSpPr>
            <p:spPr>
              <a:xfrm>
                <a:off x="1913616" y="2449887"/>
                <a:ext cx="4889980" cy="650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1B827C-5A30-941E-D67F-2BAFAA35B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2449887"/>
                <a:ext cx="4889980" cy="6503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7547D0-985F-F454-2FE5-F5C60D4DB475}"/>
                  </a:ext>
                </a:extLst>
              </p:cNvPr>
              <p:cNvSpPr txBox="1"/>
              <p:nvPr/>
            </p:nvSpPr>
            <p:spPr>
              <a:xfrm>
                <a:off x="1913616" y="3055453"/>
                <a:ext cx="5779687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7547D0-985F-F454-2FE5-F5C60D4DB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3055453"/>
                <a:ext cx="5779687" cy="5908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7FFEF06-E13F-E017-036B-CB22CB9DB98C}"/>
                  </a:ext>
                </a:extLst>
              </p:cNvPr>
              <p:cNvSpPr txBox="1"/>
              <p:nvPr/>
            </p:nvSpPr>
            <p:spPr>
              <a:xfrm>
                <a:off x="1913616" y="3601580"/>
                <a:ext cx="5779687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7FFEF06-E13F-E017-036B-CB22CB9DB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3601580"/>
                <a:ext cx="5779687" cy="5908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479047-6032-2683-9369-24826E1C7612}"/>
                  </a:ext>
                </a:extLst>
              </p:cNvPr>
              <p:cNvSpPr txBox="1"/>
              <p:nvPr/>
            </p:nvSpPr>
            <p:spPr>
              <a:xfrm>
                <a:off x="1913616" y="4814508"/>
                <a:ext cx="4665262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479047-6032-2683-9369-24826E1C7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4814508"/>
                <a:ext cx="4665262" cy="5908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E4B983-475C-2F85-488E-F9A3AD9988E6}"/>
                  </a:ext>
                </a:extLst>
              </p:cNvPr>
              <p:cNvSpPr txBox="1"/>
              <p:nvPr/>
            </p:nvSpPr>
            <p:spPr>
              <a:xfrm>
                <a:off x="1913616" y="5360635"/>
                <a:ext cx="9818288" cy="711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̈"/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400" i="1" smtClean="0">
                        <a:solidFill>
                          <a:srgbClr val="1B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400" i="1">
                        <a:solidFill>
                          <a:srgbClr val="1B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𝑟𝑒𝑠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p>
                                </m:sSup>
                              </m:e>
                            </m:d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𝑟𝑒𝑓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E4B983-475C-2F85-488E-F9A3AD998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5360635"/>
                <a:ext cx="9818288" cy="7115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DBCDC4-AD19-D824-D65B-371779509DF9}"/>
                  </a:ext>
                </a:extLst>
              </p:cNvPr>
              <p:cNvSpPr txBox="1"/>
              <p:nvPr/>
            </p:nvSpPr>
            <p:spPr>
              <a:xfrm>
                <a:off x="1913615" y="6027435"/>
                <a:ext cx="9171635" cy="718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𝒓𝒆𝒇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1B1B1B"/>
                          </a:solidFill>
                          <a:latin typeface="Open Sans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𝒓𝒆𝒔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𝒂𝒃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𝒓𝒆𝒇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1B1B1B"/>
                          </a:solidFill>
                          <a:latin typeface="Open Sans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DBCDC4-AD19-D824-D65B-371779509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5" y="6027435"/>
                <a:ext cx="9171635" cy="71897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E70D167-5353-28B7-C6A8-47BFF0E83447}"/>
              </a:ext>
            </a:extLst>
          </p:cNvPr>
          <p:cNvSpPr txBox="1"/>
          <p:nvPr/>
        </p:nvSpPr>
        <p:spPr>
          <a:xfrm>
            <a:off x="1391422" y="857288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1.)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314A59-DAC4-0661-6E7B-EEAA842111B5}"/>
              </a:ext>
            </a:extLst>
          </p:cNvPr>
          <p:cNvSpPr txBox="1"/>
          <p:nvPr/>
        </p:nvSpPr>
        <p:spPr>
          <a:xfrm>
            <a:off x="1391422" y="1412785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2.)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9395C4-4FF2-CDC2-7040-02CE743B60DF}"/>
              </a:ext>
            </a:extLst>
          </p:cNvPr>
          <p:cNvSpPr txBox="1"/>
          <p:nvPr/>
        </p:nvSpPr>
        <p:spPr>
          <a:xfrm>
            <a:off x="1391422" y="2003858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3.)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EF77DA-9DCE-CF32-C2A3-F0BF71FEB4D5}"/>
              </a:ext>
            </a:extLst>
          </p:cNvPr>
          <p:cNvSpPr txBox="1"/>
          <p:nvPr/>
        </p:nvSpPr>
        <p:spPr>
          <a:xfrm>
            <a:off x="1391422" y="2590374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4.)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32769C-44AB-6BE7-7966-A145F31862D0}"/>
              </a:ext>
            </a:extLst>
          </p:cNvPr>
          <p:cNvSpPr txBox="1"/>
          <p:nvPr/>
        </p:nvSpPr>
        <p:spPr>
          <a:xfrm>
            <a:off x="1391422" y="3166220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5.)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93DCD7-96D0-74A2-D17D-DABD46944EE8}"/>
              </a:ext>
            </a:extLst>
          </p:cNvPr>
          <p:cNvSpPr txBox="1"/>
          <p:nvPr/>
        </p:nvSpPr>
        <p:spPr>
          <a:xfrm>
            <a:off x="1391422" y="3712347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6.)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B7A15F-EE12-8129-AA80-E888852BA53F}"/>
              </a:ext>
            </a:extLst>
          </p:cNvPr>
          <p:cNvSpPr txBox="1"/>
          <p:nvPr/>
        </p:nvSpPr>
        <p:spPr>
          <a:xfrm>
            <a:off x="1391422" y="4318811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7.)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8BD3EC-9871-3500-FC56-5A82FA889489}"/>
              </a:ext>
            </a:extLst>
          </p:cNvPr>
          <p:cNvSpPr txBox="1"/>
          <p:nvPr/>
        </p:nvSpPr>
        <p:spPr>
          <a:xfrm>
            <a:off x="1391422" y="4925275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8.)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103F4B-DA19-56AF-FF15-9EBEFD04DBDA}"/>
              </a:ext>
            </a:extLst>
          </p:cNvPr>
          <p:cNvSpPr txBox="1"/>
          <p:nvPr/>
        </p:nvSpPr>
        <p:spPr>
          <a:xfrm>
            <a:off x="1391422" y="5531739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9.)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4786E6-9616-3108-88EC-C0F009A656E0}"/>
              </a:ext>
            </a:extLst>
          </p:cNvPr>
          <p:cNvSpPr txBox="1"/>
          <p:nvPr/>
        </p:nvSpPr>
        <p:spPr>
          <a:xfrm>
            <a:off x="1338351" y="6202258"/>
            <a:ext cx="598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10.)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3EE51B9-3E14-2BD5-5D32-48C675AE82F2}"/>
              </a:ext>
            </a:extLst>
          </p:cNvPr>
          <p:cNvSpPr/>
          <p:nvPr/>
        </p:nvSpPr>
        <p:spPr>
          <a:xfrm>
            <a:off x="1435526" y="1907842"/>
            <a:ext cx="9818288" cy="4892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53F36F1-938F-4C38-1C13-B1787703EC1C}"/>
              </a:ext>
            </a:extLst>
          </p:cNvPr>
          <p:cNvSpPr txBox="1"/>
          <p:nvPr/>
        </p:nvSpPr>
        <p:spPr>
          <a:xfrm>
            <a:off x="6737095" y="1412198"/>
            <a:ext cx="269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dirty="0"/>
              <a:t>Apply force equilibrium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6037E50-D875-E7C2-B894-B082BAF246C7}"/>
              </a:ext>
            </a:extLst>
          </p:cNvPr>
          <p:cNvCxnSpPr>
            <a:cxnSpLocks/>
          </p:cNvCxnSpPr>
          <p:nvPr/>
        </p:nvCxnSpPr>
        <p:spPr>
          <a:xfrm flipH="1" flipV="1">
            <a:off x="5857767" y="1596864"/>
            <a:ext cx="8793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6749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4E46-A86E-4ED3-E25E-B03E3838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LM-FBS</a:t>
            </a:r>
          </a:p>
        </p:txBody>
      </p:sp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051732E7-35A5-F41B-1741-5F7388BB497C}"/>
              </a:ext>
            </a:extLst>
          </p:cNvPr>
          <p:cNvSpPr/>
          <p:nvPr/>
        </p:nvSpPr>
        <p:spPr>
          <a:xfrm>
            <a:off x="1936861" y="2483995"/>
            <a:ext cx="5601322" cy="2369570"/>
          </a:xfrm>
          <a:prstGeom prst="roundRect">
            <a:avLst>
              <a:gd name="adj" fmla="val 3518"/>
            </a:avLst>
          </a:prstGeom>
          <a:solidFill>
            <a:srgbClr val="287968">
              <a:lumMod val="20000"/>
              <a:lumOff val="80000"/>
            </a:srgbClr>
          </a:solidFill>
          <a:ln w="12700" cap="flat" cmpd="sng" algn="ctr">
            <a:solidFill>
              <a:srgbClr val="28796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CE46F-ABFA-0B76-1C0E-3AD865DD2DB7}"/>
                  </a:ext>
                </a:extLst>
              </p:cNvPr>
              <p:cNvSpPr txBox="1"/>
              <p:nvPr/>
            </p:nvSpPr>
            <p:spPr>
              <a:xfrm>
                <a:off x="1913616" y="4147707"/>
                <a:ext cx="5779687" cy="711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B1B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i="1" smtClean="0">
                        <a:solidFill>
                          <a:srgbClr val="1B1B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𝑟𝑒𝑠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p>
                                </m:sSup>
                              </m:e>
                            </m:d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𝑟𝑒𝑓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CE46F-ABFA-0B76-1C0E-3AD865DD2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4147707"/>
                <a:ext cx="5779687" cy="7115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E496E611-55D0-7092-A53C-9E7E0C4B2F85}"/>
              </a:ext>
            </a:extLst>
          </p:cNvPr>
          <p:cNvSpPr/>
          <p:nvPr/>
        </p:nvSpPr>
        <p:spPr>
          <a:xfrm>
            <a:off x="1936860" y="4897598"/>
            <a:ext cx="8846941" cy="1848816"/>
          </a:xfrm>
          <a:prstGeom prst="roundRect">
            <a:avLst>
              <a:gd name="adj" fmla="val 3518"/>
            </a:avLst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535999FA-9E55-E691-69F4-15FEA7FAE3A1}"/>
              </a:ext>
            </a:extLst>
          </p:cNvPr>
          <p:cNvSpPr/>
          <p:nvPr/>
        </p:nvSpPr>
        <p:spPr>
          <a:xfrm>
            <a:off x="1936861" y="1916247"/>
            <a:ext cx="5443838" cy="544555"/>
          </a:xfrm>
          <a:prstGeom prst="roundRect">
            <a:avLst>
              <a:gd name="adj" fmla="val 8014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8287CD9B-C32D-3EC0-CB81-1FDC93AE6E0A}"/>
              </a:ext>
            </a:extLst>
          </p:cNvPr>
          <p:cNvSpPr/>
          <p:nvPr/>
        </p:nvSpPr>
        <p:spPr>
          <a:xfrm>
            <a:off x="1936861" y="1311999"/>
            <a:ext cx="3883054" cy="570904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ounded Rectangle 8">
            <a:extLst>
              <a:ext uri="{FF2B5EF4-FFF2-40B4-BE49-F238E27FC236}">
                <a16:creationId xmlns:a16="http://schemas.microsoft.com/office/drawing/2014/main" id="{87D339ED-7DF1-C760-6C84-4FCFD3443521}"/>
              </a:ext>
            </a:extLst>
          </p:cNvPr>
          <p:cNvSpPr/>
          <p:nvPr/>
        </p:nvSpPr>
        <p:spPr>
          <a:xfrm>
            <a:off x="1936861" y="808782"/>
            <a:ext cx="3089234" cy="466344"/>
          </a:xfrm>
          <a:prstGeom prst="roundRect">
            <a:avLst>
              <a:gd name="adj" fmla="val 8014"/>
            </a:avLst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7B2695-DFC0-7BF9-60BF-E4E2E6D922E3}"/>
                  </a:ext>
                </a:extLst>
              </p:cNvPr>
              <p:cNvSpPr txBox="1"/>
              <p:nvPr/>
            </p:nvSpPr>
            <p:spPr>
              <a:xfrm>
                <a:off x="1913616" y="807852"/>
                <a:ext cx="4074711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7B2695-DFC0-7BF9-60BF-E4E2E6D92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807852"/>
                <a:ext cx="4074711" cy="46820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C7CBA0-07BD-91F3-CEFE-FA441C8A62C6}"/>
                  </a:ext>
                </a:extLst>
              </p:cNvPr>
              <p:cNvSpPr txBox="1"/>
              <p:nvPr/>
            </p:nvSpPr>
            <p:spPr>
              <a:xfrm>
                <a:off x="1913616" y="1268579"/>
                <a:ext cx="4665262" cy="65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𝒓𝒆𝒇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C7CBA0-07BD-91F3-CEFE-FA441C8A6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1268579"/>
                <a:ext cx="4665262" cy="657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7EC221-583B-664B-D46E-4E4671CA8453}"/>
                  </a:ext>
                </a:extLst>
              </p:cNvPr>
              <p:cNvSpPr txBox="1"/>
              <p:nvPr/>
            </p:nvSpPr>
            <p:spPr>
              <a:xfrm>
                <a:off x="1913616" y="1863371"/>
                <a:ext cx="5779687" cy="650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7EC221-583B-664B-D46E-4E4671CA8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1863371"/>
                <a:ext cx="5779687" cy="6503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1B827C-5A30-941E-D67F-2BAFAA35B56D}"/>
                  </a:ext>
                </a:extLst>
              </p:cNvPr>
              <p:cNvSpPr txBox="1"/>
              <p:nvPr/>
            </p:nvSpPr>
            <p:spPr>
              <a:xfrm>
                <a:off x="1913616" y="2449887"/>
                <a:ext cx="4889980" cy="650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1B827C-5A30-941E-D67F-2BAFAA35B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2449887"/>
                <a:ext cx="4889980" cy="6503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7547D0-985F-F454-2FE5-F5C60D4DB475}"/>
                  </a:ext>
                </a:extLst>
              </p:cNvPr>
              <p:cNvSpPr txBox="1"/>
              <p:nvPr/>
            </p:nvSpPr>
            <p:spPr>
              <a:xfrm>
                <a:off x="1913616" y="3055453"/>
                <a:ext cx="5779687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7547D0-985F-F454-2FE5-F5C60D4DB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3055453"/>
                <a:ext cx="5779687" cy="5908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7FFEF06-E13F-E017-036B-CB22CB9DB98C}"/>
                  </a:ext>
                </a:extLst>
              </p:cNvPr>
              <p:cNvSpPr txBox="1"/>
              <p:nvPr/>
            </p:nvSpPr>
            <p:spPr>
              <a:xfrm>
                <a:off x="1913616" y="3601580"/>
                <a:ext cx="5779687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7FFEF06-E13F-E017-036B-CB22CB9DB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3601580"/>
                <a:ext cx="5779687" cy="5908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479047-6032-2683-9369-24826E1C7612}"/>
                  </a:ext>
                </a:extLst>
              </p:cNvPr>
              <p:cNvSpPr txBox="1"/>
              <p:nvPr/>
            </p:nvSpPr>
            <p:spPr>
              <a:xfrm>
                <a:off x="1913616" y="4814508"/>
                <a:ext cx="4665262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479047-6032-2683-9369-24826E1C7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4814508"/>
                <a:ext cx="4665262" cy="5908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E4B983-475C-2F85-488E-F9A3AD9988E6}"/>
                  </a:ext>
                </a:extLst>
              </p:cNvPr>
              <p:cNvSpPr txBox="1"/>
              <p:nvPr/>
            </p:nvSpPr>
            <p:spPr>
              <a:xfrm>
                <a:off x="1913616" y="5360635"/>
                <a:ext cx="9818288" cy="711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̈"/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400" i="1" smtClean="0">
                        <a:solidFill>
                          <a:srgbClr val="1B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400" i="1">
                        <a:solidFill>
                          <a:srgbClr val="1B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𝑟𝑒𝑠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p>
                                </m:sSup>
                              </m:e>
                            </m:d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𝑟𝑒𝑓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E4B983-475C-2F85-488E-F9A3AD998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5360635"/>
                <a:ext cx="9818288" cy="7115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DBCDC4-AD19-D824-D65B-371779509DF9}"/>
                  </a:ext>
                </a:extLst>
              </p:cNvPr>
              <p:cNvSpPr txBox="1"/>
              <p:nvPr/>
            </p:nvSpPr>
            <p:spPr>
              <a:xfrm>
                <a:off x="1913615" y="6027435"/>
                <a:ext cx="9171635" cy="718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𝒓𝒆𝒇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1B1B1B"/>
                          </a:solidFill>
                          <a:latin typeface="Open Sans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𝒓𝒆𝒔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𝒂𝒃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𝒓𝒆𝒇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1B1B1B"/>
                          </a:solidFill>
                          <a:latin typeface="Open Sans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DBCDC4-AD19-D824-D65B-371779509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5" y="6027435"/>
                <a:ext cx="9171635" cy="71897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E70D167-5353-28B7-C6A8-47BFF0E83447}"/>
              </a:ext>
            </a:extLst>
          </p:cNvPr>
          <p:cNvSpPr txBox="1"/>
          <p:nvPr/>
        </p:nvSpPr>
        <p:spPr>
          <a:xfrm>
            <a:off x="1391422" y="857288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1.)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314A59-DAC4-0661-6E7B-EEAA842111B5}"/>
              </a:ext>
            </a:extLst>
          </p:cNvPr>
          <p:cNvSpPr txBox="1"/>
          <p:nvPr/>
        </p:nvSpPr>
        <p:spPr>
          <a:xfrm>
            <a:off x="1391422" y="1412785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2.)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9395C4-4FF2-CDC2-7040-02CE743B60DF}"/>
              </a:ext>
            </a:extLst>
          </p:cNvPr>
          <p:cNvSpPr txBox="1"/>
          <p:nvPr/>
        </p:nvSpPr>
        <p:spPr>
          <a:xfrm>
            <a:off x="1391422" y="2003858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3.)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EF77DA-9DCE-CF32-C2A3-F0BF71FEB4D5}"/>
              </a:ext>
            </a:extLst>
          </p:cNvPr>
          <p:cNvSpPr txBox="1"/>
          <p:nvPr/>
        </p:nvSpPr>
        <p:spPr>
          <a:xfrm>
            <a:off x="1391422" y="2590374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4.)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32769C-44AB-6BE7-7966-A145F31862D0}"/>
              </a:ext>
            </a:extLst>
          </p:cNvPr>
          <p:cNvSpPr txBox="1"/>
          <p:nvPr/>
        </p:nvSpPr>
        <p:spPr>
          <a:xfrm>
            <a:off x="1391422" y="3166220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5.)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93DCD7-96D0-74A2-D17D-DABD46944EE8}"/>
              </a:ext>
            </a:extLst>
          </p:cNvPr>
          <p:cNvSpPr txBox="1"/>
          <p:nvPr/>
        </p:nvSpPr>
        <p:spPr>
          <a:xfrm>
            <a:off x="1391422" y="3712347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6.)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B7A15F-EE12-8129-AA80-E888852BA53F}"/>
              </a:ext>
            </a:extLst>
          </p:cNvPr>
          <p:cNvSpPr txBox="1"/>
          <p:nvPr/>
        </p:nvSpPr>
        <p:spPr>
          <a:xfrm>
            <a:off x="1391422" y="4318811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7.)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8BD3EC-9871-3500-FC56-5A82FA889489}"/>
              </a:ext>
            </a:extLst>
          </p:cNvPr>
          <p:cNvSpPr txBox="1"/>
          <p:nvPr/>
        </p:nvSpPr>
        <p:spPr>
          <a:xfrm>
            <a:off x="1391422" y="4925275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8.)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103F4B-DA19-56AF-FF15-9EBEFD04DBDA}"/>
              </a:ext>
            </a:extLst>
          </p:cNvPr>
          <p:cNvSpPr txBox="1"/>
          <p:nvPr/>
        </p:nvSpPr>
        <p:spPr>
          <a:xfrm>
            <a:off x="1391422" y="5531739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9.)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4786E6-9616-3108-88EC-C0F009A656E0}"/>
              </a:ext>
            </a:extLst>
          </p:cNvPr>
          <p:cNvSpPr txBox="1"/>
          <p:nvPr/>
        </p:nvSpPr>
        <p:spPr>
          <a:xfrm>
            <a:off x="1338351" y="6202258"/>
            <a:ext cx="598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10.)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3EE51B9-3E14-2BD5-5D32-48C675AE82F2}"/>
              </a:ext>
            </a:extLst>
          </p:cNvPr>
          <p:cNvSpPr/>
          <p:nvPr/>
        </p:nvSpPr>
        <p:spPr>
          <a:xfrm>
            <a:off x="1435526" y="2477695"/>
            <a:ext cx="9818288" cy="43387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EEF213-4EDF-01AA-E508-CF8A251E3BCC}"/>
              </a:ext>
            </a:extLst>
          </p:cNvPr>
          <p:cNvSpPr txBox="1"/>
          <p:nvPr/>
        </p:nvSpPr>
        <p:spPr>
          <a:xfrm>
            <a:off x="8526165" y="1871084"/>
            <a:ext cx="2034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dirty="0"/>
              <a:t>Pre-multiply by the response B matrix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8E34EE7-B18E-BBE9-63A3-53D9C7C788AF}"/>
              </a:ext>
            </a:extLst>
          </p:cNvPr>
          <p:cNvCxnSpPr>
            <a:cxnSpLocks/>
            <a:stCxn id="62" idx="1"/>
          </p:cNvCxnSpPr>
          <p:nvPr/>
        </p:nvCxnSpPr>
        <p:spPr>
          <a:xfrm flipH="1">
            <a:off x="7447203" y="2194250"/>
            <a:ext cx="107896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0452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4E46-A86E-4ED3-E25E-B03E3838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LM-FBS</a:t>
            </a:r>
          </a:p>
        </p:txBody>
      </p:sp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051732E7-35A5-F41B-1741-5F7388BB497C}"/>
              </a:ext>
            </a:extLst>
          </p:cNvPr>
          <p:cNvSpPr/>
          <p:nvPr/>
        </p:nvSpPr>
        <p:spPr>
          <a:xfrm>
            <a:off x="1936861" y="2483995"/>
            <a:ext cx="5601322" cy="2369570"/>
          </a:xfrm>
          <a:prstGeom prst="roundRect">
            <a:avLst>
              <a:gd name="adj" fmla="val 3518"/>
            </a:avLst>
          </a:prstGeom>
          <a:solidFill>
            <a:srgbClr val="287968">
              <a:lumMod val="20000"/>
              <a:lumOff val="80000"/>
            </a:srgbClr>
          </a:solidFill>
          <a:ln w="12700" cap="flat" cmpd="sng" algn="ctr">
            <a:solidFill>
              <a:srgbClr val="28796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CE46F-ABFA-0B76-1C0E-3AD865DD2DB7}"/>
                  </a:ext>
                </a:extLst>
              </p:cNvPr>
              <p:cNvSpPr txBox="1"/>
              <p:nvPr/>
            </p:nvSpPr>
            <p:spPr>
              <a:xfrm>
                <a:off x="1913616" y="4147707"/>
                <a:ext cx="5779687" cy="711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B1B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i="1" smtClean="0">
                        <a:solidFill>
                          <a:srgbClr val="1B1B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𝑟𝑒𝑠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p>
                                </m:sSup>
                              </m:e>
                            </m:d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𝑟𝑒𝑓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CE46F-ABFA-0B76-1C0E-3AD865DD2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4147707"/>
                <a:ext cx="5779687" cy="7115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E496E611-55D0-7092-A53C-9E7E0C4B2F85}"/>
              </a:ext>
            </a:extLst>
          </p:cNvPr>
          <p:cNvSpPr/>
          <p:nvPr/>
        </p:nvSpPr>
        <p:spPr>
          <a:xfrm>
            <a:off x="1936860" y="4897598"/>
            <a:ext cx="8846941" cy="1848816"/>
          </a:xfrm>
          <a:prstGeom prst="roundRect">
            <a:avLst>
              <a:gd name="adj" fmla="val 3518"/>
            </a:avLst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535999FA-9E55-E691-69F4-15FEA7FAE3A1}"/>
              </a:ext>
            </a:extLst>
          </p:cNvPr>
          <p:cNvSpPr/>
          <p:nvPr/>
        </p:nvSpPr>
        <p:spPr>
          <a:xfrm>
            <a:off x="1936861" y="1916247"/>
            <a:ext cx="5443838" cy="544555"/>
          </a:xfrm>
          <a:prstGeom prst="roundRect">
            <a:avLst>
              <a:gd name="adj" fmla="val 8014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8287CD9B-C32D-3EC0-CB81-1FDC93AE6E0A}"/>
              </a:ext>
            </a:extLst>
          </p:cNvPr>
          <p:cNvSpPr/>
          <p:nvPr/>
        </p:nvSpPr>
        <p:spPr>
          <a:xfrm>
            <a:off x="1936861" y="1311999"/>
            <a:ext cx="3883054" cy="570904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ounded Rectangle 8">
            <a:extLst>
              <a:ext uri="{FF2B5EF4-FFF2-40B4-BE49-F238E27FC236}">
                <a16:creationId xmlns:a16="http://schemas.microsoft.com/office/drawing/2014/main" id="{87D339ED-7DF1-C760-6C84-4FCFD3443521}"/>
              </a:ext>
            </a:extLst>
          </p:cNvPr>
          <p:cNvSpPr/>
          <p:nvPr/>
        </p:nvSpPr>
        <p:spPr>
          <a:xfrm>
            <a:off x="1936861" y="808782"/>
            <a:ext cx="3089234" cy="466344"/>
          </a:xfrm>
          <a:prstGeom prst="roundRect">
            <a:avLst>
              <a:gd name="adj" fmla="val 8014"/>
            </a:avLst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7B2695-DFC0-7BF9-60BF-E4E2E6D922E3}"/>
                  </a:ext>
                </a:extLst>
              </p:cNvPr>
              <p:cNvSpPr txBox="1"/>
              <p:nvPr/>
            </p:nvSpPr>
            <p:spPr>
              <a:xfrm>
                <a:off x="1913616" y="807852"/>
                <a:ext cx="4074711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7B2695-DFC0-7BF9-60BF-E4E2E6D92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807852"/>
                <a:ext cx="4074711" cy="46820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C7CBA0-07BD-91F3-CEFE-FA441C8A62C6}"/>
                  </a:ext>
                </a:extLst>
              </p:cNvPr>
              <p:cNvSpPr txBox="1"/>
              <p:nvPr/>
            </p:nvSpPr>
            <p:spPr>
              <a:xfrm>
                <a:off x="1913616" y="1268579"/>
                <a:ext cx="4665262" cy="65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𝒓𝒆𝒇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C7CBA0-07BD-91F3-CEFE-FA441C8A6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1268579"/>
                <a:ext cx="4665262" cy="657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7EC221-583B-664B-D46E-4E4671CA8453}"/>
                  </a:ext>
                </a:extLst>
              </p:cNvPr>
              <p:cNvSpPr txBox="1"/>
              <p:nvPr/>
            </p:nvSpPr>
            <p:spPr>
              <a:xfrm>
                <a:off x="1913616" y="1863371"/>
                <a:ext cx="5779687" cy="650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7EC221-583B-664B-D46E-4E4671CA8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1863371"/>
                <a:ext cx="5779687" cy="6503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1B827C-5A30-941E-D67F-2BAFAA35B56D}"/>
                  </a:ext>
                </a:extLst>
              </p:cNvPr>
              <p:cNvSpPr txBox="1"/>
              <p:nvPr/>
            </p:nvSpPr>
            <p:spPr>
              <a:xfrm>
                <a:off x="1913616" y="2449887"/>
                <a:ext cx="4889980" cy="650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1B827C-5A30-941E-D67F-2BAFAA35B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2449887"/>
                <a:ext cx="4889980" cy="6503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7547D0-985F-F454-2FE5-F5C60D4DB475}"/>
                  </a:ext>
                </a:extLst>
              </p:cNvPr>
              <p:cNvSpPr txBox="1"/>
              <p:nvPr/>
            </p:nvSpPr>
            <p:spPr>
              <a:xfrm>
                <a:off x="1913616" y="3055453"/>
                <a:ext cx="5779687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7547D0-985F-F454-2FE5-F5C60D4DB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3055453"/>
                <a:ext cx="5779687" cy="5908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7FFEF06-E13F-E017-036B-CB22CB9DB98C}"/>
                  </a:ext>
                </a:extLst>
              </p:cNvPr>
              <p:cNvSpPr txBox="1"/>
              <p:nvPr/>
            </p:nvSpPr>
            <p:spPr>
              <a:xfrm>
                <a:off x="1913616" y="3601580"/>
                <a:ext cx="5779687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7FFEF06-E13F-E017-036B-CB22CB9DB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3601580"/>
                <a:ext cx="5779687" cy="5908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479047-6032-2683-9369-24826E1C7612}"/>
                  </a:ext>
                </a:extLst>
              </p:cNvPr>
              <p:cNvSpPr txBox="1"/>
              <p:nvPr/>
            </p:nvSpPr>
            <p:spPr>
              <a:xfrm>
                <a:off x="1913616" y="4814508"/>
                <a:ext cx="4665262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479047-6032-2683-9369-24826E1C7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4814508"/>
                <a:ext cx="4665262" cy="5908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E4B983-475C-2F85-488E-F9A3AD9988E6}"/>
                  </a:ext>
                </a:extLst>
              </p:cNvPr>
              <p:cNvSpPr txBox="1"/>
              <p:nvPr/>
            </p:nvSpPr>
            <p:spPr>
              <a:xfrm>
                <a:off x="1913616" y="5360635"/>
                <a:ext cx="9818288" cy="711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̈"/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400" i="1" smtClean="0">
                        <a:solidFill>
                          <a:srgbClr val="1B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400" i="1">
                        <a:solidFill>
                          <a:srgbClr val="1B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𝑟𝑒𝑠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p>
                                </m:sSup>
                              </m:e>
                            </m:d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𝑟𝑒𝑓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E4B983-475C-2F85-488E-F9A3AD998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5360635"/>
                <a:ext cx="9818288" cy="7115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DBCDC4-AD19-D824-D65B-371779509DF9}"/>
                  </a:ext>
                </a:extLst>
              </p:cNvPr>
              <p:cNvSpPr txBox="1"/>
              <p:nvPr/>
            </p:nvSpPr>
            <p:spPr>
              <a:xfrm>
                <a:off x="1913615" y="6027435"/>
                <a:ext cx="9171635" cy="718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𝒓𝒆𝒇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1B1B1B"/>
                          </a:solidFill>
                          <a:latin typeface="Open Sans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𝒓𝒆𝒔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𝒂𝒃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𝒓𝒆𝒇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1B1B1B"/>
                          </a:solidFill>
                          <a:latin typeface="Open Sans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DBCDC4-AD19-D824-D65B-371779509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5" y="6027435"/>
                <a:ext cx="9171635" cy="71897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E70D167-5353-28B7-C6A8-47BFF0E83447}"/>
              </a:ext>
            </a:extLst>
          </p:cNvPr>
          <p:cNvSpPr txBox="1"/>
          <p:nvPr/>
        </p:nvSpPr>
        <p:spPr>
          <a:xfrm>
            <a:off x="1391422" y="857288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1.)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314A59-DAC4-0661-6E7B-EEAA842111B5}"/>
              </a:ext>
            </a:extLst>
          </p:cNvPr>
          <p:cNvSpPr txBox="1"/>
          <p:nvPr/>
        </p:nvSpPr>
        <p:spPr>
          <a:xfrm>
            <a:off x="1391422" y="1412785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2.)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9395C4-4FF2-CDC2-7040-02CE743B60DF}"/>
              </a:ext>
            </a:extLst>
          </p:cNvPr>
          <p:cNvSpPr txBox="1"/>
          <p:nvPr/>
        </p:nvSpPr>
        <p:spPr>
          <a:xfrm>
            <a:off x="1391422" y="2003858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3.)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EF77DA-9DCE-CF32-C2A3-F0BF71FEB4D5}"/>
              </a:ext>
            </a:extLst>
          </p:cNvPr>
          <p:cNvSpPr txBox="1"/>
          <p:nvPr/>
        </p:nvSpPr>
        <p:spPr>
          <a:xfrm>
            <a:off x="1391422" y="2590374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4.)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32769C-44AB-6BE7-7966-A145F31862D0}"/>
              </a:ext>
            </a:extLst>
          </p:cNvPr>
          <p:cNvSpPr txBox="1"/>
          <p:nvPr/>
        </p:nvSpPr>
        <p:spPr>
          <a:xfrm>
            <a:off x="1391422" y="3166220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5.)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93DCD7-96D0-74A2-D17D-DABD46944EE8}"/>
              </a:ext>
            </a:extLst>
          </p:cNvPr>
          <p:cNvSpPr txBox="1"/>
          <p:nvPr/>
        </p:nvSpPr>
        <p:spPr>
          <a:xfrm>
            <a:off x="1391422" y="3712347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6.)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B7A15F-EE12-8129-AA80-E888852BA53F}"/>
              </a:ext>
            </a:extLst>
          </p:cNvPr>
          <p:cNvSpPr txBox="1"/>
          <p:nvPr/>
        </p:nvSpPr>
        <p:spPr>
          <a:xfrm>
            <a:off x="1391422" y="4318811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7.)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8BD3EC-9871-3500-FC56-5A82FA889489}"/>
              </a:ext>
            </a:extLst>
          </p:cNvPr>
          <p:cNvSpPr txBox="1"/>
          <p:nvPr/>
        </p:nvSpPr>
        <p:spPr>
          <a:xfrm>
            <a:off x="1391422" y="4925275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8.)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103F4B-DA19-56AF-FF15-9EBEFD04DBDA}"/>
              </a:ext>
            </a:extLst>
          </p:cNvPr>
          <p:cNvSpPr txBox="1"/>
          <p:nvPr/>
        </p:nvSpPr>
        <p:spPr>
          <a:xfrm>
            <a:off x="1391422" y="5531739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9.)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4786E6-9616-3108-88EC-C0F009A656E0}"/>
              </a:ext>
            </a:extLst>
          </p:cNvPr>
          <p:cNvSpPr txBox="1"/>
          <p:nvPr/>
        </p:nvSpPr>
        <p:spPr>
          <a:xfrm>
            <a:off x="1338351" y="6202258"/>
            <a:ext cx="598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10.)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4CC3A9-CEC2-BBA7-A646-650B6C106E2B}"/>
              </a:ext>
            </a:extLst>
          </p:cNvPr>
          <p:cNvSpPr txBox="1"/>
          <p:nvPr/>
        </p:nvSpPr>
        <p:spPr>
          <a:xfrm>
            <a:off x="8213506" y="3207115"/>
            <a:ext cx="2064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dirty="0"/>
              <a:t>Apply Interface compatibility and solve for </a:t>
            </a:r>
            <a:r>
              <a:rPr lang="el-GR" dirty="0"/>
              <a:t>λ</a:t>
            </a:r>
            <a:endParaRPr lang="en-US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5CB9E6-D1FA-131F-7CE8-9DD29F58CDE2}"/>
              </a:ext>
            </a:extLst>
          </p:cNvPr>
          <p:cNvCxnSpPr>
            <a:cxnSpLocks/>
          </p:cNvCxnSpPr>
          <p:nvPr/>
        </p:nvCxnSpPr>
        <p:spPr>
          <a:xfrm flipH="1">
            <a:off x="7582751" y="3668780"/>
            <a:ext cx="6307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3EE51B9-3E14-2BD5-5D32-48C675AE82F2}"/>
              </a:ext>
            </a:extLst>
          </p:cNvPr>
          <p:cNvSpPr/>
          <p:nvPr/>
        </p:nvSpPr>
        <p:spPr>
          <a:xfrm>
            <a:off x="1435526" y="4879279"/>
            <a:ext cx="9818288" cy="19371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52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4E46-A86E-4ED3-E25E-B03E3838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LM-FBS</a:t>
            </a:r>
          </a:p>
        </p:txBody>
      </p:sp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051732E7-35A5-F41B-1741-5F7388BB497C}"/>
              </a:ext>
            </a:extLst>
          </p:cNvPr>
          <p:cNvSpPr/>
          <p:nvPr/>
        </p:nvSpPr>
        <p:spPr>
          <a:xfrm>
            <a:off x="1936861" y="2483995"/>
            <a:ext cx="5601322" cy="2369570"/>
          </a:xfrm>
          <a:prstGeom prst="roundRect">
            <a:avLst>
              <a:gd name="adj" fmla="val 3518"/>
            </a:avLst>
          </a:prstGeom>
          <a:solidFill>
            <a:srgbClr val="287968">
              <a:lumMod val="20000"/>
              <a:lumOff val="80000"/>
            </a:srgbClr>
          </a:solidFill>
          <a:ln w="12700" cap="flat" cmpd="sng" algn="ctr">
            <a:solidFill>
              <a:srgbClr val="28796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CE46F-ABFA-0B76-1C0E-3AD865DD2DB7}"/>
                  </a:ext>
                </a:extLst>
              </p:cNvPr>
              <p:cNvSpPr txBox="1"/>
              <p:nvPr/>
            </p:nvSpPr>
            <p:spPr>
              <a:xfrm>
                <a:off x="1913616" y="4147707"/>
                <a:ext cx="5779687" cy="711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B1B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i="1" smtClean="0">
                        <a:solidFill>
                          <a:srgbClr val="1B1B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𝑟𝑒𝑠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p>
                                </m:sSup>
                              </m:e>
                            </m:d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𝑟𝑒𝑓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1CE46F-ABFA-0B76-1C0E-3AD865DD2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4147707"/>
                <a:ext cx="5779687" cy="7115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E496E611-55D0-7092-A53C-9E7E0C4B2F85}"/>
              </a:ext>
            </a:extLst>
          </p:cNvPr>
          <p:cNvSpPr/>
          <p:nvPr/>
        </p:nvSpPr>
        <p:spPr>
          <a:xfrm>
            <a:off x="1936860" y="4897598"/>
            <a:ext cx="8846941" cy="1848816"/>
          </a:xfrm>
          <a:prstGeom prst="roundRect">
            <a:avLst>
              <a:gd name="adj" fmla="val 3518"/>
            </a:avLst>
          </a:prstGeom>
          <a:solidFill>
            <a:srgbClr val="69B244">
              <a:lumMod val="20000"/>
              <a:lumOff val="80000"/>
            </a:srgbClr>
          </a:solidFill>
          <a:ln w="12700" cap="flat" cmpd="sng" algn="ctr">
            <a:solidFill>
              <a:srgbClr val="69B24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535999FA-9E55-E691-69F4-15FEA7FAE3A1}"/>
              </a:ext>
            </a:extLst>
          </p:cNvPr>
          <p:cNvSpPr/>
          <p:nvPr/>
        </p:nvSpPr>
        <p:spPr>
          <a:xfrm>
            <a:off x="1936861" y="1916247"/>
            <a:ext cx="5443838" cy="544555"/>
          </a:xfrm>
          <a:prstGeom prst="roundRect">
            <a:avLst>
              <a:gd name="adj" fmla="val 8014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8287CD9B-C32D-3EC0-CB81-1FDC93AE6E0A}"/>
              </a:ext>
            </a:extLst>
          </p:cNvPr>
          <p:cNvSpPr/>
          <p:nvPr/>
        </p:nvSpPr>
        <p:spPr>
          <a:xfrm>
            <a:off x="1936861" y="1311999"/>
            <a:ext cx="3883054" cy="570904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ounded Rectangle 8">
            <a:extLst>
              <a:ext uri="{FF2B5EF4-FFF2-40B4-BE49-F238E27FC236}">
                <a16:creationId xmlns:a16="http://schemas.microsoft.com/office/drawing/2014/main" id="{87D339ED-7DF1-C760-6C84-4FCFD3443521}"/>
              </a:ext>
            </a:extLst>
          </p:cNvPr>
          <p:cNvSpPr/>
          <p:nvPr/>
        </p:nvSpPr>
        <p:spPr>
          <a:xfrm>
            <a:off x="1936861" y="808782"/>
            <a:ext cx="3089234" cy="466344"/>
          </a:xfrm>
          <a:prstGeom prst="roundRect">
            <a:avLst>
              <a:gd name="adj" fmla="val 8014"/>
            </a:avLst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7B2695-DFC0-7BF9-60BF-E4E2E6D922E3}"/>
                  </a:ext>
                </a:extLst>
              </p:cNvPr>
              <p:cNvSpPr txBox="1"/>
              <p:nvPr/>
            </p:nvSpPr>
            <p:spPr>
              <a:xfrm>
                <a:off x="1913616" y="807852"/>
                <a:ext cx="4074711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7B2695-DFC0-7BF9-60BF-E4E2E6D92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807852"/>
                <a:ext cx="4074711" cy="46820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C7CBA0-07BD-91F3-CEFE-FA441C8A62C6}"/>
                  </a:ext>
                </a:extLst>
              </p:cNvPr>
              <p:cNvSpPr txBox="1"/>
              <p:nvPr/>
            </p:nvSpPr>
            <p:spPr>
              <a:xfrm>
                <a:off x="1913616" y="1268579"/>
                <a:ext cx="4665262" cy="65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400" b="1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𝒓𝒆𝒇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C7CBA0-07BD-91F3-CEFE-FA441C8A6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1268579"/>
                <a:ext cx="4665262" cy="657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7EC221-583B-664B-D46E-4E4671CA8453}"/>
                  </a:ext>
                </a:extLst>
              </p:cNvPr>
              <p:cNvSpPr txBox="1"/>
              <p:nvPr/>
            </p:nvSpPr>
            <p:spPr>
              <a:xfrm>
                <a:off x="1913616" y="1863371"/>
                <a:ext cx="5779687" cy="650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i="1" smtClean="0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7EC221-583B-664B-D46E-4E4671CA8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1863371"/>
                <a:ext cx="5779687" cy="6503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1B827C-5A30-941E-D67F-2BAFAA35B56D}"/>
                  </a:ext>
                </a:extLst>
              </p:cNvPr>
              <p:cNvSpPr txBox="1"/>
              <p:nvPr/>
            </p:nvSpPr>
            <p:spPr>
              <a:xfrm>
                <a:off x="1913616" y="2449887"/>
                <a:ext cx="4889980" cy="650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1B827C-5A30-941E-D67F-2BAFAA35B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2449887"/>
                <a:ext cx="4889980" cy="6503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7547D0-985F-F454-2FE5-F5C60D4DB475}"/>
                  </a:ext>
                </a:extLst>
              </p:cNvPr>
              <p:cNvSpPr txBox="1"/>
              <p:nvPr/>
            </p:nvSpPr>
            <p:spPr>
              <a:xfrm>
                <a:off x="1913616" y="3055453"/>
                <a:ext cx="5779687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7547D0-985F-F454-2FE5-F5C60D4DB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3055453"/>
                <a:ext cx="5779687" cy="5908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7FFEF06-E13F-E017-036B-CB22CB9DB98C}"/>
                  </a:ext>
                </a:extLst>
              </p:cNvPr>
              <p:cNvSpPr txBox="1"/>
              <p:nvPr/>
            </p:nvSpPr>
            <p:spPr>
              <a:xfrm>
                <a:off x="1913616" y="3601580"/>
                <a:ext cx="5779687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7FFEF06-E13F-E017-036B-CB22CB9DB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3601580"/>
                <a:ext cx="5779687" cy="5908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479047-6032-2683-9369-24826E1C7612}"/>
                  </a:ext>
                </a:extLst>
              </p:cNvPr>
              <p:cNvSpPr txBox="1"/>
              <p:nvPr/>
            </p:nvSpPr>
            <p:spPr>
              <a:xfrm>
                <a:off x="1913616" y="4814508"/>
                <a:ext cx="4665262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479047-6032-2683-9369-24826E1C7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4814508"/>
                <a:ext cx="4665262" cy="5908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E4B983-475C-2F85-488E-F9A3AD9988E6}"/>
                  </a:ext>
                </a:extLst>
              </p:cNvPr>
              <p:cNvSpPr txBox="1"/>
              <p:nvPr/>
            </p:nvSpPr>
            <p:spPr>
              <a:xfrm>
                <a:off x="1913616" y="5360635"/>
                <a:ext cx="9818288" cy="711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̈"/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400" i="1" smtClean="0">
                        <a:solidFill>
                          <a:srgbClr val="1B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400" i="1">
                        <a:solidFill>
                          <a:srgbClr val="1B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𝑟𝑒𝑠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p>
                                </m:sSup>
                              </m:e>
                            </m:d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solidFill>
                                          <a:srgbClr val="1B1B1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1B1B1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𝑟𝑒𝑓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B1B1B"/>
                    </a:solidFill>
                    <a:latin typeface="Open San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1B1B1B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1B1B1B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p>
                        </m:sSup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B1B1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E4B983-475C-2F85-488E-F9A3AD998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6" y="5360635"/>
                <a:ext cx="9818288" cy="7115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DBCDC4-AD19-D824-D65B-371779509DF9}"/>
                  </a:ext>
                </a:extLst>
              </p:cNvPr>
              <p:cNvSpPr txBox="1"/>
              <p:nvPr/>
            </p:nvSpPr>
            <p:spPr>
              <a:xfrm>
                <a:off x="1913615" y="6027435"/>
                <a:ext cx="9171635" cy="718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r>
                        <a:rPr lang="en-US" sz="2400" b="1" i="1" smtClean="0">
                          <a:solidFill>
                            <a:srgbClr val="1B1B1B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𝒓𝒆𝒇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1B1B1B"/>
                          </a:solidFill>
                          <a:latin typeface="Open Sans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𝒓𝒆𝒔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𝒂𝒃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1" i="1">
                                          <a:solidFill>
                                            <a:srgbClr val="1B1B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rgbClr val="1B1B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𝒓𝒆𝒇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1B1B1B"/>
                          </a:solidFill>
                          <a:latin typeface="Open Sans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1B1B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1B1B1B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1B1B1B"/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1B1B1B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DBCDC4-AD19-D824-D65B-371779509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15" y="6027435"/>
                <a:ext cx="9171635" cy="71897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E70D167-5353-28B7-C6A8-47BFF0E83447}"/>
              </a:ext>
            </a:extLst>
          </p:cNvPr>
          <p:cNvSpPr txBox="1"/>
          <p:nvPr/>
        </p:nvSpPr>
        <p:spPr>
          <a:xfrm>
            <a:off x="1391422" y="857288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1.)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314A59-DAC4-0661-6E7B-EEAA842111B5}"/>
              </a:ext>
            </a:extLst>
          </p:cNvPr>
          <p:cNvSpPr txBox="1"/>
          <p:nvPr/>
        </p:nvSpPr>
        <p:spPr>
          <a:xfrm>
            <a:off x="1391422" y="1412785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2.)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9395C4-4FF2-CDC2-7040-02CE743B60DF}"/>
              </a:ext>
            </a:extLst>
          </p:cNvPr>
          <p:cNvSpPr txBox="1"/>
          <p:nvPr/>
        </p:nvSpPr>
        <p:spPr>
          <a:xfrm>
            <a:off x="1391422" y="2003858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3.)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EF77DA-9DCE-CF32-C2A3-F0BF71FEB4D5}"/>
              </a:ext>
            </a:extLst>
          </p:cNvPr>
          <p:cNvSpPr txBox="1"/>
          <p:nvPr/>
        </p:nvSpPr>
        <p:spPr>
          <a:xfrm>
            <a:off x="1391422" y="2590374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4.)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32769C-44AB-6BE7-7966-A145F31862D0}"/>
              </a:ext>
            </a:extLst>
          </p:cNvPr>
          <p:cNvSpPr txBox="1"/>
          <p:nvPr/>
        </p:nvSpPr>
        <p:spPr>
          <a:xfrm>
            <a:off x="1391422" y="3166220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5.)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93DCD7-96D0-74A2-D17D-DABD46944EE8}"/>
              </a:ext>
            </a:extLst>
          </p:cNvPr>
          <p:cNvSpPr txBox="1"/>
          <p:nvPr/>
        </p:nvSpPr>
        <p:spPr>
          <a:xfrm>
            <a:off x="1391422" y="3712347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6.)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B7A15F-EE12-8129-AA80-E888852BA53F}"/>
              </a:ext>
            </a:extLst>
          </p:cNvPr>
          <p:cNvSpPr txBox="1"/>
          <p:nvPr/>
        </p:nvSpPr>
        <p:spPr>
          <a:xfrm>
            <a:off x="1391422" y="4318811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7.)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8BD3EC-9871-3500-FC56-5A82FA889489}"/>
              </a:ext>
            </a:extLst>
          </p:cNvPr>
          <p:cNvSpPr txBox="1"/>
          <p:nvPr/>
        </p:nvSpPr>
        <p:spPr>
          <a:xfrm>
            <a:off x="1391422" y="4925275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8.)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103F4B-DA19-56AF-FF15-9EBEFD04DBDA}"/>
              </a:ext>
            </a:extLst>
          </p:cNvPr>
          <p:cNvSpPr txBox="1"/>
          <p:nvPr/>
        </p:nvSpPr>
        <p:spPr>
          <a:xfrm>
            <a:off x="1391422" y="5531739"/>
            <a:ext cx="49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9.)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4786E6-9616-3108-88EC-C0F009A656E0}"/>
              </a:ext>
            </a:extLst>
          </p:cNvPr>
          <p:cNvSpPr txBox="1"/>
          <p:nvPr/>
        </p:nvSpPr>
        <p:spPr>
          <a:xfrm>
            <a:off x="1338351" y="6202258"/>
            <a:ext cx="598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10.)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547CDC-FB96-BFBE-E164-1518A211944B}"/>
              </a:ext>
            </a:extLst>
          </p:cNvPr>
          <p:cNvSpPr txBox="1"/>
          <p:nvPr/>
        </p:nvSpPr>
        <p:spPr>
          <a:xfrm>
            <a:off x="8113222" y="3166220"/>
            <a:ext cx="3790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dirty="0">
                <a:solidFill>
                  <a:srgbClr val="1B1B1B"/>
                </a:solidFill>
                <a:latin typeface="Open Sans"/>
              </a:rPr>
              <a:t>Apply the solved </a:t>
            </a:r>
            <a:r>
              <a:rPr lang="el-GR" dirty="0">
                <a:solidFill>
                  <a:srgbClr val="1B1B1B"/>
                </a:solidFill>
                <a:latin typeface="Open Sans"/>
              </a:rPr>
              <a:t>λ</a:t>
            </a:r>
            <a:r>
              <a:rPr lang="en-US" dirty="0">
                <a:solidFill>
                  <a:srgbClr val="1B1B1B"/>
                </a:solidFill>
                <a:latin typeface="Open Sans"/>
              </a:rPr>
              <a:t> to the equation from step two and extract the coupled FRFs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9953EEC-9270-8473-046E-CEA65B7D4362}"/>
              </a:ext>
            </a:extLst>
          </p:cNvPr>
          <p:cNvCxnSpPr>
            <a:cxnSpLocks/>
          </p:cNvCxnSpPr>
          <p:nvPr/>
        </p:nvCxnSpPr>
        <p:spPr>
          <a:xfrm flipH="1">
            <a:off x="9451571" y="4075643"/>
            <a:ext cx="260634" cy="821955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09198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A46E-1BE8-7C44-C382-75EBE30E2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LM-FBS and the Basic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D3DDC9-EF87-FA15-898D-ECDE821E1735}"/>
                  </a:ext>
                </a:extLst>
              </p:cNvPr>
              <p:cNvSpPr txBox="1"/>
              <p:nvPr/>
            </p:nvSpPr>
            <p:spPr>
              <a:xfrm>
                <a:off x="0" y="2066562"/>
                <a:ext cx="12191999" cy="814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r>
                        <a:rPr lang="en-US" sz="2800" b="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800" b="0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800" dirty="0"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800" b="0" i="1">
                                          <a:latin typeface="Cambria Math" panose="02040503050406030204" pitchFamily="18" charset="0"/>
                                        </a:rPr>
                                        <m:t>𝑟𝑒𝑠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b="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800" b="0" i="1">
                                          <a:latin typeface="Cambria Math" panose="02040503050406030204" pitchFamily="18" charset="0"/>
                                        </a:rPr>
                                        <m:t>𝑎𝑏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800" dirty="0"/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800" b="0" i="1"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D3DDC9-EF87-FA15-898D-ECDE821E1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66562"/>
                <a:ext cx="12191999" cy="814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070818-0626-F498-BFA6-0C35183E2357}"/>
                  </a:ext>
                </a:extLst>
              </p:cNvPr>
              <p:cNvSpPr txBox="1"/>
              <p:nvPr/>
            </p:nvSpPr>
            <p:spPr>
              <a:xfrm>
                <a:off x="0" y="4166617"/>
                <a:ext cx="12192000" cy="2035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070818-0626-F498-BFA6-0C35183E2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66617"/>
                <a:ext cx="12192000" cy="20353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quals 5">
            <a:extLst>
              <a:ext uri="{FF2B5EF4-FFF2-40B4-BE49-F238E27FC236}">
                <a16:creationId xmlns:a16="http://schemas.microsoft.com/office/drawing/2014/main" id="{ED001980-908E-036F-80C3-89D83CFF4BD1}"/>
              </a:ext>
            </a:extLst>
          </p:cNvPr>
          <p:cNvSpPr/>
          <p:nvPr/>
        </p:nvSpPr>
        <p:spPr>
          <a:xfrm rot="5400000">
            <a:off x="5575426" y="3051531"/>
            <a:ext cx="1041149" cy="88724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6B64C290-9340-B143-30B3-7777D179A7E0}"/>
              </a:ext>
            </a:extLst>
          </p:cNvPr>
          <p:cNvSpPr/>
          <p:nvPr/>
        </p:nvSpPr>
        <p:spPr>
          <a:xfrm>
            <a:off x="768103" y="883810"/>
            <a:ext cx="10704561" cy="865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LM-FBS and the basic derivation result in the same equations, with the same patterns</a:t>
            </a:r>
          </a:p>
        </p:txBody>
      </p:sp>
    </p:spTree>
    <p:extLst>
      <p:ext uri="{BB962C8B-B14F-4D97-AF65-F5344CB8AC3E}">
        <p14:creationId xmlns:p14="http://schemas.microsoft.com/office/powerpoint/2010/main" val="29829455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3BA08-0BD5-592A-2CAC-805D886F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LM-FBS – Lagrange Multipliers</a:t>
            </a:r>
          </a:p>
        </p:txBody>
      </p:sp>
    </p:spTree>
    <p:extLst>
      <p:ext uri="{BB962C8B-B14F-4D97-AF65-F5344CB8AC3E}">
        <p14:creationId xmlns:p14="http://schemas.microsoft.com/office/powerpoint/2010/main" val="21499014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500659-B88F-A1DF-AF9A-E9ED31731835}"/>
              </a:ext>
            </a:extLst>
          </p:cNvPr>
          <p:cNvSpPr/>
          <p:nvPr/>
        </p:nvSpPr>
        <p:spPr>
          <a:xfrm>
            <a:off x="799827" y="5221482"/>
            <a:ext cx="3609297" cy="375872"/>
          </a:xfrm>
          <a:prstGeom prst="roundRect">
            <a:avLst>
              <a:gd name="adj" fmla="val 3518"/>
            </a:avLst>
          </a:prstGeom>
          <a:solidFill>
            <a:srgbClr val="287968">
              <a:lumMod val="20000"/>
              <a:lumOff val="80000"/>
            </a:srgbClr>
          </a:solidFill>
          <a:ln w="12700" cap="flat" cmpd="sng" algn="ctr">
            <a:solidFill>
              <a:srgbClr val="28796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E51ED4CD-B6E1-FC09-97A3-77DCC92E2AF3}"/>
              </a:ext>
            </a:extLst>
          </p:cNvPr>
          <p:cNvSpPr/>
          <p:nvPr/>
        </p:nvSpPr>
        <p:spPr>
          <a:xfrm>
            <a:off x="799827" y="3782168"/>
            <a:ext cx="3315883" cy="904386"/>
          </a:xfrm>
          <a:prstGeom prst="roundRect">
            <a:avLst>
              <a:gd name="adj" fmla="val 8014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772E0B30-5CD5-EF31-6E89-0DE35A2FDC5A}"/>
              </a:ext>
            </a:extLst>
          </p:cNvPr>
          <p:cNvSpPr/>
          <p:nvPr/>
        </p:nvSpPr>
        <p:spPr>
          <a:xfrm>
            <a:off x="767486" y="2522884"/>
            <a:ext cx="3641638" cy="747640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AAE92080-D34B-1F07-D428-A1DA35291445}"/>
              </a:ext>
            </a:extLst>
          </p:cNvPr>
          <p:cNvSpPr/>
          <p:nvPr/>
        </p:nvSpPr>
        <p:spPr>
          <a:xfrm>
            <a:off x="767486" y="951947"/>
            <a:ext cx="4954498" cy="1091042"/>
          </a:xfrm>
          <a:prstGeom prst="roundRect">
            <a:avLst>
              <a:gd name="adj" fmla="val 8014"/>
            </a:avLst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101F4-ED3E-52D9-2947-7E904705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LM-FBS as a Constrained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7D57C0-EE0A-21A6-066F-EFDD52A6E678}"/>
                  </a:ext>
                </a:extLst>
              </p:cNvPr>
              <p:cNvSpPr txBox="1"/>
              <p:nvPr/>
            </p:nvSpPr>
            <p:spPr>
              <a:xfrm>
                <a:off x="767486" y="2522884"/>
                <a:ext cx="3648948" cy="7476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7D57C0-EE0A-21A6-066F-EFDD52A6E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2522884"/>
                <a:ext cx="3648948" cy="7476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8308D5-8A00-1F6C-1CAE-581D150B2025}"/>
                  </a:ext>
                </a:extLst>
              </p:cNvPr>
              <p:cNvSpPr txBox="1"/>
              <p:nvPr/>
            </p:nvSpPr>
            <p:spPr>
              <a:xfrm>
                <a:off x="767486" y="967067"/>
                <a:ext cx="4954498" cy="1060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𝑴𝒊𝒏𝒊𝒎𝒊𝒛𝒆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𝒔𝒖𝒃𝒋𝒆𝒄𝒕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8308D5-8A00-1F6C-1CAE-581D150B2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967067"/>
                <a:ext cx="4954498" cy="1060803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86BBCD-7B42-DFE5-66ED-56885E7C0E1C}"/>
                  </a:ext>
                </a:extLst>
              </p:cNvPr>
              <p:cNvSpPr txBox="1"/>
              <p:nvPr/>
            </p:nvSpPr>
            <p:spPr>
              <a:xfrm>
                <a:off x="767486" y="3782169"/>
                <a:ext cx="3348224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86BBCD-7B42-DFE5-66ED-56885E7C0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3782169"/>
                <a:ext cx="3348224" cy="375872"/>
              </a:xfrm>
              <a:prstGeom prst="rect">
                <a:avLst/>
              </a:prstGeom>
              <a:blipFill>
                <a:blip r:embed="rId4"/>
                <a:stretch>
                  <a:fillRect t="-1613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FA686-6A74-A33C-5D11-018F33520F5D}"/>
                  </a:ext>
                </a:extLst>
              </p:cNvPr>
              <p:cNvSpPr txBox="1"/>
              <p:nvPr/>
            </p:nvSpPr>
            <p:spPr>
              <a:xfrm>
                <a:off x="767486" y="4310682"/>
                <a:ext cx="3348224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FA686-6A74-A33C-5D11-018F33520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4310682"/>
                <a:ext cx="3348224" cy="375872"/>
              </a:xfrm>
              <a:prstGeom prst="rect">
                <a:avLst/>
              </a:prstGeom>
              <a:blipFill>
                <a:blip r:embed="rId5"/>
                <a:stretch>
                  <a:fillRect t="-3226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E51284-8F57-B06F-BE9B-BA0E8728E290}"/>
                  </a:ext>
                </a:extLst>
              </p:cNvPr>
              <p:cNvSpPr txBox="1"/>
              <p:nvPr/>
            </p:nvSpPr>
            <p:spPr>
              <a:xfrm>
                <a:off x="767486" y="5221483"/>
                <a:ext cx="3641638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E51284-8F57-B06F-BE9B-BA0E8728E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5221483"/>
                <a:ext cx="3641638" cy="375872"/>
              </a:xfrm>
              <a:prstGeom prst="rect">
                <a:avLst/>
              </a:prstGeom>
              <a:blipFill>
                <a:blip r:embed="rId6"/>
                <a:stretch>
                  <a:fillRect t="-3279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6B45F41-BE24-01CB-C1A3-6671CE7F9178}"/>
              </a:ext>
            </a:extLst>
          </p:cNvPr>
          <p:cNvSpPr txBox="1"/>
          <p:nvPr/>
        </p:nvSpPr>
        <p:spPr>
          <a:xfrm>
            <a:off x="6974378" y="1174303"/>
            <a:ext cx="3266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Quadratic program (akin to </a:t>
            </a:r>
            <a:r>
              <a:rPr lang="en-US" b="1" dirty="0" err="1">
                <a:solidFill>
                  <a:srgbClr val="1B1B1B"/>
                </a:solidFill>
                <a:latin typeface="Open Sans"/>
              </a:rPr>
              <a:t>Lagrangian</a:t>
            </a:r>
            <a:r>
              <a:rPr lang="en-US" b="1" dirty="0">
                <a:solidFill>
                  <a:srgbClr val="1B1B1B"/>
                </a:solidFill>
                <a:latin typeface="Open Sans"/>
              </a:rPr>
              <a:t> mechanics)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0AC32D-5A3A-F3F3-F21A-D873321B0B18}"/>
              </a:ext>
            </a:extLst>
          </p:cNvPr>
          <p:cNvCxnSpPr>
            <a:cxnSpLocks/>
            <a:stCxn id="13" idx="1"/>
            <a:endCxn id="5" idx="3"/>
          </p:cNvCxnSpPr>
          <p:nvPr/>
        </p:nvCxnSpPr>
        <p:spPr>
          <a:xfrm flipH="1">
            <a:off x="5721984" y="1497469"/>
            <a:ext cx="1252394" cy="0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9E8F2DE-5EE1-C2C6-9C61-DF213119C695}"/>
              </a:ext>
            </a:extLst>
          </p:cNvPr>
          <p:cNvSpPr txBox="1"/>
          <p:nvPr/>
        </p:nvSpPr>
        <p:spPr>
          <a:xfrm>
            <a:off x="6974378" y="2573539"/>
            <a:ext cx="2746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KKT system with Lagrange Multipliers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59CD40-704B-00B4-D343-5009137CD211}"/>
              </a:ext>
            </a:extLst>
          </p:cNvPr>
          <p:cNvCxnSpPr>
            <a:cxnSpLocks/>
            <a:stCxn id="17" idx="1"/>
            <a:endCxn id="4" idx="3"/>
          </p:cNvCxnSpPr>
          <p:nvPr/>
        </p:nvCxnSpPr>
        <p:spPr>
          <a:xfrm flipH="1">
            <a:off x="4416434" y="2896705"/>
            <a:ext cx="2557944" cy="0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49135C-FD30-8F84-B2BD-20ED8439F2D5}"/>
              </a:ext>
            </a:extLst>
          </p:cNvPr>
          <p:cNvSpPr txBox="1"/>
          <p:nvPr/>
        </p:nvSpPr>
        <p:spPr>
          <a:xfrm>
            <a:off x="6974378" y="3911196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Extracting the first row from the KKT system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28CD11E-8917-B2AA-AB51-7F22B1DB3B8D}"/>
              </a:ext>
            </a:extLst>
          </p:cNvPr>
          <p:cNvCxnSpPr>
            <a:cxnSpLocks/>
            <a:stCxn id="25" idx="1"/>
            <a:endCxn id="10" idx="3"/>
          </p:cNvCxnSpPr>
          <p:nvPr/>
        </p:nvCxnSpPr>
        <p:spPr>
          <a:xfrm flipH="1" flipV="1">
            <a:off x="4115710" y="4234361"/>
            <a:ext cx="2858668" cy="1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1604DE0-0D38-C311-13BD-05691C3B1710}"/>
              </a:ext>
            </a:extLst>
          </p:cNvPr>
          <p:cNvSpPr txBox="1"/>
          <p:nvPr/>
        </p:nvSpPr>
        <p:spPr>
          <a:xfrm>
            <a:off x="6974378" y="5086252"/>
            <a:ext cx="3125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Converting from dynamic impedance to FRFs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66544D-AEB8-CFBB-F9A9-A9BA63E1286B}"/>
              </a:ext>
            </a:extLst>
          </p:cNvPr>
          <p:cNvCxnSpPr>
            <a:cxnSpLocks/>
            <a:stCxn id="31" idx="1"/>
            <a:endCxn id="8" idx="3"/>
          </p:cNvCxnSpPr>
          <p:nvPr/>
        </p:nvCxnSpPr>
        <p:spPr>
          <a:xfrm flipH="1">
            <a:off x="4409124" y="5409418"/>
            <a:ext cx="2565254" cy="1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3081159-85FF-DD31-C6BF-346C9058EFED}"/>
              </a:ext>
            </a:extLst>
          </p:cNvPr>
          <p:cNvSpPr/>
          <p:nvPr/>
        </p:nvSpPr>
        <p:spPr>
          <a:xfrm>
            <a:off x="105032" y="2289912"/>
            <a:ext cx="11337324" cy="3628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714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500659-B88F-A1DF-AF9A-E9ED31731835}"/>
              </a:ext>
            </a:extLst>
          </p:cNvPr>
          <p:cNvSpPr/>
          <p:nvPr/>
        </p:nvSpPr>
        <p:spPr>
          <a:xfrm>
            <a:off x="799827" y="5221482"/>
            <a:ext cx="3609297" cy="375872"/>
          </a:xfrm>
          <a:prstGeom prst="roundRect">
            <a:avLst>
              <a:gd name="adj" fmla="val 3518"/>
            </a:avLst>
          </a:prstGeom>
          <a:solidFill>
            <a:srgbClr val="287968">
              <a:lumMod val="20000"/>
              <a:lumOff val="80000"/>
            </a:srgbClr>
          </a:solidFill>
          <a:ln w="12700" cap="flat" cmpd="sng" algn="ctr">
            <a:solidFill>
              <a:srgbClr val="28796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E51ED4CD-B6E1-FC09-97A3-77DCC92E2AF3}"/>
              </a:ext>
            </a:extLst>
          </p:cNvPr>
          <p:cNvSpPr/>
          <p:nvPr/>
        </p:nvSpPr>
        <p:spPr>
          <a:xfrm>
            <a:off x="799827" y="3782168"/>
            <a:ext cx="3315883" cy="904386"/>
          </a:xfrm>
          <a:prstGeom prst="roundRect">
            <a:avLst>
              <a:gd name="adj" fmla="val 8014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772E0B30-5CD5-EF31-6E89-0DE35A2FDC5A}"/>
              </a:ext>
            </a:extLst>
          </p:cNvPr>
          <p:cNvSpPr/>
          <p:nvPr/>
        </p:nvSpPr>
        <p:spPr>
          <a:xfrm>
            <a:off x="767486" y="2522884"/>
            <a:ext cx="3641638" cy="747640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AAE92080-D34B-1F07-D428-A1DA35291445}"/>
              </a:ext>
            </a:extLst>
          </p:cNvPr>
          <p:cNvSpPr/>
          <p:nvPr/>
        </p:nvSpPr>
        <p:spPr>
          <a:xfrm>
            <a:off x="767486" y="951947"/>
            <a:ext cx="4954498" cy="1091042"/>
          </a:xfrm>
          <a:prstGeom prst="roundRect">
            <a:avLst>
              <a:gd name="adj" fmla="val 8014"/>
            </a:avLst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101F4-ED3E-52D9-2947-7E904705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LM-FBS as a Constrained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7D57C0-EE0A-21A6-066F-EFDD52A6E678}"/>
                  </a:ext>
                </a:extLst>
              </p:cNvPr>
              <p:cNvSpPr txBox="1"/>
              <p:nvPr/>
            </p:nvSpPr>
            <p:spPr>
              <a:xfrm>
                <a:off x="767486" y="2522884"/>
                <a:ext cx="3648948" cy="7476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7D57C0-EE0A-21A6-066F-EFDD52A6E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2522884"/>
                <a:ext cx="3648948" cy="7476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8308D5-8A00-1F6C-1CAE-581D150B2025}"/>
                  </a:ext>
                </a:extLst>
              </p:cNvPr>
              <p:cNvSpPr txBox="1"/>
              <p:nvPr/>
            </p:nvSpPr>
            <p:spPr>
              <a:xfrm>
                <a:off x="767486" y="967067"/>
                <a:ext cx="4954498" cy="1060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𝑴𝒊𝒏𝒊𝒎𝒊𝒛𝒆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𝒔𝒖𝒃𝒋𝒆𝒄𝒕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8308D5-8A00-1F6C-1CAE-581D150B2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967067"/>
                <a:ext cx="4954498" cy="1060803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86BBCD-7B42-DFE5-66ED-56885E7C0E1C}"/>
                  </a:ext>
                </a:extLst>
              </p:cNvPr>
              <p:cNvSpPr txBox="1"/>
              <p:nvPr/>
            </p:nvSpPr>
            <p:spPr>
              <a:xfrm>
                <a:off x="767486" y="3782169"/>
                <a:ext cx="3348224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86BBCD-7B42-DFE5-66ED-56885E7C0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3782169"/>
                <a:ext cx="3348224" cy="375872"/>
              </a:xfrm>
              <a:prstGeom prst="rect">
                <a:avLst/>
              </a:prstGeom>
              <a:blipFill>
                <a:blip r:embed="rId4"/>
                <a:stretch>
                  <a:fillRect t="-1613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FA686-6A74-A33C-5D11-018F33520F5D}"/>
                  </a:ext>
                </a:extLst>
              </p:cNvPr>
              <p:cNvSpPr txBox="1"/>
              <p:nvPr/>
            </p:nvSpPr>
            <p:spPr>
              <a:xfrm>
                <a:off x="767486" y="4310682"/>
                <a:ext cx="3348224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FA686-6A74-A33C-5D11-018F33520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4310682"/>
                <a:ext cx="3348224" cy="375872"/>
              </a:xfrm>
              <a:prstGeom prst="rect">
                <a:avLst/>
              </a:prstGeom>
              <a:blipFill>
                <a:blip r:embed="rId5"/>
                <a:stretch>
                  <a:fillRect t="-3226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E51284-8F57-B06F-BE9B-BA0E8728E290}"/>
                  </a:ext>
                </a:extLst>
              </p:cNvPr>
              <p:cNvSpPr txBox="1"/>
              <p:nvPr/>
            </p:nvSpPr>
            <p:spPr>
              <a:xfrm>
                <a:off x="767486" y="5221483"/>
                <a:ext cx="3641638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E51284-8F57-B06F-BE9B-BA0E8728E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5221483"/>
                <a:ext cx="3641638" cy="375872"/>
              </a:xfrm>
              <a:prstGeom prst="rect">
                <a:avLst/>
              </a:prstGeom>
              <a:blipFill>
                <a:blip r:embed="rId6"/>
                <a:stretch>
                  <a:fillRect t="-3279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6B45F41-BE24-01CB-C1A3-6671CE7F9178}"/>
              </a:ext>
            </a:extLst>
          </p:cNvPr>
          <p:cNvSpPr txBox="1"/>
          <p:nvPr/>
        </p:nvSpPr>
        <p:spPr>
          <a:xfrm>
            <a:off x="6974378" y="1174303"/>
            <a:ext cx="3266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dirty="0">
                <a:solidFill>
                  <a:srgbClr val="1B1B1B"/>
                </a:solidFill>
                <a:latin typeface="Open Sans"/>
              </a:rPr>
              <a:t>Quadratic program (akin to </a:t>
            </a:r>
            <a:r>
              <a:rPr lang="en-US" dirty="0" err="1">
                <a:solidFill>
                  <a:srgbClr val="1B1B1B"/>
                </a:solidFill>
                <a:latin typeface="Open Sans"/>
              </a:rPr>
              <a:t>Lagrangian</a:t>
            </a:r>
            <a:r>
              <a:rPr lang="en-US" dirty="0">
                <a:solidFill>
                  <a:srgbClr val="1B1B1B"/>
                </a:solidFill>
                <a:latin typeface="Open Sans"/>
              </a:rPr>
              <a:t> mechanics)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0AC32D-5A3A-F3F3-F21A-D873321B0B18}"/>
              </a:ext>
            </a:extLst>
          </p:cNvPr>
          <p:cNvCxnSpPr>
            <a:cxnSpLocks/>
            <a:stCxn id="13" idx="1"/>
            <a:endCxn id="5" idx="3"/>
          </p:cNvCxnSpPr>
          <p:nvPr/>
        </p:nvCxnSpPr>
        <p:spPr>
          <a:xfrm flipH="1">
            <a:off x="5721984" y="1497469"/>
            <a:ext cx="1252394" cy="0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9E8F2DE-5EE1-C2C6-9C61-DF213119C695}"/>
              </a:ext>
            </a:extLst>
          </p:cNvPr>
          <p:cNvSpPr txBox="1"/>
          <p:nvPr/>
        </p:nvSpPr>
        <p:spPr>
          <a:xfrm>
            <a:off x="6974378" y="2573539"/>
            <a:ext cx="2746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KKT system with Lagrange Multipliers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59CD40-704B-00B4-D343-5009137CD211}"/>
              </a:ext>
            </a:extLst>
          </p:cNvPr>
          <p:cNvCxnSpPr>
            <a:cxnSpLocks/>
            <a:stCxn id="17" idx="1"/>
            <a:endCxn id="4" idx="3"/>
          </p:cNvCxnSpPr>
          <p:nvPr/>
        </p:nvCxnSpPr>
        <p:spPr>
          <a:xfrm flipH="1">
            <a:off x="4416434" y="2896705"/>
            <a:ext cx="2557944" cy="0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49135C-FD30-8F84-B2BD-20ED8439F2D5}"/>
              </a:ext>
            </a:extLst>
          </p:cNvPr>
          <p:cNvSpPr txBox="1"/>
          <p:nvPr/>
        </p:nvSpPr>
        <p:spPr>
          <a:xfrm>
            <a:off x="6974378" y="3911196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Extracting the first row from the KKT system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28CD11E-8917-B2AA-AB51-7F22B1DB3B8D}"/>
              </a:ext>
            </a:extLst>
          </p:cNvPr>
          <p:cNvCxnSpPr>
            <a:cxnSpLocks/>
            <a:stCxn id="25" idx="1"/>
            <a:endCxn id="10" idx="3"/>
          </p:cNvCxnSpPr>
          <p:nvPr/>
        </p:nvCxnSpPr>
        <p:spPr>
          <a:xfrm flipH="1" flipV="1">
            <a:off x="4115710" y="4234361"/>
            <a:ext cx="2858668" cy="1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1604DE0-0D38-C311-13BD-05691C3B1710}"/>
              </a:ext>
            </a:extLst>
          </p:cNvPr>
          <p:cNvSpPr txBox="1"/>
          <p:nvPr/>
        </p:nvSpPr>
        <p:spPr>
          <a:xfrm>
            <a:off x="6974378" y="5086252"/>
            <a:ext cx="3125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Converting from dynamic impedance to FRFs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66544D-AEB8-CFBB-F9A9-A9BA63E1286B}"/>
              </a:ext>
            </a:extLst>
          </p:cNvPr>
          <p:cNvCxnSpPr>
            <a:cxnSpLocks/>
            <a:stCxn id="31" idx="1"/>
            <a:endCxn id="8" idx="3"/>
          </p:cNvCxnSpPr>
          <p:nvPr/>
        </p:nvCxnSpPr>
        <p:spPr>
          <a:xfrm flipH="1">
            <a:off x="4409124" y="5409418"/>
            <a:ext cx="2565254" cy="1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3081159-85FF-DD31-C6BF-346C9058EFED}"/>
              </a:ext>
            </a:extLst>
          </p:cNvPr>
          <p:cNvSpPr/>
          <p:nvPr/>
        </p:nvSpPr>
        <p:spPr>
          <a:xfrm>
            <a:off x="105032" y="3587476"/>
            <a:ext cx="11337324" cy="23309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790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500659-B88F-A1DF-AF9A-E9ED31731835}"/>
              </a:ext>
            </a:extLst>
          </p:cNvPr>
          <p:cNvSpPr/>
          <p:nvPr/>
        </p:nvSpPr>
        <p:spPr>
          <a:xfrm>
            <a:off x="799827" y="5221482"/>
            <a:ext cx="3609297" cy="375872"/>
          </a:xfrm>
          <a:prstGeom prst="roundRect">
            <a:avLst>
              <a:gd name="adj" fmla="val 3518"/>
            </a:avLst>
          </a:prstGeom>
          <a:solidFill>
            <a:srgbClr val="287968">
              <a:lumMod val="20000"/>
              <a:lumOff val="80000"/>
            </a:srgbClr>
          </a:solidFill>
          <a:ln w="12700" cap="flat" cmpd="sng" algn="ctr">
            <a:solidFill>
              <a:srgbClr val="28796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E51ED4CD-B6E1-FC09-97A3-77DCC92E2AF3}"/>
              </a:ext>
            </a:extLst>
          </p:cNvPr>
          <p:cNvSpPr/>
          <p:nvPr/>
        </p:nvSpPr>
        <p:spPr>
          <a:xfrm>
            <a:off x="799827" y="3782168"/>
            <a:ext cx="3315883" cy="904386"/>
          </a:xfrm>
          <a:prstGeom prst="roundRect">
            <a:avLst>
              <a:gd name="adj" fmla="val 8014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772E0B30-5CD5-EF31-6E89-0DE35A2FDC5A}"/>
              </a:ext>
            </a:extLst>
          </p:cNvPr>
          <p:cNvSpPr/>
          <p:nvPr/>
        </p:nvSpPr>
        <p:spPr>
          <a:xfrm>
            <a:off x="767486" y="2522884"/>
            <a:ext cx="3641638" cy="747640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AAE92080-D34B-1F07-D428-A1DA35291445}"/>
              </a:ext>
            </a:extLst>
          </p:cNvPr>
          <p:cNvSpPr/>
          <p:nvPr/>
        </p:nvSpPr>
        <p:spPr>
          <a:xfrm>
            <a:off x="767486" y="951947"/>
            <a:ext cx="4954498" cy="1091042"/>
          </a:xfrm>
          <a:prstGeom prst="roundRect">
            <a:avLst>
              <a:gd name="adj" fmla="val 8014"/>
            </a:avLst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101F4-ED3E-52D9-2947-7E904705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LM-FBS as a Constrained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7D57C0-EE0A-21A6-066F-EFDD52A6E678}"/>
                  </a:ext>
                </a:extLst>
              </p:cNvPr>
              <p:cNvSpPr txBox="1"/>
              <p:nvPr/>
            </p:nvSpPr>
            <p:spPr>
              <a:xfrm>
                <a:off x="767486" y="2522884"/>
                <a:ext cx="3648948" cy="7476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7D57C0-EE0A-21A6-066F-EFDD52A6E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2522884"/>
                <a:ext cx="3648948" cy="7476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8308D5-8A00-1F6C-1CAE-581D150B2025}"/>
                  </a:ext>
                </a:extLst>
              </p:cNvPr>
              <p:cNvSpPr txBox="1"/>
              <p:nvPr/>
            </p:nvSpPr>
            <p:spPr>
              <a:xfrm>
                <a:off x="767486" y="967067"/>
                <a:ext cx="4954498" cy="1060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𝑴𝒊𝒏𝒊𝒎𝒊𝒛𝒆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𝒔𝒖𝒃𝒋𝒆𝒄𝒕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8308D5-8A00-1F6C-1CAE-581D150B2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967067"/>
                <a:ext cx="4954498" cy="1060803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86BBCD-7B42-DFE5-66ED-56885E7C0E1C}"/>
                  </a:ext>
                </a:extLst>
              </p:cNvPr>
              <p:cNvSpPr txBox="1"/>
              <p:nvPr/>
            </p:nvSpPr>
            <p:spPr>
              <a:xfrm>
                <a:off x="767486" y="3782169"/>
                <a:ext cx="3348224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86BBCD-7B42-DFE5-66ED-56885E7C0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3782169"/>
                <a:ext cx="3348224" cy="375872"/>
              </a:xfrm>
              <a:prstGeom prst="rect">
                <a:avLst/>
              </a:prstGeom>
              <a:blipFill>
                <a:blip r:embed="rId4"/>
                <a:stretch>
                  <a:fillRect t="-1613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FA686-6A74-A33C-5D11-018F33520F5D}"/>
                  </a:ext>
                </a:extLst>
              </p:cNvPr>
              <p:cNvSpPr txBox="1"/>
              <p:nvPr/>
            </p:nvSpPr>
            <p:spPr>
              <a:xfrm>
                <a:off x="767486" y="4310682"/>
                <a:ext cx="3348224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FA686-6A74-A33C-5D11-018F33520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4310682"/>
                <a:ext cx="3348224" cy="375872"/>
              </a:xfrm>
              <a:prstGeom prst="rect">
                <a:avLst/>
              </a:prstGeom>
              <a:blipFill>
                <a:blip r:embed="rId5"/>
                <a:stretch>
                  <a:fillRect t="-3226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E51284-8F57-B06F-BE9B-BA0E8728E290}"/>
                  </a:ext>
                </a:extLst>
              </p:cNvPr>
              <p:cNvSpPr txBox="1"/>
              <p:nvPr/>
            </p:nvSpPr>
            <p:spPr>
              <a:xfrm>
                <a:off x="767486" y="5221483"/>
                <a:ext cx="3641638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E51284-8F57-B06F-BE9B-BA0E8728E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5221483"/>
                <a:ext cx="3641638" cy="375872"/>
              </a:xfrm>
              <a:prstGeom prst="rect">
                <a:avLst/>
              </a:prstGeom>
              <a:blipFill>
                <a:blip r:embed="rId6"/>
                <a:stretch>
                  <a:fillRect t="-3279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6B45F41-BE24-01CB-C1A3-6671CE7F9178}"/>
              </a:ext>
            </a:extLst>
          </p:cNvPr>
          <p:cNvSpPr txBox="1"/>
          <p:nvPr/>
        </p:nvSpPr>
        <p:spPr>
          <a:xfrm>
            <a:off x="6974378" y="1174303"/>
            <a:ext cx="3266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dirty="0">
                <a:solidFill>
                  <a:srgbClr val="1B1B1B"/>
                </a:solidFill>
                <a:latin typeface="Open Sans"/>
              </a:rPr>
              <a:t>Quadratic program (akin to </a:t>
            </a:r>
            <a:r>
              <a:rPr lang="en-US" dirty="0" err="1">
                <a:solidFill>
                  <a:srgbClr val="1B1B1B"/>
                </a:solidFill>
                <a:latin typeface="Open Sans"/>
              </a:rPr>
              <a:t>Lagrangian</a:t>
            </a:r>
            <a:r>
              <a:rPr lang="en-US" dirty="0">
                <a:solidFill>
                  <a:srgbClr val="1B1B1B"/>
                </a:solidFill>
                <a:latin typeface="Open Sans"/>
              </a:rPr>
              <a:t> mechanics)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0AC32D-5A3A-F3F3-F21A-D873321B0B18}"/>
              </a:ext>
            </a:extLst>
          </p:cNvPr>
          <p:cNvCxnSpPr>
            <a:cxnSpLocks/>
            <a:stCxn id="13" idx="1"/>
            <a:endCxn id="5" idx="3"/>
          </p:cNvCxnSpPr>
          <p:nvPr/>
        </p:nvCxnSpPr>
        <p:spPr>
          <a:xfrm flipH="1">
            <a:off x="5721984" y="1497469"/>
            <a:ext cx="1252394" cy="0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9E8F2DE-5EE1-C2C6-9C61-DF213119C695}"/>
              </a:ext>
            </a:extLst>
          </p:cNvPr>
          <p:cNvSpPr txBox="1"/>
          <p:nvPr/>
        </p:nvSpPr>
        <p:spPr>
          <a:xfrm>
            <a:off x="6974378" y="2573539"/>
            <a:ext cx="2746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dirty="0">
                <a:solidFill>
                  <a:srgbClr val="1B1B1B"/>
                </a:solidFill>
                <a:latin typeface="Open Sans"/>
              </a:rPr>
              <a:t>KKT system with Lagrange Multipliers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59CD40-704B-00B4-D343-5009137CD211}"/>
              </a:ext>
            </a:extLst>
          </p:cNvPr>
          <p:cNvCxnSpPr>
            <a:cxnSpLocks/>
            <a:stCxn id="17" idx="1"/>
            <a:endCxn id="4" idx="3"/>
          </p:cNvCxnSpPr>
          <p:nvPr/>
        </p:nvCxnSpPr>
        <p:spPr>
          <a:xfrm flipH="1">
            <a:off x="4416434" y="2896705"/>
            <a:ext cx="2557944" cy="0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49135C-FD30-8F84-B2BD-20ED8439F2D5}"/>
              </a:ext>
            </a:extLst>
          </p:cNvPr>
          <p:cNvSpPr txBox="1"/>
          <p:nvPr/>
        </p:nvSpPr>
        <p:spPr>
          <a:xfrm>
            <a:off x="6974378" y="3911196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Extracting the first row from the KKT system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28CD11E-8917-B2AA-AB51-7F22B1DB3B8D}"/>
              </a:ext>
            </a:extLst>
          </p:cNvPr>
          <p:cNvCxnSpPr>
            <a:cxnSpLocks/>
            <a:stCxn id="25" idx="1"/>
            <a:endCxn id="10" idx="3"/>
          </p:cNvCxnSpPr>
          <p:nvPr/>
        </p:nvCxnSpPr>
        <p:spPr>
          <a:xfrm flipH="1" flipV="1">
            <a:off x="4115710" y="4234361"/>
            <a:ext cx="2858668" cy="1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1604DE0-0D38-C311-13BD-05691C3B1710}"/>
              </a:ext>
            </a:extLst>
          </p:cNvPr>
          <p:cNvSpPr txBox="1"/>
          <p:nvPr/>
        </p:nvSpPr>
        <p:spPr>
          <a:xfrm>
            <a:off x="6974378" y="5086252"/>
            <a:ext cx="3125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Converting from dynamic impedance to FRFs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66544D-AEB8-CFBB-F9A9-A9BA63E1286B}"/>
              </a:ext>
            </a:extLst>
          </p:cNvPr>
          <p:cNvCxnSpPr>
            <a:cxnSpLocks/>
            <a:stCxn id="31" idx="1"/>
            <a:endCxn id="8" idx="3"/>
          </p:cNvCxnSpPr>
          <p:nvPr/>
        </p:nvCxnSpPr>
        <p:spPr>
          <a:xfrm flipH="1">
            <a:off x="4409124" y="5409418"/>
            <a:ext cx="2565254" cy="1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3081159-85FF-DD31-C6BF-346C9058EFED}"/>
              </a:ext>
            </a:extLst>
          </p:cNvPr>
          <p:cNvSpPr/>
          <p:nvPr/>
        </p:nvSpPr>
        <p:spPr>
          <a:xfrm>
            <a:off x="105032" y="4880692"/>
            <a:ext cx="11337324" cy="10377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32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500659-B88F-A1DF-AF9A-E9ED31731835}"/>
              </a:ext>
            </a:extLst>
          </p:cNvPr>
          <p:cNvSpPr/>
          <p:nvPr/>
        </p:nvSpPr>
        <p:spPr>
          <a:xfrm>
            <a:off x="799827" y="5221482"/>
            <a:ext cx="3609297" cy="375872"/>
          </a:xfrm>
          <a:prstGeom prst="roundRect">
            <a:avLst>
              <a:gd name="adj" fmla="val 3518"/>
            </a:avLst>
          </a:prstGeom>
          <a:solidFill>
            <a:srgbClr val="287968">
              <a:lumMod val="20000"/>
              <a:lumOff val="80000"/>
            </a:srgbClr>
          </a:solidFill>
          <a:ln w="12700" cap="flat" cmpd="sng" algn="ctr">
            <a:solidFill>
              <a:srgbClr val="28796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E51ED4CD-B6E1-FC09-97A3-77DCC92E2AF3}"/>
              </a:ext>
            </a:extLst>
          </p:cNvPr>
          <p:cNvSpPr/>
          <p:nvPr/>
        </p:nvSpPr>
        <p:spPr>
          <a:xfrm>
            <a:off x="799827" y="3782168"/>
            <a:ext cx="3315883" cy="904386"/>
          </a:xfrm>
          <a:prstGeom prst="roundRect">
            <a:avLst>
              <a:gd name="adj" fmla="val 8014"/>
            </a:avLst>
          </a:prstGeom>
          <a:solidFill>
            <a:srgbClr val="00ACCF">
              <a:lumMod val="20000"/>
              <a:lumOff val="80000"/>
            </a:srgbClr>
          </a:solidFill>
          <a:ln w="12700" cap="flat" cmpd="sng" algn="ctr">
            <a:solidFill>
              <a:srgbClr val="00ACC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772E0B30-5CD5-EF31-6E89-0DE35A2FDC5A}"/>
              </a:ext>
            </a:extLst>
          </p:cNvPr>
          <p:cNvSpPr/>
          <p:nvPr/>
        </p:nvSpPr>
        <p:spPr>
          <a:xfrm>
            <a:off x="767486" y="2522884"/>
            <a:ext cx="3641638" cy="747640"/>
          </a:xfrm>
          <a:prstGeom prst="roundRect">
            <a:avLst/>
          </a:prstGeom>
          <a:solidFill>
            <a:srgbClr val="EC8A00">
              <a:lumMod val="20000"/>
              <a:lumOff val="80000"/>
            </a:srgbClr>
          </a:solidFill>
          <a:ln w="127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AAE92080-D34B-1F07-D428-A1DA35291445}"/>
              </a:ext>
            </a:extLst>
          </p:cNvPr>
          <p:cNvSpPr/>
          <p:nvPr/>
        </p:nvSpPr>
        <p:spPr>
          <a:xfrm>
            <a:off x="767486" y="951947"/>
            <a:ext cx="4954498" cy="1091042"/>
          </a:xfrm>
          <a:prstGeom prst="roundRect">
            <a:avLst>
              <a:gd name="adj" fmla="val 8014"/>
            </a:avLst>
          </a:prstGeom>
          <a:solidFill>
            <a:srgbClr val="C41D24">
              <a:lumMod val="20000"/>
              <a:lumOff val="80000"/>
            </a:srgbClr>
          </a:solidFill>
          <a:ln w="12700" cap="flat" cmpd="sng" algn="ctr">
            <a:solidFill>
              <a:srgbClr val="C41D2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101F4-ED3E-52D9-2947-7E904705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LM-FBS as a Constrained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7D57C0-EE0A-21A6-066F-EFDD52A6E678}"/>
                  </a:ext>
                </a:extLst>
              </p:cNvPr>
              <p:cNvSpPr txBox="1"/>
              <p:nvPr/>
            </p:nvSpPr>
            <p:spPr>
              <a:xfrm>
                <a:off x="767486" y="2522884"/>
                <a:ext cx="3648948" cy="7476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7D57C0-EE0A-21A6-066F-EFDD52A6E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2522884"/>
                <a:ext cx="3648948" cy="7476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8308D5-8A00-1F6C-1CAE-581D150B2025}"/>
                  </a:ext>
                </a:extLst>
              </p:cNvPr>
              <p:cNvSpPr txBox="1"/>
              <p:nvPr/>
            </p:nvSpPr>
            <p:spPr>
              <a:xfrm>
                <a:off x="767486" y="967067"/>
                <a:ext cx="4954498" cy="1060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𝑴𝒊𝒏𝒊𝒎𝒊𝒛𝒆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𝒔𝒖𝒃𝒋𝒆𝒄𝒕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8308D5-8A00-1F6C-1CAE-581D150B2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967067"/>
                <a:ext cx="4954498" cy="1060803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86BBCD-7B42-DFE5-66ED-56885E7C0E1C}"/>
                  </a:ext>
                </a:extLst>
              </p:cNvPr>
              <p:cNvSpPr txBox="1"/>
              <p:nvPr/>
            </p:nvSpPr>
            <p:spPr>
              <a:xfrm>
                <a:off x="767486" y="3782169"/>
                <a:ext cx="3348224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86BBCD-7B42-DFE5-66ED-56885E7C0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3782169"/>
                <a:ext cx="3348224" cy="375872"/>
              </a:xfrm>
              <a:prstGeom prst="rect">
                <a:avLst/>
              </a:prstGeom>
              <a:blipFill>
                <a:blip r:embed="rId4"/>
                <a:stretch>
                  <a:fillRect t="-1613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FA686-6A74-A33C-5D11-018F33520F5D}"/>
                  </a:ext>
                </a:extLst>
              </p:cNvPr>
              <p:cNvSpPr txBox="1"/>
              <p:nvPr/>
            </p:nvSpPr>
            <p:spPr>
              <a:xfrm>
                <a:off x="767486" y="4310682"/>
                <a:ext cx="3348224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FA686-6A74-A33C-5D11-018F33520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4310682"/>
                <a:ext cx="3348224" cy="375872"/>
              </a:xfrm>
              <a:prstGeom prst="rect">
                <a:avLst/>
              </a:prstGeom>
              <a:blipFill>
                <a:blip r:embed="rId5"/>
                <a:stretch>
                  <a:fillRect t="-3226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E51284-8F57-B06F-BE9B-BA0E8728E290}"/>
                  </a:ext>
                </a:extLst>
              </p:cNvPr>
              <p:cNvSpPr txBox="1"/>
              <p:nvPr/>
            </p:nvSpPr>
            <p:spPr>
              <a:xfrm>
                <a:off x="767486" y="5221483"/>
                <a:ext cx="3641638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E51284-8F57-B06F-BE9B-BA0E8728E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6" y="5221483"/>
                <a:ext cx="3641638" cy="375872"/>
              </a:xfrm>
              <a:prstGeom prst="rect">
                <a:avLst/>
              </a:prstGeom>
              <a:blipFill>
                <a:blip r:embed="rId6"/>
                <a:stretch>
                  <a:fillRect t="-3279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6B45F41-BE24-01CB-C1A3-6671CE7F9178}"/>
              </a:ext>
            </a:extLst>
          </p:cNvPr>
          <p:cNvSpPr txBox="1"/>
          <p:nvPr/>
        </p:nvSpPr>
        <p:spPr>
          <a:xfrm>
            <a:off x="6974378" y="1174303"/>
            <a:ext cx="3266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dirty="0">
                <a:solidFill>
                  <a:srgbClr val="1B1B1B"/>
                </a:solidFill>
                <a:latin typeface="Open Sans"/>
              </a:rPr>
              <a:t>Quadratic program (akin to </a:t>
            </a:r>
            <a:r>
              <a:rPr lang="en-US" dirty="0" err="1">
                <a:solidFill>
                  <a:srgbClr val="1B1B1B"/>
                </a:solidFill>
                <a:latin typeface="Open Sans"/>
              </a:rPr>
              <a:t>Lagrangian</a:t>
            </a:r>
            <a:r>
              <a:rPr lang="en-US" dirty="0">
                <a:solidFill>
                  <a:srgbClr val="1B1B1B"/>
                </a:solidFill>
                <a:latin typeface="Open Sans"/>
              </a:rPr>
              <a:t> mechanics)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0AC32D-5A3A-F3F3-F21A-D873321B0B18}"/>
              </a:ext>
            </a:extLst>
          </p:cNvPr>
          <p:cNvCxnSpPr>
            <a:cxnSpLocks/>
            <a:stCxn id="13" idx="1"/>
            <a:endCxn id="5" idx="3"/>
          </p:cNvCxnSpPr>
          <p:nvPr/>
        </p:nvCxnSpPr>
        <p:spPr>
          <a:xfrm flipH="1">
            <a:off x="5721984" y="1497469"/>
            <a:ext cx="1252394" cy="0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9E8F2DE-5EE1-C2C6-9C61-DF213119C695}"/>
              </a:ext>
            </a:extLst>
          </p:cNvPr>
          <p:cNvSpPr txBox="1"/>
          <p:nvPr/>
        </p:nvSpPr>
        <p:spPr>
          <a:xfrm>
            <a:off x="6974378" y="2573539"/>
            <a:ext cx="2746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dirty="0">
                <a:solidFill>
                  <a:srgbClr val="1B1B1B"/>
                </a:solidFill>
                <a:latin typeface="Open Sans"/>
              </a:rPr>
              <a:t>KKT system with Lagrange Multipliers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59CD40-704B-00B4-D343-5009137CD211}"/>
              </a:ext>
            </a:extLst>
          </p:cNvPr>
          <p:cNvCxnSpPr>
            <a:cxnSpLocks/>
            <a:stCxn id="17" idx="1"/>
            <a:endCxn id="4" idx="3"/>
          </p:cNvCxnSpPr>
          <p:nvPr/>
        </p:nvCxnSpPr>
        <p:spPr>
          <a:xfrm flipH="1">
            <a:off x="4416434" y="2896705"/>
            <a:ext cx="2557944" cy="0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49135C-FD30-8F84-B2BD-20ED8439F2D5}"/>
              </a:ext>
            </a:extLst>
          </p:cNvPr>
          <p:cNvSpPr txBox="1"/>
          <p:nvPr/>
        </p:nvSpPr>
        <p:spPr>
          <a:xfrm>
            <a:off x="6974378" y="3911196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dirty="0">
                <a:solidFill>
                  <a:srgbClr val="1B1B1B"/>
                </a:solidFill>
                <a:latin typeface="Open Sans"/>
              </a:rPr>
              <a:t>Extracting the first row from the KKT system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28CD11E-8917-B2AA-AB51-7F22B1DB3B8D}"/>
              </a:ext>
            </a:extLst>
          </p:cNvPr>
          <p:cNvCxnSpPr>
            <a:cxnSpLocks/>
            <a:stCxn id="25" idx="1"/>
            <a:endCxn id="10" idx="3"/>
          </p:cNvCxnSpPr>
          <p:nvPr/>
        </p:nvCxnSpPr>
        <p:spPr>
          <a:xfrm flipH="1" flipV="1">
            <a:off x="4115710" y="4234361"/>
            <a:ext cx="2858668" cy="1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1604DE0-0D38-C311-13BD-05691C3B1710}"/>
              </a:ext>
            </a:extLst>
          </p:cNvPr>
          <p:cNvSpPr txBox="1"/>
          <p:nvPr/>
        </p:nvSpPr>
        <p:spPr>
          <a:xfrm>
            <a:off x="6974378" y="5086252"/>
            <a:ext cx="3125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solidFill>
                  <a:srgbClr val="1B1B1B"/>
                </a:solidFill>
                <a:latin typeface="Open Sans"/>
              </a:rPr>
              <a:t>Converting from dynamic impedance to FRFs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66544D-AEB8-CFBB-F9A9-A9BA63E1286B}"/>
              </a:ext>
            </a:extLst>
          </p:cNvPr>
          <p:cNvCxnSpPr>
            <a:cxnSpLocks/>
            <a:stCxn id="31" idx="1"/>
            <a:endCxn id="8" idx="3"/>
          </p:cNvCxnSpPr>
          <p:nvPr/>
        </p:nvCxnSpPr>
        <p:spPr>
          <a:xfrm flipH="1">
            <a:off x="4409124" y="5409418"/>
            <a:ext cx="2565254" cy="1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730787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C123-6DCC-1E34-D398-66E71248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Requirements for FBS</a:t>
            </a:r>
          </a:p>
        </p:txBody>
      </p:sp>
    </p:spTree>
    <p:extLst>
      <p:ext uri="{BB962C8B-B14F-4D97-AF65-F5344CB8AC3E}">
        <p14:creationId xmlns:p14="http://schemas.microsoft.com/office/powerpoint/2010/main" val="35844395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2A1E-411E-17F1-AB2E-932B7B54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Requirements for FBS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03CB3-EF03-4680-1202-4DD92B42B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3507971"/>
            <a:ext cx="11337324" cy="2410443"/>
          </a:xfrm>
        </p:spPr>
        <p:txBody>
          <a:bodyPr/>
          <a:lstStyle/>
          <a:p>
            <a:r>
              <a:rPr lang="en-US" dirty="0"/>
              <a:t>Need enough response and reference DOFs to fully define the coupling condition – </a:t>
            </a:r>
            <a:r>
              <a:rPr lang="en-US" i="1" dirty="0"/>
              <a:t>rotations matter</a:t>
            </a:r>
          </a:p>
          <a:p>
            <a:endParaRPr lang="en-US" i="1" dirty="0"/>
          </a:p>
          <a:p>
            <a:r>
              <a:rPr lang="en-US" dirty="0"/>
              <a:t>Extra response and reference DOFs can be added, depending on how we want to model the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96385-456F-985B-3EE6-652F928F8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32"/>
          <a:stretch>
            <a:fillRect/>
          </a:stretch>
        </p:blipFill>
        <p:spPr>
          <a:xfrm>
            <a:off x="2209800" y="1626870"/>
            <a:ext cx="7772400" cy="1343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747890-805A-91B4-8F96-A06574441A14}"/>
              </a:ext>
            </a:extLst>
          </p:cNvPr>
          <p:cNvSpPr txBox="1"/>
          <p:nvPr/>
        </p:nvSpPr>
        <p:spPr>
          <a:xfrm>
            <a:off x="3209543" y="94433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1B56F-89BE-DE82-68B1-DDD99693DF69}"/>
              </a:ext>
            </a:extLst>
          </p:cNvPr>
          <p:cNvSpPr txBox="1"/>
          <p:nvPr/>
        </p:nvSpPr>
        <p:spPr>
          <a:xfrm>
            <a:off x="5987308" y="944339"/>
            <a:ext cx="3032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1B1B1B"/>
                </a:solidFill>
                <a:latin typeface="Open Sans"/>
              </a:rPr>
              <a:t>System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8D157D-5865-53E7-CBE9-E9B6015DD6AB}"/>
              </a:ext>
            </a:extLst>
          </p:cNvPr>
          <p:cNvCxnSpPr>
            <a:cxnSpLocks/>
          </p:cNvCxnSpPr>
          <p:nvPr/>
        </p:nvCxnSpPr>
        <p:spPr>
          <a:xfrm flipV="1">
            <a:off x="6120384" y="1285494"/>
            <a:ext cx="0" cy="1962912"/>
          </a:xfrm>
          <a:prstGeom prst="line">
            <a:avLst/>
          </a:prstGeom>
          <a:noFill/>
          <a:ln w="7620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3939148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C872-8340-011F-9AA4-F5060E032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FBS Summary</a:t>
            </a:r>
          </a:p>
        </p:txBody>
      </p:sp>
    </p:spTree>
    <p:extLst>
      <p:ext uri="{BB962C8B-B14F-4D97-AF65-F5344CB8AC3E}">
        <p14:creationId xmlns:p14="http://schemas.microsoft.com/office/powerpoint/2010/main" val="36184649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FFDD-0D66-2EA4-E71B-E89B6AEF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FBS -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B6820-377F-564C-1D86-1B4D6FF12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Conversion to the frequency domain means that the substructuring problem can be solved with basic linear algebra</a:t>
            </a:r>
          </a:p>
          <a:p>
            <a:endParaRPr lang="en-US" dirty="0"/>
          </a:p>
          <a:p>
            <a:r>
              <a:rPr lang="en-US" dirty="0"/>
              <a:t>LM-FBS should be used in practice – </a:t>
            </a:r>
            <a:r>
              <a:rPr lang="en-US" i="1" dirty="0"/>
              <a:t>note that some literature will use different names for the same method</a:t>
            </a:r>
          </a:p>
          <a:p>
            <a:endParaRPr lang="en-US" i="1" dirty="0"/>
          </a:p>
          <a:p>
            <a:r>
              <a:rPr lang="en-US" dirty="0"/>
              <a:t>The B matrices in LM-FBS can be slightly different than other substructuring domains, depending on the response and reference DOFs that exist in the FRFs</a:t>
            </a:r>
          </a:p>
          <a:p>
            <a:endParaRPr lang="en-US" dirty="0"/>
          </a:p>
          <a:p>
            <a:r>
              <a:rPr lang="en-US" dirty="0"/>
              <a:t>Need reference and responses to define the coupling condition, everything else is up to the practitioner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89EDD-B68C-5BE8-CAAB-620C5B909F15}"/>
              </a:ext>
            </a:extLst>
          </p:cNvPr>
          <p:cNvSpPr/>
          <p:nvPr/>
        </p:nvSpPr>
        <p:spPr>
          <a:xfrm>
            <a:off x="105032" y="1883508"/>
            <a:ext cx="11337324" cy="4034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824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FFDD-0D66-2EA4-E71B-E89B6AEF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FBS -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B6820-377F-564C-1D86-1B4D6FF12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Conversion to the frequency domain means that the substructuring problem can be solved with basic linear algebra</a:t>
            </a:r>
          </a:p>
          <a:p>
            <a:endParaRPr lang="en-US" dirty="0"/>
          </a:p>
          <a:p>
            <a:r>
              <a:rPr lang="en-US" dirty="0"/>
              <a:t>LM-FBS should be used in practice – </a:t>
            </a:r>
            <a:r>
              <a:rPr lang="en-US" i="1" dirty="0"/>
              <a:t>note that some literature will use different names for the same method</a:t>
            </a:r>
          </a:p>
          <a:p>
            <a:endParaRPr lang="en-US" i="1" dirty="0"/>
          </a:p>
          <a:p>
            <a:r>
              <a:rPr lang="en-US" dirty="0"/>
              <a:t>The B matrices in LM-FBS can be slightly different than other substructuring domains, depending on the response and reference DOFs that exist in the FRFs</a:t>
            </a:r>
          </a:p>
          <a:p>
            <a:endParaRPr lang="en-US" dirty="0"/>
          </a:p>
          <a:p>
            <a:r>
              <a:rPr lang="en-US" dirty="0"/>
              <a:t>Need reference and responses to define the coupling condition, everything else is up to the practitioner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89EDD-B68C-5BE8-CAAB-620C5B909F15}"/>
              </a:ext>
            </a:extLst>
          </p:cNvPr>
          <p:cNvSpPr/>
          <p:nvPr/>
        </p:nvSpPr>
        <p:spPr>
          <a:xfrm>
            <a:off x="105032" y="3360614"/>
            <a:ext cx="11337324" cy="25577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618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FFDD-0D66-2EA4-E71B-E89B6AEF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FBS -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B6820-377F-564C-1D86-1B4D6FF12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Conversion to the frequency domain means that the substructuring problem can be solved with basic linear algebra</a:t>
            </a:r>
          </a:p>
          <a:p>
            <a:endParaRPr lang="en-US" dirty="0"/>
          </a:p>
          <a:p>
            <a:r>
              <a:rPr lang="en-US" dirty="0"/>
              <a:t>LM-FBS should be used in practice – </a:t>
            </a:r>
            <a:r>
              <a:rPr lang="en-US" i="1" dirty="0"/>
              <a:t>note that some literature will use different names for the same method</a:t>
            </a:r>
          </a:p>
          <a:p>
            <a:endParaRPr lang="en-US" i="1" dirty="0"/>
          </a:p>
          <a:p>
            <a:r>
              <a:rPr lang="en-US" dirty="0"/>
              <a:t>The B matrices in LM-FBS can be slightly different than other substructuring domains, depending on the response and reference DOFs that exist in the FRFs</a:t>
            </a:r>
          </a:p>
          <a:p>
            <a:endParaRPr lang="en-US" dirty="0"/>
          </a:p>
          <a:p>
            <a:r>
              <a:rPr lang="en-US" dirty="0"/>
              <a:t>Need reference and responses to define the coupling condition, everything else is up to the practitioner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89EDD-B68C-5BE8-CAAB-620C5B909F15}"/>
              </a:ext>
            </a:extLst>
          </p:cNvPr>
          <p:cNvSpPr/>
          <p:nvPr/>
        </p:nvSpPr>
        <p:spPr>
          <a:xfrm>
            <a:off x="105032" y="4751754"/>
            <a:ext cx="11337324" cy="11666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707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FFDD-0D66-2EA4-E71B-E89B6AEF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FBS -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B6820-377F-564C-1D86-1B4D6FF12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Conversion to the frequency domain means that the substructuring problem can be solved with basic linear algebra</a:t>
            </a:r>
          </a:p>
          <a:p>
            <a:endParaRPr lang="en-US" dirty="0"/>
          </a:p>
          <a:p>
            <a:r>
              <a:rPr lang="en-US" dirty="0"/>
              <a:t>LM-FBS should be used in practice – </a:t>
            </a:r>
            <a:r>
              <a:rPr lang="en-US" i="1" dirty="0"/>
              <a:t>note that some literature will use different names for the same method</a:t>
            </a:r>
          </a:p>
          <a:p>
            <a:endParaRPr lang="en-US" i="1" dirty="0"/>
          </a:p>
          <a:p>
            <a:r>
              <a:rPr lang="en-US" dirty="0"/>
              <a:t>The B matrices in LM-FBS can be slightly different than other substructuring domains, depending on the response and reference DOFs that exist in the FRFs</a:t>
            </a:r>
          </a:p>
          <a:p>
            <a:endParaRPr lang="en-US" dirty="0"/>
          </a:p>
          <a:p>
            <a:r>
              <a:rPr lang="en-US" dirty="0"/>
              <a:t>Need reference and responses to define the coupling condition, everything else is up to the practitioner </a:t>
            </a:r>
          </a:p>
        </p:txBody>
      </p:sp>
    </p:spTree>
    <p:extLst>
      <p:ext uri="{BB962C8B-B14F-4D97-AF65-F5344CB8AC3E}">
        <p14:creationId xmlns:p14="http://schemas.microsoft.com/office/powerpoint/2010/main" val="10780967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26B3-E21D-3947-B40C-827B3C10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Up: Component Mode Synthesis</a:t>
            </a:r>
          </a:p>
        </p:txBody>
      </p:sp>
    </p:spTree>
    <p:extLst>
      <p:ext uri="{BB962C8B-B14F-4D97-AF65-F5344CB8AC3E}">
        <p14:creationId xmlns:p14="http://schemas.microsoft.com/office/powerpoint/2010/main" val="4148629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3541</Words>
  <Application>Microsoft Office PowerPoint</Application>
  <PresentationFormat>Widescreen</PresentationFormat>
  <Paragraphs>593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Aptos</vt:lpstr>
      <vt:lpstr>Aptos Display</vt:lpstr>
      <vt:lpstr>Arial</vt:lpstr>
      <vt:lpstr>Cambria Math</vt:lpstr>
      <vt:lpstr>Open Sans</vt:lpstr>
      <vt:lpstr>Office Theme</vt:lpstr>
      <vt:lpstr>Module 3: Frequency Based Substructuring</vt:lpstr>
      <vt:lpstr>FBS: Outline</vt:lpstr>
      <vt:lpstr>Example System for FBS Derivation</vt:lpstr>
      <vt:lpstr>Example System for FBS Derivation</vt:lpstr>
      <vt:lpstr>Assemble the FRFs in Block Diagonal Format</vt:lpstr>
      <vt:lpstr>Add the Coupling Force at the Interface DOFs</vt:lpstr>
      <vt:lpstr>Define the Compatibility Condition for the Forces</vt:lpstr>
      <vt:lpstr>Apply the Compatibility Condition to the Equations</vt:lpstr>
      <vt:lpstr>Basic FBS Derivation</vt:lpstr>
      <vt:lpstr>FBS Derivation with Basic Linear Algebra</vt:lpstr>
      <vt:lpstr>Solve the System of Equations to Find the Coupling Force</vt:lpstr>
      <vt:lpstr>Solve the System of Equations to Find the Coupling Force</vt:lpstr>
      <vt:lpstr>One-way FBS</vt:lpstr>
      <vt:lpstr>Deriving One-way FBS</vt:lpstr>
      <vt:lpstr>Deriving One-way FBS</vt:lpstr>
      <vt:lpstr>Deriving One-way FBS</vt:lpstr>
      <vt:lpstr>Deriving One-way FBS</vt:lpstr>
      <vt:lpstr>Deriving One-way FBS</vt:lpstr>
      <vt:lpstr>Deriving One-way FBS</vt:lpstr>
      <vt:lpstr>Deriving One-way FBS</vt:lpstr>
      <vt:lpstr>Deriving One-way FBS</vt:lpstr>
      <vt:lpstr>Deriving One-way FBS</vt:lpstr>
      <vt:lpstr>Two-way FBS</vt:lpstr>
      <vt:lpstr>Deriving Two-way FBS</vt:lpstr>
      <vt:lpstr>Deriving Two-way FBS</vt:lpstr>
      <vt:lpstr>Deriving Two-way FBS</vt:lpstr>
      <vt:lpstr>Deriving Two-way FBS</vt:lpstr>
      <vt:lpstr>Deriving Two-way FBS</vt:lpstr>
      <vt:lpstr>Deriving Two-way FBS</vt:lpstr>
      <vt:lpstr>Deriving Two-way FBS</vt:lpstr>
      <vt:lpstr>Deriving Two-way FBS</vt:lpstr>
      <vt:lpstr>Deriving Two-way FBS</vt:lpstr>
      <vt:lpstr>Summarizing the FBS Process</vt:lpstr>
      <vt:lpstr>FBS Process Summary</vt:lpstr>
      <vt:lpstr>FBS Process Summary</vt:lpstr>
      <vt:lpstr>FBS Process Summary</vt:lpstr>
      <vt:lpstr>FBS Process Summary</vt:lpstr>
      <vt:lpstr>A Closer Look at the Equation</vt:lpstr>
      <vt:lpstr>A Closer Look at the Equation</vt:lpstr>
      <vt:lpstr>A Closer Look at the Equation</vt:lpstr>
      <vt:lpstr>A Closer Look at the Equation</vt:lpstr>
      <vt:lpstr>A Closer Look at the Equation</vt:lpstr>
      <vt:lpstr>A Closer Look at the Equation</vt:lpstr>
      <vt:lpstr>A Closer Look at the Equation</vt:lpstr>
      <vt:lpstr>LM-FBS – Algebraic Derivation</vt:lpstr>
      <vt:lpstr>LM-FBS – The Standard FBS Method</vt:lpstr>
      <vt:lpstr>LM-FBS – The Standard FBS Method</vt:lpstr>
      <vt:lpstr>LM-FBS – The Standard FBS Method</vt:lpstr>
      <vt:lpstr>LM-FBS – The Standard FBS Method</vt:lpstr>
      <vt:lpstr>LM-FBS – The Standard FBS Method</vt:lpstr>
      <vt:lpstr>Defining the LM-FBS Compatibility Condition</vt:lpstr>
      <vt:lpstr>Making the B Matrices – Interface Compatibility</vt:lpstr>
      <vt:lpstr>Making the B Matrices – Interface Compatibility</vt:lpstr>
      <vt:lpstr>Making the B Matrices – Force Equilibrium</vt:lpstr>
      <vt:lpstr>Making the B Matrices – Force Equilibrium</vt:lpstr>
      <vt:lpstr>Deriving LM-FBS</vt:lpstr>
      <vt:lpstr>Deriving LM-FBS</vt:lpstr>
      <vt:lpstr>Deriving LM-FBS</vt:lpstr>
      <vt:lpstr>Deriving LM-FBS</vt:lpstr>
      <vt:lpstr>Deriving LM-FBS</vt:lpstr>
      <vt:lpstr>Deriving LM-FBS</vt:lpstr>
      <vt:lpstr>Comparing LM-FBS and the Basic Derivation</vt:lpstr>
      <vt:lpstr>LM-FBS – Lagrange Multipliers</vt:lpstr>
      <vt:lpstr>LM-FBS as a Constrained Optimization</vt:lpstr>
      <vt:lpstr>LM-FBS as a Constrained Optimization</vt:lpstr>
      <vt:lpstr>LM-FBS as a Constrained Optimization</vt:lpstr>
      <vt:lpstr>LM-FBS as a Constrained Optimization</vt:lpstr>
      <vt:lpstr>Data Requirements for FBS</vt:lpstr>
      <vt:lpstr>Data Requirements for FBS</vt:lpstr>
      <vt:lpstr>FBS Summary</vt:lpstr>
      <vt:lpstr>FBS - Summary</vt:lpstr>
      <vt:lpstr>FBS - Summary</vt:lpstr>
      <vt:lpstr>FBS - Summary</vt:lpstr>
      <vt:lpstr>FBS - Summary</vt:lpstr>
      <vt:lpstr>Next Up: Component Mode Synthesis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Roettgen, Daniel Robert</dc:creator>
  <cp:lastModifiedBy>Roettgen, Daniel Robert</cp:lastModifiedBy>
  <cp:revision>20</cp:revision>
  <dcterms:created xsi:type="dcterms:W3CDTF">2025-09-04T01:59:06Z</dcterms:created>
  <dcterms:modified xsi:type="dcterms:W3CDTF">2026-01-15T03:10:59Z</dcterms:modified>
</cp:coreProperties>
</file>