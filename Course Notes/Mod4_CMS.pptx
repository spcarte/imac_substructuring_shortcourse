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329" r:id="rId5"/>
    <p:sldId id="275" r:id="rId6"/>
    <p:sldId id="375" r:id="rId7"/>
    <p:sldId id="276" r:id="rId8"/>
    <p:sldId id="374" r:id="rId9"/>
    <p:sldId id="354" r:id="rId10"/>
    <p:sldId id="338" r:id="rId11"/>
    <p:sldId id="371" r:id="rId12"/>
    <p:sldId id="330" r:id="rId13"/>
    <p:sldId id="355" r:id="rId14"/>
    <p:sldId id="356" r:id="rId15"/>
    <p:sldId id="357" r:id="rId16"/>
    <p:sldId id="358" r:id="rId17"/>
    <p:sldId id="359" r:id="rId18"/>
    <p:sldId id="339" r:id="rId19"/>
    <p:sldId id="360" r:id="rId20"/>
    <p:sldId id="361" r:id="rId21"/>
    <p:sldId id="362" r:id="rId22"/>
    <p:sldId id="340" r:id="rId23"/>
    <p:sldId id="372" r:id="rId24"/>
    <p:sldId id="370" r:id="rId25"/>
    <p:sldId id="341" r:id="rId26"/>
    <p:sldId id="363" r:id="rId27"/>
    <p:sldId id="364" r:id="rId28"/>
    <p:sldId id="365" r:id="rId29"/>
    <p:sldId id="366" r:id="rId30"/>
    <p:sldId id="342" r:id="rId31"/>
    <p:sldId id="367" r:id="rId32"/>
    <p:sldId id="373" r:id="rId33"/>
    <p:sldId id="331" r:id="rId34"/>
    <p:sldId id="353" r:id="rId35"/>
    <p:sldId id="369" r:id="rId36"/>
    <p:sldId id="33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B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6559" autoAdjust="0"/>
  </p:normalViewPr>
  <p:slideViewPr>
    <p:cSldViewPr snapToGrid="0">
      <p:cViewPr varScale="1">
        <p:scale>
          <a:sx n="92" d="100"/>
          <a:sy n="92" d="100"/>
        </p:scale>
        <p:origin x="41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Titl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BEEFF38-9219-3402-6C1E-B326B8FB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32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B7F7EA-D5FA-48A9-A388-858D3B14DD11}" type="datetimeFigureOut">
              <a:rPr lang="en-US" smtClean="0"/>
              <a:pPr/>
              <a:t>1/14/2026</a:t>
            </a:fld>
            <a:endParaRPr lang="en-US"/>
          </a:p>
        </p:txBody>
      </p:sp>
      <p:pic>
        <p:nvPicPr>
          <p:cNvPr id="1026" name="Picture 2" descr="lnu_wordmark_symbol_eng_rgb">
            <a:extLst>
              <a:ext uri="{FF2B5EF4-FFF2-40B4-BE49-F238E27FC236}">
                <a16:creationId xmlns:a16="http://schemas.microsoft.com/office/drawing/2014/main" id="{C8BBA26D-0448-C98D-A6E4-7D55251344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361" y="5087024"/>
            <a:ext cx="4303240" cy="6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82C91-27D9-7A04-4E8D-33817B2D7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3086" y="537502"/>
            <a:ext cx="6847472" cy="1976513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Module #: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DD5900-7FFF-4234-2E19-03956DD10669}"/>
              </a:ext>
            </a:extLst>
          </p:cNvPr>
          <p:cNvSpPr txBox="1"/>
          <p:nvPr userDrawn="1"/>
        </p:nvSpPr>
        <p:spPr>
          <a:xfrm>
            <a:off x="213085" y="2570480"/>
            <a:ext cx="66957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Andreas Linderholt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Linnaeus University 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Department of Mechanical Engineering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Steven Carter</a:t>
            </a:r>
          </a:p>
          <a:p>
            <a:r>
              <a:rPr lang="en-US" b="1" dirty="0">
                <a:solidFill>
                  <a:schemeClr val="bg1"/>
                </a:solidFill>
              </a:rPr>
              <a:t>Benjamin Moldenhauer</a:t>
            </a:r>
          </a:p>
          <a:p>
            <a:r>
              <a:rPr lang="en-US" b="1" dirty="0">
                <a:solidFill>
                  <a:schemeClr val="bg1"/>
                </a:solidFill>
              </a:rPr>
              <a:t>Daniel Roettgen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Sandia National Laboratories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Experimental Structural Dynamics</a:t>
            </a:r>
          </a:p>
          <a:p>
            <a:endParaRPr lang="en-US" dirty="0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55A49339-AFD2-293D-5083-71E4E4D94B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22779" y="297608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58CEA6CC-F9AC-D943-BDC1-48802068B7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22779" y="1838484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AA5A42-DD64-4CDB-4EF6-E5FD7223D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0" b="18728"/>
          <a:stretch/>
        </p:blipFill>
        <p:spPr>
          <a:xfrm>
            <a:off x="5704659" y="5766266"/>
            <a:ext cx="6487341" cy="10917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40B613-3A6D-056E-0592-B710A66DBB4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0065" y="3358941"/>
            <a:ext cx="3151696" cy="17753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AED2AD-3489-102B-FD4A-EF0FD9432851}"/>
              </a:ext>
            </a:extLst>
          </p:cNvPr>
          <p:cNvSpPr txBox="1"/>
          <p:nvPr userDrawn="1"/>
        </p:nvSpPr>
        <p:spPr>
          <a:xfrm>
            <a:off x="324845" y="5393103"/>
            <a:ext cx="4051642" cy="3915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Sandia National Laboratories is a </a:t>
            </a:r>
            <a:r>
              <a:rPr lang="en-US" sz="800" b="0" i="0" u="none" strike="noStrike" dirty="0" err="1">
                <a:solidFill>
                  <a:schemeClr val="bg1"/>
                </a:solidFill>
                <a:effectLst/>
                <a:latin typeface="+mn-lt"/>
              </a:rPr>
              <a:t>multimission</a:t>
            </a: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 laboratory managed and operated by National Technology and Engineering Solutions of Sandia, LLC, a wholly owned subsidiary of Honeywell International Inc., for the U.S. Department of Energy’s National Nuclear Security Administration under contract DE-NA0003525</a:t>
            </a:r>
            <a:endParaRPr lang="en-US" sz="800" b="0" i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210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AEC8612-5184-DD49-1D2B-3D06982D3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11337324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A23D71-51C1-E310-51CE-7DE5CD2D4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0252BF-FA0F-2F01-F0F1-01835876CA31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8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8683368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3C00C0-AFE4-5CDB-792C-B1FF128BB4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18876" y="876197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02C02E6-8B4E-746B-32D8-FBA12F839E6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18875" y="3339996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30CF3A-888A-B8BC-F56F-72E990F0A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3CC7A-4227-B03B-A890-0B34C7C41C16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157A07-85D3-76EC-2529-437C905C2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0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/ Brea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832" y="1409120"/>
            <a:ext cx="10515600" cy="66278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Transition 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E25C2B-00D8-B739-8A7C-9F78150F5A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5040" y="1841555"/>
            <a:ext cx="6675121" cy="37600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A11BA6-9A4D-41B0-FE13-D42E91F591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2307F5-1B86-EB7B-529A-B5AC3C3702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EA77C6D-65EF-D438-A2B7-B79287A44518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10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2">
            <a:extLst>
              <a:ext uri="{FF2B5EF4-FFF2-40B4-BE49-F238E27FC236}">
                <a16:creationId xmlns:a16="http://schemas.microsoft.com/office/drawing/2014/main" id="{AE4A825A-4063-94F5-2E60-E497DE3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C2EE41-D82D-F945-F481-EC0ADFBA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33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3" Type="http://schemas.openxmlformats.org/officeDocument/2006/relationships/image" Target="../media/image7.emf"/><Relationship Id="rId7" Type="http://schemas.openxmlformats.org/officeDocument/2006/relationships/image" Target="../media/image10.gi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10" Type="http://schemas.openxmlformats.org/officeDocument/2006/relationships/image" Target="../media/image13.JPG"/><Relationship Id="rId4" Type="http://schemas.openxmlformats.org/officeDocument/2006/relationships/image" Target="../media/image8.emf"/><Relationship Id="rId9" Type="http://schemas.openxmlformats.org/officeDocument/2006/relationships/image" Target="../media/image12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gif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7.gif"/><Relationship Id="rId7" Type="http://schemas.openxmlformats.org/officeDocument/2006/relationships/image" Target="../media/image3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7" Type="http://schemas.openxmlformats.org/officeDocument/2006/relationships/image" Target="../media/image3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7616-A4B2-51B4-6A7C-6CC82304D7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 4: Component Mode Synthesis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6D44A-C018-0E6F-20C2-3A945BDF39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6B8D1A-23C5-ACFC-ED38-9CA45829D8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7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525E-AF84-91ED-603B-78A46B7A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CMS: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5551-18FF-9CE4-0844-669DDEBB8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“What” and “Why” of Component Mode Synthesis</a:t>
            </a:r>
          </a:p>
          <a:p>
            <a:r>
              <a:rPr lang="en-US" dirty="0"/>
              <a:t>Theory and Examples with Free-Boundary CMS</a:t>
            </a:r>
          </a:p>
          <a:p>
            <a:r>
              <a:rPr lang="en-US" dirty="0"/>
              <a:t>Modal Truncation Example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028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Domains for </a:t>
            </a:r>
            <a:r>
              <a:rPr lang="en-US" dirty="0" err="1"/>
              <a:t>Substructuring</a:t>
            </a:r>
            <a:endParaRPr lang="en-US" dirty="0"/>
          </a:p>
        </p:txBody>
      </p:sp>
      <p:pic>
        <p:nvPicPr>
          <p:cNvPr id="3" name="Bild 6">
            <a:extLst>
              <a:ext uri="{FF2B5EF4-FFF2-40B4-BE49-F238E27FC236}">
                <a16:creationId xmlns:a16="http://schemas.microsoft.com/office/drawing/2014/main" id="{8D1604FA-D670-9540-90F5-9895670FB127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b="7143"/>
          <a:stretch/>
        </p:blipFill>
        <p:spPr>
          <a:xfrm>
            <a:off x="2362202" y="1368522"/>
            <a:ext cx="7467600" cy="4622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196AD1-676A-0BC8-511D-00BC3511F7AE}"/>
              </a:ext>
            </a:extLst>
          </p:cNvPr>
          <p:cNvSpPr/>
          <p:nvPr/>
        </p:nvSpPr>
        <p:spPr>
          <a:xfrm>
            <a:off x="2362203" y="3329865"/>
            <a:ext cx="7372004" cy="25408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EB996-0268-4E01-D93D-C21BE0895591}"/>
              </a:ext>
            </a:extLst>
          </p:cNvPr>
          <p:cNvSpPr/>
          <p:nvPr/>
        </p:nvSpPr>
        <p:spPr>
          <a:xfrm>
            <a:off x="2362203" y="1228029"/>
            <a:ext cx="3905595" cy="210183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728756-EE0F-A1EC-A394-0075A8385487}"/>
              </a:ext>
            </a:extLst>
          </p:cNvPr>
          <p:cNvSpPr txBox="1"/>
          <p:nvPr/>
        </p:nvSpPr>
        <p:spPr>
          <a:xfrm>
            <a:off x="580535" y="1927499"/>
            <a:ext cx="1781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large unwieldy matrices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0A12C7-941E-67A1-7489-146C37F5964D}"/>
              </a:ext>
            </a:extLst>
          </p:cNvPr>
          <p:cNvSpPr txBox="1"/>
          <p:nvPr/>
        </p:nvSpPr>
        <p:spPr>
          <a:xfrm>
            <a:off x="9778999" y="3883735"/>
            <a:ext cx="1781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difficult interface measurements</a:t>
            </a:r>
          </a:p>
        </p:txBody>
      </p:sp>
    </p:spTree>
    <p:extLst>
      <p:ext uri="{BB962C8B-B14F-4D97-AF65-F5344CB8AC3E}">
        <p14:creationId xmlns:p14="http://schemas.microsoft.com/office/powerpoint/2010/main" val="2044882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Domains for </a:t>
            </a:r>
            <a:r>
              <a:rPr lang="en-US" dirty="0" err="1"/>
              <a:t>Substructuring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C25BEE-E4CF-4E50-86C8-111949C2FD55}"/>
              </a:ext>
            </a:extLst>
          </p:cNvPr>
          <p:cNvSpPr>
            <a:spLocks noGrp="1"/>
          </p:cNvSpPr>
          <p:nvPr/>
        </p:nvSpPr>
        <p:spPr>
          <a:xfrm>
            <a:off x="310540" y="805656"/>
            <a:ext cx="11570920" cy="5246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/>
              <a:t>Substructuring</a:t>
            </a:r>
            <a:r>
              <a:rPr lang="en-US" sz="2400" dirty="0"/>
              <a:t> may seem simple with small spring-mass systems. </a:t>
            </a:r>
          </a:p>
          <a:p>
            <a:pPr marL="0" indent="0">
              <a:buNone/>
            </a:pPr>
            <a:r>
              <a:rPr lang="en-US" sz="2400" dirty="0"/>
              <a:t>Unfortunately most industrial problems involve complex assemblies of intricate subsystems and components.</a:t>
            </a:r>
          </a:p>
          <a:p>
            <a:pPr marL="0" indent="0">
              <a:buNone/>
            </a:pPr>
            <a:r>
              <a:rPr lang="en-US" sz="2400" dirty="0"/>
              <a:t>The physical mass and stiffness matrices can be quite cumbersome to use for physical coupling.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10B635-76BE-E531-50D9-4CDF2F6EBB84}"/>
              </a:ext>
            </a:extLst>
          </p:cNvPr>
          <p:cNvSpPr/>
          <p:nvPr/>
        </p:nvSpPr>
        <p:spPr>
          <a:xfrm>
            <a:off x="310540" y="2894236"/>
            <a:ext cx="11369270" cy="1159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b="1" dirty="0"/>
              <a:t>Wouldn’t it be nice if we could couple two reduced-order models (ROMs) of our systems so that the dynamic information we care about is preserved but the computational costs were small?</a:t>
            </a:r>
          </a:p>
        </p:txBody>
      </p:sp>
    </p:spTree>
    <p:extLst>
      <p:ext uri="{BB962C8B-B14F-4D97-AF65-F5344CB8AC3E}">
        <p14:creationId xmlns:p14="http://schemas.microsoft.com/office/powerpoint/2010/main" val="3574037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9835-F37B-5854-84DA-3D4E381D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“What” and “Why” of Component Mode Synthesis</a:t>
            </a:r>
          </a:p>
        </p:txBody>
      </p:sp>
    </p:spTree>
    <p:extLst>
      <p:ext uri="{BB962C8B-B14F-4D97-AF65-F5344CB8AC3E}">
        <p14:creationId xmlns:p14="http://schemas.microsoft.com/office/powerpoint/2010/main" val="133597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CMS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4020-B937-00D5-9707-E3E95D6E7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Component mode synthesis aims to couple two components (or subsystems) through a pair of reduced-order models.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555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CMS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4020-B937-00D5-9707-E3E95D6E7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Component mode synthesis aims to couple two components (or subsystems) through a pair of reduced-order models.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reduced-order model is a simpler representation of a mechanical system often viewed through a set of basis-vectors. Choosing which vectors to keep or remove provides ample means of model reduction.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006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CMS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4020-B937-00D5-9707-E3E95D6E7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Component mode synthesis aims to couple two components (or subsystems) through a pair of reduced-order models.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reduced-order model is a simpler representation of a mechanical system often viewed through a set of basis-vectors. Choosing which vectors to keep or remove provides ample means of model reduction.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Transforming form physical to our selected ROM basis set will be essential to our success at using CMS.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19422E-18E3-CDA7-0B08-5AB4A6391CEB}"/>
              </a:ext>
            </a:extLst>
          </p:cNvPr>
          <p:cNvSpPr/>
          <p:nvPr/>
        </p:nvSpPr>
        <p:spPr>
          <a:xfrm>
            <a:off x="485948" y="5149043"/>
            <a:ext cx="11087100" cy="609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For this class, we will look at free-boundary modal models as a ROM for CMS</a:t>
            </a:r>
          </a:p>
        </p:txBody>
      </p:sp>
    </p:spTree>
    <p:extLst>
      <p:ext uri="{BB962C8B-B14F-4D97-AF65-F5344CB8AC3E}">
        <p14:creationId xmlns:p14="http://schemas.microsoft.com/office/powerpoint/2010/main" val="2027760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modes?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8EFEB3-63AD-BEFC-5658-A988058AD8CC}"/>
              </a:ext>
            </a:extLst>
          </p:cNvPr>
          <p:cNvSpPr txBox="1"/>
          <p:nvPr/>
        </p:nvSpPr>
        <p:spPr>
          <a:xfrm>
            <a:off x="180545" y="860739"/>
            <a:ext cx="8911465" cy="1586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Modes are inherent physical properties of all objects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Describe how objects naturally respond to stimulation at different frequencies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The fundamental building blocks of all complex dynamic response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accent1"/>
                </a:solidFill>
                <a:latin typeface="+mj-lt"/>
              </a:rPr>
              <a:t>All complex dynamic behavior is a linear superposition of modal responses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482655-C89A-0678-1828-C8AF531F5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511" y="3507530"/>
            <a:ext cx="2127739" cy="79790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D90057-E663-9225-A187-7194F22CC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072" y="3515135"/>
            <a:ext cx="2127739" cy="7979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1678F8-CB4C-99BF-7813-6F6B44B1B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850" y="4521705"/>
            <a:ext cx="2127739" cy="7979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6D385E-960B-A1AA-8A82-688EBCC28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493" y="5491915"/>
            <a:ext cx="2127739" cy="7979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F51E492-DBA5-3859-A306-D5E8268AC8B7}"/>
              </a:ext>
            </a:extLst>
          </p:cNvPr>
          <p:cNvSpPr txBox="1"/>
          <p:nvPr/>
        </p:nvSpPr>
        <p:spPr>
          <a:xfrm>
            <a:off x="3656522" y="3665477"/>
            <a:ext cx="43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dirty="0">
                <a:solidFill>
                  <a:srgbClr val="000000"/>
                </a:solidFill>
                <a:latin typeface="Garamond" panose="02020404030301010803"/>
              </a:rPr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4E41E-A934-EABD-7649-A5C80AEEC32B}"/>
              </a:ext>
            </a:extLst>
          </p:cNvPr>
          <p:cNvSpPr txBox="1"/>
          <p:nvPr/>
        </p:nvSpPr>
        <p:spPr>
          <a:xfrm>
            <a:off x="4556456" y="4664562"/>
            <a:ext cx="43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dirty="0">
                <a:solidFill>
                  <a:srgbClr val="000000"/>
                </a:solidFill>
                <a:latin typeface="Garamond" panose="02020404030301010803"/>
              </a:rPr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0EA13B-1176-490E-F52D-3ACD7CE8FA27}"/>
              </a:ext>
            </a:extLst>
          </p:cNvPr>
          <p:cNvSpPr txBox="1"/>
          <p:nvPr/>
        </p:nvSpPr>
        <p:spPr>
          <a:xfrm>
            <a:off x="5359806" y="5650458"/>
            <a:ext cx="43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dirty="0">
                <a:solidFill>
                  <a:srgbClr val="000000"/>
                </a:solidFill>
                <a:latin typeface="Garamond" panose="02020404030301010803"/>
              </a:rPr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779A6-14B7-C77A-2D7D-351D5ABD1959}"/>
              </a:ext>
            </a:extLst>
          </p:cNvPr>
          <p:cNvSpPr txBox="1"/>
          <p:nvPr/>
        </p:nvSpPr>
        <p:spPr>
          <a:xfrm>
            <a:off x="8545782" y="5558825"/>
            <a:ext cx="43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dirty="0">
                <a:solidFill>
                  <a:srgbClr val="000000"/>
                </a:solidFill>
                <a:latin typeface="Garamond" panose="02020404030301010803"/>
              </a:rPr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248199-A8B3-0679-4365-97248A9284FC}"/>
              </a:ext>
            </a:extLst>
          </p:cNvPr>
          <p:cNvSpPr txBox="1"/>
          <p:nvPr/>
        </p:nvSpPr>
        <p:spPr>
          <a:xfrm>
            <a:off x="2765500" y="3556826"/>
            <a:ext cx="944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200" i="1" dirty="0">
                <a:solidFill>
                  <a:srgbClr val="000000"/>
                </a:solidFill>
                <a:latin typeface="Garamond" panose="02020404030301010803" pitchFamily="18" charset="0"/>
              </a:rPr>
              <a:t>Response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3DE0A9-8783-752E-C9A5-50FDEF965CC8}"/>
              </a:ext>
            </a:extLst>
          </p:cNvPr>
          <p:cNvSpPr txBox="1"/>
          <p:nvPr/>
        </p:nvSpPr>
        <p:spPr>
          <a:xfrm>
            <a:off x="5012407" y="3583225"/>
            <a:ext cx="688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200" i="1" dirty="0">
                <a:solidFill>
                  <a:srgbClr val="000000"/>
                </a:solidFill>
                <a:latin typeface="Garamond" panose="02020404030301010803" pitchFamily="18" charset="0"/>
              </a:rPr>
              <a:t>Mode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92A42F-3832-A53B-6634-DD15AA41A6A6}"/>
              </a:ext>
            </a:extLst>
          </p:cNvPr>
          <p:cNvSpPr txBox="1"/>
          <p:nvPr/>
        </p:nvSpPr>
        <p:spPr>
          <a:xfrm>
            <a:off x="5905354" y="4609915"/>
            <a:ext cx="688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200" i="1" dirty="0">
                <a:solidFill>
                  <a:srgbClr val="000000"/>
                </a:solidFill>
                <a:latin typeface="Garamond" panose="02020404030301010803" pitchFamily="18" charset="0"/>
              </a:rPr>
              <a:t>Mode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409DC7-826C-4CC2-6850-BA8F25C71959}"/>
              </a:ext>
            </a:extLst>
          </p:cNvPr>
          <p:cNvSpPr txBox="1"/>
          <p:nvPr/>
        </p:nvSpPr>
        <p:spPr>
          <a:xfrm>
            <a:off x="6775780" y="5568494"/>
            <a:ext cx="688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200" i="1" dirty="0">
                <a:solidFill>
                  <a:srgbClr val="000000"/>
                </a:solidFill>
                <a:latin typeface="Garamond" panose="02020404030301010803" pitchFamily="18" charset="0"/>
              </a:rPr>
              <a:t>Mode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BFDED80-D056-7590-FA1E-8B0DC615BA10}"/>
                  </a:ext>
                </a:extLst>
              </p:cNvPr>
              <p:cNvSpPr txBox="1"/>
              <p:nvPr/>
            </p:nvSpPr>
            <p:spPr>
              <a:xfrm>
                <a:off x="1474994" y="2568880"/>
                <a:ext cx="3788230" cy="667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𝑜𝑑𝑒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h𝑎𝑝𝑒𝑠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𝑊𝑒𝑖𝑔h𝑡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∗(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𝑆h𝑎𝑝𝑒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400" dirty="0">
                  <a:solidFill>
                    <a:srgbClr val="000000"/>
                  </a:solidFill>
                  <a:latin typeface="Trebuchet MS" panose="020B0603020202020204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BFDED80-D056-7590-FA1E-8B0DC615B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994" y="2568880"/>
                <a:ext cx="3788230" cy="667042"/>
              </a:xfrm>
              <a:prstGeom prst="rect">
                <a:avLst/>
              </a:prstGeom>
              <a:blipFill>
                <a:blip r:embed="rId6"/>
                <a:stretch>
                  <a:fillRect t="-112727" b="-13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65CC801C-C0A4-C250-082B-6E471CEDB8B7}"/>
              </a:ext>
            </a:extLst>
          </p:cNvPr>
          <p:cNvSpPr txBox="1"/>
          <p:nvPr/>
        </p:nvSpPr>
        <p:spPr>
          <a:xfrm>
            <a:off x="8265646" y="3968846"/>
            <a:ext cx="173520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1200" i="1" dirty="0">
                <a:solidFill>
                  <a:srgbClr val="00B050"/>
                </a:solidFill>
                <a:latin typeface="Trebuchet MS" panose="020B0603020202020204"/>
              </a:rPr>
              <a:t>Individual Modal Deflection Shapes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88F7100-B89C-93A4-EA7D-4CF451004664}"/>
              </a:ext>
            </a:extLst>
          </p:cNvPr>
          <p:cNvCxnSpPr>
            <a:cxnSpLocks/>
          </p:cNvCxnSpPr>
          <p:nvPr/>
        </p:nvCxnSpPr>
        <p:spPr>
          <a:xfrm flipH="1" flipV="1">
            <a:off x="7040981" y="3833826"/>
            <a:ext cx="1081370" cy="25130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1007D02-C5FC-3062-91FC-17D2C15A0FCD}"/>
              </a:ext>
            </a:extLst>
          </p:cNvPr>
          <p:cNvCxnSpPr>
            <a:cxnSpLocks/>
          </p:cNvCxnSpPr>
          <p:nvPr/>
        </p:nvCxnSpPr>
        <p:spPr>
          <a:xfrm flipH="1">
            <a:off x="7815313" y="4313037"/>
            <a:ext cx="348016" cy="34416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601E744-8036-44E8-2900-8BCF892ED8A1}"/>
              </a:ext>
            </a:extLst>
          </p:cNvPr>
          <p:cNvCxnSpPr>
            <a:cxnSpLocks/>
          </p:cNvCxnSpPr>
          <p:nvPr/>
        </p:nvCxnSpPr>
        <p:spPr>
          <a:xfrm flipH="1">
            <a:off x="8176591" y="4609184"/>
            <a:ext cx="226876" cy="67462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BB054AE-C97A-26BC-C3C8-80375EEC42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0913" y="4542203"/>
            <a:ext cx="914400" cy="6858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E41CF78-0102-1F73-8255-8641957258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1382" y="5456121"/>
            <a:ext cx="914400" cy="6858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2B0CB58-F194-E46E-A77B-A5621ED4D5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5445" y="3448900"/>
            <a:ext cx="914400" cy="6858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5C04AF7-3EAD-22F2-A0E7-5DFAFD10F34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8056" t="22271" r="21849" b="18264"/>
          <a:stretch/>
        </p:blipFill>
        <p:spPr>
          <a:xfrm>
            <a:off x="8796972" y="1153085"/>
            <a:ext cx="2668053" cy="237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1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Modal Reduction?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836C45D-6879-BEBC-BAF8-773CFB4C5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775" y="3499785"/>
            <a:ext cx="3441094" cy="86334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F25DB2D-4D43-4E6B-DECB-75506C4B9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75" y="2612057"/>
            <a:ext cx="3441094" cy="86589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5D111FA-6C5D-29C1-7AFD-FAE39C6C3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775" y="1739169"/>
            <a:ext cx="3441094" cy="83334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4465DBB-23E4-4C9E-50A6-3DCF9A0C9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714" y="3619437"/>
            <a:ext cx="2123651" cy="44647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8CC07B3-88AE-12F6-EE0B-A41196870B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4360" y="2635664"/>
            <a:ext cx="2122005" cy="44510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A5AB089-2F85-3502-F9FB-3FD192482E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2715" y="2140137"/>
            <a:ext cx="2122005" cy="44739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04B518E-812F-DA3E-8B98-378E25D217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940" y="3628923"/>
            <a:ext cx="2085825" cy="4399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0858A27-4AB9-8345-6AFD-BD7BE05110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940" y="3131948"/>
            <a:ext cx="2085825" cy="44152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EE820C4-5AC6-79B9-31FF-73923B15CB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126" y="2628718"/>
            <a:ext cx="2107229" cy="46026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3F1377C-509D-D134-FB09-8A9DEEC36F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940" y="2126086"/>
            <a:ext cx="2099415" cy="477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B89A47E-9A58-6E34-6A07-2E1C5EBF5905}"/>
                  </a:ext>
                </a:extLst>
              </p:cNvPr>
              <p:cNvSpPr txBox="1"/>
              <p:nvPr/>
            </p:nvSpPr>
            <p:spPr>
              <a:xfrm>
                <a:off x="4828954" y="3432672"/>
                <a:ext cx="261782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l-GR" sz="32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B89A47E-9A58-6E34-6A07-2E1C5EBF5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954" y="3432672"/>
                <a:ext cx="2617822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Arrow: Right 55">
            <a:extLst>
              <a:ext uri="{FF2B5EF4-FFF2-40B4-BE49-F238E27FC236}">
                <a16:creationId xmlns:a16="http://schemas.microsoft.com/office/drawing/2014/main" id="{484113F6-7077-DCE1-B83F-818C80A6F0FF}"/>
              </a:ext>
            </a:extLst>
          </p:cNvPr>
          <p:cNvSpPr/>
          <p:nvPr/>
        </p:nvSpPr>
        <p:spPr>
          <a:xfrm>
            <a:off x="5315727" y="2741454"/>
            <a:ext cx="1630686" cy="615337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F07D16-CD57-5F5D-B59E-0B5EA3D0B8FB}"/>
              </a:ext>
            </a:extLst>
          </p:cNvPr>
          <p:cNvSpPr txBox="1"/>
          <p:nvPr/>
        </p:nvSpPr>
        <p:spPr>
          <a:xfrm>
            <a:off x="2144865" y="1649853"/>
            <a:ext cx="201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Physical Domain</a:t>
            </a:r>
            <a:r>
              <a:rPr lang="en-US" dirty="0"/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3CAC7B-628D-DF4E-C7FE-438700181489}"/>
              </a:ext>
            </a:extLst>
          </p:cNvPr>
          <p:cNvSpPr txBox="1"/>
          <p:nvPr/>
        </p:nvSpPr>
        <p:spPr>
          <a:xfrm>
            <a:off x="8326764" y="1255036"/>
            <a:ext cx="201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Modal Domain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351EC8-29C7-9F35-A397-EE3160336709}"/>
              </a:ext>
            </a:extLst>
          </p:cNvPr>
          <p:cNvSpPr txBox="1"/>
          <p:nvPr/>
        </p:nvSpPr>
        <p:spPr>
          <a:xfrm>
            <a:off x="1921192" y="2158177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111516-4FDC-3344-0054-EDAF84577DAE}"/>
              </a:ext>
            </a:extLst>
          </p:cNvPr>
          <p:cNvSpPr txBox="1"/>
          <p:nvPr/>
        </p:nvSpPr>
        <p:spPr>
          <a:xfrm>
            <a:off x="1943450" y="2616444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70E1C5-0EEA-CBAA-7656-9A1119DEC277}"/>
              </a:ext>
            </a:extLst>
          </p:cNvPr>
          <p:cNvSpPr txBox="1"/>
          <p:nvPr/>
        </p:nvSpPr>
        <p:spPr>
          <a:xfrm>
            <a:off x="1939887" y="3121748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1B6BD4-78F6-2B01-27E5-E09C4DDEA66B}"/>
              </a:ext>
            </a:extLst>
          </p:cNvPr>
          <p:cNvSpPr txBox="1"/>
          <p:nvPr/>
        </p:nvSpPr>
        <p:spPr>
          <a:xfrm>
            <a:off x="1929860" y="3609007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104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ADF92944-8503-3535-1959-7555E0246D4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82714" y="3127036"/>
            <a:ext cx="2123651" cy="446137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5D7F653-5053-4935-F63B-E4B63D853E1C}"/>
              </a:ext>
            </a:extLst>
          </p:cNvPr>
          <p:cNvSpPr txBox="1"/>
          <p:nvPr/>
        </p:nvSpPr>
        <p:spPr>
          <a:xfrm>
            <a:off x="4095202" y="2154421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CD32A9-4269-9142-96EC-A764B2663E4E}"/>
              </a:ext>
            </a:extLst>
          </p:cNvPr>
          <p:cNvSpPr txBox="1"/>
          <p:nvPr/>
        </p:nvSpPr>
        <p:spPr>
          <a:xfrm>
            <a:off x="4117460" y="2613933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F4984E-7995-6775-7D8F-42E2A840457F}"/>
              </a:ext>
            </a:extLst>
          </p:cNvPr>
          <p:cNvSpPr txBox="1"/>
          <p:nvPr/>
        </p:nvSpPr>
        <p:spPr>
          <a:xfrm>
            <a:off x="4113897" y="3123369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E4C45F-FE35-BC16-D81F-E784EB887664}"/>
              </a:ext>
            </a:extLst>
          </p:cNvPr>
          <p:cNvSpPr txBox="1"/>
          <p:nvPr/>
        </p:nvSpPr>
        <p:spPr>
          <a:xfrm>
            <a:off x="4103870" y="3606014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7BB9149-F478-0CB0-6903-2310DCCD41BD}"/>
              </a:ext>
            </a:extLst>
          </p:cNvPr>
          <p:cNvSpPr txBox="1"/>
          <p:nvPr/>
        </p:nvSpPr>
        <p:spPr>
          <a:xfrm>
            <a:off x="9636058" y="2283260"/>
            <a:ext cx="986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q1 Response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098D54-AFD4-55B8-F749-A25C246014AE}"/>
              </a:ext>
            </a:extLst>
          </p:cNvPr>
          <p:cNvSpPr txBox="1"/>
          <p:nvPr/>
        </p:nvSpPr>
        <p:spPr>
          <a:xfrm>
            <a:off x="9636058" y="3178044"/>
            <a:ext cx="986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q2 Response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A6812D-415E-D376-366F-2CDE033E8B6C}"/>
              </a:ext>
            </a:extLst>
          </p:cNvPr>
          <p:cNvSpPr txBox="1"/>
          <p:nvPr/>
        </p:nvSpPr>
        <p:spPr>
          <a:xfrm>
            <a:off x="9636057" y="4074794"/>
            <a:ext cx="986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q3 Response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3F39BB-592A-5E67-82AA-4A85D1565EDA}"/>
              </a:ext>
            </a:extLst>
          </p:cNvPr>
          <p:cNvSpPr txBox="1"/>
          <p:nvPr/>
        </p:nvSpPr>
        <p:spPr>
          <a:xfrm>
            <a:off x="8483071" y="4301986"/>
            <a:ext cx="986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Time [s]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72C2A5-03EC-F311-6C62-0ED0D940BF95}"/>
              </a:ext>
            </a:extLst>
          </p:cNvPr>
          <p:cNvSpPr txBox="1"/>
          <p:nvPr/>
        </p:nvSpPr>
        <p:spPr>
          <a:xfrm>
            <a:off x="289134" y="1047212"/>
            <a:ext cx="8911465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chemeClr val="accent1"/>
                </a:solidFill>
                <a:latin typeface="+mj-lt"/>
              </a:rPr>
              <a:t>We take many responses in the physical domain…</a:t>
            </a:r>
            <a:endParaRPr 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4803872-2C32-F157-CC17-1CDB3431A8D6}"/>
              </a:ext>
            </a:extLst>
          </p:cNvPr>
          <p:cNvSpPr txBox="1"/>
          <p:nvPr/>
        </p:nvSpPr>
        <p:spPr>
          <a:xfrm>
            <a:off x="1312969" y="4509461"/>
            <a:ext cx="9649792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chemeClr val="accent1"/>
                </a:solidFill>
                <a:latin typeface="+mj-lt"/>
              </a:rPr>
              <a:t>and apply a modal transformation to convert to the modal domain.</a:t>
            </a:r>
            <a:endParaRPr 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DC473BB8-C021-211B-350C-6EF4EC138376}"/>
              </a:ext>
            </a:extLst>
          </p:cNvPr>
          <p:cNvSpPr/>
          <p:nvPr/>
        </p:nvSpPr>
        <p:spPr>
          <a:xfrm>
            <a:off x="1704628" y="5149043"/>
            <a:ext cx="8782743" cy="1162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If we retain all of the modes this is exact – this is where we use engineering judgement to select the right modes to reduce the model size while retaining prediction accuracy</a:t>
            </a:r>
          </a:p>
        </p:txBody>
      </p:sp>
    </p:spTree>
    <p:extLst>
      <p:ext uri="{BB962C8B-B14F-4D97-AF65-F5344CB8AC3E}">
        <p14:creationId xmlns:p14="http://schemas.microsoft.com/office/powerpoint/2010/main" val="3043092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224734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Informal Formal Discussion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C25BEE-E4CF-4E50-86C8-111949C2FD55}"/>
              </a:ext>
            </a:extLst>
          </p:cNvPr>
          <p:cNvSpPr>
            <a:spLocks noGrp="1"/>
          </p:cNvSpPr>
          <p:nvPr/>
        </p:nvSpPr>
        <p:spPr>
          <a:xfrm>
            <a:off x="310540" y="1173404"/>
            <a:ext cx="11570920" cy="5246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What size finite element models do your normally see in your field of work?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How many modes of interest are there?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Are modes typically measured to update/validate your finite element models?</a:t>
            </a:r>
          </a:p>
        </p:txBody>
      </p:sp>
    </p:spTree>
    <p:extLst>
      <p:ext uri="{BB962C8B-B14F-4D97-AF65-F5344CB8AC3E}">
        <p14:creationId xmlns:p14="http://schemas.microsoft.com/office/powerpoint/2010/main" val="1369988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9835-F37B-5854-84DA-3D4E381D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Theory and Examples with CMS</a:t>
            </a:r>
          </a:p>
        </p:txBody>
      </p:sp>
    </p:spTree>
    <p:extLst>
      <p:ext uri="{BB962C8B-B14F-4D97-AF65-F5344CB8AC3E}">
        <p14:creationId xmlns:p14="http://schemas.microsoft.com/office/powerpoint/2010/main" val="2038826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System for CMS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7A4D3-68D4-97ED-7D96-57BE0B104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39838"/>
            <a:ext cx="7772400" cy="36148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575202-9041-D4F2-9271-25FBC31737C0}"/>
              </a:ext>
            </a:extLst>
          </p:cNvPr>
          <p:cNvSpPr txBox="1"/>
          <p:nvPr/>
        </p:nvSpPr>
        <p:spPr>
          <a:xfrm>
            <a:off x="289134" y="1047212"/>
            <a:ext cx="8911465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chemeClr val="accent1"/>
                </a:solidFill>
                <a:latin typeface="+mj-lt"/>
              </a:rPr>
              <a:t>Let’s look at the same example</a:t>
            </a:r>
            <a:endParaRPr lang="en-US" sz="28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16801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Steps to </a:t>
            </a:r>
            <a:r>
              <a:rPr lang="en-US" dirty="0" err="1"/>
              <a:t>Substructuring</a:t>
            </a:r>
            <a:r>
              <a:rPr lang="en-US" dirty="0"/>
              <a:t> with CMS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7A4D3-68D4-97ED-7D96-57BE0B1049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815"/>
          <a:stretch/>
        </p:blipFill>
        <p:spPr>
          <a:xfrm>
            <a:off x="1860666" y="891940"/>
            <a:ext cx="7772400" cy="13441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4B27E1-0F26-2F35-1AD1-F82B4A32B9F3}"/>
              </a:ext>
            </a:extLst>
          </p:cNvPr>
          <p:cNvSpPr txBox="1"/>
          <p:nvPr/>
        </p:nvSpPr>
        <p:spPr>
          <a:xfrm>
            <a:off x="189382" y="2328758"/>
            <a:ext cx="10885018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chemeClr val="accent1"/>
                </a:solidFill>
                <a:latin typeface="+mj-lt"/>
              </a:rPr>
              <a:t>Step 1) Define Uncoupled Equations of Motion (but in the modal domain)</a:t>
            </a:r>
            <a:endParaRPr lang="en-US" sz="2800" b="1" dirty="0">
              <a:solidFill>
                <a:schemeClr val="accent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4F9BF7-1AD1-4364-E718-49F8B84DC160}"/>
                  </a:ext>
                </a:extLst>
              </p:cNvPr>
              <p:cNvSpPr txBox="1"/>
              <p:nvPr/>
            </p:nvSpPr>
            <p:spPr>
              <a:xfrm>
                <a:off x="1860666" y="3019791"/>
                <a:ext cx="7610302" cy="6437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en-US" dirty="0">
                                        <a:latin typeface="Arial" panose="020B0604020202020204" pitchFamily="34" charset="0"/>
                                      </a:rPr>
                                      <m:t>𝜁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en-US" dirty="0">
                                        <a:latin typeface="Arial" panose="020B0604020202020204" pitchFamily="34" charset="0"/>
                                      </a:rPr>
                                      <m:t>𝜁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4F9BF7-1AD1-4364-E718-49F8B84DC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666" y="3019791"/>
                <a:ext cx="7610302" cy="6437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9" name="Picture 5">
            <a:extLst>
              <a:ext uri="{FF2B5EF4-FFF2-40B4-BE49-F238E27FC236}">
                <a16:creationId xmlns:a16="http://schemas.microsoft.com/office/drawing/2014/main" id="{67214D0E-06CD-733D-E38F-B617117F1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BA8EB0-BFE7-1CA5-C569-3DE562E8EC8D}"/>
              </a:ext>
            </a:extLst>
          </p:cNvPr>
          <p:cNvSpPr txBox="1"/>
          <p:nvPr/>
        </p:nvSpPr>
        <p:spPr>
          <a:xfrm>
            <a:off x="4643737" y="4526725"/>
            <a:ext cx="17352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1200" i="1" dirty="0">
                <a:solidFill>
                  <a:srgbClr val="00B050"/>
                </a:solidFill>
                <a:latin typeface="Trebuchet MS" panose="020B0603020202020204"/>
              </a:rPr>
              <a:t>Modal damping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7F6AEE-36E0-A151-BC56-F3881E38A659}"/>
              </a:ext>
            </a:extLst>
          </p:cNvPr>
          <p:cNvCxnSpPr>
            <a:cxnSpLocks/>
          </p:cNvCxnSpPr>
          <p:nvPr/>
        </p:nvCxnSpPr>
        <p:spPr>
          <a:xfrm flipV="1">
            <a:off x="2053244" y="3663493"/>
            <a:ext cx="482240" cy="700920"/>
          </a:xfrm>
          <a:prstGeom prst="straightConnector1">
            <a:avLst/>
          </a:prstGeom>
          <a:ln>
            <a:solidFill>
              <a:srgbClr val="0CB4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565DA1-03C8-AE82-8D29-55FAA07F63B0}"/>
              </a:ext>
            </a:extLst>
          </p:cNvPr>
          <p:cNvCxnSpPr>
            <a:cxnSpLocks/>
          </p:cNvCxnSpPr>
          <p:nvPr/>
        </p:nvCxnSpPr>
        <p:spPr>
          <a:xfrm flipH="1" flipV="1">
            <a:off x="4998823" y="3663493"/>
            <a:ext cx="237290" cy="817067"/>
          </a:xfrm>
          <a:prstGeom prst="straightConnector1">
            <a:avLst/>
          </a:prstGeom>
          <a:ln>
            <a:solidFill>
              <a:srgbClr val="0CB4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0A48D77-21B8-FB8E-9E2D-48FBA275088D}"/>
              </a:ext>
            </a:extLst>
          </p:cNvPr>
          <p:cNvCxnSpPr>
            <a:cxnSpLocks/>
          </p:cNvCxnSpPr>
          <p:nvPr/>
        </p:nvCxnSpPr>
        <p:spPr>
          <a:xfrm flipV="1">
            <a:off x="6710939" y="3663493"/>
            <a:ext cx="482240" cy="700920"/>
          </a:xfrm>
          <a:prstGeom prst="straightConnector1">
            <a:avLst/>
          </a:prstGeom>
          <a:ln>
            <a:solidFill>
              <a:srgbClr val="0CB4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0EB9383-CAC4-88EC-6803-CAE61AFCDCA9}"/>
              </a:ext>
            </a:extLst>
          </p:cNvPr>
          <p:cNvSpPr txBox="1"/>
          <p:nvPr/>
        </p:nvSpPr>
        <p:spPr>
          <a:xfrm>
            <a:off x="1645613" y="4485161"/>
            <a:ext cx="173520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1200" i="1" dirty="0">
                <a:solidFill>
                  <a:srgbClr val="00B050"/>
                </a:solidFill>
                <a:latin typeface="Trebuchet MS" panose="020B0603020202020204"/>
              </a:rPr>
              <a:t>Block diagonal identity matrix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1CE0F5-DA0C-DA59-C86A-4B01E7D75C49}"/>
              </a:ext>
            </a:extLst>
          </p:cNvPr>
          <p:cNvSpPr txBox="1"/>
          <p:nvPr/>
        </p:nvSpPr>
        <p:spPr>
          <a:xfrm>
            <a:off x="6378941" y="4410578"/>
            <a:ext cx="17352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1200" i="1" dirty="0">
                <a:solidFill>
                  <a:srgbClr val="00B050"/>
                </a:solidFill>
                <a:latin typeface="Trebuchet MS" panose="020B0603020202020204"/>
              </a:rPr>
              <a:t>Natural Frequency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4C255A3-FA7D-11AF-E037-8FA3A0D5858D}"/>
              </a:ext>
            </a:extLst>
          </p:cNvPr>
          <p:cNvCxnSpPr>
            <a:cxnSpLocks/>
          </p:cNvCxnSpPr>
          <p:nvPr/>
        </p:nvCxnSpPr>
        <p:spPr>
          <a:xfrm flipH="1" flipV="1">
            <a:off x="8811185" y="3765576"/>
            <a:ext cx="193214" cy="778819"/>
          </a:xfrm>
          <a:prstGeom prst="straightConnector1">
            <a:avLst/>
          </a:prstGeom>
          <a:ln>
            <a:solidFill>
              <a:srgbClr val="0CB4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A5E0937-0010-29E8-2638-A2503994416C}"/>
              </a:ext>
            </a:extLst>
          </p:cNvPr>
          <p:cNvSpPr txBox="1"/>
          <p:nvPr/>
        </p:nvSpPr>
        <p:spPr>
          <a:xfrm>
            <a:off x="8672401" y="4590560"/>
            <a:ext cx="17352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1200" i="1" dirty="0">
                <a:solidFill>
                  <a:srgbClr val="00B050"/>
                </a:solidFill>
                <a:latin typeface="Trebuchet MS" panose="020B0603020202020204"/>
              </a:rPr>
              <a:t>Applied modal forces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0C7DCE2-E1ED-CCCA-60BB-FDDAB6D7063C}"/>
              </a:ext>
            </a:extLst>
          </p:cNvPr>
          <p:cNvSpPr/>
          <p:nvPr/>
        </p:nvSpPr>
        <p:spPr>
          <a:xfrm>
            <a:off x="485948" y="5149043"/>
            <a:ext cx="11087100" cy="609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Whoa, whoa, whoa… where did this equation come from?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4DC15600-77B2-593E-3A80-F550AE33C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53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0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Steps to </a:t>
            </a:r>
            <a:r>
              <a:rPr lang="en-US" dirty="0" err="1"/>
              <a:t>Substructuring</a:t>
            </a:r>
            <a:r>
              <a:rPr lang="en-US" dirty="0"/>
              <a:t> with CMS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7A4D3-68D4-97ED-7D96-57BE0B1049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662" b="62815"/>
          <a:stretch/>
        </p:blipFill>
        <p:spPr>
          <a:xfrm>
            <a:off x="4290753" y="804242"/>
            <a:ext cx="3135283" cy="1344184"/>
          </a:xfrm>
          <a:prstGeom prst="rect">
            <a:avLst/>
          </a:prstGeom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67214D0E-06CD-733D-E38F-B617117F1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F10C0A-9F39-4F29-5061-16BCE66175F5}"/>
                  </a:ext>
                </a:extLst>
              </p:cNvPr>
              <p:cNvSpPr txBox="1"/>
              <p:nvPr/>
            </p:nvSpPr>
            <p:spPr>
              <a:xfrm>
                <a:off x="3035367" y="2218442"/>
                <a:ext cx="7610302" cy="5152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F10C0A-9F39-4F29-5061-16BCE6617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367" y="2218442"/>
                <a:ext cx="7610302" cy="5152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34A1101-F9C5-6DC8-770E-E4A5573C3893}"/>
              </a:ext>
            </a:extLst>
          </p:cNvPr>
          <p:cNvSpPr txBox="1"/>
          <p:nvPr/>
        </p:nvSpPr>
        <p:spPr>
          <a:xfrm>
            <a:off x="222732" y="2218442"/>
            <a:ext cx="3035956" cy="64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Physical Domain Description of System a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91E67-A82B-1BA7-5D3E-A7814E547FB2}"/>
              </a:ext>
            </a:extLst>
          </p:cNvPr>
          <p:cNvSpPr txBox="1"/>
          <p:nvPr/>
        </p:nvSpPr>
        <p:spPr>
          <a:xfrm>
            <a:off x="105032" y="3829038"/>
            <a:ext cx="3035956" cy="64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Pre-multiply by Phi-transpose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A516E9-99B2-92FA-DB7C-37FC65BCE7F2}"/>
                  </a:ext>
                </a:extLst>
              </p:cNvPr>
              <p:cNvSpPr txBox="1"/>
              <p:nvPr/>
            </p:nvSpPr>
            <p:spPr>
              <a:xfrm>
                <a:off x="243629" y="3307623"/>
                <a:ext cx="26178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l-GR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A516E9-99B2-92FA-DB7C-37FC65BCE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29" y="3307623"/>
                <a:ext cx="2617822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6494B4-44BE-2274-D282-A8DBE6E939CF}"/>
                  </a:ext>
                </a:extLst>
              </p:cNvPr>
              <p:cNvSpPr txBox="1"/>
              <p:nvPr/>
            </p:nvSpPr>
            <p:spPr>
              <a:xfrm>
                <a:off x="3420524" y="3047726"/>
                <a:ext cx="7610302" cy="5178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6494B4-44BE-2274-D282-A8DBE6E93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524" y="3047726"/>
                <a:ext cx="7610302" cy="5178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D987C4F-03E9-DD58-E862-BF4318047382}"/>
              </a:ext>
            </a:extLst>
          </p:cNvPr>
          <p:cNvSpPr txBox="1"/>
          <p:nvPr/>
        </p:nvSpPr>
        <p:spPr>
          <a:xfrm>
            <a:off x="105032" y="3042879"/>
            <a:ext cx="3035956" cy="371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Apply modal transform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093D91-DEA0-53E5-0D08-BB5410BEF9F7}"/>
                  </a:ext>
                </a:extLst>
              </p:cNvPr>
              <p:cNvSpPr txBox="1"/>
              <p:nvPr/>
            </p:nvSpPr>
            <p:spPr>
              <a:xfrm>
                <a:off x="2861451" y="3829038"/>
                <a:ext cx="9356598" cy="5178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093D91-DEA0-53E5-0D08-BB5410BEF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451" y="3829038"/>
                <a:ext cx="9356598" cy="517899"/>
              </a:xfrm>
              <a:prstGeom prst="rect">
                <a:avLst/>
              </a:prstGeom>
              <a:blipFill>
                <a:blip r:embed="rId7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1C91D3-0EA7-5AB6-6A83-BE25107EC620}"/>
                  </a:ext>
                </a:extLst>
              </p:cNvPr>
              <p:cNvSpPr txBox="1"/>
              <p:nvPr/>
            </p:nvSpPr>
            <p:spPr>
              <a:xfrm>
                <a:off x="2315886" y="4691655"/>
                <a:ext cx="7610302" cy="6437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en-US" dirty="0">
                                        <a:latin typeface="Arial" panose="020B0604020202020204" pitchFamily="34" charset="0"/>
                                      </a:rPr>
                                      <m:t>𝜁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en-US" dirty="0">
                                        <a:latin typeface="Arial" panose="020B0604020202020204" pitchFamily="34" charset="0"/>
                                      </a:rPr>
                                      <m:t>𝜁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1C91D3-0EA7-5AB6-6A83-BE25107EC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886" y="4691655"/>
                <a:ext cx="7610302" cy="6437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5C7973F2-812B-0397-EAB4-520774E77C72}"/>
              </a:ext>
            </a:extLst>
          </p:cNvPr>
          <p:cNvSpPr/>
          <p:nvPr/>
        </p:nvSpPr>
        <p:spPr>
          <a:xfrm>
            <a:off x="2668484" y="4740577"/>
            <a:ext cx="6891251" cy="275745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F80F734-A557-5FB9-A5D0-D28B3C379500}"/>
              </a:ext>
            </a:extLst>
          </p:cNvPr>
          <p:cNvSpPr/>
          <p:nvPr/>
        </p:nvSpPr>
        <p:spPr>
          <a:xfrm>
            <a:off x="1381760" y="5549848"/>
            <a:ext cx="9938989" cy="609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Repeat for each subsystem and stack matrices in block diagonal form</a:t>
            </a:r>
          </a:p>
        </p:txBody>
      </p:sp>
    </p:spTree>
    <p:extLst>
      <p:ext uri="{BB962C8B-B14F-4D97-AF65-F5344CB8AC3E}">
        <p14:creationId xmlns:p14="http://schemas.microsoft.com/office/powerpoint/2010/main" val="1480056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rrow: Right 9">
            <a:extLst>
              <a:ext uri="{FF2B5EF4-FFF2-40B4-BE49-F238E27FC236}">
                <a16:creationId xmlns:a16="http://schemas.microsoft.com/office/drawing/2014/main" id="{10707500-0FC5-EED7-3AF8-63613FE6222D}"/>
              </a:ext>
            </a:extLst>
          </p:cNvPr>
          <p:cNvSpPr/>
          <p:nvPr/>
        </p:nvSpPr>
        <p:spPr>
          <a:xfrm>
            <a:off x="5118100" y="3590734"/>
            <a:ext cx="1289050" cy="809816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Steps to </a:t>
            </a:r>
            <a:r>
              <a:rPr lang="en-US" dirty="0" err="1"/>
              <a:t>Substructuring</a:t>
            </a:r>
            <a:r>
              <a:rPr lang="en-US" dirty="0"/>
              <a:t> with CMS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7A4D3-68D4-97ED-7D96-57BE0B1049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815"/>
          <a:stretch/>
        </p:blipFill>
        <p:spPr>
          <a:xfrm>
            <a:off x="1879716" y="891940"/>
            <a:ext cx="7772400" cy="13441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4B27E1-0F26-2F35-1AD1-F82B4A32B9F3}"/>
              </a:ext>
            </a:extLst>
          </p:cNvPr>
          <p:cNvSpPr txBox="1"/>
          <p:nvPr/>
        </p:nvSpPr>
        <p:spPr>
          <a:xfrm>
            <a:off x="189382" y="2328758"/>
            <a:ext cx="12002618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chemeClr val="accent1"/>
                </a:solidFill>
                <a:latin typeface="+mj-lt"/>
              </a:rPr>
              <a:t>Step 2) Define constraints in physical domain then cast to ROM coordinates</a:t>
            </a:r>
            <a:endParaRPr lang="en-US" sz="28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67214D0E-06CD-733D-E38F-B617117F1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0C7DCE2-E1ED-CCCA-60BB-FDDAB6D7063C}"/>
              </a:ext>
            </a:extLst>
          </p:cNvPr>
          <p:cNvSpPr/>
          <p:nvPr/>
        </p:nvSpPr>
        <p:spPr>
          <a:xfrm>
            <a:off x="292908" y="5149041"/>
            <a:ext cx="11330132" cy="609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Again we’ll use the modal transform to cast our coordinates into the ROM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C6CB55-B38B-2F85-3CBB-F94B8C3A27C2}"/>
                  </a:ext>
                </a:extLst>
              </p:cNvPr>
              <p:cNvSpPr txBox="1"/>
              <p:nvPr/>
            </p:nvSpPr>
            <p:spPr>
              <a:xfrm>
                <a:off x="971539" y="3590734"/>
                <a:ext cx="3491597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−1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0]</m:t>
                            </m:r>
                          </m:e>
                        </m:mr>
                      </m:m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C6CB55-B38B-2F85-3CBB-F94B8C3A2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39" y="3590734"/>
                <a:ext cx="3491597" cy="10204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5BC5B2-0120-8734-F4FA-34E2A8092C58}"/>
                  </a:ext>
                </a:extLst>
              </p:cNvPr>
              <p:cNvSpPr txBox="1"/>
              <p:nvPr/>
            </p:nvSpPr>
            <p:spPr>
              <a:xfrm>
                <a:off x="2381390" y="3175863"/>
                <a:ext cx="8048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5BC5B2-0120-8734-F4FA-34E2A8092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390" y="3175863"/>
                <a:ext cx="804899" cy="276999"/>
              </a:xfrm>
              <a:prstGeom prst="rect">
                <a:avLst/>
              </a:prstGeom>
              <a:blipFill>
                <a:blip r:embed="rId5"/>
                <a:stretch>
                  <a:fillRect l="-4545" r="-2273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D0EF7C-07F2-6A2A-8218-922A4913BD29}"/>
                  </a:ext>
                </a:extLst>
              </p:cNvPr>
              <p:cNvSpPr txBox="1"/>
              <p:nvPr/>
            </p:nvSpPr>
            <p:spPr>
              <a:xfrm>
                <a:off x="4437956" y="3795550"/>
                <a:ext cx="26178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l-GR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D0EF7C-07F2-6A2A-8218-922A4913B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956" y="3795550"/>
                <a:ext cx="2617822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5624A6-8182-AF6A-FDE3-CA22254EF111}"/>
                  </a:ext>
                </a:extLst>
              </p:cNvPr>
              <p:cNvSpPr txBox="1"/>
              <p:nvPr/>
            </p:nvSpPr>
            <p:spPr>
              <a:xfrm>
                <a:off x="6878198" y="3765576"/>
                <a:ext cx="4550605" cy="5205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−1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0]</m:t>
                            </m:r>
                          </m:e>
                        </m:mr>
                      </m:m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=0→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5624A6-8182-AF6A-FDE3-CA22254EF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198" y="3765576"/>
                <a:ext cx="4550605" cy="5205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414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Steps to </a:t>
            </a:r>
            <a:r>
              <a:rPr lang="en-US" dirty="0" err="1"/>
              <a:t>Substructuring</a:t>
            </a:r>
            <a:r>
              <a:rPr lang="en-US" dirty="0"/>
              <a:t> with CMS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7A4D3-68D4-97ED-7D96-57BE0B1049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815"/>
          <a:stretch/>
        </p:blipFill>
        <p:spPr>
          <a:xfrm>
            <a:off x="1860666" y="891940"/>
            <a:ext cx="7772400" cy="13441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4B27E1-0F26-2F35-1AD1-F82B4A32B9F3}"/>
              </a:ext>
            </a:extLst>
          </p:cNvPr>
          <p:cNvSpPr txBox="1"/>
          <p:nvPr/>
        </p:nvSpPr>
        <p:spPr>
          <a:xfrm>
            <a:off x="189382" y="2328758"/>
            <a:ext cx="12002618" cy="870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chemeClr val="accent1"/>
                </a:solidFill>
                <a:latin typeface="+mj-lt"/>
              </a:rPr>
              <a:t>Step 3) Enforce constraints to convert our uncoupled equations into a synthesized form</a:t>
            </a:r>
            <a:endParaRPr lang="en-US" sz="28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67214D0E-06CD-733D-E38F-B617117F1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5BC5B2-0120-8734-F4FA-34E2A8092C58}"/>
                  </a:ext>
                </a:extLst>
              </p:cNvPr>
              <p:cNvSpPr txBox="1"/>
              <p:nvPr/>
            </p:nvSpPr>
            <p:spPr>
              <a:xfrm>
                <a:off x="2372478" y="2851404"/>
                <a:ext cx="9715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5BC5B2-0120-8734-F4FA-34E2A8092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478" y="2851404"/>
                <a:ext cx="971548" cy="369332"/>
              </a:xfrm>
              <a:prstGeom prst="rect">
                <a:avLst/>
              </a:prstGeom>
              <a:blipFill>
                <a:blip r:embed="rId4"/>
                <a:stretch>
                  <a:fillRect l="-7500" r="-937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DA935AD-03FE-A06B-10A4-91B997F053C5}"/>
              </a:ext>
            </a:extLst>
          </p:cNvPr>
          <p:cNvSpPr txBox="1"/>
          <p:nvPr/>
        </p:nvSpPr>
        <p:spPr>
          <a:xfrm>
            <a:off x="3035642" y="4168478"/>
            <a:ext cx="173520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1200" i="1" dirty="0">
                <a:solidFill>
                  <a:srgbClr val="00B050"/>
                </a:solidFill>
                <a:latin typeface="Trebuchet MS" panose="020B0603020202020204"/>
              </a:rPr>
              <a:t>New coupled coordinates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111085-FF2A-A368-2C38-CEAA088E554E}"/>
              </a:ext>
            </a:extLst>
          </p:cNvPr>
          <p:cNvCxnSpPr>
            <a:cxnSpLocks/>
          </p:cNvCxnSpPr>
          <p:nvPr/>
        </p:nvCxnSpPr>
        <p:spPr>
          <a:xfrm flipV="1">
            <a:off x="1996023" y="3269450"/>
            <a:ext cx="482240" cy="700920"/>
          </a:xfrm>
          <a:prstGeom prst="straightConnector1">
            <a:avLst/>
          </a:prstGeom>
          <a:ln>
            <a:solidFill>
              <a:srgbClr val="0CB4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D2ECF3-08D6-16C3-3963-57FE85B953B7}"/>
              </a:ext>
            </a:extLst>
          </p:cNvPr>
          <p:cNvCxnSpPr>
            <a:cxnSpLocks/>
          </p:cNvCxnSpPr>
          <p:nvPr/>
        </p:nvCxnSpPr>
        <p:spPr>
          <a:xfrm flipH="1" flipV="1">
            <a:off x="3323596" y="3259127"/>
            <a:ext cx="237290" cy="817067"/>
          </a:xfrm>
          <a:prstGeom prst="straightConnector1">
            <a:avLst/>
          </a:prstGeom>
          <a:ln>
            <a:solidFill>
              <a:srgbClr val="0CB4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75A8F7B-C0AD-A292-30CB-42DA4CA0E264}"/>
              </a:ext>
            </a:extLst>
          </p:cNvPr>
          <p:cNvSpPr txBox="1"/>
          <p:nvPr/>
        </p:nvSpPr>
        <p:spPr>
          <a:xfrm>
            <a:off x="1588392" y="4091118"/>
            <a:ext cx="173520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1200" i="1" dirty="0">
                <a:solidFill>
                  <a:srgbClr val="00B050"/>
                </a:solidFill>
                <a:latin typeface="Trebuchet MS" panose="020B0603020202020204"/>
              </a:rPr>
              <a:t>Uncoupled ROM 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FB8734-AFD3-0785-9ECB-6D715D5488F9}"/>
                  </a:ext>
                </a:extLst>
              </p:cNvPr>
              <p:cNvSpPr txBox="1"/>
              <p:nvPr/>
            </p:nvSpPr>
            <p:spPr>
              <a:xfrm>
                <a:off x="4526899" y="3291823"/>
                <a:ext cx="3076998" cy="468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=0→ </m:t>
                      </m:r>
                      <m:acc>
                        <m:accPr>
                          <m:chr m:val="̃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FB8734-AFD3-0785-9ECB-6D715D548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899" y="3291823"/>
                <a:ext cx="3076998" cy="468270"/>
              </a:xfrm>
              <a:prstGeom prst="rect">
                <a:avLst/>
              </a:prstGeom>
              <a:blipFill>
                <a:blip r:embed="rId5"/>
                <a:stretch>
                  <a:fillRect t="-9091"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058DB9-263A-2FA4-5934-1488AAA96D18}"/>
                  </a:ext>
                </a:extLst>
              </p:cNvPr>
              <p:cNvSpPr txBox="1"/>
              <p:nvPr/>
            </p:nvSpPr>
            <p:spPr>
              <a:xfrm>
                <a:off x="7910179" y="3291823"/>
                <a:ext cx="3076998" cy="468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𝑛𝑢𝑙𝑙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̃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058DB9-263A-2FA4-5934-1488AAA96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179" y="3291823"/>
                <a:ext cx="3076998" cy="468270"/>
              </a:xfrm>
              <a:prstGeom prst="rect">
                <a:avLst/>
              </a:prstGeom>
              <a:blipFill>
                <a:blip r:embed="rId6"/>
                <a:stretch>
                  <a:fillRect t="-9091" b="-16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CCA640-3EEC-1CE9-FC69-1F7EEAADC46E}"/>
                  </a:ext>
                </a:extLst>
              </p:cNvPr>
              <p:cNvSpPr txBox="1"/>
              <p:nvPr/>
            </p:nvSpPr>
            <p:spPr>
              <a:xfrm>
                <a:off x="189382" y="4820315"/>
                <a:ext cx="11904088" cy="8582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en-US" sz="2400" dirty="0">
                                        <a:latin typeface="Arial" panose="020B0604020202020204" pitchFamily="34" charset="0"/>
                                      </a:rPr>
                                      <m:t>𝜁</m:t>
                                    </m:r>
                                  </m:e>
                                  <m:sub>
                                    <m: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en-US" sz="2400" dirty="0">
                                        <a:latin typeface="Arial" panose="020B0604020202020204" pitchFamily="34" charset="0"/>
                                      </a:rPr>
                                      <m:t>𝜁</m:t>
                                    </m:r>
                                  </m:e>
                                  <m:sub>
                                    <m: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sz="24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alt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alt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CCA640-3EEC-1CE9-FC69-1F7EEAADC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82" y="4820315"/>
                <a:ext cx="11904088" cy="8582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19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 DOF Example in MATLAB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883881-872F-AE17-7B63-30A5458BB1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7" r="1883"/>
          <a:stretch/>
        </p:blipFill>
        <p:spPr>
          <a:xfrm>
            <a:off x="2124075" y="2859987"/>
            <a:ext cx="2882900" cy="27896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76ACF7-8CAE-E721-083D-B961D1167F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815"/>
          <a:stretch/>
        </p:blipFill>
        <p:spPr>
          <a:xfrm>
            <a:off x="2013066" y="1208358"/>
            <a:ext cx="7772400" cy="13441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6091AA-0883-9A29-2F1A-AE62485478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04" r="8339"/>
          <a:stretch/>
        </p:blipFill>
        <p:spPr>
          <a:xfrm>
            <a:off x="6902566" y="2851142"/>
            <a:ext cx="2882900" cy="27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460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47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Truth Assembly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8E106B-A810-19DE-37AB-24E03115A5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41"/>
          <a:stretch/>
        </p:blipFill>
        <p:spPr>
          <a:xfrm>
            <a:off x="438150" y="1229451"/>
            <a:ext cx="6629400" cy="31400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275445-2F24-666E-31BC-2D5948F7C2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66"/>
          <a:stretch/>
        </p:blipFill>
        <p:spPr>
          <a:xfrm>
            <a:off x="7213600" y="1334100"/>
            <a:ext cx="4248150" cy="293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77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47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Physical </a:t>
            </a:r>
            <a:r>
              <a:rPr lang="en-US" dirty="0" err="1"/>
              <a:t>Substructuring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CCE7E-B4E4-C728-0139-A4498238EE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0"/>
          <a:stretch/>
        </p:blipFill>
        <p:spPr>
          <a:xfrm>
            <a:off x="6721306" y="1191160"/>
            <a:ext cx="4118144" cy="46383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50BEB4-8C5B-81B8-E98C-9B5F9E276673}"/>
              </a:ext>
            </a:extLst>
          </p:cNvPr>
          <p:cNvSpPr txBox="1"/>
          <p:nvPr/>
        </p:nvSpPr>
        <p:spPr>
          <a:xfrm>
            <a:off x="825500" y="1357908"/>
            <a:ext cx="5143500" cy="970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800" b="1" dirty="0">
                <a:solidFill>
                  <a:schemeClr val="accent1"/>
                </a:solidFill>
                <a:latin typeface="+mj-lt"/>
              </a:rPr>
              <a:t>Step 1) Define Uncoupled Equations of Motion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+mj-lt"/>
              </a:rPr>
              <a:t>Block diagonal matrices for each subsystem</a:t>
            </a:r>
            <a:r>
              <a:rPr lang="en-US" b="1" dirty="0">
                <a:solidFill>
                  <a:schemeClr val="accent1"/>
                </a:solidFill>
                <a:latin typeface="+mj-lt"/>
              </a:rPr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6C2F80-6012-A4E2-58DA-35ABBC4D354D}"/>
                  </a:ext>
                </a:extLst>
              </p:cNvPr>
              <p:cNvSpPr txBox="1"/>
              <p:nvPr/>
            </p:nvSpPr>
            <p:spPr>
              <a:xfrm>
                <a:off x="762000" y="2271771"/>
                <a:ext cx="5702300" cy="2230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1800" b="1" dirty="0">
                    <a:solidFill>
                      <a:schemeClr val="accent5"/>
                    </a:solidFill>
                    <a:latin typeface="+mj-lt"/>
                  </a:rPr>
                  <a:t>Step 2) Define Constraint Equations for Compatibility</a:t>
                </a: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5"/>
                    </a:solidFill>
                    <a:latin typeface="+mj-lt"/>
                  </a:rPr>
                  <a:t>Define signed-Boolean constraint matrix: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𝐵𝑥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solidFill>
                    <a:schemeClr val="accent5"/>
                  </a:solidFill>
                  <a:latin typeface="+mj-lt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5"/>
                    </a:solidFill>
                    <a:latin typeface="+mj-lt"/>
                  </a:rPr>
                  <a:t>Cast into coupled generalized coordinates: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5"/>
                    </a:solidFill>
                    <a:latin typeface="+mj-lt"/>
                  </a:rPr>
                  <a:t>Combining the two: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𝐵𝐿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solidFill>
                    <a:schemeClr val="accent5"/>
                  </a:solidFill>
                  <a:latin typeface="+mj-lt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accent5"/>
                  </a:solidFill>
                  <a:latin typeface="+mj-lt"/>
                </a:endParaRPr>
              </a:p>
              <a:p>
                <a:pPr lvl="1">
                  <a:lnSpc>
                    <a:spcPct val="90000"/>
                  </a:lnSpc>
                  <a:spcBef>
                    <a:spcPts val="1000"/>
                  </a:spcBef>
                </a:pPr>
                <a:endParaRPr lang="en-US" dirty="0">
                  <a:solidFill>
                    <a:schemeClr val="accent5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6C2F80-6012-A4E2-58DA-35ABBC4D3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271771"/>
                <a:ext cx="5702300" cy="2230932"/>
              </a:xfrm>
              <a:prstGeom prst="rect">
                <a:avLst/>
              </a:prstGeom>
              <a:blipFill>
                <a:blip r:embed="rId3"/>
                <a:stretch>
                  <a:fillRect l="-856" t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0210C0-66E9-4ECF-8F7B-DD5C0C92F8CF}"/>
                  </a:ext>
                </a:extLst>
              </p:cNvPr>
              <p:cNvSpPr txBox="1"/>
              <p:nvPr/>
            </p:nvSpPr>
            <p:spPr>
              <a:xfrm>
                <a:off x="762000" y="3822912"/>
                <a:ext cx="4953000" cy="1725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1800" b="1" dirty="0">
                    <a:solidFill>
                      <a:srgbClr val="C00000"/>
                    </a:solidFill>
                    <a:latin typeface="+mj-lt"/>
                  </a:rPr>
                  <a:t>Step 3) Synthesize Equations of motion</a:t>
                </a: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+mj-lt"/>
                  </a:rPr>
                  <a:t>Transform out equations using the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+mj-lt"/>
                  </a:rPr>
                  <a:t> matrix</a:t>
                </a: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+mj-lt"/>
                  </a:rPr>
                  <a:t>Solve the synthesized eigen problem to reveal the assembled modes</a:t>
                </a:r>
              </a:p>
              <a:p>
                <a:pPr lvl="1">
                  <a:lnSpc>
                    <a:spcPct val="90000"/>
                  </a:lnSpc>
                  <a:spcBef>
                    <a:spcPts val="1000"/>
                  </a:spcBef>
                </a:pPr>
                <a:endParaRPr lang="en-US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0210C0-66E9-4ECF-8F7B-DD5C0C92F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822912"/>
                <a:ext cx="4953000" cy="1725152"/>
              </a:xfrm>
              <a:prstGeom prst="rect">
                <a:avLst/>
              </a:prstGeom>
              <a:blipFill>
                <a:blip r:embed="rId4"/>
                <a:stretch>
                  <a:fillRect l="-984" t="-3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eft Bracket 12">
            <a:extLst>
              <a:ext uri="{FF2B5EF4-FFF2-40B4-BE49-F238E27FC236}">
                <a16:creationId xmlns:a16="http://schemas.microsoft.com/office/drawing/2014/main" id="{180CE89A-CB06-E19F-61BD-FD1D1EBEC1A2}"/>
              </a:ext>
            </a:extLst>
          </p:cNvPr>
          <p:cNvSpPr/>
          <p:nvPr/>
        </p:nvSpPr>
        <p:spPr>
          <a:xfrm>
            <a:off x="6503903" y="1600224"/>
            <a:ext cx="177800" cy="901700"/>
          </a:xfrm>
          <a:prstGeom prst="leftBracket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01A4AAD0-AE4D-AD3A-508D-337E012B9A06}"/>
              </a:ext>
            </a:extLst>
          </p:cNvPr>
          <p:cNvSpPr/>
          <p:nvPr/>
        </p:nvSpPr>
        <p:spPr>
          <a:xfrm>
            <a:off x="6503903" y="2744042"/>
            <a:ext cx="177800" cy="684958"/>
          </a:xfrm>
          <a:prstGeom prst="leftBracket">
            <a:avLst/>
          </a:prstGeom>
          <a:ln w="571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BD7FBD67-EB48-B47A-88CF-94678B541839}"/>
              </a:ext>
            </a:extLst>
          </p:cNvPr>
          <p:cNvSpPr/>
          <p:nvPr/>
        </p:nvSpPr>
        <p:spPr>
          <a:xfrm>
            <a:off x="6499056" y="3671118"/>
            <a:ext cx="177800" cy="2094682"/>
          </a:xfrm>
          <a:prstGeom prst="leftBracket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50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47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Modal </a:t>
            </a:r>
            <a:r>
              <a:rPr lang="en-US" dirty="0" err="1"/>
              <a:t>Substructuring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0BEB4-8C5B-81B8-E98C-9B5F9E276673}"/>
              </a:ext>
            </a:extLst>
          </p:cNvPr>
          <p:cNvSpPr txBox="1"/>
          <p:nvPr/>
        </p:nvSpPr>
        <p:spPr>
          <a:xfrm>
            <a:off x="258906" y="1388666"/>
            <a:ext cx="6681644" cy="970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800" b="1" dirty="0">
                <a:solidFill>
                  <a:schemeClr val="accent1"/>
                </a:solidFill>
                <a:latin typeface="+mj-lt"/>
              </a:rPr>
              <a:t>Step 1) Define Uncoupled Equations of Motion in Modal Space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+mj-lt"/>
              </a:rPr>
              <a:t>Block diagonal matrices for each subsystem as modal equations of motion</a:t>
            </a:r>
            <a:r>
              <a:rPr lang="en-US" b="1" dirty="0">
                <a:solidFill>
                  <a:schemeClr val="accent1"/>
                </a:solidFill>
                <a:latin typeface="+mj-lt"/>
              </a:rPr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6C2F80-6012-A4E2-58DA-35ABBC4D354D}"/>
                  </a:ext>
                </a:extLst>
              </p:cNvPr>
              <p:cNvSpPr txBox="1"/>
              <p:nvPr/>
            </p:nvSpPr>
            <p:spPr>
              <a:xfrm>
                <a:off x="201756" y="2531129"/>
                <a:ext cx="6835490" cy="2608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1800" b="1" dirty="0">
                    <a:solidFill>
                      <a:schemeClr val="accent5"/>
                    </a:solidFill>
                    <a:latin typeface="+mj-lt"/>
                  </a:rPr>
                  <a:t>Step 2) Define Constraint Equations for Compatibility</a:t>
                </a: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5"/>
                    </a:solidFill>
                    <a:latin typeface="+mj-lt"/>
                  </a:rPr>
                  <a:t>Define signed-Boolean constraints in physical space: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𝐵𝑥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>
                  <a:solidFill>
                    <a:schemeClr val="accent5"/>
                  </a:solidFill>
                  <a:latin typeface="+mj-lt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5"/>
                    </a:solidFill>
                    <a:latin typeface="+mj-lt"/>
                  </a:rPr>
                  <a:t>Project into the modal domain: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chemeClr val="accent5"/>
                  </a:solidFill>
                  <a:latin typeface="+mj-lt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5"/>
                    </a:solidFill>
                    <a:latin typeface="+mj-lt"/>
                  </a:rPr>
                  <a:t>Cast into coupled generalized coordinates: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5"/>
                    </a:solidFill>
                    <a:latin typeface="+mj-lt"/>
                  </a:rPr>
                  <a:t>Combining the three: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𝐵𝑥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 →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solidFill>
                    <a:schemeClr val="accent5"/>
                  </a:solidFill>
                  <a:latin typeface="+mj-lt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accent5"/>
                  </a:solidFill>
                  <a:latin typeface="+mj-lt"/>
                </a:endParaRPr>
              </a:p>
              <a:p>
                <a:pPr lvl="1">
                  <a:lnSpc>
                    <a:spcPct val="90000"/>
                  </a:lnSpc>
                  <a:spcBef>
                    <a:spcPts val="1000"/>
                  </a:spcBef>
                </a:pPr>
                <a:endParaRPr lang="en-US" dirty="0">
                  <a:solidFill>
                    <a:schemeClr val="accent5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6C2F80-6012-A4E2-58DA-35ABBC4D3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56" y="2531129"/>
                <a:ext cx="6835490" cy="2608471"/>
              </a:xfrm>
              <a:prstGeom prst="rect">
                <a:avLst/>
              </a:prstGeom>
              <a:blipFill>
                <a:blip r:embed="rId2"/>
                <a:stretch>
                  <a:fillRect l="-714" t="-2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0210C0-66E9-4ECF-8F7B-DD5C0C92F8CF}"/>
                  </a:ext>
                </a:extLst>
              </p:cNvPr>
              <p:cNvSpPr txBox="1"/>
              <p:nvPr/>
            </p:nvSpPr>
            <p:spPr>
              <a:xfrm>
                <a:off x="201756" y="4495020"/>
                <a:ext cx="6662594" cy="2102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1800" b="1" dirty="0">
                    <a:solidFill>
                      <a:srgbClr val="C00000"/>
                    </a:solidFill>
                    <a:latin typeface="+mj-lt"/>
                  </a:rPr>
                  <a:t>Step 3) Synthesize Equations of Motion</a:t>
                </a: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+mj-lt"/>
                  </a:rPr>
                  <a:t>Transform out equations using the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+mj-lt"/>
                  </a:rPr>
                  <a:t> matrix</a:t>
                </a: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+mj-lt"/>
                  </a:rPr>
                  <a:t>Solve the synthesized eigen problem to reveal the assembled modes</a:t>
                </a:r>
              </a:p>
              <a:p>
                <a:pPr marL="742950" lvl="1" indent="-28575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+mj-lt"/>
                  </a:rPr>
                  <a:t>Transform back to physical space: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+mj-lt"/>
                  </a:rPr>
                  <a:t> </a:t>
                </a:r>
              </a:p>
              <a:p>
                <a:pPr lvl="1">
                  <a:lnSpc>
                    <a:spcPct val="90000"/>
                  </a:lnSpc>
                  <a:spcBef>
                    <a:spcPts val="1000"/>
                  </a:spcBef>
                </a:pPr>
                <a:endParaRPr lang="en-US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0210C0-66E9-4ECF-8F7B-DD5C0C92F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56" y="4495020"/>
                <a:ext cx="6662594" cy="2102692"/>
              </a:xfrm>
              <a:prstGeom prst="rect">
                <a:avLst/>
              </a:prstGeom>
              <a:blipFill>
                <a:blip r:embed="rId3"/>
                <a:stretch>
                  <a:fillRect l="-732" t="-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eft Bracket 12">
            <a:extLst>
              <a:ext uri="{FF2B5EF4-FFF2-40B4-BE49-F238E27FC236}">
                <a16:creationId xmlns:a16="http://schemas.microsoft.com/office/drawing/2014/main" id="{180CE89A-CB06-E19F-61BD-FD1D1EBEC1A2}"/>
              </a:ext>
            </a:extLst>
          </p:cNvPr>
          <p:cNvSpPr/>
          <p:nvPr/>
        </p:nvSpPr>
        <p:spPr>
          <a:xfrm>
            <a:off x="7125282" y="1293094"/>
            <a:ext cx="177800" cy="1291356"/>
          </a:xfrm>
          <a:prstGeom prst="leftBracket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01A4AAD0-AE4D-AD3A-508D-337E012B9A06}"/>
              </a:ext>
            </a:extLst>
          </p:cNvPr>
          <p:cNvSpPr/>
          <p:nvPr/>
        </p:nvSpPr>
        <p:spPr>
          <a:xfrm>
            <a:off x="7125282" y="2694417"/>
            <a:ext cx="177800" cy="1159253"/>
          </a:xfrm>
          <a:prstGeom prst="leftBracket">
            <a:avLst/>
          </a:prstGeom>
          <a:ln w="571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BD7FBD67-EB48-B47A-88CF-94678B541839}"/>
              </a:ext>
            </a:extLst>
          </p:cNvPr>
          <p:cNvSpPr/>
          <p:nvPr/>
        </p:nvSpPr>
        <p:spPr>
          <a:xfrm>
            <a:off x="7150283" y="4193131"/>
            <a:ext cx="177800" cy="1725152"/>
          </a:xfrm>
          <a:prstGeom prst="leftBracket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0D2EC6-37DB-4852-D0B4-F44C18B17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291" y="866417"/>
            <a:ext cx="4134427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61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 what do we lose?  Nothing?!?! Magic!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132A3D-8263-0533-40D1-BA3612038A2B}"/>
              </a:ext>
            </a:extLst>
          </p:cNvPr>
          <p:cNvSpPr/>
          <p:nvPr/>
        </p:nvSpPr>
        <p:spPr>
          <a:xfrm>
            <a:off x="1238250" y="1270000"/>
            <a:ext cx="2825750" cy="3515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Truth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C0A6FF-4DBF-A717-D382-F9C4C84C7AF8}"/>
              </a:ext>
            </a:extLst>
          </p:cNvPr>
          <p:cNvSpPr/>
          <p:nvPr/>
        </p:nvSpPr>
        <p:spPr>
          <a:xfrm>
            <a:off x="7978775" y="1270000"/>
            <a:ext cx="2825750" cy="3515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Modal </a:t>
            </a:r>
            <a:r>
              <a:rPr lang="en-US" dirty="0" err="1"/>
              <a:t>Substructuring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E7F18B-BFDF-BAD1-B41A-5E86C26CC72A}"/>
              </a:ext>
            </a:extLst>
          </p:cNvPr>
          <p:cNvSpPr/>
          <p:nvPr/>
        </p:nvSpPr>
        <p:spPr>
          <a:xfrm>
            <a:off x="4622800" y="1270000"/>
            <a:ext cx="2825750" cy="3515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Physical </a:t>
            </a:r>
            <a:r>
              <a:rPr lang="en-US" dirty="0" err="1"/>
              <a:t>Substructuring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0B660A-5031-EFF8-0B97-D1C1F809C6D4}"/>
              </a:ext>
            </a:extLst>
          </p:cNvPr>
          <p:cNvSpPr/>
          <p:nvPr/>
        </p:nvSpPr>
        <p:spPr>
          <a:xfrm>
            <a:off x="1387475" y="1676400"/>
            <a:ext cx="2530475" cy="298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889F85-DCA6-70F9-69EE-0F5724640DF3}"/>
              </a:ext>
            </a:extLst>
          </p:cNvPr>
          <p:cNvSpPr/>
          <p:nvPr/>
        </p:nvSpPr>
        <p:spPr>
          <a:xfrm>
            <a:off x="4770437" y="1676400"/>
            <a:ext cx="2530475" cy="298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830550-7BB4-00A1-2E3F-104672D7B698}"/>
              </a:ext>
            </a:extLst>
          </p:cNvPr>
          <p:cNvSpPr/>
          <p:nvPr/>
        </p:nvSpPr>
        <p:spPr>
          <a:xfrm>
            <a:off x="8126412" y="1676400"/>
            <a:ext cx="2530475" cy="2984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97D70EA-5C03-710F-2BE5-B0414CCDB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280632"/>
              </p:ext>
            </p:extLst>
          </p:nvPr>
        </p:nvGraphicFramePr>
        <p:xfrm>
          <a:off x="1489075" y="1761066"/>
          <a:ext cx="2295526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763">
                  <a:extLst>
                    <a:ext uri="{9D8B030D-6E8A-4147-A177-3AD203B41FA5}">
                      <a16:colId xmlns:a16="http://schemas.microsoft.com/office/drawing/2014/main" val="2240448281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1178039245"/>
                    </a:ext>
                  </a:extLst>
                </a:gridCol>
              </a:tblGrid>
              <a:tr h="3443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 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815014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210665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23.81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064918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29.85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400636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5FA21696-2E32-D8E3-0AAB-CD2AD7B91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t="4485" r="9206" b="5931"/>
          <a:stretch/>
        </p:blipFill>
        <p:spPr>
          <a:xfrm>
            <a:off x="5140108" y="3435350"/>
            <a:ext cx="1715703" cy="1143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78371D-7FD4-0D24-4B17-5FCED6BB5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767" y="3435350"/>
            <a:ext cx="1733764" cy="1143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E9268D-7F41-B2EA-A883-C9A9AE361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042" y="3435350"/>
            <a:ext cx="1733764" cy="1143000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77F10E2-66DC-AF69-EAE1-6A47BCADA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036582"/>
              </p:ext>
            </p:extLst>
          </p:nvPr>
        </p:nvGraphicFramePr>
        <p:xfrm>
          <a:off x="4887911" y="1761066"/>
          <a:ext cx="2295526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763">
                  <a:extLst>
                    <a:ext uri="{9D8B030D-6E8A-4147-A177-3AD203B41FA5}">
                      <a16:colId xmlns:a16="http://schemas.microsoft.com/office/drawing/2014/main" val="2240448281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1178039245"/>
                    </a:ext>
                  </a:extLst>
                </a:gridCol>
              </a:tblGrid>
              <a:tr h="3443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 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815014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210665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23.81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064918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29.85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40063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EB01268-8FE0-2B2B-61AE-C3E39FE76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126561"/>
              </p:ext>
            </p:extLst>
          </p:nvPr>
        </p:nvGraphicFramePr>
        <p:xfrm>
          <a:off x="8243886" y="1761066"/>
          <a:ext cx="2295526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763">
                  <a:extLst>
                    <a:ext uri="{9D8B030D-6E8A-4147-A177-3AD203B41FA5}">
                      <a16:colId xmlns:a16="http://schemas.microsoft.com/office/drawing/2014/main" val="2240448281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1178039245"/>
                    </a:ext>
                  </a:extLst>
                </a:gridCol>
              </a:tblGrid>
              <a:tr h="3443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 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815014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210665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23.81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064918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29.85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400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497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224734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Informal Formal Discussion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C25BEE-E4CF-4E50-86C8-111949C2FD55}"/>
              </a:ext>
            </a:extLst>
          </p:cNvPr>
          <p:cNvSpPr>
            <a:spLocks noGrp="1"/>
          </p:cNvSpPr>
          <p:nvPr/>
        </p:nvSpPr>
        <p:spPr>
          <a:xfrm>
            <a:off x="310540" y="1173404"/>
            <a:ext cx="11570920" cy="5246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What are the three steps to setting up a </a:t>
            </a:r>
            <a:r>
              <a:rPr lang="en-US" sz="3600" dirty="0" err="1"/>
              <a:t>substructuring</a:t>
            </a:r>
            <a:r>
              <a:rPr lang="en-US" sz="3600" dirty="0"/>
              <a:t> problem?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In CMS our constraints often satisfy which condition? What does this mean about equilibrium?</a:t>
            </a:r>
          </a:p>
        </p:txBody>
      </p:sp>
    </p:spTree>
    <p:extLst>
      <p:ext uri="{BB962C8B-B14F-4D97-AF65-F5344CB8AC3E}">
        <p14:creationId xmlns:p14="http://schemas.microsoft.com/office/powerpoint/2010/main" val="2885381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9835-F37B-5854-84DA-3D4E381D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Modal Truncation</a:t>
            </a:r>
          </a:p>
        </p:txBody>
      </p:sp>
    </p:spTree>
    <p:extLst>
      <p:ext uri="{BB962C8B-B14F-4D97-AF65-F5344CB8AC3E}">
        <p14:creationId xmlns:p14="http://schemas.microsoft.com/office/powerpoint/2010/main" val="1529999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45223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look at a bigger example (10 DOF systems)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939D1-4795-8DC4-9012-2DB7A573EE9A}"/>
              </a:ext>
            </a:extLst>
          </p:cNvPr>
          <p:cNvSpPr/>
          <p:nvPr/>
        </p:nvSpPr>
        <p:spPr>
          <a:xfrm>
            <a:off x="2438400" y="1594009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E013F5-C4C8-566E-C51C-35CD8D6AA78C}"/>
              </a:ext>
            </a:extLst>
          </p:cNvPr>
          <p:cNvCxnSpPr>
            <a:stCxn id="6" idx="3"/>
          </p:cNvCxnSpPr>
          <p:nvPr/>
        </p:nvCxnSpPr>
        <p:spPr>
          <a:xfrm>
            <a:off x="2857500" y="1803559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D64BB5-6FDF-DDA9-DFFF-BC276FD4F409}"/>
              </a:ext>
            </a:extLst>
          </p:cNvPr>
          <p:cNvCxnSpPr>
            <a:cxnSpLocks/>
          </p:cNvCxnSpPr>
          <p:nvPr/>
        </p:nvCxnSpPr>
        <p:spPr>
          <a:xfrm flipV="1">
            <a:off x="2921794" y="1803559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4D8C94-7346-123C-339B-A2B7B07C4518}"/>
              </a:ext>
            </a:extLst>
          </p:cNvPr>
          <p:cNvCxnSpPr>
            <a:cxnSpLocks/>
          </p:cNvCxnSpPr>
          <p:nvPr/>
        </p:nvCxnSpPr>
        <p:spPr>
          <a:xfrm flipV="1">
            <a:off x="2921794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BF3733-BF0C-8277-B05F-11C00B400097}"/>
              </a:ext>
            </a:extLst>
          </p:cNvPr>
          <p:cNvCxnSpPr>
            <a:cxnSpLocks/>
          </p:cNvCxnSpPr>
          <p:nvPr/>
        </p:nvCxnSpPr>
        <p:spPr>
          <a:xfrm flipV="1">
            <a:off x="2959637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590F41-2C51-7FEB-36EA-86B1AAA24190}"/>
              </a:ext>
            </a:extLst>
          </p:cNvPr>
          <p:cNvCxnSpPr>
            <a:cxnSpLocks/>
          </p:cNvCxnSpPr>
          <p:nvPr/>
        </p:nvCxnSpPr>
        <p:spPr>
          <a:xfrm flipV="1">
            <a:off x="2997479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3DA60A-491B-380B-8EC0-5D228F0E6480}"/>
              </a:ext>
            </a:extLst>
          </p:cNvPr>
          <p:cNvCxnSpPr>
            <a:cxnSpLocks/>
          </p:cNvCxnSpPr>
          <p:nvPr/>
        </p:nvCxnSpPr>
        <p:spPr>
          <a:xfrm flipV="1">
            <a:off x="3032683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8340817-5BFA-0035-ACE7-B1CFAD198394}"/>
              </a:ext>
            </a:extLst>
          </p:cNvPr>
          <p:cNvCxnSpPr>
            <a:cxnSpLocks/>
          </p:cNvCxnSpPr>
          <p:nvPr/>
        </p:nvCxnSpPr>
        <p:spPr>
          <a:xfrm flipV="1">
            <a:off x="2959637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E2D06E-BF98-7862-5D25-E0CEBEF011C8}"/>
              </a:ext>
            </a:extLst>
          </p:cNvPr>
          <p:cNvCxnSpPr>
            <a:cxnSpLocks/>
          </p:cNvCxnSpPr>
          <p:nvPr/>
        </p:nvCxnSpPr>
        <p:spPr>
          <a:xfrm flipV="1">
            <a:off x="3000922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426D65-2ED4-EE1D-E92A-2AEA70A4112A}"/>
              </a:ext>
            </a:extLst>
          </p:cNvPr>
          <p:cNvCxnSpPr>
            <a:cxnSpLocks/>
          </p:cNvCxnSpPr>
          <p:nvPr/>
        </p:nvCxnSpPr>
        <p:spPr>
          <a:xfrm flipV="1">
            <a:off x="3034517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D7EBC2-E343-BB13-8DEB-31AD808A8AF4}"/>
              </a:ext>
            </a:extLst>
          </p:cNvPr>
          <p:cNvCxnSpPr>
            <a:cxnSpLocks/>
          </p:cNvCxnSpPr>
          <p:nvPr/>
        </p:nvCxnSpPr>
        <p:spPr>
          <a:xfrm flipV="1">
            <a:off x="3074998" y="1636871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AD6244-BCA3-D831-6112-06481A0FF5E5}"/>
              </a:ext>
            </a:extLst>
          </p:cNvPr>
          <p:cNvCxnSpPr/>
          <p:nvPr/>
        </p:nvCxnSpPr>
        <p:spPr>
          <a:xfrm>
            <a:off x="3070783" y="1838227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FD13AE2-0D3F-0F48-4805-E39BA160B250}"/>
              </a:ext>
            </a:extLst>
          </p:cNvPr>
          <p:cNvSpPr/>
          <p:nvPr/>
        </p:nvSpPr>
        <p:spPr>
          <a:xfrm>
            <a:off x="3146982" y="1594009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CB6C88-F8B6-C0E6-A75D-2DB60340B99E}"/>
              </a:ext>
            </a:extLst>
          </p:cNvPr>
          <p:cNvCxnSpPr>
            <a:stCxn id="26" idx="3"/>
          </p:cNvCxnSpPr>
          <p:nvPr/>
        </p:nvCxnSpPr>
        <p:spPr>
          <a:xfrm>
            <a:off x="3566082" y="1803559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FC9A154-7F37-72DD-8140-9852E4D5C38B}"/>
              </a:ext>
            </a:extLst>
          </p:cNvPr>
          <p:cNvCxnSpPr>
            <a:cxnSpLocks/>
          </p:cNvCxnSpPr>
          <p:nvPr/>
        </p:nvCxnSpPr>
        <p:spPr>
          <a:xfrm flipV="1">
            <a:off x="3630376" y="1803559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C996EF-5B48-FD92-6864-60C54631F35B}"/>
              </a:ext>
            </a:extLst>
          </p:cNvPr>
          <p:cNvCxnSpPr>
            <a:cxnSpLocks/>
          </p:cNvCxnSpPr>
          <p:nvPr/>
        </p:nvCxnSpPr>
        <p:spPr>
          <a:xfrm flipV="1">
            <a:off x="3630376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B3740F7-2DED-A876-F9AC-6CB4EB694A3D}"/>
              </a:ext>
            </a:extLst>
          </p:cNvPr>
          <p:cNvCxnSpPr>
            <a:cxnSpLocks/>
          </p:cNvCxnSpPr>
          <p:nvPr/>
        </p:nvCxnSpPr>
        <p:spPr>
          <a:xfrm flipV="1">
            <a:off x="3668219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12EAB18-7471-1541-4D86-EE36B58B30D5}"/>
              </a:ext>
            </a:extLst>
          </p:cNvPr>
          <p:cNvCxnSpPr>
            <a:cxnSpLocks/>
          </p:cNvCxnSpPr>
          <p:nvPr/>
        </p:nvCxnSpPr>
        <p:spPr>
          <a:xfrm flipV="1">
            <a:off x="3706061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AAC384-3F4C-145A-29FC-F123A66264ED}"/>
              </a:ext>
            </a:extLst>
          </p:cNvPr>
          <p:cNvCxnSpPr>
            <a:cxnSpLocks/>
          </p:cNvCxnSpPr>
          <p:nvPr/>
        </p:nvCxnSpPr>
        <p:spPr>
          <a:xfrm flipV="1">
            <a:off x="3741265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F690F18-BD1C-5134-32AB-E262A117346C}"/>
              </a:ext>
            </a:extLst>
          </p:cNvPr>
          <p:cNvCxnSpPr>
            <a:cxnSpLocks/>
          </p:cNvCxnSpPr>
          <p:nvPr/>
        </p:nvCxnSpPr>
        <p:spPr>
          <a:xfrm flipV="1">
            <a:off x="3668219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820BE44-1AB3-4C4A-35BD-14C998DDA43A}"/>
              </a:ext>
            </a:extLst>
          </p:cNvPr>
          <p:cNvCxnSpPr>
            <a:cxnSpLocks/>
          </p:cNvCxnSpPr>
          <p:nvPr/>
        </p:nvCxnSpPr>
        <p:spPr>
          <a:xfrm flipV="1">
            <a:off x="3709504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CF56CC-1660-6B4F-E21E-0BC440F309F1}"/>
              </a:ext>
            </a:extLst>
          </p:cNvPr>
          <p:cNvCxnSpPr>
            <a:cxnSpLocks/>
          </p:cNvCxnSpPr>
          <p:nvPr/>
        </p:nvCxnSpPr>
        <p:spPr>
          <a:xfrm flipV="1">
            <a:off x="3743099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793BF8-FC46-2A77-D13B-2286F741A6BF}"/>
              </a:ext>
            </a:extLst>
          </p:cNvPr>
          <p:cNvCxnSpPr>
            <a:cxnSpLocks/>
          </p:cNvCxnSpPr>
          <p:nvPr/>
        </p:nvCxnSpPr>
        <p:spPr>
          <a:xfrm flipV="1">
            <a:off x="3783580" y="1636871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C7CC446-FBB4-478A-CC89-CE5CA0976C3E}"/>
              </a:ext>
            </a:extLst>
          </p:cNvPr>
          <p:cNvCxnSpPr/>
          <p:nvPr/>
        </p:nvCxnSpPr>
        <p:spPr>
          <a:xfrm>
            <a:off x="3779365" y="1838227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1CBFABE-F196-8230-B03E-83DA80119F29}"/>
              </a:ext>
            </a:extLst>
          </p:cNvPr>
          <p:cNvSpPr/>
          <p:nvPr/>
        </p:nvSpPr>
        <p:spPr>
          <a:xfrm>
            <a:off x="3847875" y="1594008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14773B-F0F3-DF3C-96F9-02B3BEE6F239}"/>
              </a:ext>
            </a:extLst>
          </p:cNvPr>
          <p:cNvCxnSpPr>
            <a:stCxn id="38" idx="3"/>
          </p:cNvCxnSpPr>
          <p:nvPr/>
        </p:nvCxnSpPr>
        <p:spPr>
          <a:xfrm>
            <a:off x="4266975" y="1803558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8550EA3-701C-B462-2CB2-CC16A70B1E57}"/>
              </a:ext>
            </a:extLst>
          </p:cNvPr>
          <p:cNvCxnSpPr>
            <a:cxnSpLocks/>
          </p:cNvCxnSpPr>
          <p:nvPr/>
        </p:nvCxnSpPr>
        <p:spPr>
          <a:xfrm flipV="1">
            <a:off x="4331269" y="1803558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E078C5-1BB5-4F05-8824-F5F806ED13B9}"/>
              </a:ext>
            </a:extLst>
          </p:cNvPr>
          <p:cNvCxnSpPr>
            <a:cxnSpLocks/>
          </p:cNvCxnSpPr>
          <p:nvPr/>
        </p:nvCxnSpPr>
        <p:spPr>
          <a:xfrm flipV="1">
            <a:off x="4331269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8B098DE-7756-A306-5225-1B8C00A5055D}"/>
              </a:ext>
            </a:extLst>
          </p:cNvPr>
          <p:cNvCxnSpPr>
            <a:cxnSpLocks/>
          </p:cNvCxnSpPr>
          <p:nvPr/>
        </p:nvCxnSpPr>
        <p:spPr>
          <a:xfrm flipV="1">
            <a:off x="4369112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3344914-0485-96B3-BC2A-F7965CD06675}"/>
              </a:ext>
            </a:extLst>
          </p:cNvPr>
          <p:cNvCxnSpPr>
            <a:cxnSpLocks/>
          </p:cNvCxnSpPr>
          <p:nvPr/>
        </p:nvCxnSpPr>
        <p:spPr>
          <a:xfrm flipV="1">
            <a:off x="4406954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3CF0B25-5DC6-B93F-B132-0F06CFCE49DD}"/>
              </a:ext>
            </a:extLst>
          </p:cNvPr>
          <p:cNvCxnSpPr>
            <a:cxnSpLocks/>
          </p:cNvCxnSpPr>
          <p:nvPr/>
        </p:nvCxnSpPr>
        <p:spPr>
          <a:xfrm flipV="1">
            <a:off x="4442158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D284737-81E1-31B4-954B-60ED95CCECD4}"/>
              </a:ext>
            </a:extLst>
          </p:cNvPr>
          <p:cNvCxnSpPr>
            <a:cxnSpLocks/>
          </p:cNvCxnSpPr>
          <p:nvPr/>
        </p:nvCxnSpPr>
        <p:spPr>
          <a:xfrm flipV="1">
            <a:off x="4369112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E24D51A-245F-691D-EB58-6833B572FCCD}"/>
              </a:ext>
            </a:extLst>
          </p:cNvPr>
          <p:cNvCxnSpPr>
            <a:cxnSpLocks/>
          </p:cNvCxnSpPr>
          <p:nvPr/>
        </p:nvCxnSpPr>
        <p:spPr>
          <a:xfrm flipV="1">
            <a:off x="4410397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0ED4C48-D704-5381-3F2B-A1392EDED75B}"/>
              </a:ext>
            </a:extLst>
          </p:cNvPr>
          <p:cNvCxnSpPr>
            <a:cxnSpLocks/>
          </p:cNvCxnSpPr>
          <p:nvPr/>
        </p:nvCxnSpPr>
        <p:spPr>
          <a:xfrm flipV="1">
            <a:off x="4443992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DB10F3A-7B8E-8209-0D60-AFF83F0AC1C4}"/>
              </a:ext>
            </a:extLst>
          </p:cNvPr>
          <p:cNvCxnSpPr>
            <a:cxnSpLocks/>
          </p:cNvCxnSpPr>
          <p:nvPr/>
        </p:nvCxnSpPr>
        <p:spPr>
          <a:xfrm flipV="1">
            <a:off x="4484473" y="1636870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CC66F51-35AD-43B8-A9EB-19831B01CDBC}"/>
              </a:ext>
            </a:extLst>
          </p:cNvPr>
          <p:cNvCxnSpPr/>
          <p:nvPr/>
        </p:nvCxnSpPr>
        <p:spPr>
          <a:xfrm>
            <a:off x="4480258" y="1838226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F2613AF-94D4-96CF-E22D-E04F4DEDF78A}"/>
              </a:ext>
            </a:extLst>
          </p:cNvPr>
          <p:cNvSpPr/>
          <p:nvPr/>
        </p:nvSpPr>
        <p:spPr>
          <a:xfrm>
            <a:off x="4916377" y="1589642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B0A171-1B50-4509-4DC8-A15AB94863FA}"/>
              </a:ext>
            </a:extLst>
          </p:cNvPr>
          <p:cNvSpPr txBox="1"/>
          <p:nvPr/>
        </p:nvSpPr>
        <p:spPr>
          <a:xfrm>
            <a:off x="4561396" y="1594008"/>
            <a:ext cx="34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3330453-2669-30D6-C20D-DB2E277DED39}"/>
              </a:ext>
            </a:extLst>
          </p:cNvPr>
          <p:cNvSpPr txBox="1"/>
          <p:nvPr/>
        </p:nvSpPr>
        <p:spPr>
          <a:xfrm rot="21023043">
            <a:off x="1809167" y="1217984"/>
            <a:ext cx="100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DOF</a:t>
            </a:r>
          </a:p>
        </p:txBody>
      </p:sp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FBC4979B-645D-657D-820C-44A82ECB5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016723"/>
              </p:ext>
            </p:extLst>
          </p:nvPr>
        </p:nvGraphicFramePr>
        <p:xfrm>
          <a:off x="2437887" y="2343108"/>
          <a:ext cx="2695922" cy="3568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961">
                  <a:extLst>
                    <a:ext uri="{9D8B030D-6E8A-4147-A177-3AD203B41FA5}">
                      <a16:colId xmlns:a16="http://schemas.microsoft.com/office/drawing/2014/main" val="936381622"/>
                    </a:ext>
                  </a:extLst>
                </a:gridCol>
                <a:gridCol w="1347961">
                  <a:extLst>
                    <a:ext uri="{9D8B030D-6E8A-4147-A177-3AD203B41FA5}">
                      <a16:colId xmlns:a16="http://schemas.microsoft.com/office/drawing/2014/main" val="1111947536"/>
                    </a:ext>
                  </a:extLst>
                </a:gridCol>
              </a:tblGrid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Frequency (Hz)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893475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006448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497.95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855760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983.63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070506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1445.10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783177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1870.98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819300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2250.79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36266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2575.18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4558660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2836.16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466818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3027.31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865708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3143.91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4408690"/>
                  </a:ext>
                </a:extLst>
              </a:tr>
            </a:tbl>
          </a:graphicData>
        </a:graphic>
      </p:graphicFrame>
      <p:sp>
        <p:nvSpPr>
          <p:cNvPr id="106" name="Rectangle 105">
            <a:extLst>
              <a:ext uri="{FF2B5EF4-FFF2-40B4-BE49-F238E27FC236}">
                <a16:creationId xmlns:a16="http://schemas.microsoft.com/office/drawing/2014/main" id="{7D73F1E1-2A9B-8A2E-7100-3E4B07C74BD3}"/>
              </a:ext>
            </a:extLst>
          </p:cNvPr>
          <p:cNvSpPr/>
          <p:nvPr/>
        </p:nvSpPr>
        <p:spPr>
          <a:xfrm>
            <a:off x="548544" y="1799192"/>
            <a:ext cx="1451081" cy="662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baseline="-25000"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=10 kg</a:t>
            </a:r>
          </a:p>
          <a:p>
            <a:r>
              <a:rPr lang="en-US" dirty="0">
                <a:solidFill>
                  <a:schemeClr val="tx1"/>
                </a:solidFill>
              </a:rPr>
              <a:t>k</a:t>
            </a:r>
            <a:r>
              <a:rPr lang="en-US" baseline="-25000"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= 1e9 N/m</a:t>
            </a:r>
          </a:p>
        </p:txBody>
      </p:sp>
    </p:spTree>
    <p:extLst>
      <p:ext uri="{BB962C8B-B14F-4D97-AF65-F5344CB8AC3E}">
        <p14:creationId xmlns:p14="http://schemas.microsoft.com/office/powerpoint/2010/main" val="2477220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45223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look at a bigger example (10 DOF systems)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939D1-4795-8DC4-9012-2DB7A573EE9A}"/>
              </a:ext>
            </a:extLst>
          </p:cNvPr>
          <p:cNvSpPr/>
          <p:nvPr/>
        </p:nvSpPr>
        <p:spPr>
          <a:xfrm>
            <a:off x="2438400" y="1594009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E013F5-C4C8-566E-C51C-35CD8D6AA78C}"/>
              </a:ext>
            </a:extLst>
          </p:cNvPr>
          <p:cNvCxnSpPr>
            <a:stCxn id="6" idx="3"/>
          </p:cNvCxnSpPr>
          <p:nvPr/>
        </p:nvCxnSpPr>
        <p:spPr>
          <a:xfrm>
            <a:off x="2857500" y="1803559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D64BB5-6FDF-DDA9-DFFF-BC276FD4F409}"/>
              </a:ext>
            </a:extLst>
          </p:cNvPr>
          <p:cNvCxnSpPr>
            <a:cxnSpLocks/>
          </p:cNvCxnSpPr>
          <p:nvPr/>
        </p:nvCxnSpPr>
        <p:spPr>
          <a:xfrm flipV="1">
            <a:off x="2921794" y="1803559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4D8C94-7346-123C-339B-A2B7B07C4518}"/>
              </a:ext>
            </a:extLst>
          </p:cNvPr>
          <p:cNvCxnSpPr>
            <a:cxnSpLocks/>
          </p:cNvCxnSpPr>
          <p:nvPr/>
        </p:nvCxnSpPr>
        <p:spPr>
          <a:xfrm flipV="1">
            <a:off x="2921794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BF3733-BF0C-8277-B05F-11C00B400097}"/>
              </a:ext>
            </a:extLst>
          </p:cNvPr>
          <p:cNvCxnSpPr>
            <a:cxnSpLocks/>
          </p:cNvCxnSpPr>
          <p:nvPr/>
        </p:nvCxnSpPr>
        <p:spPr>
          <a:xfrm flipV="1">
            <a:off x="2959637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590F41-2C51-7FEB-36EA-86B1AAA24190}"/>
              </a:ext>
            </a:extLst>
          </p:cNvPr>
          <p:cNvCxnSpPr>
            <a:cxnSpLocks/>
          </p:cNvCxnSpPr>
          <p:nvPr/>
        </p:nvCxnSpPr>
        <p:spPr>
          <a:xfrm flipV="1">
            <a:off x="2997479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3DA60A-491B-380B-8EC0-5D228F0E6480}"/>
              </a:ext>
            </a:extLst>
          </p:cNvPr>
          <p:cNvCxnSpPr>
            <a:cxnSpLocks/>
          </p:cNvCxnSpPr>
          <p:nvPr/>
        </p:nvCxnSpPr>
        <p:spPr>
          <a:xfrm flipV="1">
            <a:off x="3032683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8340817-5BFA-0035-ACE7-B1CFAD198394}"/>
              </a:ext>
            </a:extLst>
          </p:cNvPr>
          <p:cNvCxnSpPr>
            <a:cxnSpLocks/>
          </p:cNvCxnSpPr>
          <p:nvPr/>
        </p:nvCxnSpPr>
        <p:spPr>
          <a:xfrm flipV="1">
            <a:off x="2959637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E2D06E-BF98-7862-5D25-E0CEBEF011C8}"/>
              </a:ext>
            </a:extLst>
          </p:cNvPr>
          <p:cNvCxnSpPr>
            <a:cxnSpLocks/>
          </p:cNvCxnSpPr>
          <p:nvPr/>
        </p:nvCxnSpPr>
        <p:spPr>
          <a:xfrm flipV="1">
            <a:off x="3000922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426D65-2ED4-EE1D-E92A-2AEA70A4112A}"/>
              </a:ext>
            </a:extLst>
          </p:cNvPr>
          <p:cNvCxnSpPr>
            <a:cxnSpLocks/>
          </p:cNvCxnSpPr>
          <p:nvPr/>
        </p:nvCxnSpPr>
        <p:spPr>
          <a:xfrm flipV="1">
            <a:off x="3034517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D7EBC2-E343-BB13-8DEB-31AD808A8AF4}"/>
              </a:ext>
            </a:extLst>
          </p:cNvPr>
          <p:cNvCxnSpPr>
            <a:cxnSpLocks/>
          </p:cNvCxnSpPr>
          <p:nvPr/>
        </p:nvCxnSpPr>
        <p:spPr>
          <a:xfrm flipV="1">
            <a:off x="3074998" y="1636871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AD6244-BCA3-D831-6112-06481A0FF5E5}"/>
              </a:ext>
            </a:extLst>
          </p:cNvPr>
          <p:cNvCxnSpPr/>
          <p:nvPr/>
        </p:nvCxnSpPr>
        <p:spPr>
          <a:xfrm>
            <a:off x="3070783" y="1838227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FD13AE2-0D3F-0F48-4805-E39BA160B250}"/>
              </a:ext>
            </a:extLst>
          </p:cNvPr>
          <p:cNvSpPr/>
          <p:nvPr/>
        </p:nvSpPr>
        <p:spPr>
          <a:xfrm>
            <a:off x="3146982" y="1594009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CB6C88-F8B6-C0E6-A75D-2DB60340B99E}"/>
              </a:ext>
            </a:extLst>
          </p:cNvPr>
          <p:cNvCxnSpPr>
            <a:stCxn id="26" idx="3"/>
          </p:cNvCxnSpPr>
          <p:nvPr/>
        </p:nvCxnSpPr>
        <p:spPr>
          <a:xfrm>
            <a:off x="3566082" y="1803559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FC9A154-7F37-72DD-8140-9852E4D5C38B}"/>
              </a:ext>
            </a:extLst>
          </p:cNvPr>
          <p:cNvCxnSpPr>
            <a:cxnSpLocks/>
          </p:cNvCxnSpPr>
          <p:nvPr/>
        </p:nvCxnSpPr>
        <p:spPr>
          <a:xfrm flipV="1">
            <a:off x="3630376" y="1803559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C996EF-5B48-FD92-6864-60C54631F35B}"/>
              </a:ext>
            </a:extLst>
          </p:cNvPr>
          <p:cNvCxnSpPr>
            <a:cxnSpLocks/>
          </p:cNvCxnSpPr>
          <p:nvPr/>
        </p:nvCxnSpPr>
        <p:spPr>
          <a:xfrm flipV="1">
            <a:off x="3630376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B3740F7-2DED-A876-F9AC-6CB4EB694A3D}"/>
              </a:ext>
            </a:extLst>
          </p:cNvPr>
          <p:cNvCxnSpPr>
            <a:cxnSpLocks/>
          </p:cNvCxnSpPr>
          <p:nvPr/>
        </p:nvCxnSpPr>
        <p:spPr>
          <a:xfrm flipV="1">
            <a:off x="3668219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12EAB18-7471-1541-4D86-EE36B58B30D5}"/>
              </a:ext>
            </a:extLst>
          </p:cNvPr>
          <p:cNvCxnSpPr>
            <a:cxnSpLocks/>
          </p:cNvCxnSpPr>
          <p:nvPr/>
        </p:nvCxnSpPr>
        <p:spPr>
          <a:xfrm flipV="1">
            <a:off x="3706061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AAC384-3F4C-145A-29FC-F123A66264ED}"/>
              </a:ext>
            </a:extLst>
          </p:cNvPr>
          <p:cNvCxnSpPr>
            <a:cxnSpLocks/>
          </p:cNvCxnSpPr>
          <p:nvPr/>
        </p:nvCxnSpPr>
        <p:spPr>
          <a:xfrm flipV="1">
            <a:off x="3741265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F690F18-BD1C-5134-32AB-E262A117346C}"/>
              </a:ext>
            </a:extLst>
          </p:cNvPr>
          <p:cNvCxnSpPr>
            <a:cxnSpLocks/>
          </p:cNvCxnSpPr>
          <p:nvPr/>
        </p:nvCxnSpPr>
        <p:spPr>
          <a:xfrm flipV="1">
            <a:off x="3668219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820BE44-1AB3-4C4A-35BD-14C998DDA43A}"/>
              </a:ext>
            </a:extLst>
          </p:cNvPr>
          <p:cNvCxnSpPr>
            <a:cxnSpLocks/>
          </p:cNvCxnSpPr>
          <p:nvPr/>
        </p:nvCxnSpPr>
        <p:spPr>
          <a:xfrm flipV="1">
            <a:off x="3709504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CF56CC-1660-6B4F-E21E-0BC440F309F1}"/>
              </a:ext>
            </a:extLst>
          </p:cNvPr>
          <p:cNvCxnSpPr>
            <a:cxnSpLocks/>
          </p:cNvCxnSpPr>
          <p:nvPr/>
        </p:nvCxnSpPr>
        <p:spPr>
          <a:xfrm flipV="1">
            <a:off x="3743099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793BF8-FC46-2A77-D13B-2286F741A6BF}"/>
              </a:ext>
            </a:extLst>
          </p:cNvPr>
          <p:cNvCxnSpPr>
            <a:cxnSpLocks/>
          </p:cNvCxnSpPr>
          <p:nvPr/>
        </p:nvCxnSpPr>
        <p:spPr>
          <a:xfrm flipV="1">
            <a:off x="3783580" y="1636871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C7CC446-FBB4-478A-CC89-CE5CA0976C3E}"/>
              </a:ext>
            </a:extLst>
          </p:cNvPr>
          <p:cNvCxnSpPr/>
          <p:nvPr/>
        </p:nvCxnSpPr>
        <p:spPr>
          <a:xfrm>
            <a:off x="3779365" y="1838227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1CBFABE-F196-8230-B03E-83DA80119F29}"/>
              </a:ext>
            </a:extLst>
          </p:cNvPr>
          <p:cNvSpPr/>
          <p:nvPr/>
        </p:nvSpPr>
        <p:spPr>
          <a:xfrm>
            <a:off x="3847875" y="1594008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14773B-F0F3-DF3C-96F9-02B3BEE6F239}"/>
              </a:ext>
            </a:extLst>
          </p:cNvPr>
          <p:cNvCxnSpPr>
            <a:stCxn id="38" idx="3"/>
          </p:cNvCxnSpPr>
          <p:nvPr/>
        </p:nvCxnSpPr>
        <p:spPr>
          <a:xfrm>
            <a:off x="4266975" y="1803558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8550EA3-701C-B462-2CB2-CC16A70B1E57}"/>
              </a:ext>
            </a:extLst>
          </p:cNvPr>
          <p:cNvCxnSpPr>
            <a:cxnSpLocks/>
          </p:cNvCxnSpPr>
          <p:nvPr/>
        </p:nvCxnSpPr>
        <p:spPr>
          <a:xfrm flipV="1">
            <a:off x="4331269" y="1803558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E078C5-1BB5-4F05-8824-F5F806ED13B9}"/>
              </a:ext>
            </a:extLst>
          </p:cNvPr>
          <p:cNvCxnSpPr>
            <a:cxnSpLocks/>
          </p:cNvCxnSpPr>
          <p:nvPr/>
        </p:nvCxnSpPr>
        <p:spPr>
          <a:xfrm flipV="1">
            <a:off x="4331269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8B098DE-7756-A306-5225-1B8C00A5055D}"/>
              </a:ext>
            </a:extLst>
          </p:cNvPr>
          <p:cNvCxnSpPr>
            <a:cxnSpLocks/>
          </p:cNvCxnSpPr>
          <p:nvPr/>
        </p:nvCxnSpPr>
        <p:spPr>
          <a:xfrm flipV="1">
            <a:off x="4369112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3344914-0485-96B3-BC2A-F7965CD06675}"/>
              </a:ext>
            </a:extLst>
          </p:cNvPr>
          <p:cNvCxnSpPr>
            <a:cxnSpLocks/>
          </p:cNvCxnSpPr>
          <p:nvPr/>
        </p:nvCxnSpPr>
        <p:spPr>
          <a:xfrm flipV="1">
            <a:off x="4406954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3CF0B25-5DC6-B93F-B132-0F06CFCE49DD}"/>
              </a:ext>
            </a:extLst>
          </p:cNvPr>
          <p:cNvCxnSpPr>
            <a:cxnSpLocks/>
          </p:cNvCxnSpPr>
          <p:nvPr/>
        </p:nvCxnSpPr>
        <p:spPr>
          <a:xfrm flipV="1">
            <a:off x="4442158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D284737-81E1-31B4-954B-60ED95CCECD4}"/>
              </a:ext>
            </a:extLst>
          </p:cNvPr>
          <p:cNvCxnSpPr>
            <a:cxnSpLocks/>
          </p:cNvCxnSpPr>
          <p:nvPr/>
        </p:nvCxnSpPr>
        <p:spPr>
          <a:xfrm flipV="1">
            <a:off x="4369112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E24D51A-245F-691D-EB58-6833B572FCCD}"/>
              </a:ext>
            </a:extLst>
          </p:cNvPr>
          <p:cNvCxnSpPr>
            <a:cxnSpLocks/>
          </p:cNvCxnSpPr>
          <p:nvPr/>
        </p:nvCxnSpPr>
        <p:spPr>
          <a:xfrm flipV="1">
            <a:off x="4410397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0ED4C48-D704-5381-3F2B-A1392EDED75B}"/>
              </a:ext>
            </a:extLst>
          </p:cNvPr>
          <p:cNvCxnSpPr>
            <a:cxnSpLocks/>
          </p:cNvCxnSpPr>
          <p:nvPr/>
        </p:nvCxnSpPr>
        <p:spPr>
          <a:xfrm flipV="1">
            <a:off x="4443992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DB10F3A-7B8E-8209-0D60-AFF83F0AC1C4}"/>
              </a:ext>
            </a:extLst>
          </p:cNvPr>
          <p:cNvCxnSpPr>
            <a:cxnSpLocks/>
          </p:cNvCxnSpPr>
          <p:nvPr/>
        </p:nvCxnSpPr>
        <p:spPr>
          <a:xfrm flipV="1">
            <a:off x="4484473" y="1636870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CC66F51-35AD-43B8-A9EB-19831B01CDBC}"/>
              </a:ext>
            </a:extLst>
          </p:cNvPr>
          <p:cNvCxnSpPr/>
          <p:nvPr/>
        </p:nvCxnSpPr>
        <p:spPr>
          <a:xfrm>
            <a:off x="4480258" y="1838226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F2613AF-94D4-96CF-E22D-E04F4DEDF78A}"/>
              </a:ext>
            </a:extLst>
          </p:cNvPr>
          <p:cNvSpPr/>
          <p:nvPr/>
        </p:nvSpPr>
        <p:spPr>
          <a:xfrm>
            <a:off x="4916377" y="1589642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B0A171-1B50-4509-4DC8-A15AB94863FA}"/>
              </a:ext>
            </a:extLst>
          </p:cNvPr>
          <p:cNvSpPr txBox="1"/>
          <p:nvPr/>
        </p:nvSpPr>
        <p:spPr>
          <a:xfrm>
            <a:off x="4561396" y="1594008"/>
            <a:ext cx="34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6C77BD9-4566-0263-0D5E-3A5DB19E1DF5}"/>
              </a:ext>
            </a:extLst>
          </p:cNvPr>
          <p:cNvSpPr/>
          <p:nvPr/>
        </p:nvSpPr>
        <p:spPr>
          <a:xfrm>
            <a:off x="6434963" y="1615242"/>
            <a:ext cx="419100" cy="4191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F267A7F-08AB-2A72-490B-6077A7C3C067}"/>
              </a:ext>
            </a:extLst>
          </p:cNvPr>
          <p:cNvCxnSpPr>
            <a:stCxn id="63" idx="3"/>
          </p:cNvCxnSpPr>
          <p:nvPr/>
        </p:nvCxnSpPr>
        <p:spPr>
          <a:xfrm>
            <a:off x="6854063" y="1824792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371277E-53B8-5BFA-9E63-234F66950EED}"/>
              </a:ext>
            </a:extLst>
          </p:cNvPr>
          <p:cNvCxnSpPr>
            <a:cxnSpLocks/>
          </p:cNvCxnSpPr>
          <p:nvPr/>
        </p:nvCxnSpPr>
        <p:spPr>
          <a:xfrm flipV="1">
            <a:off x="6918357" y="1824792"/>
            <a:ext cx="0" cy="1770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A8F6216-5216-E9B5-D7FA-794D588EAF38}"/>
              </a:ext>
            </a:extLst>
          </p:cNvPr>
          <p:cNvCxnSpPr>
            <a:cxnSpLocks/>
          </p:cNvCxnSpPr>
          <p:nvPr/>
        </p:nvCxnSpPr>
        <p:spPr>
          <a:xfrm flipV="1">
            <a:off x="6918357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0367BFA-C4DA-1D04-026F-7D422DE4E051}"/>
              </a:ext>
            </a:extLst>
          </p:cNvPr>
          <p:cNvCxnSpPr>
            <a:cxnSpLocks/>
          </p:cNvCxnSpPr>
          <p:nvPr/>
        </p:nvCxnSpPr>
        <p:spPr>
          <a:xfrm flipV="1">
            <a:off x="6956200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1536F19-6974-87C5-DF6F-DEAF8C35BC30}"/>
              </a:ext>
            </a:extLst>
          </p:cNvPr>
          <p:cNvCxnSpPr>
            <a:cxnSpLocks/>
          </p:cNvCxnSpPr>
          <p:nvPr/>
        </p:nvCxnSpPr>
        <p:spPr>
          <a:xfrm flipV="1">
            <a:off x="6994042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020D8DE-0747-235F-C3DB-5DC89A30AC62}"/>
              </a:ext>
            </a:extLst>
          </p:cNvPr>
          <p:cNvCxnSpPr>
            <a:cxnSpLocks/>
          </p:cNvCxnSpPr>
          <p:nvPr/>
        </p:nvCxnSpPr>
        <p:spPr>
          <a:xfrm flipV="1">
            <a:off x="7029246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AC96207-FEA5-44B0-ECC7-17305B1BC253}"/>
              </a:ext>
            </a:extLst>
          </p:cNvPr>
          <p:cNvCxnSpPr>
            <a:cxnSpLocks/>
          </p:cNvCxnSpPr>
          <p:nvPr/>
        </p:nvCxnSpPr>
        <p:spPr>
          <a:xfrm flipV="1">
            <a:off x="6956200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979B31D-1980-A847-7C10-AFF707CE2DCD}"/>
              </a:ext>
            </a:extLst>
          </p:cNvPr>
          <p:cNvCxnSpPr>
            <a:cxnSpLocks/>
          </p:cNvCxnSpPr>
          <p:nvPr/>
        </p:nvCxnSpPr>
        <p:spPr>
          <a:xfrm flipV="1">
            <a:off x="6997485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45CF113-6A4E-F424-09AA-37F2A4C12D9B}"/>
              </a:ext>
            </a:extLst>
          </p:cNvPr>
          <p:cNvCxnSpPr>
            <a:cxnSpLocks/>
          </p:cNvCxnSpPr>
          <p:nvPr/>
        </p:nvCxnSpPr>
        <p:spPr>
          <a:xfrm flipV="1">
            <a:off x="7031080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60C502F-199F-ED4F-83AA-712A21ED3079}"/>
              </a:ext>
            </a:extLst>
          </p:cNvPr>
          <p:cNvCxnSpPr>
            <a:cxnSpLocks/>
          </p:cNvCxnSpPr>
          <p:nvPr/>
        </p:nvCxnSpPr>
        <p:spPr>
          <a:xfrm flipV="1">
            <a:off x="7071561" y="1658104"/>
            <a:ext cx="2268" cy="209293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12194E5-B0DF-276A-DB33-975AB8BB8423}"/>
              </a:ext>
            </a:extLst>
          </p:cNvPr>
          <p:cNvCxnSpPr/>
          <p:nvPr/>
        </p:nvCxnSpPr>
        <p:spPr>
          <a:xfrm>
            <a:off x="7067346" y="1859460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5B6B61B5-C629-B7FE-7B51-659EF10ED7D2}"/>
              </a:ext>
            </a:extLst>
          </p:cNvPr>
          <p:cNvSpPr/>
          <p:nvPr/>
        </p:nvSpPr>
        <p:spPr>
          <a:xfrm>
            <a:off x="7143545" y="1615242"/>
            <a:ext cx="419100" cy="41910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BBF0590-E449-212A-770E-A2B03999936B}"/>
              </a:ext>
            </a:extLst>
          </p:cNvPr>
          <p:cNvCxnSpPr>
            <a:stCxn id="75" idx="3"/>
          </p:cNvCxnSpPr>
          <p:nvPr/>
        </p:nvCxnSpPr>
        <p:spPr>
          <a:xfrm>
            <a:off x="7562645" y="1824792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79EDD8E-64B4-C9B7-2BAC-82618EF12FA6}"/>
              </a:ext>
            </a:extLst>
          </p:cNvPr>
          <p:cNvCxnSpPr>
            <a:cxnSpLocks/>
          </p:cNvCxnSpPr>
          <p:nvPr/>
        </p:nvCxnSpPr>
        <p:spPr>
          <a:xfrm flipV="1">
            <a:off x="7626939" y="1824792"/>
            <a:ext cx="0" cy="1770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EF44869-96BB-26ED-6990-40D6C26344FF}"/>
              </a:ext>
            </a:extLst>
          </p:cNvPr>
          <p:cNvCxnSpPr>
            <a:cxnSpLocks/>
          </p:cNvCxnSpPr>
          <p:nvPr/>
        </p:nvCxnSpPr>
        <p:spPr>
          <a:xfrm flipV="1">
            <a:off x="7626939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6D25E79-95A0-2835-B768-936B4E4D8CE0}"/>
              </a:ext>
            </a:extLst>
          </p:cNvPr>
          <p:cNvCxnSpPr>
            <a:cxnSpLocks/>
          </p:cNvCxnSpPr>
          <p:nvPr/>
        </p:nvCxnSpPr>
        <p:spPr>
          <a:xfrm flipV="1">
            <a:off x="7664782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E5F4EC9-9B7D-B389-38E9-E5AEF7AC5AB5}"/>
              </a:ext>
            </a:extLst>
          </p:cNvPr>
          <p:cNvCxnSpPr>
            <a:cxnSpLocks/>
          </p:cNvCxnSpPr>
          <p:nvPr/>
        </p:nvCxnSpPr>
        <p:spPr>
          <a:xfrm flipV="1">
            <a:off x="7702624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CF57301-7C33-D897-8A1A-1E987B2C26DC}"/>
              </a:ext>
            </a:extLst>
          </p:cNvPr>
          <p:cNvCxnSpPr>
            <a:cxnSpLocks/>
          </p:cNvCxnSpPr>
          <p:nvPr/>
        </p:nvCxnSpPr>
        <p:spPr>
          <a:xfrm flipV="1">
            <a:off x="7737828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EE4B7C5-5C1E-C086-745B-B6AEB63C1762}"/>
              </a:ext>
            </a:extLst>
          </p:cNvPr>
          <p:cNvCxnSpPr>
            <a:cxnSpLocks/>
          </p:cNvCxnSpPr>
          <p:nvPr/>
        </p:nvCxnSpPr>
        <p:spPr>
          <a:xfrm flipV="1">
            <a:off x="7664782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1BE81DE-03C5-581A-3812-0BB3E3D16DA3}"/>
              </a:ext>
            </a:extLst>
          </p:cNvPr>
          <p:cNvCxnSpPr>
            <a:cxnSpLocks/>
          </p:cNvCxnSpPr>
          <p:nvPr/>
        </p:nvCxnSpPr>
        <p:spPr>
          <a:xfrm flipV="1">
            <a:off x="7706067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E8707B8-C744-B9C3-FFA7-9029CAAF21C4}"/>
              </a:ext>
            </a:extLst>
          </p:cNvPr>
          <p:cNvCxnSpPr>
            <a:cxnSpLocks/>
          </p:cNvCxnSpPr>
          <p:nvPr/>
        </p:nvCxnSpPr>
        <p:spPr>
          <a:xfrm flipV="1">
            <a:off x="7739662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15CBC6D-9D97-BDA0-CCD2-4F12B453A566}"/>
              </a:ext>
            </a:extLst>
          </p:cNvPr>
          <p:cNvCxnSpPr>
            <a:cxnSpLocks/>
          </p:cNvCxnSpPr>
          <p:nvPr/>
        </p:nvCxnSpPr>
        <p:spPr>
          <a:xfrm flipV="1">
            <a:off x="7780143" y="1658104"/>
            <a:ext cx="2268" cy="209293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DA8E464-2DEA-B6E5-60A0-9CA1CDA31367}"/>
              </a:ext>
            </a:extLst>
          </p:cNvPr>
          <p:cNvCxnSpPr/>
          <p:nvPr/>
        </p:nvCxnSpPr>
        <p:spPr>
          <a:xfrm>
            <a:off x="7775928" y="1859460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7DECB1CA-BB00-8B20-EF30-791D9F24E20E}"/>
              </a:ext>
            </a:extLst>
          </p:cNvPr>
          <p:cNvSpPr/>
          <p:nvPr/>
        </p:nvSpPr>
        <p:spPr>
          <a:xfrm>
            <a:off x="7844438" y="1615241"/>
            <a:ext cx="419100" cy="41910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86FFCEE-8E95-F34C-10F2-2FB7E44E2578}"/>
              </a:ext>
            </a:extLst>
          </p:cNvPr>
          <p:cNvCxnSpPr>
            <a:stCxn id="87" idx="3"/>
          </p:cNvCxnSpPr>
          <p:nvPr/>
        </p:nvCxnSpPr>
        <p:spPr>
          <a:xfrm>
            <a:off x="8263538" y="1824791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652CC38-CD76-278F-74A9-6A323CF5BDDE}"/>
              </a:ext>
            </a:extLst>
          </p:cNvPr>
          <p:cNvCxnSpPr>
            <a:cxnSpLocks/>
          </p:cNvCxnSpPr>
          <p:nvPr/>
        </p:nvCxnSpPr>
        <p:spPr>
          <a:xfrm flipV="1">
            <a:off x="8327832" y="1824791"/>
            <a:ext cx="0" cy="1770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C36FD3C-D563-457F-4CC6-EA99C362D734}"/>
              </a:ext>
            </a:extLst>
          </p:cNvPr>
          <p:cNvCxnSpPr>
            <a:cxnSpLocks/>
          </p:cNvCxnSpPr>
          <p:nvPr/>
        </p:nvCxnSpPr>
        <p:spPr>
          <a:xfrm flipV="1">
            <a:off x="8327832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FFAD4F9-1DE0-2A94-AE73-FD0B7F15E2AB}"/>
              </a:ext>
            </a:extLst>
          </p:cNvPr>
          <p:cNvCxnSpPr>
            <a:cxnSpLocks/>
          </p:cNvCxnSpPr>
          <p:nvPr/>
        </p:nvCxnSpPr>
        <p:spPr>
          <a:xfrm flipV="1">
            <a:off x="8365675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7E36E9C-9005-53E8-EF98-859A89EC5259}"/>
              </a:ext>
            </a:extLst>
          </p:cNvPr>
          <p:cNvCxnSpPr>
            <a:cxnSpLocks/>
          </p:cNvCxnSpPr>
          <p:nvPr/>
        </p:nvCxnSpPr>
        <p:spPr>
          <a:xfrm flipV="1">
            <a:off x="8403517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FC60AE3-B891-AB37-44EA-6546BF2B1AB1}"/>
              </a:ext>
            </a:extLst>
          </p:cNvPr>
          <p:cNvCxnSpPr>
            <a:cxnSpLocks/>
          </p:cNvCxnSpPr>
          <p:nvPr/>
        </p:nvCxnSpPr>
        <p:spPr>
          <a:xfrm flipV="1">
            <a:off x="8438721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A638B34-02A8-C11F-C3E4-0D56AA6FA424}"/>
              </a:ext>
            </a:extLst>
          </p:cNvPr>
          <p:cNvCxnSpPr>
            <a:cxnSpLocks/>
          </p:cNvCxnSpPr>
          <p:nvPr/>
        </p:nvCxnSpPr>
        <p:spPr>
          <a:xfrm flipV="1">
            <a:off x="8365675" y="1668422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F7C3BA5-133D-AAFD-A829-5BF7B72D5A00}"/>
              </a:ext>
            </a:extLst>
          </p:cNvPr>
          <p:cNvCxnSpPr>
            <a:cxnSpLocks/>
          </p:cNvCxnSpPr>
          <p:nvPr/>
        </p:nvCxnSpPr>
        <p:spPr>
          <a:xfrm flipV="1">
            <a:off x="8406960" y="1668422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875E13-ACF6-88AE-9E40-34F100858A25}"/>
              </a:ext>
            </a:extLst>
          </p:cNvPr>
          <p:cNvCxnSpPr>
            <a:cxnSpLocks/>
          </p:cNvCxnSpPr>
          <p:nvPr/>
        </p:nvCxnSpPr>
        <p:spPr>
          <a:xfrm flipV="1">
            <a:off x="8440555" y="1668422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5440D88-02C1-C705-8E46-9A22A6D95125}"/>
              </a:ext>
            </a:extLst>
          </p:cNvPr>
          <p:cNvCxnSpPr>
            <a:cxnSpLocks/>
          </p:cNvCxnSpPr>
          <p:nvPr/>
        </p:nvCxnSpPr>
        <p:spPr>
          <a:xfrm flipV="1">
            <a:off x="8481036" y="1658103"/>
            <a:ext cx="2268" cy="209293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3CF3045-F487-83D6-42FA-D0C178B3EF31}"/>
              </a:ext>
            </a:extLst>
          </p:cNvPr>
          <p:cNvCxnSpPr/>
          <p:nvPr/>
        </p:nvCxnSpPr>
        <p:spPr>
          <a:xfrm>
            <a:off x="8476821" y="1859459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2121129D-614F-9168-D0C9-5B568113CF35}"/>
              </a:ext>
            </a:extLst>
          </p:cNvPr>
          <p:cNvSpPr/>
          <p:nvPr/>
        </p:nvSpPr>
        <p:spPr>
          <a:xfrm>
            <a:off x="8912940" y="1610875"/>
            <a:ext cx="419100" cy="4191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476B96D-665C-1695-548C-E704F34CD135}"/>
              </a:ext>
            </a:extLst>
          </p:cNvPr>
          <p:cNvSpPr txBox="1"/>
          <p:nvPr/>
        </p:nvSpPr>
        <p:spPr>
          <a:xfrm>
            <a:off x="8557959" y="1615241"/>
            <a:ext cx="34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101" name="Arrow: Left-Right 100">
            <a:extLst>
              <a:ext uri="{FF2B5EF4-FFF2-40B4-BE49-F238E27FC236}">
                <a16:creationId xmlns:a16="http://schemas.microsoft.com/office/drawing/2014/main" id="{809359F1-08F1-0437-3016-AA388CD1A591}"/>
              </a:ext>
            </a:extLst>
          </p:cNvPr>
          <p:cNvSpPr/>
          <p:nvPr/>
        </p:nvSpPr>
        <p:spPr>
          <a:xfrm>
            <a:off x="5415842" y="1704020"/>
            <a:ext cx="925677" cy="232807"/>
          </a:xfrm>
          <a:prstGeom prst="left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3330453-2669-30D6-C20D-DB2E277DED39}"/>
              </a:ext>
            </a:extLst>
          </p:cNvPr>
          <p:cNvSpPr txBox="1"/>
          <p:nvPr/>
        </p:nvSpPr>
        <p:spPr>
          <a:xfrm rot="21023043">
            <a:off x="1809167" y="1217984"/>
            <a:ext cx="100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DOF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9207521-7F44-4BF8-0673-FF2DC27CE107}"/>
              </a:ext>
            </a:extLst>
          </p:cNvPr>
          <p:cNvSpPr txBox="1"/>
          <p:nvPr/>
        </p:nvSpPr>
        <p:spPr>
          <a:xfrm rot="21023043">
            <a:off x="8441857" y="1222632"/>
            <a:ext cx="100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DOF</a:t>
            </a:r>
          </a:p>
        </p:txBody>
      </p:sp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FBC4979B-645D-657D-820C-44A82ECB5900}"/>
              </a:ext>
            </a:extLst>
          </p:cNvPr>
          <p:cNvGraphicFramePr>
            <a:graphicFrameLocks noGrp="1"/>
          </p:cNvGraphicFramePr>
          <p:nvPr/>
        </p:nvGraphicFramePr>
        <p:xfrm>
          <a:off x="2437887" y="2343108"/>
          <a:ext cx="2695922" cy="3568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961">
                  <a:extLst>
                    <a:ext uri="{9D8B030D-6E8A-4147-A177-3AD203B41FA5}">
                      <a16:colId xmlns:a16="http://schemas.microsoft.com/office/drawing/2014/main" val="936381622"/>
                    </a:ext>
                  </a:extLst>
                </a:gridCol>
                <a:gridCol w="1347961">
                  <a:extLst>
                    <a:ext uri="{9D8B030D-6E8A-4147-A177-3AD203B41FA5}">
                      <a16:colId xmlns:a16="http://schemas.microsoft.com/office/drawing/2014/main" val="1111947536"/>
                    </a:ext>
                  </a:extLst>
                </a:gridCol>
              </a:tblGrid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Frequency (Hz)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893475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006448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497.95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855760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983.63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070506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1445.10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783177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1870.98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819300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2250.79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36266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2575.18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4558660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2836.16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466818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3027.31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865708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3143.91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4408690"/>
                  </a:ext>
                </a:extLst>
              </a:tr>
            </a:tbl>
          </a:graphicData>
        </a:graphic>
      </p:graphicFrame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29ED34C5-2C5F-4537-ADF1-5E14B8EB847C}"/>
              </a:ext>
            </a:extLst>
          </p:cNvPr>
          <p:cNvGraphicFramePr>
            <a:graphicFrameLocks noGrp="1"/>
          </p:cNvGraphicFramePr>
          <p:nvPr/>
        </p:nvGraphicFramePr>
        <p:xfrm>
          <a:off x="6647238" y="2287051"/>
          <a:ext cx="2695922" cy="35684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7961">
                  <a:extLst>
                    <a:ext uri="{9D8B030D-6E8A-4147-A177-3AD203B41FA5}">
                      <a16:colId xmlns:a16="http://schemas.microsoft.com/office/drawing/2014/main" val="936381622"/>
                    </a:ext>
                  </a:extLst>
                </a:gridCol>
                <a:gridCol w="1347961">
                  <a:extLst>
                    <a:ext uri="{9D8B030D-6E8A-4147-A177-3AD203B41FA5}">
                      <a16:colId xmlns:a16="http://schemas.microsoft.com/office/drawing/2014/main" val="1111947536"/>
                    </a:ext>
                  </a:extLst>
                </a:gridCol>
              </a:tblGrid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Frequency (Hz)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893475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006448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609.86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855760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1204.70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070506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1769.87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783177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2291.47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819300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2756.64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36266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3153.94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4558660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3473.57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466818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3707.68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865708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3850.49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4408690"/>
                  </a:ext>
                </a:extLst>
              </a:tr>
            </a:tbl>
          </a:graphicData>
        </a:graphic>
      </p:graphicFrame>
      <p:sp>
        <p:nvSpPr>
          <p:cNvPr id="106" name="Rectangle 105">
            <a:extLst>
              <a:ext uri="{FF2B5EF4-FFF2-40B4-BE49-F238E27FC236}">
                <a16:creationId xmlns:a16="http://schemas.microsoft.com/office/drawing/2014/main" id="{7D73F1E1-2A9B-8A2E-7100-3E4B07C74BD3}"/>
              </a:ext>
            </a:extLst>
          </p:cNvPr>
          <p:cNvSpPr/>
          <p:nvPr/>
        </p:nvSpPr>
        <p:spPr>
          <a:xfrm>
            <a:off x="548544" y="1799192"/>
            <a:ext cx="1451081" cy="662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baseline="-25000"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=10 kg</a:t>
            </a:r>
          </a:p>
          <a:p>
            <a:r>
              <a:rPr lang="en-US" dirty="0">
                <a:solidFill>
                  <a:schemeClr val="tx1"/>
                </a:solidFill>
              </a:rPr>
              <a:t>k</a:t>
            </a:r>
            <a:r>
              <a:rPr lang="en-US" baseline="-25000"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= 1e9 N/m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6719FFA-B915-FECB-2ECE-00A9706F664D}"/>
              </a:ext>
            </a:extLst>
          </p:cNvPr>
          <p:cNvSpPr/>
          <p:nvPr/>
        </p:nvSpPr>
        <p:spPr>
          <a:xfrm>
            <a:off x="9808822" y="1820425"/>
            <a:ext cx="1601389" cy="662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baseline="-25000" dirty="0">
                <a:solidFill>
                  <a:schemeClr val="tx1"/>
                </a:solidFill>
              </a:rPr>
              <a:t>b</a:t>
            </a:r>
            <a:r>
              <a:rPr lang="en-US" dirty="0">
                <a:solidFill>
                  <a:schemeClr val="tx1"/>
                </a:solidFill>
              </a:rPr>
              <a:t>=8 kg</a:t>
            </a:r>
          </a:p>
          <a:p>
            <a:r>
              <a:rPr lang="en-US" dirty="0">
                <a:solidFill>
                  <a:schemeClr val="tx1"/>
                </a:solidFill>
              </a:rPr>
              <a:t>k</a:t>
            </a:r>
            <a:r>
              <a:rPr lang="en-US" baseline="-25000" dirty="0">
                <a:solidFill>
                  <a:schemeClr val="tx1"/>
                </a:solidFill>
              </a:rPr>
              <a:t>b</a:t>
            </a:r>
            <a:r>
              <a:rPr lang="en-US" dirty="0">
                <a:solidFill>
                  <a:schemeClr val="tx1"/>
                </a:solidFill>
              </a:rPr>
              <a:t>= 1.2e9 N/m</a:t>
            </a:r>
          </a:p>
        </p:txBody>
      </p:sp>
    </p:spTree>
    <p:extLst>
      <p:ext uri="{BB962C8B-B14F-4D97-AF65-F5344CB8AC3E}">
        <p14:creationId xmlns:p14="http://schemas.microsoft.com/office/powerpoint/2010/main" val="864174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45223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look at a bigger example (10 DOF systems)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939D1-4795-8DC4-9012-2DB7A573EE9A}"/>
              </a:ext>
            </a:extLst>
          </p:cNvPr>
          <p:cNvSpPr/>
          <p:nvPr/>
        </p:nvSpPr>
        <p:spPr>
          <a:xfrm>
            <a:off x="2438400" y="1594009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E013F5-C4C8-566E-C51C-35CD8D6AA78C}"/>
              </a:ext>
            </a:extLst>
          </p:cNvPr>
          <p:cNvCxnSpPr>
            <a:stCxn id="6" idx="3"/>
          </p:cNvCxnSpPr>
          <p:nvPr/>
        </p:nvCxnSpPr>
        <p:spPr>
          <a:xfrm>
            <a:off x="2857500" y="1803559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D64BB5-6FDF-DDA9-DFFF-BC276FD4F409}"/>
              </a:ext>
            </a:extLst>
          </p:cNvPr>
          <p:cNvCxnSpPr>
            <a:cxnSpLocks/>
          </p:cNvCxnSpPr>
          <p:nvPr/>
        </p:nvCxnSpPr>
        <p:spPr>
          <a:xfrm flipV="1">
            <a:off x="2921794" y="1803559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4D8C94-7346-123C-339B-A2B7B07C4518}"/>
              </a:ext>
            </a:extLst>
          </p:cNvPr>
          <p:cNvCxnSpPr>
            <a:cxnSpLocks/>
          </p:cNvCxnSpPr>
          <p:nvPr/>
        </p:nvCxnSpPr>
        <p:spPr>
          <a:xfrm flipV="1">
            <a:off x="2921794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BF3733-BF0C-8277-B05F-11C00B400097}"/>
              </a:ext>
            </a:extLst>
          </p:cNvPr>
          <p:cNvCxnSpPr>
            <a:cxnSpLocks/>
          </p:cNvCxnSpPr>
          <p:nvPr/>
        </p:nvCxnSpPr>
        <p:spPr>
          <a:xfrm flipV="1">
            <a:off x="2959637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590F41-2C51-7FEB-36EA-86B1AAA24190}"/>
              </a:ext>
            </a:extLst>
          </p:cNvPr>
          <p:cNvCxnSpPr>
            <a:cxnSpLocks/>
          </p:cNvCxnSpPr>
          <p:nvPr/>
        </p:nvCxnSpPr>
        <p:spPr>
          <a:xfrm flipV="1">
            <a:off x="2997479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3DA60A-491B-380B-8EC0-5D228F0E6480}"/>
              </a:ext>
            </a:extLst>
          </p:cNvPr>
          <p:cNvCxnSpPr>
            <a:cxnSpLocks/>
          </p:cNvCxnSpPr>
          <p:nvPr/>
        </p:nvCxnSpPr>
        <p:spPr>
          <a:xfrm flipV="1">
            <a:off x="3032683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8340817-5BFA-0035-ACE7-B1CFAD198394}"/>
              </a:ext>
            </a:extLst>
          </p:cNvPr>
          <p:cNvCxnSpPr>
            <a:cxnSpLocks/>
          </p:cNvCxnSpPr>
          <p:nvPr/>
        </p:nvCxnSpPr>
        <p:spPr>
          <a:xfrm flipV="1">
            <a:off x="2959637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E2D06E-BF98-7862-5D25-E0CEBEF011C8}"/>
              </a:ext>
            </a:extLst>
          </p:cNvPr>
          <p:cNvCxnSpPr>
            <a:cxnSpLocks/>
          </p:cNvCxnSpPr>
          <p:nvPr/>
        </p:nvCxnSpPr>
        <p:spPr>
          <a:xfrm flipV="1">
            <a:off x="3000922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426D65-2ED4-EE1D-E92A-2AEA70A4112A}"/>
              </a:ext>
            </a:extLst>
          </p:cNvPr>
          <p:cNvCxnSpPr>
            <a:cxnSpLocks/>
          </p:cNvCxnSpPr>
          <p:nvPr/>
        </p:nvCxnSpPr>
        <p:spPr>
          <a:xfrm flipV="1">
            <a:off x="3034517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D7EBC2-E343-BB13-8DEB-31AD808A8AF4}"/>
              </a:ext>
            </a:extLst>
          </p:cNvPr>
          <p:cNvCxnSpPr>
            <a:cxnSpLocks/>
          </p:cNvCxnSpPr>
          <p:nvPr/>
        </p:nvCxnSpPr>
        <p:spPr>
          <a:xfrm flipV="1">
            <a:off x="3074998" y="1636871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AD6244-BCA3-D831-6112-06481A0FF5E5}"/>
              </a:ext>
            </a:extLst>
          </p:cNvPr>
          <p:cNvCxnSpPr/>
          <p:nvPr/>
        </p:nvCxnSpPr>
        <p:spPr>
          <a:xfrm>
            <a:off x="3070783" y="1838227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FD13AE2-0D3F-0F48-4805-E39BA160B250}"/>
              </a:ext>
            </a:extLst>
          </p:cNvPr>
          <p:cNvSpPr/>
          <p:nvPr/>
        </p:nvSpPr>
        <p:spPr>
          <a:xfrm>
            <a:off x="3146982" y="1594009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CB6C88-F8B6-C0E6-A75D-2DB60340B99E}"/>
              </a:ext>
            </a:extLst>
          </p:cNvPr>
          <p:cNvCxnSpPr>
            <a:stCxn id="26" idx="3"/>
          </p:cNvCxnSpPr>
          <p:nvPr/>
        </p:nvCxnSpPr>
        <p:spPr>
          <a:xfrm>
            <a:off x="3566082" y="1803559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FC9A154-7F37-72DD-8140-9852E4D5C38B}"/>
              </a:ext>
            </a:extLst>
          </p:cNvPr>
          <p:cNvCxnSpPr>
            <a:cxnSpLocks/>
          </p:cNvCxnSpPr>
          <p:nvPr/>
        </p:nvCxnSpPr>
        <p:spPr>
          <a:xfrm flipV="1">
            <a:off x="3630376" y="1803559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C996EF-5B48-FD92-6864-60C54631F35B}"/>
              </a:ext>
            </a:extLst>
          </p:cNvPr>
          <p:cNvCxnSpPr>
            <a:cxnSpLocks/>
          </p:cNvCxnSpPr>
          <p:nvPr/>
        </p:nvCxnSpPr>
        <p:spPr>
          <a:xfrm flipV="1">
            <a:off x="3630376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B3740F7-2DED-A876-F9AC-6CB4EB694A3D}"/>
              </a:ext>
            </a:extLst>
          </p:cNvPr>
          <p:cNvCxnSpPr>
            <a:cxnSpLocks/>
          </p:cNvCxnSpPr>
          <p:nvPr/>
        </p:nvCxnSpPr>
        <p:spPr>
          <a:xfrm flipV="1">
            <a:off x="3668219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12EAB18-7471-1541-4D86-EE36B58B30D5}"/>
              </a:ext>
            </a:extLst>
          </p:cNvPr>
          <p:cNvCxnSpPr>
            <a:cxnSpLocks/>
          </p:cNvCxnSpPr>
          <p:nvPr/>
        </p:nvCxnSpPr>
        <p:spPr>
          <a:xfrm flipV="1">
            <a:off x="3706061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AAC384-3F4C-145A-29FC-F123A66264ED}"/>
              </a:ext>
            </a:extLst>
          </p:cNvPr>
          <p:cNvCxnSpPr>
            <a:cxnSpLocks/>
          </p:cNvCxnSpPr>
          <p:nvPr/>
        </p:nvCxnSpPr>
        <p:spPr>
          <a:xfrm flipV="1">
            <a:off x="3741265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F690F18-BD1C-5134-32AB-E262A117346C}"/>
              </a:ext>
            </a:extLst>
          </p:cNvPr>
          <p:cNvCxnSpPr>
            <a:cxnSpLocks/>
          </p:cNvCxnSpPr>
          <p:nvPr/>
        </p:nvCxnSpPr>
        <p:spPr>
          <a:xfrm flipV="1">
            <a:off x="3668219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820BE44-1AB3-4C4A-35BD-14C998DDA43A}"/>
              </a:ext>
            </a:extLst>
          </p:cNvPr>
          <p:cNvCxnSpPr>
            <a:cxnSpLocks/>
          </p:cNvCxnSpPr>
          <p:nvPr/>
        </p:nvCxnSpPr>
        <p:spPr>
          <a:xfrm flipV="1">
            <a:off x="3709504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CF56CC-1660-6B4F-E21E-0BC440F309F1}"/>
              </a:ext>
            </a:extLst>
          </p:cNvPr>
          <p:cNvCxnSpPr>
            <a:cxnSpLocks/>
          </p:cNvCxnSpPr>
          <p:nvPr/>
        </p:nvCxnSpPr>
        <p:spPr>
          <a:xfrm flipV="1">
            <a:off x="3743099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793BF8-FC46-2A77-D13B-2286F741A6BF}"/>
              </a:ext>
            </a:extLst>
          </p:cNvPr>
          <p:cNvCxnSpPr>
            <a:cxnSpLocks/>
          </p:cNvCxnSpPr>
          <p:nvPr/>
        </p:nvCxnSpPr>
        <p:spPr>
          <a:xfrm flipV="1">
            <a:off x="3783580" y="1636871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C7CC446-FBB4-478A-CC89-CE5CA0976C3E}"/>
              </a:ext>
            </a:extLst>
          </p:cNvPr>
          <p:cNvCxnSpPr/>
          <p:nvPr/>
        </p:nvCxnSpPr>
        <p:spPr>
          <a:xfrm>
            <a:off x="3779365" y="1838227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1CBFABE-F196-8230-B03E-83DA80119F29}"/>
              </a:ext>
            </a:extLst>
          </p:cNvPr>
          <p:cNvSpPr/>
          <p:nvPr/>
        </p:nvSpPr>
        <p:spPr>
          <a:xfrm>
            <a:off x="3847875" y="1594008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14773B-F0F3-DF3C-96F9-02B3BEE6F239}"/>
              </a:ext>
            </a:extLst>
          </p:cNvPr>
          <p:cNvCxnSpPr>
            <a:stCxn id="38" idx="3"/>
          </p:cNvCxnSpPr>
          <p:nvPr/>
        </p:nvCxnSpPr>
        <p:spPr>
          <a:xfrm>
            <a:off x="4266975" y="1803558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8550EA3-701C-B462-2CB2-CC16A70B1E57}"/>
              </a:ext>
            </a:extLst>
          </p:cNvPr>
          <p:cNvCxnSpPr>
            <a:cxnSpLocks/>
          </p:cNvCxnSpPr>
          <p:nvPr/>
        </p:nvCxnSpPr>
        <p:spPr>
          <a:xfrm flipV="1">
            <a:off x="4331269" y="1803558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E078C5-1BB5-4F05-8824-F5F806ED13B9}"/>
              </a:ext>
            </a:extLst>
          </p:cNvPr>
          <p:cNvCxnSpPr>
            <a:cxnSpLocks/>
          </p:cNvCxnSpPr>
          <p:nvPr/>
        </p:nvCxnSpPr>
        <p:spPr>
          <a:xfrm flipV="1">
            <a:off x="4331269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8B098DE-7756-A306-5225-1B8C00A5055D}"/>
              </a:ext>
            </a:extLst>
          </p:cNvPr>
          <p:cNvCxnSpPr>
            <a:cxnSpLocks/>
          </p:cNvCxnSpPr>
          <p:nvPr/>
        </p:nvCxnSpPr>
        <p:spPr>
          <a:xfrm flipV="1">
            <a:off x="4369112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3344914-0485-96B3-BC2A-F7965CD06675}"/>
              </a:ext>
            </a:extLst>
          </p:cNvPr>
          <p:cNvCxnSpPr>
            <a:cxnSpLocks/>
          </p:cNvCxnSpPr>
          <p:nvPr/>
        </p:nvCxnSpPr>
        <p:spPr>
          <a:xfrm flipV="1">
            <a:off x="4406954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3CF0B25-5DC6-B93F-B132-0F06CFCE49DD}"/>
              </a:ext>
            </a:extLst>
          </p:cNvPr>
          <p:cNvCxnSpPr>
            <a:cxnSpLocks/>
          </p:cNvCxnSpPr>
          <p:nvPr/>
        </p:nvCxnSpPr>
        <p:spPr>
          <a:xfrm flipV="1">
            <a:off x="4442158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D284737-81E1-31B4-954B-60ED95CCECD4}"/>
              </a:ext>
            </a:extLst>
          </p:cNvPr>
          <p:cNvCxnSpPr>
            <a:cxnSpLocks/>
          </p:cNvCxnSpPr>
          <p:nvPr/>
        </p:nvCxnSpPr>
        <p:spPr>
          <a:xfrm flipV="1">
            <a:off x="4369112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E24D51A-245F-691D-EB58-6833B572FCCD}"/>
              </a:ext>
            </a:extLst>
          </p:cNvPr>
          <p:cNvCxnSpPr>
            <a:cxnSpLocks/>
          </p:cNvCxnSpPr>
          <p:nvPr/>
        </p:nvCxnSpPr>
        <p:spPr>
          <a:xfrm flipV="1">
            <a:off x="4410397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0ED4C48-D704-5381-3F2B-A1392EDED75B}"/>
              </a:ext>
            </a:extLst>
          </p:cNvPr>
          <p:cNvCxnSpPr>
            <a:cxnSpLocks/>
          </p:cNvCxnSpPr>
          <p:nvPr/>
        </p:nvCxnSpPr>
        <p:spPr>
          <a:xfrm flipV="1">
            <a:off x="4443992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DB10F3A-7B8E-8209-0D60-AFF83F0AC1C4}"/>
              </a:ext>
            </a:extLst>
          </p:cNvPr>
          <p:cNvCxnSpPr>
            <a:cxnSpLocks/>
          </p:cNvCxnSpPr>
          <p:nvPr/>
        </p:nvCxnSpPr>
        <p:spPr>
          <a:xfrm flipV="1">
            <a:off x="4484473" y="1636870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CC66F51-35AD-43B8-A9EB-19831B01CDBC}"/>
              </a:ext>
            </a:extLst>
          </p:cNvPr>
          <p:cNvCxnSpPr/>
          <p:nvPr/>
        </p:nvCxnSpPr>
        <p:spPr>
          <a:xfrm>
            <a:off x="4480258" y="1838226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F2613AF-94D4-96CF-E22D-E04F4DEDF78A}"/>
              </a:ext>
            </a:extLst>
          </p:cNvPr>
          <p:cNvSpPr/>
          <p:nvPr/>
        </p:nvSpPr>
        <p:spPr>
          <a:xfrm>
            <a:off x="4916377" y="1589642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B0A171-1B50-4509-4DC8-A15AB94863FA}"/>
              </a:ext>
            </a:extLst>
          </p:cNvPr>
          <p:cNvSpPr txBox="1"/>
          <p:nvPr/>
        </p:nvSpPr>
        <p:spPr>
          <a:xfrm>
            <a:off x="4561396" y="1594008"/>
            <a:ext cx="34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6C77BD9-4566-0263-0D5E-3A5DB19E1DF5}"/>
              </a:ext>
            </a:extLst>
          </p:cNvPr>
          <p:cNvSpPr/>
          <p:nvPr/>
        </p:nvSpPr>
        <p:spPr>
          <a:xfrm>
            <a:off x="6434963" y="1615242"/>
            <a:ext cx="419100" cy="4191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F267A7F-08AB-2A72-490B-6077A7C3C067}"/>
              </a:ext>
            </a:extLst>
          </p:cNvPr>
          <p:cNvCxnSpPr>
            <a:stCxn id="63" idx="3"/>
          </p:cNvCxnSpPr>
          <p:nvPr/>
        </p:nvCxnSpPr>
        <p:spPr>
          <a:xfrm>
            <a:off x="6854063" y="1824792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371277E-53B8-5BFA-9E63-234F66950EED}"/>
              </a:ext>
            </a:extLst>
          </p:cNvPr>
          <p:cNvCxnSpPr>
            <a:cxnSpLocks/>
          </p:cNvCxnSpPr>
          <p:nvPr/>
        </p:nvCxnSpPr>
        <p:spPr>
          <a:xfrm flipV="1">
            <a:off x="6918357" y="1824792"/>
            <a:ext cx="0" cy="1770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A8F6216-5216-E9B5-D7FA-794D588EAF38}"/>
              </a:ext>
            </a:extLst>
          </p:cNvPr>
          <p:cNvCxnSpPr>
            <a:cxnSpLocks/>
          </p:cNvCxnSpPr>
          <p:nvPr/>
        </p:nvCxnSpPr>
        <p:spPr>
          <a:xfrm flipV="1">
            <a:off x="6918357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0367BFA-C4DA-1D04-026F-7D422DE4E051}"/>
              </a:ext>
            </a:extLst>
          </p:cNvPr>
          <p:cNvCxnSpPr>
            <a:cxnSpLocks/>
          </p:cNvCxnSpPr>
          <p:nvPr/>
        </p:nvCxnSpPr>
        <p:spPr>
          <a:xfrm flipV="1">
            <a:off x="6956200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1536F19-6974-87C5-DF6F-DEAF8C35BC30}"/>
              </a:ext>
            </a:extLst>
          </p:cNvPr>
          <p:cNvCxnSpPr>
            <a:cxnSpLocks/>
          </p:cNvCxnSpPr>
          <p:nvPr/>
        </p:nvCxnSpPr>
        <p:spPr>
          <a:xfrm flipV="1">
            <a:off x="6994042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020D8DE-0747-235F-C3DB-5DC89A30AC62}"/>
              </a:ext>
            </a:extLst>
          </p:cNvPr>
          <p:cNvCxnSpPr>
            <a:cxnSpLocks/>
          </p:cNvCxnSpPr>
          <p:nvPr/>
        </p:nvCxnSpPr>
        <p:spPr>
          <a:xfrm flipV="1">
            <a:off x="7029246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AC96207-FEA5-44B0-ECC7-17305B1BC253}"/>
              </a:ext>
            </a:extLst>
          </p:cNvPr>
          <p:cNvCxnSpPr>
            <a:cxnSpLocks/>
          </p:cNvCxnSpPr>
          <p:nvPr/>
        </p:nvCxnSpPr>
        <p:spPr>
          <a:xfrm flipV="1">
            <a:off x="6956200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979B31D-1980-A847-7C10-AFF707CE2DCD}"/>
              </a:ext>
            </a:extLst>
          </p:cNvPr>
          <p:cNvCxnSpPr>
            <a:cxnSpLocks/>
          </p:cNvCxnSpPr>
          <p:nvPr/>
        </p:nvCxnSpPr>
        <p:spPr>
          <a:xfrm flipV="1">
            <a:off x="6997485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45CF113-6A4E-F424-09AA-37F2A4C12D9B}"/>
              </a:ext>
            </a:extLst>
          </p:cNvPr>
          <p:cNvCxnSpPr>
            <a:cxnSpLocks/>
          </p:cNvCxnSpPr>
          <p:nvPr/>
        </p:nvCxnSpPr>
        <p:spPr>
          <a:xfrm flipV="1">
            <a:off x="7031080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60C502F-199F-ED4F-83AA-712A21ED3079}"/>
              </a:ext>
            </a:extLst>
          </p:cNvPr>
          <p:cNvCxnSpPr>
            <a:cxnSpLocks/>
          </p:cNvCxnSpPr>
          <p:nvPr/>
        </p:nvCxnSpPr>
        <p:spPr>
          <a:xfrm flipV="1">
            <a:off x="7071561" y="1658104"/>
            <a:ext cx="2268" cy="209293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12194E5-B0DF-276A-DB33-975AB8BB8423}"/>
              </a:ext>
            </a:extLst>
          </p:cNvPr>
          <p:cNvCxnSpPr/>
          <p:nvPr/>
        </p:nvCxnSpPr>
        <p:spPr>
          <a:xfrm>
            <a:off x="7067346" y="1859460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5B6B61B5-C629-B7FE-7B51-659EF10ED7D2}"/>
              </a:ext>
            </a:extLst>
          </p:cNvPr>
          <p:cNvSpPr/>
          <p:nvPr/>
        </p:nvSpPr>
        <p:spPr>
          <a:xfrm>
            <a:off x="7143545" y="1615242"/>
            <a:ext cx="419100" cy="41910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BBF0590-E449-212A-770E-A2B03999936B}"/>
              </a:ext>
            </a:extLst>
          </p:cNvPr>
          <p:cNvCxnSpPr>
            <a:stCxn id="75" idx="3"/>
          </p:cNvCxnSpPr>
          <p:nvPr/>
        </p:nvCxnSpPr>
        <p:spPr>
          <a:xfrm>
            <a:off x="7562645" y="1824792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79EDD8E-64B4-C9B7-2BAC-82618EF12FA6}"/>
              </a:ext>
            </a:extLst>
          </p:cNvPr>
          <p:cNvCxnSpPr>
            <a:cxnSpLocks/>
          </p:cNvCxnSpPr>
          <p:nvPr/>
        </p:nvCxnSpPr>
        <p:spPr>
          <a:xfrm flipV="1">
            <a:off x="7626939" y="1824792"/>
            <a:ext cx="0" cy="1770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EF44869-96BB-26ED-6990-40D6C26344FF}"/>
              </a:ext>
            </a:extLst>
          </p:cNvPr>
          <p:cNvCxnSpPr>
            <a:cxnSpLocks/>
          </p:cNvCxnSpPr>
          <p:nvPr/>
        </p:nvCxnSpPr>
        <p:spPr>
          <a:xfrm flipV="1">
            <a:off x="7626939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6D25E79-95A0-2835-B768-936B4E4D8CE0}"/>
              </a:ext>
            </a:extLst>
          </p:cNvPr>
          <p:cNvCxnSpPr>
            <a:cxnSpLocks/>
          </p:cNvCxnSpPr>
          <p:nvPr/>
        </p:nvCxnSpPr>
        <p:spPr>
          <a:xfrm flipV="1">
            <a:off x="7664782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E5F4EC9-9B7D-B389-38E9-E5AEF7AC5AB5}"/>
              </a:ext>
            </a:extLst>
          </p:cNvPr>
          <p:cNvCxnSpPr>
            <a:cxnSpLocks/>
          </p:cNvCxnSpPr>
          <p:nvPr/>
        </p:nvCxnSpPr>
        <p:spPr>
          <a:xfrm flipV="1">
            <a:off x="7702624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CF57301-7C33-D897-8A1A-1E987B2C26DC}"/>
              </a:ext>
            </a:extLst>
          </p:cNvPr>
          <p:cNvCxnSpPr>
            <a:cxnSpLocks/>
          </p:cNvCxnSpPr>
          <p:nvPr/>
        </p:nvCxnSpPr>
        <p:spPr>
          <a:xfrm flipV="1">
            <a:off x="7737828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EE4B7C5-5C1E-C086-745B-B6AEB63C1762}"/>
              </a:ext>
            </a:extLst>
          </p:cNvPr>
          <p:cNvCxnSpPr>
            <a:cxnSpLocks/>
          </p:cNvCxnSpPr>
          <p:nvPr/>
        </p:nvCxnSpPr>
        <p:spPr>
          <a:xfrm flipV="1">
            <a:off x="7664782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1BE81DE-03C5-581A-3812-0BB3E3D16DA3}"/>
              </a:ext>
            </a:extLst>
          </p:cNvPr>
          <p:cNvCxnSpPr>
            <a:cxnSpLocks/>
          </p:cNvCxnSpPr>
          <p:nvPr/>
        </p:nvCxnSpPr>
        <p:spPr>
          <a:xfrm flipV="1">
            <a:off x="7706067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E8707B8-C744-B9C3-FFA7-9029CAAF21C4}"/>
              </a:ext>
            </a:extLst>
          </p:cNvPr>
          <p:cNvCxnSpPr>
            <a:cxnSpLocks/>
          </p:cNvCxnSpPr>
          <p:nvPr/>
        </p:nvCxnSpPr>
        <p:spPr>
          <a:xfrm flipV="1">
            <a:off x="7739662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15CBC6D-9D97-BDA0-CCD2-4F12B453A566}"/>
              </a:ext>
            </a:extLst>
          </p:cNvPr>
          <p:cNvCxnSpPr>
            <a:cxnSpLocks/>
          </p:cNvCxnSpPr>
          <p:nvPr/>
        </p:nvCxnSpPr>
        <p:spPr>
          <a:xfrm flipV="1">
            <a:off x="7780143" y="1658104"/>
            <a:ext cx="2268" cy="209293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DA8E464-2DEA-B6E5-60A0-9CA1CDA31367}"/>
              </a:ext>
            </a:extLst>
          </p:cNvPr>
          <p:cNvCxnSpPr/>
          <p:nvPr/>
        </p:nvCxnSpPr>
        <p:spPr>
          <a:xfrm>
            <a:off x="7775928" y="1859460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7DECB1CA-BB00-8B20-EF30-791D9F24E20E}"/>
              </a:ext>
            </a:extLst>
          </p:cNvPr>
          <p:cNvSpPr/>
          <p:nvPr/>
        </p:nvSpPr>
        <p:spPr>
          <a:xfrm>
            <a:off x="7844438" y="1615241"/>
            <a:ext cx="419100" cy="41910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86FFCEE-8E95-F34C-10F2-2FB7E44E2578}"/>
              </a:ext>
            </a:extLst>
          </p:cNvPr>
          <p:cNvCxnSpPr>
            <a:stCxn id="87" idx="3"/>
          </p:cNvCxnSpPr>
          <p:nvPr/>
        </p:nvCxnSpPr>
        <p:spPr>
          <a:xfrm>
            <a:off x="8263538" y="1824791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652CC38-CD76-278F-74A9-6A323CF5BDDE}"/>
              </a:ext>
            </a:extLst>
          </p:cNvPr>
          <p:cNvCxnSpPr>
            <a:cxnSpLocks/>
          </p:cNvCxnSpPr>
          <p:nvPr/>
        </p:nvCxnSpPr>
        <p:spPr>
          <a:xfrm flipV="1">
            <a:off x="8327832" y="1824791"/>
            <a:ext cx="0" cy="1770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C36FD3C-D563-457F-4CC6-EA99C362D734}"/>
              </a:ext>
            </a:extLst>
          </p:cNvPr>
          <p:cNvCxnSpPr>
            <a:cxnSpLocks/>
          </p:cNvCxnSpPr>
          <p:nvPr/>
        </p:nvCxnSpPr>
        <p:spPr>
          <a:xfrm flipV="1">
            <a:off x="8327832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FFAD4F9-1DE0-2A94-AE73-FD0B7F15E2AB}"/>
              </a:ext>
            </a:extLst>
          </p:cNvPr>
          <p:cNvCxnSpPr>
            <a:cxnSpLocks/>
          </p:cNvCxnSpPr>
          <p:nvPr/>
        </p:nvCxnSpPr>
        <p:spPr>
          <a:xfrm flipV="1">
            <a:off x="8365675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7E36E9C-9005-53E8-EF98-859A89EC5259}"/>
              </a:ext>
            </a:extLst>
          </p:cNvPr>
          <p:cNvCxnSpPr>
            <a:cxnSpLocks/>
          </p:cNvCxnSpPr>
          <p:nvPr/>
        </p:nvCxnSpPr>
        <p:spPr>
          <a:xfrm flipV="1">
            <a:off x="8403517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FC60AE3-B891-AB37-44EA-6546BF2B1AB1}"/>
              </a:ext>
            </a:extLst>
          </p:cNvPr>
          <p:cNvCxnSpPr>
            <a:cxnSpLocks/>
          </p:cNvCxnSpPr>
          <p:nvPr/>
        </p:nvCxnSpPr>
        <p:spPr>
          <a:xfrm flipV="1">
            <a:off x="8438721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A638B34-02A8-C11F-C3E4-0D56AA6FA424}"/>
              </a:ext>
            </a:extLst>
          </p:cNvPr>
          <p:cNvCxnSpPr>
            <a:cxnSpLocks/>
          </p:cNvCxnSpPr>
          <p:nvPr/>
        </p:nvCxnSpPr>
        <p:spPr>
          <a:xfrm flipV="1">
            <a:off x="8365675" y="1668422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F7C3BA5-133D-AAFD-A829-5BF7B72D5A00}"/>
              </a:ext>
            </a:extLst>
          </p:cNvPr>
          <p:cNvCxnSpPr>
            <a:cxnSpLocks/>
          </p:cNvCxnSpPr>
          <p:nvPr/>
        </p:nvCxnSpPr>
        <p:spPr>
          <a:xfrm flipV="1">
            <a:off x="8406960" y="1668422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875E13-ACF6-88AE-9E40-34F100858A25}"/>
              </a:ext>
            </a:extLst>
          </p:cNvPr>
          <p:cNvCxnSpPr>
            <a:cxnSpLocks/>
          </p:cNvCxnSpPr>
          <p:nvPr/>
        </p:nvCxnSpPr>
        <p:spPr>
          <a:xfrm flipV="1">
            <a:off x="8440555" y="1668422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5440D88-02C1-C705-8E46-9A22A6D95125}"/>
              </a:ext>
            </a:extLst>
          </p:cNvPr>
          <p:cNvCxnSpPr>
            <a:cxnSpLocks/>
          </p:cNvCxnSpPr>
          <p:nvPr/>
        </p:nvCxnSpPr>
        <p:spPr>
          <a:xfrm flipV="1">
            <a:off x="8481036" y="1658103"/>
            <a:ext cx="2268" cy="209293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3CF3045-F487-83D6-42FA-D0C178B3EF31}"/>
              </a:ext>
            </a:extLst>
          </p:cNvPr>
          <p:cNvCxnSpPr/>
          <p:nvPr/>
        </p:nvCxnSpPr>
        <p:spPr>
          <a:xfrm>
            <a:off x="8476821" y="1859459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2121129D-614F-9168-D0C9-5B568113CF35}"/>
              </a:ext>
            </a:extLst>
          </p:cNvPr>
          <p:cNvSpPr/>
          <p:nvPr/>
        </p:nvSpPr>
        <p:spPr>
          <a:xfrm>
            <a:off x="8912940" y="1610875"/>
            <a:ext cx="419100" cy="4191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476B96D-665C-1695-548C-E704F34CD135}"/>
              </a:ext>
            </a:extLst>
          </p:cNvPr>
          <p:cNvSpPr txBox="1"/>
          <p:nvPr/>
        </p:nvSpPr>
        <p:spPr>
          <a:xfrm>
            <a:off x="8557959" y="1615241"/>
            <a:ext cx="34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101" name="Arrow: Left-Right 100">
            <a:extLst>
              <a:ext uri="{FF2B5EF4-FFF2-40B4-BE49-F238E27FC236}">
                <a16:creationId xmlns:a16="http://schemas.microsoft.com/office/drawing/2014/main" id="{809359F1-08F1-0437-3016-AA388CD1A591}"/>
              </a:ext>
            </a:extLst>
          </p:cNvPr>
          <p:cNvSpPr/>
          <p:nvPr/>
        </p:nvSpPr>
        <p:spPr>
          <a:xfrm>
            <a:off x="5415842" y="1704020"/>
            <a:ext cx="925677" cy="232807"/>
          </a:xfrm>
          <a:prstGeom prst="left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3330453-2669-30D6-C20D-DB2E277DED39}"/>
              </a:ext>
            </a:extLst>
          </p:cNvPr>
          <p:cNvSpPr txBox="1"/>
          <p:nvPr/>
        </p:nvSpPr>
        <p:spPr>
          <a:xfrm rot="21023043">
            <a:off x="1809167" y="1217984"/>
            <a:ext cx="100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DOF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9207521-7F44-4BF8-0673-FF2DC27CE107}"/>
              </a:ext>
            </a:extLst>
          </p:cNvPr>
          <p:cNvSpPr txBox="1"/>
          <p:nvPr/>
        </p:nvSpPr>
        <p:spPr>
          <a:xfrm rot="21023043">
            <a:off x="8441857" y="1222632"/>
            <a:ext cx="100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DOF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D73F1E1-2A9B-8A2E-7100-3E4B07C74BD3}"/>
              </a:ext>
            </a:extLst>
          </p:cNvPr>
          <p:cNvSpPr/>
          <p:nvPr/>
        </p:nvSpPr>
        <p:spPr>
          <a:xfrm>
            <a:off x="548544" y="1799192"/>
            <a:ext cx="1451081" cy="662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baseline="-25000"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=10 kg</a:t>
            </a:r>
          </a:p>
          <a:p>
            <a:r>
              <a:rPr lang="en-US" dirty="0">
                <a:solidFill>
                  <a:schemeClr val="tx1"/>
                </a:solidFill>
              </a:rPr>
              <a:t>k</a:t>
            </a:r>
            <a:r>
              <a:rPr lang="en-US" baseline="-25000"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= 1e9 N/m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6719FFA-B915-FECB-2ECE-00A9706F664D}"/>
              </a:ext>
            </a:extLst>
          </p:cNvPr>
          <p:cNvSpPr/>
          <p:nvPr/>
        </p:nvSpPr>
        <p:spPr>
          <a:xfrm>
            <a:off x="9808822" y="1820425"/>
            <a:ext cx="1601389" cy="662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baseline="-25000" dirty="0">
                <a:solidFill>
                  <a:schemeClr val="tx1"/>
                </a:solidFill>
              </a:rPr>
              <a:t>b</a:t>
            </a:r>
            <a:r>
              <a:rPr lang="en-US" dirty="0">
                <a:solidFill>
                  <a:schemeClr val="tx1"/>
                </a:solidFill>
              </a:rPr>
              <a:t>=8 kg</a:t>
            </a:r>
          </a:p>
          <a:p>
            <a:r>
              <a:rPr lang="en-US" dirty="0">
                <a:solidFill>
                  <a:schemeClr val="tx1"/>
                </a:solidFill>
              </a:rPr>
              <a:t>k</a:t>
            </a:r>
            <a:r>
              <a:rPr lang="en-US" baseline="-25000" dirty="0">
                <a:solidFill>
                  <a:schemeClr val="tx1"/>
                </a:solidFill>
              </a:rPr>
              <a:t>b</a:t>
            </a:r>
            <a:r>
              <a:rPr lang="en-US" dirty="0">
                <a:solidFill>
                  <a:schemeClr val="tx1"/>
                </a:solidFill>
              </a:rPr>
              <a:t>= 1.2e9 N/m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29D78B21-DF0C-CABA-ECEA-A01A3012CE68}"/>
              </a:ext>
            </a:extLst>
          </p:cNvPr>
          <p:cNvSpPr/>
          <p:nvPr/>
        </p:nvSpPr>
        <p:spPr>
          <a:xfrm>
            <a:off x="3017719" y="5988100"/>
            <a:ext cx="6468460" cy="609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Let’s assume we only have data to 1000 Hz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0AEE7E-5158-944E-ECFC-641E7DD41115}"/>
                  </a:ext>
                </a:extLst>
              </p:cNvPr>
              <p:cNvSpPr txBox="1"/>
              <p:nvPr/>
            </p:nvSpPr>
            <p:spPr>
              <a:xfrm>
                <a:off x="2025996" y="2725811"/>
                <a:ext cx="7610302" cy="6437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en-US" dirty="0">
                                        <a:latin typeface="Arial" panose="020B0604020202020204" pitchFamily="34" charset="0"/>
                                      </a:rPr>
                                      <m:t>𝜁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en-US" dirty="0">
                                        <a:latin typeface="Arial" panose="020B0604020202020204" pitchFamily="34" charset="0"/>
                                      </a:rPr>
                                      <m:t>𝜁</m:t>
                                    </m:r>
                                  </m:e>
                                  <m:sub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alt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0AEE7E-5158-944E-ECFC-641E7DD41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996" y="2725811"/>
                <a:ext cx="7610302" cy="643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315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45223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look at a bigger example (10 DOF systems)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939D1-4795-8DC4-9012-2DB7A573EE9A}"/>
              </a:ext>
            </a:extLst>
          </p:cNvPr>
          <p:cNvSpPr/>
          <p:nvPr/>
        </p:nvSpPr>
        <p:spPr>
          <a:xfrm>
            <a:off x="2438400" y="1594009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E013F5-C4C8-566E-C51C-35CD8D6AA78C}"/>
              </a:ext>
            </a:extLst>
          </p:cNvPr>
          <p:cNvCxnSpPr>
            <a:stCxn id="6" idx="3"/>
          </p:cNvCxnSpPr>
          <p:nvPr/>
        </p:nvCxnSpPr>
        <p:spPr>
          <a:xfrm>
            <a:off x="2857500" y="1803559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D64BB5-6FDF-DDA9-DFFF-BC276FD4F409}"/>
              </a:ext>
            </a:extLst>
          </p:cNvPr>
          <p:cNvCxnSpPr>
            <a:cxnSpLocks/>
          </p:cNvCxnSpPr>
          <p:nvPr/>
        </p:nvCxnSpPr>
        <p:spPr>
          <a:xfrm flipV="1">
            <a:off x="2921794" y="1803559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4D8C94-7346-123C-339B-A2B7B07C4518}"/>
              </a:ext>
            </a:extLst>
          </p:cNvPr>
          <p:cNvCxnSpPr>
            <a:cxnSpLocks/>
          </p:cNvCxnSpPr>
          <p:nvPr/>
        </p:nvCxnSpPr>
        <p:spPr>
          <a:xfrm flipV="1">
            <a:off x="2921794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BF3733-BF0C-8277-B05F-11C00B400097}"/>
              </a:ext>
            </a:extLst>
          </p:cNvPr>
          <p:cNvCxnSpPr>
            <a:cxnSpLocks/>
          </p:cNvCxnSpPr>
          <p:nvPr/>
        </p:nvCxnSpPr>
        <p:spPr>
          <a:xfrm flipV="1">
            <a:off x="2959637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590F41-2C51-7FEB-36EA-86B1AAA24190}"/>
              </a:ext>
            </a:extLst>
          </p:cNvPr>
          <p:cNvCxnSpPr>
            <a:cxnSpLocks/>
          </p:cNvCxnSpPr>
          <p:nvPr/>
        </p:nvCxnSpPr>
        <p:spPr>
          <a:xfrm flipV="1">
            <a:off x="2997479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3DA60A-491B-380B-8EC0-5D228F0E6480}"/>
              </a:ext>
            </a:extLst>
          </p:cNvPr>
          <p:cNvCxnSpPr>
            <a:cxnSpLocks/>
          </p:cNvCxnSpPr>
          <p:nvPr/>
        </p:nvCxnSpPr>
        <p:spPr>
          <a:xfrm flipV="1">
            <a:off x="3032683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8340817-5BFA-0035-ACE7-B1CFAD198394}"/>
              </a:ext>
            </a:extLst>
          </p:cNvPr>
          <p:cNvCxnSpPr>
            <a:cxnSpLocks/>
          </p:cNvCxnSpPr>
          <p:nvPr/>
        </p:nvCxnSpPr>
        <p:spPr>
          <a:xfrm flipV="1">
            <a:off x="2959637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E2D06E-BF98-7862-5D25-E0CEBEF011C8}"/>
              </a:ext>
            </a:extLst>
          </p:cNvPr>
          <p:cNvCxnSpPr>
            <a:cxnSpLocks/>
          </p:cNvCxnSpPr>
          <p:nvPr/>
        </p:nvCxnSpPr>
        <p:spPr>
          <a:xfrm flipV="1">
            <a:off x="3000922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426D65-2ED4-EE1D-E92A-2AEA70A4112A}"/>
              </a:ext>
            </a:extLst>
          </p:cNvPr>
          <p:cNvCxnSpPr>
            <a:cxnSpLocks/>
          </p:cNvCxnSpPr>
          <p:nvPr/>
        </p:nvCxnSpPr>
        <p:spPr>
          <a:xfrm flipV="1">
            <a:off x="3034517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D7EBC2-E343-BB13-8DEB-31AD808A8AF4}"/>
              </a:ext>
            </a:extLst>
          </p:cNvPr>
          <p:cNvCxnSpPr>
            <a:cxnSpLocks/>
          </p:cNvCxnSpPr>
          <p:nvPr/>
        </p:nvCxnSpPr>
        <p:spPr>
          <a:xfrm flipV="1">
            <a:off x="3074998" y="1636871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AD6244-BCA3-D831-6112-06481A0FF5E5}"/>
              </a:ext>
            </a:extLst>
          </p:cNvPr>
          <p:cNvCxnSpPr/>
          <p:nvPr/>
        </p:nvCxnSpPr>
        <p:spPr>
          <a:xfrm>
            <a:off x="3070783" y="1838227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FD13AE2-0D3F-0F48-4805-E39BA160B250}"/>
              </a:ext>
            </a:extLst>
          </p:cNvPr>
          <p:cNvSpPr/>
          <p:nvPr/>
        </p:nvSpPr>
        <p:spPr>
          <a:xfrm>
            <a:off x="3146982" y="1594009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CB6C88-F8B6-C0E6-A75D-2DB60340B99E}"/>
              </a:ext>
            </a:extLst>
          </p:cNvPr>
          <p:cNvCxnSpPr>
            <a:stCxn id="26" idx="3"/>
          </p:cNvCxnSpPr>
          <p:nvPr/>
        </p:nvCxnSpPr>
        <p:spPr>
          <a:xfrm>
            <a:off x="3566082" y="1803559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FC9A154-7F37-72DD-8140-9852E4D5C38B}"/>
              </a:ext>
            </a:extLst>
          </p:cNvPr>
          <p:cNvCxnSpPr>
            <a:cxnSpLocks/>
          </p:cNvCxnSpPr>
          <p:nvPr/>
        </p:nvCxnSpPr>
        <p:spPr>
          <a:xfrm flipV="1">
            <a:off x="3630376" y="1803559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C996EF-5B48-FD92-6864-60C54631F35B}"/>
              </a:ext>
            </a:extLst>
          </p:cNvPr>
          <p:cNvCxnSpPr>
            <a:cxnSpLocks/>
          </p:cNvCxnSpPr>
          <p:nvPr/>
        </p:nvCxnSpPr>
        <p:spPr>
          <a:xfrm flipV="1">
            <a:off x="3630376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B3740F7-2DED-A876-F9AC-6CB4EB694A3D}"/>
              </a:ext>
            </a:extLst>
          </p:cNvPr>
          <p:cNvCxnSpPr>
            <a:cxnSpLocks/>
          </p:cNvCxnSpPr>
          <p:nvPr/>
        </p:nvCxnSpPr>
        <p:spPr>
          <a:xfrm flipV="1">
            <a:off x="3668219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12EAB18-7471-1541-4D86-EE36B58B30D5}"/>
              </a:ext>
            </a:extLst>
          </p:cNvPr>
          <p:cNvCxnSpPr>
            <a:cxnSpLocks/>
          </p:cNvCxnSpPr>
          <p:nvPr/>
        </p:nvCxnSpPr>
        <p:spPr>
          <a:xfrm flipV="1">
            <a:off x="3706061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AAC384-3F4C-145A-29FC-F123A66264ED}"/>
              </a:ext>
            </a:extLst>
          </p:cNvPr>
          <p:cNvCxnSpPr>
            <a:cxnSpLocks/>
          </p:cNvCxnSpPr>
          <p:nvPr/>
        </p:nvCxnSpPr>
        <p:spPr>
          <a:xfrm flipV="1">
            <a:off x="3741265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F690F18-BD1C-5134-32AB-E262A117346C}"/>
              </a:ext>
            </a:extLst>
          </p:cNvPr>
          <p:cNvCxnSpPr>
            <a:cxnSpLocks/>
          </p:cNvCxnSpPr>
          <p:nvPr/>
        </p:nvCxnSpPr>
        <p:spPr>
          <a:xfrm flipV="1">
            <a:off x="3668219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820BE44-1AB3-4C4A-35BD-14C998DDA43A}"/>
              </a:ext>
            </a:extLst>
          </p:cNvPr>
          <p:cNvCxnSpPr>
            <a:cxnSpLocks/>
          </p:cNvCxnSpPr>
          <p:nvPr/>
        </p:nvCxnSpPr>
        <p:spPr>
          <a:xfrm flipV="1">
            <a:off x="3709504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CF56CC-1660-6B4F-E21E-0BC440F309F1}"/>
              </a:ext>
            </a:extLst>
          </p:cNvPr>
          <p:cNvCxnSpPr>
            <a:cxnSpLocks/>
          </p:cNvCxnSpPr>
          <p:nvPr/>
        </p:nvCxnSpPr>
        <p:spPr>
          <a:xfrm flipV="1">
            <a:off x="3743099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793BF8-FC46-2A77-D13B-2286F741A6BF}"/>
              </a:ext>
            </a:extLst>
          </p:cNvPr>
          <p:cNvCxnSpPr>
            <a:cxnSpLocks/>
          </p:cNvCxnSpPr>
          <p:nvPr/>
        </p:nvCxnSpPr>
        <p:spPr>
          <a:xfrm flipV="1">
            <a:off x="3783580" y="1636871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C7CC446-FBB4-478A-CC89-CE5CA0976C3E}"/>
              </a:ext>
            </a:extLst>
          </p:cNvPr>
          <p:cNvCxnSpPr/>
          <p:nvPr/>
        </p:nvCxnSpPr>
        <p:spPr>
          <a:xfrm>
            <a:off x="3779365" y="1838227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1CBFABE-F196-8230-B03E-83DA80119F29}"/>
              </a:ext>
            </a:extLst>
          </p:cNvPr>
          <p:cNvSpPr/>
          <p:nvPr/>
        </p:nvSpPr>
        <p:spPr>
          <a:xfrm>
            <a:off x="3847875" y="1594008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14773B-F0F3-DF3C-96F9-02B3BEE6F239}"/>
              </a:ext>
            </a:extLst>
          </p:cNvPr>
          <p:cNvCxnSpPr>
            <a:stCxn id="38" idx="3"/>
          </p:cNvCxnSpPr>
          <p:nvPr/>
        </p:nvCxnSpPr>
        <p:spPr>
          <a:xfrm>
            <a:off x="4266975" y="1803558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8550EA3-701C-B462-2CB2-CC16A70B1E57}"/>
              </a:ext>
            </a:extLst>
          </p:cNvPr>
          <p:cNvCxnSpPr>
            <a:cxnSpLocks/>
          </p:cNvCxnSpPr>
          <p:nvPr/>
        </p:nvCxnSpPr>
        <p:spPr>
          <a:xfrm flipV="1">
            <a:off x="4331269" y="1803558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E078C5-1BB5-4F05-8824-F5F806ED13B9}"/>
              </a:ext>
            </a:extLst>
          </p:cNvPr>
          <p:cNvCxnSpPr>
            <a:cxnSpLocks/>
          </p:cNvCxnSpPr>
          <p:nvPr/>
        </p:nvCxnSpPr>
        <p:spPr>
          <a:xfrm flipV="1">
            <a:off x="4331269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8B098DE-7756-A306-5225-1B8C00A5055D}"/>
              </a:ext>
            </a:extLst>
          </p:cNvPr>
          <p:cNvCxnSpPr>
            <a:cxnSpLocks/>
          </p:cNvCxnSpPr>
          <p:nvPr/>
        </p:nvCxnSpPr>
        <p:spPr>
          <a:xfrm flipV="1">
            <a:off x="4369112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3344914-0485-96B3-BC2A-F7965CD06675}"/>
              </a:ext>
            </a:extLst>
          </p:cNvPr>
          <p:cNvCxnSpPr>
            <a:cxnSpLocks/>
          </p:cNvCxnSpPr>
          <p:nvPr/>
        </p:nvCxnSpPr>
        <p:spPr>
          <a:xfrm flipV="1">
            <a:off x="4406954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3CF0B25-5DC6-B93F-B132-0F06CFCE49DD}"/>
              </a:ext>
            </a:extLst>
          </p:cNvPr>
          <p:cNvCxnSpPr>
            <a:cxnSpLocks/>
          </p:cNvCxnSpPr>
          <p:nvPr/>
        </p:nvCxnSpPr>
        <p:spPr>
          <a:xfrm flipV="1">
            <a:off x="4442158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D284737-81E1-31B4-954B-60ED95CCECD4}"/>
              </a:ext>
            </a:extLst>
          </p:cNvPr>
          <p:cNvCxnSpPr>
            <a:cxnSpLocks/>
          </p:cNvCxnSpPr>
          <p:nvPr/>
        </p:nvCxnSpPr>
        <p:spPr>
          <a:xfrm flipV="1">
            <a:off x="4369112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E24D51A-245F-691D-EB58-6833B572FCCD}"/>
              </a:ext>
            </a:extLst>
          </p:cNvPr>
          <p:cNvCxnSpPr>
            <a:cxnSpLocks/>
          </p:cNvCxnSpPr>
          <p:nvPr/>
        </p:nvCxnSpPr>
        <p:spPr>
          <a:xfrm flipV="1">
            <a:off x="4410397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0ED4C48-D704-5381-3F2B-A1392EDED75B}"/>
              </a:ext>
            </a:extLst>
          </p:cNvPr>
          <p:cNvCxnSpPr>
            <a:cxnSpLocks/>
          </p:cNvCxnSpPr>
          <p:nvPr/>
        </p:nvCxnSpPr>
        <p:spPr>
          <a:xfrm flipV="1">
            <a:off x="4443992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DB10F3A-7B8E-8209-0D60-AFF83F0AC1C4}"/>
              </a:ext>
            </a:extLst>
          </p:cNvPr>
          <p:cNvCxnSpPr>
            <a:cxnSpLocks/>
          </p:cNvCxnSpPr>
          <p:nvPr/>
        </p:nvCxnSpPr>
        <p:spPr>
          <a:xfrm flipV="1">
            <a:off x="4484473" y="1636870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CC66F51-35AD-43B8-A9EB-19831B01CDBC}"/>
              </a:ext>
            </a:extLst>
          </p:cNvPr>
          <p:cNvCxnSpPr/>
          <p:nvPr/>
        </p:nvCxnSpPr>
        <p:spPr>
          <a:xfrm>
            <a:off x="4480258" y="1838226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F2613AF-94D4-96CF-E22D-E04F4DEDF78A}"/>
              </a:ext>
            </a:extLst>
          </p:cNvPr>
          <p:cNvSpPr/>
          <p:nvPr/>
        </p:nvSpPr>
        <p:spPr>
          <a:xfrm>
            <a:off x="4916377" y="1589642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B0A171-1B50-4509-4DC8-A15AB94863FA}"/>
              </a:ext>
            </a:extLst>
          </p:cNvPr>
          <p:cNvSpPr txBox="1"/>
          <p:nvPr/>
        </p:nvSpPr>
        <p:spPr>
          <a:xfrm>
            <a:off x="4561396" y="1594008"/>
            <a:ext cx="34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6C77BD9-4566-0263-0D5E-3A5DB19E1DF5}"/>
              </a:ext>
            </a:extLst>
          </p:cNvPr>
          <p:cNvSpPr/>
          <p:nvPr/>
        </p:nvSpPr>
        <p:spPr>
          <a:xfrm>
            <a:off x="6434963" y="1615242"/>
            <a:ext cx="419100" cy="4191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F267A7F-08AB-2A72-490B-6077A7C3C067}"/>
              </a:ext>
            </a:extLst>
          </p:cNvPr>
          <p:cNvCxnSpPr>
            <a:stCxn id="63" idx="3"/>
          </p:cNvCxnSpPr>
          <p:nvPr/>
        </p:nvCxnSpPr>
        <p:spPr>
          <a:xfrm>
            <a:off x="6854063" y="1824792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371277E-53B8-5BFA-9E63-234F66950EED}"/>
              </a:ext>
            </a:extLst>
          </p:cNvPr>
          <p:cNvCxnSpPr>
            <a:cxnSpLocks/>
          </p:cNvCxnSpPr>
          <p:nvPr/>
        </p:nvCxnSpPr>
        <p:spPr>
          <a:xfrm flipV="1">
            <a:off x="6918357" y="1824792"/>
            <a:ext cx="0" cy="1770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A8F6216-5216-E9B5-D7FA-794D588EAF38}"/>
              </a:ext>
            </a:extLst>
          </p:cNvPr>
          <p:cNvCxnSpPr>
            <a:cxnSpLocks/>
          </p:cNvCxnSpPr>
          <p:nvPr/>
        </p:nvCxnSpPr>
        <p:spPr>
          <a:xfrm flipV="1">
            <a:off x="6918357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0367BFA-C4DA-1D04-026F-7D422DE4E051}"/>
              </a:ext>
            </a:extLst>
          </p:cNvPr>
          <p:cNvCxnSpPr>
            <a:cxnSpLocks/>
          </p:cNvCxnSpPr>
          <p:nvPr/>
        </p:nvCxnSpPr>
        <p:spPr>
          <a:xfrm flipV="1">
            <a:off x="6956200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1536F19-6974-87C5-DF6F-DEAF8C35BC30}"/>
              </a:ext>
            </a:extLst>
          </p:cNvPr>
          <p:cNvCxnSpPr>
            <a:cxnSpLocks/>
          </p:cNvCxnSpPr>
          <p:nvPr/>
        </p:nvCxnSpPr>
        <p:spPr>
          <a:xfrm flipV="1">
            <a:off x="6994042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020D8DE-0747-235F-C3DB-5DC89A30AC62}"/>
              </a:ext>
            </a:extLst>
          </p:cNvPr>
          <p:cNvCxnSpPr>
            <a:cxnSpLocks/>
          </p:cNvCxnSpPr>
          <p:nvPr/>
        </p:nvCxnSpPr>
        <p:spPr>
          <a:xfrm flipV="1">
            <a:off x="7029246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AC96207-FEA5-44B0-ECC7-17305B1BC253}"/>
              </a:ext>
            </a:extLst>
          </p:cNvPr>
          <p:cNvCxnSpPr>
            <a:cxnSpLocks/>
          </p:cNvCxnSpPr>
          <p:nvPr/>
        </p:nvCxnSpPr>
        <p:spPr>
          <a:xfrm flipV="1">
            <a:off x="6956200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979B31D-1980-A847-7C10-AFF707CE2DCD}"/>
              </a:ext>
            </a:extLst>
          </p:cNvPr>
          <p:cNvCxnSpPr>
            <a:cxnSpLocks/>
          </p:cNvCxnSpPr>
          <p:nvPr/>
        </p:nvCxnSpPr>
        <p:spPr>
          <a:xfrm flipV="1">
            <a:off x="6997485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45CF113-6A4E-F424-09AA-37F2A4C12D9B}"/>
              </a:ext>
            </a:extLst>
          </p:cNvPr>
          <p:cNvCxnSpPr>
            <a:cxnSpLocks/>
          </p:cNvCxnSpPr>
          <p:nvPr/>
        </p:nvCxnSpPr>
        <p:spPr>
          <a:xfrm flipV="1">
            <a:off x="7031080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60C502F-199F-ED4F-83AA-712A21ED3079}"/>
              </a:ext>
            </a:extLst>
          </p:cNvPr>
          <p:cNvCxnSpPr>
            <a:cxnSpLocks/>
          </p:cNvCxnSpPr>
          <p:nvPr/>
        </p:nvCxnSpPr>
        <p:spPr>
          <a:xfrm flipV="1">
            <a:off x="7071561" y="1658104"/>
            <a:ext cx="2268" cy="209293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12194E5-B0DF-276A-DB33-975AB8BB8423}"/>
              </a:ext>
            </a:extLst>
          </p:cNvPr>
          <p:cNvCxnSpPr/>
          <p:nvPr/>
        </p:nvCxnSpPr>
        <p:spPr>
          <a:xfrm>
            <a:off x="7067346" y="1859460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5B6B61B5-C629-B7FE-7B51-659EF10ED7D2}"/>
              </a:ext>
            </a:extLst>
          </p:cNvPr>
          <p:cNvSpPr/>
          <p:nvPr/>
        </p:nvSpPr>
        <p:spPr>
          <a:xfrm>
            <a:off x="7143545" y="1615242"/>
            <a:ext cx="419100" cy="41910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BBF0590-E449-212A-770E-A2B03999936B}"/>
              </a:ext>
            </a:extLst>
          </p:cNvPr>
          <p:cNvCxnSpPr>
            <a:stCxn id="75" idx="3"/>
          </p:cNvCxnSpPr>
          <p:nvPr/>
        </p:nvCxnSpPr>
        <p:spPr>
          <a:xfrm>
            <a:off x="7562645" y="1824792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79EDD8E-64B4-C9B7-2BAC-82618EF12FA6}"/>
              </a:ext>
            </a:extLst>
          </p:cNvPr>
          <p:cNvCxnSpPr>
            <a:cxnSpLocks/>
          </p:cNvCxnSpPr>
          <p:nvPr/>
        </p:nvCxnSpPr>
        <p:spPr>
          <a:xfrm flipV="1">
            <a:off x="7626939" y="1824792"/>
            <a:ext cx="0" cy="1770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EF44869-96BB-26ED-6990-40D6C26344FF}"/>
              </a:ext>
            </a:extLst>
          </p:cNvPr>
          <p:cNvCxnSpPr>
            <a:cxnSpLocks/>
          </p:cNvCxnSpPr>
          <p:nvPr/>
        </p:nvCxnSpPr>
        <p:spPr>
          <a:xfrm flipV="1">
            <a:off x="7626939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6D25E79-95A0-2835-B768-936B4E4D8CE0}"/>
              </a:ext>
            </a:extLst>
          </p:cNvPr>
          <p:cNvCxnSpPr>
            <a:cxnSpLocks/>
          </p:cNvCxnSpPr>
          <p:nvPr/>
        </p:nvCxnSpPr>
        <p:spPr>
          <a:xfrm flipV="1">
            <a:off x="7664782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E5F4EC9-9B7D-B389-38E9-E5AEF7AC5AB5}"/>
              </a:ext>
            </a:extLst>
          </p:cNvPr>
          <p:cNvCxnSpPr>
            <a:cxnSpLocks/>
          </p:cNvCxnSpPr>
          <p:nvPr/>
        </p:nvCxnSpPr>
        <p:spPr>
          <a:xfrm flipV="1">
            <a:off x="7702624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CF57301-7C33-D897-8A1A-1E987B2C26DC}"/>
              </a:ext>
            </a:extLst>
          </p:cNvPr>
          <p:cNvCxnSpPr>
            <a:cxnSpLocks/>
          </p:cNvCxnSpPr>
          <p:nvPr/>
        </p:nvCxnSpPr>
        <p:spPr>
          <a:xfrm flipV="1">
            <a:off x="7737828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EE4B7C5-5C1E-C086-745B-B6AEB63C1762}"/>
              </a:ext>
            </a:extLst>
          </p:cNvPr>
          <p:cNvCxnSpPr>
            <a:cxnSpLocks/>
          </p:cNvCxnSpPr>
          <p:nvPr/>
        </p:nvCxnSpPr>
        <p:spPr>
          <a:xfrm flipV="1">
            <a:off x="7664782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1BE81DE-03C5-581A-3812-0BB3E3D16DA3}"/>
              </a:ext>
            </a:extLst>
          </p:cNvPr>
          <p:cNvCxnSpPr>
            <a:cxnSpLocks/>
          </p:cNvCxnSpPr>
          <p:nvPr/>
        </p:nvCxnSpPr>
        <p:spPr>
          <a:xfrm flipV="1">
            <a:off x="7706067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E8707B8-C744-B9C3-FFA7-9029CAAF21C4}"/>
              </a:ext>
            </a:extLst>
          </p:cNvPr>
          <p:cNvCxnSpPr>
            <a:cxnSpLocks/>
          </p:cNvCxnSpPr>
          <p:nvPr/>
        </p:nvCxnSpPr>
        <p:spPr>
          <a:xfrm flipV="1">
            <a:off x="7739662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15CBC6D-9D97-BDA0-CCD2-4F12B453A566}"/>
              </a:ext>
            </a:extLst>
          </p:cNvPr>
          <p:cNvCxnSpPr>
            <a:cxnSpLocks/>
          </p:cNvCxnSpPr>
          <p:nvPr/>
        </p:nvCxnSpPr>
        <p:spPr>
          <a:xfrm flipV="1">
            <a:off x="7780143" y="1658104"/>
            <a:ext cx="2268" cy="209293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DA8E464-2DEA-B6E5-60A0-9CA1CDA31367}"/>
              </a:ext>
            </a:extLst>
          </p:cNvPr>
          <p:cNvCxnSpPr/>
          <p:nvPr/>
        </p:nvCxnSpPr>
        <p:spPr>
          <a:xfrm>
            <a:off x="7775928" y="1859460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7DECB1CA-BB00-8B20-EF30-791D9F24E20E}"/>
              </a:ext>
            </a:extLst>
          </p:cNvPr>
          <p:cNvSpPr/>
          <p:nvPr/>
        </p:nvSpPr>
        <p:spPr>
          <a:xfrm>
            <a:off x="7844438" y="1615241"/>
            <a:ext cx="419100" cy="41910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86FFCEE-8E95-F34C-10F2-2FB7E44E2578}"/>
              </a:ext>
            </a:extLst>
          </p:cNvPr>
          <p:cNvCxnSpPr>
            <a:stCxn id="87" idx="3"/>
          </p:cNvCxnSpPr>
          <p:nvPr/>
        </p:nvCxnSpPr>
        <p:spPr>
          <a:xfrm>
            <a:off x="8263538" y="1824791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652CC38-CD76-278F-74A9-6A323CF5BDDE}"/>
              </a:ext>
            </a:extLst>
          </p:cNvPr>
          <p:cNvCxnSpPr>
            <a:cxnSpLocks/>
          </p:cNvCxnSpPr>
          <p:nvPr/>
        </p:nvCxnSpPr>
        <p:spPr>
          <a:xfrm flipV="1">
            <a:off x="8327832" y="1824791"/>
            <a:ext cx="0" cy="1770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C36FD3C-D563-457F-4CC6-EA99C362D734}"/>
              </a:ext>
            </a:extLst>
          </p:cNvPr>
          <p:cNvCxnSpPr>
            <a:cxnSpLocks/>
          </p:cNvCxnSpPr>
          <p:nvPr/>
        </p:nvCxnSpPr>
        <p:spPr>
          <a:xfrm flipV="1">
            <a:off x="8327832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FFAD4F9-1DE0-2A94-AE73-FD0B7F15E2AB}"/>
              </a:ext>
            </a:extLst>
          </p:cNvPr>
          <p:cNvCxnSpPr>
            <a:cxnSpLocks/>
          </p:cNvCxnSpPr>
          <p:nvPr/>
        </p:nvCxnSpPr>
        <p:spPr>
          <a:xfrm flipV="1">
            <a:off x="8365675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7E36E9C-9005-53E8-EF98-859A89EC5259}"/>
              </a:ext>
            </a:extLst>
          </p:cNvPr>
          <p:cNvCxnSpPr>
            <a:cxnSpLocks/>
          </p:cNvCxnSpPr>
          <p:nvPr/>
        </p:nvCxnSpPr>
        <p:spPr>
          <a:xfrm flipV="1">
            <a:off x="8403517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FC60AE3-B891-AB37-44EA-6546BF2B1AB1}"/>
              </a:ext>
            </a:extLst>
          </p:cNvPr>
          <p:cNvCxnSpPr>
            <a:cxnSpLocks/>
          </p:cNvCxnSpPr>
          <p:nvPr/>
        </p:nvCxnSpPr>
        <p:spPr>
          <a:xfrm flipV="1">
            <a:off x="8438721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A638B34-02A8-C11F-C3E4-0D56AA6FA424}"/>
              </a:ext>
            </a:extLst>
          </p:cNvPr>
          <p:cNvCxnSpPr>
            <a:cxnSpLocks/>
          </p:cNvCxnSpPr>
          <p:nvPr/>
        </p:nvCxnSpPr>
        <p:spPr>
          <a:xfrm flipV="1">
            <a:off x="8365675" y="1668422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F7C3BA5-133D-AAFD-A829-5BF7B72D5A00}"/>
              </a:ext>
            </a:extLst>
          </p:cNvPr>
          <p:cNvCxnSpPr>
            <a:cxnSpLocks/>
          </p:cNvCxnSpPr>
          <p:nvPr/>
        </p:nvCxnSpPr>
        <p:spPr>
          <a:xfrm flipV="1">
            <a:off x="8406960" y="1668422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875E13-ACF6-88AE-9E40-34F100858A25}"/>
              </a:ext>
            </a:extLst>
          </p:cNvPr>
          <p:cNvCxnSpPr>
            <a:cxnSpLocks/>
          </p:cNvCxnSpPr>
          <p:nvPr/>
        </p:nvCxnSpPr>
        <p:spPr>
          <a:xfrm flipV="1">
            <a:off x="8440555" y="1668422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5440D88-02C1-C705-8E46-9A22A6D95125}"/>
              </a:ext>
            </a:extLst>
          </p:cNvPr>
          <p:cNvCxnSpPr>
            <a:cxnSpLocks/>
          </p:cNvCxnSpPr>
          <p:nvPr/>
        </p:nvCxnSpPr>
        <p:spPr>
          <a:xfrm flipV="1">
            <a:off x="8481036" y="1658103"/>
            <a:ext cx="2268" cy="209293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3CF3045-F487-83D6-42FA-D0C178B3EF31}"/>
              </a:ext>
            </a:extLst>
          </p:cNvPr>
          <p:cNvCxnSpPr/>
          <p:nvPr/>
        </p:nvCxnSpPr>
        <p:spPr>
          <a:xfrm>
            <a:off x="8476821" y="1859459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2121129D-614F-9168-D0C9-5B568113CF35}"/>
              </a:ext>
            </a:extLst>
          </p:cNvPr>
          <p:cNvSpPr/>
          <p:nvPr/>
        </p:nvSpPr>
        <p:spPr>
          <a:xfrm>
            <a:off x="8912940" y="1610875"/>
            <a:ext cx="419100" cy="4191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476B96D-665C-1695-548C-E704F34CD135}"/>
              </a:ext>
            </a:extLst>
          </p:cNvPr>
          <p:cNvSpPr txBox="1"/>
          <p:nvPr/>
        </p:nvSpPr>
        <p:spPr>
          <a:xfrm>
            <a:off x="8557959" y="1615241"/>
            <a:ext cx="34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101" name="Arrow: Left-Right 100">
            <a:extLst>
              <a:ext uri="{FF2B5EF4-FFF2-40B4-BE49-F238E27FC236}">
                <a16:creationId xmlns:a16="http://schemas.microsoft.com/office/drawing/2014/main" id="{809359F1-08F1-0437-3016-AA388CD1A591}"/>
              </a:ext>
            </a:extLst>
          </p:cNvPr>
          <p:cNvSpPr/>
          <p:nvPr/>
        </p:nvSpPr>
        <p:spPr>
          <a:xfrm>
            <a:off x="5415842" y="1704020"/>
            <a:ext cx="925677" cy="232807"/>
          </a:xfrm>
          <a:prstGeom prst="left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3330453-2669-30D6-C20D-DB2E277DED39}"/>
              </a:ext>
            </a:extLst>
          </p:cNvPr>
          <p:cNvSpPr txBox="1"/>
          <p:nvPr/>
        </p:nvSpPr>
        <p:spPr>
          <a:xfrm rot="21023043">
            <a:off x="1809167" y="1217984"/>
            <a:ext cx="100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DOF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9207521-7F44-4BF8-0673-FF2DC27CE107}"/>
              </a:ext>
            </a:extLst>
          </p:cNvPr>
          <p:cNvSpPr txBox="1"/>
          <p:nvPr/>
        </p:nvSpPr>
        <p:spPr>
          <a:xfrm rot="21023043">
            <a:off x="8441857" y="1222632"/>
            <a:ext cx="100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DOF</a:t>
            </a:r>
          </a:p>
        </p:txBody>
      </p:sp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FBC4979B-645D-657D-820C-44A82ECB5900}"/>
              </a:ext>
            </a:extLst>
          </p:cNvPr>
          <p:cNvGraphicFramePr>
            <a:graphicFrameLocks noGrp="1"/>
          </p:cNvGraphicFramePr>
          <p:nvPr/>
        </p:nvGraphicFramePr>
        <p:xfrm>
          <a:off x="2437887" y="2343108"/>
          <a:ext cx="2695922" cy="3568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961">
                  <a:extLst>
                    <a:ext uri="{9D8B030D-6E8A-4147-A177-3AD203B41FA5}">
                      <a16:colId xmlns:a16="http://schemas.microsoft.com/office/drawing/2014/main" val="936381622"/>
                    </a:ext>
                  </a:extLst>
                </a:gridCol>
                <a:gridCol w="1347961">
                  <a:extLst>
                    <a:ext uri="{9D8B030D-6E8A-4147-A177-3AD203B41FA5}">
                      <a16:colId xmlns:a16="http://schemas.microsoft.com/office/drawing/2014/main" val="1111947536"/>
                    </a:ext>
                  </a:extLst>
                </a:gridCol>
              </a:tblGrid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Frequency (Hz)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893475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006448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497.95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855760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983.63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070506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1445.10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783177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1870.98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819300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2250.79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36266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2575.18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4558660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2836.16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466818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3027.31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865708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3143.91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4408690"/>
                  </a:ext>
                </a:extLst>
              </a:tr>
            </a:tbl>
          </a:graphicData>
        </a:graphic>
      </p:graphicFrame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29ED34C5-2C5F-4537-ADF1-5E14B8EB847C}"/>
              </a:ext>
            </a:extLst>
          </p:cNvPr>
          <p:cNvGraphicFramePr>
            <a:graphicFrameLocks noGrp="1"/>
          </p:cNvGraphicFramePr>
          <p:nvPr/>
        </p:nvGraphicFramePr>
        <p:xfrm>
          <a:off x="6647238" y="2287051"/>
          <a:ext cx="2695922" cy="35684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7961">
                  <a:extLst>
                    <a:ext uri="{9D8B030D-6E8A-4147-A177-3AD203B41FA5}">
                      <a16:colId xmlns:a16="http://schemas.microsoft.com/office/drawing/2014/main" val="936381622"/>
                    </a:ext>
                  </a:extLst>
                </a:gridCol>
                <a:gridCol w="1347961">
                  <a:extLst>
                    <a:ext uri="{9D8B030D-6E8A-4147-A177-3AD203B41FA5}">
                      <a16:colId xmlns:a16="http://schemas.microsoft.com/office/drawing/2014/main" val="1111947536"/>
                    </a:ext>
                  </a:extLst>
                </a:gridCol>
              </a:tblGrid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Frequency (Hz)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893475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006448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609.86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855760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1204.70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070506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1769.87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783177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2291.47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819300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2756.64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36266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3153.94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4558660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3473.57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466818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3707.68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865708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3850.49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4408690"/>
                  </a:ext>
                </a:extLst>
              </a:tr>
            </a:tbl>
          </a:graphicData>
        </a:graphic>
      </p:graphicFrame>
      <p:sp>
        <p:nvSpPr>
          <p:cNvPr id="106" name="Rectangle 105">
            <a:extLst>
              <a:ext uri="{FF2B5EF4-FFF2-40B4-BE49-F238E27FC236}">
                <a16:creationId xmlns:a16="http://schemas.microsoft.com/office/drawing/2014/main" id="{7D73F1E1-2A9B-8A2E-7100-3E4B07C74BD3}"/>
              </a:ext>
            </a:extLst>
          </p:cNvPr>
          <p:cNvSpPr/>
          <p:nvPr/>
        </p:nvSpPr>
        <p:spPr>
          <a:xfrm>
            <a:off x="548544" y="1799192"/>
            <a:ext cx="1451081" cy="662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baseline="-25000"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=10 kg</a:t>
            </a:r>
          </a:p>
          <a:p>
            <a:r>
              <a:rPr lang="en-US" dirty="0">
                <a:solidFill>
                  <a:schemeClr val="tx1"/>
                </a:solidFill>
              </a:rPr>
              <a:t>k</a:t>
            </a:r>
            <a:r>
              <a:rPr lang="en-US" baseline="-25000"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= 1e9 N/m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6719FFA-B915-FECB-2ECE-00A9706F664D}"/>
              </a:ext>
            </a:extLst>
          </p:cNvPr>
          <p:cNvSpPr/>
          <p:nvPr/>
        </p:nvSpPr>
        <p:spPr>
          <a:xfrm>
            <a:off x="9808822" y="1820425"/>
            <a:ext cx="1601389" cy="662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baseline="-25000" dirty="0">
                <a:solidFill>
                  <a:schemeClr val="tx1"/>
                </a:solidFill>
              </a:rPr>
              <a:t>b</a:t>
            </a:r>
            <a:r>
              <a:rPr lang="en-US" dirty="0">
                <a:solidFill>
                  <a:schemeClr val="tx1"/>
                </a:solidFill>
              </a:rPr>
              <a:t>=8 kg</a:t>
            </a:r>
          </a:p>
          <a:p>
            <a:r>
              <a:rPr lang="en-US" dirty="0">
                <a:solidFill>
                  <a:schemeClr val="tx1"/>
                </a:solidFill>
              </a:rPr>
              <a:t>k</a:t>
            </a:r>
            <a:r>
              <a:rPr lang="en-US" baseline="-25000" dirty="0">
                <a:solidFill>
                  <a:schemeClr val="tx1"/>
                </a:solidFill>
              </a:rPr>
              <a:t>b</a:t>
            </a:r>
            <a:r>
              <a:rPr lang="en-US" dirty="0">
                <a:solidFill>
                  <a:schemeClr val="tx1"/>
                </a:solidFill>
              </a:rPr>
              <a:t>= 1.2e9 N/m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29D78B21-DF0C-CABA-ECEA-A01A3012CE68}"/>
              </a:ext>
            </a:extLst>
          </p:cNvPr>
          <p:cNvSpPr/>
          <p:nvPr/>
        </p:nvSpPr>
        <p:spPr>
          <a:xfrm>
            <a:off x="3017719" y="5988100"/>
            <a:ext cx="6468460" cy="609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Let’s assume we only have data to 1000 Hz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5E2C5F-F5B8-3E5D-0A85-1C40A9C7CF52}"/>
              </a:ext>
            </a:extLst>
          </p:cNvPr>
          <p:cNvSpPr/>
          <p:nvPr/>
        </p:nvSpPr>
        <p:spPr>
          <a:xfrm>
            <a:off x="2438400" y="2343150"/>
            <a:ext cx="2688940" cy="1460494"/>
          </a:xfrm>
          <a:custGeom>
            <a:avLst/>
            <a:gdLst>
              <a:gd name="connsiteX0" fmla="*/ 0 w 2688940"/>
              <a:gd name="connsiteY0" fmla="*/ 0 h 1460494"/>
              <a:gd name="connsiteX1" fmla="*/ 591567 w 2688940"/>
              <a:gd name="connsiteY1" fmla="*/ 0 h 1460494"/>
              <a:gd name="connsiteX2" fmla="*/ 1129355 w 2688940"/>
              <a:gd name="connsiteY2" fmla="*/ 0 h 1460494"/>
              <a:gd name="connsiteX3" fmla="*/ 1667143 w 2688940"/>
              <a:gd name="connsiteY3" fmla="*/ 0 h 1460494"/>
              <a:gd name="connsiteX4" fmla="*/ 2204931 w 2688940"/>
              <a:gd name="connsiteY4" fmla="*/ 0 h 1460494"/>
              <a:gd name="connsiteX5" fmla="*/ 2688940 w 2688940"/>
              <a:gd name="connsiteY5" fmla="*/ 0 h 1460494"/>
              <a:gd name="connsiteX6" fmla="*/ 2688940 w 2688940"/>
              <a:gd name="connsiteY6" fmla="*/ 516041 h 1460494"/>
              <a:gd name="connsiteX7" fmla="*/ 2688940 w 2688940"/>
              <a:gd name="connsiteY7" fmla="*/ 1017477 h 1460494"/>
              <a:gd name="connsiteX8" fmla="*/ 2688940 w 2688940"/>
              <a:gd name="connsiteY8" fmla="*/ 1460494 h 1460494"/>
              <a:gd name="connsiteX9" fmla="*/ 2124263 w 2688940"/>
              <a:gd name="connsiteY9" fmla="*/ 1460494 h 1460494"/>
              <a:gd name="connsiteX10" fmla="*/ 1586475 w 2688940"/>
              <a:gd name="connsiteY10" fmla="*/ 1460494 h 1460494"/>
              <a:gd name="connsiteX11" fmla="*/ 1129355 w 2688940"/>
              <a:gd name="connsiteY11" fmla="*/ 1460494 h 1460494"/>
              <a:gd name="connsiteX12" fmla="*/ 564677 w 2688940"/>
              <a:gd name="connsiteY12" fmla="*/ 1460494 h 1460494"/>
              <a:gd name="connsiteX13" fmla="*/ 0 w 2688940"/>
              <a:gd name="connsiteY13" fmla="*/ 1460494 h 1460494"/>
              <a:gd name="connsiteX14" fmla="*/ 0 w 2688940"/>
              <a:gd name="connsiteY14" fmla="*/ 959058 h 1460494"/>
              <a:gd name="connsiteX15" fmla="*/ 0 w 2688940"/>
              <a:gd name="connsiteY15" fmla="*/ 457621 h 1460494"/>
              <a:gd name="connsiteX16" fmla="*/ 0 w 2688940"/>
              <a:gd name="connsiteY16" fmla="*/ 0 h 1460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88940" h="1460494" extrusionOk="0">
                <a:moveTo>
                  <a:pt x="0" y="0"/>
                </a:moveTo>
                <a:cubicBezTo>
                  <a:pt x="175425" y="-1460"/>
                  <a:pt x="342349" y="31659"/>
                  <a:pt x="591567" y="0"/>
                </a:cubicBezTo>
                <a:cubicBezTo>
                  <a:pt x="840785" y="-31659"/>
                  <a:pt x="903900" y="16867"/>
                  <a:pt x="1129355" y="0"/>
                </a:cubicBezTo>
                <a:cubicBezTo>
                  <a:pt x="1354810" y="-16867"/>
                  <a:pt x="1559094" y="64145"/>
                  <a:pt x="1667143" y="0"/>
                </a:cubicBezTo>
                <a:cubicBezTo>
                  <a:pt x="1775192" y="-64145"/>
                  <a:pt x="1982057" y="37311"/>
                  <a:pt x="2204931" y="0"/>
                </a:cubicBezTo>
                <a:cubicBezTo>
                  <a:pt x="2427805" y="-37311"/>
                  <a:pt x="2559899" y="55108"/>
                  <a:pt x="2688940" y="0"/>
                </a:cubicBezTo>
                <a:cubicBezTo>
                  <a:pt x="2689997" y="230858"/>
                  <a:pt x="2627426" y="297927"/>
                  <a:pt x="2688940" y="516041"/>
                </a:cubicBezTo>
                <a:cubicBezTo>
                  <a:pt x="2750454" y="734155"/>
                  <a:pt x="2659153" y="827169"/>
                  <a:pt x="2688940" y="1017477"/>
                </a:cubicBezTo>
                <a:cubicBezTo>
                  <a:pt x="2718727" y="1207785"/>
                  <a:pt x="2659997" y="1256542"/>
                  <a:pt x="2688940" y="1460494"/>
                </a:cubicBezTo>
                <a:cubicBezTo>
                  <a:pt x="2467132" y="1480182"/>
                  <a:pt x="2353039" y="1431322"/>
                  <a:pt x="2124263" y="1460494"/>
                </a:cubicBezTo>
                <a:cubicBezTo>
                  <a:pt x="1895487" y="1489666"/>
                  <a:pt x="1846309" y="1460124"/>
                  <a:pt x="1586475" y="1460494"/>
                </a:cubicBezTo>
                <a:cubicBezTo>
                  <a:pt x="1326641" y="1460864"/>
                  <a:pt x="1303471" y="1447755"/>
                  <a:pt x="1129355" y="1460494"/>
                </a:cubicBezTo>
                <a:cubicBezTo>
                  <a:pt x="955239" y="1473233"/>
                  <a:pt x="718423" y="1414382"/>
                  <a:pt x="564677" y="1460494"/>
                </a:cubicBezTo>
                <a:cubicBezTo>
                  <a:pt x="410931" y="1506606"/>
                  <a:pt x="198827" y="1454499"/>
                  <a:pt x="0" y="1460494"/>
                </a:cubicBezTo>
                <a:cubicBezTo>
                  <a:pt x="-30726" y="1237194"/>
                  <a:pt x="40922" y="1077278"/>
                  <a:pt x="0" y="959058"/>
                </a:cubicBezTo>
                <a:cubicBezTo>
                  <a:pt x="-40922" y="840838"/>
                  <a:pt x="3644" y="680456"/>
                  <a:pt x="0" y="457621"/>
                </a:cubicBezTo>
                <a:cubicBezTo>
                  <a:pt x="-3644" y="234786"/>
                  <a:pt x="32315" y="199967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27130925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83CBC4-889F-71A5-228F-DEFE2038F3C7}"/>
              </a:ext>
            </a:extLst>
          </p:cNvPr>
          <p:cNvSpPr/>
          <p:nvPr/>
        </p:nvSpPr>
        <p:spPr>
          <a:xfrm>
            <a:off x="6644513" y="2297035"/>
            <a:ext cx="2688940" cy="1131964"/>
          </a:xfrm>
          <a:custGeom>
            <a:avLst/>
            <a:gdLst>
              <a:gd name="connsiteX0" fmla="*/ 0 w 2688940"/>
              <a:gd name="connsiteY0" fmla="*/ 0 h 1131964"/>
              <a:gd name="connsiteX1" fmla="*/ 591567 w 2688940"/>
              <a:gd name="connsiteY1" fmla="*/ 0 h 1131964"/>
              <a:gd name="connsiteX2" fmla="*/ 1129355 w 2688940"/>
              <a:gd name="connsiteY2" fmla="*/ 0 h 1131964"/>
              <a:gd name="connsiteX3" fmla="*/ 1667143 w 2688940"/>
              <a:gd name="connsiteY3" fmla="*/ 0 h 1131964"/>
              <a:gd name="connsiteX4" fmla="*/ 2204931 w 2688940"/>
              <a:gd name="connsiteY4" fmla="*/ 0 h 1131964"/>
              <a:gd name="connsiteX5" fmla="*/ 2688940 w 2688940"/>
              <a:gd name="connsiteY5" fmla="*/ 0 h 1131964"/>
              <a:gd name="connsiteX6" fmla="*/ 2688940 w 2688940"/>
              <a:gd name="connsiteY6" fmla="*/ 588621 h 1131964"/>
              <a:gd name="connsiteX7" fmla="*/ 2688940 w 2688940"/>
              <a:gd name="connsiteY7" fmla="*/ 1131964 h 1131964"/>
              <a:gd name="connsiteX8" fmla="*/ 2204931 w 2688940"/>
              <a:gd name="connsiteY8" fmla="*/ 1131964 h 1131964"/>
              <a:gd name="connsiteX9" fmla="*/ 1667143 w 2688940"/>
              <a:gd name="connsiteY9" fmla="*/ 1131964 h 1131964"/>
              <a:gd name="connsiteX10" fmla="*/ 1129355 w 2688940"/>
              <a:gd name="connsiteY10" fmla="*/ 1131964 h 1131964"/>
              <a:gd name="connsiteX11" fmla="*/ 672235 w 2688940"/>
              <a:gd name="connsiteY11" fmla="*/ 1131964 h 1131964"/>
              <a:gd name="connsiteX12" fmla="*/ 0 w 2688940"/>
              <a:gd name="connsiteY12" fmla="*/ 1131964 h 1131964"/>
              <a:gd name="connsiteX13" fmla="*/ 0 w 2688940"/>
              <a:gd name="connsiteY13" fmla="*/ 554662 h 1131964"/>
              <a:gd name="connsiteX14" fmla="*/ 0 w 2688940"/>
              <a:gd name="connsiteY14" fmla="*/ 0 h 1131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88940" h="1131964" extrusionOk="0">
                <a:moveTo>
                  <a:pt x="0" y="0"/>
                </a:moveTo>
                <a:cubicBezTo>
                  <a:pt x="175425" y="-1460"/>
                  <a:pt x="342349" y="31659"/>
                  <a:pt x="591567" y="0"/>
                </a:cubicBezTo>
                <a:cubicBezTo>
                  <a:pt x="840785" y="-31659"/>
                  <a:pt x="903900" y="16867"/>
                  <a:pt x="1129355" y="0"/>
                </a:cubicBezTo>
                <a:cubicBezTo>
                  <a:pt x="1354810" y="-16867"/>
                  <a:pt x="1559094" y="64145"/>
                  <a:pt x="1667143" y="0"/>
                </a:cubicBezTo>
                <a:cubicBezTo>
                  <a:pt x="1775192" y="-64145"/>
                  <a:pt x="1982057" y="37311"/>
                  <a:pt x="2204931" y="0"/>
                </a:cubicBezTo>
                <a:cubicBezTo>
                  <a:pt x="2427805" y="-37311"/>
                  <a:pt x="2559899" y="55108"/>
                  <a:pt x="2688940" y="0"/>
                </a:cubicBezTo>
                <a:cubicBezTo>
                  <a:pt x="2734950" y="212216"/>
                  <a:pt x="2646363" y="395156"/>
                  <a:pt x="2688940" y="588621"/>
                </a:cubicBezTo>
                <a:cubicBezTo>
                  <a:pt x="2731517" y="782086"/>
                  <a:pt x="2624092" y="992437"/>
                  <a:pt x="2688940" y="1131964"/>
                </a:cubicBezTo>
                <a:cubicBezTo>
                  <a:pt x="2540199" y="1189789"/>
                  <a:pt x="2417963" y="1111152"/>
                  <a:pt x="2204931" y="1131964"/>
                </a:cubicBezTo>
                <a:cubicBezTo>
                  <a:pt x="1991899" y="1152776"/>
                  <a:pt x="1859083" y="1102590"/>
                  <a:pt x="1667143" y="1131964"/>
                </a:cubicBezTo>
                <a:cubicBezTo>
                  <a:pt x="1475203" y="1161338"/>
                  <a:pt x="1389189" y="1131594"/>
                  <a:pt x="1129355" y="1131964"/>
                </a:cubicBezTo>
                <a:cubicBezTo>
                  <a:pt x="869521" y="1132334"/>
                  <a:pt x="846351" y="1119225"/>
                  <a:pt x="672235" y="1131964"/>
                </a:cubicBezTo>
                <a:cubicBezTo>
                  <a:pt x="498119" y="1144703"/>
                  <a:pt x="320243" y="1059434"/>
                  <a:pt x="0" y="1131964"/>
                </a:cubicBezTo>
                <a:cubicBezTo>
                  <a:pt x="-25679" y="855922"/>
                  <a:pt x="12231" y="708017"/>
                  <a:pt x="0" y="554662"/>
                </a:cubicBezTo>
                <a:cubicBezTo>
                  <a:pt x="-12231" y="401307"/>
                  <a:pt x="53224" y="181478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27130925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2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45223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look at a bigger example (10 DOF systems)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939D1-4795-8DC4-9012-2DB7A573EE9A}"/>
              </a:ext>
            </a:extLst>
          </p:cNvPr>
          <p:cNvSpPr/>
          <p:nvPr/>
        </p:nvSpPr>
        <p:spPr>
          <a:xfrm>
            <a:off x="2438400" y="1594009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E013F5-C4C8-566E-C51C-35CD8D6AA78C}"/>
              </a:ext>
            </a:extLst>
          </p:cNvPr>
          <p:cNvCxnSpPr>
            <a:stCxn id="6" idx="3"/>
          </p:cNvCxnSpPr>
          <p:nvPr/>
        </p:nvCxnSpPr>
        <p:spPr>
          <a:xfrm>
            <a:off x="2857500" y="1803559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D64BB5-6FDF-DDA9-DFFF-BC276FD4F409}"/>
              </a:ext>
            </a:extLst>
          </p:cNvPr>
          <p:cNvCxnSpPr>
            <a:cxnSpLocks/>
          </p:cNvCxnSpPr>
          <p:nvPr/>
        </p:nvCxnSpPr>
        <p:spPr>
          <a:xfrm flipV="1">
            <a:off x="2921794" y="1803559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4D8C94-7346-123C-339B-A2B7B07C4518}"/>
              </a:ext>
            </a:extLst>
          </p:cNvPr>
          <p:cNvCxnSpPr>
            <a:cxnSpLocks/>
          </p:cNvCxnSpPr>
          <p:nvPr/>
        </p:nvCxnSpPr>
        <p:spPr>
          <a:xfrm flipV="1">
            <a:off x="2921794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BF3733-BF0C-8277-B05F-11C00B400097}"/>
              </a:ext>
            </a:extLst>
          </p:cNvPr>
          <p:cNvCxnSpPr>
            <a:cxnSpLocks/>
          </p:cNvCxnSpPr>
          <p:nvPr/>
        </p:nvCxnSpPr>
        <p:spPr>
          <a:xfrm flipV="1">
            <a:off x="2959637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590F41-2C51-7FEB-36EA-86B1AAA24190}"/>
              </a:ext>
            </a:extLst>
          </p:cNvPr>
          <p:cNvCxnSpPr>
            <a:cxnSpLocks/>
          </p:cNvCxnSpPr>
          <p:nvPr/>
        </p:nvCxnSpPr>
        <p:spPr>
          <a:xfrm flipV="1">
            <a:off x="2997479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3DA60A-491B-380B-8EC0-5D228F0E6480}"/>
              </a:ext>
            </a:extLst>
          </p:cNvPr>
          <p:cNvCxnSpPr>
            <a:cxnSpLocks/>
          </p:cNvCxnSpPr>
          <p:nvPr/>
        </p:nvCxnSpPr>
        <p:spPr>
          <a:xfrm flipV="1">
            <a:off x="3032683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8340817-5BFA-0035-ACE7-B1CFAD198394}"/>
              </a:ext>
            </a:extLst>
          </p:cNvPr>
          <p:cNvCxnSpPr>
            <a:cxnSpLocks/>
          </p:cNvCxnSpPr>
          <p:nvPr/>
        </p:nvCxnSpPr>
        <p:spPr>
          <a:xfrm flipV="1">
            <a:off x="2959637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E2D06E-BF98-7862-5D25-E0CEBEF011C8}"/>
              </a:ext>
            </a:extLst>
          </p:cNvPr>
          <p:cNvCxnSpPr>
            <a:cxnSpLocks/>
          </p:cNvCxnSpPr>
          <p:nvPr/>
        </p:nvCxnSpPr>
        <p:spPr>
          <a:xfrm flipV="1">
            <a:off x="3000922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426D65-2ED4-EE1D-E92A-2AEA70A4112A}"/>
              </a:ext>
            </a:extLst>
          </p:cNvPr>
          <p:cNvCxnSpPr>
            <a:cxnSpLocks/>
          </p:cNvCxnSpPr>
          <p:nvPr/>
        </p:nvCxnSpPr>
        <p:spPr>
          <a:xfrm flipV="1">
            <a:off x="3034517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D7EBC2-E343-BB13-8DEB-31AD808A8AF4}"/>
              </a:ext>
            </a:extLst>
          </p:cNvPr>
          <p:cNvCxnSpPr>
            <a:cxnSpLocks/>
          </p:cNvCxnSpPr>
          <p:nvPr/>
        </p:nvCxnSpPr>
        <p:spPr>
          <a:xfrm flipV="1">
            <a:off x="3074998" y="1636871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AD6244-BCA3-D831-6112-06481A0FF5E5}"/>
              </a:ext>
            </a:extLst>
          </p:cNvPr>
          <p:cNvCxnSpPr/>
          <p:nvPr/>
        </p:nvCxnSpPr>
        <p:spPr>
          <a:xfrm>
            <a:off x="3070783" y="1838227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FD13AE2-0D3F-0F48-4805-E39BA160B250}"/>
              </a:ext>
            </a:extLst>
          </p:cNvPr>
          <p:cNvSpPr/>
          <p:nvPr/>
        </p:nvSpPr>
        <p:spPr>
          <a:xfrm>
            <a:off x="3146982" y="1594009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CB6C88-F8B6-C0E6-A75D-2DB60340B99E}"/>
              </a:ext>
            </a:extLst>
          </p:cNvPr>
          <p:cNvCxnSpPr>
            <a:stCxn id="26" idx="3"/>
          </p:cNvCxnSpPr>
          <p:nvPr/>
        </p:nvCxnSpPr>
        <p:spPr>
          <a:xfrm>
            <a:off x="3566082" y="1803559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FC9A154-7F37-72DD-8140-9852E4D5C38B}"/>
              </a:ext>
            </a:extLst>
          </p:cNvPr>
          <p:cNvCxnSpPr>
            <a:cxnSpLocks/>
          </p:cNvCxnSpPr>
          <p:nvPr/>
        </p:nvCxnSpPr>
        <p:spPr>
          <a:xfrm flipV="1">
            <a:off x="3630376" y="1803559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C996EF-5B48-FD92-6864-60C54631F35B}"/>
              </a:ext>
            </a:extLst>
          </p:cNvPr>
          <p:cNvCxnSpPr>
            <a:cxnSpLocks/>
          </p:cNvCxnSpPr>
          <p:nvPr/>
        </p:nvCxnSpPr>
        <p:spPr>
          <a:xfrm flipV="1">
            <a:off x="3630376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B3740F7-2DED-A876-F9AC-6CB4EB694A3D}"/>
              </a:ext>
            </a:extLst>
          </p:cNvPr>
          <p:cNvCxnSpPr>
            <a:cxnSpLocks/>
          </p:cNvCxnSpPr>
          <p:nvPr/>
        </p:nvCxnSpPr>
        <p:spPr>
          <a:xfrm flipV="1">
            <a:off x="3668219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12EAB18-7471-1541-4D86-EE36B58B30D5}"/>
              </a:ext>
            </a:extLst>
          </p:cNvPr>
          <p:cNvCxnSpPr>
            <a:cxnSpLocks/>
          </p:cNvCxnSpPr>
          <p:nvPr/>
        </p:nvCxnSpPr>
        <p:spPr>
          <a:xfrm flipV="1">
            <a:off x="3706061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AAC384-3F4C-145A-29FC-F123A66264ED}"/>
              </a:ext>
            </a:extLst>
          </p:cNvPr>
          <p:cNvCxnSpPr>
            <a:cxnSpLocks/>
          </p:cNvCxnSpPr>
          <p:nvPr/>
        </p:nvCxnSpPr>
        <p:spPr>
          <a:xfrm flipV="1">
            <a:off x="3741265" y="1647190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F690F18-BD1C-5134-32AB-E262A117346C}"/>
              </a:ext>
            </a:extLst>
          </p:cNvPr>
          <p:cNvCxnSpPr>
            <a:cxnSpLocks/>
          </p:cNvCxnSpPr>
          <p:nvPr/>
        </p:nvCxnSpPr>
        <p:spPr>
          <a:xfrm flipV="1">
            <a:off x="3668219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820BE44-1AB3-4C4A-35BD-14C998DDA43A}"/>
              </a:ext>
            </a:extLst>
          </p:cNvPr>
          <p:cNvCxnSpPr>
            <a:cxnSpLocks/>
          </p:cNvCxnSpPr>
          <p:nvPr/>
        </p:nvCxnSpPr>
        <p:spPr>
          <a:xfrm flipV="1">
            <a:off x="3709504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CF56CC-1660-6B4F-E21E-0BC440F309F1}"/>
              </a:ext>
            </a:extLst>
          </p:cNvPr>
          <p:cNvCxnSpPr>
            <a:cxnSpLocks/>
          </p:cNvCxnSpPr>
          <p:nvPr/>
        </p:nvCxnSpPr>
        <p:spPr>
          <a:xfrm flipV="1">
            <a:off x="3743099" y="1647190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793BF8-FC46-2A77-D13B-2286F741A6BF}"/>
              </a:ext>
            </a:extLst>
          </p:cNvPr>
          <p:cNvCxnSpPr>
            <a:cxnSpLocks/>
          </p:cNvCxnSpPr>
          <p:nvPr/>
        </p:nvCxnSpPr>
        <p:spPr>
          <a:xfrm flipV="1">
            <a:off x="3783580" y="1636871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C7CC446-FBB4-478A-CC89-CE5CA0976C3E}"/>
              </a:ext>
            </a:extLst>
          </p:cNvPr>
          <p:cNvCxnSpPr/>
          <p:nvPr/>
        </p:nvCxnSpPr>
        <p:spPr>
          <a:xfrm>
            <a:off x="3779365" y="1838227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1CBFABE-F196-8230-B03E-83DA80119F29}"/>
              </a:ext>
            </a:extLst>
          </p:cNvPr>
          <p:cNvSpPr/>
          <p:nvPr/>
        </p:nvSpPr>
        <p:spPr>
          <a:xfrm>
            <a:off x="3847875" y="1594008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14773B-F0F3-DF3C-96F9-02B3BEE6F239}"/>
              </a:ext>
            </a:extLst>
          </p:cNvPr>
          <p:cNvCxnSpPr>
            <a:stCxn id="38" idx="3"/>
          </p:cNvCxnSpPr>
          <p:nvPr/>
        </p:nvCxnSpPr>
        <p:spPr>
          <a:xfrm>
            <a:off x="4266975" y="1803558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8550EA3-701C-B462-2CB2-CC16A70B1E57}"/>
              </a:ext>
            </a:extLst>
          </p:cNvPr>
          <p:cNvCxnSpPr>
            <a:cxnSpLocks/>
          </p:cNvCxnSpPr>
          <p:nvPr/>
        </p:nvCxnSpPr>
        <p:spPr>
          <a:xfrm flipV="1">
            <a:off x="4331269" y="1803558"/>
            <a:ext cx="0" cy="177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E078C5-1BB5-4F05-8824-F5F806ED13B9}"/>
              </a:ext>
            </a:extLst>
          </p:cNvPr>
          <p:cNvCxnSpPr>
            <a:cxnSpLocks/>
          </p:cNvCxnSpPr>
          <p:nvPr/>
        </p:nvCxnSpPr>
        <p:spPr>
          <a:xfrm flipV="1">
            <a:off x="4331269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8B098DE-7756-A306-5225-1B8C00A5055D}"/>
              </a:ext>
            </a:extLst>
          </p:cNvPr>
          <p:cNvCxnSpPr>
            <a:cxnSpLocks/>
          </p:cNvCxnSpPr>
          <p:nvPr/>
        </p:nvCxnSpPr>
        <p:spPr>
          <a:xfrm flipV="1">
            <a:off x="4369112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3344914-0485-96B3-BC2A-F7965CD06675}"/>
              </a:ext>
            </a:extLst>
          </p:cNvPr>
          <p:cNvCxnSpPr>
            <a:cxnSpLocks/>
          </p:cNvCxnSpPr>
          <p:nvPr/>
        </p:nvCxnSpPr>
        <p:spPr>
          <a:xfrm flipV="1">
            <a:off x="4406954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3CF0B25-5DC6-B93F-B132-0F06CFCE49DD}"/>
              </a:ext>
            </a:extLst>
          </p:cNvPr>
          <p:cNvCxnSpPr>
            <a:cxnSpLocks/>
          </p:cNvCxnSpPr>
          <p:nvPr/>
        </p:nvCxnSpPr>
        <p:spPr>
          <a:xfrm flipV="1">
            <a:off x="4442158" y="1647189"/>
            <a:ext cx="40481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D284737-81E1-31B4-954B-60ED95CCECD4}"/>
              </a:ext>
            </a:extLst>
          </p:cNvPr>
          <p:cNvCxnSpPr>
            <a:cxnSpLocks/>
          </p:cNvCxnSpPr>
          <p:nvPr/>
        </p:nvCxnSpPr>
        <p:spPr>
          <a:xfrm flipV="1">
            <a:off x="4369112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E24D51A-245F-691D-EB58-6833B572FCCD}"/>
              </a:ext>
            </a:extLst>
          </p:cNvPr>
          <p:cNvCxnSpPr>
            <a:cxnSpLocks/>
          </p:cNvCxnSpPr>
          <p:nvPr/>
        </p:nvCxnSpPr>
        <p:spPr>
          <a:xfrm flipV="1">
            <a:off x="4410397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0ED4C48-D704-5381-3F2B-A1392EDED75B}"/>
              </a:ext>
            </a:extLst>
          </p:cNvPr>
          <p:cNvCxnSpPr>
            <a:cxnSpLocks/>
          </p:cNvCxnSpPr>
          <p:nvPr/>
        </p:nvCxnSpPr>
        <p:spPr>
          <a:xfrm flipV="1">
            <a:off x="4443992" y="1647189"/>
            <a:ext cx="6886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DB10F3A-7B8E-8209-0D60-AFF83F0AC1C4}"/>
              </a:ext>
            </a:extLst>
          </p:cNvPr>
          <p:cNvCxnSpPr>
            <a:cxnSpLocks/>
          </p:cNvCxnSpPr>
          <p:nvPr/>
        </p:nvCxnSpPr>
        <p:spPr>
          <a:xfrm flipV="1">
            <a:off x="4484473" y="1636870"/>
            <a:ext cx="2268" cy="2092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CC66F51-35AD-43B8-A9EB-19831B01CDBC}"/>
              </a:ext>
            </a:extLst>
          </p:cNvPr>
          <p:cNvCxnSpPr/>
          <p:nvPr/>
        </p:nvCxnSpPr>
        <p:spPr>
          <a:xfrm>
            <a:off x="4480258" y="1838226"/>
            <a:ext cx="73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F2613AF-94D4-96CF-E22D-E04F4DEDF78A}"/>
              </a:ext>
            </a:extLst>
          </p:cNvPr>
          <p:cNvSpPr/>
          <p:nvPr/>
        </p:nvSpPr>
        <p:spPr>
          <a:xfrm>
            <a:off x="4916377" y="1589642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B0A171-1B50-4509-4DC8-A15AB94863FA}"/>
              </a:ext>
            </a:extLst>
          </p:cNvPr>
          <p:cNvSpPr txBox="1"/>
          <p:nvPr/>
        </p:nvSpPr>
        <p:spPr>
          <a:xfrm>
            <a:off x="4561396" y="1594008"/>
            <a:ext cx="34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6C77BD9-4566-0263-0D5E-3A5DB19E1DF5}"/>
              </a:ext>
            </a:extLst>
          </p:cNvPr>
          <p:cNvSpPr/>
          <p:nvPr/>
        </p:nvSpPr>
        <p:spPr>
          <a:xfrm>
            <a:off x="6434963" y="1615242"/>
            <a:ext cx="419100" cy="4191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F267A7F-08AB-2A72-490B-6077A7C3C067}"/>
              </a:ext>
            </a:extLst>
          </p:cNvPr>
          <p:cNvCxnSpPr>
            <a:stCxn id="63" idx="3"/>
          </p:cNvCxnSpPr>
          <p:nvPr/>
        </p:nvCxnSpPr>
        <p:spPr>
          <a:xfrm>
            <a:off x="6854063" y="1824792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371277E-53B8-5BFA-9E63-234F66950EED}"/>
              </a:ext>
            </a:extLst>
          </p:cNvPr>
          <p:cNvCxnSpPr>
            <a:cxnSpLocks/>
          </p:cNvCxnSpPr>
          <p:nvPr/>
        </p:nvCxnSpPr>
        <p:spPr>
          <a:xfrm flipV="1">
            <a:off x="6918357" y="1824792"/>
            <a:ext cx="0" cy="1770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A8F6216-5216-E9B5-D7FA-794D588EAF38}"/>
              </a:ext>
            </a:extLst>
          </p:cNvPr>
          <p:cNvCxnSpPr>
            <a:cxnSpLocks/>
          </p:cNvCxnSpPr>
          <p:nvPr/>
        </p:nvCxnSpPr>
        <p:spPr>
          <a:xfrm flipV="1">
            <a:off x="6918357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0367BFA-C4DA-1D04-026F-7D422DE4E051}"/>
              </a:ext>
            </a:extLst>
          </p:cNvPr>
          <p:cNvCxnSpPr>
            <a:cxnSpLocks/>
          </p:cNvCxnSpPr>
          <p:nvPr/>
        </p:nvCxnSpPr>
        <p:spPr>
          <a:xfrm flipV="1">
            <a:off x="6956200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1536F19-6974-87C5-DF6F-DEAF8C35BC30}"/>
              </a:ext>
            </a:extLst>
          </p:cNvPr>
          <p:cNvCxnSpPr>
            <a:cxnSpLocks/>
          </p:cNvCxnSpPr>
          <p:nvPr/>
        </p:nvCxnSpPr>
        <p:spPr>
          <a:xfrm flipV="1">
            <a:off x="6994042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020D8DE-0747-235F-C3DB-5DC89A30AC62}"/>
              </a:ext>
            </a:extLst>
          </p:cNvPr>
          <p:cNvCxnSpPr>
            <a:cxnSpLocks/>
          </p:cNvCxnSpPr>
          <p:nvPr/>
        </p:nvCxnSpPr>
        <p:spPr>
          <a:xfrm flipV="1">
            <a:off x="7029246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AC96207-FEA5-44B0-ECC7-17305B1BC253}"/>
              </a:ext>
            </a:extLst>
          </p:cNvPr>
          <p:cNvCxnSpPr>
            <a:cxnSpLocks/>
          </p:cNvCxnSpPr>
          <p:nvPr/>
        </p:nvCxnSpPr>
        <p:spPr>
          <a:xfrm flipV="1">
            <a:off x="6956200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979B31D-1980-A847-7C10-AFF707CE2DCD}"/>
              </a:ext>
            </a:extLst>
          </p:cNvPr>
          <p:cNvCxnSpPr>
            <a:cxnSpLocks/>
          </p:cNvCxnSpPr>
          <p:nvPr/>
        </p:nvCxnSpPr>
        <p:spPr>
          <a:xfrm flipV="1">
            <a:off x="6997485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45CF113-6A4E-F424-09AA-37F2A4C12D9B}"/>
              </a:ext>
            </a:extLst>
          </p:cNvPr>
          <p:cNvCxnSpPr>
            <a:cxnSpLocks/>
          </p:cNvCxnSpPr>
          <p:nvPr/>
        </p:nvCxnSpPr>
        <p:spPr>
          <a:xfrm flipV="1">
            <a:off x="7031080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60C502F-199F-ED4F-83AA-712A21ED3079}"/>
              </a:ext>
            </a:extLst>
          </p:cNvPr>
          <p:cNvCxnSpPr>
            <a:cxnSpLocks/>
          </p:cNvCxnSpPr>
          <p:nvPr/>
        </p:nvCxnSpPr>
        <p:spPr>
          <a:xfrm flipV="1">
            <a:off x="7071561" y="1658104"/>
            <a:ext cx="2268" cy="209293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12194E5-B0DF-276A-DB33-975AB8BB8423}"/>
              </a:ext>
            </a:extLst>
          </p:cNvPr>
          <p:cNvCxnSpPr/>
          <p:nvPr/>
        </p:nvCxnSpPr>
        <p:spPr>
          <a:xfrm>
            <a:off x="7067346" y="1859460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5B6B61B5-C629-B7FE-7B51-659EF10ED7D2}"/>
              </a:ext>
            </a:extLst>
          </p:cNvPr>
          <p:cNvSpPr/>
          <p:nvPr/>
        </p:nvSpPr>
        <p:spPr>
          <a:xfrm>
            <a:off x="7143545" y="1615242"/>
            <a:ext cx="419100" cy="41910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BBF0590-E449-212A-770E-A2B03999936B}"/>
              </a:ext>
            </a:extLst>
          </p:cNvPr>
          <p:cNvCxnSpPr>
            <a:stCxn id="75" idx="3"/>
          </p:cNvCxnSpPr>
          <p:nvPr/>
        </p:nvCxnSpPr>
        <p:spPr>
          <a:xfrm>
            <a:off x="7562645" y="1824792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79EDD8E-64B4-C9B7-2BAC-82618EF12FA6}"/>
              </a:ext>
            </a:extLst>
          </p:cNvPr>
          <p:cNvCxnSpPr>
            <a:cxnSpLocks/>
          </p:cNvCxnSpPr>
          <p:nvPr/>
        </p:nvCxnSpPr>
        <p:spPr>
          <a:xfrm flipV="1">
            <a:off x="7626939" y="1824792"/>
            <a:ext cx="0" cy="1770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EF44869-96BB-26ED-6990-40D6C26344FF}"/>
              </a:ext>
            </a:extLst>
          </p:cNvPr>
          <p:cNvCxnSpPr>
            <a:cxnSpLocks/>
          </p:cNvCxnSpPr>
          <p:nvPr/>
        </p:nvCxnSpPr>
        <p:spPr>
          <a:xfrm flipV="1">
            <a:off x="7626939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6D25E79-95A0-2835-B768-936B4E4D8CE0}"/>
              </a:ext>
            </a:extLst>
          </p:cNvPr>
          <p:cNvCxnSpPr>
            <a:cxnSpLocks/>
          </p:cNvCxnSpPr>
          <p:nvPr/>
        </p:nvCxnSpPr>
        <p:spPr>
          <a:xfrm flipV="1">
            <a:off x="7664782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E5F4EC9-9B7D-B389-38E9-E5AEF7AC5AB5}"/>
              </a:ext>
            </a:extLst>
          </p:cNvPr>
          <p:cNvCxnSpPr>
            <a:cxnSpLocks/>
          </p:cNvCxnSpPr>
          <p:nvPr/>
        </p:nvCxnSpPr>
        <p:spPr>
          <a:xfrm flipV="1">
            <a:off x="7702624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CF57301-7C33-D897-8A1A-1E987B2C26DC}"/>
              </a:ext>
            </a:extLst>
          </p:cNvPr>
          <p:cNvCxnSpPr>
            <a:cxnSpLocks/>
          </p:cNvCxnSpPr>
          <p:nvPr/>
        </p:nvCxnSpPr>
        <p:spPr>
          <a:xfrm flipV="1">
            <a:off x="7737828" y="1668423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EE4B7C5-5C1E-C086-745B-B6AEB63C1762}"/>
              </a:ext>
            </a:extLst>
          </p:cNvPr>
          <p:cNvCxnSpPr>
            <a:cxnSpLocks/>
          </p:cNvCxnSpPr>
          <p:nvPr/>
        </p:nvCxnSpPr>
        <p:spPr>
          <a:xfrm flipV="1">
            <a:off x="7664782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1BE81DE-03C5-581A-3812-0BB3E3D16DA3}"/>
              </a:ext>
            </a:extLst>
          </p:cNvPr>
          <p:cNvCxnSpPr>
            <a:cxnSpLocks/>
          </p:cNvCxnSpPr>
          <p:nvPr/>
        </p:nvCxnSpPr>
        <p:spPr>
          <a:xfrm flipV="1">
            <a:off x="7706067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E8707B8-C744-B9C3-FFA7-9029CAAF21C4}"/>
              </a:ext>
            </a:extLst>
          </p:cNvPr>
          <p:cNvCxnSpPr>
            <a:cxnSpLocks/>
          </p:cNvCxnSpPr>
          <p:nvPr/>
        </p:nvCxnSpPr>
        <p:spPr>
          <a:xfrm flipV="1">
            <a:off x="7739662" y="1668423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15CBC6D-9D97-BDA0-CCD2-4F12B453A566}"/>
              </a:ext>
            </a:extLst>
          </p:cNvPr>
          <p:cNvCxnSpPr>
            <a:cxnSpLocks/>
          </p:cNvCxnSpPr>
          <p:nvPr/>
        </p:nvCxnSpPr>
        <p:spPr>
          <a:xfrm flipV="1">
            <a:off x="7780143" y="1658104"/>
            <a:ext cx="2268" cy="209293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DA8E464-2DEA-B6E5-60A0-9CA1CDA31367}"/>
              </a:ext>
            </a:extLst>
          </p:cNvPr>
          <p:cNvCxnSpPr/>
          <p:nvPr/>
        </p:nvCxnSpPr>
        <p:spPr>
          <a:xfrm>
            <a:off x="7775928" y="1859460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7DECB1CA-BB00-8B20-EF30-791D9F24E20E}"/>
              </a:ext>
            </a:extLst>
          </p:cNvPr>
          <p:cNvSpPr/>
          <p:nvPr/>
        </p:nvSpPr>
        <p:spPr>
          <a:xfrm>
            <a:off x="7844438" y="1615241"/>
            <a:ext cx="419100" cy="41910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86FFCEE-8E95-F34C-10F2-2FB7E44E2578}"/>
              </a:ext>
            </a:extLst>
          </p:cNvPr>
          <p:cNvCxnSpPr>
            <a:stCxn id="87" idx="3"/>
          </p:cNvCxnSpPr>
          <p:nvPr/>
        </p:nvCxnSpPr>
        <p:spPr>
          <a:xfrm>
            <a:off x="8263538" y="1824791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652CC38-CD76-278F-74A9-6A323CF5BDDE}"/>
              </a:ext>
            </a:extLst>
          </p:cNvPr>
          <p:cNvCxnSpPr>
            <a:cxnSpLocks/>
          </p:cNvCxnSpPr>
          <p:nvPr/>
        </p:nvCxnSpPr>
        <p:spPr>
          <a:xfrm flipV="1">
            <a:off x="8327832" y="1824791"/>
            <a:ext cx="0" cy="1770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C36FD3C-D563-457F-4CC6-EA99C362D734}"/>
              </a:ext>
            </a:extLst>
          </p:cNvPr>
          <p:cNvCxnSpPr>
            <a:cxnSpLocks/>
          </p:cNvCxnSpPr>
          <p:nvPr/>
        </p:nvCxnSpPr>
        <p:spPr>
          <a:xfrm flipV="1">
            <a:off x="8327832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FFAD4F9-1DE0-2A94-AE73-FD0B7F15E2AB}"/>
              </a:ext>
            </a:extLst>
          </p:cNvPr>
          <p:cNvCxnSpPr>
            <a:cxnSpLocks/>
          </p:cNvCxnSpPr>
          <p:nvPr/>
        </p:nvCxnSpPr>
        <p:spPr>
          <a:xfrm flipV="1">
            <a:off x="8365675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7E36E9C-9005-53E8-EF98-859A89EC5259}"/>
              </a:ext>
            </a:extLst>
          </p:cNvPr>
          <p:cNvCxnSpPr>
            <a:cxnSpLocks/>
          </p:cNvCxnSpPr>
          <p:nvPr/>
        </p:nvCxnSpPr>
        <p:spPr>
          <a:xfrm flipV="1">
            <a:off x="8403517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FC60AE3-B891-AB37-44EA-6546BF2B1AB1}"/>
              </a:ext>
            </a:extLst>
          </p:cNvPr>
          <p:cNvCxnSpPr>
            <a:cxnSpLocks/>
          </p:cNvCxnSpPr>
          <p:nvPr/>
        </p:nvCxnSpPr>
        <p:spPr>
          <a:xfrm flipV="1">
            <a:off x="8438721" y="1668422"/>
            <a:ext cx="40481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A638B34-02A8-C11F-C3E4-0D56AA6FA424}"/>
              </a:ext>
            </a:extLst>
          </p:cNvPr>
          <p:cNvCxnSpPr>
            <a:cxnSpLocks/>
          </p:cNvCxnSpPr>
          <p:nvPr/>
        </p:nvCxnSpPr>
        <p:spPr>
          <a:xfrm flipV="1">
            <a:off x="8365675" y="1668422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F7C3BA5-133D-AAFD-A829-5BF7B72D5A00}"/>
              </a:ext>
            </a:extLst>
          </p:cNvPr>
          <p:cNvCxnSpPr>
            <a:cxnSpLocks/>
          </p:cNvCxnSpPr>
          <p:nvPr/>
        </p:nvCxnSpPr>
        <p:spPr>
          <a:xfrm flipV="1">
            <a:off x="8406960" y="1668422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875E13-ACF6-88AE-9E40-34F100858A25}"/>
              </a:ext>
            </a:extLst>
          </p:cNvPr>
          <p:cNvCxnSpPr>
            <a:cxnSpLocks/>
          </p:cNvCxnSpPr>
          <p:nvPr/>
        </p:nvCxnSpPr>
        <p:spPr>
          <a:xfrm flipV="1">
            <a:off x="8440555" y="1668422"/>
            <a:ext cx="6886" cy="33337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5440D88-02C1-C705-8E46-9A22A6D95125}"/>
              </a:ext>
            </a:extLst>
          </p:cNvPr>
          <p:cNvCxnSpPr>
            <a:cxnSpLocks/>
          </p:cNvCxnSpPr>
          <p:nvPr/>
        </p:nvCxnSpPr>
        <p:spPr>
          <a:xfrm flipV="1">
            <a:off x="8481036" y="1658103"/>
            <a:ext cx="2268" cy="209293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3CF3045-F487-83D6-42FA-D0C178B3EF31}"/>
              </a:ext>
            </a:extLst>
          </p:cNvPr>
          <p:cNvCxnSpPr/>
          <p:nvPr/>
        </p:nvCxnSpPr>
        <p:spPr>
          <a:xfrm>
            <a:off x="8476821" y="1859459"/>
            <a:ext cx="738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2121129D-614F-9168-D0C9-5B568113CF35}"/>
              </a:ext>
            </a:extLst>
          </p:cNvPr>
          <p:cNvSpPr/>
          <p:nvPr/>
        </p:nvSpPr>
        <p:spPr>
          <a:xfrm>
            <a:off x="8912940" y="1610875"/>
            <a:ext cx="419100" cy="4191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</a:t>
            </a:r>
            <a:r>
              <a:rPr lang="en-US" sz="1400" b="1" baseline="-25000" dirty="0"/>
              <a:t>b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476B96D-665C-1695-548C-E704F34CD135}"/>
              </a:ext>
            </a:extLst>
          </p:cNvPr>
          <p:cNvSpPr txBox="1"/>
          <p:nvPr/>
        </p:nvSpPr>
        <p:spPr>
          <a:xfrm>
            <a:off x="8557959" y="1615241"/>
            <a:ext cx="34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101" name="Arrow: Left-Right 100">
            <a:extLst>
              <a:ext uri="{FF2B5EF4-FFF2-40B4-BE49-F238E27FC236}">
                <a16:creationId xmlns:a16="http://schemas.microsoft.com/office/drawing/2014/main" id="{809359F1-08F1-0437-3016-AA388CD1A591}"/>
              </a:ext>
            </a:extLst>
          </p:cNvPr>
          <p:cNvSpPr/>
          <p:nvPr/>
        </p:nvSpPr>
        <p:spPr>
          <a:xfrm>
            <a:off x="5415842" y="1704020"/>
            <a:ext cx="925677" cy="232807"/>
          </a:xfrm>
          <a:prstGeom prst="left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3330453-2669-30D6-C20D-DB2E277DED39}"/>
              </a:ext>
            </a:extLst>
          </p:cNvPr>
          <p:cNvSpPr txBox="1"/>
          <p:nvPr/>
        </p:nvSpPr>
        <p:spPr>
          <a:xfrm rot="21023043">
            <a:off x="1809167" y="1217984"/>
            <a:ext cx="100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DOF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9207521-7F44-4BF8-0673-FF2DC27CE107}"/>
              </a:ext>
            </a:extLst>
          </p:cNvPr>
          <p:cNvSpPr txBox="1"/>
          <p:nvPr/>
        </p:nvSpPr>
        <p:spPr>
          <a:xfrm rot="21023043">
            <a:off x="8441857" y="1222632"/>
            <a:ext cx="100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DOF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AB2B93-BA94-5EEC-3ECC-4D866ACCCA49}"/>
              </a:ext>
            </a:extLst>
          </p:cNvPr>
          <p:cNvSpPr/>
          <p:nvPr/>
        </p:nvSpPr>
        <p:spPr>
          <a:xfrm>
            <a:off x="2217501" y="2277427"/>
            <a:ext cx="2825750" cy="2996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Truth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17695A6-67B6-EF48-375F-60988E487830}"/>
              </a:ext>
            </a:extLst>
          </p:cNvPr>
          <p:cNvSpPr/>
          <p:nvPr/>
        </p:nvSpPr>
        <p:spPr>
          <a:xfrm>
            <a:off x="5259719" y="2270522"/>
            <a:ext cx="4473005" cy="30032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Modal </a:t>
            </a:r>
            <a:r>
              <a:rPr lang="en-US" dirty="0" err="1"/>
              <a:t>Substructuring</a:t>
            </a:r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74045A8-BBDB-5FF0-CDAE-9797D477AAF9}"/>
              </a:ext>
            </a:extLst>
          </p:cNvPr>
          <p:cNvSpPr/>
          <p:nvPr/>
        </p:nvSpPr>
        <p:spPr>
          <a:xfrm>
            <a:off x="2373612" y="2923956"/>
            <a:ext cx="2530475" cy="21934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CCCE69-88AF-D695-8D07-2E72BE3C5A51}"/>
              </a:ext>
            </a:extLst>
          </p:cNvPr>
          <p:cNvSpPr/>
          <p:nvPr/>
        </p:nvSpPr>
        <p:spPr>
          <a:xfrm>
            <a:off x="5426407" y="2897603"/>
            <a:ext cx="4111055" cy="2198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4EC23074-5041-6324-1331-861377EF9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359465"/>
              </p:ext>
            </p:extLst>
          </p:nvPr>
        </p:nvGraphicFramePr>
        <p:xfrm>
          <a:off x="2471275" y="3036730"/>
          <a:ext cx="229552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763">
                  <a:extLst>
                    <a:ext uri="{9D8B030D-6E8A-4147-A177-3AD203B41FA5}">
                      <a16:colId xmlns:a16="http://schemas.microsoft.com/office/drawing/2014/main" val="2240448281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1178039245"/>
                    </a:ext>
                  </a:extLst>
                </a:gridCol>
              </a:tblGrid>
              <a:tr h="3443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 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815014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210665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289.29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064918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550.25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400636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850.88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92318"/>
                  </a:ext>
                </a:extLst>
              </a:tr>
            </a:tbl>
          </a:graphicData>
        </a:graphic>
      </p:graphicFrame>
      <p:graphicFrame>
        <p:nvGraphicFramePr>
          <p:cNvPr id="110" name="Table 109">
            <a:extLst>
              <a:ext uri="{FF2B5EF4-FFF2-40B4-BE49-F238E27FC236}">
                <a16:creationId xmlns:a16="http://schemas.microsoft.com/office/drawing/2014/main" id="{DD96A5D7-8692-1E61-36BE-648B59DCC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387690"/>
              </p:ext>
            </p:extLst>
          </p:nvPr>
        </p:nvGraphicFramePr>
        <p:xfrm>
          <a:off x="5586828" y="3033651"/>
          <a:ext cx="3839478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826">
                  <a:extLst>
                    <a:ext uri="{9D8B030D-6E8A-4147-A177-3AD203B41FA5}">
                      <a16:colId xmlns:a16="http://schemas.microsoft.com/office/drawing/2014/main" val="2240448281"/>
                    </a:ext>
                  </a:extLst>
                </a:gridCol>
                <a:gridCol w="1279826">
                  <a:extLst>
                    <a:ext uri="{9D8B030D-6E8A-4147-A177-3AD203B41FA5}">
                      <a16:colId xmlns:a16="http://schemas.microsoft.com/office/drawing/2014/main" val="1178039245"/>
                    </a:ext>
                  </a:extLst>
                </a:gridCol>
                <a:gridCol w="1279826">
                  <a:extLst>
                    <a:ext uri="{9D8B030D-6E8A-4147-A177-3AD203B41FA5}">
                      <a16:colId xmlns:a16="http://schemas.microsoft.com/office/drawing/2014/main" val="3018896473"/>
                    </a:ext>
                  </a:extLst>
                </a:gridCol>
              </a:tblGrid>
              <a:tr h="3443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 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Error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815014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210665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308.43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+6.6%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064918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554.13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+0.7%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400636"/>
                  </a:ext>
                </a:extLst>
              </a:tr>
              <a:tr h="2995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901.91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+5.9%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411332"/>
                  </a:ext>
                </a:extLst>
              </a:tr>
            </a:tbl>
          </a:graphicData>
        </a:graphic>
      </p:graphicFrame>
      <p:sp>
        <p:nvSpPr>
          <p:cNvPr id="111" name="Rectangle 110">
            <a:extLst>
              <a:ext uri="{FF2B5EF4-FFF2-40B4-BE49-F238E27FC236}">
                <a16:creationId xmlns:a16="http://schemas.microsoft.com/office/drawing/2014/main" id="{7BAEAE68-3910-1405-90CB-F26A8F156E92}"/>
              </a:ext>
            </a:extLst>
          </p:cNvPr>
          <p:cNvSpPr/>
          <p:nvPr/>
        </p:nvSpPr>
        <p:spPr>
          <a:xfrm>
            <a:off x="5548745" y="3497130"/>
            <a:ext cx="3920819" cy="1556433"/>
          </a:xfrm>
          <a:custGeom>
            <a:avLst/>
            <a:gdLst>
              <a:gd name="connsiteX0" fmla="*/ 0 w 3920819"/>
              <a:gd name="connsiteY0" fmla="*/ 0 h 1556433"/>
              <a:gd name="connsiteX1" fmla="*/ 638533 w 3920819"/>
              <a:gd name="connsiteY1" fmla="*/ 0 h 1556433"/>
              <a:gd name="connsiteX2" fmla="*/ 1198650 w 3920819"/>
              <a:gd name="connsiteY2" fmla="*/ 0 h 1556433"/>
              <a:gd name="connsiteX3" fmla="*/ 1758767 w 3920819"/>
              <a:gd name="connsiteY3" fmla="*/ 0 h 1556433"/>
              <a:gd name="connsiteX4" fmla="*/ 2318884 w 3920819"/>
              <a:gd name="connsiteY4" fmla="*/ 0 h 1556433"/>
              <a:gd name="connsiteX5" fmla="*/ 2800585 w 3920819"/>
              <a:gd name="connsiteY5" fmla="*/ 0 h 1556433"/>
              <a:gd name="connsiteX6" fmla="*/ 3439118 w 3920819"/>
              <a:gd name="connsiteY6" fmla="*/ 0 h 1556433"/>
              <a:gd name="connsiteX7" fmla="*/ 3920819 w 3920819"/>
              <a:gd name="connsiteY7" fmla="*/ 0 h 1556433"/>
              <a:gd name="connsiteX8" fmla="*/ 3920819 w 3920819"/>
              <a:gd name="connsiteY8" fmla="*/ 534375 h 1556433"/>
              <a:gd name="connsiteX9" fmla="*/ 3920819 w 3920819"/>
              <a:gd name="connsiteY9" fmla="*/ 1068751 h 1556433"/>
              <a:gd name="connsiteX10" fmla="*/ 3920819 w 3920819"/>
              <a:gd name="connsiteY10" fmla="*/ 1556433 h 1556433"/>
              <a:gd name="connsiteX11" fmla="*/ 3439118 w 3920819"/>
              <a:gd name="connsiteY11" fmla="*/ 1556433 h 1556433"/>
              <a:gd name="connsiteX12" fmla="*/ 2839793 w 3920819"/>
              <a:gd name="connsiteY12" fmla="*/ 1556433 h 1556433"/>
              <a:gd name="connsiteX13" fmla="*/ 2240468 w 3920819"/>
              <a:gd name="connsiteY13" fmla="*/ 1556433 h 1556433"/>
              <a:gd name="connsiteX14" fmla="*/ 1641143 w 3920819"/>
              <a:gd name="connsiteY14" fmla="*/ 1556433 h 1556433"/>
              <a:gd name="connsiteX15" fmla="*/ 1120234 w 3920819"/>
              <a:gd name="connsiteY15" fmla="*/ 1556433 h 1556433"/>
              <a:gd name="connsiteX16" fmla="*/ 638533 w 3920819"/>
              <a:gd name="connsiteY16" fmla="*/ 1556433 h 1556433"/>
              <a:gd name="connsiteX17" fmla="*/ 0 w 3920819"/>
              <a:gd name="connsiteY17" fmla="*/ 1556433 h 1556433"/>
              <a:gd name="connsiteX18" fmla="*/ 0 w 3920819"/>
              <a:gd name="connsiteY18" fmla="*/ 1022058 h 1556433"/>
              <a:gd name="connsiteX19" fmla="*/ 0 w 3920819"/>
              <a:gd name="connsiteY19" fmla="*/ 487682 h 1556433"/>
              <a:gd name="connsiteX20" fmla="*/ 0 w 3920819"/>
              <a:gd name="connsiteY20" fmla="*/ 0 h 1556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0819" h="1556433" extrusionOk="0">
                <a:moveTo>
                  <a:pt x="0" y="0"/>
                </a:moveTo>
                <a:cubicBezTo>
                  <a:pt x="292348" y="-29169"/>
                  <a:pt x="389427" y="47888"/>
                  <a:pt x="638533" y="0"/>
                </a:cubicBezTo>
                <a:cubicBezTo>
                  <a:pt x="887639" y="-47888"/>
                  <a:pt x="1056422" y="45904"/>
                  <a:pt x="1198650" y="0"/>
                </a:cubicBezTo>
                <a:cubicBezTo>
                  <a:pt x="1340878" y="-45904"/>
                  <a:pt x="1514560" y="19565"/>
                  <a:pt x="1758767" y="0"/>
                </a:cubicBezTo>
                <a:cubicBezTo>
                  <a:pt x="2002974" y="-19565"/>
                  <a:pt x="2087336" y="28268"/>
                  <a:pt x="2318884" y="0"/>
                </a:cubicBezTo>
                <a:cubicBezTo>
                  <a:pt x="2550432" y="-28268"/>
                  <a:pt x="2605879" y="1224"/>
                  <a:pt x="2800585" y="0"/>
                </a:cubicBezTo>
                <a:cubicBezTo>
                  <a:pt x="2995291" y="-1224"/>
                  <a:pt x="3195339" y="29071"/>
                  <a:pt x="3439118" y="0"/>
                </a:cubicBezTo>
                <a:cubicBezTo>
                  <a:pt x="3682897" y="-29071"/>
                  <a:pt x="3705847" y="3775"/>
                  <a:pt x="3920819" y="0"/>
                </a:cubicBezTo>
                <a:cubicBezTo>
                  <a:pt x="3963496" y="233068"/>
                  <a:pt x="3908100" y="286129"/>
                  <a:pt x="3920819" y="534375"/>
                </a:cubicBezTo>
                <a:cubicBezTo>
                  <a:pt x="3933538" y="782621"/>
                  <a:pt x="3873869" y="826173"/>
                  <a:pt x="3920819" y="1068751"/>
                </a:cubicBezTo>
                <a:cubicBezTo>
                  <a:pt x="3967769" y="1311329"/>
                  <a:pt x="3866509" y="1316543"/>
                  <a:pt x="3920819" y="1556433"/>
                </a:cubicBezTo>
                <a:cubicBezTo>
                  <a:pt x="3767111" y="1560017"/>
                  <a:pt x="3570159" y="1527269"/>
                  <a:pt x="3439118" y="1556433"/>
                </a:cubicBezTo>
                <a:cubicBezTo>
                  <a:pt x="3308077" y="1585597"/>
                  <a:pt x="3020937" y="1545467"/>
                  <a:pt x="2839793" y="1556433"/>
                </a:cubicBezTo>
                <a:cubicBezTo>
                  <a:pt x="2658650" y="1567399"/>
                  <a:pt x="2376515" y="1499637"/>
                  <a:pt x="2240468" y="1556433"/>
                </a:cubicBezTo>
                <a:cubicBezTo>
                  <a:pt x="2104422" y="1613229"/>
                  <a:pt x="1904141" y="1500053"/>
                  <a:pt x="1641143" y="1556433"/>
                </a:cubicBezTo>
                <a:cubicBezTo>
                  <a:pt x="1378146" y="1612813"/>
                  <a:pt x="1234491" y="1516654"/>
                  <a:pt x="1120234" y="1556433"/>
                </a:cubicBezTo>
                <a:cubicBezTo>
                  <a:pt x="1005977" y="1596212"/>
                  <a:pt x="861299" y="1555735"/>
                  <a:pt x="638533" y="1556433"/>
                </a:cubicBezTo>
                <a:cubicBezTo>
                  <a:pt x="415767" y="1557131"/>
                  <a:pt x="220443" y="1489307"/>
                  <a:pt x="0" y="1556433"/>
                </a:cubicBezTo>
                <a:cubicBezTo>
                  <a:pt x="-54090" y="1354663"/>
                  <a:pt x="33101" y="1194613"/>
                  <a:pt x="0" y="1022058"/>
                </a:cubicBezTo>
                <a:cubicBezTo>
                  <a:pt x="-33101" y="849504"/>
                  <a:pt x="2999" y="695654"/>
                  <a:pt x="0" y="487682"/>
                </a:cubicBezTo>
                <a:cubicBezTo>
                  <a:pt x="-2999" y="279710"/>
                  <a:pt x="24572" y="151598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27130925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F452AB2-9A59-2DE4-2160-AFC69E340C8E}"/>
              </a:ext>
            </a:extLst>
          </p:cNvPr>
          <p:cNvSpPr/>
          <p:nvPr/>
        </p:nvSpPr>
        <p:spPr>
          <a:xfrm>
            <a:off x="3017719" y="5715050"/>
            <a:ext cx="6468460" cy="609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Whoa! What’s going on?</a:t>
            </a:r>
          </a:p>
        </p:txBody>
      </p:sp>
    </p:spTree>
    <p:extLst>
      <p:ext uri="{BB962C8B-B14F-4D97-AF65-F5344CB8AC3E}">
        <p14:creationId xmlns:p14="http://schemas.microsoft.com/office/powerpoint/2010/main" val="1830817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212231"/>
            <a:ext cx="1145223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happened?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4020-B937-00D5-9707-E3E95D6E7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491" y="939585"/>
            <a:ext cx="11337324" cy="1809013"/>
          </a:xfrm>
        </p:spPr>
        <p:txBody>
          <a:bodyPr/>
          <a:lstStyle/>
          <a:p>
            <a:r>
              <a:rPr lang="en-US" dirty="0"/>
              <a:t>We took two 10-DOF systems (20 DOFs) and reduced that to 5 modes (5 DOFs) so errors are caused by </a:t>
            </a:r>
            <a:r>
              <a:rPr lang="en-US" u="sng" dirty="0"/>
              <a:t>modal truncation</a:t>
            </a:r>
            <a:r>
              <a:rPr lang="en-US" dirty="0"/>
              <a:t>.</a:t>
            </a:r>
          </a:p>
          <a:p>
            <a:r>
              <a:rPr lang="en-US" dirty="0"/>
              <a:t>Let’s grab a different number of modes, 5 from each system.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C64647C7-F1A0-4828-21D7-B49EF7D53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717099"/>
              </p:ext>
            </p:extLst>
          </p:nvPr>
        </p:nvGraphicFramePr>
        <p:xfrm>
          <a:off x="2533137" y="2804655"/>
          <a:ext cx="2695922" cy="3568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961">
                  <a:extLst>
                    <a:ext uri="{9D8B030D-6E8A-4147-A177-3AD203B41FA5}">
                      <a16:colId xmlns:a16="http://schemas.microsoft.com/office/drawing/2014/main" val="936381622"/>
                    </a:ext>
                  </a:extLst>
                </a:gridCol>
                <a:gridCol w="1347961">
                  <a:extLst>
                    <a:ext uri="{9D8B030D-6E8A-4147-A177-3AD203B41FA5}">
                      <a16:colId xmlns:a16="http://schemas.microsoft.com/office/drawing/2014/main" val="1111947536"/>
                    </a:ext>
                  </a:extLst>
                </a:gridCol>
              </a:tblGrid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Frequency (Hz)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893475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006448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497.95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855760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983.63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070506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1445.10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783177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1870.98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819300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2250.79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36266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2575.18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4558660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2836.16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466818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3027.31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865708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3143.91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4408690"/>
                  </a:ext>
                </a:extLst>
              </a:tr>
            </a:tbl>
          </a:graphicData>
        </a:graphic>
      </p:graphicFrame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12645096-D39C-C68E-106E-E21B11931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714972"/>
              </p:ext>
            </p:extLst>
          </p:nvPr>
        </p:nvGraphicFramePr>
        <p:xfrm>
          <a:off x="6742488" y="2748598"/>
          <a:ext cx="2695922" cy="35684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7961">
                  <a:extLst>
                    <a:ext uri="{9D8B030D-6E8A-4147-A177-3AD203B41FA5}">
                      <a16:colId xmlns:a16="http://schemas.microsoft.com/office/drawing/2014/main" val="936381622"/>
                    </a:ext>
                  </a:extLst>
                </a:gridCol>
                <a:gridCol w="1347961">
                  <a:extLst>
                    <a:ext uri="{9D8B030D-6E8A-4147-A177-3AD203B41FA5}">
                      <a16:colId xmlns:a16="http://schemas.microsoft.com/office/drawing/2014/main" val="1111947536"/>
                    </a:ext>
                  </a:extLst>
                </a:gridCol>
              </a:tblGrid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Mode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Frequency (Hz)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893475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006448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609.86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855760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1204.70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070506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1769.87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783177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2291.47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8193008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2756.64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362663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3153.94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4558660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3473.57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4668187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3707.68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8657082"/>
                  </a:ext>
                </a:extLst>
              </a:tr>
              <a:tr h="3050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3850.49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4408690"/>
                  </a:ext>
                </a:extLst>
              </a:tr>
            </a:tbl>
          </a:graphicData>
        </a:graphic>
      </p:graphicFrame>
      <p:sp>
        <p:nvSpPr>
          <p:cNvPr id="85" name="Rectangle 84">
            <a:extLst>
              <a:ext uri="{FF2B5EF4-FFF2-40B4-BE49-F238E27FC236}">
                <a16:creationId xmlns:a16="http://schemas.microsoft.com/office/drawing/2014/main" id="{20B4D82F-4072-9B3A-7422-480014C6AA0B}"/>
              </a:ext>
            </a:extLst>
          </p:cNvPr>
          <p:cNvSpPr/>
          <p:nvPr/>
        </p:nvSpPr>
        <p:spPr>
          <a:xfrm>
            <a:off x="2533650" y="2804696"/>
            <a:ext cx="2688940" cy="2053053"/>
          </a:xfrm>
          <a:custGeom>
            <a:avLst/>
            <a:gdLst>
              <a:gd name="connsiteX0" fmla="*/ 0 w 2688940"/>
              <a:gd name="connsiteY0" fmla="*/ 0 h 2053053"/>
              <a:gd name="connsiteX1" fmla="*/ 591567 w 2688940"/>
              <a:gd name="connsiteY1" fmla="*/ 0 h 2053053"/>
              <a:gd name="connsiteX2" fmla="*/ 1129355 w 2688940"/>
              <a:gd name="connsiteY2" fmla="*/ 0 h 2053053"/>
              <a:gd name="connsiteX3" fmla="*/ 1667143 w 2688940"/>
              <a:gd name="connsiteY3" fmla="*/ 0 h 2053053"/>
              <a:gd name="connsiteX4" fmla="*/ 2204931 w 2688940"/>
              <a:gd name="connsiteY4" fmla="*/ 0 h 2053053"/>
              <a:gd name="connsiteX5" fmla="*/ 2688940 w 2688940"/>
              <a:gd name="connsiteY5" fmla="*/ 0 h 2053053"/>
              <a:gd name="connsiteX6" fmla="*/ 2688940 w 2688940"/>
              <a:gd name="connsiteY6" fmla="*/ 554324 h 2053053"/>
              <a:gd name="connsiteX7" fmla="*/ 2688940 w 2688940"/>
              <a:gd name="connsiteY7" fmla="*/ 1088118 h 2053053"/>
              <a:gd name="connsiteX8" fmla="*/ 2688940 w 2688940"/>
              <a:gd name="connsiteY8" fmla="*/ 1560320 h 2053053"/>
              <a:gd name="connsiteX9" fmla="*/ 2688940 w 2688940"/>
              <a:gd name="connsiteY9" fmla="*/ 2053053 h 2053053"/>
              <a:gd name="connsiteX10" fmla="*/ 2151152 w 2688940"/>
              <a:gd name="connsiteY10" fmla="*/ 2053053 h 2053053"/>
              <a:gd name="connsiteX11" fmla="*/ 1694032 w 2688940"/>
              <a:gd name="connsiteY11" fmla="*/ 2053053 h 2053053"/>
              <a:gd name="connsiteX12" fmla="*/ 1129355 w 2688940"/>
              <a:gd name="connsiteY12" fmla="*/ 2053053 h 2053053"/>
              <a:gd name="connsiteX13" fmla="*/ 564677 w 2688940"/>
              <a:gd name="connsiteY13" fmla="*/ 2053053 h 2053053"/>
              <a:gd name="connsiteX14" fmla="*/ 0 w 2688940"/>
              <a:gd name="connsiteY14" fmla="*/ 2053053 h 2053053"/>
              <a:gd name="connsiteX15" fmla="*/ 0 w 2688940"/>
              <a:gd name="connsiteY15" fmla="*/ 1560320 h 2053053"/>
              <a:gd name="connsiteX16" fmla="*/ 0 w 2688940"/>
              <a:gd name="connsiteY16" fmla="*/ 1026527 h 2053053"/>
              <a:gd name="connsiteX17" fmla="*/ 0 w 2688940"/>
              <a:gd name="connsiteY17" fmla="*/ 533794 h 2053053"/>
              <a:gd name="connsiteX18" fmla="*/ 0 w 2688940"/>
              <a:gd name="connsiteY18" fmla="*/ 0 h 2053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88940" h="2053053" extrusionOk="0">
                <a:moveTo>
                  <a:pt x="0" y="0"/>
                </a:moveTo>
                <a:cubicBezTo>
                  <a:pt x="175425" y="-1460"/>
                  <a:pt x="342349" y="31659"/>
                  <a:pt x="591567" y="0"/>
                </a:cubicBezTo>
                <a:cubicBezTo>
                  <a:pt x="840785" y="-31659"/>
                  <a:pt x="903900" y="16867"/>
                  <a:pt x="1129355" y="0"/>
                </a:cubicBezTo>
                <a:cubicBezTo>
                  <a:pt x="1354810" y="-16867"/>
                  <a:pt x="1559094" y="64145"/>
                  <a:pt x="1667143" y="0"/>
                </a:cubicBezTo>
                <a:cubicBezTo>
                  <a:pt x="1775192" y="-64145"/>
                  <a:pt x="1982057" y="37311"/>
                  <a:pt x="2204931" y="0"/>
                </a:cubicBezTo>
                <a:cubicBezTo>
                  <a:pt x="2427805" y="-37311"/>
                  <a:pt x="2559899" y="55108"/>
                  <a:pt x="2688940" y="0"/>
                </a:cubicBezTo>
                <a:cubicBezTo>
                  <a:pt x="2727467" y="185797"/>
                  <a:pt x="2655355" y="357233"/>
                  <a:pt x="2688940" y="554324"/>
                </a:cubicBezTo>
                <a:cubicBezTo>
                  <a:pt x="2722525" y="751415"/>
                  <a:pt x="2670474" y="930127"/>
                  <a:pt x="2688940" y="1088118"/>
                </a:cubicBezTo>
                <a:cubicBezTo>
                  <a:pt x="2707406" y="1246109"/>
                  <a:pt x="2688533" y="1345735"/>
                  <a:pt x="2688940" y="1560320"/>
                </a:cubicBezTo>
                <a:cubicBezTo>
                  <a:pt x="2689347" y="1774905"/>
                  <a:pt x="2652811" y="1932840"/>
                  <a:pt x="2688940" y="2053053"/>
                </a:cubicBezTo>
                <a:cubicBezTo>
                  <a:pt x="2513933" y="2078818"/>
                  <a:pt x="2410986" y="2052683"/>
                  <a:pt x="2151152" y="2053053"/>
                </a:cubicBezTo>
                <a:cubicBezTo>
                  <a:pt x="1891318" y="2053423"/>
                  <a:pt x="1868148" y="2040314"/>
                  <a:pt x="1694032" y="2053053"/>
                </a:cubicBezTo>
                <a:cubicBezTo>
                  <a:pt x="1519916" y="2065792"/>
                  <a:pt x="1282909" y="2005934"/>
                  <a:pt x="1129355" y="2053053"/>
                </a:cubicBezTo>
                <a:cubicBezTo>
                  <a:pt x="975801" y="2100172"/>
                  <a:pt x="765241" y="2052262"/>
                  <a:pt x="564677" y="2053053"/>
                </a:cubicBezTo>
                <a:cubicBezTo>
                  <a:pt x="364113" y="2053844"/>
                  <a:pt x="204888" y="1998906"/>
                  <a:pt x="0" y="2053053"/>
                </a:cubicBezTo>
                <a:cubicBezTo>
                  <a:pt x="-18581" y="1853868"/>
                  <a:pt x="58491" y="1715718"/>
                  <a:pt x="0" y="1560320"/>
                </a:cubicBezTo>
                <a:cubicBezTo>
                  <a:pt x="-58491" y="1404922"/>
                  <a:pt x="48299" y="1196730"/>
                  <a:pt x="0" y="1026527"/>
                </a:cubicBezTo>
                <a:cubicBezTo>
                  <a:pt x="-48299" y="856324"/>
                  <a:pt x="10309" y="760265"/>
                  <a:pt x="0" y="533794"/>
                </a:cubicBezTo>
                <a:cubicBezTo>
                  <a:pt x="-10309" y="307323"/>
                  <a:pt x="21266" y="219946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27130925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E7067E9-49D2-A9A9-3FAA-3F02D9A6EC41}"/>
              </a:ext>
            </a:extLst>
          </p:cNvPr>
          <p:cNvSpPr/>
          <p:nvPr/>
        </p:nvSpPr>
        <p:spPr>
          <a:xfrm>
            <a:off x="6739763" y="2758582"/>
            <a:ext cx="2688940" cy="2054718"/>
          </a:xfrm>
          <a:custGeom>
            <a:avLst/>
            <a:gdLst>
              <a:gd name="connsiteX0" fmla="*/ 0 w 2688940"/>
              <a:gd name="connsiteY0" fmla="*/ 0 h 2054718"/>
              <a:gd name="connsiteX1" fmla="*/ 591567 w 2688940"/>
              <a:gd name="connsiteY1" fmla="*/ 0 h 2054718"/>
              <a:gd name="connsiteX2" fmla="*/ 1129355 w 2688940"/>
              <a:gd name="connsiteY2" fmla="*/ 0 h 2054718"/>
              <a:gd name="connsiteX3" fmla="*/ 1667143 w 2688940"/>
              <a:gd name="connsiteY3" fmla="*/ 0 h 2054718"/>
              <a:gd name="connsiteX4" fmla="*/ 2204931 w 2688940"/>
              <a:gd name="connsiteY4" fmla="*/ 0 h 2054718"/>
              <a:gd name="connsiteX5" fmla="*/ 2688940 w 2688940"/>
              <a:gd name="connsiteY5" fmla="*/ 0 h 2054718"/>
              <a:gd name="connsiteX6" fmla="*/ 2688940 w 2688940"/>
              <a:gd name="connsiteY6" fmla="*/ 554774 h 2054718"/>
              <a:gd name="connsiteX7" fmla="*/ 2688940 w 2688940"/>
              <a:gd name="connsiteY7" fmla="*/ 1089001 h 2054718"/>
              <a:gd name="connsiteX8" fmla="*/ 2688940 w 2688940"/>
              <a:gd name="connsiteY8" fmla="*/ 1561586 h 2054718"/>
              <a:gd name="connsiteX9" fmla="*/ 2688940 w 2688940"/>
              <a:gd name="connsiteY9" fmla="*/ 2054718 h 2054718"/>
              <a:gd name="connsiteX10" fmla="*/ 2151152 w 2688940"/>
              <a:gd name="connsiteY10" fmla="*/ 2054718 h 2054718"/>
              <a:gd name="connsiteX11" fmla="*/ 1694032 w 2688940"/>
              <a:gd name="connsiteY11" fmla="*/ 2054718 h 2054718"/>
              <a:gd name="connsiteX12" fmla="*/ 1129355 w 2688940"/>
              <a:gd name="connsiteY12" fmla="*/ 2054718 h 2054718"/>
              <a:gd name="connsiteX13" fmla="*/ 564677 w 2688940"/>
              <a:gd name="connsiteY13" fmla="*/ 2054718 h 2054718"/>
              <a:gd name="connsiteX14" fmla="*/ 0 w 2688940"/>
              <a:gd name="connsiteY14" fmla="*/ 2054718 h 2054718"/>
              <a:gd name="connsiteX15" fmla="*/ 0 w 2688940"/>
              <a:gd name="connsiteY15" fmla="*/ 1561586 h 2054718"/>
              <a:gd name="connsiteX16" fmla="*/ 0 w 2688940"/>
              <a:gd name="connsiteY16" fmla="*/ 1027359 h 2054718"/>
              <a:gd name="connsiteX17" fmla="*/ 0 w 2688940"/>
              <a:gd name="connsiteY17" fmla="*/ 534227 h 2054718"/>
              <a:gd name="connsiteX18" fmla="*/ 0 w 2688940"/>
              <a:gd name="connsiteY18" fmla="*/ 0 h 205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88940" h="2054718" extrusionOk="0">
                <a:moveTo>
                  <a:pt x="0" y="0"/>
                </a:moveTo>
                <a:cubicBezTo>
                  <a:pt x="175425" y="-1460"/>
                  <a:pt x="342349" y="31659"/>
                  <a:pt x="591567" y="0"/>
                </a:cubicBezTo>
                <a:cubicBezTo>
                  <a:pt x="840785" y="-31659"/>
                  <a:pt x="903900" y="16867"/>
                  <a:pt x="1129355" y="0"/>
                </a:cubicBezTo>
                <a:cubicBezTo>
                  <a:pt x="1354810" y="-16867"/>
                  <a:pt x="1559094" y="64145"/>
                  <a:pt x="1667143" y="0"/>
                </a:cubicBezTo>
                <a:cubicBezTo>
                  <a:pt x="1775192" y="-64145"/>
                  <a:pt x="1982057" y="37311"/>
                  <a:pt x="2204931" y="0"/>
                </a:cubicBezTo>
                <a:cubicBezTo>
                  <a:pt x="2427805" y="-37311"/>
                  <a:pt x="2559899" y="55108"/>
                  <a:pt x="2688940" y="0"/>
                </a:cubicBezTo>
                <a:cubicBezTo>
                  <a:pt x="2704873" y="188456"/>
                  <a:pt x="2624976" y="311001"/>
                  <a:pt x="2688940" y="554774"/>
                </a:cubicBezTo>
                <a:cubicBezTo>
                  <a:pt x="2752904" y="798547"/>
                  <a:pt x="2661351" y="980727"/>
                  <a:pt x="2688940" y="1089001"/>
                </a:cubicBezTo>
                <a:cubicBezTo>
                  <a:pt x="2716529" y="1197275"/>
                  <a:pt x="2670448" y="1466965"/>
                  <a:pt x="2688940" y="1561586"/>
                </a:cubicBezTo>
                <a:cubicBezTo>
                  <a:pt x="2707432" y="1656207"/>
                  <a:pt x="2674050" y="1937382"/>
                  <a:pt x="2688940" y="2054718"/>
                </a:cubicBezTo>
                <a:cubicBezTo>
                  <a:pt x="2513933" y="2080483"/>
                  <a:pt x="2410986" y="2054348"/>
                  <a:pt x="2151152" y="2054718"/>
                </a:cubicBezTo>
                <a:cubicBezTo>
                  <a:pt x="1891318" y="2055088"/>
                  <a:pt x="1868148" y="2041979"/>
                  <a:pt x="1694032" y="2054718"/>
                </a:cubicBezTo>
                <a:cubicBezTo>
                  <a:pt x="1519916" y="2067457"/>
                  <a:pt x="1282909" y="2007599"/>
                  <a:pt x="1129355" y="2054718"/>
                </a:cubicBezTo>
                <a:cubicBezTo>
                  <a:pt x="975801" y="2101837"/>
                  <a:pt x="765241" y="2053927"/>
                  <a:pt x="564677" y="2054718"/>
                </a:cubicBezTo>
                <a:cubicBezTo>
                  <a:pt x="364113" y="2055509"/>
                  <a:pt x="204888" y="2000571"/>
                  <a:pt x="0" y="2054718"/>
                </a:cubicBezTo>
                <a:cubicBezTo>
                  <a:pt x="-39849" y="1941774"/>
                  <a:pt x="28790" y="1703803"/>
                  <a:pt x="0" y="1561586"/>
                </a:cubicBezTo>
                <a:cubicBezTo>
                  <a:pt x="-28790" y="1419369"/>
                  <a:pt x="53188" y="1238574"/>
                  <a:pt x="0" y="1027359"/>
                </a:cubicBezTo>
                <a:cubicBezTo>
                  <a:pt x="-53188" y="816144"/>
                  <a:pt x="26644" y="711342"/>
                  <a:pt x="0" y="534227"/>
                </a:cubicBezTo>
                <a:cubicBezTo>
                  <a:pt x="-26644" y="357112"/>
                  <a:pt x="47564" y="257506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27130925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5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212231"/>
            <a:ext cx="1145223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Can we pick the right modes?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E6F9DFB-9CEA-BFB9-06AB-7868EBF7C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595" y="1018615"/>
            <a:ext cx="5266855" cy="534781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DD8091B-9AA5-5651-0699-CC057A83C936}"/>
              </a:ext>
            </a:extLst>
          </p:cNvPr>
          <p:cNvSpPr/>
          <p:nvPr/>
        </p:nvSpPr>
        <p:spPr>
          <a:xfrm>
            <a:off x="9819804" y="1027107"/>
            <a:ext cx="1651731" cy="662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# modes A: 3</a:t>
            </a:r>
          </a:p>
          <a:p>
            <a:r>
              <a:rPr lang="en-US" dirty="0">
                <a:solidFill>
                  <a:schemeClr val="tx1"/>
                </a:solidFill>
              </a:rPr>
              <a:t># modes B: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3BCD0F-931C-279B-19ED-8475B50842B8}"/>
              </a:ext>
            </a:extLst>
          </p:cNvPr>
          <p:cNvSpPr/>
          <p:nvPr/>
        </p:nvSpPr>
        <p:spPr>
          <a:xfrm>
            <a:off x="9819805" y="2986103"/>
            <a:ext cx="1651731" cy="662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# modes A: 5</a:t>
            </a:r>
          </a:p>
          <a:p>
            <a:r>
              <a:rPr lang="en-US" dirty="0">
                <a:solidFill>
                  <a:schemeClr val="tx1"/>
                </a:solidFill>
              </a:rPr>
              <a:t># modes B: 5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4CD50B5-B25E-5C08-9F4D-E1EEB6C00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155592"/>
            <a:ext cx="4266034" cy="4546815"/>
          </a:xfrm>
        </p:spPr>
        <p:txBody>
          <a:bodyPr/>
          <a:lstStyle/>
          <a:p>
            <a:r>
              <a:rPr lang="en-US" dirty="0"/>
              <a:t>As we include more information we drive down error</a:t>
            </a:r>
          </a:p>
          <a:p>
            <a:r>
              <a:rPr lang="en-US" dirty="0"/>
              <a:t>A good heuristic is to include content from twice the bandwidth of interest in subcomponent models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771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224734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Informal Formal Discussion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C25BEE-E4CF-4E50-86C8-111949C2FD55}"/>
              </a:ext>
            </a:extLst>
          </p:cNvPr>
          <p:cNvSpPr>
            <a:spLocks noGrp="1"/>
          </p:cNvSpPr>
          <p:nvPr/>
        </p:nvSpPr>
        <p:spPr>
          <a:xfrm>
            <a:off x="310540" y="1173404"/>
            <a:ext cx="11570920" cy="5246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Model reduction does remove some information from our subcomponent models. How do we determine if we’ve retained enough information?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If we retain all the modes of the subassemblies is our answer exact?</a:t>
            </a:r>
          </a:p>
        </p:txBody>
      </p:sp>
    </p:spTree>
    <p:extLst>
      <p:ext uri="{BB962C8B-B14F-4D97-AF65-F5344CB8AC3E}">
        <p14:creationId xmlns:p14="http://schemas.microsoft.com/office/powerpoint/2010/main" val="58038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9835-F37B-5854-84DA-3D4E381D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299297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3" y="454577"/>
            <a:ext cx="1145223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More experimental considerations after lunch!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4020-B937-00D5-9707-E3E95D6E7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93" y="1257637"/>
            <a:ext cx="11337324" cy="4978829"/>
          </a:xfrm>
        </p:spPr>
        <p:txBody>
          <a:bodyPr/>
          <a:lstStyle/>
          <a:p>
            <a:r>
              <a:rPr lang="en-US" dirty="0"/>
              <a:t>Transmission Simulator Method</a:t>
            </a:r>
          </a:p>
          <a:p>
            <a:r>
              <a:rPr lang="en-US" dirty="0"/>
              <a:t>Other ROM forms</a:t>
            </a:r>
          </a:p>
          <a:p>
            <a:r>
              <a:rPr lang="en-US" dirty="0"/>
              <a:t>Constraint Weakening</a:t>
            </a:r>
          </a:p>
          <a:p>
            <a:r>
              <a:rPr lang="en-US" dirty="0"/>
              <a:t>Mode Selection</a:t>
            </a:r>
          </a:p>
          <a:p>
            <a:r>
              <a:rPr lang="en-US" dirty="0"/>
              <a:t>Instrumentation Concerns</a:t>
            </a:r>
          </a:p>
          <a:p>
            <a:r>
              <a:rPr lang="en-US" dirty="0"/>
              <a:t>Nonlinearities</a:t>
            </a:r>
          </a:p>
        </p:txBody>
      </p:sp>
    </p:spTree>
    <p:extLst>
      <p:ext uri="{BB962C8B-B14F-4D97-AF65-F5344CB8AC3E}">
        <p14:creationId xmlns:p14="http://schemas.microsoft.com/office/powerpoint/2010/main" val="3562584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CMS Wrap-Up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4020-B937-00D5-9707-E3E95D6E7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 mode synthesis aims to couple two components (or subsystems) through a pair of reduced-order models. How much we can reduce the model and what reduction form are rich engineering decisions.</a:t>
            </a:r>
          </a:p>
          <a:p>
            <a:r>
              <a:rPr lang="en-US" dirty="0"/>
              <a:t>A reduced-order model is a simpler representation of a mechanical system often viewed through a set of basis-vectors. Choosing which vectors to keep or remove provides ample means of model reduction.</a:t>
            </a:r>
          </a:p>
          <a:p>
            <a:r>
              <a:rPr lang="en-US" dirty="0"/>
              <a:t>We follow a similar primal assembly to physical </a:t>
            </a:r>
            <a:r>
              <a:rPr lang="en-US" dirty="0" err="1"/>
              <a:t>substructuring</a:t>
            </a:r>
            <a:r>
              <a:rPr lang="en-US" dirty="0"/>
              <a:t> but project our constraints (and coupled solutions) into a reduced domain.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672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9835-F37B-5854-84DA-3D4E381D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Up – Classroom Examples!</a:t>
            </a:r>
          </a:p>
        </p:txBody>
      </p:sp>
    </p:spTree>
    <p:extLst>
      <p:ext uri="{BB962C8B-B14F-4D97-AF65-F5344CB8AC3E}">
        <p14:creationId xmlns:p14="http://schemas.microsoft.com/office/powerpoint/2010/main" val="114490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3806</TotalTime>
  <Words>1716</Words>
  <Application>Microsoft Office PowerPoint</Application>
  <PresentationFormat>Widescreen</PresentationFormat>
  <Paragraphs>454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Garamond</vt:lpstr>
      <vt:lpstr>Trebuchet MS</vt:lpstr>
      <vt:lpstr>Office Theme</vt:lpstr>
      <vt:lpstr>Module 4: Component Mode Synthesis</vt:lpstr>
      <vt:lpstr>CMS: Outline</vt:lpstr>
      <vt:lpstr>Domains for Substructuring</vt:lpstr>
      <vt:lpstr>Domains for Substructuring</vt:lpstr>
      <vt:lpstr>The “What” and “Why” of Component Mode Synthesis</vt:lpstr>
      <vt:lpstr>CMS Basics</vt:lpstr>
      <vt:lpstr>CMS Basics</vt:lpstr>
      <vt:lpstr>CMS Basics</vt:lpstr>
      <vt:lpstr>What are modes?</vt:lpstr>
      <vt:lpstr>Modal Reduction?</vt:lpstr>
      <vt:lpstr>Informal Formal Discussion</vt:lpstr>
      <vt:lpstr>Theory and Examples with CMS</vt:lpstr>
      <vt:lpstr>Example System for CMS</vt:lpstr>
      <vt:lpstr>Three Steps to Substructuring with CMS</vt:lpstr>
      <vt:lpstr>Three Steps to Substructuring with CMS</vt:lpstr>
      <vt:lpstr>Three Steps to Substructuring with CMS</vt:lpstr>
      <vt:lpstr>Three Steps to Substructuring with CMS</vt:lpstr>
      <vt:lpstr>2 DOF Example in MATLAB</vt:lpstr>
      <vt:lpstr>Truth Assembly</vt:lpstr>
      <vt:lpstr>Physical Substructuring</vt:lpstr>
      <vt:lpstr>Modal Substructuring</vt:lpstr>
      <vt:lpstr>So what do we lose?  Nothing?!?! Magic!</vt:lpstr>
      <vt:lpstr>Informal Formal Discussion</vt:lpstr>
      <vt:lpstr>Modal Truncation</vt:lpstr>
      <vt:lpstr>Let’s look at a bigger example (10 DOF systems)</vt:lpstr>
      <vt:lpstr>Let’s look at a bigger example (10 DOF systems)</vt:lpstr>
      <vt:lpstr>Let’s look at a bigger example (10 DOF systems)</vt:lpstr>
      <vt:lpstr>Let’s look at a bigger example (10 DOF systems)</vt:lpstr>
      <vt:lpstr>Let’s look at a bigger example (10 DOF systems)</vt:lpstr>
      <vt:lpstr>What happened?</vt:lpstr>
      <vt:lpstr>Can we pick the right modes?</vt:lpstr>
      <vt:lpstr>Informal Formal Discussion</vt:lpstr>
      <vt:lpstr>Conclusions</vt:lpstr>
      <vt:lpstr>More experimental considerations after lunch!</vt:lpstr>
      <vt:lpstr>CMS Wrap-Up</vt:lpstr>
      <vt:lpstr>Next Up – Classroom Examples!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Roettgen, Daniel Robert</dc:creator>
  <cp:lastModifiedBy>Roettgen, Daniel Robert</cp:lastModifiedBy>
  <cp:revision>20</cp:revision>
  <dcterms:created xsi:type="dcterms:W3CDTF">2025-09-04T01:59:06Z</dcterms:created>
  <dcterms:modified xsi:type="dcterms:W3CDTF">2026-01-15T03:14:57Z</dcterms:modified>
</cp:coreProperties>
</file>