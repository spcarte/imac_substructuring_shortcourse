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74" r:id="rId3"/>
    <p:sldId id="379" r:id="rId4"/>
    <p:sldId id="380" r:id="rId5"/>
    <p:sldId id="269" r:id="rId6"/>
    <p:sldId id="329" r:id="rId7"/>
    <p:sldId id="381" r:id="rId8"/>
    <p:sldId id="33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B4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51" autoAdjust="0"/>
    <p:restoredTop sz="96559" autoAdjust="0"/>
  </p:normalViewPr>
  <p:slideViewPr>
    <p:cSldViewPr snapToGrid="0">
      <p:cViewPr varScale="1">
        <p:scale>
          <a:sx n="82" d="100"/>
          <a:sy n="82" d="100"/>
        </p:scale>
        <p:origin x="28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Title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BEEFF38-9219-3402-6C1E-B326B8FB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032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2B7F7EA-D5FA-48A9-A388-858D3B14DD11}" type="datetimeFigureOut">
              <a:rPr lang="en-US" smtClean="0"/>
              <a:pPr/>
              <a:t>1/17/2026</a:t>
            </a:fld>
            <a:endParaRPr lang="en-US"/>
          </a:p>
        </p:txBody>
      </p:sp>
      <p:pic>
        <p:nvPicPr>
          <p:cNvPr id="1026" name="Picture 2" descr="lnu_wordmark_symbol_eng_rgb">
            <a:extLst>
              <a:ext uri="{FF2B5EF4-FFF2-40B4-BE49-F238E27FC236}">
                <a16:creationId xmlns:a16="http://schemas.microsoft.com/office/drawing/2014/main" id="{C8BBA26D-0448-C98D-A6E4-7D55251344C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361" y="5087024"/>
            <a:ext cx="4303240" cy="6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682C91-27D9-7A04-4E8D-33817B2D740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3086" y="537502"/>
            <a:ext cx="6847472" cy="1976513"/>
          </a:xfrm>
          <a:prstGeom prst="rect">
            <a:avLst/>
          </a:prstGeo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Module #: Title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DD5900-7FFF-4234-2E19-03956DD10669}"/>
              </a:ext>
            </a:extLst>
          </p:cNvPr>
          <p:cNvSpPr txBox="1"/>
          <p:nvPr userDrawn="1"/>
        </p:nvSpPr>
        <p:spPr>
          <a:xfrm>
            <a:off x="213085" y="2570480"/>
            <a:ext cx="66957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Andreas Linderholt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Linnaeus University 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Department of Mechanical Engineering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chemeClr val="bg1"/>
                </a:solidFill>
              </a:rPr>
              <a:t>Steven Carter</a:t>
            </a:r>
          </a:p>
          <a:p>
            <a:r>
              <a:rPr lang="en-US" b="1" dirty="0">
                <a:solidFill>
                  <a:schemeClr val="bg1"/>
                </a:solidFill>
              </a:rPr>
              <a:t>Benjamin Moldenhauer</a:t>
            </a:r>
          </a:p>
          <a:p>
            <a:r>
              <a:rPr lang="en-US" b="1" dirty="0">
                <a:solidFill>
                  <a:schemeClr val="bg1"/>
                </a:solidFill>
              </a:rPr>
              <a:t>Daniel Roettgen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Sandia National Laboratories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Experimental Structural Dynamics</a:t>
            </a:r>
          </a:p>
          <a:p>
            <a:endParaRPr lang="en-US" dirty="0"/>
          </a:p>
        </p:txBody>
      </p: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55A49339-AFD2-293D-5083-71E4E4D94B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522779" y="297608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58CEA6CC-F9AC-D943-BDC1-48802068B7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22779" y="1838484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AA5A42-DD64-4CDB-4EF6-E5FD7223D6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40" b="18728"/>
          <a:stretch/>
        </p:blipFill>
        <p:spPr>
          <a:xfrm>
            <a:off x="5704659" y="5766266"/>
            <a:ext cx="6487341" cy="109173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640B613-3A6D-056E-0592-B710A66DBB4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90065" y="3358941"/>
            <a:ext cx="3151696" cy="1775351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0AED2AD-3489-102B-FD4A-EF0FD9432851}"/>
              </a:ext>
            </a:extLst>
          </p:cNvPr>
          <p:cNvSpPr txBox="1"/>
          <p:nvPr userDrawn="1"/>
        </p:nvSpPr>
        <p:spPr>
          <a:xfrm>
            <a:off x="324845" y="5393103"/>
            <a:ext cx="4051642" cy="3915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Sandia National Laboratories is a </a:t>
            </a:r>
            <a:r>
              <a:rPr lang="en-US" sz="800" b="0" i="0" u="none" strike="noStrike" dirty="0" err="1">
                <a:solidFill>
                  <a:schemeClr val="bg1"/>
                </a:solidFill>
                <a:effectLst/>
                <a:latin typeface="+mn-lt"/>
              </a:rPr>
              <a:t>multimission</a:t>
            </a: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 laboratory managed and operated by National Technology and Engineering Solutions of Sandia, LLC, a wholly owned subsidiary of Honeywell International Inc., for the U.S. Department of Energy’s National Nuclear Security Administration under contract DE-NA0003525</a:t>
            </a:r>
            <a:endParaRPr lang="en-US" sz="800" b="0" i="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82104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AEC8612-5184-DD49-1D2B-3D06982D38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11337324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3A23D71-51C1-E310-51CE-7DE5CD2D46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E0252BF-FA0F-2F01-F0F1-01835876CA31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188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8683368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63C00C0-AFE4-5CDB-792C-B1FF128BB46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918876" y="876197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02C02E6-8B4E-746B-32D8-FBA12F839E6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918875" y="3339996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30CF3A-888A-B8BC-F56F-72E990F0AF6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C3CC7A-4227-B03B-A890-0B34C7C41C16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0157A07-85D3-76EC-2529-437C905C2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703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/ Brea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832" y="1409120"/>
            <a:ext cx="10515600" cy="662781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Transition Title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E25C2B-00D8-B739-8A7C-9F78150F5A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25040" y="1841555"/>
            <a:ext cx="6675121" cy="37600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1A11BA6-9A4D-41B0-FE13-D42E91F591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2307F5-1B86-EB7B-529A-B5AC3C3702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EA77C6D-65EF-D438-A2B7-B79287A44518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1107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2">
            <a:extLst>
              <a:ext uri="{FF2B5EF4-FFF2-40B4-BE49-F238E27FC236}">
                <a16:creationId xmlns:a16="http://schemas.microsoft.com/office/drawing/2014/main" id="{AE4A825A-4063-94F5-2E60-E497DE3FD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AC2EE41-D82D-F945-F481-EC0ADFBAC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33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27616-A4B2-51B4-6A7C-6CC82304D7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3086" y="537502"/>
            <a:ext cx="7628888" cy="1976513"/>
          </a:xfrm>
        </p:spPr>
        <p:txBody>
          <a:bodyPr>
            <a:normAutofit/>
          </a:bodyPr>
          <a:lstStyle/>
          <a:p>
            <a:r>
              <a:rPr lang="en-US" dirty="0"/>
              <a:t>Module 12: Class Closing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26D44A-C018-0E6F-20C2-3A945BDF396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C6B8D1A-23C5-ACFC-ED38-9CA45829D82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176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E525E-AF84-91ED-603B-78A46B7A0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Agenda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041E4B-211C-4D91-8B93-045D6BCD1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438" y="3773937"/>
            <a:ext cx="2157413" cy="1655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FF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Placeholder 5">
            <a:extLst>
              <a:ext uri="{FF2B5EF4-FFF2-40B4-BE49-F238E27FC236}">
                <a16:creationId xmlns:a16="http://schemas.microsoft.com/office/drawing/2014/main" id="{93FC4604-811D-CA47-7BDD-2CAA04F5F9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819" b="6819"/>
          <a:stretch>
            <a:fillRect/>
          </a:stretch>
        </p:blipFill>
        <p:spPr>
          <a:xfrm>
            <a:off x="9437151" y="452718"/>
            <a:ext cx="2262187" cy="1465262"/>
          </a:xfrm>
          <a:prstGeom prst="rect">
            <a:avLst/>
          </a:prstGeom>
        </p:spPr>
      </p:pic>
      <p:pic>
        <p:nvPicPr>
          <p:cNvPr id="6" name="Picture Placeholder 7">
            <a:extLst>
              <a:ext uri="{FF2B5EF4-FFF2-40B4-BE49-F238E27FC236}">
                <a16:creationId xmlns:a16="http://schemas.microsoft.com/office/drawing/2014/main" id="{59D0311C-EE92-B81C-FE8A-C942E487905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865" b="6865"/>
          <a:stretch>
            <a:fillRect/>
          </a:stretch>
        </p:blipFill>
        <p:spPr>
          <a:xfrm>
            <a:off x="9437151" y="1994180"/>
            <a:ext cx="2262187" cy="1463675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66C83B1-E158-A8D5-3394-5020213CE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9993752"/>
              </p:ext>
            </p:extLst>
          </p:nvPr>
        </p:nvGraphicFramePr>
        <p:xfrm>
          <a:off x="2765642" y="701196"/>
          <a:ext cx="5194380" cy="509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363">
                  <a:extLst>
                    <a:ext uri="{9D8B030D-6E8A-4147-A177-3AD203B41FA5}">
                      <a16:colId xmlns:a16="http://schemas.microsoft.com/office/drawing/2014/main" val="3660028913"/>
                    </a:ext>
                  </a:extLst>
                </a:gridCol>
                <a:gridCol w="3190460">
                  <a:extLst>
                    <a:ext uri="{9D8B030D-6E8A-4147-A177-3AD203B41FA5}">
                      <a16:colId xmlns:a16="http://schemas.microsoft.com/office/drawing/2014/main" val="999708655"/>
                    </a:ext>
                  </a:extLst>
                </a:gridCol>
                <a:gridCol w="1194557">
                  <a:extLst>
                    <a:ext uri="{9D8B030D-6E8A-4147-A177-3AD203B41FA5}">
                      <a16:colId xmlns:a16="http://schemas.microsoft.com/office/drawing/2014/main" val="51740625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Module 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Planned Timing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670068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Introduction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9:00-9:20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894197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Physical Coupling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9:20-10:00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6848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Frequency Based </a:t>
                      </a:r>
                      <a:r>
                        <a:rPr lang="en-US" sz="1400" dirty="0" err="1"/>
                        <a:t>Substructuring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10:00-10:40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405664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10:40-10:50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56228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Component Mode Synthesis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10:50-11:20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08315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In Class Exercises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11:20-Noon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51234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Lunch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Noon-1:00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2396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Experimental Considerations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1:00-1:45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4036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Frame Wing Experimental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1:45-2:30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992715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2:30-2:40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740402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Transfer Path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2:40-3:10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4575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Virtual Point 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3:10-3:40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775626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Decoupling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3:40-4:10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3717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Nonlinear Component Mode Synthesis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4:10-4:40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33851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Course Conclusions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4:40-5:00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3260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07821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E525E-AF84-91ED-603B-78A46B7A0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</a:t>
            </a:r>
            <a:r>
              <a:rPr lang="en-US" dirty="0" err="1"/>
              <a:t>Substructuring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65551-18FF-9CE4-0844-669DDEBB8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6325585" cy="4978829"/>
          </a:xfrm>
        </p:spPr>
        <p:txBody>
          <a:bodyPr>
            <a:normAutofit lnSpcReduction="10000"/>
          </a:bodyPr>
          <a:lstStyle/>
          <a:p>
            <a:pPr eaLnBrk="1" hangingPunct="1">
              <a:defRPr/>
            </a:pPr>
            <a:r>
              <a:rPr lang="en-US" dirty="0" err="1">
                <a:ea typeface="+mn-ea"/>
              </a:rPr>
              <a:t>Substructuring</a:t>
            </a:r>
            <a:r>
              <a:rPr lang="en-US" dirty="0">
                <a:ea typeface="+mn-ea"/>
              </a:rPr>
              <a:t> is a process whereby individual components of a structure are analyzed or tested separately and then combined to predict the response of the built-up structure.</a:t>
            </a:r>
          </a:p>
          <a:p>
            <a:pPr lvl="1" eaLnBrk="1" hangingPunct="1">
              <a:defRPr/>
            </a:pPr>
            <a:r>
              <a:rPr lang="en-US" dirty="0">
                <a:ea typeface="+mn-ea"/>
              </a:rPr>
              <a:t>Reduced Order Modeling: create an approximation to a model to reduce the computational burden</a:t>
            </a:r>
          </a:p>
          <a:p>
            <a:pPr eaLnBrk="1" hangingPunct="1">
              <a:defRPr/>
            </a:pPr>
            <a:r>
              <a:rPr lang="en-US" dirty="0">
                <a:ea typeface="+mn-ea"/>
              </a:rPr>
              <a:t>Analytical </a:t>
            </a:r>
            <a:r>
              <a:rPr lang="en-US" dirty="0" err="1">
                <a:ea typeface="+mn-ea"/>
              </a:rPr>
              <a:t>substructuring</a:t>
            </a:r>
            <a:r>
              <a:rPr lang="en-US" dirty="0">
                <a:ea typeface="+mn-ea"/>
              </a:rPr>
              <a:t> forms the basis of the Finite Element Method, and related techniques, such as the Craig-Bampton method, have been key components of structural analysis for over 40 years.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2807B2-6003-47A6-9959-8491B94A63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0617" y="467915"/>
            <a:ext cx="5575985" cy="5217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58971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E525E-AF84-91ED-603B-78A46B7A0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782168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What is Experimental/Analytical </a:t>
            </a:r>
            <a:r>
              <a:rPr lang="en-US" dirty="0" err="1"/>
              <a:t>Substructuring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65551-18FF-9CE4-0844-669DDEBB8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1" y="939585"/>
            <a:ext cx="7672509" cy="4978829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2000" b="1" dirty="0">
                <a:ea typeface="+mn-ea"/>
              </a:rPr>
              <a:t>Experimental/Analytical </a:t>
            </a:r>
            <a:r>
              <a:rPr lang="en-US" sz="2000" b="1" dirty="0" err="1">
                <a:ea typeface="+mn-ea"/>
              </a:rPr>
              <a:t>Substructuring</a:t>
            </a:r>
            <a:r>
              <a:rPr lang="en-US" sz="2000" dirty="0">
                <a:ea typeface="+mn-ea"/>
              </a:rPr>
              <a:t> is a far less common variant where a model for one or more subcomponents is derived experimentally.</a:t>
            </a:r>
          </a:p>
          <a:p>
            <a:r>
              <a:rPr lang="en-US" altLang="en-US" sz="2000" dirty="0"/>
              <a:t>Often we are tasked with analyzing systems where one or more components are difficult to model analytically</a:t>
            </a:r>
          </a:p>
          <a:p>
            <a:pPr lvl="1"/>
            <a:r>
              <a:rPr lang="en-US" altLang="en-US" sz="2000" dirty="0"/>
              <a:t>Unknown material properties</a:t>
            </a:r>
          </a:p>
          <a:p>
            <a:pPr lvl="1"/>
            <a:r>
              <a:rPr lang="en-US" altLang="en-US" sz="2000" dirty="0"/>
              <a:t>Complicated Geometry</a:t>
            </a:r>
          </a:p>
          <a:p>
            <a:pPr lvl="1"/>
            <a:r>
              <a:rPr lang="en-US" altLang="en-US" sz="2000" dirty="0"/>
              <a:t>Produced and designed by an outside vendor</a:t>
            </a:r>
          </a:p>
          <a:p>
            <a:r>
              <a:rPr lang="en-US" altLang="en-US" sz="2000" dirty="0"/>
              <a:t>The dynamics of these parts can have profound impact on the system level performance</a:t>
            </a:r>
          </a:p>
          <a:p>
            <a:r>
              <a:rPr lang="en-US" altLang="en-US" sz="2000" dirty="0"/>
              <a:t>Experimental models are often the optimal choice for characterizing the impact of non modeled hardware it’s the system level response</a:t>
            </a:r>
          </a:p>
          <a:p>
            <a:r>
              <a:rPr lang="en-US" altLang="en-US" sz="2000" dirty="0"/>
              <a:t>Experimental-analytical </a:t>
            </a:r>
            <a:r>
              <a:rPr lang="en-US" altLang="en-US" sz="2000" dirty="0" err="1"/>
              <a:t>substructuring</a:t>
            </a:r>
            <a:r>
              <a:rPr lang="en-US" altLang="en-US" sz="2000" dirty="0"/>
              <a:t> allows one to couple experimental results from these test to high fidelity finite element models</a:t>
            </a:r>
          </a:p>
          <a:p>
            <a:pPr lvl="1"/>
            <a:endParaRPr lang="en-US" altLang="en-US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2D0E06-27B4-34F1-C3B4-AB8A777A01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565" b="26933"/>
          <a:stretch/>
        </p:blipFill>
        <p:spPr bwMode="auto">
          <a:xfrm>
            <a:off x="7777541" y="862824"/>
            <a:ext cx="3431898" cy="29506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5D124E-17FC-3CB1-8E52-B563028D4A1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435" b="26933"/>
          <a:stretch/>
        </p:blipFill>
        <p:spPr bwMode="auto">
          <a:xfrm>
            <a:off x="7885111" y="3876953"/>
            <a:ext cx="3216758" cy="23028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71825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836EF-EB53-7ECA-E68C-EA2C06481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Domains for </a:t>
            </a:r>
            <a:r>
              <a:rPr lang="en-US" dirty="0" err="1"/>
              <a:t>Substructuring</a:t>
            </a:r>
            <a:endParaRPr lang="en-US" dirty="0"/>
          </a:p>
        </p:txBody>
      </p:sp>
      <p:pic>
        <p:nvPicPr>
          <p:cNvPr id="3" name="Bild 6">
            <a:extLst>
              <a:ext uri="{FF2B5EF4-FFF2-40B4-BE49-F238E27FC236}">
                <a16:creationId xmlns:a16="http://schemas.microsoft.com/office/drawing/2014/main" id="{8D1604FA-D670-9540-90F5-9895670FB127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rcRect b="7143"/>
          <a:stretch/>
        </p:blipFill>
        <p:spPr>
          <a:xfrm>
            <a:off x="2362202" y="1368522"/>
            <a:ext cx="7467600" cy="462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882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836EF-EB53-7ECA-E68C-EA2C06481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0194"/>
            <a:ext cx="1051560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Relation to Reduced Order Modeling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C8CA2E-C0DB-47F6-9AE4-1D4EA2A9E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3" t="17627" r="50681" b="9126"/>
          <a:stretch>
            <a:fillRect/>
          </a:stretch>
        </p:blipFill>
        <p:spPr bwMode="auto">
          <a:xfrm>
            <a:off x="5846762" y="1043781"/>
            <a:ext cx="4445000" cy="3759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31750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C7C8F67-0B04-4810-A558-0C51482D5B63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218661" y="980281"/>
            <a:ext cx="5459826" cy="5422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+mj-lt"/>
              </a:rPr>
              <a:t>A complete FEA model allows for arbitrary motion of any node of the structure.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+mj-lt"/>
              </a:rPr>
              <a:t>A substructure or reduced order model can be more efficient by capturing only those motions that are likely in the application of interest.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+mj-lt"/>
              </a:rPr>
              <a:t>This is especially relevant to structural dynamics, where the deformations observed are often the net effect of only a few vibration modes.</a:t>
            </a:r>
          </a:p>
        </p:txBody>
      </p:sp>
      <p:sp>
        <p:nvSpPr>
          <p:cNvPr id="8" name="Line 8">
            <a:extLst>
              <a:ext uri="{FF2B5EF4-FFF2-40B4-BE49-F238E27FC236}">
                <a16:creationId xmlns:a16="http://schemas.microsoft.com/office/drawing/2014/main" id="{282680C8-D9F0-4184-8132-9BC0C0D49E9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64487" y="2394744"/>
            <a:ext cx="574675" cy="30321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B46C26-2CEB-4FA6-97BD-C67D314C0B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9262" y="3886994"/>
            <a:ext cx="2555875" cy="2516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74037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836EF-EB53-7ECA-E68C-EA2C06481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0194"/>
            <a:ext cx="1051560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Additional Topics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7C8F67-0B04-4810-A558-0C51482D5B63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218660" y="980281"/>
            <a:ext cx="10296939" cy="5422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+mj-lt"/>
              </a:rPr>
              <a:t>There are many additional topics to discuss in </a:t>
            </a:r>
            <a:r>
              <a:rPr lang="en-US" sz="2400" dirty="0" err="1">
                <a:solidFill>
                  <a:schemeClr val="accent1"/>
                </a:solidFill>
                <a:latin typeface="+mj-lt"/>
              </a:rPr>
              <a:t>substructuring</a:t>
            </a:r>
            <a:endParaRPr lang="en-US" sz="2400" dirty="0">
              <a:solidFill>
                <a:schemeClr val="accent1"/>
              </a:solidFill>
              <a:latin typeface="+mj-lt"/>
            </a:endParaRP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+mj-lt"/>
              </a:rPr>
              <a:t>Please join us for a social hour to discuss more questions and ideas around structural synthesis or attend the </a:t>
            </a:r>
            <a:r>
              <a:rPr lang="en-US" sz="2400" dirty="0" err="1">
                <a:solidFill>
                  <a:schemeClr val="accent1"/>
                </a:solidFill>
                <a:latin typeface="+mj-lt"/>
              </a:rPr>
              <a:t>substructuring</a:t>
            </a:r>
            <a:r>
              <a:rPr lang="en-US" sz="2400" dirty="0">
                <a:solidFill>
                  <a:schemeClr val="accent1"/>
                </a:solidFill>
                <a:latin typeface="+mj-lt"/>
              </a:rPr>
              <a:t> tracks at IMAC on Wednesday/Thursday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1"/>
              </a:solidFill>
              <a:latin typeface="+mj-lt"/>
            </a:endParaRP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+mj-lt"/>
              </a:rPr>
              <a:t>Thanks for your attention and </a:t>
            </a:r>
            <a:r>
              <a:rPr lang="en-US" sz="2400">
                <a:solidFill>
                  <a:schemeClr val="accent1"/>
                </a:solidFill>
                <a:latin typeface="+mj-lt"/>
              </a:rPr>
              <a:t>class participation!</a:t>
            </a:r>
            <a:endParaRPr lang="en-US" sz="2400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25574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39835-F37B-5854-84DA-3D4E381D5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Check the GitHub for occasional </a:t>
            </a:r>
            <a:r>
              <a:rPr lang="en-US"/>
              <a:t>slide updates </a:t>
            </a:r>
            <a:r>
              <a:rPr lang="en-US" dirty="0"/>
              <a:t>and additional modules</a:t>
            </a:r>
          </a:p>
        </p:txBody>
      </p:sp>
    </p:spTree>
    <p:extLst>
      <p:ext uri="{BB962C8B-B14F-4D97-AF65-F5344CB8AC3E}">
        <p14:creationId xmlns:p14="http://schemas.microsoft.com/office/powerpoint/2010/main" val="1144901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3859</TotalTime>
  <Words>391</Words>
  <Application>Microsoft Office PowerPoint</Application>
  <PresentationFormat>Widescreen</PresentationFormat>
  <Paragraphs>74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Module 12: Class Closing</vt:lpstr>
      <vt:lpstr>Agenda</vt:lpstr>
      <vt:lpstr>What Is Substructuring?</vt:lpstr>
      <vt:lpstr>What is Experimental/Analytical Substructuring?</vt:lpstr>
      <vt:lpstr>Domains for Substructuring</vt:lpstr>
      <vt:lpstr>Relation to Reduced Order Modeling</vt:lpstr>
      <vt:lpstr>Additional Topics</vt:lpstr>
      <vt:lpstr>Check the GitHub for occasional slide updates and additional modules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Roettgen, Daniel Robert</dc:creator>
  <cp:lastModifiedBy>Dan Roettgen</cp:lastModifiedBy>
  <cp:revision>26</cp:revision>
  <dcterms:created xsi:type="dcterms:W3CDTF">2025-09-04T01:59:06Z</dcterms:created>
  <dcterms:modified xsi:type="dcterms:W3CDTF">2026-01-17T07:13:24Z</dcterms:modified>
</cp:coreProperties>
</file>