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74" r:id="rId3"/>
    <p:sldId id="379" r:id="rId4"/>
    <p:sldId id="380" r:id="rId5"/>
    <p:sldId id="269" r:id="rId6"/>
    <p:sldId id="329" r:id="rId7"/>
    <p:sldId id="381" r:id="rId8"/>
    <p:sldId id="33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B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559" autoAdjust="0"/>
  </p:normalViewPr>
  <p:slideViewPr>
    <p:cSldViewPr snapToGrid="0">
      <p:cViewPr varScale="1">
        <p:scale>
          <a:sx n="91" d="100"/>
          <a:sy n="91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1/14/2026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086" y="537502"/>
            <a:ext cx="7628888" cy="1976513"/>
          </a:xfrm>
        </p:spPr>
        <p:txBody>
          <a:bodyPr>
            <a:normAutofit/>
          </a:bodyPr>
          <a:lstStyle/>
          <a:p>
            <a:r>
              <a:rPr lang="en-US" dirty="0"/>
              <a:t>Module 12: Class Closing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D44A-C018-0E6F-20C2-3A945BDF3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6B8D1A-23C5-ACFC-ED38-9CA45829D8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41E4B-211C-4D91-8B93-045D6BCD1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438" y="3773937"/>
            <a:ext cx="2157413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93FC4604-811D-CA47-7BDD-2CAA04F5F9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19" b="6819"/>
          <a:stretch>
            <a:fillRect/>
          </a:stretch>
        </p:blipFill>
        <p:spPr>
          <a:xfrm>
            <a:off x="9437151" y="452718"/>
            <a:ext cx="2262187" cy="1465262"/>
          </a:xfrm>
          <a:prstGeom prst="rect">
            <a:avLst/>
          </a:prstGeom>
        </p:spPr>
      </p:pic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59D0311C-EE92-B81C-FE8A-C942E48790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65" b="6865"/>
          <a:stretch>
            <a:fillRect/>
          </a:stretch>
        </p:blipFill>
        <p:spPr>
          <a:xfrm>
            <a:off x="9437151" y="1994180"/>
            <a:ext cx="2262187" cy="146367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6C83B1-E158-A8D5-3394-5020213CE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93752"/>
              </p:ext>
            </p:extLst>
          </p:nvPr>
        </p:nvGraphicFramePr>
        <p:xfrm>
          <a:off x="2765642" y="701196"/>
          <a:ext cx="519438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363">
                  <a:extLst>
                    <a:ext uri="{9D8B030D-6E8A-4147-A177-3AD203B41FA5}">
                      <a16:colId xmlns:a16="http://schemas.microsoft.com/office/drawing/2014/main" val="3660028913"/>
                    </a:ext>
                  </a:extLst>
                </a:gridCol>
                <a:gridCol w="3190460">
                  <a:extLst>
                    <a:ext uri="{9D8B030D-6E8A-4147-A177-3AD203B41FA5}">
                      <a16:colId xmlns:a16="http://schemas.microsoft.com/office/drawing/2014/main" val="999708655"/>
                    </a:ext>
                  </a:extLst>
                </a:gridCol>
                <a:gridCol w="1194557">
                  <a:extLst>
                    <a:ext uri="{9D8B030D-6E8A-4147-A177-3AD203B41FA5}">
                      <a16:colId xmlns:a16="http://schemas.microsoft.com/office/drawing/2014/main" val="51740625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Module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Planned Timing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7006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9:00-9:20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9419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Physical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9:20-10:00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848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Frequency Based </a:t>
                      </a:r>
                      <a:r>
                        <a:rPr lang="en-US" sz="1400" dirty="0" err="1"/>
                        <a:t>Substructuring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10:00-10:40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0566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10:40-10:50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56228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Component Mode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10:50-11:20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8315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 Class Exercises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11:20-Noon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5123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Noon-1:00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96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Experimental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1:00-1:45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036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Frame Wing Experimental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1:45-2:30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9271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2:30-2:40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040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Transfer Path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2:40-3:10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4575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Virtual Point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3:10-3:40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7562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Decoupling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3:40-4:10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371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Nonlinear Component Mode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4:10-4:40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3851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Course Conclusions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4:40-5:00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6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78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</a:t>
            </a:r>
            <a:r>
              <a:rPr lang="en-US" dirty="0" err="1"/>
              <a:t>Substructuring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5551-18FF-9CE4-0844-669DDEBB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6325585" cy="4978829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 err="1">
                <a:ea typeface="+mn-ea"/>
              </a:rPr>
              <a:t>Substructuring</a:t>
            </a:r>
            <a:r>
              <a:rPr lang="en-US" dirty="0">
                <a:ea typeface="+mn-ea"/>
              </a:rPr>
              <a:t> is a process whereby individual components of a structure are analyzed or tested separately and then combined to predict the response of the built-up structure.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Reduced Order Modeling: create an approximation to a model to reduce the computational burden</a:t>
            </a:r>
          </a:p>
          <a:p>
            <a:pPr eaLnBrk="1" hangingPunct="1">
              <a:defRPr/>
            </a:pPr>
            <a:r>
              <a:rPr lang="en-US" dirty="0">
                <a:ea typeface="+mn-ea"/>
              </a:rPr>
              <a:t>Analytical </a:t>
            </a:r>
            <a:r>
              <a:rPr lang="en-US" dirty="0" err="1">
                <a:ea typeface="+mn-ea"/>
              </a:rPr>
              <a:t>substructuring</a:t>
            </a:r>
            <a:r>
              <a:rPr lang="en-US" dirty="0">
                <a:ea typeface="+mn-ea"/>
              </a:rPr>
              <a:t> forms the basis of the Finite Element Method, and related techniques, such as the Craig-Bampton method, have been key components of structural analysis for over 40 years.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807B2-6003-47A6-9959-8491B94A6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617" y="467915"/>
            <a:ext cx="5575985" cy="5217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971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782168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Experimental/Analytical </a:t>
            </a:r>
            <a:r>
              <a:rPr lang="en-US" dirty="0" err="1"/>
              <a:t>Substructuring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5551-18FF-9CE4-0844-669DDEBB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939585"/>
            <a:ext cx="7672509" cy="4978829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000" b="1" dirty="0">
                <a:ea typeface="+mn-ea"/>
              </a:rPr>
              <a:t>Experimental/Analytical </a:t>
            </a:r>
            <a:r>
              <a:rPr lang="en-US" sz="2000" b="1" dirty="0" err="1">
                <a:ea typeface="+mn-ea"/>
              </a:rPr>
              <a:t>Substructuring</a:t>
            </a:r>
            <a:r>
              <a:rPr lang="en-US" sz="2000" dirty="0">
                <a:ea typeface="+mn-ea"/>
              </a:rPr>
              <a:t> is a far less common variant where a model for one or more subcomponents is derived experimentally.</a:t>
            </a:r>
          </a:p>
          <a:p>
            <a:r>
              <a:rPr lang="en-US" altLang="en-US" sz="2000" dirty="0"/>
              <a:t>Often we are tasked with analyzing systems where one or more components are difficult to model analytically</a:t>
            </a:r>
          </a:p>
          <a:p>
            <a:pPr lvl="1"/>
            <a:r>
              <a:rPr lang="en-US" altLang="en-US" sz="2000" dirty="0"/>
              <a:t>Unknown material properties</a:t>
            </a:r>
          </a:p>
          <a:p>
            <a:pPr lvl="1"/>
            <a:r>
              <a:rPr lang="en-US" altLang="en-US" sz="2000" dirty="0"/>
              <a:t>Complicated Geometry</a:t>
            </a:r>
          </a:p>
          <a:p>
            <a:pPr lvl="1"/>
            <a:r>
              <a:rPr lang="en-US" altLang="en-US" sz="2000" dirty="0"/>
              <a:t>Produced and designed by an outside vendor</a:t>
            </a:r>
          </a:p>
          <a:p>
            <a:r>
              <a:rPr lang="en-US" altLang="en-US" sz="2000" dirty="0"/>
              <a:t>The dynamics of these parts can have profound impact on the system level performance</a:t>
            </a:r>
          </a:p>
          <a:p>
            <a:r>
              <a:rPr lang="en-US" altLang="en-US" sz="2000" dirty="0"/>
              <a:t>Experimental models are often the optimal choice for characterizing the impact of non modeled hardware it’s the system level response</a:t>
            </a:r>
          </a:p>
          <a:p>
            <a:r>
              <a:rPr lang="en-US" altLang="en-US" sz="2000" dirty="0"/>
              <a:t>Experimental-analytical </a:t>
            </a:r>
            <a:r>
              <a:rPr lang="en-US" altLang="en-US" sz="2000" dirty="0" err="1"/>
              <a:t>substructuring</a:t>
            </a:r>
            <a:r>
              <a:rPr lang="en-US" altLang="en-US" sz="2000" dirty="0"/>
              <a:t> allows one to couple experimental results from these test to high fidelity finite element models</a:t>
            </a:r>
          </a:p>
          <a:p>
            <a:pPr lvl="1"/>
            <a:endParaRPr lang="en-US" alt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D0E06-27B4-34F1-C3B4-AB8A777A01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65" b="26933"/>
          <a:stretch/>
        </p:blipFill>
        <p:spPr bwMode="auto">
          <a:xfrm>
            <a:off x="7777541" y="862824"/>
            <a:ext cx="3431898" cy="2950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D124E-17FC-3CB1-8E52-B563028D4A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5" b="26933"/>
          <a:stretch/>
        </p:blipFill>
        <p:spPr bwMode="auto">
          <a:xfrm>
            <a:off x="7885111" y="3876953"/>
            <a:ext cx="3216758" cy="230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82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Domains for </a:t>
            </a:r>
            <a:r>
              <a:rPr lang="en-US" dirty="0" err="1"/>
              <a:t>Substructuring</a:t>
            </a:r>
            <a:endParaRPr lang="en-US" dirty="0"/>
          </a:p>
        </p:txBody>
      </p:sp>
      <p:pic>
        <p:nvPicPr>
          <p:cNvPr id="3" name="Bild 6">
            <a:extLst>
              <a:ext uri="{FF2B5EF4-FFF2-40B4-BE49-F238E27FC236}">
                <a16:creationId xmlns:a16="http://schemas.microsoft.com/office/drawing/2014/main" id="{8D1604FA-D670-9540-90F5-9895670FB12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b="7143"/>
          <a:stretch/>
        </p:blipFill>
        <p:spPr>
          <a:xfrm>
            <a:off x="2362202" y="1368522"/>
            <a:ext cx="74676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8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194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 to Reduced Order Modeling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8CA2E-C0DB-47F6-9AE4-1D4EA2A9E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 t="17627" r="50681" b="9126"/>
          <a:stretch>
            <a:fillRect/>
          </a:stretch>
        </p:blipFill>
        <p:spPr bwMode="auto">
          <a:xfrm>
            <a:off x="5846762" y="1043781"/>
            <a:ext cx="4445000" cy="375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7C8F67-0B04-4810-A558-0C51482D5B6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18661" y="980281"/>
            <a:ext cx="5459826" cy="542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A complete FEA model allows for arbitrary motion of any node of the structure.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A substructure or reduced order model can be more efficient by capturing only those motions that are likely in the application of interest.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This is especially relevant to structural dynamics, where the deformations observed are often the net effect of only a few vibration modes.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282680C8-D9F0-4184-8132-9BC0C0D49E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4487" y="2394744"/>
            <a:ext cx="574675" cy="3032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B46C26-2CEB-4FA6-97BD-C67D314C0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262" y="3886994"/>
            <a:ext cx="2555875" cy="251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4037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194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Topics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C8F67-0B04-4810-A558-0C51482D5B6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18660" y="980281"/>
            <a:ext cx="10296939" cy="542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There are many additional topics to discuss in </a:t>
            </a:r>
            <a:r>
              <a:rPr lang="en-US" sz="2400" dirty="0" err="1">
                <a:solidFill>
                  <a:schemeClr val="accent1"/>
                </a:solidFill>
                <a:latin typeface="+mj-lt"/>
              </a:rPr>
              <a:t>substructuring</a:t>
            </a:r>
            <a:endParaRPr lang="en-US" sz="2400" dirty="0">
              <a:solidFill>
                <a:schemeClr val="accent1"/>
              </a:solidFill>
              <a:latin typeface="+mj-lt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Please join us for a social hour to discuss more questions and ideas around structural synthesis or attend the </a:t>
            </a:r>
            <a:r>
              <a:rPr lang="en-US" sz="2400" dirty="0" err="1">
                <a:solidFill>
                  <a:schemeClr val="accent1"/>
                </a:solidFill>
                <a:latin typeface="+mj-lt"/>
              </a:rPr>
              <a:t>substructuring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 tracks at IMAC on Wednesday/Thursday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/>
              </a:solidFill>
              <a:latin typeface="+mj-lt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Thanks for your attention and </a:t>
            </a:r>
            <a:r>
              <a:rPr lang="en-US" sz="2400">
                <a:solidFill>
                  <a:schemeClr val="accent1"/>
                </a:solidFill>
                <a:latin typeface="+mj-lt"/>
              </a:rPr>
              <a:t>class participation!</a:t>
            </a:r>
            <a:endParaRPr lang="en-US" sz="24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557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 the GitHub for occasional </a:t>
            </a:r>
            <a:r>
              <a:rPr lang="en-US"/>
              <a:t>slide updates </a:t>
            </a:r>
            <a:r>
              <a:rPr lang="en-US" dirty="0"/>
              <a:t>and additional modules</a:t>
            </a:r>
          </a:p>
        </p:txBody>
      </p:sp>
    </p:spTree>
    <p:extLst>
      <p:ext uri="{BB962C8B-B14F-4D97-AF65-F5344CB8AC3E}">
        <p14:creationId xmlns:p14="http://schemas.microsoft.com/office/powerpoint/2010/main" val="114490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391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Module 12: Class Closing</vt:lpstr>
      <vt:lpstr>Agenda</vt:lpstr>
      <vt:lpstr>What Is Substructuring?</vt:lpstr>
      <vt:lpstr>What is Experimental/Analytical Substructuring?</vt:lpstr>
      <vt:lpstr>Domains for Substructuring</vt:lpstr>
      <vt:lpstr>Relation to Reduced Order Modeling</vt:lpstr>
      <vt:lpstr>Additional Topics</vt:lpstr>
      <vt:lpstr>Check the GitHub for occasional slide updates and additional 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Roettgen, Daniel Robert</cp:lastModifiedBy>
  <cp:revision>25</cp:revision>
  <dcterms:created xsi:type="dcterms:W3CDTF">2025-09-04T01:59:06Z</dcterms:created>
  <dcterms:modified xsi:type="dcterms:W3CDTF">2026-01-15T03:28:02Z</dcterms:modified>
</cp:coreProperties>
</file>