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780" r:id="rId2"/>
    <p:sldId id="257" r:id="rId3"/>
    <p:sldId id="759" r:id="rId4"/>
    <p:sldId id="760" r:id="rId5"/>
    <p:sldId id="761" r:id="rId6"/>
    <p:sldId id="763" r:id="rId7"/>
    <p:sldId id="764" r:id="rId8"/>
    <p:sldId id="766" r:id="rId9"/>
    <p:sldId id="781" r:id="rId10"/>
    <p:sldId id="771" r:id="rId11"/>
    <p:sldId id="767" r:id="rId12"/>
    <p:sldId id="768" r:id="rId13"/>
    <p:sldId id="773" r:id="rId14"/>
    <p:sldId id="774" r:id="rId15"/>
    <p:sldId id="772" r:id="rId16"/>
    <p:sldId id="775" r:id="rId17"/>
    <p:sldId id="776" r:id="rId18"/>
    <p:sldId id="777" r:id="rId19"/>
    <p:sldId id="778" r:id="rId20"/>
    <p:sldId id="782" r:id="rId21"/>
    <p:sldId id="783" r:id="rId22"/>
    <p:sldId id="784" r:id="rId23"/>
    <p:sldId id="785" r:id="rId24"/>
    <p:sldId id="779" r:id="rId25"/>
    <p:sldId id="721" r:id="rId26"/>
    <p:sldId id="746" r:id="rId27"/>
    <p:sldId id="75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2" d="100"/>
          <a:sy n="82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7EBB02-3E13-44A8-9559-A9B0C7D98AB8}" type="datetimeFigureOut">
              <a:rPr lang="sv-SE" smtClean="0"/>
              <a:t>2026-01-16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58DB2-4F1C-4E22-BC98-FFE3F483476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74122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charset="0"/>
                <a:ea typeface="MS PGothic" charset="-128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charset="0"/>
                <a:ea typeface="MS PGothic" charset="-128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charset="0"/>
                <a:ea typeface="MS PGothic" charset="-128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charset="0"/>
                <a:ea typeface="MS PGothic" charset="-128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charset="0"/>
                <a:ea typeface="MS PGothic" charset="-128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charset="-128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charset="-128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charset="-128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charset="-128"/>
              </a:defRPr>
            </a:lvl9pPr>
          </a:lstStyle>
          <a:p>
            <a:fld id="{6D1CA0D0-F09F-B541-A8D0-369DD67CC821}" type="slidenum">
              <a:rPr lang="en-US" altLang="de-DE"/>
              <a:pPr/>
              <a:t>25</a:t>
            </a:fld>
            <a:endParaRPr lang="en-US" altLang="de-DE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344" y="4717745"/>
            <a:ext cx="4983813" cy="4468144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9415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Title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BEEFF38-9219-3402-6C1E-B326B8FB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32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B7F7EA-D5FA-48A9-A388-858D3B14DD11}" type="datetimeFigureOut">
              <a:rPr lang="en-US" smtClean="0"/>
              <a:pPr/>
              <a:t>1/16/2026</a:t>
            </a:fld>
            <a:endParaRPr lang="en-US"/>
          </a:p>
        </p:txBody>
      </p:sp>
      <p:pic>
        <p:nvPicPr>
          <p:cNvPr id="1026" name="Picture 2" descr="lnu_wordmark_symbol_eng_rgb">
            <a:extLst>
              <a:ext uri="{FF2B5EF4-FFF2-40B4-BE49-F238E27FC236}">
                <a16:creationId xmlns:a16="http://schemas.microsoft.com/office/drawing/2014/main" id="{C8BBA26D-0448-C98D-A6E4-7D55251344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361" y="5087024"/>
            <a:ext cx="4303240" cy="69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682C91-27D9-7A04-4E8D-33817B2D74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3086" y="537502"/>
            <a:ext cx="6847472" cy="1976513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Module #: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DD5900-7FFF-4234-2E19-03956DD10669}"/>
              </a:ext>
            </a:extLst>
          </p:cNvPr>
          <p:cNvSpPr txBox="1"/>
          <p:nvPr userDrawn="1"/>
        </p:nvSpPr>
        <p:spPr>
          <a:xfrm>
            <a:off x="213085" y="2570480"/>
            <a:ext cx="66957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Andreas Linderholt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Linnaeus University 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Department of Mechanical Engineering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</a:rPr>
              <a:t>Steven Carter</a:t>
            </a:r>
          </a:p>
          <a:p>
            <a:r>
              <a:rPr lang="en-US" b="1" dirty="0">
                <a:solidFill>
                  <a:schemeClr val="bg1"/>
                </a:solidFill>
              </a:rPr>
              <a:t>Benjamin Moldenhauer</a:t>
            </a:r>
          </a:p>
          <a:p>
            <a:r>
              <a:rPr lang="en-US" b="1" dirty="0">
                <a:solidFill>
                  <a:schemeClr val="bg1"/>
                </a:solidFill>
              </a:rPr>
              <a:t>Daniel Roettgen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Sandia National Laboratories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Experimental Structural Dynamics</a:t>
            </a:r>
          </a:p>
          <a:p>
            <a:endParaRPr lang="en-US" dirty="0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55A49339-AFD2-293D-5083-71E4E4D94B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522779" y="297608"/>
            <a:ext cx="2262822" cy="1463992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58CEA6CC-F9AC-D943-BDC1-48802068B7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22779" y="1838484"/>
            <a:ext cx="2262822" cy="1463992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AA5A42-DD64-4CDB-4EF6-E5FD7223D6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40" b="18728"/>
          <a:stretch/>
        </p:blipFill>
        <p:spPr>
          <a:xfrm>
            <a:off x="5704659" y="5766266"/>
            <a:ext cx="6487341" cy="109173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640B613-3A6D-056E-0592-B710A66DBB4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90065" y="3358941"/>
            <a:ext cx="3151696" cy="17753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0AED2AD-3489-102B-FD4A-EF0FD9432851}"/>
              </a:ext>
            </a:extLst>
          </p:cNvPr>
          <p:cNvSpPr txBox="1"/>
          <p:nvPr userDrawn="1"/>
        </p:nvSpPr>
        <p:spPr>
          <a:xfrm>
            <a:off x="324845" y="5393103"/>
            <a:ext cx="4051642" cy="3915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800" b="0" i="0" u="none" strike="noStrike" dirty="0">
                <a:solidFill>
                  <a:schemeClr val="bg1"/>
                </a:solidFill>
                <a:effectLst/>
                <a:latin typeface="+mn-lt"/>
              </a:rPr>
              <a:t>Sandia National Laboratories is a </a:t>
            </a:r>
            <a:r>
              <a:rPr lang="en-US" sz="800" b="0" i="0" u="none" strike="noStrike" dirty="0" err="1">
                <a:solidFill>
                  <a:schemeClr val="bg1"/>
                </a:solidFill>
                <a:effectLst/>
                <a:latin typeface="+mn-lt"/>
              </a:rPr>
              <a:t>multimission</a:t>
            </a:r>
            <a:r>
              <a:rPr lang="en-US" sz="800" b="0" i="0" u="none" strike="noStrike" dirty="0">
                <a:solidFill>
                  <a:schemeClr val="bg1"/>
                </a:solidFill>
                <a:effectLst/>
                <a:latin typeface="+mn-lt"/>
              </a:rPr>
              <a:t> laboratory managed and operated by National Technology and Engineering Solutions of Sandia, LLC, a wholly owned subsidiary of Honeywell International Inc., for the U.S. Department of Energy’s National Nuclear Security Administration under contract DE-NA0003525</a:t>
            </a:r>
            <a:endParaRPr lang="en-US" sz="800" b="0" i="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82104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AEC8612-5184-DD49-1D2B-3D06982D38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32" y="136525"/>
            <a:ext cx="10515600" cy="66278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49D2C-832F-6FF3-40A6-F5F2FE06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11337324" cy="49788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  <a:latin typeface="+mj-lt"/>
              </a:defRPr>
            </a:lvl2pPr>
            <a:lvl3pPr>
              <a:defRPr>
                <a:solidFill>
                  <a:schemeClr val="accent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  <a:latin typeface="+mj-lt"/>
              </a:defRPr>
            </a:lvl4pPr>
            <a:lvl5pPr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A23D71-51C1-E310-51CE-7DE5CD2D46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E0252BF-FA0F-2F01-F0F1-01835876CA31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88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32" y="136525"/>
            <a:ext cx="10515600" cy="66278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49D2C-832F-6FF3-40A6-F5F2FE06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8683368" cy="49788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  <a:latin typeface="+mj-lt"/>
              </a:defRPr>
            </a:lvl2pPr>
            <a:lvl3pPr>
              <a:defRPr>
                <a:solidFill>
                  <a:schemeClr val="accent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  <a:latin typeface="+mj-lt"/>
              </a:defRPr>
            </a:lvl4pPr>
            <a:lvl5pPr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3C00C0-AFE4-5CDB-792C-B1FF128BB46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918876" y="876197"/>
            <a:ext cx="3087687" cy="2366963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02C02E6-8B4E-746B-32D8-FBA12F839E6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918875" y="3339996"/>
            <a:ext cx="3087687" cy="2366963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30CF3A-888A-B8BC-F56F-72E990F0AF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C3CC7A-4227-B03B-A890-0B34C7C41C16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157A07-85D3-76EC-2529-437C905C2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70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/ Brea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832" y="1409120"/>
            <a:ext cx="10515600" cy="662781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Transition 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E25C2B-00D8-B739-8A7C-9F78150F5A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25040" y="1841555"/>
            <a:ext cx="6675121" cy="37600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A11BA6-9A4D-41B0-FE13-D42E91F591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2307F5-1B86-EB7B-529A-B5AC3C3702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EA77C6D-65EF-D438-A2B7-B79287A44518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10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2">
            <a:extLst>
              <a:ext uri="{FF2B5EF4-FFF2-40B4-BE49-F238E27FC236}">
                <a16:creationId xmlns:a16="http://schemas.microsoft.com/office/drawing/2014/main" id="{AE4A825A-4063-94F5-2E60-E497DE3F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AC2EE41-D82D-F945-F481-EC0ADFBAC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332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3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2.png"/><Relationship Id="rId7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0.png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1.png"/><Relationship Id="rId3" Type="http://schemas.openxmlformats.org/officeDocument/2006/relationships/image" Target="../media/image12.png"/><Relationship Id="rId7" Type="http://schemas.openxmlformats.org/officeDocument/2006/relationships/image" Target="../media/image38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0.png"/><Relationship Id="rId5" Type="http://schemas.openxmlformats.org/officeDocument/2006/relationships/image" Target="../media/image360.png"/><Relationship Id="rId4" Type="http://schemas.openxmlformats.org/officeDocument/2006/relationships/image" Target="../media/image350.png"/><Relationship Id="rId9" Type="http://schemas.openxmlformats.org/officeDocument/2006/relationships/image" Target="../media/image40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0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8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7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9" Type="http://schemas.openxmlformats.org/officeDocument/2006/relationships/image" Target="../media/image8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27616-A4B2-51B4-6A7C-6CC82304D7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Module 2: </a:t>
            </a:r>
            <a:r>
              <a:rPr lang="en-US" dirty="0"/>
              <a:t>Coupling in the Physical Domain</a:t>
            </a:r>
          </a:p>
        </p:txBody>
      </p:sp>
    </p:spTree>
    <p:extLst>
      <p:ext uri="{BB962C8B-B14F-4D97-AF65-F5344CB8AC3E}">
        <p14:creationId xmlns:p14="http://schemas.microsoft.com/office/powerpoint/2010/main" val="3645423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AA10-9E63-EDDD-3B6A-A02EBE69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306" y="170387"/>
            <a:ext cx="10530884" cy="662781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Different Domains to apply substructuring in</a:t>
            </a:r>
            <a:endParaRPr lang="en-US" dirty="0"/>
          </a:p>
        </p:txBody>
      </p:sp>
      <p:pic>
        <p:nvPicPr>
          <p:cNvPr id="6" name="Bild 6">
            <a:extLst>
              <a:ext uri="{FF2B5EF4-FFF2-40B4-BE49-F238E27FC236}">
                <a16:creationId xmlns:a16="http://schemas.microsoft.com/office/drawing/2014/main" id="{8D1604FA-D670-9540-90F5-9895670FB1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2948" y="1378575"/>
            <a:ext cx="7467600" cy="4978400"/>
          </a:xfrm>
          <a:prstGeom prst="rect">
            <a:avLst/>
          </a:prstGeom>
        </p:spPr>
      </p:pic>
      <p:sp>
        <p:nvSpPr>
          <p:cNvPr id="7" name="Textfeld 2">
            <a:extLst>
              <a:ext uri="{FF2B5EF4-FFF2-40B4-BE49-F238E27FC236}">
                <a16:creationId xmlns:a16="http://schemas.microsoft.com/office/drawing/2014/main" id="{543072D4-D5BD-16EB-A447-C029A712C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8814" y="833168"/>
            <a:ext cx="285366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MS PGothic" charset="-128"/>
              </a:defRPr>
            </a:lvl9pPr>
          </a:lstStyle>
          <a:p>
            <a:pPr eaLnBrk="1" hangingPunct="1"/>
            <a:r>
              <a:rPr lang="de-DE" altLang="de-DE" sz="2400" dirty="0" err="1">
                <a:solidFill>
                  <a:schemeClr val="accent1"/>
                </a:solidFill>
              </a:rPr>
              <a:t>Depending</a:t>
            </a:r>
            <a:r>
              <a:rPr lang="de-DE" altLang="de-DE" sz="2400" dirty="0">
                <a:solidFill>
                  <a:schemeClr val="accent1"/>
                </a:solidFill>
              </a:rPr>
              <a:t> on </a:t>
            </a:r>
            <a:r>
              <a:rPr lang="de-DE" altLang="de-DE" sz="2400" dirty="0" err="1">
                <a:solidFill>
                  <a:schemeClr val="accent1"/>
                </a:solidFill>
              </a:rPr>
              <a:t>how</a:t>
            </a:r>
            <a:endParaRPr lang="de-DE" altLang="de-DE" sz="2400" dirty="0">
              <a:solidFill>
                <a:schemeClr val="accent1"/>
              </a:solidFill>
            </a:endParaRPr>
          </a:p>
          <a:p>
            <a:pPr eaLnBrk="1" hangingPunct="1"/>
            <a:r>
              <a:rPr lang="de-DE" altLang="de-DE" sz="2400" dirty="0" err="1">
                <a:solidFill>
                  <a:schemeClr val="accent1"/>
                </a:solidFill>
              </a:rPr>
              <a:t>the</a:t>
            </a:r>
            <a:r>
              <a:rPr lang="de-DE" altLang="de-DE" sz="2400" dirty="0">
                <a:solidFill>
                  <a:schemeClr val="accent1"/>
                </a:solidFill>
              </a:rPr>
              <a:t> </a:t>
            </a:r>
            <a:r>
              <a:rPr lang="de-DE" altLang="de-DE" sz="2400" dirty="0" err="1">
                <a:solidFill>
                  <a:schemeClr val="accent1"/>
                </a:solidFill>
              </a:rPr>
              <a:t>dynamics</a:t>
            </a:r>
            <a:r>
              <a:rPr lang="de-DE" altLang="de-DE" sz="2400" dirty="0">
                <a:solidFill>
                  <a:schemeClr val="accent1"/>
                </a:solidFill>
              </a:rPr>
              <a:t> of </a:t>
            </a:r>
            <a:r>
              <a:rPr lang="de-DE" altLang="de-DE" sz="2400" dirty="0" err="1">
                <a:solidFill>
                  <a:schemeClr val="accent1"/>
                </a:solidFill>
              </a:rPr>
              <a:t>the</a:t>
            </a:r>
            <a:endParaRPr lang="de-DE" altLang="de-DE" sz="2400" dirty="0">
              <a:solidFill>
                <a:schemeClr val="accent1"/>
              </a:solidFill>
            </a:endParaRPr>
          </a:p>
          <a:p>
            <a:pPr eaLnBrk="1" hangingPunct="1"/>
            <a:r>
              <a:rPr lang="de-DE" altLang="de-DE" sz="2400" dirty="0" err="1">
                <a:solidFill>
                  <a:schemeClr val="accent1"/>
                </a:solidFill>
              </a:rPr>
              <a:t>components</a:t>
            </a:r>
            <a:r>
              <a:rPr lang="de-DE" altLang="de-DE" sz="2400" dirty="0">
                <a:solidFill>
                  <a:schemeClr val="accent1"/>
                </a:solidFill>
              </a:rPr>
              <a:t> </a:t>
            </a:r>
            <a:r>
              <a:rPr lang="de-DE" altLang="de-DE" sz="2400" dirty="0" err="1">
                <a:solidFill>
                  <a:schemeClr val="accent1"/>
                </a:solidFill>
              </a:rPr>
              <a:t>are</a:t>
            </a:r>
            <a:endParaRPr lang="de-DE" altLang="de-DE" sz="2400" dirty="0">
              <a:solidFill>
                <a:schemeClr val="accent1"/>
              </a:solidFill>
            </a:endParaRPr>
          </a:p>
          <a:p>
            <a:pPr eaLnBrk="1" hangingPunct="1"/>
            <a:r>
              <a:rPr lang="de-DE" altLang="de-DE" sz="2400" dirty="0" err="1">
                <a:solidFill>
                  <a:schemeClr val="accent1"/>
                </a:solidFill>
              </a:rPr>
              <a:t>described</a:t>
            </a:r>
            <a:endParaRPr lang="de-DE" altLang="de-DE" sz="2400" dirty="0">
              <a:solidFill>
                <a:schemeClr val="accent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DE25DF-4B25-1750-A31D-76504D4D2122}"/>
              </a:ext>
            </a:extLst>
          </p:cNvPr>
          <p:cNvSpPr/>
          <p:nvPr/>
        </p:nvSpPr>
        <p:spPr>
          <a:xfrm>
            <a:off x="3857897" y="5949616"/>
            <a:ext cx="992777" cy="5121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47376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AA10-9E63-EDDD-3B6A-A02EBE69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single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4C25BEE-E4CF-4E50-86C8-111949C2FD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4775" y="939800"/>
                <a:ext cx="11570920" cy="524668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Let’s have a look at a three degree-of-freedom discrete viscously damped structure that will later be assembled with other structures.</a:t>
                </a:r>
              </a:p>
              <a:p>
                <a:pPr marL="0" indent="0">
                  <a:buNone/>
                </a:pPr>
                <a:r>
                  <a:rPr lang="en-US" sz="2400" dirty="0"/>
                  <a:t>At the moment, the structure does not “know” anything about other structures.</a:t>
                </a:r>
              </a:p>
              <a:p>
                <a:pPr marL="0" indent="0">
                  <a:buNone/>
                </a:pPr>
                <a:r>
                  <a:rPr lang="en-US" sz="2400" dirty="0"/>
                  <a:t>The structure consists of discrete masses,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sv-SE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, dampers, with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, and springs, with stiffnesses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sv-SE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 and it is  excited by the external forces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sv-SE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. The response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sv-SE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	</a:t>
                </a:r>
              </a:p>
              <a:p>
                <a:pPr marL="0" indent="0">
                  <a:buNone/>
                </a:pPr>
                <a:r>
                  <a:rPr lang="en-US" dirty="0"/>
                  <a:t>			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4C25BEE-E4CF-4E50-86C8-111949C2FD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775" y="939800"/>
                <a:ext cx="11570920" cy="5246688"/>
              </a:xfrm>
              <a:blipFill>
                <a:blip r:embed="rId2"/>
                <a:stretch>
                  <a:fillRect l="-790" t="-151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0F4B20E5-56F9-5DD7-DA5A-47D7CFE699A1}"/>
              </a:ext>
            </a:extLst>
          </p:cNvPr>
          <p:cNvGrpSpPr/>
          <p:nvPr/>
        </p:nvGrpSpPr>
        <p:grpSpPr>
          <a:xfrm>
            <a:off x="104775" y="3429000"/>
            <a:ext cx="11375477" cy="982665"/>
            <a:chOff x="-373547" y="3425904"/>
            <a:chExt cx="11375477" cy="9826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5654274-D443-3226-0909-8BF27867158E}"/>
                    </a:ext>
                  </a:extLst>
                </p:cNvPr>
                <p:cNvSpPr txBox="1"/>
                <p:nvPr/>
              </p:nvSpPr>
              <p:spPr>
                <a:xfrm>
                  <a:off x="-373547" y="3435867"/>
                  <a:ext cx="3215773" cy="9727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sv-SE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sv-SE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sv-SE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sv-SE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sv-SE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sv-SE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sv-SE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sv-SE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sv-SE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sv-SE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sv-SE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sv-SE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sv-SE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sv-SE" i="1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5654274-D443-3226-0909-8BF2786715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73547" y="3435867"/>
                  <a:ext cx="3215773" cy="97270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50FB78D-B2F7-36DA-EBDF-64B14FD1975E}"/>
                    </a:ext>
                  </a:extLst>
                </p:cNvPr>
                <p:cNvSpPr txBox="1"/>
                <p:nvPr/>
              </p:nvSpPr>
              <p:spPr>
                <a:xfrm>
                  <a:off x="5462576" y="3435867"/>
                  <a:ext cx="3215773" cy="9727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sv-SE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sv-SE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sv-SE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sv-SE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sv-SE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sv-SE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sv-SE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sv-SE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sv-SE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sv-SE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sv-SE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sv-SE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sv-SE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sv-SE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sv-SE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sv-SE" i="1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50FB78D-B2F7-36DA-EBDF-64B14FD197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576" y="3435867"/>
                  <a:ext cx="3215773" cy="97270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E39A398-4982-2EC4-A2D8-B2D42CAAE490}"/>
                    </a:ext>
                  </a:extLst>
                </p:cNvPr>
                <p:cNvSpPr txBox="1"/>
                <p:nvPr/>
              </p:nvSpPr>
              <p:spPr>
                <a:xfrm>
                  <a:off x="2398992" y="3482803"/>
                  <a:ext cx="3063584" cy="8788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sv-SE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sv-SE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sv-SE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sv-SE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sv-SE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sv-SE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sv-SE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sv-SE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sv-SE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sv-SE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sv-SE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sv-SE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sv-SE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sv-SE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sv-SE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sv-SE" i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E39A398-4982-2EC4-A2D8-B2D42CAAE4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8992" y="3482803"/>
                  <a:ext cx="3063584" cy="87883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BBA7410-F4F6-A7CE-797F-2547C86A2342}"/>
                    </a:ext>
                  </a:extLst>
                </p:cNvPr>
                <p:cNvSpPr txBox="1"/>
                <p:nvPr/>
              </p:nvSpPr>
              <p:spPr>
                <a:xfrm>
                  <a:off x="8678349" y="3510118"/>
                  <a:ext cx="1208922" cy="8242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sv-SE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sv-SE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sv-SE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sv-SE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sv-SE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BBA7410-F4F6-A7CE-797F-2547C86A23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8349" y="3510118"/>
                  <a:ext cx="1208922" cy="8242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F981B29-3EE7-242B-6C19-63FC000194BA}"/>
                    </a:ext>
                  </a:extLst>
                </p:cNvPr>
                <p:cNvSpPr txBox="1"/>
                <p:nvPr/>
              </p:nvSpPr>
              <p:spPr>
                <a:xfrm>
                  <a:off x="9793008" y="3425904"/>
                  <a:ext cx="1208922" cy="976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sv-SE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sv-SE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sv-SE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sv-SE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sv-SE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F981B29-3EE7-242B-6C19-63FC000194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3008" y="3425904"/>
                  <a:ext cx="1208922" cy="97661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8A6DF93-3448-C037-4E61-1D25A686A898}"/>
              </a:ext>
            </a:extLst>
          </p:cNvPr>
          <p:cNvGrpSpPr/>
          <p:nvPr/>
        </p:nvGrpSpPr>
        <p:grpSpPr>
          <a:xfrm>
            <a:off x="4125328" y="4626855"/>
            <a:ext cx="4260951" cy="1992998"/>
            <a:chOff x="4125328" y="4626855"/>
            <a:chExt cx="4260951" cy="199299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ED3DA67-006B-9859-D8C5-50FD7E027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125328" y="5293788"/>
              <a:ext cx="4218259" cy="1326065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C6F8A98-BF58-F7B8-7024-7D51C31FA188}"/>
                </a:ext>
              </a:extLst>
            </p:cNvPr>
            <p:cNvGrpSpPr/>
            <p:nvPr/>
          </p:nvGrpSpPr>
          <p:grpSpPr>
            <a:xfrm>
              <a:off x="4773387" y="4626855"/>
              <a:ext cx="967666" cy="596686"/>
              <a:chOff x="4793941" y="4774305"/>
              <a:chExt cx="967666" cy="596686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752CAD0A-1886-B7F5-3C49-5A3F152ED7F0}"/>
                  </a:ext>
                </a:extLst>
              </p:cNvPr>
              <p:cNvCxnSpPr/>
              <p:nvPr/>
            </p:nvCxnSpPr>
            <p:spPr>
              <a:xfrm>
                <a:off x="4989250" y="5370991"/>
                <a:ext cx="57704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24FF8E9E-9AA1-D6DE-9F05-B143AB55C90F}"/>
                      </a:ext>
                    </a:extLst>
                  </p:cNvPr>
                  <p:cNvSpPr txBox="1"/>
                  <p:nvPr/>
                </p:nvSpPr>
                <p:spPr>
                  <a:xfrm>
                    <a:off x="4793941" y="4774305"/>
                    <a:ext cx="96766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r>
                      <a:rPr lang="sv-SE" sz="2400" dirty="0">
                        <a:solidFill>
                          <a:schemeClr val="accent1"/>
                        </a:solidFill>
                      </a:rPr>
                      <a:t>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sv-SE" sz="2400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24FF8E9E-9AA1-D6DE-9F05-B143AB55C9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93941" y="4774305"/>
                    <a:ext cx="967666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10526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sv-S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B6413E2-948D-FFD7-5187-D4AFF10C0BE8}"/>
                </a:ext>
              </a:extLst>
            </p:cNvPr>
            <p:cNvGrpSpPr/>
            <p:nvPr/>
          </p:nvGrpSpPr>
          <p:grpSpPr>
            <a:xfrm>
              <a:off x="6096000" y="4626855"/>
              <a:ext cx="967666" cy="596686"/>
              <a:chOff x="4793941" y="4774305"/>
              <a:chExt cx="967666" cy="596686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EDCA32E1-4220-93DC-ED3B-A85193D4D688}"/>
                  </a:ext>
                </a:extLst>
              </p:cNvPr>
              <p:cNvCxnSpPr/>
              <p:nvPr/>
            </p:nvCxnSpPr>
            <p:spPr>
              <a:xfrm>
                <a:off x="4989250" y="5370991"/>
                <a:ext cx="57704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4A2C68D6-BBDC-1766-5CC9-8DD21FE0572A}"/>
                      </a:ext>
                    </a:extLst>
                  </p:cNvPr>
                  <p:cNvSpPr txBox="1"/>
                  <p:nvPr/>
                </p:nvSpPr>
                <p:spPr>
                  <a:xfrm>
                    <a:off x="4793941" y="4774305"/>
                    <a:ext cx="96766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r>
                      <a:rPr lang="sv-SE" sz="2400" dirty="0">
                        <a:solidFill>
                          <a:schemeClr val="accent1"/>
                        </a:solidFill>
                      </a:rPr>
                      <a:t>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sv-SE" sz="2400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4A2C68D6-BBDC-1766-5CC9-8DD21FE057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93941" y="4774305"/>
                    <a:ext cx="967666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10526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sv-S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8B4293D-BD48-2AF0-B75E-0AB477CD735D}"/>
                </a:ext>
              </a:extLst>
            </p:cNvPr>
            <p:cNvGrpSpPr/>
            <p:nvPr/>
          </p:nvGrpSpPr>
          <p:grpSpPr>
            <a:xfrm>
              <a:off x="7418613" y="4626855"/>
              <a:ext cx="967666" cy="596686"/>
              <a:chOff x="4793941" y="4774305"/>
              <a:chExt cx="967666" cy="596686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074E48F8-0E80-4D2B-49F9-760A87B90800}"/>
                  </a:ext>
                </a:extLst>
              </p:cNvPr>
              <p:cNvCxnSpPr/>
              <p:nvPr/>
            </p:nvCxnSpPr>
            <p:spPr>
              <a:xfrm>
                <a:off x="4989250" y="5370991"/>
                <a:ext cx="57704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FF6A4B80-65AE-7EF4-CD06-18FA8939AEEA}"/>
                      </a:ext>
                    </a:extLst>
                  </p:cNvPr>
                  <p:cNvSpPr txBox="1"/>
                  <p:nvPr/>
                </p:nvSpPr>
                <p:spPr>
                  <a:xfrm>
                    <a:off x="4793941" y="4774305"/>
                    <a:ext cx="96766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r>
                      <a:rPr lang="sv-SE" sz="2400" dirty="0">
                        <a:solidFill>
                          <a:schemeClr val="accent1"/>
                        </a:solidFill>
                      </a:rPr>
                      <a:t>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sv-SE" sz="24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endParaRPr lang="sv-SE" sz="2400" dirty="0"/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FF6A4B80-65AE-7EF4-CD06-18FA8939AE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93941" y="4774305"/>
                    <a:ext cx="967666" cy="46166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t="-10526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sv-S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052862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AA10-9E63-EDDD-3B6A-A02EBE69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Prepare for assembling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E5F0CE-8835-19E1-25AE-0C967ED74D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31" y="939586"/>
                <a:ext cx="12021865" cy="536462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To prepare the structure to be assembled with other structures: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r>
                  <a:rPr lang="en-US" sz="2400" dirty="0"/>
                  <a:t>Let each discrete degree-of-freedom (</a:t>
                </a:r>
                <a:r>
                  <a:rPr lang="en-US" sz="2400" dirty="0" err="1"/>
                  <a:t>dof</a:t>
                </a:r>
                <a:r>
                  <a:rPr lang="en-US" sz="2400" dirty="0"/>
                  <a:t>), </a:t>
                </a:r>
                <a14:m>
                  <m:oMath xmlns:m="http://schemas.openxmlformats.org/officeDocument/2006/math"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, has the displacement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Let each discrete </a:t>
                </a:r>
                <a:r>
                  <a:rPr lang="en-US" sz="2400" dirty="0" err="1"/>
                  <a:t>dof</a:t>
                </a:r>
                <a:r>
                  <a:rPr lang="en-US" sz="2400" dirty="0"/>
                  <a:t> be loaded by a coupling force,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and an external force,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buNone/>
                </a:pPr>
                <a:r>
                  <a:rPr lang="en-US" sz="2400" dirty="0"/>
                  <a:t>    The coupling forces do not have any values yet and most of them are likely to be equal to zero.</a:t>
                </a:r>
              </a:p>
              <a:p>
                <a:r>
                  <a:rPr lang="en-US" sz="2400" dirty="0"/>
                  <a:t>Denote the structure, substructure </a:t>
                </a:r>
                <a:r>
                  <a:rPr lang="en-US" sz="2400" i="1" dirty="0"/>
                  <a:t>A</a:t>
                </a:r>
                <a14:m>
                  <m:oMath xmlns:m="http://schemas.openxmlformats.org/officeDocument/2006/math">
                    <m:r>
                      <a:rPr lang="sv-SE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i="1" dirty="0"/>
              </a:p>
              <a:p>
                <a:r>
                  <a:rPr lang="en-US" sz="2400" dirty="0"/>
                  <a:t>Let the substructure’s mass-, damping- and stiffness matrices be                                            .</a:t>
                </a:r>
              </a:p>
              <a:p>
                <a:r>
                  <a:rPr lang="en-US" sz="2400" dirty="0"/>
                  <a:t>Let the external force-, the coupling force- and the displacement vectors be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E5F0CE-8835-19E1-25AE-0C967ED74D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31" y="939586"/>
                <a:ext cx="12021865" cy="5364622"/>
              </a:xfrm>
              <a:blipFill>
                <a:blip r:embed="rId2"/>
                <a:stretch>
                  <a:fillRect l="-761" t="-147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F00146E-83F3-73EE-3481-07980D289F67}"/>
                  </a:ext>
                </a:extLst>
              </p:cNvPr>
              <p:cNvSpPr txBox="1"/>
              <p:nvPr/>
            </p:nvSpPr>
            <p:spPr>
              <a:xfrm>
                <a:off x="8438745" y="3405194"/>
                <a:ext cx="2640680" cy="462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sv-SE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sv-SE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4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4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sv-SE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endParaRPr lang="sv-SE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F00146E-83F3-73EE-3481-07980D289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8745" y="3405194"/>
                <a:ext cx="2640680" cy="462627"/>
              </a:xfrm>
              <a:prstGeom prst="rect">
                <a:avLst/>
              </a:prstGeom>
              <a:blipFill>
                <a:blip r:embed="rId3"/>
                <a:stretch>
                  <a:fillRect l="-462" t="-9333" b="-32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D38576D-9FCB-649C-8432-E7478828035C}"/>
              </a:ext>
            </a:extLst>
          </p:cNvPr>
          <p:cNvGrpSpPr/>
          <p:nvPr/>
        </p:nvGrpSpPr>
        <p:grpSpPr>
          <a:xfrm>
            <a:off x="7054913" y="4519891"/>
            <a:ext cx="4877017" cy="1911670"/>
            <a:chOff x="7392311" y="3209973"/>
            <a:chExt cx="4877017" cy="191167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3630FA-CB3A-D9E8-EC15-B0E8866417C4}"/>
                </a:ext>
              </a:extLst>
            </p:cNvPr>
            <p:cNvGrpSpPr/>
            <p:nvPr/>
          </p:nvGrpSpPr>
          <p:grpSpPr>
            <a:xfrm>
              <a:off x="7392311" y="3214817"/>
              <a:ext cx="4218259" cy="1906826"/>
              <a:chOff x="4125328" y="4713027"/>
              <a:chExt cx="4218259" cy="1906826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7F48B811-00A8-8B54-9C20-CD4F1BAAAA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25328" y="5293788"/>
                <a:ext cx="4218259" cy="1326065"/>
              </a:xfrm>
              <a:prstGeom prst="rect">
                <a:avLst/>
              </a:prstGeom>
            </p:spPr>
          </p:pic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3BCB21D5-2CC5-1BD3-F025-519EB4B07101}"/>
                  </a:ext>
                </a:extLst>
              </p:cNvPr>
              <p:cNvGrpSpPr/>
              <p:nvPr/>
            </p:nvGrpSpPr>
            <p:grpSpPr>
              <a:xfrm>
                <a:off x="4232782" y="4713027"/>
                <a:ext cx="1622748" cy="510514"/>
                <a:chOff x="4253336" y="4860477"/>
                <a:chExt cx="1622748" cy="510514"/>
              </a:xfrm>
            </p:grpSpPr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5D98EFBD-46F3-BE16-FAC9-9F9FD14A0BFA}"/>
                    </a:ext>
                  </a:extLst>
                </p:cNvPr>
                <p:cNvCxnSpPr/>
                <p:nvPr/>
              </p:nvCxnSpPr>
              <p:spPr>
                <a:xfrm>
                  <a:off x="4989250" y="5370991"/>
                  <a:ext cx="577049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367666A5-3B9F-DD8A-5F9F-1294DB4DB3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53336" y="4860477"/>
                      <a:ext cx="1622748" cy="46801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sv-SE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</m:oMath>
                      </a14:m>
                      <a:r>
                        <a:rPr lang="sv-SE" sz="2400" dirty="0">
                          <a:solidFill>
                            <a:schemeClr val="accent1"/>
                          </a:solidFill>
                        </a:rPr>
                        <a:t>,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  <m:r>
                            <a:rPr lang="sv-SE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oMath>
                      </a14:m>
                      <a:r>
                        <a:rPr lang="sv-SE" sz="2400" dirty="0">
                          <a:solidFill>
                            <a:schemeClr val="accent1"/>
                          </a:solidFill>
                        </a:rPr>
                        <a:t> 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sv-SE" sz="240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p>
                          </m:sSubSup>
                        </m:oMath>
                      </a14:m>
                      <a:endParaRPr lang="sv-SE" sz="2400" dirty="0"/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367666A5-3B9F-DD8A-5F9F-1294DB4DB3C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53336" y="4860477"/>
                      <a:ext cx="1622748" cy="468013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t="-7792" b="-2987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sv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44EB34A8-4711-FED4-CE2C-3D1AB97973D2}"/>
                  </a:ext>
                </a:extLst>
              </p:cNvPr>
              <p:cNvCxnSpPr/>
              <p:nvPr/>
            </p:nvCxnSpPr>
            <p:spPr>
              <a:xfrm>
                <a:off x="6291309" y="5223541"/>
                <a:ext cx="57704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2C239B3F-0C77-E799-0305-9642ECFD4D56}"/>
                  </a:ext>
                </a:extLst>
              </p:cNvPr>
              <p:cNvCxnSpPr/>
              <p:nvPr/>
            </p:nvCxnSpPr>
            <p:spPr>
              <a:xfrm>
                <a:off x="7613922" y="5223541"/>
                <a:ext cx="57704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C7D54B9-0150-B45E-69F9-28BBB27E0A42}"/>
                    </a:ext>
                  </a:extLst>
                </p:cNvPr>
                <p:cNvSpPr txBox="1"/>
                <p:nvPr/>
              </p:nvSpPr>
              <p:spPr>
                <a:xfrm>
                  <a:off x="9146188" y="3209973"/>
                  <a:ext cx="1622748" cy="4687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sv-SE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sv-SE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sv-SE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a14:m>
                  <a:r>
                    <a:rPr lang="sv-SE" sz="2400" dirty="0">
                      <a:solidFill>
                        <a:schemeClr val="accent1"/>
                      </a:solidFill>
                    </a:rPr>
                    <a:t>,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sv-SE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sv-SE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sv-SE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sv-SE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sv-SE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sv-SE" sz="2400" dirty="0">
                      <a:solidFill>
                        <a:schemeClr val="accent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sv-SE" sz="24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sv-SE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sv-SE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sv-SE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a14:m>
                  <a:endParaRPr lang="sv-SE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C7D54B9-0150-B45E-69F9-28BBB27E0A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6188" y="3209973"/>
                  <a:ext cx="1622748" cy="468718"/>
                </a:xfrm>
                <a:prstGeom prst="rect">
                  <a:avLst/>
                </a:prstGeom>
                <a:blipFill>
                  <a:blip r:embed="rId6"/>
                  <a:stretch>
                    <a:fillRect t="-7792" b="-29870"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6ADE2C3-6FA4-3ABD-58A2-FD0B258AF149}"/>
                    </a:ext>
                  </a:extLst>
                </p:cNvPr>
                <p:cNvSpPr txBox="1"/>
                <p:nvPr/>
              </p:nvSpPr>
              <p:spPr>
                <a:xfrm>
                  <a:off x="10646580" y="3209973"/>
                  <a:ext cx="1622748" cy="4705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sv-SE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sv-SE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sv-SE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a14:m>
                  <a:r>
                    <a:rPr lang="sv-SE" sz="2400" dirty="0">
                      <a:solidFill>
                        <a:schemeClr val="accent1"/>
                      </a:solidFill>
                    </a:rPr>
                    <a:t>,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sv-SE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sv-SE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sv-SE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sv-SE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  <m:r>
                        <a:rPr lang="sv-SE" sz="24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sv-SE" sz="2400" dirty="0">
                      <a:solidFill>
                        <a:schemeClr val="accent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sv-SE" sz="24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sv-SE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sv-SE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sv-SE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a14:m>
                  <a:endParaRPr lang="sv-SE" sz="24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6ADE2C3-6FA4-3ABD-58A2-FD0B258AF1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46580" y="3209973"/>
                  <a:ext cx="1622748" cy="470578"/>
                </a:xfrm>
                <a:prstGeom prst="rect">
                  <a:avLst/>
                </a:prstGeom>
                <a:blipFill>
                  <a:blip r:embed="rId7"/>
                  <a:stretch>
                    <a:fillRect t="-7692" b="-28205"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9159D6E-907F-1139-DA66-E3B99BD0D7B0}"/>
              </a:ext>
            </a:extLst>
          </p:cNvPr>
          <p:cNvGrpSpPr/>
          <p:nvPr/>
        </p:nvGrpSpPr>
        <p:grpSpPr>
          <a:xfrm>
            <a:off x="227632" y="4754250"/>
            <a:ext cx="6213011" cy="1328634"/>
            <a:chOff x="1286754" y="5254096"/>
            <a:chExt cx="6213011" cy="132863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843ABF9-9F4F-C770-8CC2-AB2EF301A308}"/>
                </a:ext>
              </a:extLst>
            </p:cNvPr>
            <p:cNvSpPr txBox="1"/>
            <p:nvPr/>
          </p:nvSpPr>
          <p:spPr>
            <a:xfrm>
              <a:off x="2961774" y="5610256"/>
              <a:ext cx="2441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400" dirty="0">
                  <a:solidFill>
                    <a:schemeClr val="accent1"/>
                  </a:solidFill>
                </a:rPr>
                <a:t>,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E4096CE-4D61-12D0-DA6C-B648B92264AE}"/>
                </a:ext>
              </a:extLst>
            </p:cNvPr>
            <p:cNvSpPr txBox="1"/>
            <p:nvPr/>
          </p:nvSpPr>
          <p:spPr>
            <a:xfrm>
              <a:off x="5023839" y="5687579"/>
              <a:ext cx="7324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400" dirty="0">
                  <a:solidFill>
                    <a:schemeClr val="accent1"/>
                  </a:solidFill>
                </a:rPr>
                <a:t>and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78F4557-C77D-CE70-637A-E909D42E91A0}"/>
                    </a:ext>
                  </a:extLst>
                </p:cNvPr>
                <p:cNvSpPr txBox="1"/>
                <p:nvPr/>
              </p:nvSpPr>
              <p:spPr>
                <a:xfrm>
                  <a:off x="5702677" y="5254096"/>
                  <a:ext cx="1797088" cy="13286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p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Sup>
                                    <m:sSubSupPr>
                                      <m:ctrlP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p>
                                  </m:sSubSup>
                                </m:e>
                              </m:mr>
                              <m:mr>
                                <m:e>
                                  <m:sSubSup>
                                    <m:sSubSupPr>
                                      <m:ctrlP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p>
                                  </m:sSubSup>
                                </m:e>
                              </m:mr>
                              <m:mr>
                                <m:e>
                                  <m:sSubSup>
                                    <m:sSubSupPr>
                                      <m:ctrlP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p>
                                  </m:sSubSup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sv-SE" sz="24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78F4557-C77D-CE70-637A-E909D42E91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2677" y="5254096"/>
                  <a:ext cx="1797088" cy="132863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B7F88FC-1175-9795-4FC4-C0E8A6BC2BAB}"/>
                    </a:ext>
                  </a:extLst>
                </p:cNvPr>
                <p:cNvSpPr txBox="1"/>
                <p:nvPr/>
              </p:nvSpPr>
              <p:spPr>
                <a:xfrm>
                  <a:off x="1286754" y="5254097"/>
                  <a:ext cx="1797088" cy="13286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p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Sup>
                                    <m:sSubSupPr>
                                      <m:ctrlP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p>
                                  </m:sSubSup>
                                </m:e>
                              </m:mr>
                              <m:mr>
                                <m:e>
                                  <m:sSubSup>
                                    <m:sSubSupPr>
                                      <m:ctrlP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p>
                                  </m:sSubSup>
                                </m:e>
                              </m:mr>
                              <m:mr>
                                <m:e>
                                  <m:sSubSup>
                                    <m:sSubSupPr>
                                      <m:ctrlP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p>
                                  </m:sSubSup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sv-SE" sz="24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B7F88FC-1175-9795-4FC4-C0E8A6BC2B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6754" y="5254097"/>
                  <a:ext cx="1797088" cy="132863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A998505-C647-0A10-4A52-7B552C23033E}"/>
                    </a:ext>
                  </a:extLst>
                </p:cNvPr>
                <p:cNvSpPr txBox="1"/>
                <p:nvPr/>
              </p:nvSpPr>
              <p:spPr>
                <a:xfrm>
                  <a:off x="3205910" y="5254096"/>
                  <a:ext cx="1797088" cy="13286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p>
                        <m:r>
                          <a:rPr lang="sv-SE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sv-SE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Sup>
                                    <m:sSubSupPr>
                                      <m:ctrlP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p>
                                  </m:sSubSup>
                                </m:e>
                              </m:mr>
                              <m:mr>
                                <m:e>
                                  <m:sSubSup>
                                    <m:sSubSupPr>
                                      <m:ctrlP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p>
                                  </m:sSubSup>
                                </m:e>
                              </m:mr>
                              <m:mr>
                                <m:e>
                                  <m:sSubSup>
                                    <m:sSubSupPr>
                                      <m:ctrlP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a:rPr lang="sv-SE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p>
                                  </m:sSubSup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sv-SE" sz="24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A998505-C647-0A10-4A52-7B552C2303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5910" y="5254096"/>
                  <a:ext cx="1797088" cy="132863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08750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AA10-9E63-EDDD-3B6A-A02EBE69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Coupling in the physical domain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E5F0CE-8835-19E1-25AE-0C967ED74D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3064" y="939585"/>
                <a:ext cx="11978936" cy="5128704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Each substructure, for example the now damped substructure A</a:t>
                </a:r>
                <a14:m>
                  <m:oMath xmlns:m="http://schemas.openxmlformats.org/officeDocument/2006/math">
                    <m:r>
                      <a:rPr lang="sv-SE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must be in dynamic equilibrium: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̈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sSup>
                        <m:sSup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sSup>
                        <m:sSup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100" dirty="0"/>
              </a:p>
              <a:p>
                <a:pPr marL="0" indent="0">
                  <a:buNone/>
                </a:pPr>
                <a:endParaRPr lang="en-US" sz="2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/>
                  <a:t> are the mass, damping and stiffness matrices of substructure </a:t>
                </a:r>
                <a:r>
                  <a:rPr lang="en-US" i="1" dirty="0"/>
                  <a:t>A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sz="1100" dirty="0"/>
              </a:p>
              <a:p>
                <a:pPr marL="0" indent="0">
                  <a:buNone/>
                </a:pPr>
                <a:endParaRPr lang="en-US" sz="2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̈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/>
                  <a:t>constitute the acceleration, velocity and displacement vectors for substructure </a:t>
                </a:r>
                <a:r>
                  <a:rPr lang="en-US" i="1" dirty="0"/>
                  <a:t>A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sz="200" dirty="0"/>
              </a:p>
              <a:p>
                <a:pPr marL="0" indent="0">
                  <a:buNone/>
                </a:pPr>
                <a:endParaRPr lang="en-US" sz="11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lang="en-US" dirty="0"/>
                  <a:t> are the external force and coupling force vectors for substructure </a:t>
                </a:r>
                <a:r>
                  <a:rPr lang="en-US" i="1" dirty="0"/>
                  <a:t>A</a:t>
                </a:r>
                <a14:m>
                  <m:oMath xmlns:m="http://schemas.openxmlformats.org/officeDocument/2006/math">
                    <m:r>
                      <a:rPr lang="sv-SE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sz="1100" dirty="0"/>
              </a:p>
              <a:p>
                <a:pPr marL="0" indent="0">
                  <a:buNone/>
                </a:pPr>
                <a:endParaRPr lang="en-US" sz="200" dirty="0"/>
              </a:p>
              <a:p>
                <a:pPr marL="0" indent="0">
                  <a:buNone/>
                </a:pPr>
                <a:r>
                  <a:rPr lang="en-US" dirty="0"/>
                  <a:t>All forces are defined to be positive in the positive coordinate axes directions.</a:t>
                </a:r>
              </a:p>
              <a:p>
                <a:pPr marL="0" indent="0">
                  <a:buNone/>
                </a:pPr>
                <a:r>
                  <a:rPr lang="en-US" dirty="0"/>
                  <a:t>Here, that is to the right.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E5F0CE-8835-19E1-25AE-0C967ED74D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3064" y="939585"/>
                <a:ext cx="11978936" cy="5128704"/>
              </a:xfrm>
              <a:blipFill>
                <a:blip r:embed="rId2"/>
                <a:stretch>
                  <a:fillRect l="-814" t="-2140" r="-204" b="-23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4363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AA10-9E63-EDDD-3B6A-A02EBE69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Multiple substructures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E5F0CE-8835-19E1-25AE-0C967ED74D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83076" y="1108261"/>
                <a:ext cx="10235953" cy="535468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Now, let’s pretend that we have multiple substructures.</a:t>
                </a:r>
              </a:p>
              <a:p>
                <a:pPr marL="0" indent="0">
                  <a:buNone/>
                </a:pPr>
                <a:r>
                  <a:rPr lang="en-US" dirty="0"/>
                  <a:t>They are still not aware of each other.</a:t>
                </a:r>
              </a:p>
              <a:p>
                <a:pPr marL="0" indent="0">
                  <a:buNone/>
                </a:pPr>
                <a:r>
                  <a:rPr lang="en-US" dirty="0"/>
                  <a:t>Each substructure has to be in dynamic equilibrium.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̈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sv-SE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sSup>
                        <m:sSup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sv-S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sv-SE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sSup>
                        <m:sSup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sv-SE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  <m:r>
                        <a:rPr lang="sv-SE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sv-SE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̈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  <m:r>
                        <a:rPr lang="sv-SE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  <m:sSup>
                        <m:sSup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sv-S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  <m:r>
                        <a:rPr lang="sv-SE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  <m:sSup>
                        <m:sSup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  <m:r>
                        <a:rPr lang="sv-SE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  <m:r>
                        <a:rPr lang="sv-SE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̈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sv-SE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sSup>
                        <m:sSup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sv-S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sv-SE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sSup>
                        <m:sSup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sv-SE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sv-SE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E5F0CE-8835-19E1-25AE-0C967ED74D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3076" y="1108261"/>
                <a:ext cx="10235953" cy="5354683"/>
              </a:xfrm>
              <a:blipFill>
                <a:blip r:embed="rId2"/>
                <a:stretch>
                  <a:fillRect l="-1251" t="-205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8450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AA10-9E63-EDDD-3B6A-A02EBE69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985368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Block diagonal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5F0CE-8835-19E1-25AE-0C967ED74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1" y="939585"/>
            <a:ext cx="11913785" cy="56736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 us put the </a:t>
            </a:r>
            <a:r>
              <a:rPr lang="en-US" i="1" dirty="0"/>
              <a:t>n</a:t>
            </a:r>
            <a:r>
              <a:rPr lang="en-US" dirty="0"/>
              <a:t> equations of motion in block diagonal form.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Then: 						Note that the substructures still do not 						know anything of each others presence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0E44FC-E791-21A4-D3CC-1BFDCFE2AF10}"/>
                  </a:ext>
                </a:extLst>
              </p:cNvPr>
              <p:cNvSpPr txBox="1"/>
              <p:nvPr/>
            </p:nvSpPr>
            <p:spPr>
              <a:xfrm>
                <a:off x="141416" y="1399959"/>
                <a:ext cx="3731492" cy="13188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8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sv-SE" sz="28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≜</m:t>
                      </m:r>
                      <m:d>
                        <m:dPr>
                          <m:begChr m:val="["/>
                          <m:endChr m:val="]"/>
                          <m:ctrlP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p>
                                    <m: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p>
                                    <m: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0E44FC-E791-21A4-D3CC-1BFDCFE2A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16" y="1399959"/>
                <a:ext cx="3731492" cy="13188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A622E1-6312-CE45-D3F4-ED10F227AF95}"/>
                  </a:ext>
                </a:extLst>
              </p:cNvPr>
              <p:cNvSpPr txBox="1"/>
              <p:nvPr/>
            </p:nvSpPr>
            <p:spPr>
              <a:xfrm>
                <a:off x="4468373" y="1382823"/>
                <a:ext cx="3491344" cy="13188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800" dirty="0">
                    <a:solidFill>
                      <a:schemeClr val="accent1"/>
                    </a:solidFill>
                  </a:rPr>
                  <a:t>C</a:t>
                </a:r>
                <a14:m>
                  <m:oMath xmlns:m="http://schemas.openxmlformats.org/officeDocument/2006/math">
                    <m:r>
                      <a:rPr lang="sv-SE" sz="28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sv-SE" sz="28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≜</m:t>
                    </m:r>
                    <m:d>
                      <m:dPr>
                        <m:begChr m:val="["/>
                        <m:endChr m:val="]"/>
                        <m:ctrlPr>
                          <a:rPr lang="sv-SE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sv-SE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  <m:e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sv-SE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A622E1-6312-CE45-D3F4-ED10F227A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373" y="1382823"/>
                <a:ext cx="3491344" cy="1318823"/>
              </a:xfrm>
              <a:prstGeom prst="rect">
                <a:avLst/>
              </a:prstGeom>
              <a:blipFill>
                <a:blip r:embed="rId3"/>
                <a:stretch>
                  <a:fillRect l="-349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A12EAD6-5D2F-283D-D427-940159625D91}"/>
                  </a:ext>
                </a:extLst>
              </p:cNvPr>
              <p:cNvSpPr txBox="1"/>
              <p:nvPr/>
            </p:nvSpPr>
            <p:spPr>
              <a:xfrm>
                <a:off x="8555183" y="1399960"/>
                <a:ext cx="3531786" cy="13188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800" dirty="0">
                    <a:solidFill>
                      <a:schemeClr val="accent1"/>
                    </a:solidFill>
                  </a:rPr>
                  <a:t>K</a:t>
                </a:r>
                <a14:m>
                  <m:oMath xmlns:m="http://schemas.openxmlformats.org/officeDocument/2006/math">
                    <m:r>
                      <a:rPr lang="sv-SE" sz="28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sv-SE" sz="28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≜</m:t>
                    </m:r>
                    <m:d>
                      <m:dPr>
                        <m:begChr m:val="["/>
                        <m:endChr m:val="]"/>
                        <m:ctrlPr>
                          <a:rPr lang="sv-SE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sv-SE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  <m:e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sv-SE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A12EAD6-5D2F-283D-D427-940159625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5183" y="1399960"/>
                <a:ext cx="3531786" cy="1318823"/>
              </a:xfrm>
              <a:prstGeom prst="rect">
                <a:avLst/>
              </a:prstGeom>
              <a:blipFill>
                <a:blip r:embed="rId4"/>
                <a:stretch>
                  <a:fillRect l="-344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11D1D26-0398-291E-D3C0-A96215ECF400}"/>
                  </a:ext>
                </a:extLst>
              </p:cNvPr>
              <p:cNvSpPr txBox="1"/>
              <p:nvPr/>
            </p:nvSpPr>
            <p:spPr>
              <a:xfrm>
                <a:off x="4961070" y="3222450"/>
                <a:ext cx="1953489" cy="1316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800" dirty="0">
                    <a:solidFill>
                      <a:schemeClr val="accent1"/>
                    </a:solidFill>
                  </a:rPr>
                  <a:t>X</a:t>
                </a:r>
                <a14:m>
                  <m:oMath xmlns:m="http://schemas.openxmlformats.org/officeDocument/2006/math">
                    <m:r>
                      <a:rPr lang="sv-SE" sz="28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sv-SE" sz="28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≜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sv-SE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11D1D26-0398-291E-D3C0-A96215ECF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070" y="3222450"/>
                <a:ext cx="1953489" cy="1316001"/>
              </a:xfrm>
              <a:prstGeom prst="rect">
                <a:avLst/>
              </a:prstGeom>
              <a:blipFill>
                <a:blip r:embed="rId5"/>
                <a:stretch>
                  <a:fillRect l="-656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C4F41A-123A-66B7-E72E-BBA5BF07B2D3}"/>
                  </a:ext>
                </a:extLst>
              </p:cNvPr>
              <p:cNvSpPr txBox="1"/>
              <p:nvPr/>
            </p:nvSpPr>
            <p:spPr>
              <a:xfrm>
                <a:off x="7213560" y="3222449"/>
                <a:ext cx="1953489" cy="1316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800" dirty="0">
                    <a:solidFill>
                      <a:schemeClr val="accent1"/>
                    </a:solidFill>
                  </a:rPr>
                  <a:t>F</a:t>
                </a:r>
                <a14:m>
                  <m:oMath xmlns:m="http://schemas.openxmlformats.org/officeDocument/2006/math">
                    <m:r>
                      <a:rPr lang="sv-SE" sz="28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sv-SE" sz="28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≜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sv-SE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C4F41A-123A-66B7-E72E-BBA5BF07B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560" y="3222449"/>
                <a:ext cx="1953489" cy="1316001"/>
              </a:xfrm>
              <a:prstGeom prst="rect">
                <a:avLst/>
              </a:prstGeom>
              <a:blipFill>
                <a:blip r:embed="rId6"/>
                <a:stretch>
                  <a:fillRect l="-623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EF2671-36D8-913B-131B-709E9CEE5A20}"/>
                  </a:ext>
                </a:extLst>
              </p:cNvPr>
              <p:cNvSpPr txBox="1"/>
              <p:nvPr/>
            </p:nvSpPr>
            <p:spPr>
              <a:xfrm>
                <a:off x="9449365" y="3219435"/>
                <a:ext cx="1953489" cy="1319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800" dirty="0">
                    <a:solidFill>
                      <a:schemeClr val="accent1"/>
                    </a:solidFill>
                  </a:rPr>
                  <a:t>G</a:t>
                </a:r>
                <a14:m>
                  <m:oMath xmlns:m="http://schemas.openxmlformats.org/officeDocument/2006/math">
                    <m:r>
                      <a:rPr lang="sv-SE" sz="28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sv-SE" sz="28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≜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sv-SE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EF2671-36D8-913B-131B-709E9CEE5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9365" y="3219435"/>
                <a:ext cx="1953489" cy="1319015"/>
              </a:xfrm>
              <a:prstGeom prst="rect">
                <a:avLst/>
              </a:prstGeom>
              <a:blipFill>
                <a:blip r:embed="rId7"/>
                <a:stretch>
                  <a:fillRect l="-623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0B56BA-D7A0-2AA9-8E6B-1B3A9A1C21F3}"/>
                  </a:ext>
                </a:extLst>
              </p:cNvPr>
              <p:cNvSpPr txBox="1"/>
              <p:nvPr/>
            </p:nvSpPr>
            <p:spPr>
              <a:xfrm>
                <a:off x="1285010" y="5475177"/>
                <a:ext cx="4114802" cy="5367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acc>
                        <m:accPr>
                          <m:chr m:val="̈"/>
                          <m:ctrlPr>
                            <a:rPr lang="sv-SE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sv-SE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v-SE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acc>
                        <m:accPr>
                          <m:chr m:val="̇"/>
                          <m:ctrlPr>
                            <a:rPr lang="sv-SE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sv-SE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v-SE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𝐾𝑋</m:t>
                      </m:r>
                      <m:r>
                        <a:rPr lang="sv-SE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sv-SE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v-SE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sv-SE" sz="2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0B56BA-D7A0-2AA9-8E6B-1B3A9A1C2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010" y="5475177"/>
                <a:ext cx="4114802" cy="5367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7A2954-0F73-E6B4-64C2-77D0B113C7A3}"/>
                  </a:ext>
                </a:extLst>
              </p:cNvPr>
              <p:cNvSpPr txBox="1"/>
              <p:nvPr/>
            </p:nvSpPr>
            <p:spPr>
              <a:xfrm>
                <a:off x="2540011" y="3222449"/>
                <a:ext cx="2116279" cy="1316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sv-SE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sv-SE" sz="2800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28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≜</m:t>
                      </m:r>
                      <m:r>
                        <a:rPr lang="sv-SE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sv-SE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sv-SE" sz="28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sv-SE" sz="28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sv-SE" sz="28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sv-SE" sz="28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sv-SE" sz="28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97A2954-0F73-E6B4-64C2-77D0B113C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11" y="3222449"/>
                <a:ext cx="2116279" cy="131600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768E3A-25AE-27A9-FE10-BE0659348C60}"/>
                  </a:ext>
                </a:extLst>
              </p:cNvPr>
              <p:cNvSpPr txBox="1"/>
              <p:nvPr/>
            </p:nvSpPr>
            <p:spPr>
              <a:xfrm>
                <a:off x="141416" y="3222451"/>
                <a:ext cx="2116279" cy="1316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sv-SE" sz="2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sv-SE" sz="28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≜</m:t>
                      </m:r>
                      <m:r>
                        <a:rPr lang="sv-SE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sv-SE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sv-SE" sz="28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sv-SE" sz="28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sv-SE" sz="28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sv-SE" sz="28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sv-SE" sz="28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5768E3A-25AE-27A9-FE10-BE0659348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16" y="3222451"/>
                <a:ext cx="2116279" cy="131600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419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AA10-9E63-EDDD-3B6A-A02EBE69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Compatibility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E5F0CE-8835-19E1-25AE-0C967ED74D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32" y="799307"/>
                <a:ext cx="11946070" cy="52133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Now, we want two substructures to be rigidly coupled.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That requires compatibility. In the example,</a:t>
                </a:r>
              </a:p>
              <a:p>
                <a:pPr marL="0" indent="0">
                  <a:buNone/>
                </a:pPr>
                <a:r>
                  <a:rPr lang="en-US" dirty="0"/>
                  <a:t>it is required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sv-SE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r>
                      <a:rPr lang="sv-SE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dirty="0"/>
                  <a:t>That can be expressed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sv-SE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r>
                      <a:rPr lang="sv-S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sz="2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E5F0CE-8835-19E1-25AE-0C967ED74D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32" y="799307"/>
                <a:ext cx="11946070" cy="5213304"/>
              </a:xfrm>
              <a:blipFill>
                <a:blip r:embed="rId2"/>
                <a:stretch>
                  <a:fillRect l="-1020" t="-1988" b="-81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1C6DC07B-DBE3-9068-4C08-7C3A33D3A29B}"/>
              </a:ext>
            </a:extLst>
          </p:cNvPr>
          <p:cNvGrpSpPr/>
          <p:nvPr/>
        </p:nvGrpSpPr>
        <p:grpSpPr>
          <a:xfrm>
            <a:off x="1683921" y="1406748"/>
            <a:ext cx="8505107" cy="3258965"/>
            <a:chOff x="1683921" y="1406748"/>
            <a:chExt cx="8505107" cy="3258965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5BE43A7-1834-D35D-E19B-D2EEE0FA7FFA}"/>
                </a:ext>
              </a:extLst>
            </p:cNvPr>
            <p:cNvCxnSpPr/>
            <p:nvPr/>
          </p:nvCxnSpPr>
          <p:spPr>
            <a:xfrm>
              <a:off x="8477007" y="3020270"/>
              <a:ext cx="69245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69E4A0D-DFA7-483A-A229-A7EAD2B8506A}"/>
                </a:ext>
              </a:extLst>
            </p:cNvPr>
            <p:cNvCxnSpPr/>
            <p:nvPr/>
          </p:nvCxnSpPr>
          <p:spPr>
            <a:xfrm>
              <a:off x="6919674" y="3020270"/>
              <a:ext cx="69245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BCA0A2B-BFD2-9672-4983-C82BA1129AE5}"/>
                </a:ext>
              </a:extLst>
            </p:cNvPr>
            <p:cNvGrpSpPr/>
            <p:nvPr/>
          </p:nvGrpSpPr>
          <p:grpSpPr>
            <a:xfrm>
              <a:off x="1683921" y="1406748"/>
              <a:ext cx="8505107" cy="3258965"/>
              <a:chOff x="1683921" y="1255827"/>
              <a:chExt cx="8505107" cy="3258965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8F47D76-D871-52E1-CD80-23AC1C079D98}"/>
                  </a:ext>
                </a:extLst>
              </p:cNvPr>
              <p:cNvSpPr txBox="1"/>
              <p:nvPr/>
            </p:nvSpPr>
            <p:spPr>
              <a:xfrm>
                <a:off x="3113369" y="1255827"/>
                <a:ext cx="30327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1000"/>
                  </a:spcBef>
                  <a:spcAft>
                    <a:spcPts val="600"/>
                  </a:spcAft>
                </a:pPr>
                <a:r>
                  <a:rPr lang="en-US" sz="3200" b="1" dirty="0">
                    <a:solidFill>
                      <a:schemeClr val="accent1"/>
                    </a:solidFill>
                  </a:rPr>
                  <a:t>System </a:t>
                </a:r>
                <a:r>
                  <a:rPr lang="en-US" sz="3200" b="1" i="1" dirty="0">
                    <a:solidFill>
                      <a:schemeClr val="accent1"/>
                    </a:solidFill>
                  </a:rPr>
                  <a:t>A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0901F29-E98B-238D-18FF-4C56BBF49C7E}"/>
                  </a:ext>
                </a:extLst>
              </p:cNvPr>
              <p:cNvSpPr txBox="1"/>
              <p:nvPr/>
            </p:nvSpPr>
            <p:spPr>
              <a:xfrm>
                <a:off x="6436920" y="1255827"/>
                <a:ext cx="30327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1000"/>
                  </a:spcBef>
                  <a:spcAft>
                    <a:spcPts val="600"/>
                  </a:spcAft>
                </a:pPr>
                <a:r>
                  <a:rPr lang="en-US" sz="3200" b="1" dirty="0">
                    <a:solidFill>
                      <a:schemeClr val="accent1"/>
                    </a:solidFill>
                  </a:rPr>
                  <a:t>System </a:t>
                </a:r>
                <a:r>
                  <a:rPr lang="en-US" sz="3200" b="1" i="1" dirty="0">
                    <a:solidFill>
                      <a:schemeClr val="accent1"/>
                    </a:solidFill>
                  </a:rPr>
                  <a:t>B</a:t>
                </a:r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B1F4E7C-388C-7CAE-C14E-89F8DEA83D58}"/>
                  </a:ext>
                </a:extLst>
              </p:cNvPr>
              <p:cNvGrpSpPr/>
              <p:nvPr/>
            </p:nvGrpSpPr>
            <p:grpSpPr>
              <a:xfrm>
                <a:off x="1683921" y="1941790"/>
                <a:ext cx="8505107" cy="2573002"/>
                <a:chOff x="911564" y="1632348"/>
                <a:chExt cx="8505107" cy="2573002"/>
              </a:xfrm>
            </p:grpSpPr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5165DFFE-E0F5-5457-258E-1343AF547DB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911564" y="1632348"/>
                  <a:ext cx="5434084" cy="2573002"/>
                  <a:chOff x="7392311" y="2977475"/>
                  <a:chExt cx="4528404" cy="2144168"/>
                </a:xfrm>
              </p:grpSpPr>
              <p:grpSp>
                <p:nvGrpSpPr>
                  <p:cNvPr id="5" name="Group 4">
                    <a:extLst>
                      <a:ext uri="{FF2B5EF4-FFF2-40B4-BE49-F238E27FC236}">
                        <a16:creationId xmlns:a16="http://schemas.microsoft.com/office/drawing/2014/main" id="{DE79D4DA-6DB3-5AAE-256E-3B0EAD134454}"/>
                      </a:ext>
                    </a:extLst>
                  </p:cNvPr>
                  <p:cNvGrpSpPr/>
                  <p:nvPr/>
                </p:nvGrpSpPr>
                <p:grpSpPr>
                  <a:xfrm>
                    <a:off x="7392311" y="2977475"/>
                    <a:ext cx="4218259" cy="2144168"/>
                    <a:chOff x="4125328" y="4475685"/>
                    <a:chExt cx="4218259" cy="2144168"/>
                  </a:xfrm>
                </p:grpSpPr>
                <p:pic>
                  <p:nvPicPr>
                    <p:cNvPr id="8" name="Picture 7">
                      <a:extLst>
                        <a:ext uri="{FF2B5EF4-FFF2-40B4-BE49-F238E27FC236}">
                          <a16:creationId xmlns:a16="http://schemas.microsoft.com/office/drawing/2014/main" id="{3BDB1B42-93F4-DAB7-5449-49EC581D5E5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4125328" y="5293788"/>
                      <a:ext cx="4218259" cy="1326065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9" name="Group 8">
                      <a:extLst>
                        <a:ext uri="{FF2B5EF4-FFF2-40B4-BE49-F238E27FC236}">
                          <a16:creationId xmlns:a16="http://schemas.microsoft.com/office/drawing/2014/main" id="{D2ACC8E7-96C6-E7D0-5FBF-E9128388EA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1216" y="4475685"/>
                      <a:ext cx="1130383" cy="747856"/>
                      <a:chOff x="4871770" y="4623135"/>
                      <a:chExt cx="1130383" cy="747856"/>
                    </a:xfrm>
                  </p:grpSpPr>
                  <p:cxnSp>
                    <p:nvCxnSpPr>
                      <p:cNvPr id="12" name="Straight Arrow Connector 11">
                        <a:extLst>
                          <a:ext uri="{FF2B5EF4-FFF2-40B4-BE49-F238E27FC236}">
                            <a16:creationId xmlns:a16="http://schemas.microsoft.com/office/drawing/2014/main" id="{ACC5E93F-9FC9-A90B-B10E-18C7CCF00C43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4989250" y="5370991"/>
                        <a:ext cx="577049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13" name="TextBox 12">
                            <a:extLst>
                              <a:ext uri="{FF2B5EF4-FFF2-40B4-BE49-F238E27FC236}">
                                <a16:creationId xmlns:a16="http://schemas.microsoft.com/office/drawing/2014/main" id="{19CF03D2-6756-E64B-F022-6E9BBC1798D4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4871770" y="4623135"/>
                            <a:ext cx="1130383" cy="70307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14:m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sv-SE" sz="240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4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sv-SE" sz="24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sv-SE" sz="24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oMath>
                            </a14:m>
                            <a:r>
                              <a:rPr lang="sv-SE" sz="2400" dirty="0">
                                <a:solidFill>
                                  <a:schemeClr val="accent1"/>
                                </a:solidFill>
                              </a:rPr>
                              <a:t>,</a:t>
                            </a:r>
                            <a14:m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sv-SE" sz="2400" b="0" i="1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400" b="0" i="1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sv-SE" sz="2400" b="0" i="1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sv-SE" sz="2400" b="0" i="1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  <m:r>
                                  <a:rPr lang="sv-SE" sz="2400" b="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</a14:m>
                            <a:r>
                              <a:rPr lang="sv-SE" sz="2400" dirty="0">
                                <a:solidFill>
                                  <a:schemeClr val="accent1"/>
                                </a:solidFill>
                              </a:rPr>
                              <a:t> </a:t>
                            </a:r>
                            <a14:m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sv-SE" sz="2400" i="1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400" b="0" i="1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sv-SE" sz="2400" b="0" i="1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sv-SE" sz="2400" b="0" i="1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oMath>
                            </a14:m>
                            <a:endParaRPr lang="sv-SE" sz="2400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13" name="TextBox 12">
                            <a:extLst>
                              <a:ext uri="{FF2B5EF4-FFF2-40B4-BE49-F238E27FC236}">
                                <a16:creationId xmlns:a16="http://schemas.microsoft.com/office/drawing/2014/main" id="{19CF03D2-6756-E64B-F022-6E9BBC1798D4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871770" y="4623135"/>
                            <a:ext cx="1130383" cy="703077"/>
                          </a:xfrm>
                          <a:prstGeom prst="rect">
                            <a:avLst/>
                          </a:prstGeom>
                          <a:blipFill>
                            <a:blip r:embed="rId4"/>
                            <a:stretch>
                              <a:fillRect l="-3587" t="-4317" b="-8633"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sv-SE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cxnSp>
                  <p:nvCxnSpPr>
                    <p:cNvPr id="10" name="Straight Arrow Connector 9">
                      <a:extLst>
                        <a:ext uri="{FF2B5EF4-FFF2-40B4-BE49-F238E27FC236}">
                          <a16:creationId xmlns:a16="http://schemas.microsoft.com/office/drawing/2014/main" id="{6EB2DC62-9CDC-562F-D97F-BD211E8BC48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291309" y="5223541"/>
                      <a:ext cx="577049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" name="Straight Arrow Connector 10">
                      <a:extLst>
                        <a:ext uri="{FF2B5EF4-FFF2-40B4-BE49-F238E27FC236}">
                          <a16:creationId xmlns:a16="http://schemas.microsoft.com/office/drawing/2014/main" id="{9F828AA4-83CB-25D0-378D-3F19F415EFE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613922" y="5223541"/>
                      <a:ext cx="577049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TextBox 5">
                        <a:extLst>
                          <a:ext uri="{FF2B5EF4-FFF2-40B4-BE49-F238E27FC236}">
                            <a16:creationId xmlns:a16="http://schemas.microsoft.com/office/drawing/2014/main" id="{D31D0C76-471C-0993-505E-1A64B884D6F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501440" y="2979866"/>
                        <a:ext cx="989153" cy="70425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sv-SE" sz="240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p>
                            </m:sSubSup>
                          </m:oMath>
                        </a14:m>
                        <a:r>
                          <a:rPr lang="sv-SE" sz="2400" dirty="0">
                            <a:solidFill>
                              <a:schemeClr val="accent1"/>
                            </a:solidFill>
                          </a:rPr>
                          <a:t>,</a:t>
                        </a:r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sv-SE" sz="2400" b="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v-SE" sz="2400" b="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sv-SE" sz="2400" b="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sv-SE" sz="2400" b="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p>
                            </m:sSubSup>
                            <m:r>
                              <a:rPr lang="sv-SE" sz="2400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oMath>
                        </a14:m>
                        <a:r>
                          <a:rPr lang="sv-SE" sz="2400" dirty="0">
                            <a:solidFill>
                              <a:schemeClr val="accent1"/>
                            </a:solidFill>
                          </a:rPr>
                          <a:t> </a:t>
                        </a:r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sv-SE" sz="240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v-SE" sz="2400" b="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sv-SE" sz="2400" b="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sv-SE" sz="2400" b="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p>
                            </m:sSubSup>
                          </m:oMath>
                        </a14:m>
                        <a:endParaRPr lang="sv-SE" sz="2400" dirty="0"/>
                      </a:p>
                    </p:txBody>
                  </p:sp>
                </mc:Choice>
                <mc:Fallback xmlns="">
                  <p:sp>
                    <p:nvSpPr>
                      <p:cNvPr id="6" name="TextBox 5">
                        <a:extLst>
                          <a:ext uri="{FF2B5EF4-FFF2-40B4-BE49-F238E27FC236}">
                            <a16:creationId xmlns:a16="http://schemas.microsoft.com/office/drawing/2014/main" id="{D31D0C76-471C-0993-505E-1A64B884D6F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501440" y="2979866"/>
                        <a:ext cx="989153" cy="704252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l="-4103" t="-4348" b="-942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sv-SE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" name="TextBox 6">
                        <a:extLst>
                          <a:ext uri="{FF2B5EF4-FFF2-40B4-BE49-F238E27FC236}">
                            <a16:creationId xmlns:a16="http://schemas.microsoft.com/office/drawing/2014/main" id="{0D3E2358-CFE3-D6AD-C3E9-A6CFE7415D5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785573" y="2986535"/>
                        <a:ext cx="1135142" cy="70735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sv-SE" sz="240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sv-SE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p>
                            </m:sSubSup>
                          </m:oMath>
                        </a14:m>
                        <a:r>
                          <a:rPr lang="sv-SE" sz="2400" dirty="0">
                            <a:solidFill>
                              <a:schemeClr val="accent1"/>
                            </a:solidFill>
                          </a:rPr>
                          <a:t>,</a:t>
                        </a:r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sv-SE" sz="2400" b="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v-SE" sz="2400" b="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sv-SE" sz="2400" b="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sv-SE" sz="2400" b="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p>
                            </m:sSubSup>
                            <m:r>
                              <a:rPr lang="sv-SE" sz="2400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oMath>
                        </a14:m>
                        <a:r>
                          <a:rPr lang="sv-SE" sz="2400" dirty="0">
                            <a:solidFill>
                              <a:schemeClr val="accent1"/>
                            </a:solidFill>
                          </a:rPr>
                          <a:t> </a:t>
                        </a:r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sv-SE" sz="240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v-SE" sz="2400" b="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sv-SE" sz="2400" b="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sv-SE" sz="2400" b="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p>
                            </m:sSubSup>
                          </m:oMath>
                        </a14:m>
                        <a:endParaRPr lang="sv-SE" sz="2400" dirty="0"/>
                      </a:p>
                    </p:txBody>
                  </p:sp>
                </mc:Choice>
                <mc:Fallback xmlns="">
                  <p:sp>
                    <p:nvSpPr>
                      <p:cNvPr id="7" name="TextBox 6">
                        <a:extLst>
                          <a:ext uri="{FF2B5EF4-FFF2-40B4-BE49-F238E27FC236}">
                            <a16:creationId xmlns:a16="http://schemas.microsoft.com/office/drawing/2014/main" id="{0D3E2358-CFE3-D6AD-C3E9-A6CFE7415D5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785573" y="2986535"/>
                        <a:ext cx="1135142" cy="707352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l="-3571" t="-4317" b="-935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sv-SE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91DAB960-DDD8-0600-2AC2-1863E74C37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73475" y="2668942"/>
                  <a:ext cx="3443196" cy="1536407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A8E9061-3CF4-2C27-A497-1CF7B658205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73574" y="1686566"/>
                      <a:ext cx="1362170" cy="87171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sv-SE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</m:oMath>
                      </a14:m>
                      <a:r>
                        <a:rPr lang="sv-SE" sz="2400" dirty="0">
                          <a:solidFill>
                            <a:schemeClr val="accent1"/>
                          </a:solidFill>
                        </a:rPr>
                        <a:t>,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r>
                            <a:rPr lang="sv-SE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oMath>
                      </a14:m>
                      <a:r>
                        <a:rPr lang="sv-SE" sz="2400" dirty="0">
                          <a:solidFill>
                            <a:schemeClr val="accent1"/>
                          </a:solidFill>
                        </a:rPr>
                        <a:t> 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sv-SE" sz="240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</m:oMath>
                      </a14:m>
                      <a:endParaRPr lang="sv-SE" sz="2400" dirty="0"/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A8E9061-3CF4-2C27-A497-1CF7B658205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73574" y="1686566"/>
                      <a:ext cx="1362170" cy="871713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587" t="-4895" b="-489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sv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B79F8E24-A2DE-AA62-47E5-4C8E9FE48FC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13298" y="1660219"/>
                      <a:ext cx="1362170" cy="87966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sv-SE" sz="24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  <m:sup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</m:oMath>
                      </a14:m>
                      <a:r>
                        <a:rPr lang="sv-SE" sz="2400" dirty="0">
                          <a:solidFill>
                            <a:schemeClr val="accent1"/>
                          </a:solidFill>
                        </a:rPr>
                        <a:t>,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  <m:sup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  <m:r>
                            <a:rPr lang="sv-SE" sz="24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oMath>
                      </a14:m>
                      <a:r>
                        <a:rPr lang="sv-SE" sz="2400" dirty="0">
                          <a:solidFill>
                            <a:schemeClr val="accent1"/>
                          </a:solidFill>
                        </a:rPr>
                        <a:t> 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sv-SE" sz="240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  <m:sup>
                              <m:r>
                                <a:rPr lang="sv-SE" sz="24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bSup>
                        </m:oMath>
                      </a14:m>
                      <a:endParaRPr lang="sv-SE" sz="2400" dirty="0"/>
                    </a:p>
                  </p:txBody>
                </p:sp>
              </mc:Choice>
              <mc:Fallback xmlns="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B79F8E24-A2DE-AA62-47E5-4C8E9FE48FC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13298" y="1660219"/>
                      <a:ext cx="1362170" cy="87966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4036" t="-3472" b="-62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sv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</p:spTree>
    <p:extLst>
      <p:ext uri="{BB962C8B-B14F-4D97-AF65-F5344CB8AC3E}">
        <p14:creationId xmlns:p14="http://schemas.microsoft.com/office/powerpoint/2010/main" val="3306380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8108D-2426-0D97-C6C8-C7E05F066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B3423-DB79-5951-9657-AE86DC36F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Compatibility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4B6B4B-08A7-4EDA-ECE2-AAAEF17EB7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8373" y="799307"/>
                <a:ext cx="11372296" cy="52133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00" dirty="0"/>
              </a:p>
              <a:p>
                <a:pPr marL="0" indent="0">
                  <a:buNone/>
                </a:pPr>
                <a:r>
                  <a:rPr lang="en-US" dirty="0"/>
                  <a:t>Remember that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, in</a:t>
                </a:r>
                <a14:m>
                  <m:oMath xmlns:m="http://schemas.openxmlformats.org/officeDocument/2006/math">
                    <m:r>
                      <a:rPr lang="sv-SE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sv-SE" i="1">
                        <a:latin typeface="Cambria Math" panose="02040503050406030204" pitchFamily="18" charset="0"/>
                      </a:rPr>
                      <m:t>𝑀</m:t>
                    </m:r>
                    <m:acc>
                      <m:accPr>
                        <m:chr m:val="̈"/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sv-S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sv-SE" i="1">
                        <a:latin typeface="Cambria Math" panose="02040503050406030204" pitchFamily="18" charset="0"/>
                      </a:rPr>
                      <m:t>𝐶</m:t>
                    </m:r>
                    <m:acc>
                      <m:accPr>
                        <m:chr m:val="̇"/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sv-S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sv-SE" i="1">
                        <a:latin typeface="Cambria Math" panose="02040503050406030204" pitchFamily="18" charset="0"/>
                      </a:rPr>
                      <m:t>𝐾𝑋</m:t>
                    </m:r>
                    <m:r>
                      <a:rPr lang="sv-S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sv-S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sv-SE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sv-SE" dirty="0"/>
              </a:p>
              <a:p>
                <a:pPr marL="0" indent="0">
                  <a:buNone/>
                </a:pPr>
                <a:r>
                  <a:rPr lang="en-US" dirty="0"/>
                  <a:t>contains the displacements for all </a:t>
                </a:r>
                <a:r>
                  <a:rPr lang="en-US" dirty="0" err="1"/>
                  <a:t>dofs</a:t>
                </a:r>
                <a:r>
                  <a:rPr lang="en-US" dirty="0"/>
                  <a:t> in all substructures, that is: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Let us now define the compatibility matrix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as: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sz="2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Then: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𝐵𝑋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sv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sv-S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sv-S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p>
                            </m:sSubSup>
                            <m:r>
                              <a:rPr lang="sv-SE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p>
                            </m:sSubSup>
                            <m:r>
                              <a:rPr lang="sv-SE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Sup>
                              <m:sSubSupPr>
                                <m:ctrlPr>
                                  <a:rPr lang="sv-SE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p>
                            </m:sSubSup>
                            <m:r>
                              <a:rPr lang="sv-SE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  <m:sup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p>
                            </m:sSubSup>
                            <m:r>
                              <a:rPr lang="sv-SE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  <m:sup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sv-S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sv-S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sv-SE" b="0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expresses the compatibility requirement in a compact form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4B6B4B-08A7-4EDA-ECE2-AAAEF17EB7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8373" y="799307"/>
                <a:ext cx="11372296" cy="5213304"/>
              </a:xfrm>
              <a:blipFill>
                <a:blip r:embed="rId2"/>
                <a:stretch>
                  <a:fillRect l="-1125" b="-315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23977C8-5C7D-94CF-226A-C8341124DC1E}"/>
                  </a:ext>
                </a:extLst>
              </p:cNvPr>
              <p:cNvSpPr txBox="1"/>
              <p:nvPr/>
            </p:nvSpPr>
            <p:spPr>
              <a:xfrm>
                <a:off x="408373" y="2225426"/>
                <a:ext cx="5281418" cy="664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sv-SE" sz="28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sv-SE" sz="28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bSup>
                              <m:r>
                                <a:rPr lang="sv-SE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bSup>
                              <m:r>
                                <a:rPr lang="sv-SE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bSup>
                              <m:r>
                                <a:rPr lang="sv-SE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  <m:sup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p>
                              </m:sSubSup>
                              <m:r>
                                <a:rPr lang="sv-SE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  <m:sup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sv-SE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23977C8-5C7D-94CF-226A-C8341124D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73" y="2225426"/>
                <a:ext cx="5281418" cy="6640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148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441C4-24F5-0B48-D942-8498B23EB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F272-6513-92A6-8542-C2E966EC9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localization matrix, 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4D0D4F-0C4A-8678-6E12-457CD7D431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31" y="939585"/>
                <a:ext cx="11901532" cy="55302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sv-SE" b="0" dirty="0"/>
                  <a:t>Again;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sv-SE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sv-S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p>
                            </m:sSubSup>
                            <m:r>
                              <a:rPr lang="sv-SE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Sup>
                              <m:sSubSupPr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p>
                            </m:sSubSup>
                            <m:r>
                              <a:rPr lang="sv-SE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Sup>
                              <m:sSubSupPr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p>
                            </m:sSubSup>
                            <m:r>
                              <a:rPr lang="sv-SE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Sup>
                              <m:sSubSupPr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  <m:sup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p>
                            </m:sSubSup>
                            <m:r>
                              <a:rPr lang="sv-SE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Sup>
                              <m:sSubSupPr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  <m:sup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sv-S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sv-S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contains all the degrees-of-freedom (</a:t>
                </a:r>
                <a:r>
                  <a:rPr lang="en-US" dirty="0" err="1"/>
                  <a:t>dofs</a:t>
                </a:r>
                <a:r>
                  <a:rPr lang="en-US" dirty="0"/>
                  <a:t>).</a:t>
                </a:r>
              </a:p>
              <a:p>
                <a:pPr marL="0" indent="0">
                  <a:buNone/>
                </a:pPr>
                <a:endParaRPr lang="en-US" sz="200" dirty="0"/>
              </a:p>
              <a:p>
                <a:pPr marL="0" indent="0">
                  <a:buNone/>
                </a:pPr>
                <a:r>
                  <a:rPr lang="en-US" dirty="0"/>
                  <a:t>We know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sv-SE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US" dirty="0"/>
                  <a:t> so, there are actually only four unique displacements.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Let us define: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𝑔𝑙𝑜𝑏𝑎𝑙</m:t>
                        </m:r>
                      </m:sub>
                    </m:sSub>
                    <m:r>
                      <a:rPr lang="sv-S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sv-S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sv-S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sv-S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sv-SE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sv-SE" b="0" i="1" smtClean="0">
                                          <a:latin typeface="Cambria Math" panose="02040503050406030204" pitchFamily="18" charset="0"/>
                                        </a:rPr>
                                        <m:t>𝐼𝐼</m:t>
                                      </m:r>
                                    </m:sub>
                                  </m:sSub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sv-S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sv-SE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sv-SE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sv-SE" b="0" i="1" smtClean="0">
                                                <a:latin typeface="Cambria Math" panose="02040503050406030204" pitchFamily="18" charset="0"/>
                                              </a:rPr>
                                              <m:t>𝐼𝐼𝐼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sv-SE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sv-SE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sv-SE" b="0" i="1" smtClean="0">
                                                <a:latin typeface="Cambria Math" panose="02040503050406030204" pitchFamily="18" charset="0"/>
                                              </a:rPr>
                                              <m:t>𝐼𝑉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By inspection:						   or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sv-S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𝑔𝑙𝑜𝑏𝑎𝑙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in which 								  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is the localization matrix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4D0D4F-0C4A-8678-6E12-457CD7D431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31" y="939585"/>
                <a:ext cx="11901532" cy="5530226"/>
              </a:xfrm>
              <a:blipFill>
                <a:blip r:embed="rId2"/>
                <a:stretch>
                  <a:fillRect l="-1024" r="-15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CEBC04-7222-ED71-885E-00A1883C29FC}"/>
                  </a:ext>
                </a:extLst>
              </p:cNvPr>
              <p:cNvSpPr txBox="1"/>
              <p:nvPr/>
            </p:nvSpPr>
            <p:spPr>
              <a:xfrm>
                <a:off x="969439" y="3815155"/>
                <a:ext cx="7641566" cy="2539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  <m:sup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sv-SE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sv-SE" sz="28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a:rPr lang="sv-SE" sz="28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sv-SE" sz="28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a:rPr lang="sv-SE" sz="28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sv-SE" sz="28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  <m:e>
                                            <m:r>
                                              <a:rPr lang="sv-SE" sz="28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sv-SE" sz="2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8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sv-SE" sz="280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sv-SE" sz="280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sv-SE" sz="2800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sv-SE" sz="2800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sv-SE" sz="280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sv-SE" sz="2800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sv-SE" sz="2800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𝐼𝐼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sv-SE" sz="280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𝐼𝐼𝐼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sv-SE" sz="280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𝐼𝑉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CEBC04-7222-ED71-885E-00A1883C2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439" y="3815155"/>
                <a:ext cx="7641566" cy="25392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4707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AA10-9E63-EDDD-3B6A-A02EBE69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E5F0CE-8835-19E1-25AE-0C967ED74D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32" y="799307"/>
                <a:ext cx="10515600" cy="53340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So, we want the two substructures to be rigidly coupled.</a:t>
                </a:r>
              </a:p>
              <a:p>
                <a:pPr marL="0" indent="0">
                  <a:buNone/>
                </a:pPr>
                <a:r>
                  <a:rPr lang="en-US" dirty="0"/>
                  <a:t>That also requires that equilibrium requirements are fulfilled.</a:t>
                </a:r>
              </a:p>
              <a:p>
                <a:pPr marL="0" indent="0">
                  <a:buNone/>
                </a:pPr>
                <a:r>
                  <a:rPr lang="en-US" dirty="0"/>
                  <a:t>In the example, it is thus required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sv-SE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</m:oMath>
                </a14:m>
                <a:r>
                  <a:rPr lang="en-US" dirty="0"/>
                  <a:t> which can be</a:t>
                </a:r>
              </a:p>
              <a:p>
                <a:pPr marL="0" indent="0">
                  <a:buNone/>
                </a:pPr>
                <a:r>
                  <a:rPr lang="en-US" dirty="0"/>
                  <a:t>expressed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sv-SE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r>
                      <a:rPr lang="sv-S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sz="200" dirty="0"/>
              </a:p>
              <a:p>
                <a:pPr marL="0" indent="0">
                  <a:buNone/>
                </a:pPr>
                <a:r>
                  <a:rPr lang="en-US" dirty="0"/>
                  <a:t>Remember that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in</a:t>
                </a:r>
                <a14:m>
                  <m:oMath xmlns:m="http://schemas.openxmlformats.org/officeDocument/2006/math">
                    <m:r>
                      <a:rPr lang="sv-SE">
                        <a:latin typeface="Cambria Math" panose="02040503050406030204" pitchFamily="18" charset="0"/>
                      </a:rPr>
                      <m:t> </m:t>
                    </m:r>
                    <m:r>
                      <a:rPr lang="sv-SE" i="1">
                        <a:latin typeface="Cambria Math" panose="02040503050406030204" pitchFamily="18" charset="0"/>
                      </a:rPr>
                      <m:t>𝑀</m:t>
                    </m:r>
                    <m:acc>
                      <m:accPr>
                        <m:chr m:val="̈"/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sv-S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sv-SE" i="1">
                        <a:latin typeface="Cambria Math" panose="02040503050406030204" pitchFamily="18" charset="0"/>
                      </a:rPr>
                      <m:t>𝐶</m:t>
                    </m:r>
                    <m:acc>
                      <m:accPr>
                        <m:chr m:val="̇"/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sv-S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sv-SE" i="1">
                        <a:latin typeface="Cambria Math" panose="02040503050406030204" pitchFamily="18" charset="0"/>
                      </a:rPr>
                      <m:t>𝐾𝑋</m:t>
                    </m:r>
                    <m:r>
                      <a:rPr lang="sv-S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sv-S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sv-SE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sv-SE" dirty="0"/>
              </a:p>
              <a:p>
                <a:pPr marL="0" indent="0">
                  <a:buNone/>
                </a:pPr>
                <a:r>
                  <a:rPr lang="en-US" dirty="0"/>
                  <a:t>contains the coupling forces for all </a:t>
                </a:r>
                <a:r>
                  <a:rPr lang="en-US" dirty="0" err="1"/>
                  <a:t>dofs</a:t>
                </a:r>
                <a:r>
                  <a:rPr lang="en-US" dirty="0"/>
                  <a:t> in all substructures, that is: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00" dirty="0"/>
              </a:p>
              <a:p>
                <a:pPr marL="0" indent="0">
                  <a:buNone/>
                </a:pPr>
                <a:endParaRPr lang="en-US" sz="500" dirty="0"/>
              </a:p>
              <a:p>
                <a:pPr marL="0" indent="0">
                  <a:buNone/>
                </a:pPr>
                <a:r>
                  <a:rPr lang="en-US" dirty="0"/>
                  <a:t>Thus, the equilibrium can be expressed as: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E5F0CE-8835-19E1-25AE-0C967ED74D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32" y="799307"/>
                <a:ext cx="10515600" cy="5334074"/>
              </a:xfrm>
              <a:blipFill>
                <a:blip r:embed="rId2"/>
                <a:stretch>
                  <a:fillRect l="-1159" t="-194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EE914D-07FB-1324-C6C5-A8F8CF755C6F}"/>
                  </a:ext>
                </a:extLst>
              </p:cNvPr>
              <p:cNvSpPr txBox="1"/>
              <p:nvPr/>
            </p:nvSpPr>
            <p:spPr>
              <a:xfrm>
                <a:off x="1889950" y="4190080"/>
                <a:ext cx="5910563" cy="538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8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sv-SE" sz="28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sv-SE" sz="280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sv-SE" sz="2800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sv-SE" sz="2800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sv-SE" sz="2800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r>
                                                <a:rPr lang="sv-SE" sz="2800" b="0" i="1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sv-SE" sz="2800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sv-SE" sz="2800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sv-SE" sz="2800" b="0" i="1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r>
                                                <a:rPr lang="sv-SE" sz="2800" b="0" i="1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sv-SE" sz="2800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sv-SE" sz="2800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sv-SE" sz="2800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  <m:sup>
                                              <m:r>
                                                <a:rPr lang="sv-SE" sz="2800" b="0" i="1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sv-SE" sz="280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sv-SE" sz="2800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sv-SE" sz="2800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sv-SE" sz="2800" b="0" i="1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</m:sub>
                                            <m:sup>
                                              <m:r>
                                                <a:rPr lang="sv-SE" sz="2800" b="0" i="1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sv-SE" sz="2800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sv-SE" sz="2800" i="1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𝑔</m:t>
                                              </m:r>
                                            </m:e>
                                            <m:sub>
                                              <m:r>
                                                <a:rPr lang="sv-SE" sz="2800" b="0" i="1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5</m:t>
                                              </m:r>
                                            </m:sub>
                                            <m:sup>
                                              <m:r>
                                                <a:rPr lang="sv-SE" sz="2800" b="0" i="1" smtClean="0">
                                                  <a:solidFill>
                                                    <a:schemeClr val="accent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EE914D-07FB-1324-C6C5-A8F8CF755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950" y="4190080"/>
                <a:ext cx="5910563" cy="5380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BC6AC1-D8AE-DAFC-F6C4-7360936B32C6}"/>
                  </a:ext>
                </a:extLst>
              </p:cNvPr>
              <p:cNvSpPr txBox="1"/>
              <p:nvPr/>
            </p:nvSpPr>
            <p:spPr>
              <a:xfrm>
                <a:off x="2672388" y="5535473"/>
                <a:ext cx="492568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sv-SE" sz="280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sv-SE" sz="28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sv-SE" sz="28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sv-SE" sz="28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sv-SE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sv-SE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BC6AC1-D8AE-DAFC-F6C4-7360936B3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388" y="5535473"/>
                <a:ext cx="492568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7526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AA10-9E63-EDDD-3B6A-A02EBE69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 </a:t>
            </a:r>
            <a:r>
              <a:rPr lang="en-US" dirty="0" err="1"/>
              <a:t>transponate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E5F0CE-8835-19E1-25AE-0C967ED74D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32" y="799306"/>
                <a:ext cx="12086967" cy="560149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All </a:t>
                </a:r>
                <a:r>
                  <a:rPr lang="en-US" dirty="0" err="1"/>
                  <a:t>dofs</a:t>
                </a:r>
                <a:r>
                  <a:rPr lang="en-US" dirty="0"/>
                  <a:t> are assigned a coupling force. The coupling forces for the </a:t>
                </a:r>
                <a:r>
                  <a:rPr lang="en-US" dirty="0" err="1"/>
                  <a:t>dofs</a:t>
                </a:r>
                <a:r>
                  <a:rPr lang="en-US" dirty="0"/>
                  <a:t> not involved in any coupling, are equal to zero. That information must be included. For instance,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sv-SE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r>
                  <a:rPr lang="en-US" dirty="0"/>
                  <a:t>  This can be expressed as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We also have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sv-S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r>
                      <a:rPr lang="sv-SE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dirty="0"/>
                  <a:t>which can be expressed as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sv-S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sv-SE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sv-SE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sv-SE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sv-SE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Let us now collect all the information we have about the coupling forces: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					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E5F0CE-8835-19E1-25AE-0C967ED74D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32" y="799306"/>
                <a:ext cx="12086967" cy="5601494"/>
              </a:xfrm>
              <a:blipFill>
                <a:blip r:embed="rId2"/>
                <a:stretch>
                  <a:fillRect l="-1009" t="-185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922EAE-1D4F-8F1A-C559-0AA9235EDD18}"/>
                  </a:ext>
                </a:extLst>
              </p:cNvPr>
              <p:cNvSpPr txBox="1"/>
              <p:nvPr/>
            </p:nvSpPr>
            <p:spPr>
              <a:xfrm>
                <a:off x="896470" y="3687630"/>
                <a:ext cx="6614945" cy="2568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sv-SE" sz="28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sv-SE" sz="28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sv-SE" sz="28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sv-SE" sz="28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sv-SE" sz="28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sv-SE" sz="28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sv-SE" sz="28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sv-SE" sz="28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b>
                                          <m: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  <m:sup>
                                          <m:r>
                                            <a:rPr lang="sv-SE" sz="2800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b>
                                          <m:r>
                                            <a:rPr lang="sv-SE" sz="2800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sv-SE" sz="2800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b>
                                          <m:r>
                                            <a:rPr lang="sv-SE" sz="2800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sub>
                                        <m:sup>
                                          <m:r>
                                            <a:rPr lang="sv-SE" sz="2800" b="0" i="1" smtClean="0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sv-SE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≜</m:t>
                      </m:r>
                      <m:sSup>
                        <m:sSupPr>
                          <m:ctrlP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sv-SE" sz="28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sv-SE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sv-SE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922EAE-1D4F-8F1A-C559-0AA9235ED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470" y="3687630"/>
                <a:ext cx="6614945" cy="2568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D831D0-D288-F629-CEB5-6B91C8F8137B}"/>
                  </a:ext>
                </a:extLst>
              </p:cNvPr>
              <p:cNvSpPr txBox="1"/>
              <p:nvPr/>
            </p:nvSpPr>
            <p:spPr>
              <a:xfrm>
                <a:off x="7440966" y="4656920"/>
                <a:ext cx="475103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800" dirty="0" err="1">
                    <a:solidFill>
                      <a:schemeClr val="accent1"/>
                    </a:solidFill>
                  </a:rPr>
                  <a:t>w</a:t>
                </a:r>
                <a:r>
                  <a:rPr lang="sv-SE" sz="2800" b="0" dirty="0" err="1">
                    <a:solidFill>
                      <a:schemeClr val="accent1"/>
                    </a:solidFill>
                  </a:rPr>
                  <a:t>here</a:t>
                </a:r>
                <a:r>
                  <a:rPr lang="sv-SE" sz="2800" b="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sv-SE" sz="28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turns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out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to be the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localization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matrix.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D831D0-D288-F629-CEB5-6B91C8F81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966" y="4656920"/>
                <a:ext cx="4751033" cy="954107"/>
              </a:xfrm>
              <a:prstGeom prst="rect">
                <a:avLst/>
              </a:prstGeom>
              <a:blipFill>
                <a:blip r:embed="rId4"/>
                <a:stretch>
                  <a:fillRect l="-2696" t="-7051" b="-1730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3543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AA10-9E63-EDDD-3B6A-A02EBE69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characteristics of B and 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5F0CE-8835-19E1-25AE-0C967ED74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1" y="850107"/>
            <a:ext cx="11689299" cy="506830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95A531-54CA-2461-3B87-E0BF25247260}"/>
                  </a:ext>
                </a:extLst>
              </p:cNvPr>
              <p:cNvSpPr txBox="1"/>
              <p:nvPr/>
            </p:nvSpPr>
            <p:spPr>
              <a:xfrm>
                <a:off x="185437" y="735566"/>
                <a:ext cx="11901531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/>
                    </a:solidFill>
                  </a:rPr>
                  <a:t>The compatibility matrix </a:t>
                </a:r>
                <a14:m>
                  <m:oMath xmlns:m="http://schemas.openxmlformats.org/officeDocument/2006/math">
                    <m:r>
                      <a:rPr lang="sv-SE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solidFill>
                      <a:schemeClr val="accent1"/>
                    </a:solidFill>
                  </a:rPr>
                  <a:t> is used in </a:t>
                </a:r>
                <a14:m>
                  <m:oMath xmlns:m="http://schemas.openxmlformats.org/officeDocument/2006/math">
                    <m:r>
                      <a:rPr lang="sv-SE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sv-SE" sz="28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sv-SE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sv-SE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>
                    <a:solidFill>
                      <a:schemeClr val="accent1"/>
                    </a:solidFill>
                  </a:rPr>
                  <a:t>.</a:t>
                </a:r>
                <a:endParaRPr lang="sv-SE" sz="2800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sv-SE" sz="2800" dirty="0">
                    <a:solidFill>
                      <a:schemeClr val="accent1"/>
                    </a:solidFill>
                  </a:rPr>
                  <a:t> has as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many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columns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as the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number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of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unassembled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dofs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in all the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substructures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together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. </a:t>
                </a:r>
                <a14:m>
                  <m:oMath xmlns:m="http://schemas.openxmlformats.org/officeDocument/2006/math"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sv-SE" sz="2800" dirty="0">
                    <a:solidFill>
                      <a:schemeClr val="accent1"/>
                    </a:solidFill>
                  </a:rPr>
                  <a:t> has as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many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rows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as the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number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of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couplings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.</a:t>
                </a:r>
              </a:p>
              <a:p>
                <a:r>
                  <a:rPr lang="sv-SE" sz="2800" dirty="0">
                    <a:solidFill>
                      <a:schemeClr val="accent1"/>
                    </a:solidFill>
                  </a:rPr>
                  <a:t>In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our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previous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example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, we had five dofs and one coupling:                             </a:t>
                </a:r>
                <a14:m>
                  <m:oMath xmlns:m="http://schemas.openxmlformats.org/officeDocument/2006/math">
                    <m:r>
                      <a:rPr lang="sv-SE" sz="28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sv-SE" sz="28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sv-SE" sz="2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sv-SE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28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.       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sv-SE" sz="2800" dirty="0">
                    <a:solidFill>
                      <a:schemeClr val="accent1"/>
                    </a:solidFill>
                  </a:rPr>
                  <a:t> is a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signed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Boolean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matrix; (0,-1,1)</a:t>
                </a:r>
              </a:p>
              <a:p>
                <a:endParaRPr lang="sv-SE" sz="200" dirty="0">
                  <a:solidFill>
                    <a:schemeClr val="accent1"/>
                  </a:solidFill>
                </a:endParaRPr>
              </a:p>
              <a:p>
                <a:endParaRPr lang="sv-SE" sz="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95A531-54CA-2461-3B87-E0BF25247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37" y="735566"/>
                <a:ext cx="11901531" cy="2308324"/>
              </a:xfrm>
              <a:prstGeom prst="rect">
                <a:avLst/>
              </a:prstGeom>
              <a:blipFill>
                <a:blip r:embed="rId2"/>
                <a:stretch>
                  <a:fillRect l="-1024" t="-2910" b="-396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1FFED7-491F-12D4-F864-07F2BCD43B63}"/>
                  </a:ext>
                </a:extLst>
              </p:cNvPr>
              <p:cNvSpPr txBox="1"/>
              <p:nvPr/>
            </p:nvSpPr>
            <p:spPr>
              <a:xfrm>
                <a:off x="182154" y="3043890"/>
                <a:ext cx="11827691" cy="4695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800" dirty="0">
                    <a:solidFill>
                      <a:schemeClr val="accent1"/>
                    </a:solidFill>
                  </a:rPr>
                  <a:t>The transpose of the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localization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sv-SE" sz="2800" dirty="0">
                    <a:solidFill>
                      <a:schemeClr val="accent1"/>
                    </a:solidFill>
                  </a:rPr>
                  <a:t> is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used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endParaRPr lang="sv-SE" sz="2800" dirty="0">
                  <a:solidFill>
                    <a:schemeClr val="accent1"/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sv-SE" sz="2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sv-SE" sz="2800" dirty="0">
                    <a:solidFill>
                      <a:schemeClr val="accent1"/>
                    </a:solidFill>
                  </a:rPr>
                  <a:t> has as many columns as the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the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number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of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unassembled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dofs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in all the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substructures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sv-SE" sz="2800" dirty="0">
                    <a:solidFill>
                      <a:schemeClr val="accent1"/>
                    </a:solidFill>
                  </a:rPr>
                  <a:t> has as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many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rows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as; (the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number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of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unassembled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dofs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in all the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substructures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)-(the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number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of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couplings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).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We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had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five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dofs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and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one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coupling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:</a:t>
                </a:r>
                <a:endParaRPr lang="sv-SE" sz="200" dirty="0">
                  <a:solidFill>
                    <a:schemeClr val="accent1"/>
                  </a:solidFill>
                </a:endParaRPr>
              </a:p>
              <a:p>
                <a:r>
                  <a:rPr lang="sv-SE" sz="2800" dirty="0">
                    <a:solidFill>
                      <a:schemeClr val="accent1"/>
                    </a:solidFill>
                  </a:rPr>
                  <a:t>	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sv-SE" sz="28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sv-SE" sz="2800" dirty="0">
                    <a:solidFill>
                      <a:schemeClr val="accent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sv-SE" sz="2800" dirty="0">
                    <a:solidFill>
                      <a:schemeClr val="accent1"/>
                    </a:solidFill>
                  </a:rPr>
                  <a:t> is a 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Boolean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matrix; (0,1)</a:t>
                </a:r>
              </a:p>
              <a:p>
                <a:endParaRPr lang="sv-SE" sz="2800" dirty="0">
                  <a:solidFill>
                    <a:schemeClr val="accent1"/>
                  </a:solidFill>
                </a:endParaRPr>
              </a:p>
              <a:p>
                <a:endParaRPr lang="sv-SE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1FFED7-491F-12D4-F864-07F2BCD43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54" y="3043890"/>
                <a:ext cx="11827691" cy="4695966"/>
              </a:xfrm>
              <a:prstGeom prst="rect">
                <a:avLst/>
              </a:prstGeom>
              <a:blipFill>
                <a:blip r:embed="rId3"/>
                <a:stretch>
                  <a:fillRect l="-1082" t="-1167" r="-118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4452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0A1B9-2210-9BBF-ED02-9198CB55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E973-35B3-5EE1-722E-1A9FEF925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Some characteristics of </a:t>
            </a:r>
            <a:r>
              <a:rPr lang="en-US" i="1" dirty="0"/>
              <a:t>B</a:t>
            </a:r>
            <a:r>
              <a:rPr lang="en-US" dirty="0"/>
              <a:t> and </a:t>
            </a:r>
            <a:r>
              <a:rPr lang="en-US" i="1" dirty="0"/>
              <a:t>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D57A4-EAEB-2D5E-8842-73DBFDB39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1" y="850107"/>
            <a:ext cx="11689299" cy="506830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03854E-262A-F2E7-6D9A-8BDEB858B066}"/>
                  </a:ext>
                </a:extLst>
              </p:cNvPr>
              <p:cNvSpPr txBox="1"/>
              <p:nvPr/>
            </p:nvSpPr>
            <p:spPr>
              <a:xfrm>
                <a:off x="290469" y="850107"/>
                <a:ext cx="11901531" cy="3827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sv-SE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sv-SE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sv-SE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sv-SE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sv-SE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sv-SE" sz="2000" i="1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 , </a:t>
                </a:r>
                <a:r>
                  <a:rPr lang="sv-SE" sz="2000" dirty="0" err="1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here</a:t>
                </a:r>
                <a:r>
                  <a:rPr lang="sv-SE" sz="2000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: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sv-SE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sv-SE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sv-SE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sv-SE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sv-SE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sv-SE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0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sv-SE" sz="20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sv-SE" sz="20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0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sv-SE" sz="20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sv-SE" sz="20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0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sv-SE" sz="20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sv-SE" sz="20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sv-SE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sv-SE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sv-SE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sv-SE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sv-SE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sv-SE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0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0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sv-SE" sz="20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sv-SE" sz="20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0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0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sv-SE" sz="20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  <m:sup>
                                        <m:r>
                                          <a:rPr lang="sv-SE" sz="20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0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0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sv-SE" sz="20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b>
                                      <m:sup>
                                        <m:r>
                                          <a:rPr lang="sv-SE" sz="20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sv-SE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sv-SE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0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sz="20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sv-SE" sz="20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sv-SE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sv-SE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sv-SE" sz="2000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sv-SE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sv-SE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sv-SE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sv-SE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sv-SE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𝑔𝑙𝑜𝑏𝑎𝑙</m:t>
                        </m:r>
                      </m:sub>
                    </m:sSub>
                  </m:oMath>
                </a14:m>
                <a:r>
                  <a:rPr lang="sv-SE" sz="2000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 , </a:t>
                </a:r>
                <a:r>
                  <a:rPr lang="sv-SE" sz="2000" dirty="0" err="1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here</a:t>
                </a:r>
                <a:r>
                  <a:rPr lang="sv-SE" sz="2000" dirty="0">
                    <a:solidFill>
                      <a:schemeClr val="accent1"/>
                    </a:solidFill>
                    <a:latin typeface="Cambria Math" panose="02040503050406030204" pitchFamily="18" charset="0"/>
                  </a:rPr>
                  <a:t>: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sv-SE" sz="2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sv-SE" sz="20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p>
                                  </m:sSubSup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20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sv-SE" sz="20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sv-SE" sz="20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sv-SE" sz="2000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sup>
                                        </m:sSubSup>
                                      </m:e>
                                    </m:mr>
                                    <m:m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20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sv-SE" sz="20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sv-SE" sz="20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  <m:sup>
                                            <m:r>
                                              <a:rPr lang="sv-SE" sz="2000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sup>
                                        </m:sSubSup>
                                      </m:e>
                                    </m:mr>
                                    <m:m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20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sv-SE" sz="2000" i="1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sv-SE" sz="2000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sub>
                                          <m:sup>
                                            <m:r>
                                              <a:rPr lang="sv-SE" sz="2000" b="0" i="1" smtClean="0">
                                                <a:solidFill>
                                                  <a:schemeClr val="accent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sup>
                                        </m:sSubSup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sSubSup>
                                    <m:sSubSupPr>
                                      <m:ctrlPr>
                                        <a:rPr lang="en-US" sz="2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sv-SE" sz="2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sv-SE" sz="20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  <m:sup>
                                      <m:r>
                                        <a:rPr lang="sv-SE" sz="20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p>
                                  </m:sSubSup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sv-SE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sv-SE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sv-SE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sv-SE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sv-SE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sv-SE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sv-SE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sv-SE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sv-SE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sv-SE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sv-SE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sv-SE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sv-SE" sz="20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sv-SE" sz="20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sv-SE" sz="20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sv-SE" sz="20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sv-SE" sz="20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sv-SE" sz="20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sv-SE" sz="20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sv-SE" sz="20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sv-SE" sz="20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sv-SE" sz="20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sv-SE" sz="2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sv-SE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v-SE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sv-SE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v-SE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𝐼𝐼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sv-SE" sz="200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sv-SE" sz="20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sv-SE" sz="20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𝐼𝐼𝐼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sv-SE" sz="200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sv-SE" sz="20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sv-SE" sz="20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𝐼𝑉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sv-SE" sz="280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endParaRPr lang="sv-SE" sz="1000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endParaRPr lang="sv-SE" sz="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03854E-262A-F2E7-6D9A-8BDEB858B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69" y="850107"/>
                <a:ext cx="11901531" cy="38277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9A5A0A-E745-79F4-56F6-93706B3AB8A7}"/>
                  </a:ext>
                </a:extLst>
              </p:cNvPr>
              <p:cNvSpPr txBox="1"/>
              <p:nvPr/>
            </p:nvSpPr>
            <p:spPr>
              <a:xfrm>
                <a:off x="105031" y="5361777"/>
                <a:ext cx="3235067" cy="425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sv-SE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sv-SE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sv-SE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sv-SE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sv-SE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sSub>
                        <m:sSubPr>
                          <m:ctrlPr>
                            <a:rPr lang="sv-SE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sv-SE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sv-SE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𝑔𝑙𝑜𝑏𝑎𝑙</m:t>
                          </m:r>
                        </m:sub>
                      </m:sSub>
                      <m:r>
                        <a:rPr lang="sv-SE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≜0 </m:t>
                      </m:r>
                    </m:oMath>
                  </m:oMathPara>
                </a14:m>
                <a:endParaRPr lang="sv-SE" sz="2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9A5A0A-E745-79F4-56F6-93706B3AB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31" y="5361777"/>
                <a:ext cx="3235067" cy="425053"/>
              </a:xfrm>
              <a:prstGeom prst="rect">
                <a:avLst/>
              </a:prstGeom>
              <a:blipFill>
                <a:blip r:embed="rId3"/>
                <a:stretch>
                  <a:fillRect b="-1014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572F06-4D14-A44B-0B9A-C4658CEA2491}"/>
                  </a:ext>
                </a:extLst>
              </p:cNvPr>
              <p:cNvSpPr txBox="1"/>
              <p:nvPr/>
            </p:nvSpPr>
            <p:spPr>
              <a:xfrm>
                <a:off x="3340098" y="5361777"/>
                <a:ext cx="6943725" cy="425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000" dirty="0">
                    <a:solidFill>
                      <a:schemeClr val="accent1"/>
                    </a:solidFill>
                  </a:rPr>
                  <a:t>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sv-SE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𝑔𝑙𝑜𝑏𝑎𝑙</m:t>
                        </m:r>
                      </m:sub>
                    </m:sSub>
                  </m:oMath>
                </a14:m>
                <a:r>
                  <a:rPr lang="sv-SE" sz="20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000" dirty="0" err="1">
                    <a:solidFill>
                      <a:schemeClr val="accent1"/>
                    </a:solidFill>
                  </a:rPr>
                  <a:t>since</a:t>
                </a:r>
                <a:r>
                  <a:rPr lang="sv-SE" sz="2000" dirty="0">
                    <a:solidFill>
                      <a:schemeClr val="accent1"/>
                    </a:solidFill>
                  </a:rPr>
                  <a:t> global </a:t>
                </a:r>
                <a:r>
                  <a:rPr lang="sv-SE" sz="2000" dirty="0" err="1">
                    <a:solidFill>
                      <a:schemeClr val="accent1"/>
                    </a:solidFill>
                  </a:rPr>
                  <a:t>dofs</a:t>
                </a:r>
                <a:r>
                  <a:rPr lang="sv-SE" sz="20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000" dirty="0" err="1">
                    <a:solidFill>
                      <a:schemeClr val="accent1"/>
                    </a:solidFill>
                  </a:rPr>
                  <a:t>are</a:t>
                </a:r>
                <a:r>
                  <a:rPr lang="sv-SE" sz="2000" dirty="0">
                    <a:solidFill>
                      <a:schemeClr val="accent1"/>
                    </a:solidFill>
                  </a:rPr>
                  <a:t> per definition </a:t>
                </a:r>
                <a:r>
                  <a:rPr lang="sv-SE" sz="2000" dirty="0" err="1">
                    <a:solidFill>
                      <a:schemeClr val="accent1"/>
                    </a:solidFill>
                  </a:rPr>
                  <a:t>compatible</a:t>
                </a:r>
                <a:endParaRPr lang="sv-SE" sz="2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572F06-4D14-A44B-0B9A-C4658CEA2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098" y="5361777"/>
                <a:ext cx="6943725" cy="425053"/>
              </a:xfrm>
              <a:prstGeom prst="rect">
                <a:avLst/>
              </a:prstGeom>
              <a:blipFill>
                <a:blip r:embed="rId4"/>
                <a:stretch>
                  <a:fillRect l="-966" t="-5797" b="-2318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7166BE-582D-9D89-9910-6DD7948A1C26}"/>
                  </a:ext>
                </a:extLst>
              </p:cNvPr>
              <p:cNvSpPr txBox="1"/>
              <p:nvPr/>
            </p:nvSpPr>
            <p:spPr>
              <a:xfrm>
                <a:off x="4076678" y="5969216"/>
                <a:ext cx="46101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000" dirty="0">
                    <a:solidFill>
                      <a:schemeClr val="accent1"/>
                    </a:solidFill>
                  </a:rPr>
                  <a:t>Hence;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𝐵𝐿</m:t>
                    </m:r>
                    <m:r>
                      <a:rPr lang="sv-SE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≜0</m:t>
                    </m:r>
                  </m:oMath>
                </a14:m>
                <a:r>
                  <a:rPr lang="sv-SE" sz="2000" dirty="0">
                    <a:solidFill>
                      <a:schemeClr val="accent1"/>
                    </a:solidFill>
                  </a:rPr>
                  <a:t>  or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sv-SE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sv-SE" sz="20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000" dirty="0" err="1">
                    <a:solidFill>
                      <a:schemeClr val="accent1"/>
                    </a:solidFill>
                  </a:rPr>
                  <a:t>null</a:t>
                </a:r>
                <a:r>
                  <a:rPr lang="sv-SE" sz="2000" dirty="0">
                    <a:solidFill>
                      <a:schemeClr val="accent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sv-SE" sz="2000" dirty="0">
                    <a:solidFill>
                      <a:schemeClr val="accent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77166BE-582D-9D89-9910-6DD7948A1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78" y="5969216"/>
                <a:ext cx="4610123" cy="400110"/>
              </a:xfrm>
              <a:prstGeom prst="rect">
                <a:avLst/>
              </a:prstGeom>
              <a:blipFill>
                <a:blip r:embed="rId5"/>
                <a:stretch>
                  <a:fillRect l="-1455" t="-6061" b="-2727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8870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AA10-9E63-EDDD-3B6A-A02EBE69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three field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06BAFC6-5141-7716-5438-46078C4B2018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259814" y="904081"/>
                <a:ext cx="11855986" cy="4574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sv-SE" dirty="0"/>
                  <a:t>If </a:t>
                </a:r>
                <a:r>
                  <a:rPr lang="sv-SE" dirty="0" err="1"/>
                  <a:t>we</a:t>
                </a:r>
                <a:r>
                  <a:rPr lang="sv-SE" dirty="0"/>
                  <a:t> </a:t>
                </a:r>
                <a:r>
                  <a:rPr lang="sv-SE" dirty="0" err="1"/>
                  <a:t>can</a:t>
                </a:r>
                <a:r>
                  <a:rPr lang="sv-SE" dirty="0"/>
                  <a:t> </a:t>
                </a:r>
                <a:r>
                  <a:rPr lang="sv-SE" dirty="0" err="1"/>
                  <a:t>fiend</a:t>
                </a:r>
                <a:r>
                  <a:rPr lang="sv-SE" dirty="0"/>
                  <a:t> an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sv-SE" dirty="0"/>
                  <a:t> </a:t>
                </a:r>
                <a:r>
                  <a:rPr lang="sv-SE" dirty="0" err="1"/>
                  <a:t>that</a:t>
                </a:r>
                <a:r>
                  <a:rPr lang="sv-SE" dirty="0"/>
                  <a:t> </a:t>
                </a:r>
                <a:r>
                  <a:rPr lang="sv-SE" dirty="0" err="1"/>
                  <a:t>fulfills</a:t>
                </a:r>
                <a:r>
                  <a:rPr lang="sv-SE" dirty="0"/>
                  <a:t> </a:t>
                </a:r>
                <a:r>
                  <a:rPr lang="sv-SE" sz="2800" b="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acc>
                      <m:accPr>
                        <m:chr m:val="̈"/>
                        <m:ctrlP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acc>
                      <m:accPr>
                        <m:chr m:val="̇"/>
                        <m:ctrlP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𝐾𝑋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sv-SE" sz="2800" dirty="0"/>
                  <a:t>,</a:t>
                </a:r>
              </a:p>
              <a:p>
                <a:pPr marL="0" indent="0">
                  <a:buNone/>
                </a:pPr>
                <a:r>
                  <a:rPr lang="sv-SE" dirty="0"/>
                  <a:t>the </a:t>
                </a:r>
                <a:r>
                  <a:rPr lang="sv-SE" dirty="0" err="1"/>
                  <a:t>compatibility</a:t>
                </a:r>
                <a:r>
                  <a:rPr lang="sv-SE" dirty="0"/>
                  <a:t>: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sv-S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sv-SE" sz="2800" dirty="0"/>
              </a:p>
              <a:p>
                <a:pPr marL="0" indent="0">
                  <a:buNone/>
                </a:pPr>
                <a:r>
                  <a:rPr lang="sv-SE" dirty="0"/>
                  <a:t>a</a:t>
                </a:r>
                <a:r>
                  <a:rPr lang="sv-SE" sz="2800" dirty="0"/>
                  <a:t>nd the </a:t>
                </a:r>
                <a:r>
                  <a:rPr lang="sv-SE" sz="2800" dirty="0" err="1"/>
                  <a:t>equilibrium</a:t>
                </a:r>
                <a:r>
                  <a:rPr lang="sv-SE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sv-S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sup>
                    </m:sSup>
                    <m:r>
                      <a:rPr lang="sv-SE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sv-SE" sz="2800" dirty="0"/>
              </a:p>
              <a:p>
                <a:pPr marL="0" indent="0">
                  <a:buNone/>
                </a:pPr>
                <a:endParaRPr lang="sv-SE" sz="200" dirty="0"/>
              </a:p>
              <a:p>
                <a:pPr marL="0" indent="0">
                  <a:buNone/>
                </a:pPr>
                <a:r>
                  <a:rPr lang="sv-SE" dirty="0" err="1"/>
                  <a:t>Then</a:t>
                </a:r>
                <a:r>
                  <a:rPr lang="sv-SE" dirty="0"/>
                  <a:t>;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sv-SE" dirty="0"/>
                  <a:t> </a:t>
                </a:r>
                <a:r>
                  <a:rPr lang="sv-SE" dirty="0" err="1"/>
                  <a:t>contains</a:t>
                </a:r>
                <a:r>
                  <a:rPr lang="sv-SE" dirty="0"/>
                  <a:t> the </a:t>
                </a:r>
                <a:r>
                  <a:rPr lang="sv-SE" dirty="0" err="1"/>
                  <a:t>displacements</a:t>
                </a:r>
                <a:r>
                  <a:rPr lang="sv-SE" dirty="0"/>
                  <a:t> for the </a:t>
                </a:r>
                <a:r>
                  <a:rPr lang="sv-SE" dirty="0" err="1"/>
                  <a:t>coupled</a:t>
                </a:r>
                <a:r>
                  <a:rPr lang="sv-SE" dirty="0"/>
                  <a:t> </a:t>
                </a:r>
                <a:r>
                  <a:rPr lang="sv-SE" dirty="0" err="1"/>
                  <a:t>s</a:t>
                </a:r>
                <a:r>
                  <a:rPr lang="sv-SE" sz="2800" dirty="0" err="1"/>
                  <a:t>ubstructures</a:t>
                </a:r>
                <a:r>
                  <a:rPr lang="sv-SE" sz="2800" dirty="0"/>
                  <a:t>.</a:t>
                </a:r>
              </a:p>
              <a:p>
                <a:pPr marL="0" indent="0">
                  <a:buNone/>
                </a:pPr>
                <a:endParaRPr lang="sv-SE" sz="200" dirty="0"/>
              </a:p>
              <a:p>
                <a:pPr marL="0" indent="0">
                  <a:buNone/>
                </a:pPr>
                <a:endParaRPr lang="sv-SE" sz="2800" dirty="0"/>
              </a:p>
              <a:p>
                <a:pPr marL="0" indent="0">
                  <a:buNone/>
                </a:pPr>
                <a:endParaRPr lang="sv-SE" sz="200" dirty="0"/>
              </a:p>
              <a:p>
                <a:pPr marL="0" indent="0">
                  <a:buNone/>
                </a:pPr>
                <a:endParaRPr lang="sv-SE" dirty="0"/>
              </a:p>
              <a:p>
                <a:pPr marL="0" indent="0">
                  <a:buNone/>
                </a:pPr>
                <a:endParaRPr lang="sv-SE" dirty="0"/>
              </a:p>
              <a:p>
                <a:pPr marL="0" indent="0">
                  <a:buNone/>
                </a:pPr>
                <a:r>
                  <a:rPr lang="sv-SE" dirty="0"/>
                  <a:t>is </a:t>
                </a:r>
                <a:r>
                  <a:rPr lang="sv-SE" dirty="0" err="1"/>
                  <a:t>known</a:t>
                </a:r>
                <a:r>
                  <a:rPr lang="sv-SE" dirty="0"/>
                  <a:t> as the </a:t>
                </a:r>
                <a:r>
                  <a:rPr lang="sv-SE" dirty="0" err="1"/>
                  <a:t>three-field</a:t>
                </a:r>
                <a:r>
                  <a:rPr lang="sv-SE" dirty="0"/>
                  <a:t> </a:t>
                </a:r>
                <a:r>
                  <a:rPr lang="sv-SE" dirty="0" err="1"/>
                  <a:t>formulation</a:t>
                </a:r>
                <a:endParaRPr lang="sv-SE" sz="28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06BAFC6-5141-7716-5438-46078C4B201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9814" y="904081"/>
                <a:ext cx="11855986" cy="4574907"/>
              </a:xfrm>
              <a:prstGeom prst="rect">
                <a:avLst/>
              </a:prstGeom>
              <a:blipFill>
                <a:blip r:embed="rId2"/>
                <a:stretch>
                  <a:fillRect l="-1080" t="-1864" b="-266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6D3B50-EE52-8E6C-E5CE-74078DFD7804}"/>
                  </a:ext>
                </a:extLst>
              </p:cNvPr>
              <p:cNvSpPr txBox="1"/>
              <p:nvPr/>
            </p:nvSpPr>
            <p:spPr>
              <a:xfrm>
                <a:off x="259814" y="5543550"/>
                <a:ext cx="52694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800" dirty="0">
                    <a:solidFill>
                      <a:schemeClr val="accent1"/>
                    </a:solidFill>
                  </a:rPr>
                  <a:t>In addition,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we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know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</a:rPr>
                  <a:t>that</a:t>
                </a:r>
                <a:r>
                  <a:rPr lang="sv-SE" sz="28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𝐵𝐿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sv-SE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6D3B50-EE52-8E6C-E5CE-74078DFD7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14" y="5543550"/>
                <a:ext cx="5269449" cy="523220"/>
              </a:xfrm>
              <a:prstGeom prst="rect">
                <a:avLst/>
              </a:prstGeom>
              <a:blipFill>
                <a:blip r:embed="rId3"/>
                <a:stretch>
                  <a:fillRect l="-2431" t="-11628" b="-3139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728487-89DA-4A26-BB1A-8903BC3D6727}"/>
                  </a:ext>
                </a:extLst>
              </p:cNvPr>
              <p:cNvSpPr txBox="1"/>
              <p:nvPr/>
            </p:nvSpPr>
            <p:spPr>
              <a:xfrm>
                <a:off x="-135730" y="3328988"/>
                <a:ext cx="4864893" cy="1301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sv-SE" sz="2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acc>
                                  <m:accPr>
                                    <m:chr m:val="̈"/>
                                    <m:ctrl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𝐾𝑋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r>
                                  <m:rPr>
                                    <m:nor/>
                                  </m:rPr>
                                  <a:rPr lang="sv-SE" sz="2800" dirty="0">
                                    <a:solidFill>
                                      <a:schemeClr val="accent1"/>
                                    </a:solidFill>
                                    <a:latin typeface="+mj-lt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𝐵𝑋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  <m:r>
                                  <m:rPr>
                                    <m:nor/>
                                  </m:rPr>
                                  <a:rPr lang="sv-SE" sz="2800" dirty="0">
                                    <a:solidFill>
                                      <a:schemeClr val="accent1"/>
                                    </a:solidFill>
                                    <a:latin typeface="+mj-lt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4728487-89DA-4A26-BB1A-8903BC3D6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5730" y="3328988"/>
                <a:ext cx="4864893" cy="13018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9700EFE-4814-FCFF-C2B6-170889477159}"/>
              </a:ext>
            </a:extLst>
          </p:cNvPr>
          <p:cNvSpPr txBox="1"/>
          <p:nvPr/>
        </p:nvSpPr>
        <p:spPr>
          <a:xfrm>
            <a:off x="4589860" y="3336132"/>
            <a:ext cx="7665244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500" dirty="0" err="1">
                <a:solidFill>
                  <a:schemeClr val="accent1"/>
                </a:solidFill>
                <a:latin typeface="+mj-lt"/>
              </a:rPr>
              <a:t>Dynamic</a:t>
            </a:r>
            <a:r>
              <a:rPr lang="sv-SE" sz="2500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sv-SE" sz="2500" dirty="0" err="1">
                <a:solidFill>
                  <a:schemeClr val="accent1"/>
                </a:solidFill>
                <a:latin typeface="+mj-lt"/>
              </a:rPr>
              <a:t>equilibrium</a:t>
            </a:r>
            <a:r>
              <a:rPr lang="sv-SE" sz="2500" dirty="0">
                <a:solidFill>
                  <a:schemeClr val="accent1"/>
                </a:solidFill>
                <a:latin typeface="+mj-lt"/>
              </a:rPr>
              <a:t> for </a:t>
            </a:r>
            <a:r>
              <a:rPr lang="sv-SE" sz="2500" dirty="0" err="1">
                <a:solidFill>
                  <a:schemeClr val="accent1"/>
                </a:solidFill>
                <a:latin typeface="+mj-lt"/>
              </a:rPr>
              <a:t>each</a:t>
            </a:r>
            <a:r>
              <a:rPr lang="sv-SE" sz="2500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sv-SE" sz="2500" dirty="0" err="1">
                <a:solidFill>
                  <a:schemeClr val="accent1"/>
                </a:solidFill>
                <a:latin typeface="+mj-lt"/>
              </a:rPr>
              <a:t>substructure</a:t>
            </a:r>
            <a:r>
              <a:rPr lang="sv-SE" sz="2500" dirty="0">
                <a:solidFill>
                  <a:schemeClr val="accent1"/>
                </a:solidFill>
                <a:latin typeface="+mj-lt"/>
              </a:rPr>
              <a:t> on </a:t>
            </a:r>
            <a:r>
              <a:rPr lang="sv-SE" sz="2500" dirty="0" err="1">
                <a:solidFill>
                  <a:schemeClr val="accent1"/>
                </a:solidFill>
                <a:latin typeface="+mj-lt"/>
              </a:rPr>
              <a:t>its</a:t>
            </a:r>
            <a:r>
              <a:rPr lang="sv-SE" sz="2500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sv-SE" sz="2500" dirty="0" err="1">
                <a:solidFill>
                  <a:schemeClr val="accent1"/>
                </a:solidFill>
                <a:latin typeface="+mj-lt"/>
              </a:rPr>
              <a:t>own</a:t>
            </a:r>
            <a:endParaRPr lang="sv-SE" sz="2500" dirty="0">
              <a:solidFill>
                <a:schemeClr val="accent1"/>
              </a:solidFill>
              <a:latin typeface="+mj-lt"/>
            </a:endParaRPr>
          </a:p>
          <a:p>
            <a:r>
              <a:rPr lang="sv-SE" sz="2500" dirty="0">
                <a:solidFill>
                  <a:schemeClr val="accent1"/>
                </a:solidFill>
                <a:latin typeface="+mj-lt"/>
              </a:rPr>
              <a:t>Interface </a:t>
            </a:r>
            <a:r>
              <a:rPr lang="sv-SE" sz="2500" dirty="0" err="1">
                <a:solidFill>
                  <a:schemeClr val="accent1"/>
                </a:solidFill>
                <a:latin typeface="+mj-lt"/>
              </a:rPr>
              <a:t>compatibility</a:t>
            </a:r>
            <a:endParaRPr lang="sv-SE" sz="2500" dirty="0">
              <a:solidFill>
                <a:schemeClr val="accent1"/>
              </a:solidFill>
              <a:latin typeface="+mj-lt"/>
            </a:endParaRPr>
          </a:p>
          <a:p>
            <a:r>
              <a:rPr lang="sv-SE" sz="2500" dirty="0" err="1">
                <a:solidFill>
                  <a:schemeClr val="accent1"/>
                </a:solidFill>
                <a:latin typeface="+mj-lt"/>
              </a:rPr>
              <a:t>Equilibrium</a:t>
            </a:r>
            <a:endParaRPr lang="sv-SE" sz="2500" dirty="0">
              <a:solidFill>
                <a:schemeClr val="accent1"/>
              </a:solidFill>
              <a:latin typeface="+mj-lt"/>
            </a:endParaRP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44568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AA10-9E63-EDDD-3B6A-A02EBE69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2126897" cy="662781"/>
          </a:xfrm>
        </p:spPr>
        <p:txBody>
          <a:bodyPr>
            <a:normAutofit/>
          </a:bodyPr>
          <a:lstStyle/>
          <a:p>
            <a:r>
              <a:rPr lang="en-US" sz="3800" dirty="0"/>
              <a:t>Coupling in the physical domain; the Primal assembly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1F1C428-E9D8-D450-EE2A-58AF57F1AACD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104775" y="939800"/>
                <a:ext cx="8683625" cy="3291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endParaRPr lang="sv-SE" sz="2800" dirty="0"/>
              </a:p>
              <a:p>
                <a:pPr marL="0" indent="0">
                  <a:buNone/>
                </a:pPr>
                <a:endParaRPr lang="sv-SE" dirty="0"/>
              </a:p>
              <a:p>
                <a:pPr marL="0" indent="0">
                  <a:buNone/>
                </a:pPr>
                <a:endParaRPr lang="sv-SE" dirty="0"/>
              </a:p>
              <a:p>
                <a:pPr marL="0" indent="0">
                  <a:buNone/>
                </a:pPr>
                <a:r>
                  <a:rPr lang="sv-SE" dirty="0" err="1"/>
                  <a:t>Let</a:t>
                </a:r>
                <a:r>
                  <a:rPr lang="sv-SE" dirty="0"/>
                  <a:t> </a:t>
                </a:r>
                <a:r>
                  <a:rPr lang="sv-SE" dirty="0" err="1"/>
                  <a:t>us</a:t>
                </a:r>
                <a:r>
                  <a:rPr lang="sv-SE" dirty="0"/>
                  <a:t> </a:t>
                </a:r>
                <a:r>
                  <a:rPr lang="sv-SE" dirty="0" err="1"/>
                  <a:t>now</a:t>
                </a:r>
                <a:r>
                  <a:rPr lang="sv-SE" dirty="0"/>
                  <a:t> </a:t>
                </a:r>
                <a:r>
                  <a:rPr lang="sv-SE" dirty="0" err="1"/>
                  <a:t>use</a:t>
                </a:r>
                <a:r>
                  <a:rPr lang="sv-SE" dirty="0"/>
                  <a:t>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sv-S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𝑔𝑙𝑜𝑏𝑎𝑙</m:t>
                        </m:r>
                      </m:sub>
                    </m:sSub>
                  </m:oMath>
                </a14:m>
                <a:r>
                  <a:rPr lang="sv-SE" dirty="0"/>
                  <a:t>. </a:t>
                </a:r>
                <a:r>
                  <a:rPr lang="sv-SE" dirty="0" err="1"/>
                  <a:t>Then</a:t>
                </a:r>
                <a:r>
                  <a:rPr lang="sv-SE" dirty="0"/>
                  <a:t>:</a:t>
                </a:r>
              </a:p>
              <a:p>
                <a:pPr marL="0" indent="0">
                  <a:buNone/>
                </a:pPr>
                <a:endParaRPr lang="sv-SE" sz="500" dirty="0"/>
              </a:p>
              <a:p>
                <a:pPr marL="0" indent="0">
                  <a:buNone/>
                </a:pPr>
                <a:endParaRPr lang="sv-SE" sz="2800" dirty="0"/>
              </a:p>
              <a:p>
                <a:pPr marL="0" indent="0">
                  <a:buNone/>
                </a:pPr>
                <a:endParaRPr lang="sv-SE" sz="28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1F1C428-E9D8-D450-EE2A-58AF57F1AAC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775" y="939800"/>
                <a:ext cx="8683625" cy="3291799"/>
              </a:xfrm>
              <a:prstGeom prst="rect">
                <a:avLst/>
              </a:prstGeom>
              <a:blipFill>
                <a:blip r:embed="rId2"/>
                <a:stretch>
                  <a:fillRect l="-14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EFF71C-0020-14FC-4A2C-3B449BF4748B}"/>
                  </a:ext>
                </a:extLst>
              </p:cNvPr>
              <p:cNvSpPr txBox="1"/>
              <p:nvPr/>
            </p:nvSpPr>
            <p:spPr>
              <a:xfrm>
                <a:off x="104775" y="939800"/>
                <a:ext cx="2786062" cy="1304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acc>
                                  <m:accPr>
                                    <m:chr m:val="̈"/>
                                    <m:ctrl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𝐾𝑋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r>
                                  <m:rPr>
                                    <m:nor/>
                                  </m:rPr>
                                  <a:rPr lang="sv-SE" sz="2800" dirty="0">
                                    <a:solidFill>
                                      <a:schemeClr val="accent1"/>
                                    </a:solidFill>
                                    <a:latin typeface="+mj-lt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sv-SE" sz="280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sv-SE" sz="280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  <m:r>
                                  <m:rPr>
                                    <m:nor/>
                                  </m:rPr>
                                  <a:rPr lang="sv-SE" sz="2800" dirty="0">
                                    <a:solidFill>
                                      <a:schemeClr val="accent1"/>
                                    </a:solidFill>
                                    <a:latin typeface="+mj-lt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80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EFF71C-0020-14FC-4A2C-3B449BF47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5" y="939800"/>
                <a:ext cx="2786062" cy="1304460"/>
              </a:xfrm>
              <a:prstGeom prst="rect">
                <a:avLst/>
              </a:prstGeom>
              <a:blipFill>
                <a:blip r:embed="rId3"/>
                <a:stretch>
                  <a:fillRect r="-4288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08A047-BE5A-BA82-AC72-6BB30640E072}"/>
                  </a:ext>
                </a:extLst>
              </p:cNvPr>
              <p:cNvSpPr txBox="1"/>
              <p:nvPr/>
            </p:nvSpPr>
            <p:spPr>
              <a:xfrm>
                <a:off x="50007" y="2984115"/>
                <a:ext cx="7008018" cy="10534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sv-SE" sz="2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sv-SE" sz="280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sSub>
                                  <m:sSubPr>
                                    <m:ctrl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80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acc>
                                      <m:accPr>
                                        <m:chr m:val="̈"/>
                                        <m:ctrlPr>
                                          <a:rPr lang="sv-SE" sz="28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sv-SE" sz="28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𝑔𝑙𝑜𝑏𝑎𝑙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sv-SE" sz="280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sv-SE" sz="280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sv-SE" sz="28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sv-SE" sz="28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𝑔𝑙𝑜𝑏𝑎𝑙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sv-SE" sz="280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sSub>
                                  <m:sSubPr>
                                    <m:ctrl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80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𝑔𝑙𝑜𝑏𝑎𝑙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sv-SE" sz="2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sv-SE" sz="280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r>
                                  <a:rPr lang="sv-SE" sz="2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sv-SE" sz="2800" i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08A047-BE5A-BA82-AC72-6BB30640E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7" y="2984115"/>
                <a:ext cx="7008018" cy="1053494"/>
              </a:xfrm>
              <a:prstGeom prst="rect">
                <a:avLst/>
              </a:prstGeom>
              <a:blipFill>
                <a:blip r:embed="rId4"/>
                <a:stretch>
                  <a:fillRect r="-193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84BE63-FABA-62BB-8693-73B603EF96F3}"/>
                  </a:ext>
                </a:extLst>
              </p:cNvPr>
              <p:cNvSpPr txBox="1"/>
              <p:nvPr/>
            </p:nvSpPr>
            <p:spPr>
              <a:xfrm>
                <a:off x="50007" y="4079624"/>
                <a:ext cx="9440222" cy="835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sv-SE" sz="28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sv-SE" sz="28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sv-SE" sz="28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sv-SE" sz="28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 is </a:t>
                </a:r>
                <a:r>
                  <a:rPr lang="sv-SE" sz="2800" dirty="0" err="1">
                    <a:solidFill>
                      <a:schemeClr val="accent1"/>
                    </a:solidFill>
                    <a:latin typeface="+mj-lt"/>
                  </a:rPr>
                  <a:t>naturally</a:t>
                </a:r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  <a:latin typeface="+mj-lt"/>
                  </a:rPr>
                  <a:t>satisfied</a:t>
                </a:r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  <a:latin typeface="+mj-lt"/>
                  </a:rPr>
                  <a:t>since</a:t>
                </a:r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𝑔𝑙𝑜𝑏𝑎𝑙</m:t>
                        </m:r>
                      </m:sub>
                    </m:sSub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≜0</m:t>
                    </m:r>
                  </m:oMath>
                </a14:m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 </a:t>
                </a:r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84BE63-FABA-62BB-8693-73B603EF9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7" y="4079624"/>
                <a:ext cx="9440222" cy="835229"/>
              </a:xfrm>
              <a:prstGeom prst="rect">
                <a:avLst/>
              </a:prstGeom>
              <a:blipFill>
                <a:blip r:embed="rId5"/>
                <a:stretch>
                  <a:fillRect t="-656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F24FB88-4E40-7719-EBB7-B85DD1591B1A}"/>
                  </a:ext>
                </a:extLst>
              </p:cNvPr>
              <p:cNvSpPr txBox="1"/>
              <p:nvPr/>
            </p:nvSpPr>
            <p:spPr>
              <a:xfrm>
                <a:off x="50007" y="4604766"/>
                <a:ext cx="10236994" cy="530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Now: Pre-</a:t>
                </a:r>
                <a:r>
                  <a:rPr lang="sv-SE" sz="2800" dirty="0" err="1">
                    <a:solidFill>
                      <a:schemeClr val="accent1"/>
                    </a:solidFill>
                    <a:latin typeface="+mj-lt"/>
                  </a:rPr>
                  <a:t>multiply</a:t>
                </a:r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 the </a:t>
                </a:r>
                <a:r>
                  <a:rPr lang="sv-SE" sz="2800" dirty="0" err="1">
                    <a:solidFill>
                      <a:schemeClr val="accent1"/>
                    </a:solidFill>
                    <a:latin typeface="+mj-lt"/>
                  </a:rPr>
                  <a:t>governing</a:t>
                </a:r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  <a:latin typeface="+mj-lt"/>
                  </a:rPr>
                  <a:t>equation</a:t>
                </a:r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 of motion </a:t>
                </a:r>
                <a:r>
                  <a:rPr lang="sv-SE" sz="2800" dirty="0" err="1">
                    <a:solidFill>
                      <a:schemeClr val="accent1"/>
                    </a:solidFill>
                    <a:latin typeface="+mj-lt"/>
                  </a:rPr>
                  <a:t>with</a:t>
                </a:r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. Then: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F24FB88-4E40-7719-EBB7-B85DD1591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7" y="4604766"/>
                <a:ext cx="10236994" cy="530915"/>
              </a:xfrm>
              <a:prstGeom prst="rect">
                <a:avLst/>
              </a:prstGeom>
              <a:blipFill>
                <a:blip r:embed="rId6"/>
                <a:stretch>
                  <a:fillRect l="-1190" t="-9195" b="-3218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65EC66-CF82-7F55-2E79-B476071CEB15}"/>
                  </a:ext>
                </a:extLst>
              </p:cNvPr>
              <p:cNvSpPr txBox="1"/>
              <p:nvPr/>
            </p:nvSpPr>
            <p:spPr>
              <a:xfrm>
                <a:off x="50007" y="5232790"/>
                <a:ext cx="12192000" cy="581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sv-SE" sz="2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𝑀𝐿</m:t>
                    </m:r>
                    <m:sSub>
                      <m:sSubPr>
                        <m:ctrlP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sv-SE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𝑔𝑙𝑜𝑏𝑎𝑙</m:t>
                        </m:r>
                      </m:sub>
                    </m:sSub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𝐶𝐿</m:t>
                    </m:r>
                    <m:sSub>
                      <m:sSubPr>
                        <m:ctrlP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sv-SE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𝑔𝑙𝑜𝑏𝑎𝑙</m:t>
                        </m:r>
                      </m:sub>
                    </m:sSub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𝐾𝐿</m:t>
                    </m:r>
                    <m:sSub>
                      <m:sSubPr>
                        <m:ctrlP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𝑔𝑙𝑜𝑏𝑎𝑙</m:t>
                        </m:r>
                      </m:sub>
                    </m:sSub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  , </a:t>
                </a:r>
                <a:r>
                  <a:rPr lang="sv-SE" sz="2800" dirty="0" err="1">
                    <a:solidFill>
                      <a:schemeClr val="accent1"/>
                    </a:solidFill>
                    <a:latin typeface="+mj-lt"/>
                  </a:rPr>
                  <a:t>since</a:t>
                </a:r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≜0</m:t>
                    </m:r>
                  </m:oMath>
                </a14:m>
                <a:endParaRPr lang="sv-SE" sz="2800" dirty="0">
                  <a:latin typeface="+mj-lt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65EC66-CF82-7F55-2E79-B476071CE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7" y="5232790"/>
                <a:ext cx="12192000" cy="581698"/>
              </a:xfrm>
              <a:prstGeom prst="rect">
                <a:avLst/>
              </a:prstGeom>
              <a:blipFill>
                <a:blip r:embed="rId7"/>
                <a:stretch>
                  <a:fillRect t="-5208" b="-2291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3329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1B924-6671-A939-5F47-73D20DBF6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785C4-DDE0-4146-4E77-5A1981B27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1" y="136525"/>
            <a:ext cx="11760737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Coupling in the physical domain; Primal assembly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1EC769-2700-DF2A-856D-34869FF087A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78318" y="919774"/>
            <a:ext cx="8683625" cy="306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r>
              <a:rPr lang="sv-SE" dirty="0" err="1"/>
              <a:t>With</a:t>
            </a:r>
            <a:r>
              <a:rPr lang="sv-SE" dirty="0"/>
              <a:t>: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sv-SE" sz="2800" dirty="0"/>
          </a:p>
          <a:p>
            <a:pPr marL="0" indent="0">
              <a:buNone/>
            </a:pPr>
            <a:endParaRPr lang="sv-SE" sz="28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2714B2C-5186-02E4-BA0D-9AECB76854DE}"/>
              </a:ext>
            </a:extLst>
          </p:cNvPr>
          <p:cNvGrpSpPr/>
          <p:nvPr/>
        </p:nvGrpSpPr>
        <p:grpSpPr>
          <a:xfrm>
            <a:off x="378318" y="1393298"/>
            <a:ext cx="8289132" cy="1277367"/>
            <a:chOff x="372763" y="842883"/>
            <a:chExt cx="8289132" cy="12773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BC82C3E-F6E2-33AF-057F-B8D9E3F5F613}"/>
                    </a:ext>
                  </a:extLst>
                </p:cNvPr>
                <p:cNvSpPr txBox="1"/>
                <p:nvPr/>
              </p:nvSpPr>
              <p:spPr>
                <a:xfrm>
                  <a:off x="1401462" y="842883"/>
                  <a:ext cx="1871663" cy="5339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sv-SE" sz="28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acc>
                        <m:r>
                          <a:rPr lang="sv-SE" sz="28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sv-SE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sv-SE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sv-SE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𝑀𝐿</m:t>
                        </m:r>
                      </m:oMath>
                    </m:oMathPara>
                  </a14:m>
                  <a:endParaRPr lang="sv-SE" sz="28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BC82C3E-F6E2-33AF-057F-B8D9E3F5F6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1462" y="842883"/>
                  <a:ext cx="1871663" cy="53392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5D9B88E-DB0B-5BE2-F29B-772558315595}"/>
                    </a:ext>
                  </a:extLst>
                </p:cNvPr>
                <p:cNvSpPr txBox="1"/>
                <p:nvPr/>
              </p:nvSpPr>
              <p:spPr>
                <a:xfrm>
                  <a:off x="3273125" y="865021"/>
                  <a:ext cx="2059781" cy="5320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sv-SE" sz="28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  <m:r>
                          <a:rPr lang="sv-SE" sz="28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sv-SE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sv-SE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sv-SE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𝐶𝐿</m:t>
                        </m:r>
                      </m:oMath>
                    </m:oMathPara>
                  </a14:m>
                  <a:endParaRPr lang="sv-SE" sz="28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5D9B88E-DB0B-5BE2-F29B-7725583155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3125" y="865021"/>
                  <a:ext cx="2059781" cy="53200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EEB16A3-342B-DEE8-091A-48866703FC51}"/>
                    </a:ext>
                  </a:extLst>
                </p:cNvPr>
                <p:cNvSpPr txBox="1"/>
                <p:nvPr/>
              </p:nvSpPr>
              <p:spPr>
                <a:xfrm>
                  <a:off x="5332906" y="864058"/>
                  <a:ext cx="1707357" cy="5339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sv-SE" sz="2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r>
                        <a:rPr lang="sv-SE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sv-SE" sz="2800" dirty="0">
                      <a:solidFill>
                        <a:schemeClr val="accent1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sv-SE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𝐾𝐿</m:t>
                      </m:r>
                    </m:oMath>
                  </a14:m>
                  <a:endParaRPr lang="sv-SE" sz="2800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EEB16A3-342B-DEE8-091A-48866703FC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2906" y="864058"/>
                  <a:ext cx="1707357" cy="53392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19755B0-E213-52B5-4D5C-61F4789663EB}"/>
                    </a:ext>
                  </a:extLst>
                </p:cNvPr>
                <p:cNvSpPr txBox="1"/>
                <p:nvPr/>
              </p:nvSpPr>
              <p:spPr>
                <a:xfrm>
                  <a:off x="7040263" y="845897"/>
                  <a:ext cx="1621632" cy="5309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̃"/>
                            <m:ctrlPr>
                              <a:rPr lang="sv-SE" sz="28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  <m:r>
                          <a:rPr lang="sv-SE" sz="28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sv-SE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v-SE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sv-SE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sv-SE" sz="2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lang="sv-SE" sz="2800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19755B0-E213-52B5-4D5C-61F4789663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0263" y="845897"/>
                  <a:ext cx="1621632" cy="53091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E400168-CCA1-4F71-E072-C374F2A67264}"/>
                    </a:ext>
                  </a:extLst>
                </p:cNvPr>
                <p:cNvSpPr txBox="1"/>
                <p:nvPr/>
              </p:nvSpPr>
              <p:spPr>
                <a:xfrm>
                  <a:off x="372763" y="1538552"/>
                  <a:ext cx="5800724" cy="5816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sv-SE" sz="28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acc>
                      <m:sSub>
                        <m:sSubPr>
                          <m:ctrlP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𝑔𝑙𝑜𝑏𝑎𝑙</m:t>
                          </m:r>
                        </m:sub>
                      </m:sSub>
                      <m:r>
                        <a:rPr lang="sv-SE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a14:m>
                  <a:r>
                    <a:rPr lang="sv-SE" sz="2800" dirty="0">
                      <a:solidFill>
                        <a:schemeClr val="accent1"/>
                      </a:solidFill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sSub>
                        <m:sSubPr>
                          <m:ctrlP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sv-SE" sz="28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𝑔𝑙𝑜𝑏𝑎𝑙</m:t>
                          </m:r>
                        </m:sub>
                      </m:sSub>
                      <m:r>
                        <a:rPr lang="sv-SE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̃"/>
                          <m:ctrlP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sSub>
                        <m:sSubPr>
                          <m:ctrlP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sv-SE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𝑔𝑙𝑜𝑏𝑎𝑙</m:t>
                          </m:r>
                        </m:sub>
                      </m:sSub>
                      <m:r>
                        <a:rPr lang="sv-SE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sv-SE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</m:oMath>
                  </a14:m>
                  <a:endParaRPr lang="sv-SE" sz="2800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E400168-CCA1-4F71-E072-C374F2A672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763" y="1538552"/>
                  <a:ext cx="5800724" cy="58169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78934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AA10-9E63-EDDD-3B6A-A02EBE69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901530" cy="662781"/>
          </a:xfrm>
        </p:spPr>
        <p:txBody>
          <a:bodyPr>
            <a:normAutofit/>
          </a:bodyPr>
          <a:lstStyle/>
          <a:p>
            <a:r>
              <a:rPr lang="en-US" sz="3800" dirty="0"/>
              <a:t>Coupling in the physical domain; the Dual assembly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E5F0CE-8835-19E1-25AE-0C967ED74D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32" y="939586"/>
                <a:ext cx="4031199" cy="131069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acc>
                                  <m:accPr>
                                    <m:chr m:val="̈"/>
                                    <m:ctrlP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𝐾𝑋</m:t>
                                </m:r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r>
                                  <m:rPr>
                                    <m:nor/>
                                  </m:rPr>
                                  <a:rPr lang="sv-SE" dirty="0"/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𝐵𝑋</m:t>
                                </m:r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  <m:r>
                                  <m:rPr>
                                    <m:nor/>
                                  </m:rPr>
                                  <a:rPr lang="sv-SE" dirty="0"/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E5F0CE-8835-19E1-25AE-0C967ED74D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32" y="939586"/>
                <a:ext cx="4031199" cy="131069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91C2D5-1FAA-0157-CEF2-8AD3230FF8C7}"/>
                  </a:ext>
                </a:extLst>
              </p:cNvPr>
              <p:cNvSpPr txBox="1"/>
              <p:nvPr/>
            </p:nvSpPr>
            <p:spPr>
              <a:xfrm>
                <a:off x="105031" y="2572803"/>
                <a:ext cx="4552693" cy="530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Let </a:t>
                </a:r>
                <a:r>
                  <a:rPr lang="sv-SE" sz="2800" dirty="0" err="1">
                    <a:solidFill>
                      <a:schemeClr val="accent1"/>
                    </a:solidFill>
                    <a:latin typeface="+mj-lt"/>
                  </a:rPr>
                  <a:t>us</a:t>
                </a:r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  <a:latin typeface="+mj-lt"/>
                  </a:rPr>
                  <a:t>now</a:t>
                </a:r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  <a:latin typeface="+mj-lt"/>
                  </a:rPr>
                  <a:t>define</a:t>
                </a:r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l-GR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endParaRPr lang="sv-SE" sz="2800" dirty="0">
                  <a:solidFill>
                    <a:schemeClr val="accent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91C2D5-1FAA-0157-CEF2-8AD3230FF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31" y="2572803"/>
                <a:ext cx="4552693" cy="530915"/>
              </a:xfrm>
              <a:prstGeom prst="rect">
                <a:avLst/>
              </a:prstGeom>
              <a:blipFill>
                <a:blip r:embed="rId3"/>
                <a:stretch>
                  <a:fillRect l="-2677" t="-10345" b="-3103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975D96-D89C-D5AD-946B-352315C66D8F}"/>
                  </a:ext>
                </a:extLst>
              </p:cNvPr>
              <p:cNvSpPr txBox="1"/>
              <p:nvPr/>
            </p:nvSpPr>
            <p:spPr>
              <a:xfrm>
                <a:off x="4786311" y="1553068"/>
                <a:ext cx="4132563" cy="2570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/>
                    </a:solidFill>
                    <a:latin typeface="+mj-lt"/>
                  </a:rPr>
                  <a:t>That is: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8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8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sv-SE" sz="28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sv-SE" sz="28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8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8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sv-SE" sz="28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  <m:sup>
                                        <m:r>
                                          <a:rPr lang="sv-SE" sz="28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en-US" sz="28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sv-SE" sz="28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sv-SE" sz="28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sub>
                                      <m:sup>
                                        <m:r>
                                          <a:rPr lang="sv-SE" sz="28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sv-SE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sv-SE" sz="2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8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sv-SE" sz="28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sv-SE" sz="28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sv-SE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sv-SE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sv-SE" sz="28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sv-SE" sz="2800" dirty="0">
                  <a:solidFill>
                    <a:schemeClr val="accent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975D96-D89C-D5AD-946B-352315C66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6311" y="1553068"/>
                <a:ext cx="4132563" cy="2570384"/>
              </a:xfrm>
              <a:prstGeom prst="rect">
                <a:avLst/>
              </a:prstGeom>
              <a:blipFill>
                <a:blip r:embed="rId4"/>
                <a:stretch>
                  <a:fillRect l="-295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EA59ED-324F-ED61-8287-940CB09FF20D}"/>
                  </a:ext>
                </a:extLst>
              </p:cNvPr>
              <p:cNvSpPr txBox="1"/>
              <p:nvPr/>
            </p:nvSpPr>
            <p:spPr>
              <a:xfrm>
                <a:off x="90593" y="4037676"/>
                <a:ext cx="5765306" cy="880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800" dirty="0" err="1">
                    <a:solidFill>
                      <a:schemeClr val="accent1"/>
                    </a:solidFill>
                    <a:latin typeface="+mj-lt"/>
                  </a:rPr>
                  <a:t>Then</a:t>
                </a:r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:   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sv-SE" sz="2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8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acc>
                                <m:accPr>
                                  <m:chr m:val="̈"/>
                                  <m:ctrlP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acc>
                                <m:accPr>
                                  <m:chr m:val="̇"/>
                                  <m:ctrlP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v-SE" sz="28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𝐾𝑋</m:t>
                              </m:r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sv-SE" sz="2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sv-SE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sv-SE" sz="28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l-GR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  <m:mr>
                            <m:e>
                              <m:r>
                                <a:rPr lang="sv-SE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𝐵𝑋</m:t>
                              </m:r>
                              <m:r>
                                <a:rPr lang="sv-SE" sz="2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sv-SE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EA59ED-324F-ED61-8287-940CB09FF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93" y="4037676"/>
                <a:ext cx="5765306" cy="880754"/>
              </a:xfrm>
              <a:prstGeom prst="rect">
                <a:avLst/>
              </a:prstGeom>
              <a:blipFill>
                <a:blip r:embed="rId5"/>
                <a:stretch>
                  <a:fillRect l="-222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467961-3FF8-2D29-AD91-69E16148A2D3}"/>
                  </a:ext>
                </a:extLst>
              </p:cNvPr>
              <p:cNvSpPr txBox="1"/>
              <p:nvPr/>
            </p:nvSpPr>
            <p:spPr>
              <a:xfrm>
                <a:off x="90593" y="5387626"/>
                <a:ext cx="1201081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Whereas,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sv-SE" sz="28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is </a:t>
                </a:r>
                <a:r>
                  <a:rPr lang="sv-SE" sz="2800" dirty="0" err="1">
                    <a:solidFill>
                      <a:schemeClr val="accent1"/>
                    </a:solidFill>
                    <a:latin typeface="+mj-lt"/>
                  </a:rPr>
                  <a:t>naturally</a:t>
                </a:r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  <a:latin typeface="+mj-lt"/>
                  </a:rPr>
                  <a:t>satisfied</a:t>
                </a:r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sv-SE" sz="2800" dirty="0" err="1">
                    <a:solidFill>
                      <a:schemeClr val="accent1"/>
                    </a:solidFill>
                    <a:latin typeface="+mj-lt"/>
                  </a:rPr>
                  <a:t>since</a:t>
                </a:r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sv-SE" sz="2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l-GR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sv-SE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sv-SE" sz="28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𝐵𝐿</m:t>
                            </m:r>
                          </m:e>
                        </m:d>
                      </m:e>
                      <m:sup>
                        <m:r>
                          <a:rPr lang="sv-SE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l-GR" sz="2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lang="el-GR" sz="28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</m:t>
                    </m:r>
                    <m:r>
                      <a:rPr lang="sv-SE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</m:t>
                    </m:r>
                  </m:oMath>
                </a14:m>
                <a:r>
                  <a:rPr lang="sv-SE" sz="2800" dirty="0">
                    <a:solidFill>
                      <a:schemeClr val="accent1"/>
                    </a:solidFill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467961-3FF8-2D29-AD91-69E16148A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93" y="5387626"/>
                <a:ext cx="12010814" cy="523220"/>
              </a:xfrm>
              <a:prstGeom prst="rect">
                <a:avLst/>
              </a:prstGeom>
              <a:blipFill>
                <a:blip r:embed="rId6"/>
                <a:stretch>
                  <a:fillRect l="-1066" t="-11628" b="-3255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033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5B27E-6E51-643E-95BF-763F2AD27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3E1F7-1B59-77DD-61A9-28C1B1699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2" y="136525"/>
            <a:ext cx="1190153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Coupling in the physical domain; Dual assembly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4C6D1F8-A744-319C-B842-394E28B7F1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5437" y="1365713"/>
                <a:ext cx="8602963" cy="49788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sv-SE" dirty="0"/>
                  <a:t>Thus:</a:t>
                </a:r>
              </a:p>
              <a:p>
                <a:pPr marL="0" indent="0">
                  <a:buNone/>
                </a:pPr>
                <a:endParaRPr lang="sv-SE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sv-S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sv-SE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sv-S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̈"/>
                                  <m:ctrlPr>
                                    <a:rPr lang="sv-SE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v-SE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̈"/>
                                  <m:ctrlPr>
                                    <a:rPr lang="sv-SE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r>
                  <a:rPr lang="sv-SE" dirty="0"/>
                  <a:t>+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sv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sv-SE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v-SE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sv-SE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sv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sv-SE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r>
                      <a:rPr lang="sv-S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mr>
                          <m:mr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sv-SE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4C6D1F8-A744-319C-B842-394E28B7F1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5437" y="1365713"/>
                <a:ext cx="8602963" cy="4978829"/>
              </a:xfrm>
              <a:blipFill>
                <a:blip r:embed="rId2"/>
                <a:stretch>
                  <a:fillRect l="-1416" t="-208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7159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AA10-9E63-EDDD-3B6A-A02EBE69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65" y="-21976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Exercise: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E5F0CE-8835-19E1-25AE-0C967ED74D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2965" y="662781"/>
                <a:ext cx="11946070" cy="5383087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900" dirty="0"/>
                  <a:t>Let: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9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sv-SE" sz="29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sv-SE" sz="29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900" dirty="0"/>
                  <a:t> ,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9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sv-SE" sz="29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sv-SE" sz="29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sz="2900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900" dirty="0"/>
                  <a:t> ,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9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sv-SE" sz="29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sv-SE" sz="2900" b="0" i="1" smtClean="0">
                        <a:latin typeface="Cambria Math" panose="02040503050406030204" pitchFamily="18" charset="0"/>
                      </a:rPr>
                      <m:t>=10,000</m:t>
                    </m:r>
                    <m:r>
                      <a:rPr lang="sv-SE" sz="2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sv-SE" sz="2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900" dirty="0"/>
                  <a:t> 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9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sv-SE" sz="2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29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900" dirty="0"/>
                  <a:t> 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9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sv-SE" sz="29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sv-SE" sz="29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sv-SE" sz="29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9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sv-SE" sz="29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sv-SE" sz="29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sv-SE" sz="29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9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sv-SE" sz="29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sv-SE" sz="29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sv-SE" sz="29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9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sv-SE" sz="29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sv-SE" sz="29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9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457200" indent="-457200">
                  <a:buAutoNum type="arabicParenR"/>
                </a:pPr>
                <a:r>
                  <a:rPr lang="en-US" sz="2300" dirty="0"/>
                  <a:t>Consider the structures to be coupled (one structure). Define the MCK matrices and the load vector</a:t>
                </a:r>
              </a:p>
              <a:p>
                <a:pPr marL="457200" indent="-457200">
                  <a:buAutoNum type="arabicParenR"/>
                </a:pPr>
                <a:r>
                  <a:rPr lang="en-US" sz="2300" dirty="0"/>
                  <a:t>Now, look at the system as consisting of two substructures.</a:t>
                </a:r>
              </a:p>
              <a:p>
                <a:pPr marL="0" indent="0">
                  <a:buNone/>
                </a:pPr>
                <a:r>
                  <a:rPr lang="en-US" sz="2300" dirty="0"/>
                  <a:t>         a) Define the block diagonal matrices and vectors</a:t>
                </a:r>
              </a:p>
              <a:p>
                <a:pPr marL="0" indent="0">
                  <a:buNone/>
                </a:pPr>
                <a:r>
                  <a:rPr lang="en-US" sz="2300" dirty="0"/>
                  <a:t>         b) Define the compatibility matrix, B</a:t>
                </a:r>
              </a:p>
              <a:p>
                <a:pPr marL="0" indent="0">
                  <a:buNone/>
                </a:pPr>
                <a:r>
                  <a:rPr lang="en-US" sz="2300" dirty="0"/>
                  <a:t>         c) Define the localization matrix, L</a:t>
                </a:r>
              </a:p>
              <a:p>
                <a:pPr marL="0" indent="0">
                  <a:buNone/>
                </a:pPr>
                <a:r>
                  <a:rPr lang="en-US" sz="2300" dirty="0"/>
                  <a:t>         d) Define the three-field formulation</a:t>
                </a:r>
              </a:p>
              <a:p>
                <a:pPr marL="0" indent="0">
                  <a:buNone/>
                </a:pPr>
                <a:r>
                  <a:rPr lang="en-US" sz="2300" dirty="0"/>
                  <a:t>         e) Calculate the matrices using the primal and dual assemblies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E5F0CE-8835-19E1-25AE-0C967ED74D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2965" y="662781"/>
                <a:ext cx="11946070" cy="5383087"/>
              </a:xfrm>
              <a:blipFill>
                <a:blip r:embed="rId2"/>
                <a:stretch>
                  <a:fillRect l="-510" b="-79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1C6DC07B-DBE3-9068-4C08-7C3A33D3A29B}"/>
              </a:ext>
            </a:extLst>
          </p:cNvPr>
          <p:cNvGrpSpPr/>
          <p:nvPr/>
        </p:nvGrpSpPr>
        <p:grpSpPr>
          <a:xfrm>
            <a:off x="2014789" y="-63537"/>
            <a:ext cx="8505107" cy="3258965"/>
            <a:chOff x="1683921" y="1406748"/>
            <a:chExt cx="8505107" cy="3258965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5BE43A7-1834-D35D-E19B-D2EEE0FA7FFA}"/>
                </a:ext>
              </a:extLst>
            </p:cNvPr>
            <p:cNvCxnSpPr/>
            <p:nvPr/>
          </p:nvCxnSpPr>
          <p:spPr>
            <a:xfrm>
              <a:off x="8477007" y="3020270"/>
              <a:ext cx="69245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69E4A0D-DFA7-483A-A229-A7EAD2B8506A}"/>
                </a:ext>
              </a:extLst>
            </p:cNvPr>
            <p:cNvCxnSpPr/>
            <p:nvPr/>
          </p:nvCxnSpPr>
          <p:spPr>
            <a:xfrm>
              <a:off x="6919674" y="3020270"/>
              <a:ext cx="69245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BCA0A2B-BFD2-9672-4983-C82BA1129AE5}"/>
                </a:ext>
              </a:extLst>
            </p:cNvPr>
            <p:cNvGrpSpPr/>
            <p:nvPr/>
          </p:nvGrpSpPr>
          <p:grpSpPr>
            <a:xfrm>
              <a:off x="1683921" y="1406748"/>
              <a:ext cx="8505107" cy="3258965"/>
              <a:chOff x="1683921" y="1255827"/>
              <a:chExt cx="8505107" cy="3258965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8F47D76-D871-52E1-CD80-23AC1C079D98}"/>
                  </a:ext>
                </a:extLst>
              </p:cNvPr>
              <p:cNvSpPr txBox="1"/>
              <p:nvPr/>
            </p:nvSpPr>
            <p:spPr>
              <a:xfrm>
                <a:off x="3113369" y="1255827"/>
                <a:ext cx="30327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5608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System </a:t>
                </a:r>
                <a:r>
                  <a:rPr kumimoji="0" lang="en-US" sz="32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15608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0901F29-E98B-238D-18FF-4C56BBF49C7E}"/>
                  </a:ext>
                </a:extLst>
              </p:cNvPr>
              <p:cNvSpPr txBox="1"/>
              <p:nvPr/>
            </p:nvSpPr>
            <p:spPr>
              <a:xfrm>
                <a:off x="6436920" y="1255827"/>
                <a:ext cx="30327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5608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System </a:t>
                </a:r>
                <a:r>
                  <a:rPr kumimoji="0" lang="en-US" sz="32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156082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B</a:t>
                </a:r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B1F4E7C-388C-7CAE-C14E-89F8DEA83D58}"/>
                  </a:ext>
                </a:extLst>
              </p:cNvPr>
              <p:cNvGrpSpPr/>
              <p:nvPr/>
            </p:nvGrpSpPr>
            <p:grpSpPr>
              <a:xfrm>
                <a:off x="1683921" y="1941790"/>
                <a:ext cx="8505107" cy="2573002"/>
                <a:chOff x="911564" y="1632348"/>
                <a:chExt cx="8505107" cy="2573002"/>
              </a:xfrm>
            </p:grpSpPr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5165DFFE-E0F5-5457-258E-1343AF547DB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911564" y="1632348"/>
                  <a:ext cx="5434084" cy="2573002"/>
                  <a:chOff x="7392311" y="2977475"/>
                  <a:chExt cx="4528404" cy="2144168"/>
                </a:xfrm>
              </p:grpSpPr>
              <p:grpSp>
                <p:nvGrpSpPr>
                  <p:cNvPr id="5" name="Group 4">
                    <a:extLst>
                      <a:ext uri="{FF2B5EF4-FFF2-40B4-BE49-F238E27FC236}">
                        <a16:creationId xmlns:a16="http://schemas.microsoft.com/office/drawing/2014/main" id="{DE79D4DA-6DB3-5AAE-256E-3B0EAD134454}"/>
                      </a:ext>
                    </a:extLst>
                  </p:cNvPr>
                  <p:cNvGrpSpPr/>
                  <p:nvPr/>
                </p:nvGrpSpPr>
                <p:grpSpPr>
                  <a:xfrm>
                    <a:off x="7392311" y="2977475"/>
                    <a:ext cx="4218259" cy="2144168"/>
                    <a:chOff x="4125328" y="4475685"/>
                    <a:chExt cx="4218259" cy="2144168"/>
                  </a:xfrm>
                </p:grpSpPr>
                <p:pic>
                  <p:nvPicPr>
                    <p:cNvPr id="8" name="Picture 7">
                      <a:extLst>
                        <a:ext uri="{FF2B5EF4-FFF2-40B4-BE49-F238E27FC236}">
                          <a16:creationId xmlns:a16="http://schemas.microsoft.com/office/drawing/2014/main" id="{3BDB1B42-93F4-DAB7-5449-49EC581D5E5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4125328" y="5293788"/>
                      <a:ext cx="4218259" cy="1326065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9" name="Group 8">
                      <a:extLst>
                        <a:ext uri="{FF2B5EF4-FFF2-40B4-BE49-F238E27FC236}">
                          <a16:creationId xmlns:a16="http://schemas.microsoft.com/office/drawing/2014/main" id="{D2ACC8E7-96C6-E7D0-5FBF-E9128388EA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51216" y="4475685"/>
                      <a:ext cx="1130383" cy="747856"/>
                      <a:chOff x="4871770" y="4623135"/>
                      <a:chExt cx="1130383" cy="747856"/>
                    </a:xfrm>
                  </p:grpSpPr>
                  <p:cxnSp>
                    <p:nvCxnSpPr>
                      <p:cNvPr id="12" name="Straight Arrow Connector 11">
                        <a:extLst>
                          <a:ext uri="{FF2B5EF4-FFF2-40B4-BE49-F238E27FC236}">
                            <a16:creationId xmlns:a16="http://schemas.microsoft.com/office/drawing/2014/main" id="{ACC5E93F-9FC9-A90B-B10E-18C7CCF00C43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4989250" y="5370991"/>
                        <a:ext cx="577049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13" name="TextBox 12">
                            <a:extLst>
                              <a:ext uri="{FF2B5EF4-FFF2-40B4-BE49-F238E27FC236}">
                                <a16:creationId xmlns:a16="http://schemas.microsoft.com/office/drawing/2014/main" id="{19CF03D2-6756-E64B-F022-6E9BBC1798D4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4871770" y="4623135"/>
                            <a:ext cx="1130383" cy="70307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14:m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sv-SE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sv-SE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sv-SE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0" lang="sv-SE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𝐴</m:t>
                                    </m:r>
                                  </m:sup>
                                </m:sSubSup>
                              </m:oMath>
                            </a14:m>
                            <a:r>
                              <a:rPr kumimoji="0" lang="sv-SE" sz="24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156082"/>
                                </a:solidFill>
                                <a:effectLst/>
                                <a:uLnTx/>
                                <a:uFillTx/>
                                <a:latin typeface="Aptos" panose="02110004020202020204"/>
                                <a:ea typeface="+mn-ea"/>
                                <a:cs typeface="+mn-cs"/>
                              </a:rPr>
                              <a:t>,</a:t>
                            </a:r>
                            <a14:m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sv-SE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sv-SE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sv-SE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0" lang="sv-SE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𝐴</m:t>
                                    </m:r>
                                  </m:sup>
                                </m:sSubSup>
                                <m:r>
                                  <a:rPr kumimoji="0" lang="sv-SE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</m:oMath>
                            </a14:m>
                            <a:r>
                              <a:rPr kumimoji="0" lang="sv-SE" sz="2400" b="0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156082"/>
                                </a:solidFill>
                                <a:effectLst/>
                                <a:uLnTx/>
                                <a:uFillTx/>
                                <a:latin typeface="Aptos" panose="02110004020202020204"/>
                                <a:ea typeface="+mn-ea"/>
                                <a:cs typeface="+mn-cs"/>
                              </a:rPr>
                              <a:t> </a:t>
                            </a:r>
                            <a14:m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kumimoji="0" lang="sv-SE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sv-SE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kumimoji="0" lang="sv-SE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kumimoji="0" lang="sv-SE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15608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𝐴</m:t>
                                    </m:r>
                                  </m:sup>
                                </m:sSubSup>
                              </m:oMath>
                            </a14:m>
                            <a:endParaRPr kumimoji="0" lang="sv-SE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13" name="TextBox 12">
                            <a:extLst>
                              <a:ext uri="{FF2B5EF4-FFF2-40B4-BE49-F238E27FC236}">
                                <a16:creationId xmlns:a16="http://schemas.microsoft.com/office/drawing/2014/main" id="{19CF03D2-6756-E64B-F022-6E9BBC1798D4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871770" y="4623135"/>
                            <a:ext cx="1130383" cy="703077"/>
                          </a:xfrm>
                          <a:prstGeom prst="rect">
                            <a:avLst/>
                          </a:prstGeom>
                          <a:blipFill>
                            <a:blip r:embed="rId4"/>
                            <a:stretch>
                              <a:fillRect l="-3587" t="-4317" b="-8633"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sv-SE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cxnSp>
                  <p:nvCxnSpPr>
                    <p:cNvPr id="10" name="Straight Arrow Connector 9">
                      <a:extLst>
                        <a:ext uri="{FF2B5EF4-FFF2-40B4-BE49-F238E27FC236}">
                          <a16:creationId xmlns:a16="http://schemas.microsoft.com/office/drawing/2014/main" id="{6EB2DC62-9CDC-562F-D97F-BD211E8BC48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291309" y="5223541"/>
                      <a:ext cx="577049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" name="Straight Arrow Connector 10">
                      <a:extLst>
                        <a:ext uri="{FF2B5EF4-FFF2-40B4-BE49-F238E27FC236}">
                          <a16:creationId xmlns:a16="http://schemas.microsoft.com/office/drawing/2014/main" id="{9F828AA4-83CB-25D0-378D-3F19F415EFE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613922" y="5223541"/>
                      <a:ext cx="577049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TextBox 5">
                        <a:extLst>
                          <a:ext uri="{FF2B5EF4-FFF2-40B4-BE49-F238E27FC236}">
                            <a16:creationId xmlns:a16="http://schemas.microsoft.com/office/drawing/2014/main" id="{D31D0C76-471C-0993-505E-1A64B884D6F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501440" y="2979866"/>
                        <a:ext cx="989153" cy="70425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kumimoji="0" lang="sv-SE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sv-SE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sv-SE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kumimoji="0" lang="sv-SE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𝐴</m:t>
                                </m:r>
                              </m:sup>
                            </m:sSubSup>
                          </m:oMath>
                        </a14:m>
                        <a:r>
                          <a:rPr kumimoji="0" lang="sv-SE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56082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rPr>
                          <a:t>,</a:t>
                        </a:r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kumimoji="0" lang="sv-SE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sv-SE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kumimoji="0" lang="sv-SE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kumimoji="0" lang="sv-SE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𝐴</m:t>
                                </m:r>
                              </m:sup>
                            </m:sSubSup>
                            <m:r>
                              <a:rPr kumimoji="0" lang="sv-SE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5608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</m:oMath>
                        </a14:m>
                        <a:r>
                          <a:rPr kumimoji="0" lang="sv-SE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56082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rPr>
                          <a:t> </a:t>
                        </a:r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kumimoji="0" lang="sv-SE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sv-SE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kumimoji="0" lang="sv-SE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kumimoji="0" lang="sv-SE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𝐴</m:t>
                                </m:r>
                              </m:sup>
                            </m:sSubSup>
                          </m:oMath>
                        </a14:m>
                        <a:endParaRPr kumimoji="0" lang="sv-SE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TextBox 5">
                        <a:extLst>
                          <a:ext uri="{FF2B5EF4-FFF2-40B4-BE49-F238E27FC236}">
                            <a16:creationId xmlns:a16="http://schemas.microsoft.com/office/drawing/2014/main" id="{D31D0C76-471C-0993-505E-1A64B884D6F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501440" y="2979866"/>
                        <a:ext cx="989153" cy="704252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l="-4103" t="-4348" b="-942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sv-SE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" name="TextBox 6">
                        <a:extLst>
                          <a:ext uri="{FF2B5EF4-FFF2-40B4-BE49-F238E27FC236}">
                            <a16:creationId xmlns:a16="http://schemas.microsoft.com/office/drawing/2014/main" id="{0D3E2358-CFE3-D6AD-C3E9-A6CFE7415D5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785573" y="2986535"/>
                        <a:ext cx="1135142" cy="70735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kumimoji="0" lang="sv-SE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sv-SE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sv-SE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kumimoji="0" lang="sv-SE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𝐴</m:t>
                                </m:r>
                              </m:sup>
                            </m:sSubSup>
                          </m:oMath>
                        </a14:m>
                        <a:r>
                          <a:rPr kumimoji="0" lang="sv-SE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56082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rPr>
                          <a:t>,</a:t>
                        </a:r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kumimoji="0" lang="sv-SE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sv-SE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kumimoji="0" lang="sv-SE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kumimoji="0" lang="sv-SE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𝐴</m:t>
                                </m:r>
                              </m:sup>
                            </m:sSubSup>
                            <m:r>
                              <a:rPr kumimoji="0" lang="sv-SE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15608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</m:oMath>
                        </a14:m>
                        <a:r>
                          <a:rPr kumimoji="0" lang="sv-SE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156082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rPr>
                          <a:t> </a:t>
                        </a:r>
                        <a14:m>
                          <m:oMath xmlns:m="http://schemas.openxmlformats.org/officeDocument/2006/math">
                            <m:sSubSup>
                              <m:sSubSupPr>
                                <m:ctrlPr>
                                  <a:rPr kumimoji="0" lang="sv-SE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sv-SE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kumimoji="0" lang="sv-SE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kumimoji="0" lang="sv-SE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15608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𝐴</m:t>
                                </m:r>
                              </m:sup>
                            </m:sSubSup>
                          </m:oMath>
                        </a14:m>
                        <a:endParaRPr kumimoji="0" lang="sv-SE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7" name="TextBox 6">
                        <a:extLst>
                          <a:ext uri="{FF2B5EF4-FFF2-40B4-BE49-F238E27FC236}">
                            <a16:creationId xmlns:a16="http://schemas.microsoft.com/office/drawing/2014/main" id="{0D3E2358-CFE3-D6AD-C3E9-A6CFE7415D5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785573" y="2986535"/>
                        <a:ext cx="1135142" cy="707352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l="-3571" t="-4317" b="-935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sv-SE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91DAB960-DDD8-0600-2AC2-1863E74C37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73475" y="2668942"/>
                  <a:ext cx="3443196" cy="1536407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A8E9061-3CF4-2C27-A497-1CF7B658205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73574" y="1686566"/>
                      <a:ext cx="1362170" cy="87171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kumimoji="0" lang="sv-SE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sv-SE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sv-SE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b>
                            <m:sup>
                              <m:r>
                                <a:rPr kumimoji="0" lang="sv-SE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𝐵</m:t>
                              </m:r>
                            </m:sup>
                          </m:sSubSup>
                        </m:oMath>
                      </a14:m>
                      <a:r>
                        <a:rPr kumimoji="0" lang="sv-SE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,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kumimoji="0" lang="sv-SE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sv-SE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𝑔</m:t>
                              </m:r>
                            </m:e>
                            <m:sub>
                              <m:r>
                                <a:rPr kumimoji="0" lang="sv-SE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b>
                            <m:sup>
                              <m:r>
                                <a:rPr kumimoji="0" lang="sv-SE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𝐵</m:t>
                              </m:r>
                            </m:sup>
                          </m:sSubSup>
                          <m:r>
                            <a:rPr kumimoji="0" lang="sv-SE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5608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</m:oMath>
                      </a14:m>
                      <a:r>
                        <a:rPr kumimoji="0" lang="sv-SE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 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kumimoji="0" lang="sv-SE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sv-SE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0" lang="sv-SE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b>
                            <m:sup>
                              <m:r>
                                <a:rPr kumimoji="0" lang="sv-SE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𝐵</m:t>
                              </m:r>
                            </m:sup>
                          </m:sSubSup>
                        </m:oMath>
                      </a14:m>
                      <a:endParaRPr kumimoji="0" lang="sv-SE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7A8E9061-3CF4-2C27-A497-1CF7B658205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73574" y="1686566"/>
                      <a:ext cx="1362170" cy="871713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587" t="-4895" b="-489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sv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B79F8E24-A2DE-AA62-47E5-4C8E9FE48FC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13298" y="1660219"/>
                      <a:ext cx="1362170" cy="87966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kumimoji="0" lang="sv-SE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sv-SE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sv-SE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</m:t>
                              </m:r>
                            </m:sub>
                            <m:sup>
                              <m:r>
                                <a:rPr kumimoji="0" lang="sv-SE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𝐵</m:t>
                              </m:r>
                            </m:sup>
                          </m:sSubSup>
                        </m:oMath>
                      </a14:m>
                      <a:r>
                        <a:rPr kumimoji="0" lang="sv-SE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,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kumimoji="0" lang="sv-SE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sv-SE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𝑔</m:t>
                              </m:r>
                            </m:e>
                            <m:sub>
                              <m:r>
                                <a:rPr kumimoji="0" lang="sv-SE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</m:t>
                              </m:r>
                            </m:sub>
                            <m:sup>
                              <m:r>
                                <a:rPr kumimoji="0" lang="sv-SE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𝐵</m:t>
                              </m:r>
                            </m:sup>
                          </m:sSubSup>
                          <m:r>
                            <a:rPr kumimoji="0" lang="sv-SE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15608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</m:oMath>
                      </a14:m>
                      <a:r>
                        <a:rPr kumimoji="0" lang="sv-SE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6082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 </a:t>
                      </a:r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kumimoji="0" lang="sv-SE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sv-SE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0" lang="sv-SE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</m:t>
                              </m:r>
                            </m:sub>
                            <m:sup>
                              <m:r>
                                <a:rPr kumimoji="0" lang="sv-SE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15608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𝐵</m:t>
                              </m:r>
                            </m:sup>
                          </m:sSubSup>
                        </m:oMath>
                      </a14:m>
                      <a:endParaRPr kumimoji="0" lang="sv-SE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18" name="TextBox 17">
                      <a:extLst>
                        <a:ext uri="{FF2B5EF4-FFF2-40B4-BE49-F238E27FC236}">
                          <a16:creationId xmlns:a16="http://schemas.microsoft.com/office/drawing/2014/main" id="{B79F8E24-A2DE-AA62-47E5-4C8E9FE48FC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13298" y="1660219"/>
                      <a:ext cx="1362170" cy="879664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4036" t="-3472" b="-62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sv-S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</p:spTree>
    <p:extLst>
      <p:ext uri="{BB962C8B-B14F-4D97-AF65-F5344CB8AC3E}">
        <p14:creationId xmlns:p14="http://schemas.microsoft.com/office/powerpoint/2010/main" val="3103983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8108D-2426-0D97-C6C8-C7E05F066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B6B4B-08A7-4EDA-ECE2-AAAEF17EB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389" y="160034"/>
            <a:ext cx="5074442" cy="597049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300" dirty="0">
                <a:solidFill>
                  <a:schemeClr val="tx1"/>
                </a:solidFill>
                <a:latin typeface="+mn-lt"/>
              </a:rPr>
              <a:t>% This is a small example on how to derive the %matrices using Substructuring Primal and Dual %Assemblies. Substructure A is a three degree-of %freedom system clamped at its left end and %substructure B is a two degree-of-freedom %structure clamped at its right end. The systems %are coupled in their free ends.</a:t>
            </a:r>
          </a:p>
          <a:p>
            <a:pPr marL="0" indent="0">
              <a:buNone/>
            </a:pPr>
            <a:r>
              <a:rPr lang="en-US" sz="3300" dirty="0">
                <a:solidFill>
                  <a:schemeClr val="tx1"/>
                </a:solidFill>
                <a:latin typeface="+mn-lt"/>
              </a:rPr>
              <a:t>%</a:t>
            </a:r>
          </a:p>
          <a:p>
            <a:pPr marL="0" indent="0">
              <a:buNone/>
            </a:pPr>
            <a:r>
              <a:rPr lang="en-US" sz="3300" dirty="0">
                <a:solidFill>
                  <a:schemeClr val="tx1"/>
                </a:solidFill>
                <a:latin typeface="+mn-lt"/>
              </a:rPr>
              <a:t>% 2026-01-12</a:t>
            </a:r>
          </a:p>
          <a:p>
            <a:pPr marL="0" indent="0">
              <a:buNone/>
            </a:pPr>
            <a:r>
              <a:rPr lang="en-US" sz="3300" dirty="0">
                <a:solidFill>
                  <a:schemeClr val="tx1"/>
                </a:solidFill>
                <a:latin typeface="+mn-lt"/>
              </a:rPr>
              <a:t>% Andreas Linderholt, LNU</a:t>
            </a:r>
          </a:p>
          <a:p>
            <a:pPr marL="0" indent="0">
              <a:buNone/>
            </a:pPr>
            <a:r>
              <a:rPr lang="en-US" sz="3300" dirty="0">
                <a:solidFill>
                  <a:schemeClr val="tx1"/>
                </a:solidFill>
                <a:latin typeface="+mn-lt"/>
              </a:rPr>
              <a:t>%------------------------------------------------------------                                                                                           %                                                                                   Initialize</a:t>
            </a:r>
          </a:p>
          <a:p>
            <a:pPr marL="0" indent="0">
              <a:buNone/>
            </a:pPr>
            <a:r>
              <a:rPr lang="en-US" sz="3300" dirty="0">
                <a:solidFill>
                  <a:schemeClr val="tx1"/>
                </a:solidFill>
                <a:latin typeface="+mn-lt"/>
              </a:rPr>
              <a:t>%------------------------------------------------------------</a:t>
            </a:r>
          </a:p>
          <a:p>
            <a:pPr marL="0" indent="0">
              <a:buNone/>
            </a:pPr>
            <a:r>
              <a:rPr lang="en-US" sz="3300" dirty="0">
                <a:solidFill>
                  <a:schemeClr val="tx1"/>
                </a:solidFill>
                <a:latin typeface="+mn-lt"/>
              </a:rPr>
              <a:t>m1=1; m2=1; m3=1; m4=1; m5=1;</a:t>
            </a:r>
          </a:p>
          <a:p>
            <a:pPr marL="0" indent="0">
              <a:buNone/>
            </a:pPr>
            <a:r>
              <a:rPr lang="en-US" sz="3300" dirty="0">
                <a:solidFill>
                  <a:schemeClr val="tx1"/>
                </a:solidFill>
                <a:latin typeface="+mn-lt"/>
              </a:rPr>
              <a:t>c1=1; c2=2; c3=3; c4=4; c5=5;</a:t>
            </a:r>
          </a:p>
          <a:p>
            <a:pPr marL="0" indent="0">
              <a:buNone/>
            </a:pPr>
            <a:r>
              <a:rPr lang="en-US" sz="3300" dirty="0">
                <a:solidFill>
                  <a:schemeClr val="tx1"/>
                </a:solidFill>
                <a:latin typeface="+mn-lt"/>
              </a:rPr>
              <a:t>k1=10000; k2=20000; k3=30000; k4=40000; k5=50000;</a:t>
            </a:r>
          </a:p>
          <a:p>
            <a:pPr marL="0" indent="0">
              <a:buNone/>
            </a:pPr>
            <a:r>
              <a:rPr lang="en-US" sz="3300" dirty="0">
                <a:solidFill>
                  <a:schemeClr val="tx1"/>
                </a:solidFill>
                <a:latin typeface="+mn-lt"/>
              </a:rPr>
              <a:t>%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E18665-9BA0-45B7-9FCA-7CB74C39C4D4}"/>
              </a:ext>
            </a:extLst>
          </p:cNvPr>
          <p:cNvSpPr txBox="1"/>
          <p:nvPr/>
        </p:nvSpPr>
        <p:spPr>
          <a:xfrm>
            <a:off x="5832050" y="-79653"/>
            <a:ext cx="6182295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%--------------------------------------------------------------------------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 </a:t>
            </a:r>
            <a:r>
              <a:rPr kumimoji="0" lang="sv-S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Substructure</a:t>
            </a: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%--------------------------------------------------------------------------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MA=[m1 0 0;0 m2 0;0 0 m3];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CA=[(c1+c2) -c2 0;-c2 (c2+c3) -c3;0 -c3 c3];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KA=[(k1+k2) -k2 0;-k2 (k2+k3) -k3;0 -k3 k3];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FA=[1 0 0]';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GA=['g1';'g2';'g3'];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</a:t>
            </a:r>
            <a:r>
              <a:rPr kumimoji="0" lang="sv-S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rsubA,csubA</a:t>
            </a: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]=</a:t>
            </a:r>
            <a:r>
              <a:rPr kumimoji="0" lang="sv-S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size</a:t>
            </a: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(MA);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%--------------------------------------------------------------------------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 </a:t>
            </a:r>
            <a:r>
              <a:rPr kumimoji="0" lang="sv-S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Substructure</a:t>
            </a: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%--------------------------------------------------------------------------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MB=[m4 0;0 m5];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CB=[c4 -c4;-c4 (c4+c5)];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KB=[k4 -k4;-k4 (k4+k5)];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FB=[0 0]';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GB=['g4';'g5'];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</a:t>
            </a:r>
            <a:r>
              <a:rPr kumimoji="0" lang="sv-S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rsubB,csubB</a:t>
            </a: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]=</a:t>
            </a:r>
            <a:r>
              <a:rPr kumimoji="0" lang="sv-S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size</a:t>
            </a: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(MB);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v-S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45305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4F201-A6D2-6E89-DD5B-48CD552C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55738-D568-1853-7CFD-0E8B184D9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389" y="160034"/>
            <a:ext cx="5074442" cy="597049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sv-SE" sz="6400" dirty="0">
                <a:solidFill>
                  <a:schemeClr val="tx1"/>
                </a:solidFill>
              </a:rPr>
              <a:t>%-----------------------------------------------------------</a:t>
            </a:r>
          </a:p>
          <a:p>
            <a:pPr marL="0" indent="0">
              <a:buNone/>
            </a:pPr>
            <a:r>
              <a:rPr lang="sv-SE" sz="6400" dirty="0">
                <a:solidFill>
                  <a:schemeClr val="tx1"/>
                </a:solidFill>
              </a:rPr>
              <a:t>%                              Block diagonal </a:t>
            </a:r>
            <a:r>
              <a:rPr lang="sv-SE" sz="6400" dirty="0" err="1">
                <a:solidFill>
                  <a:schemeClr val="tx1"/>
                </a:solidFill>
              </a:rPr>
              <a:t>matrices</a:t>
            </a:r>
            <a:r>
              <a:rPr lang="sv-SE" sz="6400" dirty="0">
                <a:solidFill>
                  <a:schemeClr val="tx1"/>
                </a:solidFill>
              </a:rPr>
              <a:t> and </a:t>
            </a:r>
            <a:r>
              <a:rPr lang="sv-SE" sz="6400" dirty="0" err="1">
                <a:solidFill>
                  <a:schemeClr val="tx1"/>
                </a:solidFill>
              </a:rPr>
              <a:t>vectors</a:t>
            </a:r>
            <a:endParaRPr lang="sv-SE" sz="6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sv-SE" sz="6400" dirty="0">
                <a:solidFill>
                  <a:schemeClr val="tx1"/>
                </a:solidFill>
              </a:rPr>
              <a:t>%-----------------------------------------------------------</a:t>
            </a:r>
          </a:p>
          <a:p>
            <a:pPr marL="0" indent="0">
              <a:buNone/>
            </a:pPr>
            <a:r>
              <a:rPr lang="sv-SE" sz="6400" dirty="0">
                <a:solidFill>
                  <a:schemeClr val="tx1"/>
                </a:solidFill>
              </a:rPr>
              <a:t>M=[MA </a:t>
            </a:r>
            <a:r>
              <a:rPr lang="sv-SE" sz="6400" dirty="0" err="1">
                <a:solidFill>
                  <a:schemeClr val="tx1"/>
                </a:solidFill>
              </a:rPr>
              <a:t>zeros</a:t>
            </a:r>
            <a:r>
              <a:rPr lang="sv-SE" sz="6400" dirty="0">
                <a:solidFill>
                  <a:schemeClr val="tx1"/>
                </a:solidFill>
              </a:rPr>
              <a:t>(</a:t>
            </a:r>
            <a:r>
              <a:rPr lang="sv-SE" sz="6400" dirty="0" err="1">
                <a:solidFill>
                  <a:schemeClr val="tx1"/>
                </a:solidFill>
              </a:rPr>
              <a:t>rsubA,csubB</a:t>
            </a:r>
            <a:r>
              <a:rPr lang="sv-SE" sz="6400" dirty="0">
                <a:solidFill>
                  <a:schemeClr val="tx1"/>
                </a:solidFill>
              </a:rPr>
              <a:t>);</a:t>
            </a:r>
            <a:r>
              <a:rPr lang="sv-SE" sz="6400" dirty="0" err="1">
                <a:solidFill>
                  <a:schemeClr val="tx1"/>
                </a:solidFill>
              </a:rPr>
              <a:t>zeros</a:t>
            </a:r>
            <a:r>
              <a:rPr lang="sv-SE" sz="6400" dirty="0">
                <a:solidFill>
                  <a:schemeClr val="tx1"/>
                </a:solidFill>
              </a:rPr>
              <a:t>(</a:t>
            </a:r>
            <a:r>
              <a:rPr lang="sv-SE" sz="6400" dirty="0" err="1">
                <a:solidFill>
                  <a:schemeClr val="tx1"/>
                </a:solidFill>
              </a:rPr>
              <a:t>rsubB,csubA</a:t>
            </a:r>
            <a:r>
              <a:rPr lang="sv-SE" sz="6400" dirty="0">
                <a:solidFill>
                  <a:schemeClr val="tx1"/>
                </a:solidFill>
              </a:rPr>
              <a:t>) MB];</a:t>
            </a:r>
          </a:p>
          <a:p>
            <a:pPr marL="0" indent="0">
              <a:buNone/>
            </a:pPr>
            <a:r>
              <a:rPr lang="sv-SE" sz="6400" dirty="0">
                <a:solidFill>
                  <a:schemeClr val="tx1"/>
                </a:solidFill>
              </a:rPr>
              <a:t>C=[CA </a:t>
            </a:r>
            <a:r>
              <a:rPr lang="sv-SE" sz="6400" dirty="0" err="1">
                <a:solidFill>
                  <a:schemeClr val="tx1"/>
                </a:solidFill>
              </a:rPr>
              <a:t>zeros</a:t>
            </a:r>
            <a:r>
              <a:rPr lang="sv-SE" sz="6400" dirty="0">
                <a:solidFill>
                  <a:schemeClr val="tx1"/>
                </a:solidFill>
              </a:rPr>
              <a:t>(</a:t>
            </a:r>
            <a:r>
              <a:rPr lang="sv-SE" sz="6400" dirty="0" err="1">
                <a:solidFill>
                  <a:schemeClr val="tx1"/>
                </a:solidFill>
              </a:rPr>
              <a:t>rsubA,csubB</a:t>
            </a:r>
            <a:r>
              <a:rPr lang="sv-SE" sz="6400" dirty="0">
                <a:solidFill>
                  <a:schemeClr val="tx1"/>
                </a:solidFill>
              </a:rPr>
              <a:t>);</a:t>
            </a:r>
            <a:r>
              <a:rPr lang="sv-SE" sz="6400" dirty="0" err="1">
                <a:solidFill>
                  <a:schemeClr val="tx1"/>
                </a:solidFill>
              </a:rPr>
              <a:t>zeros</a:t>
            </a:r>
            <a:r>
              <a:rPr lang="sv-SE" sz="6400" dirty="0">
                <a:solidFill>
                  <a:schemeClr val="tx1"/>
                </a:solidFill>
              </a:rPr>
              <a:t>(</a:t>
            </a:r>
            <a:r>
              <a:rPr lang="sv-SE" sz="6400" dirty="0" err="1">
                <a:solidFill>
                  <a:schemeClr val="tx1"/>
                </a:solidFill>
              </a:rPr>
              <a:t>rsubB,csubA</a:t>
            </a:r>
            <a:r>
              <a:rPr lang="sv-SE" sz="6400" dirty="0">
                <a:solidFill>
                  <a:schemeClr val="tx1"/>
                </a:solidFill>
              </a:rPr>
              <a:t>) CB];</a:t>
            </a:r>
          </a:p>
          <a:p>
            <a:pPr marL="0" indent="0">
              <a:buNone/>
            </a:pPr>
            <a:r>
              <a:rPr lang="sv-SE" sz="6400" dirty="0">
                <a:solidFill>
                  <a:schemeClr val="tx1"/>
                </a:solidFill>
              </a:rPr>
              <a:t>K=[KA </a:t>
            </a:r>
            <a:r>
              <a:rPr lang="sv-SE" sz="6400" dirty="0" err="1">
                <a:solidFill>
                  <a:schemeClr val="tx1"/>
                </a:solidFill>
              </a:rPr>
              <a:t>zeros</a:t>
            </a:r>
            <a:r>
              <a:rPr lang="sv-SE" sz="6400" dirty="0">
                <a:solidFill>
                  <a:schemeClr val="tx1"/>
                </a:solidFill>
              </a:rPr>
              <a:t>(</a:t>
            </a:r>
            <a:r>
              <a:rPr lang="sv-SE" sz="6400" dirty="0" err="1">
                <a:solidFill>
                  <a:schemeClr val="tx1"/>
                </a:solidFill>
              </a:rPr>
              <a:t>rsubA,csubB</a:t>
            </a:r>
            <a:r>
              <a:rPr lang="sv-SE" sz="6400" dirty="0">
                <a:solidFill>
                  <a:schemeClr val="tx1"/>
                </a:solidFill>
              </a:rPr>
              <a:t>);</a:t>
            </a:r>
            <a:r>
              <a:rPr lang="sv-SE" sz="6400" dirty="0" err="1">
                <a:solidFill>
                  <a:schemeClr val="tx1"/>
                </a:solidFill>
              </a:rPr>
              <a:t>zeros</a:t>
            </a:r>
            <a:r>
              <a:rPr lang="sv-SE" sz="6400" dirty="0">
                <a:solidFill>
                  <a:schemeClr val="tx1"/>
                </a:solidFill>
              </a:rPr>
              <a:t>(</a:t>
            </a:r>
            <a:r>
              <a:rPr lang="sv-SE" sz="6400" dirty="0" err="1">
                <a:solidFill>
                  <a:schemeClr val="tx1"/>
                </a:solidFill>
              </a:rPr>
              <a:t>rsubB,csubA</a:t>
            </a:r>
            <a:r>
              <a:rPr lang="sv-SE" sz="6400" dirty="0">
                <a:solidFill>
                  <a:schemeClr val="tx1"/>
                </a:solidFill>
              </a:rPr>
              <a:t>) KB];</a:t>
            </a:r>
          </a:p>
          <a:p>
            <a:pPr marL="0" indent="0">
              <a:buNone/>
            </a:pPr>
            <a:r>
              <a:rPr lang="sv-SE" sz="6400" dirty="0">
                <a:solidFill>
                  <a:schemeClr val="tx1"/>
                </a:solidFill>
              </a:rPr>
              <a:t>F=[FA;FB];</a:t>
            </a:r>
          </a:p>
          <a:p>
            <a:pPr marL="0" indent="0">
              <a:buNone/>
            </a:pPr>
            <a:r>
              <a:rPr lang="sv-SE" sz="6400" dirty="0">
                <a:solidFill>
                  <a:schemeClr val="tx1"/>
                </a:solidFill>
              </a:rPr>
              <a:t>G=[GA;GB];</a:t>
            </a:r>
          </a:p>
          <a:p>
            <a:pPr marL="0" indent="0">
              <a:buNone/>
            </a:pPr>
            <a:r>
              <a:rPr lang="sv-SE" sz="6400" dirty="0">
                <a:solidFill>
                  <a:schemeClr val="tx1"/>
                </a:solidFill>
              </a:rPr>
              <a:t>%</a:t>
            </a:r>
          </a:p>
          <a:p>
            <a:pPr marL="0" indent="0">
              <a:buNone/>
            </a:pPr>
            <a:r>
              <a:rPr lang="sv-SE" sz="6400" dirty="0">
                <a:solidFill>
                  <a:schemeClr val="tx1"/>
                </a:solidFill>
              </a:rPr>
              <a:t>%-----------------------------------------------------------</a:t>
            </a:r>
          </a:p>
          <a:p>
            <a:pPr marL="0" indent="0">
              <a:buNone/>
            </a:pPr>
            <a:r>
              <a:rPr lang="sv-SE" sz="6400" dirty="0">
                <a:solidFill>
                  <a:schemeClr val="tx1"/>
                </a:solidFill>
              </a:rPr>
              <a:t>%                                                 The </a:t>
            </a:r>
            <a:r>
              <a:rPr lang="sv-SE" sz="6400" dirty="0" err="1">
                <a:solidFill>
                  <a:schemeClr val="tx1"/>
                </a:solidFill>
              </a:rPr>
              <a:t>compatibility</a:t>
            </a:r>
            <a:r>
              <a:rPr lang="sv-SE" sz="6400" dirty="0">
                <a:solidFill>
                  <a:schemeClr val="tx1"/>
                </a:solidFill>
              </a:rPr>
              <a:t> matrix, B</a:t>
            </a:r>
          </a:p>
          <a:p>
            <a:pPr marL="0" indent="0">
              <a:buNone/>
            </a:pPr>
            <a:r>
              <a:rPr lang="sv-SE" sz="6400" dirty="0">
                <a:solidFill>
                  <a:schemeClr val="tx1"/>
                </a:solidFill>
              </a:rPr>
              <a:t>%-----------------------------------------------------------</a:t>
            </a:r>
          </a:p>
          <a:p>
            <a:pPr marL="0" indent="0">
              <a:buNone/>
            </a:pPr>
            <a:r>
              <a:rPr lang="sv-SE" sz="6400" dirty="0">
                <a:solidFill>
                  <a:schemeClr val="tx1"/>
                </a:solidFill>
              </a:rPr>
              <a:t>B=[0 0 1 -1 0];</a:t>
            </a:r>
          </a:p>
          <a:p>
            <a:pPr marL="0" indent="0">
              <a:buNone/>
            </a:pPr>
            <a:r>
              <a:rPr lang="sv-SE" sz="6400" dirty="0">
                <a:solidFill>
                  <a:schemeClr val="tx1"/>
                </a:solidFill>
              </a:rPr>
              <a:t>[</a:t>
            </a:r>
            <a:r>
              <a:rPr lang="sv-SE" sz="6400" dirty="0" err="1">
                <a:solidFill>
                  <a:schemeClr val="tx1"/>
                </a:solidFill>
              </a:rPr>
              <a:t>rB,cB</a:t>
            </a:r>
            <a:r>
              <a:rPr lang="sv-SE" sz="6400" dirty="0">
                <a:solidFill>
                  <a:schemeClr val="tx1"/>
                </a:solidFill>
              </a:rPr>
              <a:t>]=</a:t>
            </a:r>
            <a:r>
              <a:rPr lang="sv-SE" sz="6400" dirty="0" err="1">
                <a:solidFill>
                  <a:schemeClr val="tx1"/>
                </a:solidFill>
              </a:rPr>
              <a:t>size</a:t>
            </a:r>
            <a:r>
              <a:rPr lang="sv-SE" sz="6400" dirty="0">
                <a:solidFill>
                  <a:schemeClr val="tx1"/>
                </a:solidFill>
              </a:rPr>
              <a:t>(B);</a:t>
            </a:r>
          </a:p>
          <a:p>
            <a:pPr marL="0" indent="0">
              <a:buNone/>
            </a:pPr>
            <a:r>
              <a:rPr lang="sv-SE" sz="6400" dirty="0">
                <a:solidFill>
                  <a:schemeClr val="tx1"/>
                </a:solidFill>
              </a:rPr>
              <a:t>%</a:t>
            </a:r>
          </a:p>
          <a:p>
            <a:pPr marL="0" indent="0">
              <a:buNone/>
            </a:pPr>
            <a:r>
              <a:rPr lang="sv-SE" sz="6400" dirty="0">
                <a:solidFill>
                  <a:schemeClr val="tx1"/>
                </a:solidFill>
              </a:rPr>
              <a:t>%-----------------------------------------------------------</a:t>
            </a:r>
          </a:p>
          <a:p>
            <a:pPr marL="0" indent="0">
              <a:buNone/>
            </a:pPr>
            <a:r>
              <a:rPr lang="sv-SE" sz="6400" dirty="0">
                <a:solidFill>
                  <a:schemeClr val="tx1"/>
                </a:solidFill>
              </a:rPr>
              <a:t>%                                                       The </a:t>
            </a:r>
            <a:r>
              <a:rPr lang="sv-SE" sz="6400" dirty="0" err="1">
                <a:solidFill>
                  <a:schemeClr val="tx1"/>
                </a:solidFill>
              </a:rPr>
              <a:t>localization</a:t>
            </a:r>
            <a:r>
              <a:rPr lang="sv-SE" sz="6400" dirty="0">
                <a:solidFill>
                  <a:schemeClr val="tx1"/>
                </a:solidFill>
              </a:rPr>
              <a:t> matrix, L</a:t>
            </a:r>
          </a:p>
          <a:p>
            <a:pPr marL="0" indent="0">
              <a:buNone/>
            </a:pPr>
            <a:r>
              <a:rPr lang="sv-SE" sz="6400" dirty="0">
                <a:solidFill>
                  <a:schemeClr val="tx1"/>
                </a:solidFill>
              </a:rPr>
              <a:t>%-----------------------------------------------------------</a:t>
            </a:r>
          </a:p>
          <a:p>
            <a:pPr marL="0" indent="0">
              <a:buNone/>
            </a:pPr>
            <a:r>
              <a:rPr lang="sv-SE" sz="6400" dirty="0">
                <a:solidFill>
                  <a:schemeClr val="tx1"/>
                </a:solidFill>
              </a:rPr>
              <a:t>L=[1 0 0 0;0 1 0 0;0 0 1 0;0 0 1 0;0 0 0 1];</a:t>
            </a:r>
          </a:p>
          <a:p>
            <a:pPr marL="0" indent="0">
              <a:buNone/>
            </a:pPr>
            <a:r>
              <a:rPr lang="sv-SE" sz="6400" dirty="0">
                <a:solidFill>
                  <a:schemeClr val="tx1"/>
                </a:solidFill>
              </a:rPr>
              <a:t>%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D9518B0-EC08-5BBC-2A47-838D7F9B0734}"/>
              </a:ext>
            </a:extLst>
          </p:cNvPr>
          <p:cNvSpPr txBox="1">
            <a:spLocks/>
          </p:cNvSpPr>
          <p:nvPr/>
        </p:nvSpPr>
        <p:spPr>
          <a:xfrm>
            <a:off x="5387739" y="160034"/>
            <a:ext cx="5830157" cy="597049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%-------------------------------------------------------------------------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%                                                                             The </a:t>
            </a: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three</a:t>
            </a: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field</a:t>
            </a: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formulation</a:t>
            </a:r>
            <a:endParaRPr kumimoji="0" lang="sv-SE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%-------------------------------------------------------------------------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% </a:t>
            </a: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Mx_dot_dot+Cx_dot+K</a:t>
            </a: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=F+G   (1)  </a:t>
            </a: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Governing</a:t>
            </a: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equation</a:t>
            </a: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of motion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% </a:t>
            </a: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Bx</a:t>
            </a: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=0                                                   (2)                                   </a:t>
            </a: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Compatibility</a:t>
            </a:r>
            <a:endParaRPr kumimoji="0" lang="sv-SE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% L'G=0                                                  (3)                                       </a:t>
            </a: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Equilibrium</a:t>
            </a:r>
            <a:endParaRPr kumimoji="0" lang="sv-SE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%--------------------------------------------------------------------------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%                                                                                                  Primal </a:t>
            </a: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assembly</a:t>
            </a:r>
            <a:endParaRPr kumimoji="0" lang="sv-SE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%--------------------------------------------------------------------------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% x=</a:t>
            </a: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Lxglobal</a:t>
            </a: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=</a:t>
            </a: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Lxg</a:t>
            </a: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                            (4)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% (4) in (1) and pre-</a:t>
            </a: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multiply</a:t>
            </a: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</a:t>
            </a: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with</a:t>
            </a: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L' ==&gt;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% </a:t>
            </a: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L'MLxg_dot_dot+L'CLxg_dot+L'KLxg</a:t>
            </a: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=L'F+L'G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% </a:t>
            </a: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using</a:t>
            </a: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 (3) ==&gt; </a:t>
            </a: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L'MLxg_dot_dot+L'CLxg_dot+L'KLxg</a:t>
            </a: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=L'F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Mprimal</a:t>
            </a: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=L'*M*L , </a:t>
            </a: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Cprimal</a:t>
            </a: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=L'*C*L , </a:t>
            </a: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Kprimal</a:t>
            </a: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=L'*K*L , </a:t>
            </a:r>
            <a:r>
              <a:rPr kumimoji="0" lang="sv-SE" sz="6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Fprimal</a:t>
            </a: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=L'*F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6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366580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1BDB2-46D9-2185-4356-B8763467E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C9F2D4-0A2C-ECC2-AA5D-54748489315B}"/>
              </a:ext>
            </a:extLst>
          </p:cNvPr>
          <p:cNvSpPr txBox="1"/>
          <p:nvPr/>
        </p:nvSpPr>
        <p:spPr>
          <a:xfrm>
            <a:off x="782684" y="130756"/>
            <a:ext cx="711723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%-------------------------------------------------------------------------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                                                                                            Dual 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assembly</a:t>
            </a:r>
            <a:endParaRPr kumimoji="0" lang="sv-S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%-------------------------------------------------------------------------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 G=-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B'Lambda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==&gt; (3) ==&gt; L'(-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B'Lambda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)=-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L'B'Lambda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=-(BL)'Lambda==0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 (3) is, by the choice of G, fulfilled and (1)==&gt;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 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Mx_dot_dot+Cx_dot+K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=F-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B'Lambda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==&gt; 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Mx_dot_dot+Cx_dot+K+B'Lambda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=F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 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With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the 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displacement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vector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[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x;Lambda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] etc.: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Mdual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=[M 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zeros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cB,rB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);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zeros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rB,cB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 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zeros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rB,rB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Cdual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=[C 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zeros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cB,rB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);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zeros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rB,cB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 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zeros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rB,rB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Kdual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=[K B';B 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zeros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rB,rB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Fdual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=[</a:t>
            </a:r>
            <a:r>
              <a:rPr kumimoji="0" lang="sv-S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F;zeros</a:t>
            </a:r>
            <a:r>
              <a:rPr kumimoji="0" lang="sv-SE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(rB,1)]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v-S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7747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AA10-9E63-EDDD-3B6A-A02EBE69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Coupling in the physical domain;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E5F0CE-8835-19E1-25AE-0C967ED74D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91158" y="1027301"/>
                <a:ext cx="4266943" cy="111095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sv-S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acc>
                                  <m:accPr>
                                    <m:chr m:val="̈"/>
                                    <m:ctrlP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𝐾𝑋</m:t>
                                </m:r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r>
                                  <m:rPr>
                                    <m:nor/>
                                  </m:rPr>
                                  <a:rPr lang="sv-SE" sz="2400" dirty="0"/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𝐵𝑋</m:t>
                                </m:r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sv-SE" sz="24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r>
                                  <a:rPr lang="sv-SE" sz="2400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  <m:r>
                                  <m:rPr>
                                    <m:nor/>
                                  </m:rPr>
                                  <a:rPr lang="sv-SE" sz="2400" dirty="0"/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E5F0CE-8835-19E1-25AE-0C967ED74D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91158" y="1027301"/>
                <a:ext cx="4266943" cy="111095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42D2680-C406-A216-5A70-433BAA6DB6E9}"/>
              </a:ext>
            </a:extLst>
          </p:cNvPr>
          <p:cNvSpPr txBox="1"/>
          <p:nvPr/>
        </p:nvSpPr>
        <p:spPr>
          <a:xfrm>
            <a:off x="7915274" y="1351943"/>
            <a:ext cx="2493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solidFill>
                  <a:schemeClr val="accent1"/>
                </a:solidFill>
                <a:latin typeface="+mj-lt"/>
              </a:rPr>
              <a:t>Three-</a:t>
            </a:r>
            <a:r>
              <a:rPr lang="sv-SE" sz="2400" dirty="0" err="1">
                <a:solidFill>
                  <a:schemeClr val="accent1"/>
                </a:solidFill>
                <a:latin typeface="+mj-lt"/>
              </a:rPr>
              <a:t>field</a:t>
            </a:r>
            <a:r>
              <a:rPr lang="sv-SE" sz="2400" dirty="0">
                <a:solidFill>
                  <a:schemeClr val="accent1"/>
                </a:solidFill>
                <a:latin typeface="+mj-lt"/>
              </a:rPr>
              <a:t> 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8DD227-04F5-4276-FCC9-80BF849DDBE5}"/>
              </a:ext>
            </a:extLst>
          </p:cNvPr>
          <p:cNvSpPr/>
          <p:nvPr/>
        </p:nvSpPr>
        <p:spPr>
          <a:xfrm>
            <a:off x="3391158" y="961577"/>
            <a:ext cx="4266944" cy="117667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F870F2F8-8D8E-A4A6-2260-432DD744026C}"/>
              </a:ext>
            </a:extLst>
          </p:cNvPr>
          <p:cNvSpPr/>
          <p:nvPr/>
        </p:nvSpPr>
        <p:spPr>
          <a:xfrm rot="2416670">
            <a:off x="2837041" y="2109183"/>
            <a:ext cx="336190" cy="9963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9E4549-9BAE-9DF1-5F5C-575ACAE03292}"/>
                  </a:ext>
                </a:extLst>
              </p:cNvPr>
              <p:cNvSpPr txBox="1"/>
              <p:nvPr/>
            </p:nvSpPr>
            <p:spPr>
              <a:xfrm>
                <a:off x="383638" y="3188083"/>
                <a:ext cx="4916330" cy="511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sSub>
                      <m:sSubPr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𝑔𝑙𝑜𝑏𝑎𝑙</m:t>
                        </m:r>
                      </m:sub>
                    </m:sSub>
                    <m:r>
                      <a:rPr lang="sv-SE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sSub>
                      <m:sSubPr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𝑔𝑙𝑜𝑏𝑎𝑙</m:t>
                        </m:r>
                      </m:sub>
                    </m:sSub>
                    <m:r>
                      <a:rPr lang="sv-SE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sSub>
                      <m:sSubPr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𝑔𝑙𝑜𝑏𝑎𝑙</m:t>
                        </m:r>
                      </m:sub>
                    </m:sSub>
                    <m:r>
                      <a:rPr lang="sv-SE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</m:oMath>
                </a14:m>
                <a:endParaRPr lang="sv-SE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9E4549-9BAE-9DF1-5F5C-575ACAE03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38" y="3188083"/>
                <a:ext cx="4916330" cy="5118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0DE3F0FE-D0D1-83F6-6B00-09977359BA15}"/>
              </a:ext>
            </a:extLst>
          </p:cNvPr>
          <p:cNvSpPr/>
          <p:nvPr/>
        </p:nvSpPr>
        <p:spPr>
          <a:xfrm>
            <a:off x="328613" y="3188083"/>
            <a:ext cx="4971355" cy="53896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CF6DC9A2-088D-1BC1-29EF-461179491DF8}"/>
              </a:ext>
            </a:extLst>
          </p:cNvPr>
          <p:cNvSpPr/>
          <p:nvPr/>
        </p:nvSpPr>
        <p:spPr>
          <a:xfrm rot="19547377">
            <a:off x="7836172" y="2146561"/>
            <a:ext cx="336190" cy="9963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6F08E04-798D-7640-FF35-097F696F1847}"/>
                  </a:ext>
                </a:extLst>
              </p:cNvPr>
              <p:cNvSpPr txBox="1"/>
              <p:nvPr/>
            </p:nvSpPr>
            <p:spPr>
              <a:xfrm>
                <a:off x="5907882" y="3096118"/>
                <a:ext cx="6107906" cy="1049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sv-SE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sv-SE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e>
                              <m:r>
                                <a:rPr lang="sv-SE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sv-SE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sv-SE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̈"/>
                                  <m:ctrlP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̈"/>
                                  <m:ctrlP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r>
                  <a:rPr lang="sv-SE" sz="2400" dirty="0">
                    <a:solidFill>
                      <a:schemeClr val="accent1"/>
                    </a:solidFill>
                    <a:latin typeface="+mj-lt"/>
                  </a:rPr>
                  <a:t>+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sv-SE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e>
                              <m:r>
                                <a:rPr lang="sv-SE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sv-SE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sv-SE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sv-SE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sv-SE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sv-SE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sv-SE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sv-SE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sv-SE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r>
                      <a:rPr lang="sv-SE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sv-SE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sv-SE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sv-SE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mr>
                          <m:mr>
                            <m:e>
                              <m:r>
                                <a:rPr lang="sv-SE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sv-SE" sz="2400" dirty="0">
                  <a:latin typeface="+mj-lt"/>
                </a:endParaRPr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6F08E04-798D-7640-FF35-097F696F1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882" y="3096118"/>
                <a:ext cx="6107906" cy="10498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8825DBE2-07BD-8BA1-609B-68C10395E49D}"/>
              </a:ext>
            </a:extLst>
          </p:cNvPr>
          <p:cNvSpPr/>
          <p:nvPr/>
        </p:nvSpPr>
        <p:spPr>
          <a:xfrm>
            <a:off x="5907882" y="3151246"/>
            <a:ext cx="6050756" cy="670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DEC1D6-5975-E189-64F4-4889E4FCEB6B}"/>
              </a:ext>
            </a:extLst>
          </p:cNvPr>
          <p:cNvSpPr txBox="1"/>
          <p:nvPr/>
        </p:nvSpPr>
        <p:spPr>
          <a:xfrm>
            <a:off x="3314700" y="2376536"/>
            <a:ext cx="1128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solidFill>
                  <a:schemeClr val="accent1"/>
                </a:solidFill>
                <a:latin typeface="+mj-lt"/>
              </a:rPr>
              <a:t>Primal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986980-C4F9-6381-14C3-E04A81090954}"/>
              </a:ext>
            </a:extLst>
          </p:cNvPr>
          <p:cNvSpPr txBox="1"/>
          <p:nvPr/>
        </p:nvSpPr>
        <p:spPr>
          <a:xfrm>
            <a:off x="6847954" y="2376536"/>
            <a:ext cx="900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solidFill>
                  <a:schemeClr val="accent1"/>
                </a:solidFill>
                <a:latin typeface="+mj-lt"/>
              </a:rPr>
              <a:t>Dual</a:t>
            </a:r>
          </a:p>
        </p:txBody>
      </p:sp>
      <p:grpSp>
        <p:nvGrpSpPr>
          <p:cNvPr id="17" name="Group 28">
            <a:extLst>
              <a:ext uri="{FF2B5EF4-FFF2-40B4-BE49-F238E27FC236}">
                <a16:creationId xmlns:a16="http://schemas.microsoft.com/office/drawing/2014/main" id="{02A7022D-1C5D-4FC3-E300-D9D822A73CA8}"/>
              </a:ext>
            </a:extLst>
          </p:cNvPr>
          <p:cNvGrpSpPr>
            <a:grpSpLocks/>
          </p:cNvGrpSpPr>
          <p:nvPr/>
        </p:nvGrpSpPr>
        <p:grpSpPr bwMode="auto">
          <a:xfrm>
            <a:off x="2231762" y="3971021"/>
            <a:ext cx="646112" cy="2616200"/>
            <a:chOff x="0" y="0"/>
            <a:chExt cx="695" cy="2424"/>
          </a:xfrm>
        </p:grpSpPr>
        <p:grpSp>
          <p:nvGrpSpPr>
            <p:cNvPr id="18" name="Group 16">
              <a:extLst>
                <a:ext uri="{FF2B5EF4-FFF2-40B4-BE49-F238E27FC236}">
                  <a16:creationId xmlns:a16="http://schemas.microsoft.com/office/drawing/2014/main" id="{BB6C8188-8081-F17C-7163-595F5A892D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695" cy="2424"/>
              <a:chOff x="0" y="0"/>
              <a:chExt cx="695" cy="2424"/>
            </a:xfrm>
          </p:grpSpPr>
          <p:pic>
            <p:nvPicPr>
              <p:cNvPr id="30" name="Picture 12">
                <a:extLst>
                  <a:ext uri="{FF2B5EF4-FFF2-40B4-BE49-F238E27FC236}">
                    <a16:creationId xmlns:a16="http://schemas.microsoft.com/office/drawing/2014/main" id="{16573561-1AB6-99B4-E9BB-7962AC37047B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5180" t="33290" r="43457" b="3670"/>
              <a:stretch>
                <a:fillRect/>
              </a:stretch>
            </p:blipFill>
            <p:spPr bwMode="auto">
              <a:xfrm>
                <a:off x="0" y="642"/>
                <a:ext cx="240" cy="17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" name="Picture 13">
                <a:extLst>
                  <a:ext uri="{FF2B5EF4-FFF2-40B4-BE49-F238E27FC236}">
                    <a16:creationId xmlns:a16="http://schemas.microsoft.com/office/drawing/2014/main" id="{12F7A405-D397-F310-A548-06EE646C70B9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2948" t="33290" r="14827" b="3671"/>
              <a:stretch>
                <a:fillRect/>
              </a:stretch>
            </p:blipFill>
            <p:spPr bwMode="auto">
              <a:xfrm>
                <a:off x="437" y="664"/>
                <a:ext cx="258" cy="17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2" name="Picture 14">
                <a:extLst>
                  <a:ext uri="{FF2B5EF4-FFF2-40B4-BE49-F238E27FC236}">
                    <a16:creationId xmlns:a16="http://schemas.microsoft.com/office/drawing/2014/main" id="{860B419D-CAC4-CB84-2256-C465C448A93F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263" r="29144" b="69080"/>
              <a:stretch>
                <a:fillRect/>
              </a:stretch>
            </p:blipFill>
            <p:spPr bwMode="auto">
              <a:xfrm>
                <a:off x="194" y="0"/>
                <a:ext cx="288" cy="8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3" name="Picture 15">
                <a:extLst>
                  <a:ext uri="{FF2B5EF4-FFF2-40B4-BE49-F238E27FC236}">
                    <a16:creationId xmlns:a16="http://schemas.microsoft.com/office/drawing/2014/main" id="{48DD499D-FD55-4FB4-1A5E-9105AB61C71C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953" t="34949" r="28694" b="3670"/>
              <a:stretch>
                <a:fillRect/>
              </a:stretch>
            </p:blipFill>
            <p:spPr bwMode="auto">
              <a:xfrm>
                <a:off x="204" y="764"/>
                <a:ext cx="283" cy="16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9" name="Oval 17">
              <a:extLst>
                <a:ext uri="{FF2B5EF4-FFF2-40B4-BE49-F238E27FC236}">
                  <a16:creationId xmlns:a16="http://schemas.microsoft.com/office/drawing/2014/main" id="{2E6B5C5C-FCDF-73DC-2667-CED17EFD1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" y="836"/>
              <a:ext cx="71" cy="71"/>
            </a:xfrm>
            <a:prstGeom prst="ellipse">
              <a:avLst/>
            </a:prstGeom>
            <a:solidFill>
              <a:srgbClr val="FC003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de-DE" altLang="de-DE">
                <a:solidFill>
                  <a:prstClr val="black"/>
                </a:solidFill>
              </a:endParaRPr>
            </a:p>
          </p:txBody>
        </p:sp>
        <p:sp>
          <p:nvSpPr>
            <p:cNvPr id="20" name="Oval 18">
              <a:extLst>
                <a:ext uri="{FF2B5EF4-FFF2-40B4-BE49-F238E27FC236}">
                  <a16:creationId xmlns:a16="http://schemas.microsoft.com/office/drawing/2014/main" id="{814752F1-2657-A2EE-8EF5-EFE18C027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" y="934"/>
              <a:ext cx="71" cy="70"/>
            </a:xfrm>
            <a:prstGeom prst="ellipse">
              <a:avLst/>
            </a:prstGeom>
            <a:solidFill>
              <a:srgbClr val="FC003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de-DE" altLang="de-DE">
                <a:solidFill>
                  <a:prstClr val="black"/>
                </a:solidFill>
              </a:endParaRPr>
            </a:p>
          </p:txBody>
        </p:sp>
        <p:sp>
          <p:nvSpPr>
            <p:cNvPr id="21" name="Oval 19">
              <a:extLst>
                <a:ext uri="{FF2B5EF4-FFF2-40B4-BE49-F238E27FC236}">
                  <a16:creationId xmlns:a16="http://schemas.microsoft.com/office/drawing/2014/main" id="{E746A92A-E3E9-891F-870E-5D4F8E9BE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" y="739"/>
              <a:ext cx="71" cy="71"/>
            </a:xfrm>
            <a:prstGeom prst="ellipse">
              <a:avLst/>
            </a:prstGeom>
            <a:solidFill>
              <a:srgbClr val="FC003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de-DE" altLang="de-DE">
                <a:solidFill>
                  <a:prstClr val="black"/>
                </a:solidFill>
              </a:endParaRPr>
            </a:p>
          </p:txBody>
        </p:sp>
        <p:sp>
          <p:nvSpPr>
            <p:cNvPr id="22" name="Oval 20">
              <a:extLst>
                <a:ext uri="{FF2B5EF4-FFF2-40B4-BE49-F238E27FC236}">
                  <a16:creationId xmlns:a16="http://schemas.microsoft.com/office/drawing/2014/main" id="{E0DAF00A-9942-E5C3-DD32-AE186B03A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" y="845"/>
              <a:ext cx="70" cy="71"/>
            </a:xfrm>
            <a:prstGeom prst="ellipse">
              <a:avLst/>
            </a:prstGeom>
            <a:solidFill>
              <a:srgbClr val="FC003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de-DE" altLang="de-DE">
                <a:solidFill>
                  <a:prstClr val="black"/>
                </a:solidFill>
              </a:endParaRPr>
            </a:p>
          </p:txBody>
        </p:sp>
        <p:sp>
          <p:nvSpPr>
            <p:cNvPr id="23" name="Oval 21">
              <a:extLst>
                <a:ext uri="{FF2B5EF4-FFF2-40B4-BE49-F238E27FC236}">
                  <a16:creationId xmlns:a16="http://schemas.microsoft.com/office/drawing/2014/main" id="{73D3C000-37D0-9EFC-7D3D-CF367E343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" y="942"/>
              <a:ext cx="70" cy="71"/>
            </a:xfrm>
            <a:prstGeom prst="ellipse">
              <a:avLst/>
            </a:prstGeom>
            <a:solidFill>
              <a:srgbClr val="FC003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de-DE" altLang="de-DE">
                <a:solidFill>
                  <a:prstClr val="black"/>
                </a:solidFill>
              </a:endParaRPr>
            </a:p>
          </p:txBody>
        </p:sp>
        <p:sp>
          <p:nvSpPr>
            <p:cNvPr id="24" name="Oval 22">
              <a:extLst>
                <a:ext uri="{FF2B5EF4-FFF2-40B4-BE49-F238E27FC236}">
                  <a16:creationId xmlns:a16="http://schemas.microsoft.com/office/drawing/2014/main" id="{1E520CA0-C7A1-0ADC-2C98-1FB47C79F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" y="748"/>
              <a:ext cx="70" cy="71"/>
            </a:xfrm>
            <a:prstGeom prst="ellipse">
              <a:avLst/>
            </a:prstGeom>
            <a:solidFill>
              <a:srgbClr val="FC003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de-DE" altLang="de-DE">
                <a:solidFill>
                  <a:prstClr val="black"/>
                </a:solidFill>
              </a:endParaRPr>
            </a:p>
          </p:txBody>
        </p:sp>
        <p:sp>
          <p:nvSpPr>
            <p:cNvPr id="25" name="Oval 23">
              <a:extLst>
                <a:ext uri="{FF2B5EF4-FFF2-40B4-BE49-F238E27FC236}">
                  <a16:creationId xmlns:a16="http://schemas.microsoft.com/office/drawing/2014/main" id="{C4A5920D-7D24-45B1-6A96-27CD68E11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" y="681"/>
              <a:ext cx="70" cy="71"/>
            </a:xfrm>
            <a:prstGeom prst="ellipse">
              <a:avLst/>
            </a:prstGeom>
            <a:solidFill>
              <a:srgbClr val="FC003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de-DE" altLang="de-DE">
                <a:solidFill>
                  <a:prstClr val="black"/>
                </a:solidFill>
              </a:endParaRPr>
            </a:p>
          </p:txBody>
        </p:sp>
        <p:sp>
          <p:nvSpPr>
            <p:cNvPr id="26" name="Oval 24">
              <a:extLst>
                <a:ext uri="{FF2B5EF4-FFF2-40B4-BE49-F238E27FC236}">
                  <a16:creationId xmlns:a16="http://schemas.microsoft.com/office/drawing/2014/main" id="{CDEE72E9-7617-2C8B-BFD0-755DA85B7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" y="681"/>
              <a:ext cx="70" cy="71"/>
            </a:xfrm>
            <a:prstGeom prst="ellipse">
              <a:avLst/>
            </a:prstGeom>
            <a:solidFill>
              <a:srgbClr val="FC003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de-DE" altLang="de-DE">
                <a:solidFill>
                  <a:prstClr val="black"/>
                </a:solidFill>
              </a:endParaRPr>
            </a:p>
          </p:txBody>
        </p:sp>
        <p:sp>
          <p:nvSpPr>
            <p:cNvPr id="27" name="Oval 25">
              <a:extLst>
                <a:ext uri="{FF2B5EF4-FFF2-40B4-BE49-F238E27FC236}">
                  <a16:creationId xmlns:a16="http://schemas.microsoft.com/office/drawing/2014/main" id="{6CFEBDD6-4660-938D-B568-F603C3641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" y="681"/>
              <a:ext cx="70" cy="71"/>
            </a:xfrm>
            <a:prstGeom prst="ellipse">
              <a:avLst/>
            </a:prstGeom>
            <a:solidFill>
              <a:srgbClr val="FC003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de-DE" altLang="de-DE">
                <a:solidFill>
                  <a:prstClr val="black"/>
                </a:solidFill>
              </a:endParaRPr>
            </a:p>
          </p:txBody>
        </p:sp>
        <p:sp>
          <p:nvSpPr>
            <p:cNvPr id="28" name="Oval 26">
              <a:extLst>
                <a:ext uri="{FF2B5EF4-FFF2-40B4-BE49-F238E27FC236}">
                  <a16:creationId xmlns:a16="http://schemas.microsoft.com/office/drawing/2014/main" id="{CE66588C-952E-8080-0FB6-3CA7CEF1F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" y="1960"/>
              <a:ext cx="71" cy="71"/>
            </a:xfrm>
            <a:prstGeom prst="ellipse">
              <a:avLst/>
            </a:prstGeom>
            <a:solidFill>
              <a:srgbClr val="FC003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de-DE" altLang="de-DE">
                <a:solidFill>
                  <a:prstClr val="black"/>
                </a:solidFill>
              </a:endParaRPr>
            </a:p>
          </p:txBody>
        </p:sp>
        <p:sp>
          <p:nvSpPr>
            <p:cNvPr id="29" name="Oval 27">
              <a:extLst>
                <a:ext uri="{FF2B5EF4-FFF2-40B4-BE49-F238E27FC236}">
                  <a16:creationId xmlns:a16="http://schemas.microsoft.com/office/drawing/2014/main" id="{21F62C66-76B5-43FC-CD4D-99F313345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" y="1960"/>
              <a:ext cx="70" cy="71"/>
            </a:xfrm>
            <a:prstGeom prst="ellipse">
              <a:avLst/>
            </a:prstGeom>
            <a:solidFill>
              <a:srgbClr val="FC003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de-DE" altLang="de-DE">
                <a:solidFill>
                  <a:prstClr val="black"/>
                </a:solidFill>
              </a:endParaRPr>
            </a:p>
          </p:txBody>
        </p:sp>
      </p:grpSp>
      <p:grpSp>
        <p:nvGrpSpPr>
          <p:cNvPr id="34" name="Group 58">
            <a:extLst>
              <a:ext uri="{FF2B5EF4-FFF2-40B4-BE49-F238E27FC236}">
                <a16:creationId xmlns:a16="http://schemas.microsoft.com/office/drawing/2014/main" id="{E0E7688C-B888-2AEE-F5D0-D7D7025ACABF}"/>
              </a:ext>
            </a:extLst>
          </p:cNvPr>
          <p:cNvGrpSpPr>
            <a:grpSpLocks/>
          </p:cNvGrpSpPr>
          <p:nvPr/>
        </p:nvGrpSpPr>
        <p:grpSpPr bwMode="auto">
          <a:xfrm>
            <a:off x="8476060" y="4110420"/>
            <a:ext cx="914400" cy="2476500"/>
            <a:chOff x="0" y="0"/>
            <a:chExt cx="1015" cy="2424"/>
          </a:xfrm>
        </p:grpSpPr>
        <p:pic>
          <p:nvPicPr>
            <p:cNvPr id="35" name="Picture 35">
              <a:extLst>
                <a:ext uri="{FF2B5EF4-FFF2-40B4-BE49-F238E27FC236}">
                  <a16:creationId xmlns:a16="http://schemas.microsoft.com/office/drawing/2014/main" id="{FEA0131D-3274-046B-F280-19904D3A2867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181" t="33292" r="43456" b="3670"/>
            <a:stretch>
              <a:fillRect/>
            </a:stretch>
          </p:blipFill>
          <p:spPr bwMode="auto">
            <a:xfrm>
              <a:off x="0" y="818"/>
              <a:ext cx="233" cy="1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36">
              <a:extLst>
                <a:ext uri="{FF2B5EF4-FFF2-40B4-BE49-F238E27FC236}">
                  <a16:creationId xmlns:a16="http://schemas.microsoft.com/office/drawing/2014/main" id="{CCF2E9C6-1D78-2329-FE7F-F24400804E63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948" t="33292" r="14827" b="3670"/>
            <a:stretch>
              <a:fillRect/>
            </a:stretch>
          </p:blipFill>
          <p:spPr bwMode="auto">
            <a:xfrm>
              <a:off x="765" y="815"/>
              <a:ext cx="250" cy="1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37">
              <a:extLst>
                <a:ext uri="{FF2B5EF4-FFF2-40B4-BE49-F238E27FC236}">
                  <a16:creationId xmlns:a16="http://schemas.microsoft.com/office/drawing/2014/main" id="{56948371-7D95-C9BC-6AD2-00F3D8D8FDD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265" r="29143" b="69078"/>
            <a:stretch>
              <a:fillRect/>
            </a:stretch>
          </p:blipFill>
          <p:spPr bwMode="auto">
            <a:xfrm>
              <a:off x="345" y="0"/>
              <a:ext cx="279" cy="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Picture 38">
              <a:extLst>
                <a:ext uri="{FF2B5EF4-FFF2-40B4-BE49-F238E27FC236}">
                  <a16:creationId xmlns:a16="http://schemas.microsoft.com/office/drawing/2014/main" id="{E35309F1-FCCF-9980-EE6E-6BA73B823DA9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953" t="34949" r="28694" b="3670"/>
            <a:stretch>
              <a:fillRect/>
            </a:stretch>
          </p:blipFill>
          <p:spPr bwMode="auto">
            <a:xfrm>
              <a:off x="354" y="892"/>
              <a:ext cx="275" cy="15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9" name="Group 42">
              <a:extLst>
                <a:ext uri="{FF2B5EF4-FFF2-40B4-BE49-F238E27FC236}">
                  <a16:creationId xmlns:a16="http://schemas.microsoft.com/office/drawing/2014/main" id="{6F6D856A-138C-C3C9-BE9A-E340D56098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" y="938"/>
              <a:ext cx="123" cy="117"/>
              <a:chOff x="0" y="0"/>
              <a:chExt cx="122" cy="116"/>
            </a:xfrm>
          </p:grpSpPr>
          <p:sp>
            <p:nvSpPr>
              <p:cNvPr id="55" name="Line 39">
                <a:extLst>
                  <a:ext uri="{FF2B5EF4-FFF2-40B4-BE49-F238E27FC236}">
                    <a16:creationId xmlns:a16="http://schemas.microsoft.com/office/drawing/2014/main" id="{811E042F-CB14-5492-8722-E3273F9467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122" cy="1"/>
              </a:xfrm>
              <a:prstGeom prst="line">
                <a:avLst/>
              </a:prstGeom>
              <a:noFill/>
              <a:ln w="19050">
                <a:solidFill>
                  <a:srgbClr val="FC003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>
                  <a:solidFill>
                    <a:prstClr val="black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56" name="Line 40">
                <a:extLst>
                  <a:ext uri="{FF2B5EF4-FFF2-40B4-BE49-F238E27FC236}">
                    <a16:creationId xmlns:a16="http://schemas.microsoft.com/office/drawing/2014/main" id="{5D78D24B-AAB4-91DF-57B4-FB6014827C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61"/>
                <a:ext cx="122" cy="1"/>
              </a:xfrm>
              <a:prstGeom prst="line">
                <a:avLst/>
              </a:prstGeom>
              <a:noFill/>
              <a:ln w="19050">
                <a:solidFill>
                  <a:srgbClr val="FC003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>
                  <a:solidFill>
                    <a:prstClr val="black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57" name="Line 41">
                <a:extLst>
                  <a:ext uri="{FF2B5EF4-FFF2-40B4-BE49-F238E27FC236}">
                    <a16:creationId xmlns:a16="http://schemas.microsoft.com/office/drawing/2014/main" id="{C68FC4E9-DED6-8932-5A62-6E71D5F744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115"/>
                <a:ext cx="122" cy="1"/>
              </a:xfrm>
              <a:prstGeom prst="line">
                <a:avLst/>
              </a:prstGeom>
              <a:noFill/>
              <a:ln w="19050">
                <a:solidFill>
                  <a:srgbClr val="FC003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>
                  <a:solidFill>
                    <a:prstClr val="black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grpSp>
          <p:nvGrpSpPr>
            <p:cNvPr id="40" name="Group 46">
              <a:extLst>
                <a:ext uri="{FF2B5EF4-FFF2-40B4-BE49-F238E27FC236}">
                  <a16:creationId xmlns:a16="http://schemas.microsoft.com/office/drawing/2014/main" id="{7DB4C982-0E05-18A6-613C-9A3D0CC493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9" y="938"/>
              <a:ext cx="123" cy="117"/>
              <a:chOff x="0" y="0"/>
              <a:chExt cx="122" cy="116"/>
            </a:xfrm>
          </p:grpSpPr>
          <p:sp>
            <p:nvSpPr>
              <p:cNvPr id="52" name="Line 43">
                <a:extLst>
                  <a:ext uri="{FF2B5EF4-FFF2-40B4-BE49-F238E27FC236}">
                    <a16:creationId xmlns:a16="http://schemas.microsoft.com/office/drawing/2014/main" id="{D1D8A473-5D93-DF8D-CEF8-F45B082582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122" cy="1"/>
              </a:xfrm>
              <a:prstGeom prst="line">
                <a:avLst/>
              </a:prstGeom>
              <a:noFill/>
              <a:ln w="19050">
                <a:solidFill>
                  <a:srgbClr val="FC003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>
                  <a:solidFill>
                    <a:prstClr val="black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53" name="Line 44">
                <a:extLst>
                  <a:ext uri="{FF2B5EF4-FFF2-40B4-BE49-F238E27FC236}">
                    <a16:creationId xmlns:a16="http://schemas.microsoft.com/office/drawing/2014/main" id="{C42EA610-BDCE-D2BA-F08E-2362204418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61"/>
                <a:ext cx="122" cy="1"/>
              </a:xfrm>
              <a:prstGeom prst="line">
                <a:avLst/>
              </a:prstGeom>
              <a:noFill/>
              <a:ln w="19050">
                <a:solidFill>
                  <a:srgbClr val="FC003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>
                  <a:solidFill>
                    <a:prstClr val="black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54" name="Line 45">
                <a:extLst>
                  <a:ext uri="{FF2B5EF4-FFF2-40B4-BE49-F238E27FC236}">
                    <a16:creationId xmlns:a16="http://schemas.microsoft.com/office/drawing/2014/main" id="{4FAEA3BD-301D-111D-D832-CC6A3569DA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115"/>
                <a:ext cx="122" cy="1"/>
              </a:xfrm>
              <a:prstGeom prst="line">
                <a:avLst/>
              </a:prstGeom>
              <a:noFill/>
              <a:ln w="19050">
                <a:solidFill>
                  <a:srgbClr val="FC003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>
                  <a:solidFill>
                    <a:prstClr val="black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41" name="Line 47">
              <a:extLst>
                <a:ext uri="{FF2B5EF4-FFF2-40B4-BE49-F238E27FC236}">
                  <a16:creationId xmlns:a16="http://schemas.microsoft.com/office/drawing/2014/main" id="{BEAC0C2E-7AB9-E853-D721-E9A00D03B0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" y="2020"/>
              <a:ext cx="122" cy="1"/>
            </a:xfrm>
            <a:prstGeom prst="line">
              <a:avLst/>
            </a:prstGeom>
            <a:noFill/>
            <a:ln w="19050">
              <a:solidFill>
                <a:srgbClr val="FC003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2" name="Line 48">
              <a:extLst>
                <a:ext uri="{FF2B5EF4-FFF2-40B4-BE49-F238E27FC236}">
                  <a16:creationId xmlns:a16="http://schemas.microsoft.com/office/drawing/2014/main" id="{81798D77-015C-FDFB-8B27-299BA28A54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" y="2004"/>
              <a:ext cx="123" cy="2"/>
            </a:xfrm>
            <a:prstGeom prst="line">
              <a:avLst/>
            </a:prstGeom>
            <a:noFill/>
            <a:ln w="19050">
              <a:solidFill>
                <a:srgbClr val="FC003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prstClr val="black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43" name="Group 57">
              <a:extLst>
                <a:ext uri="{FF2B5EF4-FFF2-40B4-BE49-F238E27FC236}">
                  <a16:creationId xmlns:a16="http://schemas.microsoft.com/office/drawing/2014/main" id="{22F0F381-8AE9-9BC2-B603-BEE68D6427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" y="739"/>
              <a:ext cx="223" cy="145"/>
              <a:chOff x="0" y="0"/>
              <a:chExt cx="222" cy="145"/>
            </a:xfrm>
          </p:grpSpPr>
          <p:grpSp>
            <p:nvGrpSpPr>
              <p:cNvPr id="44" name="Group 52">
                <a:extLst>
                  <a:ext uri="{FF2B5EF4-FFF2-40B4-BE49-F238E27FC236}">
                    <a16:creationId xmlns:a16="http://schemas.microsoft.com/office/drawing/2014/main" id="{FBFC8151-61C2-D9D6-7816-A061DF4D95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105" y="28"/>
                <a:ext cx="144" cy="88"/>
                <a:chOff x="0" y="0"/>
                <a:chExt cx="145" cy="88"/>
              </a:xfrm>
            </p:grpSpPr>
            <p:sp>
              <p:nvSpPr>
                <p:cNvPr id="49" name="Line 49">
                  <a:extLst>
                    <a:ext uri="{FF2B5EF4-FFF2-40B4-BE49-F238E27FC236}">
                      <a16:creationId xmlns:a16="http://schemas.microsoft.com/office/drawing/2014/main" id="{4AF1E38D-24BE-707C-59DE-A567155600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145" cy="1"/>
                </a:xfrm>
                <a:prstGeom prst="line">
                  <a:avLst/>
                </a:prstGeom>
                <a:noFill/>
                <a:ln w="19050">
                  <a:solidFill>
                    <a:srgbClr val="FC003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>
                    <a:solidFill>
                      <a:prstClr val="black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endParaRPr>
                </a:p>
              </p:txBody>
            </p:sp>
            <p:sp>
              <p:nvSpPr>
                <p:cNvPr id="50" name="Line 50">
                  <a:extLst>
                    <a:ext uri="{FF2B5EF4-FFF2-40B4-BE49-F238E27FC236}">
                      <a16:creationId xmlns:a16="http://schemas.microsoft.com/office/drawing/2014/main" id="{E4C2C9E4-8CA7-C4A8-ED98-EE44CD36B7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46"/>
                  <a:ext cx="145" cy="2"/>
                </a:xfrm>
                <a:prstGeom prst="line">
                  <a:avLst/>
                </a:prstGeom>
                <a:noFill/>
                <a:ln w="19050">
                  <a:solidFill>
                    <a:srgbClr val="FC003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>
                    <a:solidFill>
                      <a:prstClr val="black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endParaRPr>
                </a:p>
              </p:txBody>
            </p:sp>
            <p:sp>
              <p:nvSpPr>
                <p:cNvPr id="51" name="Line 51">
                  <a:extLst>
                    <a:ext uri="{FF2B5EF4-FFF2-40B4-BE49-F238E27FC236}">
                      <a16:creationId xmlns:a16="http://schemas.microsoft.com/office/drawing/2014/main" id="{31D81AAC-1E25-DED0-EA04-C44D1B4A4F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87"/>
                  <a:ext cx="145" cy="1"/>
                </a:xfrm>
                <a:prstGeom prst="line">
                  <a:avLst/>
                </a:prstGeom>
                <a:noFill/>
                <a:ln w="19050">
                  <a:solidFill>
                    <a:srgbClr val="FC003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>
                    <a:solidFill>
                      <a:prstClr val="black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endParaRPr>
                </a:p>
              </p:txBody>
            </p:sp>
          </p:grpSp>
          <p:grpSp>
            <p:nvGrpSpPr>
              <p:cNvPr id="45" name="Group 56">
                <a:extLst>
                  <a:ext uri="{FF2B5EF4-FFF2-40B4-BE49-F238E27FC236}">
                    <a16:creationId xmlns:a16="http://schemas.microsoft.com/office/drawing/2014/main" id="{0FB768C7-E17A-FE7F-C832-738BD40576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-28" y="28"/>
                <a:ext cx="144" cy="88"/>
                <a:chOff x="0" y="0"/>
                <a:chExt cx="145" cy="88"/>
              </a:xfrm>
            </p:grpSpPr>
            <p:sp>
              <p:nvSpPr>
                <p:cNvPr id="46" name="Line 53">
                  <a:extLst>
                    <a:ext uri="{FF2B5EF4-FFF2-40B4-BE49-F238E27FC236}">
                      <a16:creationId xmlns:a16="http://schemas.microsoft.com/office/drawing/2014/main" id="{4AA3BD70-DA74-A612-E110-5C5C0776A7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145" cy="1"/>
                </a:xfrm>
                <a:prstGeom prst="line">
                  <a:avLst/>
                </a:prstGeom>
                <a:noFill/>
                <a:ln w="19050">
                  <a:solidFill>
                    <a:srgbClr val="FC003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>
                    <a:solidFill>
                      <a:prstClr val="black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endParaRPr>
                </a:p>
              </p:txBody>
            </p:sp>
            <p:sp>
              <p:nvSpPr>
                <p:cNvPr id="47" name="Line 54">
                  <a:extLst>
                    <a:ext uri="{FF2B5EF4-FFF2-40B4-BE49-F238E27FC236}">
                      <a16:creationId xmlns:a16="http://schemas.microsoft.com/office/drawing/2014/main" id="{34D07C61-B4B7-6B38-6B4F-4A6ECE0668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46"/>
                  <a:ext cx="145" cy="2"/>
                </a:xfrm>
                <a:prstGeom prst="line">
                  <a:avLst/>
                </a:prstGeom>
                <a:noFill/>
                <a:ln w="19050">
                  <a:solidFill>
                    <a:srgbClr val="FC003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>
                    <a:solidFill>
                      <a:prstClr val="black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endParaRPr>
                </a:p>
              </p:txBody>
            </p:sp>
            <p:sp>
              <p:nvSpPr>
                <p:cNvPr id="48" name="Line 55">
                  <a:extLst>
                    <a:ext uri="{FF2B5EF4-FFF2-40B4-BE49-F238E27FC236}">
                      <a16:creationId xmlns:a16="http://schemas.microsoft.com/office/drawing/2014/main" id="{39770F91-35E2-0170-3760-313124367A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87"/>
                  <a:ext cx="145" cy="1"/>
                </a:xfrm>
                <a:prstGeom prst="line">
                  <a:avLst/>
                </a:prstGeom>
                <a:noFill/>
                <a:ln w="19050">
                  <a:solidFill>
                    <a:srgbClr val="FC003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>
                    <a:solidFill>
                      <a:prstClr val="black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2684055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fld id="{78E23408-7975-4EC9-86F5-B0D75EB42D73}" type="datetime1">
              <a:rPr lang="en-GB" smtClean="0"/>
              <a:pPr>
                <a:defRPr/>
              </a:pPr>
              <a:t>16/01/2026</a:t>
            </a:fld>
            <a:endParaRPr lang="en-US" altLang="de-DE"/>
          </a:p>
        </p:txBody>
      </p:sp>
      <p:sp>
        <p:nvSpPr>
          <p:cNvPr id="66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4351" y="-127441"/>
            <a:ext cx="11929279" cy="132556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Coupling the physical model: </a:t>
            </a:r>
            <a:r>
              <a:rPr lang="en-US" dirty="0"/>
              <a:t>Some remarks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66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9106" y="945749"/>
            <a:ext cx="11537005" cy="5656910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altLang="en-US" sz="2400" dirty="0"/>
              <a:t>When enforcing interface equilibrium and compatibility, we have assumed that the interface has no local dynamics: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1600" dirty="0"/>
          </a:p>
          <a:p>
            <a:pPr marL="0" indent="0" eaLnBrk="1" hangingPunct="1">
              <a:buNone/>
            </a:pPr>
            <a:endParaRPr lang="en-US" altLang="en-US" sz="1600" dirty="0"/>
          </a:p>
          <a:p>
            <a:pPr eaLnBrk="1" hangingPunct="1">
              <a:buFont typeface="Wingdings" charset="2"/>
              <a:buNone/>
            </a:pPr>
            <a:r>
              <a:rPr lang="en-US" altLang="en-US" sz="1600" dirty="0"/>
              <a:t>  </a:t>
            </a:r>
            <a:r>
              <a:rPr lang="en-US" altLang="en-US" sz="2400" dirty="0"/>
              <a:t>If interface flexibility, damping or mass is present at the interface, then the interface conditions must be slightly altered </a:t>
            </a:r>
            <a:endParaRPr lang="en-US" altLang="en-US" sz="1600" dirty="0"/>
          </a:p>
          <a:p>
            <a:pPr eaLnBrk="1" hangingPunct="1">
              <a:buFont typeface="Wingdings" charset="2"/>
              <a:buNone/>
            </a:pPr>
            <a:endParaRPr lang="en-US" altLang="en-US" sz="1600" dirty="0"/>
          </a:p>
          <a:p>
            <a:pPr eaLnBrk="1" hangingPunct="1">
              <a:buFont typeface="Wingdings" charset="2"/>
              <a:buNone/>
            </a:pPr>
            <a:endParaRPr lang="en-US" altLang="en-US" sz="1600" dirty="0"/>
          </a:p>
          <a:p>
            <a:pPr eaLnBrk="1" hangingPunct="1">
              <a:buFont typeface="Wingdings" charset="2"/>
              <a:buNone/>
            </a:pPr>
            <a:endParaRPr lang="en-US" altLang="en-US" sz="1600" dirty="0"/>
          </a:p>
          <a:p>
            <a:pPr eaLnBrk="1" hangingPunct="1">
              <a:buFont typeface="Wingdings" charset="2"/>
              <a:buNone/>
            </a:pPr>
            <a:r>
              <a:rPr lang="en-US" altLang="en-US" sz="2400" dirty="0"/>
              <a:t>and modified primal and dual assembled systems can be derived.</a:t>
            </a:r>
          </a:p>
          <a:p>
            <a:pPr marL="0" indent="0" eaLnBrk="1" hangingPunct="1">
              <a:buNone/>
            </a:pPr>
            <a:r>
              <a:rPr lang="en-US" altLang="en-US" sz="2400" dirty="0"/>
              <a:t>If incompatible interfaces are present, other requirements</a:t>
            </a:r>
          </a:p>
          <a:p>
            <a:pPr marL="0" indent="0" eaLnBrk="1" hangingPunct="1">
              <a:buNone/>
            </a:pPr>
            <a:r>
              <a:rPr lang="en-US" altLang="en-US" sz="2400" dirty="0"/>
              <a:t>must be formed.</a:t>
            </a:r>
          </a:p>
          <a:p>
            <a:pPr eaLnBrk="1" hangingPunct="1"/>
            <a:endParaRPr lang="en-US" altLang="en-US" sz="1600" dirty="0"/>
          </a:p>
        </p:txBody>
      </p:sp>
      <p:pic>
        <p:nvPicPr>
          <p:cNvPr id="54318" name="Bild 7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0183" y="5143748"/>
            <a:ext cx="2343150" cy="152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D719CAE-E5C1-A025-944D-7C6FA57F96E5}"/>
              </a:ext>
            </a:extLst>
          </p:cNvPr>
          <p:cNvGrpSpPr/>
          <p:nvPr/>
        </p:nvGrpSpPr>
        <p:grpSpPr>
          <a:xfrm>
            <a:off x="5789235" y="1474143"/>
            <a:ext cx="4486212" cy="1178696"/>
            <a:chOff x="3167522" y="1807392"/>
            <a:chExt cx="4486212" cy="1178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Content Placeholder 2">
                  <a:extLst>
                    <a:ext uri="{FF2B5EF4-FFF2-40B4-BE49-F238E27FC236}">
                      <a16:creationId xmlns:a16="http://schemas.microsoft.com/office/drawing/2014/main" id="{AD62BADD-59F5-310F-C098-562B68C3744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167522" y="1944567"/>
                  <a:ext cx="1752974" cy="1007290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accent1"/>
                      </a:solidFill>
                      <a:latin typeface="+mj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accent1"/>
                      </a:solidFill>
                      <a:latin typeface="+mj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accent1"/>
                      </a:solidFill>
                      <a:latin typeface="+mj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accent1"/>
                      </a:solidFill>
                      <a:latin typeface="+mj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accent1"/>
                      </a:solidFill>
                      <a:latin typeface="+mj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}"/>
                            <m:ctrlPr>
                              <a:rPr lang="sv-SE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sv-SE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nor/>
                                    </m:rPr>
                                    <a:rPr lang="sv-SE" dirty="0"/>
                                    <m:t>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sv-SE" i="1">
                                      <a:latin typeface="Cambria Math" panose="02040503050406030204" pitchFamily="18" charset="0"/>
                                    </a:rPr>
                                    <m:t>𝐵𝑋</m:t>
                                  </m:r>
                                  <m:r>
                                    <a:rPr lang="sv-SE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mr>
                              <m:mr>
                                <m:e>
                                  <m:sSup>
                                    <m:sSupPr>
                                      <m:ctrlPr>
                                        <a:rPr lang="sv-S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sv-SE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p>
                                      <m:r>
                                        <a:rPr lang="sv-SE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sv-SE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sv-SE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  <m:r>
                                    <m:rPr>
                                      <m:nor/>
                                    </m:rPr>
                                    <a:rPr lang="sv-SE" dirty="0"/>
                                    <m:t> 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" name="Content Placeholder 2">
                  <a:extLst>
                    <a:ext uri="{FF2B5EF4-FFF2-40B4-BE49-F238E27FC236}">
                      <a16:creationId xmlns:a16="http://schemas.microsoft.com/office/drawing/2014/main" id="{AD62BADD-59F5-310F-C098-562B68C374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7522" y="1944567"/>
                  <a:ext cx="1752974" cy="100729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sv-SE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1C27AD5-1BEB-5B3C-3A0D-01910F8250FA}"/>
                </a:ext>
              </a:extLst>
            </p:cNvPr>
            <p:cNvGrpSpPr/>
            <p:nvPr/>
          </p:nvGrpSpPr>
          <p:grpSpPr>
            <a:xfrm>
              <a:off x="5403482" y="1807392"/>
              <a:ext cx="2250252" cy="1178696"/>
              <a:chOff x="7487292" y="2082505"/>
              <a:chExt cx="2250252" cy="1178696"/>
            </a:xfrm>
          </p:grpSpPr>
          <p:cxnSp>
            <p:nvCxnSpPr>
              <p:cNvPr id="54289" name="Gerade Verbindung mit Pfeil 16"/>
              <p:cNvCxnSpPr>
                <a:cxnSpLocks noChangeShapeType="1"/>
              </p:cNvCxnSpPr>
              <p:nvPr/>
            </p:nvCxnSpPr>
            <p:spPr bwMode="auto">
              <a:xfrm>
                <a:off x="8145141" y="2856687"/>
                <a:ext cx="323850" cy="3175"/>
              </a:xfrm>
              <a:prstGeom prst="straightConnector1">
                <a:avLst/>
              </a:prstGeom>
              <a:noFill/>
              <a:ln w="38100">
                <a:solidFill>
                  <a:srgbClr val="0000FF"/>
                </a:solidFill>
                <a:prstDash val="sys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CFFDB5E-A4A8-4063-AB46-74BF5D9A52E8}"/>
                  </a:ext>
                </a:extLst>
              </p:cNvPr>
              <p:cNvGrpSpPr/>
              <p:nvPr/>
            </p:nvGrpSpPr>
            <p:grpSpPr>
              <a:xfrm>
                <a:off x="7487292" y="2082505"/>
                <a:ext cx="2250252" cy="1178696"/>
                <a:chOff x="5578593" y="1444803"/>
                <a:chExt cx="2250252" cy="1178696"/>
              </a:xfrm>
            </p:grpSpPr>
            <p:cxnSp>
              <p:nvCxnSpPr>
                <p:cNvPr id="54285" name="Gerade Verbindung mit Pfeil 9"/>
                <p:cNvCxnSpPr>
                  <a:cxnSpLocks noChangeShapeType="1"/>
                </p:cNvCxnSpPr>
                <p:nvPr/>
              </p:nvCxnSpPr>
              <p:spPr bwMode="auto">
                <a:xfrm>
                  <a:off x="6275388" y="1903413"/>
                  <a:ext cx="412750" cy="6350"/>
                </a:xfrm>
                <a:prstGeom prst="straightConnector1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4286" name="Gerade Verbindung mit Pfeil 11"/>
                <p:cNvCxnSpPr>
                  <a:cxnSpLocks noChangeShapeType="1"/>
                </p:cNvCxnSpPr>
                <p:nvPr/>
              </p:nvCxnSpPr>
              <p:spPr bwMode="auto">
                <a:xfrm>
                  <a:off x="6280150" y="1963739"/>
                  <a:ext cx="323850" cy="3175"/>
                </a:xfrm>
                <a:prstGeom prst="straightConnector1">
                  <a:avLst/>
                </a:prstGeom>
                <a:noFill/>
                <a:ln w="38100">
                  <a:solidFill>
                    <a:srgbClr val="0000FF"/>
                  </a:solidFill>
                  <a:prstDash val="sysDash"/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4290" name="Gerade Verbindung mit Pfeil 20"/>
                <p:cNvCxnSpPr>
                  <a:cxnSpLocks noChangeShapeType="1"/>
                </p:cNvCxnSpPr>
                <p:nvPr/>
              </p:nvCxnSpPr>
              <p:spPr bwMode="auto">
                <a:xfrm>
                  <a:off x="6276975" y="2149475"/>
                  <a:ext cx="414338" cy="6350"/>
                </a:xfrm>
                <a:prstGeom prst="straightConnector1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C848C125-BD24-D35F-1925-2EA707A981B0}"/>
                    </a:ext>
                  </a:extLst>
                </p:cNvPr>
                <p:cNvGrpSpPr/>
                <p:nvPr/>
              </p:nvGrpSpPr>
              <p:grpSpPr>
                <a:xfrm>
                  <a:off x="5578593" y="1444803"/>
                  <a:ext cx="2250252" cy="1178696"/>
                  <a:chOff x="5578593" y="1444803"/>
                  <a:chExt cx="2250252" cy="1178696"/>
                </a:xfrm>
              </p:grpSpPr>
              <p:sp>
                <p:nvSpPr>
                  <p:cNvPr id="3" name="Rechteck 2"/>
                  <p:cNvSpPr/>
                  <p:nvPr/>
                </p:nvSpPr>
                <p:spPr bwMode="auto">
                  <a:xfrm>
                    <a:off x="5578593" y="1712149"/>
                    <a:ext cx="696148" cy="724371"/>
                  </a:xfrm>
                  <a:prstGeom prst="rect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dk1"/>
                  </a:lnRef>
                  <a:fillRef idx="3">
                    <a:schemeClr val="dk1"/>
                  </a:fillRef>
                  <a:effectRef idx="3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9" name="Rechteck 8"/>
                  <p:cNvSpPr/>
                  <p:nvPr/>
                </p:nvSpPr>
                <p:spPr bwMode="auto">
                  <a:xfrm>
                    <a:off x="7132697" y="1723438"/>
                    <a:ext cx="696148" cy="724371"/>
                  </a:xfrm>
                  <a:prstGeom prst="rect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dk1"/>
                  </a:lnRef>
                  <a:fillRef idx="3">
                    <a:schemeClr val="dk1"/>
                  </a:fillRef>
                  <a:effectRef idx="3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cxnSp>
                <p:nvCxnSpPr>
                  <p:cNvPr id="54291" name="Gerade Verbindung mit Pfeil 21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096125" y="1924050"/>
                    <a:ext cx="412750" cy="6350"/>
                  </a:xfrm>
                  <a:prstGeom prst="straightConnector1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4292" name="Gerade Verbindung mit Pfeil 22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100888" y="1984376"/>
                    <a:ext cx="323850" cy="3175"/>
                  </a:xfrm>
                  <a:prstGeom prst="straightConnector1">
                    <a:avLst/>
                  </a:prstGeom>
                  <a:noFill/>
                  <a:ln w="38100">
                    <a:solidFill>
                      <a:srgbClr val="0000FF"/>
                    </a:solidFill>
                    <a:prstDash val="sysDash"/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4293" name="Gerade Verbindung mit Pfeil 23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102475" y="2239964"/>
                    <a:ext cx="323850" cy="3175"/>
                  </a:xfrm>
                  <a:prstGeom prst="straightConnector1">
                    <a:avLst/>
                  </a:prstGeom>
                  <a:noFill/>
                  <a:ln w="38100">
                    <a:solidFill>
                      <a:srgbClr val="0000FF"/>
                    </a:solidFill>
                    <a:prstDash val="sysDash"/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4294" name="Gerade Verbindung mit Pfeil 24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097713" y="2170113"/>
                    <a:ext cx="412750" cy="6350"/>
                  </a:xfrm>
                  <a:prstGeom prst="straightConnector1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" name="TextBox 3">
                        <a:extLst>
                          <a:ext uri="{FF2B5EF4-FFF2-40B4-BE49-F238E27FC236}">
                            <a16:creationId xmlns:a16="http://schemas.microsoft.com/office/drawing/2014/main" id="{C464DF85-8B28-CB74-6C9D-45011675C9D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269106" y="1444803"/>
                        <a:ext cx="399495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sv-SE" sz="2400" dirty="0">
                          <a:solidFill>
                            <a:schemeClr val="accent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" name="TextBox 3">
                        <a:extLst>
                          <a:ext uri="{FF2B5EF4-FFF2-40B4-BE49-F238E27FC236}">
                            <a16:creationId xmlns:a16="http://schemas.microsoft.com/office/drawing/2014/main" id="{C464DF85-8B28-CB74-6C9D-45011675C9D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269106" y="1444803"/>
                        <a:ext cx="399495" cy="461665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sv-SE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" name="TextBox 4">
                        <a:extLst>
                          <a:ext uri="{FF2B5EF4-FFF2-40B4-BE49-F238E27FC236}">
                            <a16:creationId xmlns:a16="http://schemas.microsoft.com/office/drawing/2014/main" id="{4BE403A4-511F-2232-FA21-634BDE2787F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263761" y="2161834"/>
                        <a:ext cx="399495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oMath>
                          </m:oMathPara>
                        </a14:m>
                        <a:endParaRPr lang="sv-SE" sz="2400" dirty="0">
                          <a:solidFill>
                            <a:schemeClr val="accent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" name="TextBox 4">
                        <a:extLst>
                          <a:ext uri="{FF2B5EF4-FFF2-40B4-BE49-F238E27FC236}">
                            <a16:creationId xmlns:a16="http://schemas.microsoft.com/office/drawing/2014/main" id="{4BE403A4-511F-2232-FA21-634BDE2787F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263761" y="2161834"/>
                        <a:ext cx="399495" cy="461665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l="-1538" r="-1538" b="-921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sv-SE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81CF02A7-4A55-939E-1D06-A348D4E476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77597" y="3588618"/>
                <a:ext cx="1752974" cy="10072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accent1"/>
                    </a:solidFill>
                    <a:latin typeface="+mj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accent1"/>
                    </a:solidFill>
                    <a:latin typeface="+mj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j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1"/>
                    </a:solidFill>
                    <a:latin typeface="+mj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1"/>
                    </a:solidFill>
                    <a:latin typeface="+mj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sv-S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sv-S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sv-SE" dirty="0"/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sv-SE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sv-SE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p>
                                    <m:r>
                                      <a:rPr lang="sv-SE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r>
                                  <a:rPr lang="sv-SE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sv-SE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sv-SE" dirty="0"/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81CF02A7-4A55-939E-1D06-A348D4E47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597" y="3588618"/>
                <a:ext cx="1752974" cy="10072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E0DDEAA7-6484-91F4-0F28-AA47AF36F94E}"/>
              </a:ext>
            </a:extLst>
          </p:cNvPr>
          <p:cNvGrpSpPr/>
          <p:nvPr/>
        </p:nvGrpSpPr>
        <p:grpSpPr>
          <a:xfrm>
            <a:off x="8030351" y="3539050"/>
            <a:ext cx="2250252" cy="1178696"/>
            <a:chOff x="8331403" y="2934276"/>
            <a:chExt cx="2250252" cy="117869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6B92ED9-2378-26FE-9623-7EF3CE67B8E3}"/>
                </a:ext>
              </a:extLst>
            </p:cNvPr>
            <p:cNvGrpSpPr/>
            <p:nvPr/>
          </p:nvGrpSpPr>
          <p:grpSpPr>
            <a:xfrm>
              <a:off x="8331403" y="2934276"/>
              <a:ext cx="2250252" cy="1178696"/>
              <a:chOff x="7487292" y="2082505"/>
              <a:chExt cx="2250252" cy="1178696"/>
            </a:xfrm>
          </p:grpSpPr>
          <p:cxnSp>
            <p:nvCxnSpPr>
              <p:cNvPr id="14" name="Gerade Verbindung mit Pfeil 16">
                <a:extLst>
                  <a:ext uri="{FF2B5EF4-FFF2-40B4-BE49-F238E27FC236}">
                    <a16:creationId xmlns:a16="http://schemas.microsoft.com/office/drawing/2014/main" id="{78C1BEEC-7D73-5664-8FDF-02EFE3DBC6E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145141" y="2856687"/>
                <a:ext cx="323850" cy="3175"/>
              </a:xfrm>
              <a:prstGeom prst="straightConnector1">
                <a:avLst/>
              </a:prstGeom>
              <a:noFill/>
              <a:ln w="38100">
                <a:solidFill>
                  <a:srgbClr val="0000FF"/>
                </a:solidFill>
                <a:prstDash val="sys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9289B0E3-14AF-069F-6F6F-17978F8100EF}"/>
                  </a:ext>
                </a:extLst>
              </p:cNvPr>
              <p:cNvGrpSpPr/>
              <p:nvPr/>
            </p:nvGrpSpPr>
            <p:grpSpPr>
              <a:xfrm>
                <a:off x="7487292" y="2082505"/>
                <a:ext cx="2250252" cy="1178696"/>
                <a:chOff x="5578593" y="1444803"/>
                <a:chExt cx="2250252" cy="1178696"/>
              </a:xfrm>
            </p:grpSpPr>
            <p:cxnSp>
              <p:nvCxnSpPr>
                <p:cNvPr id="17" name="Gerade Verbindung mit Pfeil 9">
                  <a:extLst>
                    <a:ext uri="{FF2B5EF4-FFF2-40B4-BE49-F238E27FC236}">
                      <a16:creationId xmlns:a16="http://schemas.microsoft.com/office/drawing/2014/main" id="{F5D2A9F8-3814-1D0C-85AC-9ACA40F742D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6275388" y="1903413"/>
                  <a:ext cx="412750" cy="6350"/>
                </a:xfrm>
                <a:prstGeom prst="straightConnector1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8" name="Gerade Verbindung mit Pfeil 11">
                  <a:extLst>
                    <a:ext uri="{FF2B5EF4-FFF2-40B4-BE49-F238E27FC236}">
                      <a16:creationId xmlns:a16="http://schemas.microsoft.com/office/drawing/2014/main" id="{A399B0F7-EB8F-F763-4DE7-4D346BB19DB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6280150" y="1963739"/>
                  <a:ext cx="323850" cy="3175"/>
                </a:xfrm>
                <a:prstGeom prst="straightConnector1">
                  <a:avLst/>
                </a:prstGeom>
                <a:noFill/>
                <a:ln w="38100">
                  <a:solidFill>
                    <a:srgbClr val="0000FF"/>
                  </a:solidFill>
                  <a:prstDash val="sysDash"/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9" name="Gerade Verbindung mit Pfeil 20">
                  <a:extLst>
                    <a:ext uri="{FF2B5EF4-FFF2-40B4-BE49-F238E27FC236}">
                      <a16:creationId xmlns:a16="http://schemas.microsoft.com/office/drawing/2014/main" id="{F4F7EF1C-ABC4-C7BB-878F-661A0E51149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6276975" y="2149475"/>
                  <a:ext cx="414338" cy="6350"/>
                </a:xfrm>
                <a:prstGeom prst="straightConnector1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94463FA1-0FAE-9720-B64F-115C5DCAEE7A}"/>
                    </a:ext>
                  </a:extLst>
                </p:cNvPr>
                <p:cNvGrpSpPr/>
                <p:nvPr/>
              </p:nvGrpSpPr>
              <p:grpSpPr>
                <a:xfrm>
                  <a:off x="5578593" y="1444803"/>
                  <a:ext cx="2250252" cy="1178696"/>
                  <a:chOff x="5578593" y="1444803"/>
                  <a:chExt cx="2250252" cy="1178696"/>
                </a:xfrm>
              </p:grpSpPr>
              <p:sp>
                <p:nvSpPr>
                  <p:cNvPr id="21" name="Rechteck 2">
                    <a:extLst>
                      <a:ext uri="{FF2B5EF4-FFF2-40B4-BE49-F238E27FC236}">
                        <a16:creationId xmlns:a16="http://schemas.microsoft.com/office/drawing/2014/main" id="{BE67C730-A984-6716-4A4F-77E3E27A0D4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578593" y="1712149"/>
                    <a:ext cx="696148" cy="724371"/>
                  </a:xfrm>
                  <a:prstGeom prst="rect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dk1"/>
                  </a:lnRef>
                  <a:fillRef idx="3">
                    <a:schemeClr val="dk1"/>
                  </a:fillRef>
                  <a:effectRef idx="3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22" name="Rechteck 8">
                    <a:extLst>
                      <a:ext uri="{FF2B5EF4-FFF2-40B4-BE49-F238E27FC236}">
                        <a16:creationId xmlns:a16="http://schemas.microsoft.com/office/drawing/2014/main" id="{CB783818-2C94-1527-EA4F-887BABECE04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132697" y="1723438"/>
                    <a:ext cx="696148" cy="724371"/>
                  </a:xfrm>
                  <a:prstGeom prst="rect">
                    <a:avLst/>
                  </a:prstGeom>
                  <a:ln>
                    <a:headEnd type="none" w="med" len="med"/>
                    <a:tailEnd type="none" w="med" len="med"/>
                  </a:ln>
                </p:spPr>
                <p:style>
                  <a:lnRef idx="0">
                    <a:schemeClr val="dk1"/>
                  </a:lnRef>
                  <a:fillRef idx="3">
                    <a:schemeClr val="dk1"/>
                  </a:fillRef>
                  <a:effectRef idx="3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/>
                  <a:lstStyle>
                    <a:lvl1pPr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MS PGothic" charset="-128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cxnSp>
                <p:nvCxnSpPr>
                  <p:cNvPr id="23" name="Gerade Verbindung mit Pfeil 21">
                    <a:extLst>
                      <a:ext uri="{FF2B5EF4-FFF2-40B4-BE49-F238E27FC236}">
                        <a16:creationId xmlns:a16="http://schemas.microsoft.com/office/drawing/2014/main" id="{0123B7D3-653B-7C0A-8625-399769986983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096125" y="1924050"/>
                    <a:ext cx="412750" cy="6350"/>
                  </a:xfrm>
                  <a:prstGeom prst="straightConnector1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24" name="Gerade Verbindung mit Pfeil 22">
                    <a:extLst>
                      <a:ext uri="{FF2B5EF4-FFF2-40B4-BE49-F238E27FC236}">
                        <a16:creationId xmlns:a16="http://schemas.microsoft.com/office/drawing/2014/main" id="{F0A89C9D-D07F-C6F7-967C-3A6BE93E90B1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100888" y="1984376"/>
                    <a:ext cx="323850" cy="3175"/>
                  </a:xfrm>
                  <a:prstGeom prst="straightConnector1">
                    <a:avLst/>
                  </a:prstGeom>
                  <a:noFill/>
                  <a:ln w="38100">
                    <a:solidFill>
                      <a:srgbClr val="0000FF"/>
                    </a:solidFill>
                    <a:prstDash val="sysDash"/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25" name="Gerade Verbindung mit Pfeil 23">
                    <a:extLst>
                      <a:ext uri="{FF2B5EF4-FFF2-40B4-BE49-F238E27FC236}">
                        <a16:creationId xmlns:a16="http://schemas.microsoft.com/office/drawing/2014/main" id="{EB61E1C0-BA25-AA9B-D9BD-444E5BC5DF55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102475" y="2239964"/>
                    <a:ext cx="323850" cy="3175"/>
                  </a:xfrm>
                  <a:prstGeom prst="straightConnector1">
                    <a:avLst/>
                  </a:prstGeom>
                  <a:noFill/>
                  <a:ln w="38100">
                    <a:solidFill>
                      <a:srgbClr val="0000FF"/>
                    </a:solidFill>
                    <a:prstDash val="sysDash"/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26" name="Gerade Verbindung mit Pfeil 24">
                    <a:extLst>
                      <a:ext uri="{FF2B5EF4-FFF2-40B4-BE49-F238E27FC236}">
                        <a16:creationId xmlns:a16="http://schemas.microsoft.com/office/drawing/2014/main" id="{53DAE35E-3243-F35B-85DE-644449095754}"/>
                      </a:ext>
                    </a:extLst>
                  </p:cNvPr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097713" y="2170113"/>
                    <a:ext cx="412750" cy="6350"/>
                  </a:xfrm>
                  <a:prstGeom prst="straightConnector1">
                    <a:avLst/>
                  </a:prstGeom>
                  <a:noFill/>
                  <a:ln w="28575">
                    <a:solidFill>
                      <a:srgbClr val="FF0000"/>
                    </a:solidFill>
                    <a:round/>
                    <a:headEnd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35E57373-8DF7-3515-E2E9-FE97DB466CF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269106" y="1444803"/>
                        <a:ext cx="399495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m:oMathPara>
                        </a14:m>
                        <a:endParaRPr lang="sv-SE" sz="2400" dirty="0">
                          <a:solidFill>
                            <a:schemeClr val="accent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35E57373-8DF7-3515-E2E9-FE97DB466CF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269106" y="1444803"/>
                        <a:ext cx="399495" cy="461665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sv-SE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TextBox 29">
                        <a:extLst>
                          <a:ext uri="{FF2B5EF4-FFF2-40B4-BE49-F238E27FC236}">
                            <a16:creationId xmlns:a16="http://schemas.microsoft.com/office/drawing/2014/main" id="{34DB85B0-D670-0BEA-3635-DA5073F29A1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263761" y="2161834"/>
                        <a:ext cx="399495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sv-SE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oMath>
                          </m:oMathPara>
                        </a14:m>
                        <a:endParaRPr lang="sv-SE" sz="2400" dirty="0">
                          <a:solidFill>
                            <a:schemeClr val="accent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0" name="TextBox 29">
                        <a:extLst>
                          <a:ext uri="{FF2B5EF4-FFF2-40B4-BE49-F238E27FC236}">
                            <a16:creationId xmlns:a16="http://schemas.microsoft.com/office/drawing/2014/main" id="{34DB85B0-D670-0BEA-3635-DA5073F29A1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263761" y="2161834"/>
                        <a:ext cx="399495" cy="461665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l="-1538" r="-1538" b="-921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sv-SE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5B3AF474-8225-67FC-7241-7E1326277187}"/>
                </a:ext>
              </a:extLst>
            </p:cNvPr>
            <p:cNvGrpSpPr/>
            <p:nvPr/>
          </p:nvGrpSpPr>
          <p:grpSpPr>
            <a:xfrm>
              <a:off x="8877848" y="3320785"/>
              <a:ext cx="1075001" cy="440478"/>
              <a:chOff x="8615363" y="4236244"/>
              <a:chExt cx="1075001" cy="440478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7C44AA72-FEC8-09AE-B3C3-E77B362FA1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15363" y="4452938"/>
                <a:ext cx="14763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965BEDB-50B5-0566-60F9-E559AB7969AA}"/>
                  </a:ext>
                </a:extLst>
              </p:cNvPr>
              <p:cNvCxnSpPr/>
              <p:nvPr/>
            </p:nvCxnSpPr>
            <p:spPr>
              <a:xfrm>
                <a:off x="8755856" y="4450556"/>
                <a:ext cx="112389" cy="21907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E52540B9-672D-033C-92FF-4C4B819613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68245" y="4238510"/>
                <a:ext cx="121007" cy="43350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953E3FA0-6E63-83F9-B720-B98F49DFB0DD}"/>
                  </a:ext>
                </a:extLst>
              </p:cNvPr>
              <p:cNvCxnSpPr/>
              <p:nvPr/>
            </p:nvCxnSpPr>
            <p:spPr>
              <a:xfrm>
                <a:off x="8989252" y="4236244"/>
                <a:ext cx="183323" cy="4333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D2A5FA26-C192-16B7-0F92-5A96387761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8977" y="4240856"/>
                <a:ext cx="121007" cy="43350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3F8FC238-7A40-BC64-1A99-99D096305BAD}"/>
                  </a:ext>
                </a:extLst>
              </p:cNvPr>
              <p:cNvCxnSpPr/>
              <p:nvPr/>
            </p:nvCxnSpPr>
            <p:spPr>
              <a:xfrm>
                <a:off x="9292010" y="4243335"/>
                <a:ext cx="183323" cy="4333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EFCEE431-357C-D21A-16AC-FD7C33AC61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73803" y="4450556"/>
                <a:ext cx="75274" cy="22614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0053119-673D-A0E0-3E98-77D7BD5ED3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42727" y="4457607"/>
                <a:ext cx="14763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Oval 15"/>
            <p:cNvSpPr/>
            <p:nvPr/>
          </p:nvSpPr>
          <p:spPr bwMode="auto">
            <a:xfrm>
              <a:off x="9732194" y="3403881"/>
              <a:ext cx="301037" cy="319852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MS PGothic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DC38A-1874-34CD-5909-3C2352CE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/>
              <a:t>The </a:t>
            </a:r>
            <a:r>
              <a:rPr lang="sv-SE" dirty="0" err="1"/>
              <a:t>physical</a:t>
            </a:r>
            <a:r>
              <a:rPr lang="sv-SE" dirty="0"/>
              <a:t> </a:t>
            </a:r>
            <a:r>
              <a:rPr lang="sv-SE" dirty="0" err="1"/>
              <a:t>domain</a:t>
            </a:r>
            <a:r>
              <a:rPr lang="sv-SE" dirty="0"/>
              <a:t> so far: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02815-9CC9-E865-390C-E118EE7A4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12086968" cy="5416765"/>
          </a:xfrm>
        </p:spPr>
        <p:txBody>
          <a:bodyPr>
            <a:normAutofit fontScale="77500" lnSpcReduction="20000"/>
          </a:bodyPr>
          <a:lstStyle/>
          <a:p>
            <a:r>
              <a:rPr lang="sv-SE" dirty="0" err="1"/>
              <a:t>Need</a:t>
            </a:r>
            <a:r>
              <a:rPr lang="sv-SE" dirty="0"/>
              <a:t> access to the </a:t>
            </a:r>
            <a:r>
              <a:rPr lang="sv-SE" dirty="0" err="1"/>
              <a:t>physical</a:t>
            </a:r>
            <a:r>
              <a:rPr lang="sv-SE" dirty="0"/>
              <a:t> </a:t>
            </a:r>
            <a:r>
              <a:rPr lang="sv-SE" dirty="0" err="1"/>
              <a:t>domain</a:t>
            </a:r>
            <a:r>
              <a:rPr lang="sv-SE" dirty="0"/>
              <a:t> </a:t>
            </a:r>
            <a:r>
              <a:rPr lang="sv-SE" dirty="0" err="1"/>
              <a:t>matrices</a:t>
            </a:r>
            <a:r>
              <a:rPr lang="sv-SE" dirty="0"/>
              <a:t>.</a:t>
            </a:r>
          </a:p>
          <a:p>
            <a:pPr marL="0" indent="0">
              <a:buNone/>
            </a:pPr>
            <a:r>
              <a:rPr lang="sv-SE" dirty="0"/>
              <a:t>    - If </a:t>
            </a:r>
            <a:r>
              <a:rPr lang="sv-SE" dirty="0" err="1"/>
              <a:t>our</a:t>
            </a:r>
            <a:r>
              <a:rPr lang="sv-SE" dirty="0"/>
              <a:t> </a:t>
            </a:r>
            <a:r>
              <a:rPr lang="sv-SE" dirty="0" err="1"/>
              <a:t>analysis</a:t>
            </a:r>
            <a:r>
              <a:rPr lang="sv-SE" dirty="0"/>
              <a:t> is </a:t>
            </a:r>
            <a:r>
              <a:rPr lang="sv-SE" dirty="0" err="1"/>
              <a:t>based</a:t>
            </a:r>
            <a:r>
              <a:rPr lang="sv-SE" dirty="0"/>
              <a:t> on </a:t>
            </a:r>
            <a:r>
              <a:rPr lang="sv-SE" dirty="0" err="1"/>
              <a:t>model</a:t>
            </a:r>
            <a:r>
              <a:rPr lang="sv-SE" dirty="0"/>
              <a:t> data, it is all </a:t>
            </a:r>
            <a:r>
              <a:rPr lang="sv-SE" dirty="0" err="1"/>
              <a:t>good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    - Not </a:t>
            </a:r>
            <a:r>
              <a:rPr lang="sv-SE" dirty="0" err="1"/>
              <a:t>useful</a:t>
            </a:r>
            <a:r>
              <a:rPr lang="sv-SE" dirty="0"/>
              <a:t> for test data</a:t>
            </a:r>
          </a:p>
          <a:p>
            <a:pPr marL="0" indent="0">
              <a:buNone/>
            </a:pPr>
            <a:endParaRPr lang="sv-SE" dirty="0"/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assume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the </a:t>
            </a:r>
            <a:r>
              <a:rPr lang="sv-SE" dirty="0" err="1"/>
              <a:t>couplings</a:t>
            </a:r>
            <a:r>
              <a:rPr lang="sv-SE" dirty="0"/>
              <a:t> </a:t>
            </a:r>
            <a:r>
              <a:rPr lang="sv-SE" dirty="0" err="1"/>
              <a:t>take</a:t>
            </a:r>
            <a:r>
              <a:rPr lang="sv-SE" dirty="0"/>
              <a:t> </a:t>
            </a:r>
            <a:r>
              <a:rPr lang="sv-SE" dirty="0" err="1"/>
              <a:t>place</a:t>
            </a:r>
            <a:r>
              <a:rPr lang="sv-SE" dirty="0"/>
              <a:t> in a (small)</a:t>
            </a:r>
          </a:p>
          <a:p>
            <a:pPr marL="0" indent="0">
              <a:buNone/>
            </a:pPr>
            <a:r>
              <a:rPr lang="sv-SE" dirty="0"/>
              <a:t>    </a:t>
            </a:r>
            <a:r>
              <a:rPr lang="sv-SE" dirty="0" err="1"/>
              <a:t>number</a:t>
            </a:r>
            <a:r>
              <a:rPr lang="sv-SE" dirty="0"/>
              <a:t> of </a:t>
            </a:r>
            <a:r>
              <a:rPr lang="sv-SE" dirty="0" err="1"/>
              <a:t>discrete</a:t>
            </a:r>
            <a:r>
              <a:rPr lang="sv-SE" dirty="0"/>
              <a:t> and </a:t>
            </a:r>
            <a:r>
              <a:rPr lang="sv-SE" dirty="0" err="1"/>
              <a:t>known</a:t>
            </a:r>
            <a:r>
              <a:rPr lang="sv-SE" dirty="0"/>
              <a:t> </a:t>
            </a:r>
            <a:r>
              <a:rPr lang="sv-SE" dirty="0" err="1"/>
              <a:t>dofs</a:t>
            </a:r>
            <a:r>
              <a:rPr lang="sv-SE" dirty="0"/>
              <a:t>.</a:t>
            </a:r>
          </a:p>
          <a:p>
            <a:pPr marL="0" indent="0">
              <a:buNone/>
            </a:pPr>
            <a:endParaRPr lang="sv-SE" dirty="0"/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assume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the </a:t>
            </a:r>
            <a:r>
              <a:rPr lang="sv-SE" dirty="0" err="1"/>
              <a:t>couplings</a:t>
            </a:r>
            <a:r>
              <a:rPr lang="sv-SE" dirty="0"/>
              <a:t> </a:t>
            </a:r>
            <a:r>
              <a:rPr lang="sv-SE" dirty="0" err="1"/>
              <a:t>themselves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no </a:t>
            </a:r>
            <a:r>
              <a:rPr lang="sv-SE" dirty="0" err="1"/>
              <a:t>masses</a:t>
            </a:r>
            <a:r>
              <a:rPr lang="sv-SE" dirty="0"/>
              <a:t> or </a:t>
            </a:r>
            <a:r>
              <a:rPr lang="sv-SE" dirty="0" err="1"/>
              <a:t>stiffnesses</a:t>
            </a:r>
            <a:r>
              <a:rPr lang="sv-SE" dirty="0"/>
              <a:t>.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sz="800" dirty="0"/>
          </a:p>
          <a:p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domains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utilized</a:t>
            </a:r>
            <a:r>
              <a:rPr lang="sv-SE" dirty="0"/>
              <a:t>:</a:t>
            </a:r>
          </a:p>
          <a:p>
            <a:pPr marL="0" indent="0">
              <a:buNone/>
            </a:pPr>
            <a:r>
              <a:rPr lang="sv-SE" dirty="0"/>
              <a:t>           the Modal </a:t>
            </a:r>
            <a:r>
              <a:rPr lang="sv-SE" dirty="0" err="1"/>
              <a:t>domain</a:t>
            </a:r>
            <a:r>
              <a:rPr lang="sv-SE" dirty="0"/>
              <a:t> (representation space)</a:t>
            </a:r>
          </a:p>
          <a:p>
            <a:pPr marL="0" indent="0">
              <a:buNone/>
            </a:pPr>
            <a:r>
              <a:rPr lang="sv-SE" dirty="0"/>
              <a:t>           the </a:t>
            </a:r>
            <a:r>
              <a:rPr lang="sv-SE" dirty="0" err="1"/>
              <a:t>Frequency</a:t>
            </a:r>
            <a:r>
              <a:rPr lang="sv-SE" dirty="0"/>
              <a:t> </a:t>
            </a:r>
            <a:r>
              <a:rPr lang="sv-SE" dirty="0" err="1"/>
              <a:t>domain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           the State-space </a:t>
            </a:r>
            <a:r>
              <a:rPr lang="sv-SE" dirty="0" err="1"/>
              <a:t>domain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           the </a:t>
            </a:r>
            <a:r>
              <a:rPr lang="sv-SE" dirty="0" err="1"/>
              <a:t>Time</a:t>
            </a:r>
            <a:r>
              <a:rPr lang="sv-SE" dirty="0"/>
              <a:t> </a:t>
            </a:r>
            <a:r>
              <a:rPr lang="sv-SE" dirty="0" err="1"/>
              <a:t>domain</a:t>
            </a:r>
            <a:r>
              <a:rPr lang="sv-SE" dirty="0"/>
              <a:t> (</a:t>
            </a:r>
            <a:r>
              <a:rPr lang="sv-SE" dirty="0" err="1"/>
              <a:t>impulse</a:t>
            </a:r>
            <a:r>
              <a:rPr lang="sv-SE" dirty="0"/>
              <a:t> </a:t>
            </a:r>
            <a:r>
              <a:rPr lang="sv-SE" dirty="0" err="1"/>
              <a:t>responses</a:t>
            </a:r>
            <a:r>
              <a:rPr lang="sv-SE" dirty="0"/>
              <a:t>)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D8D3F-BF1B-5454-AEF2-86FBE165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898989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fld id="{037142E8-1101-48E2-8C8A-046273EB862E}" type="slidenum">
              <a:rPr lang="en-GB" altLang="sv-SE" smtClean="0"/>
              <a:pPr>
                <a:defRPr/>
              </a:pPr>
              <a:t>26</a:t>
            </a:fld>
            <a:endParaRPr lang="en-GB" altLang="sv-SE"/>
          </a:p>
        </p:txBody>
      </p:sp>
    </p:spTree>
    <p:extLst>
      <p:ext uri="{BB962C8B-B14F-4D97-AF65-F5344CB8AC3E}">
        <p14:creationId xmlns:p14="http://schemas.microsoft.com/office/powerpoint/2010/main" val="1347229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4D70B-D40D-2D25-1757-C47ADFCB5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2E11B-C548-2FE1-AEA9-571146D93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Next Up: Frequency Based Substructuring</a:t>
            </a:r>
          </a:p>
        </p:txBody>
      </p:sp>
    </p:spTree>
    <p:extLst>
      <p:ext uri="{BB962C8B-B14F-4D97-AF65-F5344CB8AC3E}">
        <p14:creationId xmlns:p14="http://schemas.microsoft.com/office/powerpoint/2010/main" val="1179836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E5EA762-36B8-4486-B2A4-375E820FDB54}">
  <we:reference id="wa104381909" version="3.15.0.0" store="en-US" storeType="OMEX"/>
  <we:alternateReferences>
    <we:reference id="WA104381909" version="3.15.0.0" store="" storeType="OMEX"/>
  </we:alternateReferences>
  <we:properties>
    <we:property name="EQUATION_HISTORY" value="&quot;[{\&quot;mathml\&quot;:\&quot;&lt;math style=\\\&quot;font-family:stix;font-size:16px;\\\&quot; xmlns=\\\&quot;http://www.w3.org/1998/Math/MathML\\\&quot;&gt;&lt;msup&gt;&lt;mi&gt;M&lt;/mi&gt;&lt;mfenced&gt;&lt;mi&gt;s&lt;/mi&gt;&lt;/mfenced&gt;&lt;/msup&gt;&lt;/math&gt;\&quot;,\&quot;base64Image\&quot;:\&quot;iVBORw0KGgoAAAANSUhEUgAAAN8AAABRCAYAAABSQ3OEAAAACXBIWXMAAA7EAAAOxAGVKw4bAAAABGJhU0UAAABQq0/DagAAC79JREFUeNrtXQ9kVl0Yf0ySTCTJJDGTmSRmJslEkpnJyEySRCb5ZEYmSRJJMvmMZDKfGTOTmUQmST6RmUlmTGaSGZNJZkbfPV93up33ufc+59xzzz3nfZ8fh7T3fc9znvM858/z7wAwKgHtQWuskLEeCNo1nnJG0dgXtJGg/Qza3xUy5sfheN8H7RCLAKOo3W45FMShoFVV0Nj7w3F/D9plFgVGEcIn2sMK5cH1CA8Gg7aNxYKRJ/YEbSoidHcrnB/nI7x4HbRdLCKMPLA/aHMRYXvELClRwA9B28ssYZjEwaB9iQjZCLMk9gg6E7TdzBKGCRyQFO8t329QPJN4tINZwsgCcYRaiAiVsG7uY7agEAvSdIRXo8wShi6qwhX8Z6SdZrYkQvj91iP86mGWMHTQLyneU2YJCTcjPNsMWjOzhKGCNknxVuGXm4FBO35+jvBunu9/DCqEpe6rpHy9zBYldEv8u8ssYVAwIAnOCq/cWvflZen4yXGgjEQ0SIon2n1mixYeSnyc9G0ATxFh0GlPHB7jKwPjO2WIlgnktxtYj7TQhPDymE8DuBS0Mfhl8l7PIJyuRmR0Z1S6b0EbN6Qgh5Hfn2cdygT57vza58EIAbmFDCqtvXJwLLXwKyVFVeHEHex2DneIJ0hfj1l/MmEY4elh3wclLHLvFQR21cExvNNQvJeQT9xgddA2kP46PJSNmqDdCE8Eq+GJSYxtKVSGVsBzDwfBvC/zgmdXIDLaFIR20zHab2go3ifIz+p4KaZPnyL0t4XGoQ0CL5fCzwpFbAlaX/j/lwzTdBTpex3KwHp8WlF4XRGkBqKAyC3P0K6JmPukLxDCPCXRL0z9PeHxfmun26q/shjD4zbDdFWFC7/czwXfle+SQ8KrMhmzGoq3kPOOgS0GEx7JwpBE+2J4/Ew6Zk8hY87DF/cR6ee578o3oijA5xyg+Q7oWTXzjJBojelzyBM5wI52nUS7wZJ0NcmjDs04Qt8GeF7zRtXi+VfB9DaBvkuhuYAFwZeQsgGEdmq+4UXpHpgH4nzVp3xVvEYNAS4yKl/cSeYQA4oLltrxmH47PZEFjI8q14CV8DvjOdEX58u95avy3UQsSGlCPFYgvXJ6jjjiUC2eeQcIfLFkfMgL2Nwf0bgv5rU4n3NQHjPhDSKgaUL8b0G0tiC0iKPePaLync/ZABTX70lPZAEzFqmUM+wKv5NX/c04l9iSj4pXDX+ab8W/KW6HtYJolc3aM6HQfyAqX02O9NUm9FvriTxgboN1Bfqbct7p42QzLwNPruiUBiGEeDtRkG0PdhBhuAgv2kOkdyZn+s4k9L3TE3kYSTjpUOZbyI4odV+XE331CTyu9035ngFuhqfc++os0tmWcMnuJCrfg5xpPJvQ93ZP5KHdUSNb9PQTR98Z35RPdjG0hP8/TxDmVks07kHonCGs1rbN0Z0OnRKy3FuXEsbR67DytfukeLKL4UdESCYIwmzLfD4GpU7VaNrPMoHWHxYU4HxC/z6hJ4WXVwqkLelKdM4nJssuhqi5dogg0DZ8K11Iv32Rvx8l7nrjFmgtF+UTTvWFFH6edVD5On1i8muJ+O7I324TBPpZzvQJy+Sq1Od7xVUaG1sRx07fqlKnZbmIk0SzY8rnzc4nuxhEO0hcxW3tJi+h1OR9KOUzcc1GwZ1yMLhEMZzCU3EPt11xe6eDu3HmVXpBceUT7WOO9GFhRD3I8YiSTrRgiadJroZqD5VPBEsvgltVDcrC2im7GAakv9cTjRh5QDh01yA9oqaduOsNWOLpgQQafC13cBiZiyLz6fYm0HHUF6Z+TdmytxEFO4/jlPymwXfAIyweE2m0dRyJS/b0/V2GVkjPZLflSjnp+9FedjFsxBBOKUh0xDBtvUgf12I+O0egb8PypMRZCdvBb6QZ4C4WvBCs+cJI2cUwFfM5SrykyRi+eiiNrHkT89n9xF1vyjJvR8F+QLctJBXZspVV0OHIPGtDdjHciPncOEG4TZ33xbFlBjluHoz5PLXsxQ3LvI1LbXKtUvWDcHFVvf8VXdHuIrgb+kayFsn3kkaiUSbPeEksAzzJN0cNKWu0zN8T4EcZiRHQK78Qt7OvW6L7EXjsYJddDCsJn6U4sE0IVROyILxK2SXXCLQtF8Dfqpi7smvVlV+EdDUZunP9sLhoYP3v90H55N1sWEFRsZa1Ktd2xHDyLYWZzcRdr6jdZqRA4aRia/Hq1ZgvjNezBd47Z8ATyC6GroTPngFawdQs6Ed+My0L+jZR+Yo6isRFutQ5IgPRjPt3Gt8vItRwC1iq2x0fFA8rlJT0QmoNQcCznPWx+9FLwvfeEugSx9jdBQr3Crgbeyhn3Kskoe6C4qqHNUBxoYOZIbsYphVWyKSmU64bKwmxCullHnZCvCPbhRozW3hY4O6QBjl0UKWoFPZewrQlurF443fgCWQXA8X8TTFstGjQgtVfpLgtOqD4wrgU1EFxMaY6CkSJwBGL8UfkhGHLojwMxYa2aQNzMVCOClNgPnwLs5g9z6C0phYE0xgDNx/HfAC4ny7psckdMYakLot0Lzu6mKWiE/Qyu0cJgq4SWoSVhBATT01NWQA3stZ17yguGAdGEu7J96U7oNjBr0JpWZE1sJvC0wLFhbRlhuxioObiUXYalayB0Qyr5yFwozCuCuSKAEsOLAwvIsomlEjllafNUCZqLNMsy6E37gVAdhtqZne3QWHHqg2PKozhKlFArjjEd+Gv/O7YPWUlvD9VSyeSjnCRng1PD+sh7XPhPAlZKOJpuBpkgWjyRfEwFwPVPEsxcLwgMlAuCbEMya4OGc+JynfAMf7LmRqfgKECOaTsoU/E38xwUaVUr6YE1U5CtmeSq4jHo4+OzoEcmXGVdYp81diU5terkhyvM9zRqon3ANWj67DiGE4Sd71+R+egDv5026wq7vqVireSkeeQT8RjLgZVKxXFqR0nSAeh1Fe4rCF41IdQWh2ei06wX87QZ/R6NLekCd/U2LZXCEJ/mrByZcnqpiT2imOp6yX67oD9koY+4oS06F/2cRCyi0EntWWSIPjY/Q1LSdIJsdpN3PUmPZmTf+DP2NhjrGslp6WoQ/26rwORXQx9Gr9BSVyVn4nGSkJ8Ab1gZ+pDKD5N0ph0DK9lnfsfwpUxXw6Kh7kYdKoM9xMEP5rGLyyT02CuriI1a73Bs/mJPnn2GewXoHUNYmGeiVwhunwejOxi0K2zcYEg+FFnOZZvN2hw98baoqdzdCsyhrkKVsC9EcUTJ4Hjvg9IdjHohl2dJQj/VmrHUSi1joqQql2afR8h7nrPPJ6nNvgdgLAI8UWjyvmOtxWzK1LBanwfEOZi0C1fd4wg/MKdIKyon8BsoiX1IZQOz+dLROW8gd9vIDRWiOI1hzudkNU74OHTzlQjhe6KsoOoAFhlqayl2ikPoWxm2FldQ3e4C/ZUiPIJmZktt8VGdjFkjQJfB3rke9SIkOWBEOpDKG/KTCArKfJld7nsdklGiqz1NT9rKF/WhNY2Yj+3gMFwBJiLIetDHROKivfYwDj6iX0185QzXIFs6tepTCxjSEHx5kGvqJKMT2Amo4LBsAbZwT1h4DfvKiifiXCpGvAva51R4ahFBLTPwO9eICqDqURH6kMo53nKGa7gJuTzjBfF+DFn6LgpMEpUPs6JYziDeURATYQsNYC9F4GoLoZZnm6GK8DKq20Y+u3tKYpwz+A4qEfcQZ5yhivAokFMPpf7A+LrpphMYv0A/lUpY1QwjkP+jxZiaUKmy4V3Ad2qepGnnVE0qqH0jTsTeXQysGeiTb6JIO6VqwrKN8BTzygSOyE9+Fik9JhIU8HiRU3F5Ym0pWVQi6JZhzLI+2L4h22hYWKOKKji7idSNuoz9NknHTcPZxyDcKSLwjjvQD1uNEqHCGVrhjIM0GW4BVFOTSTJbmQQWFECXES9PFHsO5qmpBvMfD3seyUD/Uk74XR4PBZFik6yuDBMYtKgsKpaQlsNHDfHc1A6NsgwGAxGueI/NVCi53mdm3QAAACUdEVYdE1hdGhNTAA8bWF0aCB4bWxucz0iaHR0cDovL3d3dy53My5vcmcvMTk5OC9NYXRoL01hdGhNTCI+PG1zdHlsZSBtYXRoc2l6ZT0iMTZweCI+PG1zdXA+PG1pPk08L21pPjxtZmVuY2VkPjxtaT5zPC9taT48L21mZW5jZWQ+PC9tc3VwPjwvbXN0eWxlPjwvbWF0aD7w7/OLAAAAAElFTkSuQmCC\&quot;,\&quot;slideId\&quot;:760,\&quot;accessibleText\&quot;:\&quot;M to the power of open parentheses s close parentheses end exponent\&quot;,\&quot;imageHeight\&quot;:12.96},{\&quot;mathml\&quot;:\&quot;&lt;math style=\\\&quot;font-family:stix;font-size:16px;\\\&quot; xmlns=\\\&quot;http://www.w3.org/1998/Math/MathML\\\&quot;&gt;&lt;msup&gt;&lt;mi&gt;K&lt;/mi&gt;&lt;mfenced&gt;&lt;mi&gt;s&lt;/mi&gt;&lt;/mfenced&gt;&lt;/msup&gt;&lt;/math&gt;\&quot;,\&quot;base64Image\&quot;:\&quot;iVBORw0KGgoAAAANSUhEUgAAAM0AAABRCAYAAABxGCJRAAAACXBIWXMAAA7EAAAOxAGVKw4bAAAABGJhU0UAAABQq0/DagAACeFJREFUeNrtXXFE31sUv2Yyk8gzk2QkSWZGkpkkZpIkMUmSGU9mf2TG5JlkHplM5hnJTCYxyeSZxzN5MhOTZJLIZJJEnkmS2Pse3d77dt+939/5fn/f+/19z/2eD/efrd/3nnvuOfeee+455wrBSDPavVaXkbFWeO0BTzkjKi57bdprP7z2W0bG/EKOd9Fr1SwCjLC7y44UoEmvncvQ2MfkuPe9do9FgRFGaKCNZpQHAz4evPLaeRYLhg4/ee2DT1ieZpwfPT5ezHuthEWE4Ue519Z8QvKcWfI/xfnstUvMEgbgite2fMIxzSwxmmrLXitllmQbFYrCLLD9rsVrhUcXmCXZBJgaGz5hAG/ZZWaLFrCQLPl49ZZZkj2ckyvmD1+7zWwJBNzbHPr49ZBZki2MKQozwSxB4Rcfz4691sAsyQbaFIXZEyfuZgbOTPvq4906n2/cB3h+thWlecRsCYV+hX9PmSVu46Uy4bu8UkY6D+4oZhrHqTmKWkVhoI0wWyJhVOHj75SIb9UIgq02i6Dnu6W+b8XAqznNd2tZ/iOhXsPLG1SIv+a1KSkQ63KrjFtgN6TCDCDogUuwP2JUnhVxckOfr3Bf1Xx7nWU/L6hnw3nK9maT18bzVCAQ/Dteu5gHLUVyJ/wQoX+IrK2JkS/jmj5esNznhSkNT69SH1RjBMXZjskUUhX5IMTOci3m/ou9dqTpq5PgnJZ57bHc+cFVfijH9k0KcavQ5/7AIhT3XVSvhqfjLqwGr0IqTIUFGoqRyjsq7CR73TX0Ryli97x0Whwh+PhN/m2rtDoG5b/fjZmm65q+QYnJeyP7Ej5s6zCUo99dOcG2oHMA/E1oDi9oTFxw+UIYS6VvoTnN79808LnNggWhWwx7s6I0tlyGN3PsMh/FSS6LzRVatzrPEZrDSYX2TWmmBe3sunOkjbuUL5p+3mXFPGu00HelOHsJlpQ55ofJJT9JZP50JlAX4nel0kzzX0Da4PWshr4jQbymwieEwuxY6FfNU0nSHPNj2EADldCZlxrasfk+fco5xwYmEjb1rQN7AI971a0NUJhPls0xzEqIXa3TgFUN7WHOHLsCfzEdBf0G/j6hqjR3kKZZd4x9gpm3V0BzTMVWQodiWzjU0B7GJX96HppIWMZmXD/PxBUW32uY5CTNMXWlNY25mcgcHhkWHyy65W9s1S9rE2a3N0nsIBRmKaa+xlJijqmOCNO4K4nMoc59fBiC/nrLO+ttA39tOR4S97ro2rM8+4ELwvkUmWN+tASM+yKReZwOWIwwvIVQJiipW2WJvpoAHtdQU5pHSKXJJy8ebpu3DeZYGs4MHQHjLiIyj+0BY0hDinZxAH0t1JQGEySZjz99KGAFrEgJD7oCxk7FdDgnzt63pM11HqQ07ZQU5rzAuZqj3IqXpdgcU9ETMHZKeJhjHn8uIG1FAXTdocTkDqRpNhDyu8AEnTt5T6TTheuK0sAiuJFjLjtSqDRdlJg8gVQabGIXbMGTBMyxMOYZtSqabTnmElIvGlKmNKR2mg2BSwPAoCHge2kzx1x0BPgxhZjTpCuEXkzh7hca1chdBhM6M2w4G+0ROeQFuZyLCSoNBGFu5pjXP1PkCCDjPXuAVJoge/OKMAd6ptkcU1ERMH6qablAd676C0nms1wKoOM6Faa+QyjMsTA/l9AXMCnPBa1bXlOSFPW6zbkqEH1LcJ6aqZvApoQrtS0atn7T7TMVcyzM+a5d0EaubNi+AivwdyqMbEGaZr8qv2sS5gs0SuaYDm8N4+oR9LEYMMdJRRl3Gvr/QIWJz5FK0+zbmUYC/o6aOabDY8PY0lZZE2IAP0c43/wIsA6SgCmdnswrDCsIhTmQigBetmUHzTEVjYJGuvO0iBbWZNpJDwu8UJO42CwT+NKykG23b/j/r8TNMZ0zQDfWtFWDfC/pqo/pTHGQoLLr+i+nIBx3kUqzL3J71lyrbzxdQKHC4tRjGTYA03Qjv1LAc9UyZcHIpyStSzBFBlSlhD5/hunHCL/Xje11QrTrMnWHKZsgOtNrD6k4bQ4pjb/ARBpjo9QM0zDJWyWicNVgag19k3irphGpCFAOaAD5t+uCvufMj9ECrsa5oAZjTof4ra6e8lJCdOuiyD9SEYhhpCJ0SEVYRf79Y4eUpkronxBJA3SCj4lYgLn8ojmT1iVEty6AlExJ2kWBC505DWu4hVQaOJy69IDrjEjno07PhN7tH/RI0gXDObY7Qbp3UroI5UQpUgFUF+sc8nfjDilNbUoPrdMBC92IcsaBHfO+NJ/VBS7JUPwmUbjQnbzRhRT+QeV31QL/ds01hxRHTaZLMrjRhPc+JQHhPxJ4Tyf8Bm7fyxKmWU10XKYkBFhXcwPSLNC1BYeUBi7d9lNmh+/K84E/xwfM4k7prIA7F7hXOpS0r4mTSAC4pC7EGztlGsWupyQEmIKApjikEqF3xZLP984BtbzVqmCEgRo6M0qJ+DqkwAe5MPuR3/gqaKYIY50n91kXUFDN+i/U5GIQKfC5wuBXkN8Zcmjyq8TZZLs94Zan0BYWFOdDNbUBzCOFPdchsUng49bKHRIA1YkyyzoRyqxtpTaAIoHzfmED92aRivPGMUFQL4b7WTe0UF8Kv0dxENiCgGPI71UKvKuzzjGBeCPO5qHcYB05Ayi04nc4DVAdCLYgYJgyOr8iv7nkoGD4owV2BJ2nOGwDXNrrLigMAFMQMGwmINwTbCMVp9dBAfE/ggXewssZVxiINln2yVI35cFgCwJGeeb8HvLbW4Jmwb1ceOIb41qGFeeST2Fg571JfUDYgoBRt9Il5PeHHRUYCNU/zTvalDZ91s4wp5YMVCMqc2FQ2GDLqBG8N5HfP3LY9oc6CX+J/2ok12VEYRrkznIsF0UncqqwBQG38+wHG9M247gQ9ctd52FGlAZCZFZcWySwBQHzLVEEK+0hsq8mxwUpS5ECpcKtjN1/V4KkAiyHkH2tCAYjxcCkKgcVOA8DeHtkC6k4HPDISCXKkQL8KcY+e5B9QopBCU8RI23A3qE8jbnfRWS/ozxFjLRhBim8cV9EXRf41NtqniZGWoAtCGir3OqksBeFwGBYATbn5a2l/sMU4mjh6WKkASNIgbV5CYc1D1eFg75+Bj2sIQXW5rsynQJfWmiQp4xRSDSEEFabSlMagg6IJqjhqWMUCnMhhPWRRTpqRLgnO9ZEPJesDEYoDIYUVLjBt5UDMiXCv3UD70hW8DQybOO8PD8siGiPMu1IZYvDPIJQGnjHZVFEfyQK3OBQq6CZHQSMOAH1ksFdDJ6nYxHfq2YHUvkg1B9z6QlFrMFLBrkk32Okw38BCqnE74RbxdUZBUCrBQGNktc/kQAd/mJzDAaDwUgC/wCdu+wmqfx/TwAAAJR0RVh0TWF0aE1MADxtYXRoIHhtbG5zPSJodHRwOi8vd3d3LnczLm9yZy8xOTk4L01hdGgvTWF0aE1MIj48bXN0eWxlIG1hdGhzaXplPSIxNnB4Ij48bXN1cD48bWk+SzwvbWk+PG1mZW5jZWQ+PG1pPnM8L21pPjwvbWZlbmNlZD48L21zdXA+PC9tc3R5bGU+PC9tYXRoPpUM1KAAAAAASUVORK5CYII=\&quot;,\&quot;slideId\&quot;:760,\&quot;accessibleText\&quot;:\&quot;K to the power of open parentheses s close parentheses end exponent\&quot;,\&quot;imageHeight\&quot;:12.96},{\&quot;mathml\&quot;:\&quot;&lt;math style=\\\&quot;font-family:stix;font-size:48px;\\\&quot; xmlns=\\\&quot;http://www.w3.org/1998/Math/MathML\\\&quot;&gt;&lt;msup&gt;&lt;mi mathcolor=\\\&quot;#00007F\\\&quot;&gt;M&lt;/mi&gt;&lt;mfenced mathcolor=\\\&quot;#00007F\\\&quot;&gt;&lt;mi&gt;s&lt;/mi&gt;&lt;/mfenced&gt;&lt;/msup&gt;&lt;/math&gt;\&quot;,\&quot;base64Image\&quot;:\&quot;iVBORw0KGgoAAAANSUhEUgAAAqAAAADxCAYAAAAUcQW+AAAACXBIWXMAAA7EAAAOxAGVKw4bAAAABGJhU0UAAADwfZlgggAAKFlJREFUeNrtnS9QXMsSh69AIBCICARiBQKBQCAQCAQCgYiIQCBWRCAiEAhEqtgqBCICEYFAIBAIRAQCgUAgEAgEAoFAIBAIBAKxIm/nnCUvkGX3nPnbM/N9Vce8d+/Npqdnpme659f//QcAAJHSGsIGgB8DAACAjw3703//be52vmNsAXGzOdP57jrfMrYAAACQu2F/6XwPne93+bUWsAlEepAa7fjwzf99efOk87+NYxcAAAA5m/VkeeP5Z7N+/a5JYUKkh6le/vzU+b7h0wAAAOGDz2ZnU37usVmrr935/6exEUTm0/Mf+PPrd1keugAAAMAzmxOd77zPJv3S2aSXsBNEGoQudnz4cYB/r3MbCgAA4G9z/trn1lN9t51vFjtB5H4+VZaR9L0NPSkf3gEAAICrDVm9cN8fsCFfsSFDQj4/OuCm/3f58K41h60AAADsb8TznY32fsBGfNb558awFSTm+0NdabF+vt8mJQ8AAGB3A/5ebrB9N+DTzj83jK0g4XmwVmEeHHb+uRFsBQAAoL/hjpY1bn033Nc6OIJPyGFONCsEoVe8kgcAANCi6AJzXSH43CH4hMyC0MXyFXzfefFEXSgAAEC9DbZZYYNV3xa2gkznyEKFOdIu5xIAAAAMYPNHhRTj7/JRBkDWQej8AK1QDmoAAAADNtORivWe6jvgtS9AMW+mKwahe8wZAACAt5too7NB3lQMPnfYSAG0glAObgAAAN3NU3V7uePmE8AE1fmrUt30IY/2AAAg9+Cz6s0NOp8Ag+fTYsX6aeYSAABku1nOl1IxlYLPi1ITFAAGzKvPFYPQEwTrAQAgt01yoWK68HepBcpGCVBjfq1VnFsnlLQAAEAum+NijeBT3ZBOYDOAuqh6aeqqAQAA/ut2N3quuDH+LoNVANA46A2XtZ6V5toe9gIAgFQ3xDoPjtS3is0AjObcaGce3VY87G1gLwAASG0jnKoZfO5gMwBrc69i1qG1hL0AACCVDXC0fEhUOfi8oCYNwCabyxXn3kuZqQAAAIg7+FTtNS9rBJ9PnX9nErsBWA9CdyrOwbuyMxkAAEC8m95JjeDzd6kNCgAODoNDZXYB6TMAAEg7+PxRL/hU/zwAOAxCJ2uoUBxRCgMAALEFnysVu7H8nfaj0xGA+7n5rca8/Ia9AAAglg1utobQ/O9uoDqL3QC8zdGjGmUxC9gLAACEU0d38M+3hd0AvM7T8RqpeLITAAAgnc3zmsEnmxtAmCB0vcY8pWc8AACIDT63agafvHoHCBeAqlfxNzXm6ldsBgAA0jazuZqPjtR3gN0Ags7b+ZoavePYDAAApGxiSmz+vmbw+cJmBiCBzWNS8QAAEOMGtl8/9c7DIwAhB8jpmmUz69gMAABCB58rGsHnfWcTG8Z2AGLm8QHZCwAAiASt1Lu6QVnDdgCiAtCJmjXch9gMAABCbVp73H4CJDOfz2oeJJewGQAAeKbW61mkXADSm9P3ZRYEAADAz0al9AOvNW8/EZ0HEEsdXdDi28ZmAADgKwBtat5+UvsJIHtur9Wc18+df2cMuwEAgOsNSvPhUbFRcfsJIHt+j2s0lOBBEgAAuEan3Wbx7WM7gCjm+C+N+T2D3eDVgTonks279L7WBmOb3In7eyL++SODdWWi1ADUSr/P4esAUazJnzXm+Cl2g9eN4kzzlkL6x1V/WgvdVJmaTcI3M7jh05Jd+t09PNK+DyCOdXlU86A5i+0g5QD0grFNZpEb1nhxSQAabrzG9A8LrRb+DhBVDHGkMddPsBukHIA+MLbJ+OhWYr6ZeACqSgx0bUP6HSCy+b6sOdfnsR3Oc5hQavO9g9NFJX7/nNF4aSn92013vExuPzdvSb8DRDnn29SCgokTjXS+RnkDsblSpsKK4PRC/zFB8AC0wbhG7ZMppN4fOt9xKcKsTvytT4kfGLYNbPUTnweIct6faO7RU9gOqgQCs11R6X1Nbb8QH3IPcS9qMaben8o5ouZKbqLLxYOEJwPbfcHnAaKc+9815zy3oFDb2Ya68gsHwm9H2dDi9bGFiFLvL2W2oLWUd9lHkTUxsCElMwCRXhbMGmQqp7Ef6G46Y2XqzOjmw1UKfp3xidKnRiJJvbfLBzepp9Urb0ImmZEz7AcQ9fzXrf0+wHZgGjSMl9fpogIEasriXMh2Igg+Lzm5v5n/i4b23MKGYHZoVTX/qgGCesdQ1FvPd0vHGu4ft6m+6CoDUHyTma7bx/oHeVrvgvkkHDIQoHbxHTMm0flQBKl3Ve/Ea+13m8+JoU0XsSFUXCMaZXlVUfJxVKonDFwz2t1/7rDsklcEqSOWfk8TkfXCDt8N5v8afg22glApN6GI0Ud3iyE99c5C2WPcxg0PDW17wQCk62NFgHNh8YDaLks/igPlnF4NctGh7fHdGjGW6RiZZEHogAbWHHEaMXrQuEXbF55232aMbN98UP8JfX1rrnu7/uJPwaKQIayQEi6yNY//PqbL+gLB4HCgHnEC2AkmrhGjh5qn57bwmk9O6L3n+iW12mDZp2a6t50h5/xNN2Xf6sqqvX4bfX7bTebjZtJZkcdIYM0Rj4QEoJOMRRQn53vZr90RTP5gns8ilwaW14K9iLufHWa+Hvw0XGcbzAGw4YhC0qk8bsBXjL8fjNGHY2ehWYCq7wMo6ilvDXzpubz4UPJ7vbqOFXWkqtbza9kOt+hSRpmO3fVghRp7kOCIx0IC0CZjIdpPloXfdjwiEdJ3/K7N6+4obYCiscmTfq2/CirrllsVHf6+dL5zi+vFaubrwYSh/a6ZC2DDEYW8Zlb1OiB002nIbGDAjUbFOT5jp7YWMl8HFgweGe3ZUVDY/GYgpP73fjOX+VgOmT8Yo9wJzJxwWNCt1i7jITaAOREefLZJD/cdv20LNubhQd57xbx+wGK7011xIDZ8+ERXNPOsiHr0BaDvgLOCgogTxkOkj6xG8KCARgZON5pXUX/INPgcLfUfdW8+nf2mC/0aVLDwAPkWG4KJA34TFETcMB7iNp7JCFLvvM7uP4bj2BgM94lj/TXdZeOCIgi9pX5Re1y3UK+BmE9AiNGn7R9nEQSfz2jI9t2kP1uq0abeK0//WTLwmxUPv6+hURNKxqS0XZOOcxAywHiQFUwQSAhanDYi0fOjNrH/HN+1NDdpwZnfGjBskHq/96eaUDuQ2mJsi7XBRgneOXYE3ZOjtP7dXOfL8I1YUu+khgdvMvdkJyDADZlnTd46DyWVFBR07DBm6QEo8ndQe8J+ExiAIkYvwzfOIgk+X7g177vB2Kr/pAd8nuvAVTwHw9Z0dUUXJScF3TF+sbA+LGNHqOt4hwIDilXGJXjQ0oqonR7KCf3n+BdLdt7Dltn5zoShRN9EgN98hARTbZtZUMhQHfIAqgcZQzJTrOiKBfaLqbh6O9vWF0xuc9llXoLmWrBu6DMBumZVqml8Ymzf2OyXhTXiDjtCncVlTmhQgRh92EPJtX4dUBB/mWHc+m4ulloX0iY3Q985NfMZsT5/xdi+sdcPS2sEt8pQ2el+klKFdwFoS78+UPVh9+4rd/QmH3igsHQwoGYuwz3iMb4b0MLvB93c/mJs39hrg8eg4HtxuRYagCJGH2YR0k29v3T7QyO/JG9Mp1GnAM39YcKCzwRqjVs8vGvLeZ0vfqxXLK0T29gSqkzQSdmvmsGzPwzrH0jUbYNq0Yj8ksBx/WoxAEVmJS/fsVGiNRswqLqknKTyWC+glAE+HW5N+MOSMcbI62K9rb/gFGneM+SXRI7rjiVbt7Elt2JxPRDst6a15hnfN/GArUwJHemg0uSs29fXc30f6T6PvjCjmXp/KlNdxe3pS4AAlNP24LE9sWTre2yZXVCyHneJTL/X8KoBC/w11mPs3eDL2YY1+ubueA5AEaP35wu6tcBdvVZ1m4Bcl9AA9N6SvS+wZXZrQ8vOwSXYQ6ThDy5OHnm42HOt+I1aBviYmBoBQ50OE4jRR7To6KbeT/+/iGv/Nzhpu53nI9w2Q+AAVM3TzwHXt14yUpeMbU9b2cpibWFL6OdoWzUd6rr77916DDB4Ted+g1nUPFQ8vw3+lBRSCPklGDC+UxbtfYg9s/OfdUu+cxxwr+slNXjE2Pa01V384w0xOFrd3r4/+5wmXX1seG43l08dGz+Y9/xVtVRBHqrR9m3wGH/G3mCwT3yx6D8Tgf4O35BgqmwrW7KMt9gSPnKyCX2pG7UJ8cAkET841ByXd7cHqt4nSPq9yRgODEAtSjCRVsvQf2zeoAe6dewlL6TmBfTYE87sKWZQYwvVT4QV22t5fYiEGL27RXlRc0ye/hWW9noo+XuBG2ccB46zRW1W9d+CzPxnqJzz1nxoOsDfYVyWNqno2OCU+nxw7WRHevWfxWT2qR2KGL2bBfmTwcvoHg/DgtR/cjteba7vWtxQuDXK04fOLc7byzA3Y+8VX9CY/sBOB6jYgLAT7d83H60lxOizXWRO/t08+unsIb8U4WGTkgd4v2esW567AQ4yb948cLHxsZ32OLCCSweb0XCkqb8WoynPwQapErubSdMg9d7jMGBLpqW2T84zlpXmu83uVMvYM0sfmrA8f58pnxG7P7Qo2QFJDvbw9tbLqq4gm57fsW/YTb1bD3Bov2k/eLgl6AcLfnRjeQ7/wqapB6CvyjkA/19I7sxfLnptuYgYvb2xP7H7ejVY+03kudzNdwJQ6DXX11nbsxjn76zT4PIGrK4TffNwGkaM3n0gsmLv1fsff5pHfkn8uLcJQMHS3tF2kMngpbSscW7yUBRcOddXO1I32jdpnKLCbR5P9m8pbL6wrhUINRjTSuM+RD02WDzMHDmYzzeU0yQbgF5hT/h7ATmoL5kRPPC4YNyMx/3U3qv3N/9d2m/KP3gQ+IOtdcSV4sURouVJBqCs1fBmAan7AOWDdmWtDY8BxwPjZrSgrNt99e4quKEdJAEoRLCHOMp+qXUKBIzvil21A4ByM5rWWBSWPJySKnygOeZT/wowm9T+hvQBxI01x58AFGzvI20Hc1uVe81h3+Dju8DeDS5ONj80FoTRD5wUMXr5C8lQWULhIvVe+NM+8kvifWCeABQc7CVHjub3U6lTDQmtGaPYFP4r22naqr1EjD6C8d62/+r9TXB7HyAA5VUlASiEX1smHN2C/i7XFdUqGFgzIBWnGtNYMPqkYBGjFz7ek/obROuz/0WK9ptsJhBZELrjcK6f8iiJNQPSWSy+mLXf7PnffPQYeGwwhpUXkGGN2+7X77jin9EK9ACJm3A2E5DhW6OO94A9glDWDEgjAN2v//J8YA0gYvQyx3rLzav3N3/GGfJLbCaQ/Vqz4vjiYQ0bs2ZA3A6lU693VGHxQYxe5uLRdvPq/c+fEar9JvJLbCYgLwh1vA98pMQCrBkQg0MtuAlGEKMXNs6jBrfSJ9XTXbTfjMgn5thMwLGPTRpIvVXNxuF3BKAQ6Ql1S0PqpkIqFjF6YeOseyB4rCdzRfvNiHxigjEAD0HLV8fz/4Z6UAJQiHMTOncjdaNepnsNQNB/7L9oOHz1/mbcQ7Tf5AZczy8alufgNDaFD9aFU8drwB42jjIARQc0Y2carR+YVJW68Z2K5STVZ4zv3L56dxXQIL/k2DfGLI/DPDaFPr7mWhnlC3aOLQCFnJ1pyd0mU9T+IMET/uZh3/2r9z9j3gwUgBL46PsH4wC+fO2L47XguSwrAQJQiGFB+Omu1WHxGhox+mgXfJ1HPbTfjNBHnglAwaO/7TheDxCpdzt+y7zdABsnmaFub12HckfKwRCjDzS+Jimv4/qLeHHgeAoQgJ4w1kYbisWa3br1wpDpvnOFIka049dEuxlsbDwz7ie2ehziLRDZZUzf2P7YIPXe0FiY5pFfitJPrhgL8BzEjDuWZnou/wwQHoBeY898Hanl/qGPujHlJixAULFqYMcVf/7E4zMBvnJCAAoB9p9Fx2vDL2wsPgA9w575bjxn7q/LEaMPsECYCD8fevQnUjgy1gGLc7S1jj1BzqGVmmQHY2ZT3/sAe+bpRKMa7RL3AjsrBc1ub7Qe6r96/zPOtN+Mdy34jhwWBFyvXOqD3vIgSfSh4Qf2zNOJmn401hCj97yYfwujIuB7nP+M9yJzOchaQB022PK/MbePVVUXJpAZgPJwONdApa5cTrvjLJ80/pxZzwHJZMZjOmFwC3no2Z+QX5LjN7PcSEPgoGbeca/4EWxsbb3Yo3EAmDpRXemVS4PTLTdifsb01H/qXdufKGCXdQNlUYMRQGsN2Xa4L1CbHO7yihpdML3xMKntQpLHQxCxFi5op/1mAmuCLUmcc2wJmuvIcHnRQS1oohcdKJhAMdFbGo4yZ+CwiNG7Hc8pg9S7hZSpkeQTrVdlbCpXqBKAkLXMUTML1XYaLKwVttRO2hwKcKCqor4GtXaI0TtcsIcM7PtQqiGIWZAIdMKtCQf2BMABjNa07yhmiF4rri2Nxw22zG9y68gvGQr6IkbvcDxbYetlkV9KxI82UKIAQUHOJY8WxY6NrXr/Y2yZ30bT1HCUb4YOu+0xMMnoVFUIzr+EDeBov5mILy1YHJ8J7AmGe8ZMmaIlDS9wbGxdOGxhy/ycZ99/obDXGsGXTAKGEYO6PUup9+J3tGi/mYQ/fbI4NnPYEyzsVXsO1o497Go8LlwigLbz3NV/PWj8ZyJGb38cf8iQqlI3zt4DUFquuvGpe0vz7zO2BEuHItsPWK+wq9GYjKPZDbobzGyYEyNi9A7GsR2+dhL5pcT8ylKtNpqLkY37Rfdi4k6ejquJvBwvrx34yoy9x4rU4+Z2emmF6VSAGL3FMRwxuHW8s5d6L35LM1AAOs9cduJb6/R3zm7Mh2WrGBS/74ELCjHjsWhpHC6xZX6nlzON06KlgMXrS+nVhMdwW05gTvvNxDaXaUtj9AtbRjPmUz3WiXFhv3GNA6yYsbB16bCDLfM76b6Eq5fxWiu4nWjwaZJ6d6CPSvvNxNaIEUsHxWtsGc2Yf5afQSr80qI4PTXKBmNhS6N1BVtmhc5DIJu1XF7FyhPUiCz0W+9kpN7/BMMhuh+tMpedrhMnlm6pqbOLY13pUXahggxxfvmD19cixuGnpTH4hC3zchyddKnFVoeI0Yeb+C5uNJBfSjQgWWOcstoXepX0HAn8nTMEoMkcUO+xY36Ocxe21g4xeoOgYElW6r0YT9pvprlOTFBnl9V4H8YTINgq4yIANRiDW7RYoW4AM6nhJIeWHRcxer2xGzHQZ3SQei9+E+032WQolUhjrD9oeSntIVLxW39QAxp0Lxq2050K++fmOK3wG4g1+YaqTj6WyAax9584OSrfY/nnW2Yue/G5n0gxZTPWT/EECUUmiNv5cL4yQf0n6DiORrpUyXNY/Q2I0de32ReZSgDILyV+YLVxwDjGjuLHuV/71Z+R/V50QONYF26wY15Oo5MudSCjghh9TXuNGqTeb9yk3v8EoMgvsWYM+h55CS9+nCf7PxSROH7Kr+iEFMhf1siMQN0Juyzo4Qpi9NVtdSgzxUT7zUzWjQML4zaBHUUHFEvxKRmoyxFu4ALZ3kJpTmsOO+blNDrp0i+Ofgti9O4ODZ7+3rTfzCQ4sZBuUwEORHyjJfAQb6y+ccS4B7P9FTbMz2nu5NTaWdEQC/SK39um8Mmg97Hj1Lv3MRSeDkw6OBku+4IbjdsWdhS9N+wMGL/TBIMg1Bn0bf+Q76UQ6GwiOvJLFw4deJ+aQZcBnutbQuSXMttwjgzH7RQbih7fgwr1ksLUREwDUNuPa7OJJWw8AJvFjnk5TUtWkTBi9APGqyn7dKkC3CDp9yZzOYg/mqbhH7i5Fh2AXvhtx2zlN99Q/xnE7suGa8E1a0F+TqNzWpxx+HsQo/94sx8zeOHpIfWufaChrWO8AeiwgRIDN07y94fH+A4RRq/gKQkJdnnU+o4N89s86qZLn90uNojR95ng5wayIp42+So3JtxkJ7bx7BiO3zdsKHJ/GI3vMVnRFQ79zzDrwLGZ9BWKGLk5jM6V+S/HC8ik5+AlkpoTtUlLlydCfinTQGUqz8eAye8PMzXG8FyIL84Z+OEJY65t9yHDB4nUgme4wOzLq7UrbmVp3fhvUP4sv64G+aWM15JTM0F6ELjuLMY3D1sbrCPB9iiTdfwLNsxv07iTWWuHGP27k+W1Qep92qM/7QYIQNtl2g0C++kSdaDJ7Q/f4ntEol0CxO2nmd1N3m7c8viIE0uV786TMyNG//9xasXT0ixI+81L5rIIPx02fPxBHai8oOKHxkHia0AfnDY4xFL7aeYrR5RQgevAxlOwhhh91w6z3eJs3VOlx5tB77W79A2W569bBuN4jP3EjecvjXF86qwF44F+7z4v34P5ymMeD4HBlsOcya2R8ZrKvZA5PsWNUiSp92LMVgMFoAgXy/HZMYNa5Sd33dVAc07rrj/n/lOqxe3ns+ZvpYTH/KJEd/3+hf3y2yh05Jde/G0QJoXkOkLYIif1dly3gkYSHLrfHXNZ3NrSoi98MoGFSVvFXY8+N6RZ+3mPfrAV+3838JMZ7JffwqIjv+SxbaXv19TiJvS8Qer9KsxNklH9H+0309mMPhncgv7EfmLGccTC/PSU2tbKmD35zxIlG0+cU3YDdRxGR35pw+Pil7EYfXE7fRvXiZL2m/BmffmpL8dEGl7IOjRtaZ46DkJ1Hkqp4JObN0v2nzC4LKF8KlOnESq/9Gfxy1iM3qj+NdCDHKMUDO030wtexrqbPFqM8Y7hZ4tz9ch+nWXRpemE4DP4fqXbIOUM2+W5sEzKr7XLVYzeKPV+E66YXjsFQ/vNdDcm3RrmHWwnYi1at19rrzIWNh4nFSVkOpJvl7R7lLL2c9DMdWFpxVFrZ1QAL7i8oO+J/iG+Yu7itqsd4PazxVwWvc580rwFJQ0vI7DYcXdwLB6ZTmisM6vdIFLzURR+JeAyq3sjDrkuLGdx1Nppd7QQ/mLzw7/vvsHvDyimr/WgzUYAOsdcTvKwS22vjH3CtapFu7sX7ZZpXKWAoG7FXr/Nle4t7H75sNIoM7TIeDqZ3zqlVy/cQufrMLryS6MBFsCMxOiNgribsCd7o8BZ93vmNiOK9WaklLqhPizCAPSmTw3lXjdAfB8wbnQfoF2HOZT+k/LfoMWjUx+5k6uMABIdZjmezSAXMfoitfSgf4sQWkokSPvNU+Zy0mvObyRygo/bfW/ZnKpdjv6kzM88l+ioDnBriMs737c+670lYVxyXlT246m1y0WMXt2+xtqGUr1CD5J+X2MuR7Xu6NyIHWC3YPN6uEfQeKR/m9ia6j5Ku3e0JtyXN6+qLIcbT09z+lRjnFawW95OcxfPazXftYUhUrpGgvs34dPQodpvhuo1DZp+vqB5u9/AdkHGa7LHwzALc04Fh4UvbHVfT+s2LLgrD+7FTSdBZxj/qHurfc445e00Db2C4VBBjlF/WZ2gZtLzeBhoJUpIvRdj9CtAAHrLXM7mxmQPuwU7MNz9/2t9dfTnDJcPUooHSM3y0ZHKuP39FQ+UmuVDInWTSu23gLl8HOd+BSEXlY24Huf4Tu/6vuk1emS1LcCfdB602fgISuI9AD9zCwoQdfCp0fmIkimIRn7pTYCTqBi9Uer9SkYhd6j2m5tfmMtZHYJ3sRuAmDjiqP4jZlLvuS/8mrdVoW8fUhSjL26CdFPvL3JSGboaj6bagUrgHCJdh4a6mo7cggLEN3/na95+PqP5Cf+V9TPS22/2DEATFKM3Sb2rGikxJ+GLAAHoMXM5+rVoWuMwTOcUgPBr/pncrCJIdpz9OFNfRhJFdb8TD3+fVcPUu5BURtFmMUT7zXXmchJB6Pd41DgAQGPv4tAIf5znLs4FPyUx+kK6wuDVu1IFEBNANAPVf84wl5MIQHVS8Te8gAYIduHwUC97GqJ7Ikh0nkZc8ktvfntCYvQ6j8BCNwP48O9yGCD4fKSYPal1SSMV76tOGwD+Wu+PatZ9clEARkGckF7MqYjRGwXS1/JufoK03ySlk97a1KzpA888SALwOkcX41HOAYmnl7N4b9xSEKNPKfVe/H2mAqXfKWhPc306rl8qw004gIe1frzmZcNPbAZ/O5Cu/NKkkN8/5jkAXbT8+4c0+2C//p7vAgOGb4Hkl6gpSnONGtWYI9+wG4Dztb5OpztabcI/i3uk8ktvJoHPALRp2f6tNF69ay9Ktr5L5nLS69RUzS5JbfQFAZzOya815uM9pTHQK1jQkV/aF/Z3iFSMvigfaBuk3gUWcqsOTEHab/5gLie/4X3WqI0ewW4A1ufidI0D4XN5gAT4Nwi6C38LaPx3iFCMvih9uJYRCFtdmBbC1H+2lpjLWWx8dR/rUXMGYP+S4bZGadQiNoNejtTQrLUbFxaARihGv7lt8BsE19Kom0jvAeg9tUVZHZr3eJwGEGz+1XkUuIK9wNZtgiD5JWvB3O/6YtfGdp83TL0Lrm1TtZjeA9B95nJW65bKHpzWlGaaxm4APvdaVSMK8LEzncUveF78PVY9BjsvFjbPW4NUs+BWk4UiQYj2m03mcnZB6Eh5GKzVeeUTdgPQnnPN6uu7RHUWkHaL8Kyx2c8LDEB9i9GPGfzWXcPU+7DwBSpE/WeD+ZzlGtaoWcPOTTmA3lybr3G5sIW9YJBDLcXbfvOfoM63GP20h0ncq/ZW+EtCLUUF0++OuZx9EFpHBYPNEcDZHJOYIQWJwcJ2uAc41idIBGL0hZi2iVyUcGHtQlD/PkAAus1czn6DVJIwjzXm7xo2A6i8b92yFoPtAPQ2rVo7n9qTOsXVRreDl/JfeRe3uyHS7/PMZagZhLbxG4CBc2qkxqPSVewFVYOhifRq7Wo9SPAsem5Uo9qW0/a072LVChCAvsiuiQXPPjhVI8vwxMt4gL7B51lFVRaCT6jlXGvp1dqp8gBvgc9hDVuPmaXeJb96f2P/swAB6BlzGd7Nt0aN7M497ToB/plDQxX30zYNQEAnWDhKT2vR6HW5xmv0yr/LRCT/Ig6B9UJRIUD7TandoCCiIPTGTNUCILngc79iBmEOe0FdB9Ps1S1da1FLVN/xy2uj1PtLPLczweo/G8xn+MAnVebhqoZGKL4Euc+Z4Ypdju4pXwGfwcJL+RpO9N+rKUuMvqizfTQIriIS8vV6+4z8EtQ5bFftmHSNUD1kPFeqpt1PyBiASbCwk2atnZJG8nr7NmCzUulzk9rGmHqb1xIDp/0mSF3zrghCIdODWpXgcy+ufQkkLsZXGsFWK4JJNOk5AO1T/6IeDhm97J6KaPFqBEq/N5nLUMNP1ys2gbjhYRJkNC9GK0gttcv5Q/AJQYK0GDTzivoVn0HQlw8C/Am9FqexPqwJ0n4zgpIQEOircxUVKe4IQoHgs/jUfJnBVhAqWIhIa9Go05ClzkTGqffIdC2DtN9Efgl018CxiuLaPEyClOdBo8JepfajcWwFtoKFY7eal8H/fhceg6AePaVzSr0Xf9/hUo7De/q9xVwGA78dqlgXyu0PpBgHzAx4INsuH8GScge7i+5T2rV2Rpqbdb9f7/5s09R7hP2pab8JUW/EyxXWxBfEtiGhOGBhwD51X/4zAHYdbyl9rcXNbY+B0OW7P9vk9vUkztMm7Tch+nVxrGwsMVCTdxlbQeS+/nWABvgBKhAgKTiLTGvRqxj9/V+2/WHw33mKt84mSPvNQ+YyWF43hrrtiQdlMLZJS0Kc/t235OSRAxa4DhZu0tdaNOo8pHM7PNR9Wds2+O+sRrqohWq/2WQugyOfbgwWro+tThug9bmPTx8jLA+uHXBMc8OP7FS0Oes5GJrUDOwjT70XPrUYqP6zwXwGx+vISu9HGjF1JwN449PvheafufUEX863mketnXagbSAHZJR6jziYCiK/RPtN8LWWfOq2mH295T8n/Q4R+/PUX5m6feSVwGewcJCP1mKItHCOqeQg7Td3mcvg2c8nSsULNmyI3pe3UXSAEI73mI/WolFK3Nd3GvdtSrD2m/PMZQAAgDiChfm8Nvt/al2kfc/x36YEa7+J/BIAAEAkAdl2Xpt9UbclOQBdScCnaL8JAAAAfYOF67y0FoOIo9fp9R75QwbabwIAAED/YKGR3wMZrRf/Pr6nNCSEgrXfnGQ+AwAAxBGMreSntRhKnzIXAfUgN8zILwEAAEQUgP7Kb7MvxOGlBaDHCflUiPab+8xlAACAOAKxEc0WkZFv9kWNoqTg8zGdVme03wQAAID+wYJmKlr9e7Gz+cCrdyd2XQ5gvzYi4AAAAPEEC/v5ai1uXggJPo/wKeSXAAAAcgpAH/Ld7JWMVPDg874TzI8m5lN3yC8BAADAB7SmNTf7tUQCJQFi9CmUMrzxqbFAtpxlPgMAAMQRLGxoBk1Tef/9ebXdx6bNQNqpQ8xnAACAKNi8yXuzD/JY5vV7SC/1Xtj0EPkqAAAA+ChQmNDc7E8SssEsqXebqINJCGUB5JcAAABiCRZaPPYIVq+YqGD65kygYL7BfAYAAIgjWLjR3OwXErNDgHaRKabeC1tuBbDnFXMZAAAgCkzaUCYnGfRA6t2aLa8CBKDbzGcAAIA4AoUdzc3+OkFb+BSj3034UDOu2dIV+SUAAIBMAtB7zc3+IEFbHJJ6txKAfg3UfnOY+QwAACA/UJin28ybAHSb1LsVO57QfhMAAAA+ChR+GWz4KwnaY5XUu/Gh5lOY9LtqJAAAAADSA4WGWaCgWncmF4Auk3o39quvgeSX5pnTAAAA8oMtQ5mc1kiCNpkl9W5sw5NA9Z8jzGkAAADRqMcaRpJD7UTtMoZEkJH9Qr1+R/8TAAAggkChabjh36drm80XBwHSTfqp98KvNgJ1kzpgTgMAAMgPsi4NN/yLhG1zQ32iVvA50vm7PgUKQLeY0wAAALIDhQUkb/oGoGek3rX8KtDjoyLA/8q8BgAAkB1gnVvY9M8Tts8hqffaweew/zambwLQBeY1AACA3EBhwZ6cULIB6Dap99p+1QoXfCLBBAAAID24urIoezOUqI1WSb3XCj4bAWs/CUABAACEBwpNy5v+dKJ2WiT1XitgPw0bfBbfMvMbAABAXlDV6GzSzzyuqRRQzVq4HZ7KJPjcFhB8qu8HcxwAAEBeoHDsYNN/SDMNbypGr+ohs/CplUCi872+63RLQgAAAOIMFBzeUinh8SRt9kIg1DdI/ywo+OQlPAAAgLBAwbU2owrUZhIMQG9IvX9omxV5weerNi23oAAAAKGDz6anQOEhvSB084TU+z/+pLQ+jwQGnhkqDwAAAMgMoHY831I9pSWFs7lP6v1N8LlUar+KDj5fv92yLSgAAAD4ChSmLHU60v06gVtrPIEAdJvUuwqolbzR5mUkged7GaxF1gMAAAC3AdNE99ZOQm2e+g17nQBgMt5bwTpi9Kml3lU5RdHZ6C7CwPP9d1nWrOaiyQoAAOActakWdZ4nQh+FdAMAFcyo9LyqIYzGtlXF6C/iT72rG+vipvNn57tPIOj86LHcYTlfYj4YAQAA+A8UGmUtXnE7dSU46Ox3M3rZrdFrdoNSoel6FaRUCWpi6gbV+lSK7BeHlu2uNuxjogFnhZpldXjYPOh8W6VahJJxKoLTMdYaAADIPehcTPhW6u/vtnw4Jcbuw2looBai+pfhe7VH+T12yxAuy6AdAAAgnwC0mdGGfybL9n3F6CNJvRctWAkmzUXuW6xFAABAAEoA6iMAvYn/1TsBqKVvlbUIAAAIQAlAfQSgZ/HfhhGAWroBbbIWAQAAASgBqI8A9DB+wXkCUEsBKJqiAAAAAAAAAAAu+B++uVPRdPP1NgAAALx0RVh0TWF0aE1MADxtYXRoIHhtbG5zPSJodHRwOi8vd3d3LnczLm9yZy8xOTk4L01hdGgvTWF0aE1MIj48bXN0eWxlIG1hdGhzaXplPSI0OHB4Ij48bXN1cD48bWkgbWF0aGNvbG9yPSIjMDAwMDdGIj5NPC9taT48bWZlbmNlZCBtYXRoY29sb3I9IiMwMDAwN0YiPjxtaT5zPC9taT48L21mZW5jZWQ+PC9tc3VwPjwvbXN0eWxlPjwvbWF0aD79PZM9AAAAAElFTkSuQmCC\&quot;,\&quot;slideId\&quot;:760,\&quot;accessibleText\&quot;:\&quot;M to the power of open parentheses s close parentheses end exponent\&quot;,\&quot;imageHeight\&quot;:38.56},{\&quot;mathml\&quot;:\&quot;&lt;math style=\\\&quot;font-family:stix;font-size:48px;\\\&quot; xmlns=\\\&quot;http://www.w3.org/1998/Math/MathML\\\&quot;&gt;&lt;msup&gt;&lt;mi&gt;M&lt;/mi&gt;&lt;mfenced&gt;&lt;mi&gt;s&lt;/mi&gt;&lt;/mfenced&gt;&lt;/msup&gt;&lt;/math&gt;\&quot;,\&quot;base64Image\&quot;:\&quot;iVBORw0KGgoAAAANSUhEUgAAAqAAAADxCAYAAAAUcQW+AAAACXBIWXMAAA7EAAAOxAGVKw4bAAAABGJhU0UAAADwfZlgggAAJhZJREFUeNrtnS1UHEu3hrdAIBCICARiBAKBQCAQESMQCEREBAIxIiIiAoFAIGYtBAKBiEAgIhAIRAQCgYhAIBAIBAKBQEQgIhARiFx2GL474cBMd1V1/T7PWmXuPV/o2VXVvWv/vCUCAACpMoIJgHUMAAAAPnj3OHYfxxGmgMSZexw3j2MZUwAAAMTLx8fx83H86Y0FTAKJMv44rvrW8vHjmMQsAAAA8TAtTxHPPy/GpZDChDR5bT3/ehxfWNMAAADh6TyO+1c+1joeHscsJoLEaL+xnp/Hee/QBQAAAJ6ZehynAz7Svx/HEmaCRFl8HHdD1veaEA0FAADwxid5O+qp4/pxzGMmSJwZeSojGRQN1drQd5gKAACgOfRD+23IB/mCDzJkhDYjnQ5Z89p49x5TAQAAuKf9OG6HfIh/PI4JTAWZoWn23SFrX+udSckDAAA4ZKP3gR30AT55HKOYCjJmtcI+OHgcY5gKAADAHE0/Hg/54D7XweF8Qgl0KjihWoZClzwAAIABegvMsAYMHTs4n1AY2iH/e8i+UM1Q6kIBAABq0KnwgdWxiamgUBYq7JGH3l4CAACAIWzL8BSjjl1MBYXTlsFaoRzUAAAAhqCNE1XqPXXsC92+AMpsRSd0jz0DAADwL63HcVXR+dzhQwpg5IRycAMAAOiht73cCJFPABv05q8qddMq00TTHgAAFE3VyA06nwDD0e74B/YSAADA27TlSSqmivN5Jk+aoAAwmA8VnVCtt0awHgAAiqKKhMzzuORDCVCL1Yp7S51QSloAAKAIqoho94tpT2EygNrsC3XVAAAAf9Hbje4rfhj/9JxVAKiP1nieVNxne5gLAABypU7DkY7PmAzACq2bvq6439YxFwAA5MZMTedzB5MBONt7VbMOS5gLAAByQaMwlzWcT+14pyYNwB3LFfee1mbPYi4AAEgd7V4/r+F8atPRNGYDcM5OxT2ol0K0MBcAAKRM1bvdn0cbkwE0gmYVzgTpMwAAyJztms7nNiYDaBTNLlStBz0USmEAACAxVqTabSz9aT9uOgJoni819uUXzAUAAKkwL9WF5v/0HNV5zAbgjcMa+3MBcwEAQOzU0R18HpuYDcArk1I9FU92AgAAoue0pvPJxw0gDGs19il3xgMAQLRs1nQ+6XoHCIc6lFc19uonTAYAALHxXuo1HenYx2wAQWlLPY3eSUwGAACxoHqBtzWdz998zACi4EhIxQMAQIJ8k/qpdxqPAOJgtubeXcNkAAAQmhUD51OjpaOYDiAa9oXsBQAAJIJJ6l3HKqYDiIopqVfDfYDJAAAgFHtC9BMgF37U3MtLmAwAAHzTNnA+kXIByGdP62FyDLMBAIAvtAv2Usyin4jOA8TLVc09vYXJAADAFx0xi35S+wkQN6s197Re5zmB2QAAoGlMG4/0Q0X0EyButLu97oUSNCQBAEDjmFy3qeMbpgNIgu8G+3sOs8EzeiK5yXCsM7XZsZHJ2twuYK5UquW3oQP6nqUOkAQfDPb3CWaDZ36I2Uci9kGoPy9m5Ck1m8PaLCHCt2doG3XQub4PIA3GDQ+a85gOcnZAz5jabFAtyKuM1mbuDuiExWGhy3IHSIpDg31+jNkgZwf0J1ObDZuZrc3cHdBtC9uQfgdIi2XDvd7GdHAg+aQ2Xw5uUUkfLVh/yGxd7mY8XzbRz2sh/Q6Q4p43eUdTCwr/QyVTWr0IxIo8pcLUOdVUtmkzQejRYlqTJofUu0bij+RJhFlP/O8yn7MtC1t9ZckDJMmx4Z6fwXRQxRHQouGOPKUPbyWNjz9yD2mTYur9V2+PdKQ80eXx3u83td1HljxAkmwY7nmioFAbTZOp/MK+xB0d5YOWLguSTupd94BmC5ak7LKPrqUNKZkBSJN5i70/i/nAFI3yfLWMfDQ11pieJNFykBRS7+oga8PNO6bsLzaZkR+YDyBpTGu/9zEd2KLXcp1E5iBQU5YmOwk4n+ec3P9h0dKem5gQLA+tLXm6AEH7GNq9Md/7vzfd3Kb3ond7Y7rQOTiyOMhz9S5Yo5vcVIC6iXHElCRHCqn3DaFb+yXHljZdxIRQEXUoP/acPdWgvK7wznjo/XdaKrPec1LHHD1PRxBZFzGvA/3Tc+ABnDihsURCEaNPL4oRe+qdF+V/mbQ8NDw4dAYg3zW20Xunuzqg6r/zo/fvqkNqUoOsXdx3L/7diULnyCYLwg1o4IxZQYwe6vMtcudziylyHvmg/hMGoY6hRtd9NLs+K1ioDGGVlPDCK87n78IDCDaHgyWWO7jiUhCjh3qn55hT7+ec0N/kXKjVBreohN5Z4D2v2RhN2XflKc3+PNYHPNtV4fNmc7MizUjgjEOJw3GYZiqSODnHrC2rjjGCya8zL8ilgdt3wZ6ke/vZQeHz99XyPdtiC4ALYkmn0tzAWrEd20zRm7i4LGASM0LvkHdtsY7ue4EPld9ry3/l0XSdaUr/kzxdh/tTKNNxzYpQYw8RcCRxOA8dpiJqliOPdmiNFxIhb2NbaqN1d5Q2wAcx15L+2XMq65Zb6X+v0fdTh++Lz4XP45Sl/S7ZCuCCWLqZ15mKaGlJnBcYENGoxpy4qa2FstFmHtMmI03Xu1BQ+CLmQur9433hczki9g1jlDuBFaMRRbV2mY5oOZa4nU9dw6SH32bLgY1pPCibtoXD4vqmOz0Q2zY+cSuafVakiwnBBheNCa7GMdMRJZ8l/oYCLjJo9kPzLOoPZaKlLTdiHvls6plMndB7pvQvtg3I15gQbPgSkRNxxXREhyoTxJ56pzt7MJPYGCwx7RPQd3qTFxeMi1kzFPWLT7hoTES9BoKdgBCjz5sfEr/zqdEMNGTf5oMjO1PvVSZLFmtmxcPztaR+TSgZkyc6Dt4LdMODMU3IWyBGnwfrkoaeH7WJg9l1ZGeu4CwPfR+bpt5VL9iXakJdR2qTqf2LixK8U8wIpifH2JwJwvlxkErqndTwcFxcHEB2okw6FmvGtyZvnUbJT0ztXybETQMo8ndQm5jqPxGjj4sUUu/P9zkTNX8bV/Wf3AFfJhcJHQxnpbqiywJT+z9+O3g/LGNGqMtBhA7FZ6YlON1EnE+UE4bz0ZGd9zBlcUyJnUTfVIBnrtrTgATT/+NCIeMbZoQ6aG1OjCnWLlMTlBlJ627nNaZsILvsSzBkzXLNhLg1q0pN4y+m9h++O3g/3GBGqMP7SB0KxOjDHkpMT8OhnNY5pm0grq4u7GDK4jixXDOxrvkLpvYfth29I4gqQ2W+CilV+JeumNcH3gVYKzfC3eTDDhSuDgbUzJWH7Z4OtTeHRW6/M7X/4ErthGZQqMylxOmAIkYfBtPU+++ec4L8UnzMCuoUYMaUgzUT6mrcySHvsm2m9x9WHL0jtjAlVGFa4u5qBr+MWhxINNqwIcgvxcgnh7ZGZqUsXJRozQd8/nOhnKQqrgIIKGVAJVYl7saSCabIK1sWL5wRCSPZhPzScHYc2foBUxIVk7QaBAe909pM7z+4ypRwIx1Uou69vr7r+0j3+WNOzFLv2kk62Xvh/Bb/Diin7eEcO7L1LaYsjjVJu0RmUDd8i+n9hwnh2w2eGJX69+buiF/nAjF6f2vBNPX+rNfaFuS6YuXWka3PMGVxdB0dXEYCvtvu3gim0Lj4X1y9lzuYEgZh4jDUuWECMfp0ME29n/S9xLckjAPKSXswY0K0GcI6oDo+BPwNr8lInTO1r+Iqi7WJKWEQmzUX1GXvf3ft0bmgm655Fg0PFfcvnL8bCSO/BIOZcWjvA8xZHGuO1s5RwN/wmtTgIVP7KjcZzDckQN27fb8OOE02NfjgNYsKBv80nJv+O39bEib6ybVvw/mAvcGCjw7Xz1Sg3/BFkGCqiitZxmtMCW9hou32LHXzTWgwyYUDw3l5GT3oBHJAO0zhUFxKMJFWKw+XEfRQUcfX5IU+MbWv4krJRLNq1NhC5RNh1eu1fDYiIUbfHIuGc/Lc9d6Pz0NJ/wtukmkciktt1g3MWRwjvT3vag3NBvgNkxKXNmnMuMxwUp8Pr3IoZvWfik/tUMTom0EPE6ad0a81hoWo/yQ6Xo1dhzYnalQmpw7X0HmgyNhLxRc0pl9nX1CxgchOtP2RjyXPjgYvinheMsevfDzmBfmlnA6blDzAS9Yc790QB5kLAhuV2OPACk0yZ7CQZvr+9zPi19EgVeKWjpin3l87DHQDOaBtprISLm+nWsacRTLleO9qNJLymThx+T6nZAesF9jPF1GvMfHraPDRc0dL3KbeXTs4XL/pHpeyaTj95XLleA9/x6TZO6BfMSe8pG693mudiz6vXESM3h2mVzK+1b0a6vpN5Lma2+84oPAaa8K7vQRcNi3ynoZ/aBksoi8eTsOI0TfPirjren+mLcgvxY7Lm8twQMv+dri+BU8Pr3RKx0VHaBSFhqirCfiW1M2xEO1K7eNhKqUyKEqxK2Ec0BZTWokRoR4b3HHYwF7WYAblNHk6oBeYE/qp2/18HoHjcca0WWOq7fZa13s/XL8Z/8EDxx9c0ZTixaEgWp6jA8q7Gv6hbgPKW9eVrXt0OH4ybVaY1m691fXelHPDdZA4oBA/TWW/1jBtFKyIW7UDgL/MGiygJQ+npCoDzJiR/wow29T+hlwDiBubzT8OKLj+jjw0sK/133yPeYOzwLcbmmDb4IUw/sa/hRh9/GhK61yaSb0rIa7fRH6pHm0cUGiAw4b2t2Zd5jBvVu+McUwKyqW4q71EjD5+tsR913u/c3sr/h1QuipxQCE8U9JMFPRP773yDhPzzoB8mDB4YQxKwSJGHzfTFh+IDwFeUly/yccE0mKnwX1+IjQl8c6AbPhosHBmhvybdx4dj3WmsDKaor40tPNRxb/RDeSAEgnnYwJxMN7wN2APJ5R3BuRB3Xq9nxU2P2L0cbIpzXS99xPi+k0kPfiYQFysNLznVzEx7wxIG5N6vcMK/y5i9HG+PExT718q/o1Q128iv8THBOKj6e/AEibmnQHpYiKrUMUZQYw+LjQlZhqVrtL13tQLius3m+M9HxNoGK03v29w3/9k3eGAQrrUTclqdKtKKhYx+rgwPRDcST2ZK67fTIcp5gA88KnhvX8l1IPigEKSnEozUjfLnh0Q9B8HvzSa7HrvJ8T1m0TAzWg5nodZTApvcNLwO2APEyfpgKIDWjDjBo5JN9BC5SRlPsemTuFRzb/VEuSXUmLC8Ty0MSkMWGtNK6N8xMzJOaBQMCY3FlX9yEwLEjwxYHojUZ2u92c6gRxQHB9zmAfwxceG3wNaazqFmXFAIQ2+Sv36z6qp7lHPTghi9G5f+B2Pzi7Xb4bDZYMIDigMY6fh9wEi9c3isrSO3o2CGelFuZqUO/rp0RFBjP5fbFJeRwYv8VGD9eRiHDPVVris2f2AOaHCd+dCUMRIlY7DeUK7uWDmPGzsM4+OyC5T+g9HYp56bxn8vbYgv5QiF8wFeGZSmpVmuu/9DYjbAb3EnOXSleYbfQ6IhAXhs4UdVzyuJ5rPwuNSKBwHFKqy2PB74Tsmjt4B/YE5y6XudYkm4XLE6P1jI/x84HE9kcKJA5d7dA1zQkSH1jYmdo5Lfe99zFkmKs1T97rEvcCLlYLmZiNaar8Jw7/J9ZvpsiHIYUE4mtQHvRYakmI+NGxjzjLpiB+NNcTo/fJFwqgI+J7n57HIVg7yLqAOG1wxIc02q37CxNE6oDQOF0pduRwVq39n8HfmPTsk0wXPqerfmUYhDzyvJ+SX4sHlHiUiDSa0pdnM2Bgmdsaew7nh4oBCqSu9cm5xuiUi5gfTVJZN6t10PVHAHlcEyqUGI4AJWw2+K6hNDhe8okYXrCMeXYu/hyRP86wGdNpbEib93mUrO8OVJM4ppgRDRnuBDmpB8wx0oGACf+kaLJT3Fn8PMfpmmRHz1LuLlOlnCeOAcvWqO1xpgaJKALbvsqYus1jCvE5wpXbywKGABVRV1Nem1g4x+uYYsbCvHgzGI3oh4eiEY9/RvNxjSrBkQ1DMiJlLR/NxhSnLw0R+yVbQFzH65uhK2HpZ5JfywKVcGo1hYEsTqXiaFt3gqt7/CFOWR8dgoXyx/JtNFpeXfKqalrCpd6UtYdLvHbayUxYczs0U5gRL9JroByENHyOuAg6bmLI8TDrYWpZ/02eN4O9C5lFlRUzr9lyl3pVuIAe0xVZ2yjuHc/Mec4ID9hp4b+xhVmsIIoAxdcPn1w7+JmL07tmWOKSqrgI4n1y52gy3jubnA6YER4ci1w2sF5jVikmHczGNOcvCRH5pL9DfZWEPtqdpespl7WRLkF/KCVe12mgupsVZLzChIzYd11XH7w46r+2YE3fNitTjFkbXYKG4uKkAMXp3aOrdNOqoH5hxh8/SCeSAttnKjbDmaH643zkdRiVuFQN9PtdRUCJv5iw6moNzTFkedeVyHhw6LD47pT9nPIc2DV2uHXOu38yLWUdz9B1TJsPMK/M3Gdkzuo6CcoANH3TYwZTlnXTrOoEu62V81gpuZTqHNqn3JvRRuX4zL8YcHRQvMWUyfJD4M0i6Ll2K01OjbI4rjdYVTFkWJo1ALmu5fIqV56gROW7h8LlOvT87wyHS75/Zyo1yLG6i1NTZpcFrZRcbET7nttB9HQNfHc3BO0xZFibpUpdXHSJGH27jNxHR6ArySzmyyjwVxWslPYcRPuec4IDmckC9xYzlUTd65rrWDjF6c1Q8OabUu8L1m3kyJdTZlcRBQg6CqzIuHFBzrh3YHy3Wwpg2WCQHjp8BMXozxsRcn7GJ1LsI12/ykaFUIhfeuvJyMsJndZWGpwbU/L3/gP2hLt0IPiCu5BuqjolM5s7mNpCmmgl8z+XzWGYre8FFnRdSTGnwKyEnYUmIzofEVXaE+s/CMEmXzjh+BsTo6/NR4lQCQH4pb1wcMI4wY/QMun71a2LPiw5oGu+FK8xYFibp0iZkVBCjr4emzm8tNvl4g8+G/BLvjGHjTuiEj51BpVm3kc7fneW65CYkc1w0KJIZKQwT+aWmGlcQo6+OjWpAu8HnakmY9HuXreyVfQdzNoUZo2ZYSrsV4TNfChG4ULgozXmPGcvCJF36saFnQYy+uUODr9/dCeSAttnKXnGRblvCjElHtGI8xNuqbxwy7cFsf4EJyyO0/FI/LjTEQnXx+0LrnEzvPm469e57DmNPB+aMvgPuLedtEzNGzc6Q+TvJ0AlCncGcn1JuUAgMMJFfOmvweXw2r6RaM2jj4LU9OCXIL5XDoeW8nWDCqBlWZqH1krGpidg6oDNMu3FgxPY9Po8Zy6IrcRUJI0Y/mE7kp8u2hEm/d9jKQbBNw2vEhMh1vJxVmMO1yJ7ZpoyL+k9zli3fBZe8C8rD5LQ41+DzIEb/NhppMO3w9JF6Nz3QcK1jumjE+1aIOOVKlfdNbIcImy54SkLCBY82MGF5H4+66dL7hl82iNG/zamYy4r4+sifiX/nk6hFWHYs5+8LJoyScUmvmWzMci2i/2nOkdhJX6GIURgmIfPvDT/TtPh1XlKpOfki8csTtQT5pRKZkTKbAXNnrsYcnkbyzO8t1uExU27MiNg1JFILXiAmDT+dhp9p1LPzksLVjdMWm9tnXU1HkF8qlROL+bvDfFGymOA+XOc9EuwbZfMO/4gJy8PktpqWh+dCjP7fk6WpsLKmNWY9PutuAOdTf+MYWzk4tndwUwcaH3WzLjE0kZiWABH9tMOmd+NaaD7ixFJh3Hh6NsTo/5+uxW/zfaVZiOs3z9nKUaCZC5vmD+pA42PbYB4/BXzeWYtDLLWfdtjIsXUxX3mYODa+nDXE6J+Y770cTU+VPiODvmt3uTc4PjYt5vEI80XHd4N5/PU4JgM9r6mGNJ3v9tgcPicwX3mYyC+1PT2bz1TuWaTzoxGlVFLvik/5LISL40Q/JKa1yr+kudvVwAzT9482JPlOqc4arr1ToYTHRaDE9P39HfOVh4n8UpPXb77EppDcRAg7Rmw01UJEBY/Ev/N5w1aOjq7FfHIvfFzYXKu46/E5R8Ss9lP1a1tMszUbFutkDvOVh4n8ks9rKzueHZnYaIt56v0iUCTpTvw7oFy/GR/vxDwK+hXzRcOYg/3pK7VtkjHTiPss0+wEU31qym4KxaRWZt3j85UsRq/O43ViJ8q2hEm/d9jKUfJVzOWYSMPHwayjPdq0E2rSKPVLiLy5YsoiWEL5VKHEKr/0TMli9Db1r6EacjYkjAPaYitHyUTvI48WY7p8cLhPtUPadZ2l3tJk0qyK8+kW0wtSfmC6MolZfumZUsXo2xanySsJV0x/Kv6dT67fjBvTGuYdTBcFa+K+1r4jbpqTlg2DKOfCdY+xvPs5aBZKV9KotbMpgI+5vGDQid7mN4c61U9YOM1cv5kv78QsCkoaPg52Gjw4rhs4gvqe+dxzIk2bolhX4YNZzxFxKBQT+aVOgOc0vdEi9o7Nt/hm8fwhxfSXJUz6/T1bOcvDLrW9cdC0qsVD71uk715N4y71omLPY0WeorD6XrwQu8zQItPZCCalV7+FKHSxmMovjQd41pLE6G2cuKvAJ/tv4t/5vCeakQRaEnIr1IelyFu30WlUe6/nIL50GDWyqQ1olxLmUPoy5a/PwxWPzWFSBoHof8HELr/UTyli9BNinnoPITjv4iVkO07Yylm/c/4IEjmhee3goFHRqrccPafMf4jfEh1VEFkVxOWbxqRJ7YZ5KRuTaFU30LOWIkZ/IOl1vT/TChTdWGUrJ4VJRGwfswVj9BWnUev2TKOJM/JUJnTb0PtA/12NvL4XIp6+ODGYpxXMVjYm0ap2YpET0xEipduRdFPvIuGu35xkKyfFgphF91uYLggvm0vuHO25kd5a0DSsdk+bXlhw0zu4r+J0BlsfdaPap8xT2ZhEq3xev/kSm/tlTca0599no5UYQ+pd+R7A+bxmKxcTMdnDbMEODDd941NDf0e/LdqQstQ7jGvTUffF+NL7/2kj0YxQ+x0DdRvUYvleQUBMUtohm3NMHGab0fb8+2yarLYiWE8mDW0uBk5JugfguhEvoqAAcWFy8xElU5CM/FK/g5OrGH3H4jlVkiSGQu62hEm/f2QrF3UI3sVsANFwKPWbmEm9F45ptCp09CFHMXq1qWnqXecwllRGN4DzqSfvd2znZBnpHaCIggKkR1vqRT8144HmJ/ytn4n9+s3XyFGM3ib1vhbRmvI5N/0yMJA2swaHYW5OAQhP3SzqMiYDxUR+KYbUl41EUd1x7OH32HSNX0g8qYx3Eub6zTW2chaY3KDSxmwAwaj77eLQCP8jJfmlfnISo9cue5uu9/mI1lNHwtR/zrGVs8AkFR+D7BhAiWjAoU45nPob45gNlJakJb/UT05i9D8snq0b2ZryGZnu1yKkmD0fTFLx65gNwDt1Go/uCRSArRMXy13MuYjR2zjSlxFGfkJcv0lKJz86NdfAvdCQBOCTuv0jHUwG/ZhE3rqRPHsOYvQ5pd6VGQmTfqegPU/qilprqQyRcIDmmawZbPiKyaAfU/ml6Uief8Kzk7Po+Pn1Q3lp8TwbEa6pLxJGfomaojwZN9gjXzAbQOPUuemOqzbhP6Qqv9SPT0en4/jZu5JH17vpS8nVOGcrZ41G1evckqQHEvQFAZrjU439eCuUxsArmMgvfYvsN6QqRj8v5lJF+r+LsZBbb2AKcf3mNls5ez5I/droMcwG4JzZGgfC+94BEuA/mDSLdCL7DSmK0Y+KXeo91m7fBQlT/7nEVi6Cus161JwBuA8yXNcIlCxiMniNlphF3iYj+x0pitFvWTxDzLU02wGcz1uhtqgk9oTmNIBQ1GkKXMFc4CqaEJP8kitnru64cvC8bbFLvcdc23YewAH9xlYuCs0enEg9aaZZzAbg9Vv7CXPBIFKWX+rH5vpKEwF+24/ntcXfj/mqyQkJc/1mh61cHGO9w2Cdxsl3mA3AmE6N9/sG5oJhjlCdrtKY71v2LUY/YfGsNleHnkrcVw12JEz9Z4vtXCQtqVfDTqQcwIx2DedzE3PBMJbELPoXowPkW4x+1sMmfi31Hnsn4Tfx73zesJWLd0LrqGDwcQRobo91MRdUwaRu8jjS35KCGP242MlFxS6srU1AtwEc0C22cvHogfCuxppZxWQAlb9bVUvGeBdDZUzqEDsR/x6f2pMmxdU20cFzib/Luy1h0u9ttjLUdEIfWDcAQxmT6k2lnzEXVGVK8qu1u5J4Rc9talT1YzmdwJrqBnA+Yy0JgTBoiUrVLMMvoTMeYJDzWaVJ+QHnE+qyKvnV2h17dHwOajzXhNil3tcSWVM/xL8D+oOtDC/QQ3LV7M6tcF0nwEtGKn5P1fnkAhCozaHkp7Vo011u0o1eFRuR/DNJQ2Bdo5Ahrt9cZyuDpRN6JXaqFgC5OZ9VysU0g/Aec0FdTO/q7kT+u0xE9ZvuvLZJvf9OKDrTFuSXIC7UqbyosZ9ZS1A6GkiocsuRZg4oXwFvzoI6Q+OR/66OxCVGr87jncXfSEnI12f0GfklqHPYrnpj0qUgVA/lUjXtfixkDMCCHcmz1m7RswM07GN1Jna1jSndbX4j/h1QRMXB9TvvAicUCj2oVXE+9xL7LkGEVE1LpSYuO+3ZARpU/7ImdtHVmYTWU0vCpN87bGWoge7JKpdAaE0ojUlQCprZHCa19NDbPzifEMRJayfw20Y9O0Af33gO/XjdSzmNNR0JI780znaGmuihsYoixQ1OKOB8/h26X+YwFYRyFlLSWrSRO3J1M5Ft6j01XcsQ128ivwSmTEg1cW0akyBnWhW+VfqencRU4IoqHW42mpehsXH+6o7X7pQuKfUuPWf5VwAHtMtWBgs0lVilLpToD+SIrulBDbKact8QUu7g+KVr4ix0EvqNNpqbdcf3F3/bNvWe4v3UbQlT/9lmO4MDliu8E/VgiNg25MLCkO/Ube+/AXDKkuSvtbjl0Qk6f/G3baKvx4meNrsSpv6T6zfBFZqSP62w5pYxFSTOJxmsAb4vqEBARM5ZalqLPsXob/v+7rbFv6MRmFTrbEJcv3nAVgbH6OFvVYZnMLaEtCSkub4HlZzcccCCprmS/LUWbW4eMhm6sbWz9sHi3/ic6HoKdf1mh60MDdGS4cL1M5gJEuPDgPWsfSEIy0OjTBh+7FM7Fc17doamDR371FPvim/hf67fBF+syOtNGhuYBhLlpdD8vRD1BE98ljJq7UwdbRs5IJvUe8rOVAj5Ja7fBF9oLdyu/H+U/1RIv0O6aOT+OVOn727klcAb+1KO1mKItHCJqeQQ12/uspXBM6pu8Z0PNmSA1jCj6ADeuZNytBZtUuK+xkni0ZSWIL8EAAAAA2gX9rE/jtz5vM8gmtIR5JcAAABgACbySyl/7Hcjd0BXMlhTXL8JAAAAA7mUsrQWuxE7n+pEpd7IwPWbAAAAMJCWlNcg81nidD5T73p/ph3IftNsZwAAgDRYkfK0FkPpU5YioN4V5JcAAABgAN8L/NhPR+h8HmW0pkJcv/mNrQwAAJAGY2J2RWTqH/vRyJxPlcDK5aozrt8EAACAgZimohcz+O0/ha73JlgOYD89RCECDgAAkAgmUjm5aC2eReJ8HrKmkF8CAAAoCZMoYC4f+4MInM/bxzGe2ZoKcf1ml60MAACQBrOGH/vVTH5/DGL0i5mtqYlAdpxnOwMAAKTBuuHHfqbw30/X9tt0JIx26gjbGQAAIA2uCv/Yh2iWeR5a+jCe4ZoKUdZwxFYGAABIgynDj/1xRjaYF1LvLhmRMMoCHbYzAABAGnSFZo9Q9Yq5CqbPBbJni+0MAACQBibpdx0LmdkhxHWR45muqc0A9rxgKwMAAKSBzTWUuTlPvlPGixmvq4sADugW2xkAACANdgw/9pcZ2sKnGP1uxmtKbyF6EOSXAAAA4A1uDT/2+xnawlfXds6pd+WThLl+c5TtDAAAED9t4baZfraE1LsLjoXrNwEAAOANvlt88FcytMdnIfVuyzsJk35fZzsDAADET8vSUZjN0CZNi9HnnnpXQqTfdbTZ0gAAAPFjK5MzlqFNmhajXyxgXYVIvz9kuh4BAACyQps1bCSHHjK1S5Ni9CVIBIXqfkf/EwAAIAE6lh/824xt87sBB0mF/scLWFfrEib9vs+WBgAAiJ9zyw/+Wca2uRLqE03QFPivQA7oJlsaAAAgbhYEyZtB/BBS7yaEaj760/vbAAAAEDGnDj74pxnbx6UYfSmpd9uaYtuxwLYGAACIFxfRz2c5oVxxKUbfLmRddQM6n0gwAQAARM6FuJO9GcnURq7E6EtJvbckXO0nDigAAEDkdBx/9GcztdOikHqvw0lg51PHMtsbAAAgPlqP415orqmCrRi9RodnCllXWxLe+dSxzRYHAACIj6MGPvradJJjGt5WjL5byJpakTCi86+NS8m3JAQAACBJmoxSrWdqM1Mx+lIcoQ8ROZ90wgMAAERG09qM6qjNZWg3EzH6UlLvMUU+X2rTEgUFAAAITMeTo/AzQyf0WEi9v0S1Pg8jdDxLVB4AAACIkh3xG6VSGZ52Rvb7JqTe+1mSJ+3XPwmMXXm6FhQAAAA8oSlgFzcdmQ513CYzsGOdutlcU+/qUKu80XkijudLGaxFXgcAAADNMtVz/mKozdNn2Hsc05JuVLCOGH03s7U01/tNqUQ8Bw11nrVmdZxXBAAAgBv0o9qRp3rFGJtCnh0AdWba8lRDmApVxejPJP3Uu0asNdL59XHcZuB0vtUsd9DbL9NCsxIAAEBlWvJUi6cO3UXETuegyKg6pLs9R6At8abrpys6NSndBvVOnkT21fZaYqDasHeZOpxVapb18LD/ODblSS1ioTfvE7xqAACgdDQSl2tUqn9cy1PjVCyMSh4aqBM9p/+XlOlo2gx1zm969uvwKgIAgJLoFPTB/xGZ7QeJ0aeSem/hSDoZXV5FAACAA4oD6oO3xOhT6nrHAXUzPvMqAgAAHFAcUB/8kPSjYTigbkaHVxEAAOCA4oD64EDSF5zHAXUz0BQFAAAAAAAAAGiC/wNkOire8eb/zAAAAJR0RVh0TWF0aE1MADxtYXRoIHhtbG5zPSJodHRwOi8vd3d3LnczLm9yZy8xOTk4L01hdGgvTWF0aE1MIj48bXN0eWxlIG1hdGhzaXplPSI0OHB4Ij48bXN1cD48bWk+TTwvbWk+PG1mZW5jZWQ+PG1pPnM8L21pPjwvbWZlbmNlZD48L21zdXA+PC9tc3R5bGU+PC9tYXRoPrLhoK0AAAAASUVORK5CYII=\&quot;,\&quot;slideId\&quot;:760,\&quot;accessibleText\&quot;:\&quot;M to the power of open parentheses s close parentheses end exponent\&quot;,\&quot;imageHeight\&quot;:38.56},{\&quot;mathml\&quot;:\&quot;&lt;math style=\\\&quot;font-family:stix;font-size:48px;\\\&quot; xmlns=\\\&quot;http://www.w3.org/1998/Math/MathML\\\&quot;&gt;&lt;msup&gt;&lt;mi&gt;K&lt;/mi&gt;&lt;mfenced&gt;&lt;mi&gt;s&lt;/mi&gt;&lt;/mfenced&gt;&lt;/msup&gt;&lt;/math&gt;\&quot;,\&quot;base64Image\&quot;:\&quot;iVBORw0KGgoAAAANSUhEUgAAAmgAAADxCAYAAAB/GUvrAAAACXBIWXMAAA7EAAAOxAGVKw4bAAAABGJhU0UAAADwfZlgggAAIJpJREFUeNrt3S1UHM/SgPESEYiICAQCsQIRgUAgEIgVCAQiIgIRsQIRgUAgEIg9B4FAICIQCEREBAIRgYhAICIQEREIBAKBQCAQCMS9VBgSkv/CzvTUTPVMP79z2rz33jdLTc9MTX9UiwBAe70iBKAfAwAQh9H7tnPfvhIKNNz0fTu/b4uEAgDQZO/v2+V9+1/W5ggJGurNfTt90pcP79s4YQEANMlbeRgx+98/7acwRYRmGtSfr+/bMn0aANAEvft2M+Blpu3uvk0RIjRM95n+/NhOso8SAACiM3Hfjl94id3etwXChIaav29XQ/r3qjCaBgCIyJI8P2qm7ey+zRAmNNykPEzTvzSapmvTRgkVAMCTvoj2hrywfvDCQovoZoHjIX1eN8bMEioAgIfufbsY8qI6um9jhAoto9OYO0P6vq63ZMoTAFCr9ewF9NIL6tt9GyFUaLGVHPfBl/v2mlABAKqk0zuHQ15Ij+twSM6Qgl6OJE2n+dnlCQCohFZRH7ZAWts2yRkSozs8b4fcF1ozjXVpAADzUYJhLyBtG4QKiZrLcY/cZfcSAAClbcnwKRxtO4QKievKy7XS+JABAJSmC5vzrDfT9lnYrQaoqZxJ2i73DACgqI78fTD0sDVnvGiA4kkaHzYAgNy0Wvq5MHIGlKEnZ+RZt6llONhUAwAw+fKnzhkwnO7uvONeAgCU0ZWHUgB5krPv8lATDcDL3uVM0nS9JwVtAQB/yVMi4LH95EUCFLKS897SJI0lAwCAX/IU2XxabHOCkAGFfRbWdQIActLTAW5yvjj+lyVzAIrTNWbfct5nu4QLANJVZEOAto+EDChF122e5bzf1ggXAKRnsmBytk3IALN7L++o9QLhAoC0vuLzHHr+dMcma2IAO4s57z1dGzpFuACg/XT35UmB5Ew3BbwlbIC57Zz3oBaN7hAuAGi3vGdrPrYuIQMqoaPS34XSNgCQvK2CydkWIQMqpaPTedej7QtLDQCgdT5IvmrmT6dVOCkAqN5ygftymXABQHvkPbT5sd1l/xsA9dgvcH/OES4AaL4idZce2wZhA2o1LvmnOhndBoAWOC6YnPHwB3ysFrhPObMTABpso2Byxq5NwI8mXKcF7tUlQgYAzTMrxTYFPB7SDMBPV4rVKBwnZADQHFov6aJgcnbLwx6IwldhqhMAWmlPik9tsjEAiMNUwXt3lZABQPw+BCRnOto2QuiAaHwWRr8BoDVCpja1rRA6ICoTUmwN6RdCBgDx2hVGz4C2OCp4Ly8QMgCITzcgOWOrPtCee1o/tjhQHQAioru4fkrY6BlFaYF4nRa8pzcJGQDEoydho2esPQPitlLwntbjosYIGwD4C90YoA9yRs+AuOnuzKIFp9kwAAARCDnOSdseoQMa4SDg/p4mbNCDmM9ppVod9Wu+EOdfbatl959uxb8NTNBmeXwBjfAu4P7+RthwHvhyoP1pnRqu0xFxbuWo0W5gHPS+5XgYoBneBH6IzRA6EjRe/CRoJGj104XAN4Fx6PPoAhplP+A+PyRsJGi8+EnQSNDqt1UiDkxvAs2yGHivdwldunQN2jUv/uCmu+/qWoOWcpzvsli3ZQ1amdGzM2F6E2jiPX8nrEVDIE00JrOMXQ9s7svDGpkTCSsD0JZ2ld0kWkBQq7bPy8Pi7rorPr/K/l09DqR339bl4UDeNibZ59lo2Ud52M3UturamyVi84lHFdBIh4H3/CShwzCjWXKwmSUFd9LOhOxH9je+l3qmL63oeYy6qHRZHtY7XDUs7rqIdvu+TbX8PnpTMqF+z6MIaKT1wHueUTQUpsnLmrRjHduP7OZ526LroyNuc9nNHXPsr7PYjyZy3/RLJrEcjA4000yJe3+K8CHUUgNHbLTp4vtuAtdnUeKbBtVkY0vSq4Z/UbK/Amiu0LWnnwkdyhiT5uw2PJf0dse8jyj+Wll7PMF7ZL5k3DZ4zKAEXcvZkYe1rLPZM7Cbjezo/73qzSd6LmU/a28TvQZfJXyjFEe7oZSREh2wrrYj7Vt0npf3dLSOsr5L+P44LBm/eR4xyKmTfZRpMqRrUs9k+Lrhu+y/p7vG17IkzupZ2ROKsKr1Evf/Ct0aFl9ppxJnqYalxK+N5winviTGEo59yKHJ//bf1zxeMKSPaQLwXew2cd1lz431LGELWQM5Kf9dApPqs6DMKDoniMDEosS3EL3LZfm1GaLu2Ouaiw+EvtSXM+vP8BJNnHR09lbqeZbuZfd0nim3uQHJ2W3iAxhlkucFujssxFI77Y7k7JfQ8+DKtBOhhs+jk5KxpP4Z/jWdjZZ5Pl91tkSnRPvyMI352NZe+G2niV+3MjMZbBaAiS2JI0H7yKX4ZbXmuOuCdkpCPJgxiCf1z/B0FGZXmluL8kvi1+9TyQGHDrcAylqK4EHAqMMDTZTqGtFMfSPAIBsGcR0njJCHEekzKbfkYD/7YOvKf+sPaj+bzZ7fuqHqsoJnxGbi1/BDyfixWQCldZ2TszNGcH5bk/rqypFI/NdPKb/uh8XBeCfh9Qwvs6Sr6DNR//s6ensszGpYmSgZv5/cCmh6gsZiyge6TqWOtWcbJBHPxt9iLR/SNlfiPtbpUIsdwHqM3I1Bf55N/Fq+Mngms7YXjU3QvpEs/H4QnFQca/0ypz7X8zYNYszCYJ6loS/0VePf0pHyGxNGuaSlR9X7hBBleFau59yyBxsVx1kf1ExpVvsg1rZOGJOlu69DC0zvVvibQpO0Gy7pL/tSfgkPEKzuXYNPR8/wUIuuyl1eOjLEGr+XjRvFmh2c6Qo9mUVLWVRZ2PiNhG1WYP2U3cfzW8KIUNtOCdosoS81JcIuTTvvjGLOepM0LZToM3UUh+5I8TVpX7msv/QMngvs5kSwA/HZuZn62rNBx6owpeljxyjuHPGUHh2dDp3avKjxOVg00djg0v5iURvxmDAiVBX1c4a1tcRjPi7VHYjOlGZxFrXnLgkjIywF21bNv/WwwG9b4tL+MmbwbNAlLG8IJYrqiM/05kTCMdcbtYqzNpnSDE+WrWrLIT1l7uW61yxOSf71rnNc2t8slqEsEkYU9UHqT85SXnyqyVkV5TSY0gxntYt5l1AmZ0LKbfDx+FDNuyuREht/WOzw3iOMKMrjHM5Uj3Uak2oOTGZKsxyr9Wd9QpmcsjvgPdbh5llTdc2l/YvFOu1zwoiiTh0StBRLEVSx5kx3ZTGlWZ7V0Tg9QpmcbyX7TKx9/geXtpKBDEYlkduE1J+c3WUjSSnRdR/WGzG+S9rr+Ky8ErsadKzZSU/ZXdheO9mHjfwdcGn/YnVGMnUSkduyQ4L2PbEY60v7xjiGOiXHlKZd8mx1XShGyQdu0ea1bnR8yIfJFpf3L1ZrtTcJJfI6EtafVUm/liyL0DKlaW/J8PqwjT4tswZ9Zsbx97+0WanH5f3PhzY7vVGbVxWM7ORp3UTi2xPb45uY0qyG1Skad4SSUZWAtur4+zd5TudmNdKu71xmPzBU1yE5u02kc24bJ2e73NSVOTS6RheEMjkWZxh/dvz9L+3m7HB5/zImLIVAjTzKa7R9eFdHJffFdkPFMl21UhfC2kqE6Rsl9l4bBfSjb9AmhyvhGL5BrJ7rPUKJYX5K/Qlam493sq5xptvgmdKs1ms+PuCcoGnzXFc6qEzICZd2IKv1xJxxiqHJhMfxTp2WxlMPPT8T2ylNDt2u57pZXbMvhDM5q0Z956vj3/BpwO/Z59IOdN6C640GsNy5lnoVZf36tdpscSccUFz3tbPq3xzjkp73hv3Ha7R8UKklSmwMZjXrdEYo8ZIDqT9Ba+MLbEPsNgPoWpQZumZjP1SYtkiP5Qis16jVoPIRfCQOZlWWSt8ZrPHDQNoxrh0StF7LYvjJMDa665MpzfqtG17DdcLJs7Rkm3L4G8YlrtpsMfsm7OSEwxcT68/y06mIE7ErO/KBLulmx7B/M+qQpmPDPnTiNLLy7xKNMS7rQJ8Nr/U84cQgmw7JWVtKELw3/GLWQ+on6Y6uLEui9AhnklbF9lnpkej/+OejEYPt8kGHqp1J/Qlav+Exe5U9iK3Wm+l6PKY0/VkedbZIOJM0IbbPSh3NGiesUeoLSyJQoXHxmd7sNjhmer6iVX2zW0ZaWvux0iWcyTo1fl4eENLWJ2ifCCf+9U7qT86afLzTrOFLnCnN+JwLCRrKs57m1PaRsEbHclMRdRPxHztSf4LW1ArreuqBVX0zpjTjZHleKglaujrGfenxw5adfnHp8V5ElS6k/gStaV+Co/JQ6Zkv4XZ7ZdzPKU2Qtn2xf3bqqPsIoW1lgvaDcOKpt0J5jWEWZPDhwSHtUh5KmiDeUQ/KyMDKTEXPz32hqGkbE7RzwomnVqX+5KwpnVC/UvV4E6tpCh2+ppYQCRrScljRc3SV0Ebhg9ju1gV++yb1J2hNON6pI7blFvp88TbCpJCgwdaU2K9FezwaaJbwurMu8g78ogvUbx0StF7kcdHaVUxppqlLgoYKVLEWTZsWyJ4mvK16ZrwhpFDvHZIz/eqLteDi41maTGnysCVBg6UJqWYUTZtu8holxDwz0C6fhfIaj3QawrKwZF+Y0uRhy8MWf2xX+Fz9xvOGZwba5dIhQetHGIc1w69bpjR52PKwxSA6dXUl1T1bd0nSeGagHabFp7xGN6IY6PSjZW0zpjR52PKwxUs+SLXP1xVCzDMDzbcu9SdnMR3vpOvvroUpTfCwRb2qKrvx2BYIMc8MNNuxpLn+TBNEy40ATGm2yywPW1RMi4PfSHXP2Uv6HQkammtEqttRFPPxRlrV2/IgbKY022eChy1qsFTxs1Y3PDGiT4KGBpoRn/Vnnh1Pq25b1nzb5AHYSh3jPj9FSPGMqouE7xLiRiZo1EFL3IZDcuZ1vJOOiFiu+dAkr0cXaq0xae+mGMTX16rc1antPWFuXIKGxP1wSNA8jney3gig0waTdJ/WI0FDnc+oKp+7N9lHKkjQ0ABaxd9j/Vmdo046RLxj/Hdqgvma7pMEywXcJGgYpsoCthSxrd6i2G7wQMKqXpz63LRgXfPq1hsBmNJMj2X/eUc4MYQmT1XPavAMq05Pmr8UCJE4kHaW19CH3JrYbgRgSjNNli9LXozIQ2c2qiy9cSPxnoFMgvan/SScaX+pXUv9CVq/4r9L11iciP2aOaY002S5qYQEDXnNV/wcPiDE0SdoR4QzXV3xKa8xX+HftGT85an/v9j5lLYdw/60SjhRQL/iZ3GXEJtbM7w+nwknN38bjncavW9fxL6441u6SfIsj0HrE04UVGV9tDNhw0DM79UtwpmuU4cE7WsFf4d+BV4Y/04dNWFKE6pn3K+AIrQ+2mWFz+QlQhxtgrZGONPUEZ/pzRXjv0O/MCzLZ2ihyHm6B56wPGljj3Ai8CO0yrM6+Ri1sysUFkZEowJFmtWUoX5VfhWmNFHPCIZlDSogxGaFz2XWRtrZE9YIIqJOVHdNFy0EaH0kCrs08RKrjSfHhBKBdO2u9e501qLZs1wz2CGc6dEb8ULqT9A+lfzdVZwIoJsWPvJwwhBWtdAoPIkytA5jVaWRFgiviSOj63HHeylNXfGZ3izzAJjOvvIsf4++dGfoDsjhs9iVbQHKsNxVzPpIez/FbskNEtR3SM70ayB0CnFT7M8L1YWcI3QF5GRZ24h+h7KqmOq8pW+asDoa7iuhTNOR1J+gHQb8zk4Fv1UfQot0ARQ0Z9gHJwgnSpqu4KOVaU4bVscLbhDK9IyI7fmUedtmwd/ZE/uz6PTLhilNhBg17IezhBMGLMs5PJ1ZQDkcC4dgi+Kz/ixvYqTToF+kmhG8N1x+lGC1seYdoYTRR4N1AdsfhLWUcYmvJBUaxKO8hu46yrO2QaeRrDcC6GjhsrAbBuVZfThQc6pZvsvD6Lu22OrYrYj9WmGeleGmxW4zEesBE3Qu9Sdo+0N+kz4Q+mK/pkJ3wUxyyWFk1ahfcr5ec4xI3Ltw9fdZj6IxchNu3uganBDK9HTEZ3rz45Df9F2Y0kT8poz65gGhbIzJAddvPLLfaD2K1uWyB+sZXYNtQknnqauNPfN7lsV+I8DjAbMM08Oaro+02GDzk1A2xrsB128+wn5pWbyWNZLhrGrUfSCU6Tl0SM4GvYx0cevnCv4tHeqf4zIj8nvolg+Ixhg0rb0e4e/cEnYPxuCT0TUYJZRpiaW8htbZuZJq1rmNc5lRMavppA6hbIRNKb6m1oPV4nQSNP8PuAvCmJ6u+Exvzj9JEK3P0XzcdbTKiARqMiGs80nJlwa9QE9J0NxZVCGgFl2C+g7J2U2WOOmuoJOK/g0eJmjiQ/gjYWyE555bMY7WW01zsgYtzIjRAATxT1AVOyXznCWmo1tVTq1+49KiZhbrTCi10QzXDXqJLgiju56sRtdZf5aYjvhMb97U9O+wMQB1sqh1xEHI8XvpeK9PDfu91EFrxnPhlDCmp+eUoNW5U5Q1aKiLxYabK/ps9N7Kywu5Y7x+ZTdgcZJAOIsNRIysJ8jjeKe62zKXGTWyKBMzQRijNmzKsBPhb/7JCI4bi6UPs4QxPR7HO9Xd9Iv2NZcaNbGYzlggjI0eEYlxo8eRlC9XBJ/Yc1B9gmYSSM5iXheCdtJpzrJrLDcIY9S2pXkblMomCewuDlf2TNRNQpiefkIJmq6fYIEr6rIv7EBus2HT2Pq8GWtZgjbJZQ9isUFjhjCm50jqT5SuxC9JY3cc6lJ2mlO/uFmQHa88pYlWI/vNZYrVsv4s3KKw0Q0FeR3vtJ0lSl5JGmU3UNf9dcGIRWvl+dCMLcku83HMlHu4zZLPgXVCyBd+XU2HanWq8U4ou4F22xZ2H7fRG2neZo/XQv0zL2UGJPQ9yY7uBHmU17jJRhYsXl4cAYXYTZbsp18IYZSKHD5+HMlvni3RDw+55MFeSbkNQ6xFTZRHeY0v/3yFXjslaOdC2Q3U45uUW6+J+BSdfehG8JvXSvTDLpc82NuS76r3hDA9HYlj5KovfqNobFtGHcqegcg6tPgsS/OWVYSet8zoWTkfS9z7Z8JynCT1nJKizj+/Q6c7vQrlMrePOmgfL7M4m3Vo8dkKuI5Ljr93SihN5KVMuZ0+4UvToUNC9Nw27XfiN4rGGh/UYUMoDdMmBwHXUZdzjDv93tD1xuzcLK/Mx9kY4Uvzi96jvEbf+IFn1bp0CVRMH7ShC4Wv5c/GGsQh9ExL3TBQ95TVVGDf09/KOt1yypzUc0D40tSNMBHShwhlN9Bm/RJ9lHM541Lm2J6dGn+nPtdC1p5p/b4Ol7m09RL9ZJrw8aKoq93mGAXwKPvBGXOoy6iEj6Jxjmw8ytYTq3PqcEfCRmynuMwmjoVlDSjou9SfAB3lfIF5ld3Qf/cNXQMV+yTh5TaY5oxD6IL7upO0kI0M14zcmNENaKGzQpy7maiOUwLUz/n7VoSyG2ivsRIfIV3CFwXLTU26w896nZd+aIZsAiM5s7Us1Q1moKV6TslP3q3aumbiTCi7gfYKPZdvm9BFYdX4uXOZPZct1sHqodwhZYtOePaZC53e5EMsYR7rvM4L/sYP4jeKRlFGVC10Kp9pzjhUdUSdliFaC0iUdFT2Y5ZkhW5aoF/ZCj09YJ/Qpc2jKOxewO88ckzS5ukmqFg/sG/2CJ27Mgdf5x3JP8oSJ50mW8hGVR6bfsCuZs/VHxK+zumUZ11lQnZv3gqjmEmbEZ+EJ+Sl4ll2g+M1UDVdd3QhrE9polN5fg3XbpZA/ZtQ6ciYbhAJrZ9mPaW6xjMuuoEQigLz1R7F8U557QhlN9Bei4F9kxIIvgYl1jqqlveUgMcpyaOaP0L1w3NFKD5btZBNJOdcF3hMG34v8XvLVF+n7AaaIGRE5TNhczMyIKnaLzEaNSkPm0ZCRlPzFpzVkbtZYcSsLt8CrtMHwsaDJbbjnfJYE79RtB26DSo2J2FrlDqEzsW/i79144bF+Zqvsr6g01zHJT5MdSRGzxdeISlz6x9FR0WPuU7oOiU5XYPE8kL8ym5M0nUQ4Rf3LmFzS6jPn7SlCj+odcG4bhDoycOmgP4/bTn7z+az5xQ7Mf0V3UCi7xiWLMBlPdet0UNjUfxG0ViUjap1AkZMGEUD4hJycsAKYYOIT3kNy+SGshtos5CpfKbggXjsB7wfmdqE2/FOa4Z/g1eJEMpuoA7av34Io2hAE3Wl2OiZjphT8wy/9KRZ5TWesyd+Sdoa3QgV07UoRTfyUHkc8Fd0hmeRkOHRF4eE5ryCv2NcKLuBdgupQN4lbICbj3xUIZRXeY29iv6eFaHsBtorZKrzVNjBB3jQc3UvCw5c8KGP37rSnOOd8iaclN1Am4VMdTIFD9SvyMYAnf2ZJmR4qi/tWH/21Duh7AbarVewX94IGwaAOs1HMmiBBmva8U55fXdM0ljgiTp8Dbjv2G0MVE/XQxcpXfWJkGFQJ6rzMF6r453ymHb62yi7gbroWpWiZ3UuEzagcgfCUU4oqSfNPN4pL8puoO10zWORncv60UJ9JaA6SwXuR10v3SFkiCWBsTreKY8J8dmh+lh2Y4wuhhoUXXOpo26vCRtgbqrAB9ONsKkML2j68U55rIvfKNoeXQw1KXoUFGteAFv60XMm+UeyOSIQz3rrlLR8rPnvHHFKRB/bLF0NNdkVNrMAXops2vlAuPCSvrSvvMZzFoSyG2g//Rj5JsVKb0wRNqC0zQL33RLhwjAe5TXOHf9eym4gBTrNclrwnhwlbECwnuSvGLBOuJDnS9tj8bznUUiz4ld240JYlI36dKTYtD5rJYEw3QLvlQ3ChTzmnBIV76HdL+I3irZJt0PNSVqRMwB5eQDV3WN9woW8tpySlPEIbqgbp7/9NoK/H2nR9WVXBfroCiEDctEi0Xl3bPJxjkJ+OCQox5H87RviN4r2ha6HiJM0narpEjLgRbpc5UTirFqAhhsTn7VYWxHdXBeOSRovQNRNi2HmnYq5FnZ2Ai+9P/JssLsjOUOInlNiMhdRDD44JmhaxZ1z11C3juSfktEPGI6DAv6mz+3DnMnZAuFCiM8OScllhEnJifglaT26ISJP0rRUB0eVAX+SszxHI+oINMXJEWREiu3ssmoHEcbCs+yGXoM3dEc40KQr7xrUc+EgZ0Dfm3lOCdCRZ5YHIFjRQ5WtWqy7wzzLbvTpjnCi62jynjigU/IUskWq8k5rHgojzijpk1MyEut6Fh0d8Cy7wegEPG3n7Ks/SNKQ6IdMnuRsV1hXDAMeh4afRR4Tz7IbB3RJOFuVfFP9p8LGAaRDl6AMW6d8l90/JGcobcIpCfncgK8kz7Ib7+iacKbrMfOsTT0nSQPJ2e91xNOEClaWhIPCn+NZduMHX2CIwJjk29nMxgG0mfbt70PuAa2DxqkwMLXvkHzoEHBTDgn/Ln5JGkfsIAb6oZBnXRqjB2gj7dNXQ95n63xQo4oH77X4jA41xVvxLbvxmm6KSCzmeF7oJheKcaIttJD6SxvGLiSuYutokSmnxGOjYXHaFr9RtG26KSKiU57HOZK0RUKFhlvK+vJL66jZxYzKbDklHTMNi5MuDr0Sv7IbLMBGTHTkfUWGl6LZFKZ90Mz+/dJH+RUfIKiDx/oqTThGGhirZfEbRTuiqyJCHRle2HaSMKFhXircricHUHgWtTxcPdZWHTb4q+qnY5LGOgfE6oMMHmFeJzRoqH8L0epoMaNmqE3PKdFYanDM5h0TtDNhugjx0rU4O/Jnzc4x/RUNNvlkAEMPQ6d8Bmq165RoNH3K46v4JWlLdFtETtdLHvBCQwvoGkp2JMOFR3mNixZ8VXuW3dBr9oauCwBAO006JRg7LYkfZTcAAIC5VeF4pzI8y25oo1o7AAAtdOSUWLRpe7Jn2Y1DujAAAO2ioz+3DknFScvi6F124z1dGQCA9lh0Sij6LYylZ9mNn0IZAwAAWsNrgft8S+PpWXZjle4MAEA7nDkkElqFeaSl8Xxa0LDudikc1gsAQOO9dUokDloe1x3xG0Xbo1sDANBsK05JxFrL46qjWNdOsdXROw6kBgCgwbzKa6SQQHjVlvtfdl0BAEAD6Y6/G4fk4Sqh+Hqs73tsc3RxAACax6skREprpN45Jmh6zulrujkAAM2y4ZQ49BKLM2U3AABAbicOCYOeWJDaqI7ulPUqu6EbFcbo6gAANEPHKWlI9czILaHsBgAAGGJJmHKr07j4bMh4LLvxli4PAED89p2ShamEY74mfqNo34RzOgEAiJq+qC/F5xiilOnRVheOSdp7uj4AAPGacUoQPhF6t5MbtJ0Jo2gAAERr0ylBWCT07qNoy1wCAADi5FFeQ9s4of9l2TFBu+E6AAAQHz3E26O8xhmh/817FI2pZgAAIvORpCAKnmvRNEGf5BIAABCPA6ekYInQ/0VHMr3qomn7yiUAACAOrxyTgmnC/x+7jgkamzYAAIjEvGMyMEL4/6PrnKBpXbrXXAYAAHztiN/OQQx25ZykbXEJAADwo9Ob105JwDnhf9Zn5wRNNwww/QwAgJMFxySABO15nrs5H9upcMIAAAAuDh0TgAvC/6zFCBI0bZtcCgAA6qVTWB7FaZ82FqMP1o0kQWOqEwCAmnmvc6LMxvPmJY4E7XGkc4xLAgBA9WIYPdO2zqUYaDWiBE3bd2E9GgAAldIX7Y9IXvwnXI6BvkWWoGnbI0kDAKA625G9+N9zSf6yIPElZ49tXyguDACAudimzh4r17PG6YHG4SLiBE3b0X0b51IBAFCe7pbci/il//O+TSR+jToSz9Rzno0D89xWAACE6963swa89PXoJy3QmtoUmv69y+J/vFPolCc7cQEAKPDSfycPhWhj2K1Z9ISBtfs22vJrNJr9nRfSvMTs33acJZlMVQMAMOCFrxXotb7ZZQte+ppY6nonLcUxK80fWdPkZS77e3SX5m0LrtGga6YlObazvjjBbQkASIWWOujIw+5HfdnrNNOZNG+kLHTtk/69n+7bkjxM376VOMo/aAI2nV2XlSxJ0d+q68puErg2z7XrLAZ7WX99nyXcHW5lAEAbfE38RT+sXWWJ6lSN10STsNOWjobVNeJ2niXcAAA00jkv9FytW+M1OSLeZqU7AAAgQSNBI0EjQQMAgASNBI1GggYAIEEjQSNBI0EDAAAAAACt939bh5vO2rdTpAAAAJR0RVh0TWF0aE1MADxtYXRoIHhtbG5zPSJodHRwOi8vd3d3LnczLm9yZy8xOTk4L01hdGgvTWF0aE1MIj48bXN0eWxlIG1hdGhzaXplPSI0OHB4Ij48bXN1cD48bWk+SzwvbWk+PG1mZW5jZWQ+PG1pPnM8L21pPjwvbWZlbmNlZD48L21zdXA+PC9tc3R5bGU+PC9tYXRoPtcCh4YAAAAASUVORK5CYII=\&quot;,\&quot;slideId\&quot;:760,\&quot;accessibleText\&quot;:\&quot;K to the power of open parentheses s close parentheses end exponent\&quot;,\&quot;imageHeight\&quot;:38.56},{\&quot;mathml\&quot;:\&quot;&lt;math style=\\\&quot;font-family:stix;font-size:48px;\\\&quot; xmlns=\\\&quot;http://www.w3.org/1998/Math/MathML\\\&quot;&gt;&lt;msub&gt;&lt;mi&gt;u&lt;/mi&gt;&lt;mi&gt;i&lt;/mi&gt;&lt;/msub&gt;&lt;/math&gt;\&quot;,\&quot;base64Image\&quot;:\&quot;iVBORw0KGgoAAAANSUhEUgAAAQgAAAEICAYAAACj9mr/AAAACXBIWXMAAA7EAAAOxAGVKw4bAAAABGJhU0UAAACFXfblMQAAEJBJREFUeNrt3S9UI8sSwOESCEQEAoFARCAQCAQCgYhAIBArEAhEBAKBQCBWIHIOImIFAoFAIBAIxArECgQCEYFYEbECgUAgEAgEAvFe+jG8zeVm/iTpmqnp+X3ntLp3A+k0le6a6m6Raqr32pQAqLxar6302n6vXfXaQ6/9p9cee22W7gGqZa7Xmr120mudXnuLAsLX9s4sAgjbTK+tRbOD8157jgkGg9pNwP1y2GtnCm2VIQfLM4ONaPD/6rWnIYLBoNYKuJ/ex+ybuLbEMETRJqOBuN1rx71222uvCoN9JdD+O1AKDi4gTzA8kZdaFAi2+pYIXcVvv69tMtB+/aPUXxcMWWgFAZcn2JWPxOF1FAjecgoEg9p9oP29rNhnBwxnjOozUXgYfdO4APCY42xg2HYc6Odwpthn5B8wsgejgSCubQT4GUxEQVmjv57JP6AqASLU+odvin1G/gGVCRB3gX4Gl4p9tsUQR1UCRDvA/nfJYM2kLyXpUOEeJdajtih/n2acKq6X01ojwH7eUuyvLsMYRQUPVwz1lGNweJMw6x9uFfvsnKGKIk1HeYE8AsR1gP3npv+aj5ObDFEUzW26ehbyD6NoKfcZ+QeYsC3UP4ziN/kHVIFmoc9nmw6szxrK/fWDYQlLroT6h2GcCE98UCGaewlC/DbUnHG5LfaTDElY8ktxwK8F1lebyrOH3wxHWNMV6h8sBFPyDzBnUvTKhUM7f9IlW7W30pN/gCnzwmEnWe0qBwfyDzBnQ3HAh3b+pPbmuCuGI6xpKw32FwnrsJOG6BeU7TIcYc2NkI3P4iyHADHPcIQ1r0qD/SigPqop9lN//gEwZVFxwK8H1E/ayclQd7yCgV+J8yc7OQSIPYYjrDkX6h/S5FH7QP4BJmntKWgF1Ed7OQSHB4YirFkQqgGz+JNDgDhjOMIarQNXQ9p/sSb5HMnXZDiC/EP5XOYUIOoMR1ijtYMzlPyDq314ySE4dBiKsEbzROZQ8g95JCdDS+giEFqHnoSSf3B7SO5zChANhiOsOST/kGgjp+AQ6oVCKDmtysBQpss/cwoQNwxFWKN54WwI0+U5yadykvwDTGowXU7Uzik4kH9Apf4AQpguuwCX1+3n5B9A/qFkmjnOHi4YirD4DUn+Id5djgGiyXCENVp7C0KYLi/mGBwor4ZJP8g/xLrMMTiwvRuVmkKXPf8wo7j0Yns3SsEdAcf+i3xnVuQfUBrr5B9iA+eLkH8A+QfyDwMc5BwcyD+A/ENJTIr+dXpfW5uhCPIP5bCTc3CgvBrkH0oizzMfKK8G+YeS2ZX8Zw9s7wb5B2YPbO8G+Ycyr6eLmD2QfwD5hxJwv/NTAcGB/ANMOmE9bWL2QP4BJnH/xT+XW88FBYgdhiKsmWY9/Q9HBQUHyqthEvdf/DUv8cnad9HdzUl5NUw6Zj39f1cJ7+dc2N6NCtK6ur5s+YekmdR99H7Y3o1K0ax/WClZPyQ91lxNmV34aLMMR1Ql/+DaRIn64TBl6q95kZBrXYYiLDpTGvB3JeoDd0vWa8z7eI2+2ZvKs4cfDEVYpLXXoEznGVxnyAucKgeINYYirJkW9l8kLbFu+5ZJmoVTlFfDJK39F68lGfDulOq4xKQLnIvR/7ekPHu4ZijCIq3n+r8DyL/s9/1/35UDxBFDERZpnbNYhoTbWsLyqvtlBnSjHCC+MRRhcXpd1YRb2iG0/fkT93hT87h7l3+YYjiC/IMdSU8kznPqJ7Z3wzSt8x+sJ9xWEpYWnzUP/bRv0zpgKKJK+QfLCTf3yDJp38mgsxj+KAeIJYYirJlVHPDrht93Ujl1f83DpznRqxNx7VnKVY6Oivgm1Sv4WZb4vRT9NQ/9tI+du2QowiKtdXXH6PutpSwVWjH/7lLY3o0KelQa8MdG32/SgTiPUQD5alJ0d2+yvRsm1RUH/KrB97uSkkeIq9nQfrzJ9m6Y1BS9+gdrCbe0gqikI97aQnk1Kkjr/AeLBT9HKUuL6YR/21UOEOsMRVikVf9wGMjSwtE8ho/t3ahk/sHSN2LaU4vzgpZh1p/2gPyD2qCfLskyyp3/MJPy70+UA8QxQxEWaZ3/cGvoPa6nLA82M7zGnbC9GxWkVf/w3cj7czODpK3ZPzMuwzTzD+/C9m4YtKA46BtG3mPSvRVu30OWwqQtYXs3KkhrX4H7RrSQkU/LrzQzvo72xb1s74ZJWse2W7j/wm20ehtzaZFX/oHt3ahU/qHoikA3e0kqanqV7HseasL2blTQtOKgXy74vaU9kmwO8VqryrOHC4YiLGpKmOdPrqV84/8a8hu7pRwgdhmKqFL+ociM/EzKsilLQdRX2sfb1xmKsEhr41FR919MZPhj3hzyNbXPf7hnGMKiGdFLvBV1/8Vhyu91OsJrLivPHk4V+2MqWh6xAQxD2xC9+oci9l9spgS8JxmtUlH7ej3N8urPo/Eeo88byExr41ER9Q/zkn7L1ainWmnmHzRvz9qPma1MM/SRhda9Du2c38dUhvcyTk7kSTFAaF0mtBwzm3qLgimQSLP+Ic8diW5t3ZH0Mx5HLUKaU15etJRyS89SjsN7YNSahHH+w3GGKfw435jaG7R8J3OTnuLcC9WayEjr/os8T2TezvD77Iz5MzQ3aGkUkyV9rssMe2TVkXKfiNSQ9Ee0Pz18Y/5WDBBXCrPC9xyXMgjUhOgV/uTxKG0hYY3d/0hz3KVOTXQLpHyWV88l9ElHqIPAEBZLnH9wuy/TTt9+9zSdXlLOP8x56pNalF+I64sFhjyGsVPS/MOUZCsN3zfeT5+FS74k1Wl8Z7hjWFoH1Gquc7PssfjcJOYrU3+sGCB83d6dlJTsCE8tMAKtC3JWCg5qbg0+4/Fnap4gteXh99uQ+KTkG0sLjGJGcdBrJMLcN2CWKwF95R36vSr21bh/vMspv1+ToY5RNEqwpv7kAs6vjD/f91pbs4LyZcypf1KlpM/lCypIa2firUJwuMr4s88V1tobYrP+YTJl6ZN28TAw9lq+6AAxJdkLuW6Vljb7igHiUDFoNhji5rjPrR4180ljrcpAX6ciuTqHrLtMH8VvUrLfmWKAGLWY7EJsnuKFwV9yLfl4qvY24G/lUPzVwXilVRn47OF3c09Bsm6tflHu4I5igFgc4fdJe+R6I1RLWrEn6WeTfCbWjy19blOiWxk46sUvbtrVHiJ4uf9vVbmvHhX7qT7k79LOECzJOxQv6xO3QQWGdQtvYEU5QIxyt8PCCN/Wmzn0lWY/zQ8x4NJmDu5biBvBbRjnhLauhSC/pjzwXVvP+LvUow4d9tDcVg79NKvcR1mKpNy0M0tCmfs8bfBxbojPKuCRNHMIEK54Zydh0K9H07BRTtNu5dRPC1LsTCvrrOpSKKW2YNLjknQn9ADRv936KgoGZ1F0fBnj9U5y7KeGct+8xywzXI7oULJVcJqYkuJ/fG7qexG9Q4xzmQYV0c5y/qZs5PCe3EA4ioL2fjSreBvi37LPwg7fp57vF/VGVgkOZgJEHnke5MP3np1OUW9kqWTB4aSgNfac4T7Z4u/RlHmlz7mQ5eNUyYJDUWpG+4QnFvZsKn3Wq0W9occSBIe2FJ+d7xrrE+6zsKmp9Hk3i3pDl4YDw5uhKfQxwQFVDBBNo8Hh1VjyzUpClzMlbdMqPtws6g3VRPekpFEv+7W2s80tce6ZTSFFXenzL/TvoW0kMLiCoX2xWw1Y1GzrVfxfyQcdroryxfPn/1j030TNQLLSPetdLMEAuC2gX7h9u1x8H8Jk4lyPhoy2H8JHCXZTyrOHwD2PfhBmU4i37nlpWbc0hc4rSLhpmHuOP1PCATAjukfgX4rR04WQOV/la3wcWYx+z4qD/yH6Ziz7xqLJKHfjK8HrXseVkbOnIgxLHr5sO9Hy3+Q0+tBjsuUpioSNAKfMs1GgGCWH4/r3Ipq51fibCs72mF+k5meR7lvSnU7kypy7km134WsU+U7l4yy+xQqto1ei93wSJapu+tplNENoRwNnmaBQCc0RZpkXZZ5hz0bTp0ZfW44SKRySCvxbXbIdiuRmDZt0F1BNs9GMws0wr6OZpbspriUflbo8sQIAAAAAAAAAAAAAAAAAAAAAAAAAAAAAAAAAAAAAAAAAAAAAAIAv7na1WboBgLsV3l2Q810+rmZ0d9Z+XldZp3uAanA3ZLlb2jfk4xLsK0m+3NkFCK6tBAIMBG550Oi1ffm4sPpWPm5tH+ay3mu6Eih3IFiMZgQuELjbt+9k+Fu749oeXQzY52YDK722Ey0NXCD4I+m3co/bFuh6wI7tKC/gbtfujrAk8Nke+DgAW84KDAhf2ykfB0CAiGsbfBwAAWJQc7mNaT4OwCZXe1Dvay5Bud5rTflIUl7K32ImjXbHRwCU30r0x+w7QLToWiCc2cYfzwFihW4FwvHdY3Bwj1Yn6FIgHGseA8RPuhMIS8NjgNihO4GwbHgMEHW6EwjLnlBeDSDGhacAcUZXAuG59xQgmnQlEJYp8bPt250hUaM7gbAse5o9cHoUEKC2pwBxQFcC4ekI5dUABnD7MN485R84vRoIjK8CKfIPQIBOyD8AiPNA/gHAIHPip/7BnSXB9m4gME1Ps4djuhIIj6/9F5xeDQTo2VOA4PRqIDALnoJDl64EwrPrKUAc0ZVAeH55ChBLdCUQlklP+QdXXs3jTSAwbO8GEOuHUF4NIEZXOL0awAAz4qe8+p6uBMKz5Wn2cEpXAuHxtb17i64EwuNjezenVwMBmvc0e7ihK4HwbHsKEC26EgjPpacA0aArgfD4KK9+FMqrgeAsCZfzAohxIFzOCyCGr+3ds3QlEBZ3JBzl1QAGWhfKqwHE8HV79ze6EgiPj/LqF+HxJhCcuqfZwxVdCYSn6SlA7NKVQHhOPQWIBboSCMtElDsYNzg8kX8AwuPr9izKq4EA7Qnl1QBidITTqwEM4I6EexPKqwEM0BDKqwHE8HV69TpdCYTnj1BeDWAAX9u7Ka8GArQjlFcDiHEmlFcDiOFjezfl1UCAOL0aQKxdobwaQAxft2fV6UogPD5uz6K8GgiQr+3dR3QlEB5f27tXPP0+8x5fC8CYfoqd8mq3m7QrHxWdW3w0QPF81D/4Kq8+//K6e3w8QHFmPC0vfPwh7ym9LoARfRMb5dXr8u+NYr+FqkygUD6u13sY83dwN39/fcz6KtRUAIXzkaA8GePnT8rgMzDZEQoY8OghQDTG+PmDdpBe8rEAxavL+AfEvESzgFHsD3g9lhaAEZseZg+/xvjZg4LTDh8LYIOPHZzbI/zc1Wim4DOXAcAzHxf0Dvt4c00G37vhDsut8ZEAdlx7CBBTQwaHQTOHd+GYOsCc+zGDw+MQP+ubxN/Ytc1HAdjzIuOfP5k11xH3tIS8A2CUjxLrpLzBhCTf1OVKqSf5GIBwA0TcY0l3psOdJNdPzPMRAHb5uEXLvUY7+mOvy0d9w1XKa7v/xoEwgHE+zoHIq3YCQM46BQQHKiWBkjjOOTi06HKgPDaFmQOAGO4R45NyYHDFURw+C5TUD8Xg4ILPMl0MlNeU0izCHfoyTfcC5bcofq7e+zyfcoMuBcLidlOOs3nL/Vu354It20Cg3N4Jdw/F7yFmC+5MiYawpwKoFFc67c5vcOdGtqJ20GtN+SiTngnhTf4XDrclU/MfwsMAAACBdEVYdE1hdGhNTAA8bWF0aCB4bWxucz0iaHR0cDovL3d3dy53My5vcmcvMTk5OC9NYXRoL01hdGhNTCI+PG1zdHlsZSBtYXRoc2l6ZT0iNDhweCI+PG1zdWI+PG1pPnU8L21pPjxtaT5pPC9taT48L21zdWI+PC9tc3R5bGU+PC9tYXRoPq97fsEAAAAASUVORK5CYII=\&quot;,\&quot;slideId\&quot;:760,\&quot;accessibleText\&quot;:\&quot;u subscript i\&quot;,\&quot;imageHeight\&quot;:42.24}]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10478</TotalTime>
  <Words>2457</Words>
  <Application>Microsoft Office PowerPoint</Application>
  <PresentationFormat>Widescreen</PresentationFormat>
  <Paragraphs>376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Wingdings</vt:lpstr>
      <vt:lpstr>Office Theme</vt:lpstr>
      <vt:lpstr>Module 2: Coupling in the Physical Domain</vt:lpstr>
      <vt:lpstr>Different Domains to apply substructuring in</vt:lpstr>
      <vt:lpstr>A single structure</vt:lpstr>
      <vt:lpstr>Prepare for assembling</vt:lpstr>
      <vt:lpstr>Coupling in the physical domain</vt:lpstr>
      <vt:lpstr>Multiple substructures</vt:lpstr>
      <vt:lpstr>Block diagonal form</vt:lpstr>
      <vt:lpstr>Compatibility</vt:lpstr>
      <vt:lpstr>Compatibility</vt:lpstr>
      <vt:lpstr>The localization matrix, L</vt:lpstr>
      <vt:lpstr>Equilibrium</vt:lpstr>
      <vt:lpstr>L transponate</vt:lpstr>
      <vt:lpstr>Some characteristics of B and L</vt:lpstr>
      <vt:lpstr>Some characteristics of B and L</vt:lpstr>
      <vt:lpstr>The three field formulation</vt:lpstr>
      <vt:lpstr>Coupling in the physical domain; the Primal assembly </vt:lpstr>
      <vt:lpstr>Coupling in the physical domain; Primal assembly </vt:lpstr>
      <vt:lpstr>Coupling in the physical domain; the Dual assembly</vt:lpstr>
      <vt:lpstr>Coupling in the physical domain; Dual assembly</vt:lpstr>
      <vt:lpstr>Exercise:</vt:lpstr>
      <vt:lpstr>PowerPoint Presentation</vt:lpstr>
      <vt:lpstr>PowerPoint Presentation</vt:lpstr>
      <vt:lpstr>PowerPoint Presentation</vt:lpstr>
      <vt:lpstr>Coupling in the physical domain; summary</vt:lpstr>
      <vt:lpstr>Coupling the physical model: Some remarks</vt:lpstr>
      <vt:lpstr>The physical domain so far:</vt:lpstr>
      <vt:lpstr>Next Up: Frequency Based Substructuring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Roettgen, Daniel Robert</dc:creator>
  <cp:lastModifiedBy>Dan Roettgen</cp:lastModifiedBy>
  <cp:revision>121</cp:revision>
  <dcterms:created xsi:type="dcterms:W3CDTF">2025-09-04T01:59:06Z</dcterms:created>
  <dcterms:modified xsi:type="dcterms:W3CDTF">2026-01-16T13:57:47Z</dcterms:modified>
</cp:coreProperties>
</file>