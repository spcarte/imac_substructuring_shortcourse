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780" r:id="rId2"/>
    <p:sldId id="336" r:id="rId3"/>
    <p:sldId id="427" r:id="rId4"/>
    <p:sldId id="756" r:id="rId5"/>
    <p:sldId id="257" r:id="rId6"/>
    <p:sldId id="782" r:id="rId7"/>
    <p:sldId id="786" r:id="rId8"/>
    <p:sldId id="783" r:id="rId9"/>
    <p:sldId id="784" r:id="rId10"/>
    <p:sldId id="790" r:id="rId11"/>
    <p:sldId id="791" r:id="rId12"/>
    <p:sldId id="410" r:id="rId13"/>
    <p:sldId id="411" r:id="rId14"/>
    <p:sldId id="792" r:id="rId15"/>
    <p:sldId id="793" r:id="rId16"/>
    <p:sldId id="794" r:id="rId17"/>
    <p:sldId id="795" r:id="rId18"/>
    <p:sldId id="7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99" autoAdjust="0"/>
    <p:restoredTop sz="94660"/>
  </p:normalViewPr>
  <p:slideViewPr>
    <p:cSldViewPr snapToGrid="0">
      <p:cViewPr varScale="1">
        <p:scale>
          <a:sx n="82" d="100"/>
          <a:sy n="82" d="100"/>
        </p:scale>
        <p:origin x="8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EBB02-3E13-44A8-9559-A9B0C7D98AB8}" type="datetimeFigureOut">
              <a:rPr lang="sv-SE" smtClean="0"/>
              <a:t>2026-01-16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58DB2-4F1C-4E22-BC98-FFE3F483476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412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1DCC7C-6367-5E4D-A2F2-F92DD4C6567D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66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39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1DCC7C-6367-5E4D-A2F2-F92DD4C6567D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66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514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1DCC7C-6367-5E4D-A2F2-F92DD4C6567D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66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.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762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1DCC7C-6367-5E4D-A2F2-F92DD4C6567D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66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659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364E-D9D4-6D75-D575-CBFDE86B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CC2345D-97F8-0147-4669-F75A240644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1DCC7C-6367-5E4D-A2F2-F92DD4C6567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668674" name="Rectangle 2">
            <a:extLst>
              <a:ext uri="{FF2B5EF4-FFF2-40B4-BE49-F238E27FC236}">
                <a16:creationId xmlns:a16="http://schemas.microsoft.com/office/drawing/2014/main" id="{B858C4BD-BF05-0D38-6364-C738280CAB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8675" name="Rectangle 3">
            <a:extLst>
              <a:ext uri="{FF2B5EF4-FFF2-40B4-BE49-F238E27FC236}">
                <a16:creationId xmlns:a16="http://schemas.microsoft.com/office/drawing/2014/main" id="{E18A46FD-9729-9AE3-5C8E-3A9533A33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881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43C08-6E20-79C8-6661-1B5D5037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BBF9608-2F1F-CF3D-0178-73734AF17D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1DCC7C-6367-5E4D-A2F2-F92DD4C6567D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668674" name="Rectangle 2">
            <a:extLst>
              <a:ext uri="{FF2B5EF4-FFF2-40B4-BE49-F238E27FC236}">
                <a16:creationId xmlns:a16="http://schemas.microsoft.com/office/drawing/2014/main" id="{C3D856D4-E104-CD24-4222-18F67FAA85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8675" name="Rectangle 3">
            <a:extLst>
              <a:ext uri="{FF2B5EF4-FFF2-40B4-BE49-F238E27FC236}">
                <a16:creationId xmlns:a16="http://schemas.microsoft.com/office/drawing/2014/main" id="{70195290-C218-E096-707B-818551C3D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175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16C9-4A9E-B3C9-6B36-90A432225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8BAEFE6-A9C4-10B4-B99A-0EB5990AC8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1DCC7C-6367-5E4D-A2F2-F92DD4C6567D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668674" name="Rectangle 2">
            <a:extLst>
              <a:ext uri="{FF2B5EF4-FFF2-40B4-BE49-F238E27FC236}">
                <a16:creationId xmlns:a16="http://schemas.microsoft.com/office/drawing/2014/main" id="{13383AF5-E39C-705A-7DD1-8EEC4855BC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8675" name="Rectangle 3">
            <a:extLst>
              <a:ext uri="{FF2B5EF4-FFF2-40B4-BE49-F238E27FC236}">
                <a16:creationId xmlns:a16="http://schemas.microsoft.com/office/drawing/2014/main" id="{2C1AE6FB-C0BA-44B1-E71F-FEC77821E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571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B40AB-F797-6ECC-2B81-2AB67638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0992BD1-CAD0-6D9F-993D-482B12FCBA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1DCC7C-6367-5E4D-A2F2-F92DD4C6567D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668674" name="Rectangle 2">
            <a:extLst>
              <a:ext uri="{FF2B5EF4-FFF2-40B4-BE49-F238E27FC236}">
                <a16:creationId xmlns:a16="http://schemas.microsoft.com/office/drawing/2014/main" id="{56E6DE2D-C027-12DB-CE47-49F4CE38E1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8675" name="Rectangle 3">
            <a:extLst>
              <a:ext uri="{FF2B5EF4-FFF2-40B4-BE49-F238E27FC236}">
                <a16:creationId xmlns:a16="http://schemas.microsoft.com/office/drawing/2014/main" id="{2538C53B-809C-4E10-4D88-41B70DD21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009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1/16/2026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0.png"/><Relationship Id="rId5" Type="http://schemas.openxmlformats.org/officeDocument/2006/relationships/image" Target="../media/image130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1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5" Type="http://schemas.openxmlformats.org/officeDocument/2006/relationships/image" Target="../media/image17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390.png"/><Relationship Id="rId1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15.png"/><Relationship Id="rId3" Type="http://schemas.openxmlformats.org/officeDocument/2006/relationships/image" Target="../media/image48.png"/><Relationship Id="rId17" Type="http://schemas.openxmlformats.org/officeDocument/2006/relationships/image" Target="../media/image49.png"/><Relationship Id="rId2" Type="http://schemas.openxmlformats.org/officeDocument/2006/relationships/image" Target="../media/image47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15" Type="http://schemas.openxmlformats.org/officeDocument/2006/relationships/image" Target="../media/image17.png"/><Relationship Id="rId10" Type="http://schemas.openxmlformats.org/officeDocument/2006/relationships/image" Target="../media/image40.png"/><Relationship Id="rId9" Type="http://schemas.openxmlformats.org/officeDocument/2006/relationships/image" Target="../media/image390.pn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15.png"/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15" Type="http://schemas.openxmlformats.org/officeDocument/2006/relationships/image" Target="../media/image17.png"/><Relationship Id="rId10" Type="http://schemas.openxmlformats.org/officeDocument/2006/relationships/image" Target="../media/image40.png"/><Relationship Id="rId4" Type="http://schemas.openxmlformats.org/officeDocument/2006/relationships/image" Target="../media/image51.png"/><Relationship Id="rId9" Type="http://schemas.openxmlformats.org/officeDocument/2006/relationships/image" Target="../media/image390.png"/><Relationship Id="rId1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5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Module 10: </a:t>
            </a:r>
            <a:r>
              <a:rPr lang="en-US" dirty="0"/>
              <a:t>Decoupling</a:t>
            </a:r>
          </a:p>
        </p:txBody>
      </p:sp>
    </p:spTree>
    <p:extLst>
      <p:ext uri="{BB962C8B-B14F-4D97-AF65-F5344CB8AC3E}">
        <p14:creationId xmlns:p14="http://schemas.microsoft.com/office/powerpoint/2010/main" val="364542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D</a:t>
            </a:r>
            <a:r>
              <a:rPr lang="en-US" dirty="0">
                <a:cs typeface="+mj-cs"/>
              </a:rPr>
              <a:t>ecoupling, the basic idea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133119" y="649178"/>
            <a:ext cx="11337324" cy="5665897"/>
          </a:xfrm>
        </p:spPr>
        <p:txBody>
          <a:bodyPr/>
          <a:lstStyle/>
          <a:p>
            <a:pPr marL="0" indent="0">
              <a:buNone/>
            </a:pPr>
            <a:endParaRPr lang="de-DE" dirty="0">
              <a:solidFill>
                <a:schemeClr val="tx2"/>
              </a:solidFill>
            </a:endParaRPr>
          </a:p>
        </p:txBody>
      </p:sp>
      <p:grpSp>
        <p:nvGrpSpPr>
          <p:cNvPr id="667733" name="Group 667732">
            <a:extLst>
              <a:ext uri="{FF2B5EF4-FFF2-40B4-BE49-F238E27FC236}">
                <a16:creationId xmlns:a16="http://schemas.microsoft.com/office/drawing/2014/main" id="{46279232-1ABD-E05A-0985-E72CD7AFE2AC}"/>
              </a:ext>
            </a:extLst>
          </p:cNvPr>
          <p:cNvGrpSpPr/>
          <p:nvPr/>
        </p:nvGrpSpPr>
        <p:grpSpPr>
          <a:xfrm>
            <a:off x="17066" y="998670"/>
            <a:ext cx="12069902" cy="5331702"/>
            <a:chOff x="17066" y="998670"/>
            <a:chExt cx="12069902" cy="5331702"/>
          </a:xfrm>
        </p:grpSpPr>
        <p:grpSp>
          <p:nvGrpSpPr>
            <p:cNvPr id="667724" name="Group 667723">
              <a:extLst>
                <a:ext uri="{FF2B5EF4-FFF2-40B4-BE49-F238E27FC236}">
                  <a16:creationId xmlns:a16="http://schemas.microsoft.com/office/drawing/2014/main" id="{44F517BC-D8E1-1489-064D-2A3D582A8297}"/>
                </a:ext>
              </a:extLst>
            </p:cNvPr>
            <p:cNvGrpSpPr/>
            <p:nvPr/>
          </p:nvGrpSpPr>
          <p:grpSpPr>
            <a:xfrm>
              <a:off x="17066" y="1529237"/>
              <a:ext cx="12069902" cy="4043539"/>
              <a:chOff x="17066" y="1529237"/>
              <a:chExt cx="12069902" cy="4043539"/>
            </a:xfrm>
          </p:grpSpPr>
          <p:grpSp>
            <p:nvGrpSpPr>
              <p:cNvPr id="667718" name="Group 667717">
                <a:extLst>
                  <a:ext uri="{FF2B5EF4-FFF2-40B4-BE49-F238E27FC236}">
                    <a16:creationId xmlns:a16="http://schemas.microsoft.com/office/drawing/2014/main" id="{8840BEE5-7FC5-9CC9-3B50-0EF1022AEE92}"/>
                  </a:ext>
                </a:extLst>
              </p:cNvPr>
              <p:cNvGrpSpPr/>
              <p:nvPr/>
            </p:nvGrpSpPr>
            <p:grpSpPr>
              <a:xfrm>
                <a:off x="17066" y="1529237"/>
                <a:ext cx="12069902" cy="4043539"/>
                <a:chOff x="17066" y="1529237"/>
                <a:chExt cx="12069902" cy="4043539"/>
              </a:xfrm>
            </p:grpSpPr>
            <p:grpSp>
              <p:nvGrpSpPr>
                <p:cNvPr id="667715" name="Group 667714">
                  <a:extLst>
                    <a:ext uri="{FF2B5EF4-FFF2-40B4-BE49-F238E27FC236}">
                      <a16:creationId xmlns:a16="http://schemas.microsoft.com/office/drawing/2014/main" id="{F3F59991-D738-6E17-6493-264DA7A724EF}"/>
                    </a:ext>
                  </a:extLst>
                </p:cNvPr>
                <p:cNvGrpSpPr/>
                <p:nvPr/>
              </p:nvGrpSpPr>
              <p:grpSpPr>
                <a:xfrm>
                  <a:off x="1396013" y="1529237"/>
                  <a:ext cx="10690955" cy="4043539"/>
                  <a:chOff x="1329415" y="1548287"/>
                  <a:chExt cx="10690955" cy="4043539"/>
                </a:xfrm>
              </p:grpSpPr>
              <p:grpSp>
                <p:nvGrpSpPr>
                  <p:cNvPr id="667714" name="Group 667713">
                    <a:extLst>
                      <a:ext uri="{FF2B5EF4-FFF2-40B4-BE49-F238E27FC236}">
                        <a16:creationId xmlns:a16="http://schemas.microsoft.com/office/drawing/2014/main" id="{6B56C855-C990-0530-2DB1-D849A9BE2067}"/>
                      </a:ext>
                    </a:extLst>
                  </p:cNvPr>
                  <p:cNvGrpSpPr/>
                  <p:nvPr/>
                </p:nvGrpSpPr>
                <p:grpSpPr>
                  <a:xfrm>
                    <a:off x="2035393" y="1548287"/>
                    <a:ext cx="9984977" cy="4043539"/>
                    <a:chOff x="2035393" y="1548287"/>
                    <a:chExt cx="9984977" cy="4043539"/>
                  </a:xfrm>
                </p:grpSpPr>
                <p:grpSp>
                  <p:nvGrpSpPr>
                    <p:cNvPr id="667653" name="Group 667652">
                      <a:extLst>
                        <a:ext uri="{FF2B5EF4-FFF2-40B4-BE49-F238E27FC236}">
                          <a16:creationId xmlns:a16="http://schemas.microsoft.com/office/drawing/2014/main" id="{17845BEC-8E15-5982-A912-579BBC6A592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5393" y="2243699"/>
                      <a:ext cx="9030684" cy="3348127"/>
                      <a:chOff x="1300835" y="2167499"/>
                      <a:chExt cx="9030684" cy="3348127"/>
                    </a:xfrm>
                  </p:grpSpPr>
                  <p:grpSp>
                    <p:nvGrpSpPr>
                      <p:cNvPr id="667651" name="Group 667650">
                        <a:extLst>
                          <a:ext uri="{FF2B5EF4-FFF2-40B4-BE49-F238E27FC236}">
                            <a16:creationId xmlns:a16="http://schemas.microsoft.com/office/drawing/2014/main" id="{BB2F895E-E632-E7C4-844E-254DDA3C060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261385" y="2167499"/>
                        <a:ext cx="8070134" cy="1046064"/>
                        <a:chOff x="2261385" y="2167499"/>
                        <a:chExt cx="8070134" cy="1046064"/>
                      </a:xfrm>
                    </p:grpSpPr>
                    <p:grpSp>
                      <p:nvGrpSpPr>
                        <p:cNvPr id="40" name="Group 39">
                          <a:extLst>
                            <a:ext uri="{FF2B5EF4-FFF2-40B4-BE49-F238E27FC236}">
                              <a16:creationId xmlns:a16="http://schemas.microsoft.com/office/drawing/2014/main" id="{414646C2-FECB-9FE8-CEC1-1318974EAA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261385" y="2167499"/>
                          <a:ext cx="1112619" cy="1046064"/>
                          <a:chOff x="262918" y="3175954"/>
                          <a:chExt cx="1112619" cy="1046064"/>
                        </a:xfrm>
                      </p:grpSpPr>
                      <p:sp>
                        <p:nvSpPr>
                          <p:cNvPr id="41" name="Oval 40">
                            <a:extLst>
                              <a:ext uri="{FF2B5EF4-FFF2-40B4-BE49-F238E27FC236}">
                                <a16:creationId xmlns:a16="http://schemas.microsoft.com/office/drawing/2014/main" id="{46898847-845E-D0A1-1384-1580E103898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62918" y="3175954"/>
                            <a:ext cx="1080375" cy="1046064"/>
                          </a:xfrm>
                          <a:prstGeom prst="ellips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  <p:sp>
                        <p:nvSpPr>
                          <p:cNvPr id="42" name="Rectangle 41">
                            <a:extLst>
                              <a:ext uri="{FF2B5EF4-FFF2-40B4-BE49-F238E27FC236}">
                                <a16:creationId xmlns:a16="http://schemas.microsoft.com/office/drawing/2014/main" id="{9C758DE7-15E5-F2C6-361E-3E8F5850B0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8956" y="3393507"/>
                            <a:ext cx="336581" cy="59753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 w="12700">
                            <a:solidFill>
                              <a:schemeClr val="bg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  <p:cxnSp>
                        <p:nvCxnSpPr>
                          <p:cNvPr id="43" name="Straight Connector 42">
                            <a:extLst>
                              <a:ext uri="{FF2B5EF4-FFF2-40B4-BE49-F238E27FC236}">
                                <a16:creationId xmlns:a16="http://schemas.microsoft.com/office/drawing/2014/main" id="{85F1B106-8C62-D7E0-9F90-F0474A396B4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238251" y="3388519"/>
                            <a:ext cx="4762" cy="623888"/>
                          </a:xfrm>
                          <a:prstGeom prst="line">
                            <a:avLst/>
                          </a:prstGeom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4" name="Rectangle 43">
                          <a:extLst>
                            <a:ext uri="{FF2B5EF4-FFF2-40B4-BE49-F238E27FC236}">
                              <a16:creationId xmlns:a16="http://schemas.microsoft.com/office/drawing/2014/main" id="{FAEB9CBE-E2B8-7676-01C9-637BD09B9B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509631" y="2380064"/>
                          <a:ext cx="967131" cy="647336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sv-SE"/>
                        </a:p>
                      </p:txBody>
                    </p:sp>
                    <p:grpSp>
                      <p:nvGrpSpPr>
                        <p:cNvPr id="45" name="Group 44">
                          <a:extLst>
                            <a:ext uri="{FF2B5EF4-FFF2-40B4-BE49-F238E27FC236}">
                              <a16:creationId xmlns:a16="http://schemas.microsoft.com/office/drawing/2014/main" id="{61A6D024-9C2C-6A76-B532-B817F769C2C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390265" y="2167499"/>
                          <a:ext cx="1941254" cy="1046064"/>
                          <a:chOff x="382806" y="2688609"/>
                          <a:chExt cx="1941254" cy="1046064"/>
                        </a:xfrm>
                      </p:grpSpPr>
                      <p:sp>
                        <p:nvSpPr>
                          <p:cNvPr id="46" name="Oval 45">
                            <a:extLst>
                              <a:ext uri="{FF2B5EF4-FFF2-40B4-BE49-F238E27FC236}">
                                <a16:creationId xmlns:a16="http://schemas.microsoft.com/office/drawing/2014/main" id="{BCF1960F-3CFD-968F-BD1A-DDE80F1638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82806" y="2688609"/>
                            <a:ext cx="1080375" cy="1046064"/>
                          </a:xfrm>
                          <a:prstGeom prst="ellips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  <p:sp>
                        <p:nvSpPr>
                          <p:cNvPr id="47" name="Rectangle 46">
                            <a:extLst>
                              <a:ext uri="{FF2B5EF4-FFF2-40B4-BE49-F238E27FC236}">
                                <a16:creationId xmlns:a16="http://schemas.microsoft.com/office/drawing/2014/main" id="{EBB7E037-1E99-6AEA-37F9-2701B10641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356929" y="2887973"/>
                            <a:ext cx="967131" cy="647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  <p:sp>
                        <p:nvSpPr>
                          <p:cNvPr id="48" name="Rectangle 47">
                            <a:extLst>
                              <a:ext uri="{FF2B5EF4-FFF2-40B4-BE49-F238E27FC236}">
                                <a16:creationId xmlns:a16="http://schemas.microsoft.com/office/drawing/2014/main" id="{EA1F49DF-3F99-478B-06D0-349D90E3A17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8844" y="2906162"/>
                            <a:ext cx="336581" cy="59753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 w="12700">
                            <a:solidFill>
                              <a:schemeClr val="bg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</p:grpSp>
                    <p:grpSp>
                      <p:nvGrpSpPr>
                        <p:cNvPr id="59" name="Group 58">
                          <a:extLst>
                            <a:ext uri="{FF2B5EF4-FFF2-40B4-BE49-F238E27FC236}">
                              <a16:creationId xmlns:a16="http://schemas.microsoft.com/office/drawing/2014/main" id="{18032A5F-E570-8F91-E3B9-E0E8ED85E71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019550" y="2436167"/>
                          <a:ext cx="476250" cy="495300"/>
                          <a:chOff x="4019550" y="2436167"/>
                          <a:chExt cx="476250" cy="495300"/>
                        </a:xfrm>
                      </p:grpSpPr>
                      <p:cxnSp>
                        <p:nvCxnSpPr>
                          <p:cNvPr id="54" name="Straight Connector 53">
                            <a:extLst>
                              <a:ext uri="{FF2B5EF4-FFF2-40B4-BE49-F238E27FC236}">
                                <a16:creationId xmlns:a16="http://schemas.microsoft.com/office/drawing/2014/main" id="{30D8E28F-64DA-EC1A-B3AE-1CDD312C26B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4019550" y="2683817"/>
                            <a:ext cx="476250" cy="0"/>
                          </a:xfrm>
                          <a:prstGeom prst="line">
                            <a:avLst/>
                          </a:prstGeom>
                          <a:ln w="38100"/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57" name="Straight Connector 56">
                            <a:extLst>
                              <a:ext uri="{FF2B5EF4-FFF2-40B4-BE49-F238E27FC236}">
                                <a16:creationId xmlns:a16="http://schemas.microsoft.com/office/drawing/2014/main" id="{45B0F9CD-C39A-E531-424E-9188CA29BB0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261485" y="2436167"/>
                            <a:ext cx="0" cy="495300"/>
                          </a:xfrm>
                          <a:prstGeom prst="line">
                            <a:avLst/>
                          </a:prstGeom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2" name="Group 61">
                          <a:extLst>
                            <a:ext uri="{FF2B5EF4-FFF2-40B4-BE49-F238E27FC236}">
                              <a16:creationId xmlns:a16="http://schemas.microsoft.com/office/drawing/2014/main" id="{EDDF7B1A-D00E-D1C6-F035-5E51FB958C6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76345" y="2585269"/>
                          <a:ext cx="483934" cy="236925"/>
                          <a:chOff x="4143375" y="3560117"/>
                          <a:chExt cx="483934" cy="236925"/>
                        </a:xfrm>
                      </p:grpSpPr>
                      <p:cxnSp>
                        <p:nvCxnSpPr>
                          <p:cNvPr id="55" name="Straight Connector 54">
                            <a:extLst>
                              <a:ext uri="{FF2B5EF4-FFF2-40B4-BE49-F238E27FC236}">
                                <a16:creationId xmlns:a16="http://schemas.microsoft.com/office/drawing/2014/main" id="{EE723A44-2426-8579-0E63-4BB3C828C519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4143375" y="3560117"/>
                            <a:ext cx="476250" cy="0"/>
                          </a:xfrm>
                          <a:prstGeom prst="line">
                            <a:avLst/>
                          </a:prstGeom>
                          <a:ln w="38100"/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60" name="Straight Connector 59">
                            <a:extLst>
                              <a:ext uri="{FF2B5EF4-FFF2-40B4-BE49-F238E27FC236}">
                                <a16:creationId xmlns:a16="http://schemas.microsoft.com/office/drawing/2014/main" id="{11D32230-115D-CC89-0825-CC90A8E3A7D6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4151059" y="3797042"/>
                            <a:ext cx="476250" cy="0"/>
                          </a:xfrm>
                          <a:prstGeom prst="line">
                            <a:avLst/>
                          </a:prstGeom>
                          <a:ln w="38100"/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grpSp>
                    <p:nvGrpSpPr>
                      <p:cNvPr id="667652" name="Group 667651">
                        <a:extLst>
                          <a:ext uri="{FF2B5EF4-FFF2-40B4-BE49-F238E27FC236}">
                            <a16:creationId xmlns:a16="http://schemas.microsoft.com/office/drawing/2014/main" id="{5510F45C-FC01-D8B6-301A-6DC03B29B5A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300835" y="4462848"/>
                        <a:ext cx="8202049" cy="1052778"/>
                        <a:chOff x="1300835" y="4462848"/>
                        <a:chExt cx="8202049" cy="1052778"/>
                      </a:xfrm>
                    </p:grpSpPr>
                    <p:grpSp>
                      <p:nvGrpSpPr>
                        <p:cNvPr id="15" name="Group 14">
                          <a:extLst>
                            <a:ext uri="{FF2B5EF4-FFF2-40B4-BE49-F238E27FC236}">
                              <a16:creationId xmlns:a16="http://schemas.microsoft.com/office/drawing/2014/main" id="{F873AED8-E1B1-D213-3656-F00C3D2CA6F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300835" y="4469562"/>
                          <a:ext cx="1941254" cy="1046064"/>
                          <a:chOff x="382806" y="2688609"/>
                          <a:chExt cx="1941254" cy="1046064"/>
                        </a:xfrm>
                      </p:grpSpPr>
                      <p:sp>
                        <p:nvSpPr>
                          <p:cNvPr id="6" name="Oval 5">
                            <a:extLst>
                              <a:ext uri="{FF2B5EF4-FFF2-40B4-BE49-F238E27FC236}">
                                <a16:creationId xmlns:a16="http://schemas.microsoft.com/office/drawing/2014/main" id="{AD9FE6E9-6B79-6765-42FF-EEF516E6EA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82806" y="2688609"/>
                            <a:ext cx="1080375" cy="1046064"/>
                          </a:xfrm>
                          <a:prstGeom prst="ellips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  <p:sp>
                        <p:nvSpPr>
                          <p:cNvPr id="8" name="Rectangle 7">
                            <a:extLst>
                              <a:ext uri="{FF2B5EF4-FFF2-40B4-BE49-F238E27FC236}">
                                <a16:creationId xmlns:a16="http://schemas.microsoft.com/office/drawing/2014/main" id="{C293C4A0-D568-E412-40B8-24D9DE34D65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356929" y="2887973"/>
                            <a:ext cx="967131" cy="647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  <p:sp>
                        <p:nvSpPr>
                          <p:cNvPr id="14" name="Rectangle 13">
                            <a:extLst>
                              <a:ext uri="{FF2B5EF4-FFF2-40B4-BE49-F238E27FC236}">
                                <a16:creationId xmlns:a16="http://schemas.microsoft.com/office/drawing/2014/main" id="{486AFF49-73F9-EDC6-0502-A7DCCB49CAC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8844" y="2906162"/>
                            <a:ext cx="336581" cy="59753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 w="12700">
                            <a:solidFill>
                              <a:schemeClr val="bg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</p:grpSp>
                    <p:sp>
                      <p:nvSpPr>
                        <p:cNvPr id="26" name="Rectangle 25">
                          <a:extLst>
                            <a:ext uri="{FF2B5EF4-FFF2-40B4-BE49-F238E27FC236}">
                              <a16:creationId xmlns:a16="http://schemas.microsoft.com/office/drawing/2014/main" id="{BDFD4794-361F-91D4-6697-752F4BA512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5753" y="4637309"/>
                          <a:ext cx="967131" cy="647336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sv-SE"/>
                        </a:p>
                      </p:txBody>
                    </p:sp>
                    <p:grpSp>
                      <p:nvGrpSpPr>
                        <p:cNvPr id="39" name="Group 38">
                          <a:extLst>
                            <a:ext uri="{FF2B5EF4-FFF2-40B4-BE49-F238E27FC236}">
                              <a16:creationId xmlns:a16="http://schemas.microsoft.com/office/drawing/2014/main" id="{E69ECA23-9F01-CEDE-289F-5208EBD5065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36886" y="4462848"/>
                          <a:ext cx="1112619" cy="1046064"/>
                          <a:chOff x="262918" y="3175954"/>
                          <a:chExt cx="1112619" cy="1046064"/>
                        </a:xfrm>
                      </p:grpSpPr>
                      <p:sp>
                        <p:nvSpPr>
                          <p:cNvPr id="21" name="Oval 20">
                            <a:extLst>
                              <a:ext uri="{FF2B5EF4-FFF2-40B4-BE49-F238E27FC236}">
                                <a16:creationId xmlns:a16="http://schemas.microsoft.com/office/drawing/2014/main" id="{160D344F-DC51-866B-F289-03913E024F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62918" y="3175954"/>
                            <a:ext cx="1080375" cy="1046064"/>
                          </a:xfrm>
                          <a:prstGeom prst="ellips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  <p:sp>
                        <p:nvSpPr>
                          <p:cNvPr id="23" name="Rectangle 22">
                            <a:extLst>
                              <a:ext uri="{FF2B5EF4-FFF2-40B4-BE49-F238E27FC236}">
                                <a16:creationId xmlns:a16="http://schemas.microsoft.com/office/drawing/2014/main" id="{1D0559E8-6A7C-1824-D8A4-576B768B899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8956" y="3393507"/>
                            <a:ext cx="336581" cy="59753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 w="12700">
                            <a:solidFill>
                              <a:schemeClr val="bg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sv-SE"/>
                          </a:p>
                        </p:txBody>
                      </p:sp>
                      <p:cxnSp>
                        <p:nvCxnSpPr>
                          <p:cNvPr id="36" name="Straight Connector 35">
                            <a:extLst>
                              <a:ext uri="{FF2B5EF4-FFF2-40B4-BE49-F238E27FC236}">
                                <a16:creationId xmlns:a16="http://schemas.microsoft.com/office/drawing/2014/main" id="{0702EF44-CB92-D536-0587-FEB4D30AFAB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238251" y="3388519"/>
                            <a:ext cx="4762" cy="623888"/>
                          </a:xfrm>
                          <a:prstGeom prst="line">
                            <a:avLst/>
                          </a:prstGeom>
                          <a:ln w="381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61" name="Straight Connector 60">
                          <a:extLst>
                            <a:ext uri="{FF2B5EF4-FFF2-40B4-BE49-F238E27FC236}">
                              <a16:creationId xmlns:a16="http://schemas.microsoft.com/office/drawing/2014/main" id="{5E852AAF-F199-C0B4-AB41-D1BC19E15181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3996498" y="4988575"/>
                          <a:ext cx="476250" cy="0"/>
                        </a:xfrm>
                        <a:prstGeom prst="line">
                          <a:avLst/>
                        </a:prstGeom>
                        <a:ln w="38100"/>
                      </p:spPr>
                      <p:style>
                        <a:lnRef idx="2">
                          <a:schemeClr val="dk1"/>
                        </a:lnRef>
                        <a:fillRef idx="0">
                          <a:schemeClr val="dk1"/>
                        </a:fillRef>
                        <a:effectRef idx="1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63" name="Group 62">
                          <a:extLst>
                            <a:ext uri="{FF2B5EF4-FFF2-40B4-BE49-F238E27FC236}">
                              <a16:creationId xmlns:a16="http://schemas.microsoft.com/office/drawing/2014/main" id="{DBD8847B-BEE3-70B1-8E60-72C7E6A4B48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276345" y="4842514"/>
                          <a:ext cx="483934" cy="236925"/>
                          <a:chOff x="4143375" y="3560117"/>
                          <a:chExt cx="483934" cy="236925"/>
                        </a:xfrm>
                      </p:grpSpPr>
                      <p:cxnSp>
                        <p:nvCxnSpPr>
                          <p:cNvPr id="667648" name="Straight Connector 667647">
                            <a:extLst>
                              <a:ext uri="{FF2B5EF4-FFF2-40B4-BE49-F238E27FC236}">
                                <a16:creationId xmlns:a16="http://schemas.microsoft.com/office/drawing/2014/main" id="{2C537B0C-6484-5A88-96E0-7F1B47A6F5C2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4143375" y="3560117"/>
                            <a:ext cx="476250" cy="0"/>
                          </a:xfrm>
                          <a:prstGeom prst="line">
                            <a:avLst/>
                          </a:prstGeom>
                          <a:ln w="38100"/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667649" name="Straight Connector 667648">
                            <a:extLst>
                              <a:ext uri="{FF2B5EF4-FFF2-40B4-BE49-F238E27FC236}">
                                <a16:creationId xmlns:a16="http://schemas.microsoft.com/office/drawing/2014/main" id="{2581B42F-1051-6B18-18B5-964F8310DAF3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4151059" y="3797042"/>
                            <a:ext cx="476250" cy="0"/>
                          </a:xfrm>
                          <a:prstGeom prst="line">
                            <a:avLst/>
                          </a:prstGeom>
                          <a:ln w="38100"/>
                        </p:spPr>
                        <p:style>
                          <a:lnRef idx="2">
                            <a:schemeClr val="dk1"/>
                          </a:lnRef>
                          <a:fillRef idx="0">
                            <a:schemeClr val="dk1"/>
                          </a:fillRef>
                          <a:effectRef idx="1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</p:grpSp>
                <p:grpSp>
                  <p:nvGrpSpPr>
                    <p:cNvPr id="667702" name="Group 667701">
                      <a:extLst>
                        <a:ext uri="{FF2B5EF4-FFF2-40B4-BE49-F238E27FC236}">
                          <a16:creationId xmlns:a16="http://schemas.microsoft.com/office/drawing/2014/main" id="{93B6DB91-18C4-7563-B409-73FF050665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21933" y="1548287"/>
                      <a:ext cx="2528360" cy="1211730"/>
                      <a:chOff x="2321933" y="1548287"/>
                      <a:chExt cx="2528360" cy="1211730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67654" name="TextBox 667653">
                            <a:extLst>
                              <a:ext uri="{FF2B5EF4-FFF2-40B4-BE49-F238E27FC236}">
                                <a16:creationId xmlns:a16="http://schemas.microsoft.com/office/drawing/2014/main" id="{F21303E2-7BF3-7A81-E5CC-55E48E2C783B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321933" y="1548287"/>
                            <a:ext cx="826079" cy="54091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Sup>
                                    <m:sSubSupPr>
                                      <m:ctrlP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b>
                                    <m:sup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oMath>
                              </m:oMathPara>
                            </a14:m>
                            <a:endParaRPr lang="sv-SE" sz="2400" b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67654" name="TextBox 667653">
                            <a:extLst>
                              <a:ext uri="{FF2B5EF4-FFF2-40B4-BE49-F238E27FC236}">
                                <a16:creationId xmlns:a16="http://schemas.microsoft.com/office/drawing/2014/main" id="{F21303E2-7BF3-7A81-E5CC-55E48E2C783B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321933" y="1548287"/>
                            <a:ext cx="826079" cy="540917"/>
                          </a:xfrm>
                          <a:prstGeom prst="rect">
                            <a:avLst/>
                          </a:prstGeom>
                          <a:blipFill>
                            <a:blip r:embed="rId3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667656" name="Straight Connector 667655">
                        <a:extLst>
                          <a:ext uri="{FF2B5EF4-FFF2-40B4-BE49-F238E27FC236}">
                            <a16:creationId xmlns:a16="http://schemas.microsoft.com/office/drawing/2014/main" id="{A6A7C611-97A5-AEE0-678F-35C14804D56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926473" y="1945776"/>
                        <a:ext cx="432098" cy="715693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67657" name="TextBox 667656">
                            <a:extLst>
                              <a:ext uri="{FF2B5EF4-FFF2-40B4-BE49-F238E27FC236}">
                                <a16:creationId xmlns:a16="http://schemas.microsoft.com/office/drawing/2014/main" id="{DFB6E209-B5DD-0C7A-73A5-D77BF336C4D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024214" y="1549248"/>
                            <a:ext cx="826079" cy="53995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Sup>
                                    <m:sSubSupPr>
                                      <m:ctrlP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oMath>
                              </m:oMathPara>
                            </a14:m>
                            <a:endParaRPr lang="sv-SE" sz="2400" b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67657" name="TextBox 667656">
                            <a:extLst>
                              <a:ext uri="{FF2B5EF4-FFF2-40B4-BE49-F238E27FC236}">
                                <a16:creationId xmlns:a16="http://schemas.microsoft.com/office/drawing/2014/main" id="{DFB6E209-B5DD-0C7A-73A5-D77BF336C4D8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024214" y="1549248"/>
                            <a:ext cx="826079" cy="539956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667660" name="Straight Connector 667659">
                        <a:extLst>
                          <a:ext uri="{FF2B5EF4-FFF2-40B4-BE49-F238E27FC236}">
                            <a16:creationId xmlns:a16="http://schemas.microsoft.com/office/drawing/2014/main" id="{33E97988-69FB-BB77-BC37-67C14D1B899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971276" y="2043610"/>
                        <a:ext cx="311342" cy="716407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667708" name="Group 667707">
                      <a:extLst>
                        <a:ext uri="{FF2B5EF4-FFF2-40B4-BE49-F238E27FC236}">
                          <a16:creationId xmlns:a16="http://schemas.microsoft.com/office/drawing/2014/main" id="{E8693789-E844-A1F3-52B6-D4D0ED3175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454979" y="1554391"/>
                      <a:ext cx="2582420" cy="1278178"/>
                      <a:chOff x="5454979" y="1554391"/>
                      <a:chExt cx="2582420" cy="1278178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67662" name="TextBox 667661">
                            <a:extLst>
                              <a:ext uri="{FF2B5EF4-FFF2-40B4-BE49-F238E27FC236}">
                                <a16:creationId xmlns:a16="http://schemas.microsoft.com/office/drawing/2014/main" id="{1C5AE8C9-CB6B-0697-848C-759968045DE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454979" y="1591040"/>
                            <a:ext cx="826079" cy="53995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Sup>
                                    <m:sSubSupPr>
                                      <m:ctrlP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oMath>
                              </m:oMathPara>
                            </a14:m>
                            <a:endParaRPr lang="sv-SE" sz="2400" b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67662" name="TextBox 667661">
                            <a:extLst>
                              <a:ext uri="{FF2B5EF4-FFF2-40B4-BE49-F238E27FC236}">
                                <a16:creationId xmlns:a16="http://schemas.microsoft.com/office/drawing/2014/main" id="{1C5AE8C9-CB6B-0697-848C-759968045DEE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454979" y="1591040"/>
                            <a:ext cx="826079" cy="539956"/>
                          </a:xfrm>
                          <a:prstGeom prst="rect">
                            <a:avLst/>
                          </a:prstGeom>
                          <a:blipFill>
                            <a:blip r:embed="rId5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667664" name="Straight Connector 667663">
                        <a:extLst>
                          <a:ext uri="{FF2B5EF4-FFF2-40B4-BE49-F238E27FC236}">
                            <a16:creationId xmlns:a16="http://schemas.microsoft.com/office/drawing/2014/main" id="{D7C7DF68-FEED-0CE7-C099-1AF0160F9E03}"/>
                          </a:ext>
                        </a:extLst>
                      </p:cNvPr>
                      <p:cNvCxnSpPr>
                        <a:endCxn id="44" idx="1"/>
                      </p:cNvCxnSpPr>
                      <p:nvPr/>
                    </p:nvCxnSpPr>
                    <p:spPr>
                      <a:xfrm>
                        <a:off x="5735183" y="2089204"/>
                        <a:ext cx="509006" cy="690728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67665" name="TextBox 667664">
                            <a:extLst>
                              <a:ext uri="{FF2B5EF4-FFF2-40B4-BE49-F238E27FC236}">
                                <a16:creationId xmlns:a16="http://schemas.microsoft.com/office/drawing/2014/main" id="{43EC02B1-B4C1-B30F-FA13-DCF8C03C353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211320" y="1554391"/>
                            <a:ext cx="826079" cy="57034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Sup>
                                    <m:sSubSupPr>
                                      <m:ctrlP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  <m:sup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𝑩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oMath>
                              </m:oMathPara>
                            </a14:m>
                            <a:endParaRPr lang="sv-SE" sz="2400" b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67665" name="TextBox 667664">
                            <a:extLst>
                              <a:ext uri="{FF2B5EF4-FFF2-40B4-BE49-F238E27FC236}">
                                <a16:creationId xmlns:a16="http://schemas.microsoft.com/office/drawing/2014/main" id="{43EC02B1-B4C1-B30F-FA13-DCF8C03C3537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211320" y="1554391"/>
                            <a:ext cx="826079" cy="570349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667667" name="Straight Connector 667666">
                        <a:extLst>
                          <a:ext uri="{FF2B5EF4-FFF2-40B4-BE49-F238E27FC236}">
                            <a16:creationId xmlns:a16="http://schemas.microsoft.com/office/drawing/2014/main" id="{C819E225-7D07-8C35-9591-ABA73D687ED9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6939498" y="2018328"/>
                        <a:ext cx="521251" cy="814241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667694" name="Group 667693">
                      <a:extLst>
                        <a:ext uri="{FF2B5EF4-FFF2-40B4-BE49-F238E27FC236}">
                          <a16:creationId xmlns:a16="http://schemas.microsoft.com/office/drawing/2014/main" id="{83F27021-A4BE-171D-3B1D-F4A5178D2D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474285" y="1548287"/>
                      <a:ext cx="3546085" cy="1329479"/>
                      <a:chOff x="8474285" y="1548287"/>
                      <a:chExt cx="3546085" cy="1329479"/>
                    </a:xfrm>
                  </p:grpSpPr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67668" name="TextBox 667667">
                            <a:extLst>
                              <a:ext uri="{FF2B5EF4-FFF2-40B4-BE49-F238E27FC236}">
                                <a16:creationId xmlns:a16="http://schemas.microsoft.com/office/drawing/2014/main" id="{3AF3AAF1-C9C4-0CCA-041A-BDB50243C31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1194291" y="1555056"/>
                            <a:ext cx="826079" cy="57034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Sup>
                                    <m:sSubSupPr>
                                      <m:ctrlP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  <m:sup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𝑨𝑩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oMath>
                              </m:oMathPara>
                            </a14:m>
                            <a:endParaRPr lang="sv-SE" sz="2400" b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67668" name="TextBox 667667">
                            <a:extLst>
                              <a:ext uri="{FF2B5EF4-FFF2-40B4-BE49-F238E27FC236}">
                                <a16:creationId xmlns:a16="http://schemas.microsoft.com/office/drawing/2014/main" id="{3AF3AAF1-C9C4-0CCA-041A-BDB50243C319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11194291" y="1555056"/>
                            <a:ext cx="826079" cy="570349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67669" name="TextBox 667668">
                            <a:extLst>
                              <a:ext uri="{FF2B5EF4-FFF2-40B4-BE49-F238E27FC236}">
                                <a16:creationId xmlns:a16="http://schemas.microsoft.com/office/drawing/2014/main" id="{3671E13B-34A6-6426-A4A7-5BA07CCDB1B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8474285" y="1548287"/>
                            <a:ext cx="826079" cy="53995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Sup>
                                    <m:sSubSupPr>
                                      <m:ctrlP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b>
                                    <m:sup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𝑨𝑩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oMath>
                              </m:oMathPara>
                            </a14:m>
                            <a:endParaRPr lang="sv-SE" sz="2400" b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67669" name="TextBox 667668">
                            <a:extLst>
                              <a:ext uri="{FF2B5EF4-FFF2-40B4-BE49-F238E27FC236}">
                                <a16:creationId xmlns:a16="http://schemas.microsoft.com/office/drawing/2014/main" id="{3671E13B-34A6-6426-A4A7-5BA07CCDB1BA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8474285" y="1548287"/>
                            <a:ext cx="826079" cy="539956"/>
                          </a:xfrm>
                          <a:prstGeom prst="rect">
                            <a:avLst/>
                          </a:prstGeom>
                          <a:blipFill>
                            <a:blip r:embed="rId8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67670" name="TextBox 667669">
                            <a:extLst>
                              <a:ext uri="{FF2B5EF4-FFF2-40B4-BE49-F238E27FC236}">
                                <a16:creationId xmlns:a16="http://schemas.microsoft.com/office/drawing/2014/main" id="{005A60E8-62C3-08C3-0B81-BBC57196FF2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0150744" y="1591040"/>
                            <a:ext cx="826079" cy="53995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Sup>
                                    <m:sSubSupPr>
                                      <m:ctrlP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  <m:sup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𝑨𝑩</m:t>
                                      </m:r>
                                      <m:r>
                                        <a:rPr lang="sv-SE" sz="2400" b="1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oMath>
                              </m:oMathPara>
                            </a14:m>
                            <a:endParaRPr lang="sv-SE" sz="2400" b="1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67670" name="TextBox 667669">
                            <a:extLst>
                              <a:ext uri="{FF2B5EF4-FFF2-40B4-BE49-F238E27FC236}">
                                <a16:creationId xmlns:a16="http://schemas.microsoft.com/office/drawing/2014/main" id="{005A60E8-62C3-08C3-0B81-BBC57196FF29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10150744" y="1591040"/>
                            <a:ext cx="826079" cy="539956"/>
                          </a:xfrm>
                          <a:prstGeom prst="rect">
                            <a:avLst/>
                          </a:prstGeom>
                          <a:blipFill>
                            <a:blip r:embed="rId9"/>
                            <a:stretch>
                              <a:fillRect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667673" name="Straight Connector 667672">
                        <a:extLst>
                          <a:ext uri="{FF2B5EF4-FFF2-40B4-BE49-F238E27FC236}">
                            <a16:creationId xmlns:a16="http://schemas.microsoft.com/office/drawing/2014/main" id="{6EDC7DDB-4EC2-639B-34AE-1A60FBBDAE4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9002737" y="1940914"/>
                        <a:ext cx="432098" cy="715693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67674" name="Straight Connector 667673">
                        <a:extLst>
                          <a:ext uri="{FF2B5EF4-FFF2-40B4-BE49-F238E27FC236}">
                            <a16:creationId xmlns:a16="http://schemas.microsoft.com/office/drawing/2014/main" id="{B6EC9403-78E9-30CA-64B5-75F86BF8F97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10046981" y="2063525"/>
                        <a:ext cx="360527" cy="769044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67675" name="Straight Connector 667674">
                        <a:extLst>
                          <a:ext uri="{FF2B5EF4-FFF2-40B4-BE49-F238E27FC236}">
                            <a16:creationId xmlns:a16="http://schemas.microsoft.com/office/drawing/2014/main" id="{254CEADB-A02B-EA66-AFFC-B01E4AE4BE9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10905381" y="2063525"/>
                        <a:ext cx="521251" cy="814241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667695" name="Group 667694">
                    <a:extLst>
                      <a:ext uri="{FF2B5EF4-FFF2-40B4-BE49-F238E27FC236}">
                        <a16:creationId xmlns:a16="http://schemas.microsoft.com/office/drawing/2014/main" id="{419E7585-F150-7067-4495-39112140664A}"/>
                      </a:ext>
                    </a:extLst>
                  </p:cNvPr>
                  <p:cNvGrpSpPr/>
                  <p:nvPr/>
                </p:nvGrpSpPr>
                <p:grpSpPr>
                  <a:xfrm>
                    <a:off x="1329415" y="3844577"/>
                    <a:ext cx="3546085" cy="1329479"/>
                    <a:chOff x="8474285" y="1548287"/>
                    <a:chExt cx="3546085" cy="1329479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7696" name="TextBox 667695">
                          <a:extLst>
                            <a:ext uri="{FF2B5EF4-FFF2-40B4-BE49-F238E27FC236}">
                              <a16:creationId xmlns:a16="http://schemas.microsoft.com/office/drawing/2014/main" id="{2FDD78DD-C03D-01B6-3415-7BE9956F9E5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194291" y="1555056"/>
                          <a:ext cx="826079" cy="57034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  <m:sup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sv-SE" sz="24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67696" name="TextBox 667695">
                          <a:extLst>
                            <a:ext uri="{FF2B5EF4-FFF2-40B4-BE49-F238E27FC236}">
                              <a16:creationId xmlns:a16="http://schemas.microsoft.com/office/drawing/2014/main" id="{2FDD78DD-C03D-01B6-3415-7BE9956F9E5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1194291" y="1555056"/>
                          <a:ext cx="826079" cy="570349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v-S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7697" name="TextBox 667696">
                          <a:extLst>
                            <a:ext uri="{FF2B5EF4-FFF2-40B4-BE49-F238E27FC236}">
                              <a16:creationId xmlns:a16="http://schemas.microsoft.com/office/drawing/2014/main" id="{EE1B3DD1-4798-9A1A-AD27-6C80363C248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474285" y="1548287"/>
                          <a:ext cx="826079" cy="53995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sv-SE" sz="24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67697" name="TextBox 667696">
                          <a:extLst>
                            <a:ext uri="{FF2B5EF4-FFF2-40B4-BE49-F238E27FC236}">
                              <a16:creationId xmlns:a16="http://schemas.microsoft.com/office/drawing/2014/main" id="{EE1B3DD1-4798-9A1A-AD27-6C80363C248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474285" y="1548287"/>
                          <a:ext cx="826079" cy="539956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v-S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7698" name="TextBox 667697">
                          <a:extLst>
                            <a:ext uri="{FF2B5EF4-FFF2-40B4-BE49-F238E27FC236}">
                              <a16:creationId xmlns:a16="http://schemas.microsoft.com/office/drawing/2014/main" id="{5D2581E2-E833-BCEA-1B28-1F08BE6ED47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150744" y="1591040"/>
                          <a:ext cx="826079" cy="53995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  <m:sup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sv-SE" sz="24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67698" name="TextBox 667697">
                          <a:extLst>
                            <a:ext uri="{FF2B5EF4-FFF2-40B4-BE49-F238E27FC236}">
                              <a16:creationId xmlns:a16="http://schemas.microsoft.com/office/drawing/2014/main" id="{5D2581E2-E833-BCEA-1B28-1F08BE6ED47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150744" y="1591040"/>
                          <a:ext cx="826079" cy="539956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v-S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667699" name="Straight Connector 667698">
                      <a:extLst>
                        <a:ext uri="{FF2B5EF4-FFF2-40B4-BE49-F238E27FC236}">
                          <a16:creationId xmlns:a16="http://schemas.microsoft.com/office/drawing/2014/main" id="{8FE27A12-1BBC-33B2-ECAA-F5D84C352E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002737" y="1940914"/>
                      <a:ext cx="432098" cy="715693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7700" name="Straight Connector 667699">
                      <a:extLst>
                        <a:ext uri="{FF2B5EF4-FFF2-40B4-BE49-F238E27FC236}">
                          <a16:creationId xmlns:a16="http://schemas.microsoft.com/office/drawing/2014/main" id="{338FB4DA-C3EE-A60C-7029-4FC5834877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096166" y="2063525"/>
                      <a:ext cx="311342" cy="716407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7701" name="Straight Connector 667700">
                      <a:extLst>
                        <a:ext uri="{FF2B5EF4-FFF2-40B4-BE49-F238E27FC236}">
                          <a16:creationId xmlns:a16="http://schemas.microsoft.com/office/drawing/2014/main" id="{5A2B8EEE-26C2-B2FB-510D-0BB046B6F6C7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10905381" y="2063525"/>
                      <a:ext cx="521251" cy="81424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67703" name="Group 667702">
                    <a:extLst>
                      <a:ext uri="{FF2B5EF4-FFF2-40B4-BE49-F238E27FC236}">
                        <a16:creationId xmlns:a16="http://schemas.microsoft.com/office/drawing/2014/main" id="{C8672F34-F913-4C35-15E6-C92A726FBD34}"/>
                      </a:ext>
                    </a:extLst>
                  </p:cNvPr>
                  <p:cNvGrpSpPr/>
                  <p:nvPr/>
                </p:nvGrpSpPr>
                <p:grpSpPr>
                  <a:xfrm>
                    <a:off x="5505247" y="3904425"/>
                    <a:ext cx="2528360" cy="1211730"/>
                    <a:chOff x="2321933" y="1548287"/>
                    <a:chExt cx="2528360" cy="1211730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7704" name="TextBox 667703">
                          <a:extLst>
                            <a:ext uri="{FF2B5EF4-FFF2-40B4-BE49-F238E27FC236}">
                              <a16:creationId xmlns:a16="http://schemas.microsoft.com/office/drawing/2014/main" id="{AE21E5EB-A7A0-B77D-16C7-AC45A8571E0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321933" y="1548287"/>
                          <a:ext cx="826079" cy="54091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  <m:sup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sv-SE" sz="24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67704" name="TextBox 667703">
                          <a:extLst>
                            <a:ext uri="{FF2B5EF4-FFF2-40B4-BE49-F238E27FC236}">
                              <a16:creationId xmlns:a16="http://schemas.microsoft.com/office/drawing/2014/main" id="{AE21E5EB-A7A0-B77D-16C7-AC45A8571E0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321933" y="1548287"/>
                          <a:ext cx="826079" cy="540917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v-S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667705" name="Straight Connector 667704">
                      <a:extLst>
                        <a:ext uri="{FF2B5EF4-FFF2-40B4-BE49-F238E27FC236}">
                          <a16:creationId xmlns:a16="http://schemas.microsoft.com/office/drawing/2014/main" id="{93B9D2B2-A2A6-64F4-DEA9-57099F59F7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26473" y="1945776"/>
                      <a:ext cx="432098" cy="715693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7706" name="TextBox 667705">
                          <a:extLst>
                            <a:ext uri="{FF2B5EF4-FFF2-40B4-BE49-F238E27FC236}">
                              <a16:creationId xmlns:a16="http://schemas.microsoft.com/office/drawing/2014/main" id="{C532714D-9A93-0886-9C92-3FF6D6ADA86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024214" y="1549248"/>
                          <a:ext cx="826079" cy="53995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  <m:sup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sv-SE" sz="24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67706" name="TextBox 667705">
                          <a:extLst>
                            <a:ext uri="{FF2B5EF4-FFF2-40B4-BE49-F238E27FC236}">
                              <a16:creationId xmlns:a16="http://schemas.microsoft.com/office/drawing/2014/main" id="{C532714D-9A93-0886-9C92-3FF6D6ADA86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024214" y="1549248"/>
                          <a:ext cx="826079" cy="539956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v-S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667707" name="Straight Connector 667706">
                      <a:extLst>
                        <a:ext uri="{FF2B5EF4-FFF2-40B4-BE49-F238E27FC236}">
                          <a16:creationId xmlns:a16="http://schemas.microsoft.com/office/drawing/2014/main" id="{FD6C1D5C-3497-97C8-7EF9-E81ADA74358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971276" y="2043610"/>
                      <a:ext cx="311342" cy="716407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67709" name="Group 667708">
                    <a:extLst>
                      <a:ext uri="{FF2B5EF4-FFF2-40B4-BE49-F238E27FC236}">
                        <a16:creationId xmlns:a16="http://schemas.microsoft.com/office/drawing/2014/main" id="{1D731FFA-C626-6025-71FD-165DD32F0680}"/>
                      </a:ext>
                    </a:extLst>
                  </p:cNvPr>
                  <p:cNvGrpSpPr/>
                  <p:nvPr/>
                </p:nvGrpSpPr>
                <p:grpSpPr>
                  <a:xfrm>
                    <a:off x="8474285" y="3873771"/>
                    <a:ext cx="2582420" cy="1278178"/>
                    <a:chOff x="5454979" y="1554391"/>
                    <a:chExt cx="2582420" cy="1278178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7710" name="TextBox 667709">
                          <a:extLst>
                            <a:ext uri="{FF2B5EF4-FFF2-40B4-BE49-F238E27FC236}">
                              <a16:creationId xmlns:a16="http://schemas.microsoft.com/office/drawing/2014/main" id="{84AA973B-B063-6383-71D2-1DC331A09AF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454979" y="1591040"/>
                          <a:ext cx="826079" cy="53995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  <m:sup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sv-SE" sz="24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67710" name="TextBox 667709">
                          <a:extLst>
                            <a:ext uri="{FF2B5EF4-FFF2-40B4-BE49-F238E27FC236}">
                              <a16:creationId xmlns:a16="http://schemas.microsoft.com/office/drawing/2014/main" id="{84AA973B-B063-6383-71D2-1DC331A09AF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454979" y="1591040"/>
                          <a:ext cx="826079" cy="539956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v-S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667711" name="Straight Connector 667710">
                      <a:extLst>
                        <a:ext uri="{FF2B5EF4-FFF2-40B4-BE49-F238E27FC236}">
                          <a16:creationId xmlns:a16="http://schemas.microsoft.com/office/drawing/2014/main" id="{60FD1D54-5701-5CFB-A778-0E9AD425654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735183" y="2089204"/>
                      <a:ext cx="509006" cy="690728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67712" name="TextBox 667711">
                          <a:extLst>
                            <a:ext uri="{FF2B5EF4-FFF2-40B4-BE49-F238E27FC236}">
                              <a16:creationId xmlns:a16="http://schemas.microsoft.com/office/drawing/2014/main" id="{C2A86624-449D-8128-4D03-F3AA6DB6DF7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211320" y="1554391"/>
                          <a:ext cx="826079" cy="57034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  <m:sup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  <m:r>
                                      <a:rPr lang="sv-SE" sz="2400" b="1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sv-SE" sz="2400" b="1" dirty="0"/>
                        </a:p>
                      </p:txBody>
                    </p:sp>
                  </mc:Choice>
                  <mc:Fallback xmlns="">
                    <p:sp>
                      <p:nvSpPr>
                        <p:cNvPr id="667712" name="TextBox 667711">
                          <a:extLst>
                            <a:ext uri="{FF2B5EF4-FFF2-40B4-BE49-F238E27FC236}">
                              <a16:creationId xmlns:a16="http://schemas.microsoft.com/office/drawing/2014/main" id="{C2A86624-449D-8128-4D03-F3AA6DB6DF7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211320" y="1554391"/>
                          <a:ext cx="826079" cy="570349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sv-SE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667713" name="Straight Connector 667712">
                      <a:extLst>
                        <a:ext uri="{FF2B5EF4-FFF2-40B4-BE49-F238E27FC236}">
                          <a16:creationId xmlns:a16="http://schemas.microsoft.com/office/drawing/2014/main" id="{B3200DDB-BCC6-2236-75D3-6C5DDC7B8588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6939498" y="2018328"/>
                      <a:ext cx="521251" cy="814241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667716" name="TextBox 667715">
                  <a:extLst>
                    <a:ext uri="{FF2B5EF4-FFF2-40B4-BE49-F238E27FC236}">
                      <a16:creationId xmlns:a16="http://schemas.microsoft.com/office/drawing/2014/main" id="{5CB4A597-451A-A814-7E54-1BCD7156FC88}"/>
                    </a:ext>
                  </a:extLst>
                </p:cNvPr>
                <p:cNvSpPr txBox="1"/>
                <p:nvPr/>
              </p:nvSpPr>
              <p:spPr>
                <a:xfrm>
                  <a:off x="58282" y="2514660"/>
                  <a:ext cx="151865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sv-SE" sz="2600" dirty="0" err="1">
                      <a:solidFill>
                        <a:schemeClr val="accent1"/>
                      </a:solidFill>
                      <a:latin typeface="+mj-lt"/>
                    </a:rPr>
                    <a:t>Coupling</a:t>
                  </a:r>
                  <a:endParaRPr lang="sv-SE" sz="2600" dirty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  <p:sp>
              <p:nvSpPr>
                <p:cNvPr id="667717" name="TextBox 667716">
                  <a:extLst>
                    <a:ext uri="{FF2B5EF4-FFF2-40B4-BE49-F238E27FC236}">
                      <a16:creationId xmlns:a16="http://schemas.microsoft.com/office/drawing/2014/main" id="{7B441777-81B7-8D7C-40AA-17F5B8786AF9}"/>
                    </a:ext>
                  </a:extLst>
                </p:cNvPr>
                <p:cNvSpPr txBox="1"/>
                <p:nvPr/>
              </p:nvSpPr>
              <p:spPr>
                <a:xfrm>
                  <a:off x="17066" y="4768910"/>
                  <a:ext cx="1722647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sv-SE" sz="2600" dirty="0" err="1">
                      <a:solidFill>
                        <a:schemeClr val="accent1"/>
                      </a:solidFill>
                      <a:latin typeface="+mj-lt"/>
                    </a:rPr>
                    <a:t>Decoupling</a:t>
                  </a:r>
                  <a:endParaRPr lang="sv-SE" sz="2600" dirty="0">
                    <a:solidFill>
                      <a:schemeClr val="accent1"/>
                    </a:solidFill>
                    <a:latin typeface="+mj-lt"/>
                  </a:endParaRPr>
                </a:p>
              </p:txBody>
            </p:sp>
          </p:grpSp>
          <p:cxnSp>
            <p:nvCxnSpPr>
              <p:cNvPr id="667720" name="Straight Connector 667719">
                <a:extLst>
                  <a:ext uri="{FF2B5EF4-FFF2-40B4-BE49-F238E27FC236}">
                    <a16:creationId xmlns:a16="http://schemas.microsoft.com/office/drawing/2014/main" id="{123D640E-054A-C1BF-1EA4-90E2FAF4742F}"/>
                  </a:ext>
                </a:extLst>
              </p:cNvPr>
              <p:cNvCxnSpPr>
                <a:cxnSpLocks/>
                <a:stCxn id="46" idx="7"/>
                <a:endCxn id="46" idx="5"/>
              </p:cNvCxnSpPr>
              <p:nvPr/>
            </p:nvCxnSpPr>
            <p:spPr>
              <a:xfrm>
                <a:off x="10113579" y="2377842"/>
                <a:ext cx="0" cy="739678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7722" name="Straight Connector 667721">
                <a:extLst>
                  <a:ext uri="{FF2B5EF4-FFF2-40B4-BE49-F238E27FC236}">
                    <a16:creationId xmlns:a16="http://schemas.microsoft.com/office/drawing/2014/main" id="{FFE9140E-52D6-AF34-A211-8CE8073EF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1045" y="4675886"/>
                <a:ext cx="0" cy="739678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7732" name="Group 667731">
              <a:extLst>
                <a:ext uri="{FF2B5EF4-FFF2-40B4-BE49-F238E27FC236}">
                  <a16:creationId xmlns:a16="http://schemas.microsoft.com/office/drawing/2014/main" id="{5D56DAC9-E2FF-BF3C-E81E-7BA1544547F5}"/>
                </a:ext>
              </a:extLst>
            </p:cNvPr>
            <p:cNvGrpSpPr/>
            <p:nvPr/>
          </p:nvGrpSpPr>
          <p:grpSpPr>
            <a:xfrm>
              <a:off x="3357698" y="998670"/>
              <a:ext cx="7080788" cy="550152"/>
              <a:chOff x="3357698" y="998670"/>
              <a:chExt cx="7080788" cy="550152"/>
            </a:xfrm>
          </p:grpSpPr>
          <p:sp>
            <p:nvSpPr>
              <p:cNvPr id="667725" name="TextBox 667724">
                <a:extLst>
                  <a:ext uri="{FF2B5EF4-FFF2-40B4-BE49-F238E27FC236}">
                    <a16:creationId xmlns:a16="http://schemas.microsoft.com/office/drawing/2014/main" id="{A6473C2A-3A50-2DFB-5161-7E9D7351985D}"/>
                  </a:ext>
                </a:extLst>
              </p:cNvPr>
              <p:cNvSpPr txBox="1"/>
              <p:nvPr/>
            </p:nvSpPr>
            <p:spPr>
              <a:xfrm>
                <a:off x="3357698" y="998670"/>
                <a:ext cx="49006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600" dirty="0">
                    <a:solidFill>
                      <a:schemeClr val="accent1"/>
                    </a:solidFill>
                    <a:latin typeface="+mj-lt"/>
                  </a:rPr>
                  <a:t>A</a:t>
                </a:r>
              </a:p>
            </p:txBody>
          </p:sp>
          <p:sp>
            <p:nvSpPr>
              <p:cNvPr id="667726" name="TextBox 667725">
                <a:extLst>
                  <a:ext uri="{FF2B5EF4-FFF2-40B4-BE49-F238E27FC236}">
                    <a16:creationId xmlns:a16="http://schemas.microsoft.com/office/drawing/2014/main" id="{A34FE713-1215-324B-082E-C723056C793C}"/>
                  </a:ext>
                </a:extLst>
              </p:cNvPr>
              <p:cNvSpPr txBox="1"/>
              <p:nvPr/>
            </p:nvSpPr>
            <p:spPr>
              <a:xfrm>
                <a:off x="6514095" y="998670"/>
                <a:ext cx="49006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600" dirty="0">
                    <a:solidFill>
                      <a:schemeClr val="accent1"/>
                    </a:solidFill>
                    <a:latin typeface="+mj-lt"/>
                  </a:rPr>
                  <a:t>B</a:t>
                </a:r>
              </a:p>
            </p:txBody>
          </p:sp>
          <p:sp>
            <p:nvSpPr>
              <p:cNvPr id="667727" name="TextBox 667726">
                <a:extLst>
                  <a:ext uri="{FF2B5EF4-FFF2-40B4-BE49-F238E27FC236}">
                    <a16:creationId xmlns:a16="http://schemas.microsoft.com/office/drawing/2014/main" id="{66EED586-8301-BA6F-ECF5-F115A8CDE891}"/>
                  </a:ext>
                </a:extLst>
              </p:cNvPr>
              <p:cNvSpPr txBox="1"/>
              <p:nvPr/>
            </p:nvSpPr>
            <p:spPr>
              <a:xfrm>
                <a:off x="9833012" y="1056379"/>
                <a:ext cx="60547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600" dirty="0">
                    <a:solidFill>
                      <a:schemeClr val="accent1"/>
                    </a:solidFill>
                    <a:latin typeface="+mj-lt"/>
                  </a:rPr>
                  <a:t>AB</a:t>
                </a:r>
              </a:p>
            </p:txBody>
          </p:sp>
        </p:grpSp>
        <p:grpSp>
          <p:nvGrpSpPr>
            <p:cNvPr id="667731" name="Group 667730">
              <a:extLst>
                <a:ext uri="{FF2B5EF4-FFF2-40B4-BE49-F238E27FC236}">
                  <a16:creationId xmlns:a16="http://schemas.microsoft.com/office/drawing/2014/main" id="{9B03B49B-917A-BA87-B5EA-F1673A85BFF3}"/>
                </a:ext>
              </a:extLst>
            </p:cNvPr>
            <p:cNvGrpSpPr/>
            <p:nvPr/>
          </p:nvGrpSpPr>
          <p:grpSpPr>
            <a:xfrm>
              <a:off x="2736887" y="5837928"/>
              <a:ext cx="7328617" cy="492444"/>
              <a:chOff x="2736887" y="5837928"/>
              <a:chExt cx="7328617" cy="492444"/>
            </a:xfrm>
          </p:grpSpPr>
          <p:sp>
            <p:nvSpPr>
              <p:cNvPr id="667728" name="TextBox 667727">
                <a:extLst>
                  <a:ext uri="{FF2B5EF4-FFF2-40B4-BE49-F238E27FC236}">
                    <a16:creationId xmlns:a16="http://schemas.microsoft.com/office/drawing/2014/main" id="{361E3335-DB82-EC8F-8D01-623E3AF2C581}"/>
                  </a:ext>
                </a:extLst>
              </p:cNvPr>
              <p:cNvSpPr txBox="1"/>
              <p:nvPr/>
            </p:nvSpPr>
            <p:spPr>
              <a:xfrm>
                <a:off x="2736887" y="5837929"/>
                <a:ext cx="60547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600" dirty="0">
                    <a:solidFill>
                      <a:schemeClr val="accent1"/>
                    </a:solidFill>
                    <a:latin typeface="+mj-lt"/>
                  </a:rPr>
                  <a:t>AB</a:t>
                </a:r>
              </a:p>
            </p:txBody>
          </p:sp>
          <p:sp>
            <p:nvSpPr>
              <p:cNvPr id="667729" name="TextBox 667728">
                <a:extLst>
                  <a:ext uri="{FF2B5EF4-FFF2-40B4-BE49-F238E27FC236}">
                    <a16:creationId xmlns:a16="http://schemas.microsoft.com/office/drawing/2014/main" id="{89EF66B1-7878-1BC7-FB83-9B314EED4173}"/>
                  </a:ext>
                </a:extLst>
              </p:cNvPr>
              <p:cNvSpPr txBox="1"/>
              <p:nvPr/>
            </p:nvSpPr>
            <p:spPr>
              <a:xfrm>
                <a:off x="6549322" y="5837928"/>
                <a:ext cx="49006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600" dirty="0">
                    <a:solidFill>
                      <a:schemeClr val="accent1"/>
                    </a:solidFill>
                    <a:latin typeface="+mj-lt"/>
                  </a:rPr>
                  <a:t>A</a:t>
                </a:r>
              </a:p>
            </p:txBody>
          </p:sp>
          <p:sp>
            <p:nvSpPr>
              <p:cNvPr id="667730" name="TextBox 667729">
                <a:extLst>
                  <a:ext uri="{FF2B5EF4-FFF2-40B4-BE49-F238E27FC236}">
                    <a16:creationId xmlns:a16="http://schemas.microsoft.com/office/drawing/2014/main" id="{BC5BC956-5E86-B144-1B13-A1B5BB275C1B}"/>
                  </a:ext>
                </a:extLst>
              </p:cNvPr>
              <p:cNvSpPr txBox="1"/>
              <p:nvPr/>
            </p:nvSpPr>
            <p:spPr>
              <a:xfrm>
                <a:off x="9575444" y="5837928"/>
                <a:ext cx="49006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600" dirty="0">
                    <a:solidFill>
                      <a:schemeClr val="accent1"/>
                    </a:solidFill>
                    <a:latin typeface="+mj-lt"/>
                  </a:rPr>
                  <a:t>B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3566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85875" y="0"/>
            <a:ext cx="10353675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Some objectives of </a:t>
            </a:r>
            <a:r>
              <a:rPr lang="en-US" dirty="0">
                <a:cs typeface="+mj-cs"/>
              </a:rPr>
              <a:t>decoupling</a:t>
            </a:r>
          </a:p>
        </p:txBody>
      </p:sp>
      <p:sp>
        <p:nvSpPr>
          <p:cNvPr id="667651" name="Rectangle 3"/>
          <p:cNvSpPr>
            <a:spLocks noGrp="1" noChangeArrowheads="1"/>
          </p:cNvSpPr>
          <p:nvPr>
            <p:ph idx="1"/>
          </p:nvPr>
        </p:nvSpPr>
        <p:spPr>
          <a:xfrm>
            <a:off x="1428750" y="1752600"/>
            <a:ext cx="9448800" cy="4501055"/>
          </a:xfrm>
        </p:spPr>
        <p:txBody>
          <a:bodyPr/>
          <a:lstStyle/>
          <a:p>
            <a:r>
              <a:rPr lang="en-US" sz="2400" dirty="0"/>
              <a:t>Find the FRFs or eigen modes of components that can not be well measured when standalone (e.g. removing dynamics of test-frame).</a:t>
            </a:r>
          </a:p>
          <a:p>
            <a:pPr>
              <a:buFont typeface="Wingdings" charset="0"/>
              <a:buChar char="q"/>
            </a:pPr>
            <a:endParaRPr lang="en-US" sz="2400" dirty="0"/>
          </a:p>
          <a:p>
            <a:r>
              <a:rPr lang="en-US" sz="2400" dirty="0"/>
              <a:t>Obtain the FRFs or eigenmodes of a component including its interface dynamics (damping and stiffness).</a:t>
            </a:r>
          </a:p>
          <a:p>
            <a:endParaRPr lang="en-US" sz="2400" dirty="0"/>
          </a:p>
          <a:p>
            <a:r>
              <a:rPr lang="en-US" sz="2400" dirty="0"/>
              <a:t>To get an estimate of the result of an exchange from one component to another. Then decoupling and decoupling are made consecutively or simultaneously.</a:t>
            </a:r>
          </a:p>
          <a:p>
            <a:endParaRPr lang="en-US" sz="24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344487" lvl="1" indent="0">
              <a:buNone/>
            </a:pPr>
            <a:endParaRPr lang="en-US" sz="1600" dirty="0"/>
          </a:p>
          <a:p>
            <a:pPr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defRPr/>
            </a:pPr>
            <a:endParaRPr lang="en-US" sz="1800" dirty="0"/>
          </a:p>
        </p:txBody>
      </p:sp>
      <p:sp>
        <p:nvSpPr>
          <p:cNvPr id="7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898989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>
              <a:defRPr/>
            </a:pPr>
            <a:fld id="{037142E8-1101-48E2-8C8A-046273EB862E}" type="slidenum">
              <a:rPr lang="en-GB" altLang="sv-SE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9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01DC-3F91-430C-8851-628887A8B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312574"/>
            <a:ext cx="9586951" cy="559785"/>
          </a:xfrm>
        </p:spPr>
        <p:txBody>
          <a:bodyPr>
            <a:normAutofit fontScale="90000"/>
          </a:bodyPr>
          <a:lstStyle/>
          <a:p>
            <a:r>
              <a:rPr lang="en-US" dirty="0"/>
              <a:t>A </a:t>
            </a:r>
            <a:r>
              <a:rPr lang="en-US" dirty="0" err="1"/>
              <a:t>substructuring</a:t>
            </a:r>
            <a:r>
              <a:rPr lang="en-US" dirty="0"/>
              <a:t> benchmark structure</a:t>
            </a:r>
          </a:p>
        </p:txBody>
      </p:sp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D32C46CC-5CDA-4F74-A021-540052B7C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64618" y="1037849"/>
            <a:ext cx="3936781" cy="525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D24EE8BC-96F0-4466-A09F-7D9F618CD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959746"/>
            <a:ext cx="5486400" cy="433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26F8C3-BD35-49EA-BE26-E07B53FCAC47}"/>
              </a:ext>
            </a:extLst>
          </p:cNvPr>
          <p:cNvSpPr txBox="1"/>
          <p:nvPr/>
        </p:nvSpPr>
        <p:spPr>
          <a:xfrm>
            <a:off x="1828800" y="1104524"/>
            <a:ext cx="3936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+mj-lt"/>
              </a:rPr>
              <a:t>An </a:t>
            </a:r>
            <a:r>
              <a:rPr lang="en-US" sz="2400" dirty="0" err="1">
                <a:solidFill>
                  <a:schemeClr val="accent1"/>
                </a:solidFill>
                <a:latin typeface="+mj-lt"/>
              </a:rPr>
              <a:t>Ampair</a:t>
            </a:r>
            <a:r>
              <a:rPr lang="en-US" sz="2400" dirty="0">
                <a:solidFill>
                  <a:schemeClr val="accent1"/>
                </a:solidFill>
                <a:latin typeface="+mj-lt"/>
              </a:rPr>
              <a:t> A600 wind turbine</a:t>
            </a:r>
          </a:p>
        </p:txBody>
      </p:sp>
    </p:spTree>
    <p:extLst>
      <p:ext uri="{BB962C8B-B14F-4D97-AF65-F5344CB8AC3E}">
        <p14:creationId xmlns:p14="http://schemas.microsoft.com/office/powerpoint/2010/main" val="434641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9015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Reminder of frequency based substructuring (FBS)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F0CE-8835-19E1-25AE-0C967ED74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63A24D-23E1-74FE-1114-BF9CF473621E}"/>
                  </a:ext>
                </a:extLst>
              </p:cNvPr>
              <p:cNvSpPr txBox="1"/>
              <p:nvPr/>
            </p:nvSpPr>
            <p:spPr>
              <a:xfrm>
                <a:off x="2920023" y="1699417"/>
                <a:ext cx="3472961" cy="763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sv-SE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sv-SE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sv-SE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sv-SE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</m:mr>
                          </m:m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63A24D-23E1-74FE-1114-BF9CF4736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023" y="1699417"/>
                <a:ext cx="3472961" cy="7630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CB48BE-F652-1048-4063-75AFB160BB78}"/>
                  </a:ext>
                </a:extLst>
              </p:cNvPr>
              <p:cNvSpPr txBox="1"/>
              <p:nvPr/>
            </p:nvSpPr>
            <p:spPr>
              <a:xfrm>
                <a:off x="3084147" y="5320933"/>
                <a:ext cx="4589584" cy="509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]"/>
                              <m:ctrlPr>
                                <a:rPr lang="sv-SE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sSup>
                                <m:sSupPr>
                                  <m:ctrlP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𝐵𝐻</m:t>
                                      </m:r>
                                      <m:sSup>
                                        <m:sSupPr>
                                          <m:ctrlP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sv-SE" sz="2400" i="1">
                                  <a:latin typeface="Cambria Math" panose="02040503050406030204" pitchFamily="18" charset="0"/>
                                </a:rPr>
                                <m:t>𝐵𝐻</m:t>
                              </m:r>
                            </m:e>
                          </m:d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CB48BE-F652-1048-4063-75AFB160B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147" y="5320933"/>
                <a:ext cx="4589584" cy="509178"/>
              </a:xfrm>
              <a:prstGeom prst="rect">
                <a:avLst/>
              </a:prstGeom>
              <a:blipFill>
                <a:blip r:embed="rId3"/>
                <a:stretch>
                  <a:fillRect t="-119277" r="-4781" b="-16988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301E58-A673-46B9-0C7E-20AEB0715FC4}"/>
                  </a:ext>
                </a:extLst>
              </p:cNvPr>
              <p:cNvSpPr txBox="1"/>
              <p:nvPr/>
            </p:nvSpPr>
            <p:spPr>
              <a:xfrm>
                <a:off x="3182816" y="2681802"/>
                <a:ext cx="38246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</m:oMath>
                  </m:oMathPara>
                </a14:m>
                <a:endParaRPr lang="sv-SE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301E58-A673-46B9-0C7E-20AEB0715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816" y="2681802"/>
                <a:ext cx="382465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9777111-C820-7370-0CE9-3216FE64769F}"/>
              </a:ext>
            </a:extLst>
          </p:cNvPr>
          <p:cNvSpPr txBox="1"/>
          <p:nvPr/>
        </p:nvSpPr>
        <p:spPr>
          <a:xfrm>
            <a:off x="1638057" y="1026462"/>
            <a:ext cx="10849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/>
              <a:t>The dual </a:t>
            </a:r>
            <a:r>
              <a:rPr lang="sv-SE" sz="2400" dirty="0" err="1"/>
              <a:t>assembly</a:t>
            </a:r>
            <a:r>
              <a:rPr lang="sv-SE" sz="2400" dirty="0"/>
              <a:t> in the </a:t>
            </a:r>
            <a:r>
              <a:rPr lang="sv-SE" sz="2400" dirty="0" err="1"/>
              <a:t>frequency</a:t>
            </a:r>
            <a:r>
              <a:rPr lang="sv-SE" sz="2400" dirty="0"/>
              <a:t> </a:t>
            </a:r>
            <a:r>
              <a:rPr lang="sv-SE" sz="2400" dirty="0" err="1"/>
              <a:t>domain</a:t>
            </a:r>
            <a:r>
              <a:rPr lang="sv-SE" sz="2400" dirty="0"/>
              <a:t> </a:t>
            </a:r>
            <a:r>
              <a:rPr lang="sv-SE" sz="2400" dirty="0" err="1"/>
              <a:t>can</a:t>
            </a:r>
            <a:r>
              <a:rPr lang="sv-SE" sz="2400" dirty="0"/>
              <a:t> be </a:t>
            </a:r>
            <a:r>
              <a:rPr lang="sv-SE" sz="2400" dirty="0" err="1"/>
              <a:t>written</a:t>
            </a:r>
            <a:r>
              <a:rPr lang="sv-SE" sz="2400" dirty="0"/>
              <a:t> as: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290584-173E-4DEC-25F1-E8C7071286BC}"/>
              </a:ext>
            </a:extLst>
          </p:cNvPr>
          <p:cNvSpPr txBox="1"/>
          <p:nvPr/>
        </p:nvSpPr>
        <p:spPr>
          <a:xfrm>
            <a:off x="7258539" y="1887566"/>
            <a:ext cx="2013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/>
              <a:t>in </a:t>
            </a:r>
            <a:r>
              <a:rPr lang="sv-SE" sz="2400" dirty="0" err="1"/>
              <a:t>which</a:t>
            </a:r>
            <a:endParaRPr lang="sv-SE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8C632-3F89-B9AF-76B0-4008A9A263AC}"/>
              </a:ext>
            </a:extLst>
          </p:cNvPr>
          <p:cNvSpPr txBox="1"/>
          <p:nvPr/>
        </p:nvSpPr>
        <p:spPr>
          <a:xfrm>
            <a:off x="7245350" y="2681802"/>
            <a:ext cx="3472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/>
              <a:t>is the </a:t>
            </a:r>
            <a:r>
              <a:rPr lang="sv-SE" sz="2400" dirty="0" err="1"/>
              <a:t>dynamic</a:t>
            </a:r>
            <a:r>
              <a:rPr lang="sv-SE" sz="2400" dirty="0"/>
              <a:t> </a:t>
            </a:r>
            <a:r>
              <a:rPr lang="sv-SE" sz="2400" dirty="0" err="1"/>
              <a:t>stiffness</a:t>
            </a:r>
            <a:endParaRPr lang="sv-SE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C1525D-9A6E-E0A2-D230-1F45480B18F6}"/>
              </a:ext>
            </a:extLst>
          </p:cNvPr>
          <p:cNvSpPr txBox="1"/>
          <p:nvPr/>
        </p:nvSpPr>
        <p:spPr>
          <a:xfrm>
            <a:off x="1638057" y="4591117"/>
            <a:ext cx="9867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/>
              <a:t>the </a:t>
            </a:r>
            <a:r>
              <a:rPr lang="sv-SE" sz="2400" dirty="0" err="1"/>
              <a:t>displacement</a:t>
            </a:r>
            <a:r>
              <a:rPr lang="sv-SE" sz="2400" dirty="0"/>
              <a:t> </a:t>
            </a:r>
            <a:r>
              <a:rPr lang="sv-SE" sz="2400" dirty="0" err="1"/>
              <a:t>vector</a:t>
            </a:r>
            <a:r>
              <a:rPr lang="sv-SE" sz="2400" dirty="0"/>
              <a:t>, </a:t>
            </a:r>
            <a:r>
              <a:rPr lang="sv-SE" sz="2400" dirty="0" err="1"/>
              <a:t>containing</a:t>
            </a:r>
            <a:r>
              <a:rPr lang="sv-SE" sz="2400" dirty="0"/>
              <a:t> all the </a:t>
            </a:r>
            <a:r>
              <a:rPr lang="sv-SE" sz="2400" dirty="0" err="1"/>
              <a:t>dofs</a:t>
            </a:r>
            <a:r>
              <a:rPr lang="sv-SE" sz="2400" dirty="0"/>
              <a:t>, </a:t>
            </a:r>
            <a:r>
              <a:rPr lang="sv-SE" sz="2400" dirty="0" err="1"/>
              <a:t>can</a:t>
            </a:r>
            <a:r>
              <a:rPr lang="sv-SE" sz="2400" dirty="0"/>
              <a:t> be </a:t>
            </a:r>
            <a:r>
              <a:rPr lang="sv-SE" sz="2400" dirty="0" err="1"/>
              <a:t>solved</a:t>
            </a:r>
            <a:r>
              <a:rPr lang="sv-SE" sz="2400" dirty="0"/>
              <a:t> for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23107-12EB-B590-D255-AF3B7A57AACF}"/>
              </a:ext>
            </a:extLst>
          </p:cNvPr>
          <p:cNvSpPr txBox="1"/>
          <p:nvPr/>
        </p:nvSpPr>
        <p:spPr>
          <a:xfrm>
            <a:off x="1638057" y="6020152"/>
            <a:ext cx="8343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/>
              <a:t>From </a:t>
            </a:r>
            <a:r>
              <a:rPr lang="sv-SE" sz="2400" dirty="0" err="1"/>
              <a:t>which</a:t>
            </a:r>
            <a:r>
              <a:rPr lang="sv-SE" sz="2400" dirty="0"/>
              <a:t> the FRFs of the </a:t>
            </a:r>
            <a:r>
              <a:rPr lang="sv-SE" sz="2400" dirty="0" err="1"/>
              <a:t>coupled</a:t>
            </a:r>
            <a:r>
              <a:rPr lang="sv-SE" sz="2400" dirty="0"/>
              <a:t> system </a:t>
            </a:r>
            <a:r>
              <a:rPr lang="sv-SE" sz="2400" dirty="0" err="1"/>
              <a:t>can</a:t>
            </a:r>
            <a:r>
              <a:rPr lang="sv-SE" sz="2400" dirty="0"/>
              <a:t> be </a:t>
            </a:r>
            <a:r>
              <a:rPr lang="sv-SE" sz="2400" dirty="0" err="1"/>
              <a:t>calculated</a:t>
            </a:r>
            <a:endParaRPr lang="sv-S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6CE3FB-D28C-B9F1-A402-FD96BBC9BC44}"/>
                  </a:ext>
                </a:extLst>
              </p:cNvPr>
              <p:cNvSpPr txBox="1"/>
              <p:nvPr/>
            </p:nvSpPr>
            <p:spPr>
              <a:xfrm>
                <a:off x="3309692" y="3346692"/>
                <a:ext cx="60754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sv-SE" sz="2400" dirty="0">
                    <a:latin typeface="+mj-lt"/>
                  </a:rPr>
                  <a:t> is the </a:t>
                </a:r>
                <a:r>
                  <a:rPr lang="sv-SE" sz="2400" dirty="0" err="1">
                    <a:latin typeface="+mj-lt"/>
                  </a:rPr>
                  <a:t>coupling</a:t>
                </a:r>
                <a:r>
                  <a:rPr lang="sv-SE" sz="2400" dirty="0">
                    <a:latin typeface="+mj-lt"/>
                  </a:rPr>
                  <a:t> matrix, </a:t>
                </a:r>
                <a:r>
                  <a:rPr lang="sv-SE" sz="2400" dirty="0" err="1">
                    <a:latin typeface="+mj-lt"/>
                  </a:rPr>
                  <a:t>containing</a:t>
                </a:r>
                <a:r>
                  <a:rPr lang="sv-SE" sz="2400" dirty="0">
                    <a:latin typeface="+mj-lt"/>
                  </a:rPr>
                  <a:t> -1,0 and 1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6CE3FB-D28C-B9F1-A402-FD96BBC9B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692" y="3346692"/>
                <a:ext cx="6075486" cy="461665"/>
              </a:xfrm>
              <a:prstGeom prst="rect">
                <a:avLst/>
              </a:prstGeom>
              <a:blipFill>
                <a:blip r:embed="rId5"/>
                <a:stretch>
                  <a:fillRect l="-301" t="-10526" b="-2894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FC41B5-38E7-F251-C63B-FCD9F6BE94DD}"/>
                  </a:ext>
                </a:extLst>
              </p:cNvPr>
              <p:cNvSpPr txBox="1"/>
              <p:nvPr/>
            </p:nvSpPr>
            <p:spPr>
              <a:xfrm>
                <a:off x="3275972" y="4057956"/>
                <a:ext cx="757387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sv-SE" sz="2400" dirty="0">
                    <a:latin typeface="+mj-lt"/>
                    <a:ea typeface="Adobe Song Std L" panose="02020300000000000000" pitchFamily="18" charset="-128"/>
                  </a:rPr>
                  <a:t> is the </a:t>
                </a:r>
                <a:r>
                  <a:rPr lang="sv-SE" sz="2400" dirty="0" err="1">
                    <a:latin typeface="+mj-lt"/>
                    <a:ea typeface="Adobe Song Std L" panose="02020300000000000000" pitchFamily="18" charset="-128"/>
                  </a:rPr>
                  <a:t>vector</a:t>
                </a:r>
                <a:r>
                  <a:rPr lang="sv-SE" sz="2400" dirty="0">
                    <a:latin typeface="+mj-lt"/>
                    <a:ea typeface="Adobe Song Std L" panose="02020300000000000000" pitchFamily="18" charset="-128"/>
                  </a:rPr>
                  <a:t> </a:t>
                </a:r>
                <a:r>
                  <a:rPr lang="sv-SE" sz="2400" dirty="0" err="1">
                    <a:latin typeface="+mj-lt"/>
                    <a:ea typeface="Adobe Song Std L" panose="02020300000000000000" pitchFamily="18" charset="-128"/>
                  </a:rPr>
                  <a:t>containg</a:t>
                </a:r>
                <a:r>
                  <a:rPr lang="sv-SE" sz="2400" dirty="0">
                    <a:latin typeface="+mj-lt"/>
                    <a:ea typeface="Adobe Song Std L" panose="02020300000000000000" pitchFamily="18" charset="-128"/>
                  </a:rPr>
                  <a:t> the interface </a:t>
                </a:r>
                <a:r>
                  <a:rPr lang="sv-SE" sz="2400" dirty="0" err="1">
                    <a:latin typeface="+mj-lt"/>
                    <a:ea typeface="Adobe Song Std L" panose="02020300000000000000" pitchFamily="18" charset="-128"/>
                  </a:rPr>
                  <a:t>forces</a:t>
                </a:r>
                <a:r>
                  <a:rPr lang="sv-SE" sz="2400" dirty="0">
                    <a:latin typeface="+mj-lt"/>
                    <a:ea typeface="Adobe Song Std L" panose="02020300000000000000" pitchFamily="18" charset="-128"/>
                  </a:rPr>
                  <a:t>. </a:t>
                </a:r>
                <a:r>
                  <a:rPr lang="sv-SE" sz="2400" dirty="0" err="1">
                    <a:latin typeface="+mj-lt"/>
                    <a:ea typeface="Adobe Song Std L" panose="02020300000000000000" pitchFamily="18" charset="-128"/>
                  </a:rPr>
                  <a:t>With</a:t>
                </a:r>
                <a:r>
                  <a:rPr lang="sv-SE" sz="2400" dirty="0">
                    <a:latin typeface="+mj-lt"/>
                    <a:ea typeface="Adobe Song Std L" panose="02020300000000000000" pitchFamily="18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  <a:ea typeface="Adobe Song Std L" panose="02020300000000000000" pitchFamily="18" charset="-128"/>
                      </a:rPr>
                      <m:t>𝐻</m:t>
                    </m:r>
                    <m:r>
                      <a:rPr lang="sv-SE" sz="2400" b="0" i="1" smtClean="0">
                        <a:latin typeface="Cambria Math" panose="02040503050406030204" pitchFamily="18" charset="0"/>
                        <a:ea typeface="Adobe Song Std L" panose="02020300000000000000" pitchFamily="18" charset="-128"/>
                      </a:rPr>
                      <m:t>=</m:t>
                    </m:r>
                    <m:sSup>
                      <m:sSupPr>
                        <m:ctrlPr>
                          <a:rPr lang="sv-SE" sz="2400" b="0" i="1" smtClean="0">
                            <a:latin typeface="Cambria Math" panose="02040503050406030204" pitchFamily="18" charset="0"/>
                            <a:ea typeface="Adobe Song Std L" panose="02020300000000000000" pitchFamily="18" charset="-128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  <a:ea typeface="Adobe Song Std L" panose="02020300000000000000" pitchFamily="18" charset="-128"/>
                          </a:rPr>
                          <m:t>𝑍</m:t>
                        </m:r>
                      </m:e>
                      <m:sup>
                        <m:r>
                          <a:rPr lang="sv-SE" sz="2400" b="0" i="1" smtClean="0">
                            <a:latin typeface="Cambria Math" panose="02040503050406030204" pitchFamily="18" charset="0"/>
                            <a:ea typeface="Adobe Song Std L" panose="02020300000000000000" pitchFamily="18" charset="-128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sv-SE" sz="2400" dirty="0">
                    <a:latin typeface="+mj-lt"/>
                    <a:ea typeface="Adobe Song Std L" panose="02020300000000000000" pitchFamily="18" charset="-128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FC41B5-38E7-F251-C63B-FCD9F6BE9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972" y="4057956"/>
                <a:ext cx="7573878" cy="461665"/>
              </a:xfrm>
              <a:prstGeom prst="rect">
                <a:avLst/>
              </a:prstGeom>
              <a:blipFill>
                <a:blip r:embed="rId6"/>
                <a:stretch>
                  <a:fillRect l="-161" t="-9333" b="-32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D0F0FD24-5182-0176-3F5D-F38AD2DA3E27}"/>
              </a:ext>
            </a:extLst>
          </p:cNvPr>
          <p:cNvSpPr/>
          <p:nvPr/>
        </p:nvSpPr>
        <p:spPr>
          <a:xfrm>
            <a:off x="5246565" y="5195773"/>
            <a:ext cx="2189285" cy="739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C9E017-FF80-8130-25AF-29C742869A7E}"/>
              </a:ext>
            </a:extLst>
          </p:cNvPr>
          <p:cNvCxnSpPr>
            <a:cxnSpLocks/>
          </p:cNvCxnSpPr>
          <p:nvPr/>
        </p:nvCxnSpPr>
        <p:spPr>
          <a:xfrm>
            <a:off x="7435850" y="5565436"/>
            <a:ext cx="10617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681E79-9B83-E937-315A-33F0B2E91901}"/>
                  </a:ext>
                </a:extLst>
              </p:cNvPr>
              <p:cNvSpPr txBox="1"/>
              <p:nvPr/>
            </p:nvSpPr>
            <p:spPr>
              <a:xfrm>
                <a:off x="8503993" y="5380770"/>
                <a:ext cx="403348" cy="36933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sv-S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681E79-9B83-E937-315A-33F0B2E91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93" y="5380770"/>
                <a:ext cx="4033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3EA5891-A398-3054-CE9A-4CB2914850E2}"/>
              </a:ext>
            </a:extLst>
          </p:cNvPr>
          <p:cNvSpPr/>
          <p:nvPr/>
        </p:nvSpPr>
        <p:spPr>
          <a:xfrm>
            <a:off x="4358387" y="5154521"/>
            <a:ext cx="3708787" cy="81275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E14EB8-F9AB-337B-BB6B-A0D7178FA415}"/>
              </a:ext>
            </a:extLst>
          </p:cNvPr>
          <p:cNvCxnSpPr>
            <a:cxnSpLocks/>
            <a:stCxn id="4" idx="7"/>
          </p:cNvCxnSpPr>
          <p:nvPr/>
        </p:nvCxnSpPr>
        <p:spPr>
          <a:xfrm>
            <a:off x="7524035" y="5273545"/>
            <a:ext cx="2052639" cy="548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2FDED1-D9ED-0513-656D-4B1CAB1F6EC0}"/>
                  </a:ext>
                </a:extLst>
              </p:cNvPr>
              <p:cNvSpPr txBox="1"/>
              <p:nvPr/>
            </p:nvSpPr>
            <p:spPr>
              <a:xfrm>
                <a:off x="9583054" y="5110356"/>
                <a:ext cx="479586" cy="369332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𝐻𝐺</m:t>
                      </m:r>
                    </m:oMath>
                  </m:oMathPara>
                </a14:m>
                <a:endParaRPr lang="sv-SE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2FDED1-D9ED-0513-656D-4B1CAB1F6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054" y="5110356"/>
                <a:ext cx="47958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376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Frequency based decoupling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F0CE-8835-19E1-25AE-0C967ED74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423" y="939585"/>
            <a:ext cx="9285153" cy="4978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Subtracting a substructure is equivalent to adding a negative version of that substructure.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520756-E29B-C7C9-7F74-4069D9752D13}"/>
              </a:ext>
            </a:extLst>
          </p:cNvPr>
          <p:cNvGrpSpPr/>
          <p:nvPr/>
        </p:nvGrpSpPr>
        <p:grpSpPr>
          <a:xfrm>
            <a:off x="1994974" y="2376221"/>
            <a:ext cx="8202049" cy="1052778"/>
            <a:chOff x="1403639" y="2376222"/>
            <a:chExt cx="8202049" cy="105277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8548F43-F407-B0AC-4D58-9008A14BED18}"/>
                </a:ext>
              </a:extLst>
            </p:cNvPr>
            <p:cNvGrpSpPr/>
            <p:nvPr/>
          </p:nvGrpSpPr>
          <p:grpSpPr>
            <a:xfrm>
              <a:off x="1403639" y="2382936"/>
              <a:ext cx="1941254" cy="1046064"/>
              <a:chOff x="382806" y="2688609"/>
              <a:chExt cx="1941254" cy="1046064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7C8D51B-11B4-3743-F927-71214AE084D5}"/>
                  </a:ext>
                </a:extLst>
              </p:cNvPr>
              <p:cNvSpPr/>
              <p:nvPr/>
            </p:nvSpPr>
            <p:spPr>
              <a:xfrm>
                <a:off x="382806" y="2688609"/>
                <a:ext cx="1080375" cy="104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EDEFDD0-BAE9-833A-33F8-92F79372DF79}"/>
                  </a:ext>
                </a:extLst>
              </p:cNvPr>
              <p:cNvSpPr/>
              <p:nvPr/>
            </p:nvSpPr>
            <p:spPr>
              <a:xfrm>
                <a:off x="1356929" y="2887973"/>
                <a:ext cx="967131" cy="647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D0A57B-65E2-3D2B-279E-BA4D6514507B}"/>
                  </a:ext>
                </a:extLst>
              </p:cNvPr>
              <p:cNvSpPr/>
              <p:nvPr/>
            </p:nvSpPr>
            <p:spPr>
              <a:xfrm>
                <a:off x="1158844" y="2906162"/>
                <a:ext cx="336581" cy="59753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30D4EBC-56B4-2118-2546-229C9E4D71D1}"/>
                </a:ext>
              </a:extLst>
            </p:cNvPr>
            <p:cNvSpPr/>
            <p:nvPr/>
          </p:nvSpPr>
          <p:spPr>
            <a:xfrm>
              <a:off x="8638557" y="2550683"/>
              <a:ext cx="967131" cy="64733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E74BEE6-B3C9-4EDB-7121-B65B87FD0F8B}"/>
                </a:ext>
              </a:extLst>
            </p:cNvPr>
            <p:cNvGrpSpPr/>
            <p:nvPr/>
          </p:nvGrpSpPr>
          <p:grpSpPr>
            <a:xfrm>
              <a:off x="5539690" y="2376222"/>
              <a:ext cx="1112619" cy="1046064"/>
              <a:chOff x="262918" y="3175954"/>
              <a:chExt cx="1112619" cy="1046064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AA0B6ED-F264-D417-DDCC-2379F79FA8E9}"/>
                  </a:ext>
                </a:extLst>
              </p:cNvPr>
              <p:cNvSpPr/>
              <p:nvPr/>
            </p:nvSpPr>
            <p:spPr>
              <a:xfrm>
                <a:off x="262918" y="3175954"/>
                <a:ext cx="1080375" cy="104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967B391-F2AE-C2DB-B30D-8968EFC3F8EE}"/>
                  </a:ext>
                </a:extLst>
              </p:cNvPr>
              <p:cNvSpPr/>
              <p:nvPr/>
            </p:nvSpPr>
            <p:spPr>
              <a:xfrm>
                <a:off x="1038956" y="3393507"/>
                <a:ext cx="336581" cy="59753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A5C3E54-C82C-5AD1-0ACC-F674272884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8251" y="3388519"/>
                <a:ext cx="4762" cy="6238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5F23CFB-EA49-42F5-C0C2-D983326C6B24}"/>
                </a:ext>
              </a:extLst>
            </p:cNvPr>
            <p:cNvCxnSpPr/>
            <p:nvPr/>
          </p:nvCxnSpPr>
          <p:spPr>
            <a:xfrm>
              <a:off x="4099302" y="2901949"/>
              <a:ext cx="476250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3AA3FF8-F975-474F-F5BA-05265F71CE45}"/>
                </a:ext>
              </a:extLst>
            </p:cNvPr>
            <p:cNvGrpSpPr/>
            <p:nvPr/>
          </p:nvGrpSpPr>
          <p:grpSpPr>
            <a:xfrm>
              <a:off x="7379149" y="2755888"/>
              <a:ext cx="483934" cy="236925"/>
              <a:chOff x="4143375" y="3560117"/>
              <a:chExt cx="483934" cy="236925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F01FDF6-85D0-6000-F849-C4B47290E736}"/>
                  </a:ext>
                </a:extLst>
              </p:cNvPr>
              <p:cNvCxnSpPr/>
              <p:nvPr/>
            </p:nvCxnSpPr>
            <p:spPr>
              <a:xfrm>
                <a:off x="4143375" y="3560117"/>
                <a:ext cx="476250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8B14A9CD-1EFE-B859-F854-FEEBCD02E30A}"/>
                  </a:ext>
                </a:extLst>
              </p:cNvPr>
              <p:cNvCxnSpPr/>
              <p:nvPr/>
            </p:nvCxnSpPr>
            <p:spPr>
              <a:xfrm>
                <a:off x="4151059" y="3797042"/>
                <a:ext cx="476250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B3B88C-A985-7D62-D42F-FC672DCBCDCA}"/>
                </a:ext>
              </a:extLst>
            </p:cNvPr>
            <p:cNvSpPr txBox="1"/>
            <p:nvPr/>
          </p:nvSpPr>
          <p:spPr>
            <a:xfrm>
              <a:off x="2075025" y="2655727"/>
              <a:ext cx="60547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600" dirty="0">
                  <a:solidFill>
                    <a:schemeClr val="accent1"/>
                  </a:solidFill>
                  <a:latin typeface="+mj-lt"/>
                </a:rPr>
                <a:t>AB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D9824E-37F4-4DD3-632F-368E1E2D8F82}"/>
                </a:ext>
              </a:extLst>
            </p:cNvPr>
            <p:cNvSpPr txBox="1"/>
            <p:nvPr/>
          </p:nvSpPr>
          <p:spPr>
            <a:xfrm>
              <a:off x="5887460" y="2655726"/>
              <a:ext cx="49006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600" dirty="0">
                  <a:solidFill>
                    <a:schemeClr val="accent1"/>
                  </a:solidFill>
                  <a:latin typeface="+mj-lt"/>
                </a:rPr>
                <a:t>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B1D9FD-BD11-8DAF-13AC-A63B91733C07}"/>
                </a:ext>
              </a:extLst>
            </p:cNvPr>
            <p:cNvSpPr txBox="1"/>
            <p:nvPr/>
          </p:nvSpPr>
          <p:spPr>
            <a:xfrm>
              <a:off x="8913582" y="2655726"/>
              <a:ext cx="49006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600" dirty="0">
                  <a:solidFill>
                    <a:schemeClr val="accent1"/>
                  </a:solidFill>
                  <a:latin typeface="+mj-lt"/>
                </a:rPr>
                <a:t>B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08CA773-2FC2-9859-74AB-0495DE31698E}"/>
              </a:ext>
            </a:extLst>
          </p:cNvPr>
          <p:cNvGrpSpPr/>
          <p:nvPr/>
        </p:nvGrpSpPr>
        <p:grpSpPr>
          <a:xfrm>
            <a:off x="1994974" y="4675006"/>
            <a:ext cx="8202049" cy="1052778"/>
            <a:chOff x="1994974" y="4675006"/>
            <a:chExt cx="8202049" cy="10527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EABD984-C2E1-6469-8AE2-49B7D4D954B0}"/>
                </a:ext>
              </a:extLst>
            </p:cNvPr>
            <p:cNvGrpSpPr/>
            <p:nvPr/>
          </p:nvGrpSpPr>
          <p:grpSpPr>
            <a:xfrm>
              <a:off x="1994974" y="4681720"/>
              <a:ext cx="1941254" cy="1046064"/>
              <a:chOff x="382806" y="2688609"/>
              <a:chExt cx="1941254" cy="104606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316273F-5CB8-309C-0CDC-B2256E5CB608}"/>
                  </a:ext>
                </a:extLst>
              </p:cNvPr>
              <p:cNvSpPr/>
              <p:nvPr/>
            </p:nvSpPr>
            <p:spPr>
              <a:xfrm>
                <a:off x="382806" y="2688609"/>
                <a:ext cx="1080375" cy="104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3EB62A1-D578-D3E7-1CF4-5840DCDB6074}"/>
                  </a:ext>
                </a:extLst>
              </p:cNvPr>
              <p:cNvSpPr/>
              <p:nvPr/>
            </p:nvSpPr>
            <p:spPr>
              <a:xfrm>
                <a:off x="1356929" y="2887973"/>
                <a:ext cx="967131" cy="647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52683C8-2E56-6ED2-01DD-92DB3AB1238A}"/>
                  </a:ext>
                </a:extLst>
              </p:cNvPr>
              <p:cNvSpPr/>
              <p:nvPr/>
            </p:nvSpPr>
            <p:spPr>
              <a:xfrm>
                <a:off x="1158844" y="2906162"/>
                <a:ext cx="336581" cy="59753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078C40A-5E29-038C-1824-4D646B81DD61}"/>
                </a:ext>
              </a:extLst>
            </p:cNvPr>
            <p:cNvSpPr/>
            <p:nvPr/>
          </p:nvSpPr>
          <p:spPr>
            <a:xfrm>
              <a:off x="9229892" y="4849467"/>
              <a:ext cx="967131" cy="64733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5B1C345-B53C-0943-83B1-02390654CFED}"/>
                </a:ext>
              </a:extLst>
            </p:cNvPr>
            <p:cNvGrpSpPr/>
            <p:nvPr/>
          </p:nvGrpSpPr>
          <p:grpSpPr>
            <a:xfrm>
              <a:off x="6131025" y="4675006"/>
              <a:ext cx="1112619" cy="1046064"/>
              <a:chOff x="262918" y="3175954"/>
              <a:chExt cx="1112619" cy="104606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B4F3037-7C24-E509-0623-1EEE659DD8CA}"/>
                  </a:ext>
                </a:extLst>
              </p:cNvPr>
              <p:cNvSpPr/>
              <p:nvPr/>
            </p:nvSpPr>
            <p:spPr>
              <a:xfrm>
                <a:off x="262918" y="3175954"/>
                <a:ext cx="1080375" cy="104606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2AE3F9F-4320-049A-1749-F12841AF7F3D}"/>
                  </a:ext>
                </a:extLst>
              </p:cNvPr>
              <p:cNvSpPr/>
              <p:nvPr/>
            </p:nvSpPr>
            <p:spPr>
              <a:xfrm>
                <a:off x="1038956" y="3393507"/>
                <a:ext cx="336581" cy="59753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2BE018E8-B95A-BDEA-8594-1B20702E67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8251" y="3388519"/>
                <a:ext cx="4762" cy="62388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4072861-533D-E127-AB09-425DF15270B6}"/>
                </a:ext>
              </a:extLst>
            </p:cNvPr>
            <p:cNvGrpSpPr/>
            <p:nvPr/>
          </p:nvGrpSpPr>
          <p:grpSpPr>
            <a:xfrm>
              <a:off x="7970484" y="5054672"/>
              <a:ext cx="483934" cy="236925"/>
              <a:chOff x="4143375" y="3560117"/>
              <a:chExt cx="483934" cy="236925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B0525A5-F305-C8B0-C921-5AE495C8648A}"/>
                  </a:ext>
                </a:extLst>
              </p:cNvPr>
              <p:cNvCxnSpPr/>
              <p:nvPr/>
            </p:nvCxnSpPr>
            <p:spPr>
              <a:xfrm>
                <a:off x="4143375" y="3560117"/>
                <a:ext cx="476250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388574A-539C-F31C-E532-8367AA57E6FB}"/>
                  </a:ext>
                </a:extLst>
              </p:cNvPr>
              <p:cNvCxnSpPr/>
              <p:nvPr/>
            </p:nvCxnSpPr>
            <p:spPr>
              <a:xfrm>
                <a:off x="4151059" y="3797042"/>
                <a:ext cx="476250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D0A84A6-5A85-D1CD-B33C-2C09FF663A30}"/>
                </a:ext>
              </a:extLst>
            </p:cNvPr>
            <p:cNvSpPr txBox="1"/>
            <p:nvPr/>
          </p:nvSpPr>
          <p:spPr>
            <a:xfrm>
              <a:off x="2666360" y="4954511"/>
              <a:ext cx="605474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600" dirty="0">
                  <a:solidFill>
                    <a:schemeClr val="accent1"/>
                  </a:solidFill>
                  <a:latin typeface="+mj-lt"/>
                </a:rPr>
                <a:t>AB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1B6321-50BF-5791-514A-86603B22DF5F}"/>
                </a:ext>
              </a:extLst>
            </p:cNvPr>
            <p:cNvSpPr txBox="1"/>
            <p:nvPr/>
          </p:nvSpPr>
          <p:spPr>
            <a:xfrm>
              <a:off x="6365339" y="4954510"/>
              <a:ext cx="60351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600" dirty="0">
                  <a:solidFill>
                    <a:srgbClr val="FF0000"/>
                  </a:solidFill>
                  <a:latin typeface="+mj-lt"/>
                </a:rPr>
                <a:t>-A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1878FB1-0BAF-C17F-7F68-76E2E061227A}"/>
                </a:ext>
              </a:extLst>
            </p:cNvPr>
            <p:cNvSpPr txBox="1"/>
            <p:nvPr/>
          </p:nvSpPr>
          <p:spPr>
            <a:xfrm>
              <a:off x="9504917" y="4954510"/>
              <a:ext cx="49006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600" dirty="0">
                  <a:solidFill>
                    <a:schemeClr val="accent1"/>
                  </a:solidFill>
                  <a:latin typeface="+mj-lt"/>
                </a:rPr>
                <a:t>B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A7EF4B9-D51C-9831-ED89-BDFEA358097B}"/>
                </a:ext>
              </a:extLst>
            </p:cNvPr>
            <p:cNvGrpSpPr/>
            <p:nvPr/>
          </p:nvGrpSpPr>
          <p:grpSpPr>
            <a:xfrm>
              <a:off x="4685623" y="4950388"/>
              <a:ext cx="476250" cy="495300"/>
              <a:chOff x="4019550" y="2436167"/>
              <a:chExt cx="476250" cy="495300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C588F81-5734-67BD-649D-A8809F3793DB}"/>
                  </a:ext>
                </a:extLst>
              </p:cNvPr>
              <p:cNvCxnSpPr/>
              <p:nvPr/>
            </p:nvCxnSpPr>
            <p:spPr>
              <a:xfrm>
                <a:off x="4019550" y="2683817"/>
                <a:ext cx="476250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3756EA9-0183-7C3D-D895-F28FF3E12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1485" y="2436167"/>
                <a:ext cx="0" cy="4953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97065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719EB-9B5C-129E-6BB4-F37C30E8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02EB-9D47-3DA9-8EE3-AF1DA7C7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Frequency based decoupling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209B2-1555-3C1D-5ECE-7793D9808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423" y="939585"/>
            <a:ext cx="9285153" cy="4978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imagine that we add a negative substructure. Then we can use the same formulas. Hence: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Hence: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AD8366-A5F8-D9DE-65B5-CA87B99BF72F}"/>
                  </a:ext>
                </a:extLst>
              </p:cNvPr>
              <p:cNvSpPr txBox="1"/>
              <p:nvPr/>
            </p:nvSpPr>
            <p:spPr>
              <a:xfrm>
                <a:off x="2334051" y="2152360"/>
                <a:ext cx="2801816" cy="771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sv-SE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sv-SE" sz="24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sv-SE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</m:mr>
                          </m:m>
                        </m:e>
                      </m:d>
                      <m:r>
                        <a:rPr lang="sv-SE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AD8366-A5F8-D9DE-65B5-CA87B99BF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051" y="2152360"/>
                <a:ext cx="2801816" cy="7718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F949A3-9CFD-9C47-8586-062266D348CB}"/>
                  </a:ext>
                </a:extLst>
              </p:cNvPr>
              <p:cNvSpPr txBox="1"/>
              <p:nvPr/>
            </p:nvSpPr>
            <p:spPr>
              <a:xfrm>
                <a:off x="6046198" y="2141459"/>
                <a:ext cx="3505200" cy="782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Now,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sv-SE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solidFill>
                    <a:schemeClr val="accent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5F949A3-9CFD-9C47-8586-062266D34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198" y="2141459"/>
                <a:ext cx="3505200" cy="782715"/>
              </a:xfrm>
              <a:prstGeom prst="rect">
                <a:avLst/>
              </a:prstGeom>
              <a:blipFill>
                <a:blip r:embed="rId3"/>
                <a:stretch>
                  <a:fillRect l="-278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196F5F-CA8B-6640-C548-279F40421524}"/>
                  </a:ext>
                </a:extLst>
              </p:cNvPr>
              <p:cNvSpPr txBox="1"/>
              <p:nvPr/>
            </p:nvSpPr>
            <p:spPr>
              <a:xfrm>
                <a:off x="3591620" y="4984363"/>
                <a:ext cx="5309571" cy="12232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sv-SE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196F5F-CA8B-6640-C548-279F40421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620" y="4984363"/>
                <a:ext cx="5309571" cy="1223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B38B2C-4D2C-3B7C-8F27-B286676AAF6B}"/>
                  </a:ext>
                </a:extLst>
              </p:cNvPr>
              <p:cNvSpPr txBox="1"/>
              <p:nvPr/>
            </p:nvSpPr>
            <p:spPr>
              <a:xfrm>
                <a:off x="2362230" y="3353623"/>
                <a:ext cx="7189168" cy="1201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sv-SE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sv-SE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olidFill>
                      <a:schemeClr val="accent1"/>
                    </a:solidFill>
                    <a:latin typeface="+mj-lt"/>
                  </a:rPr>
                  <a:t>,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sv-SE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  <m:r>
                                        <a:rPr lang="sv-SE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sv-SE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sv-SE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>
                    <a:solidFill>
                      <a:schemeClr val="accent1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+mj-lt"/>
                </a:endParaRP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B38B2C-4D2C-3B7C-8F27-B286676AA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30" y="3353623"/>
                <a:ext cx="7189168" cy="12012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12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Frequency based decoupling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9806DF-09BC-B3F4-FE4C-654B75E8C193}"/>
                  </a:ext>
                </a:extLst>
              </p:cNvPr>
              <p:cNvSpPr txBox="1"/>
              <p:nvPr/>
            </p:nvSpPr>
            <p:spPr>
              <a:xfrm>
                <a:off x="245544" y="799306"/>
                <a:ext cx="5309571" cy="12232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sv-SE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9806DF-09BC-B3F4-FE4C-654B75E8C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44" y="799306"/>
                <a:ext cx="5309571" cy="12232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A800D8B-22F6-F85C-F3DA-B8D2AE116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5474" y="677122"/>
                <a:ext cx="6079508" cy="73382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sv-SE" sz="2400" dirty="0">
                    <a:solidFill>
                      <a:schemeClr val="accent1"/>
                    </a:solidFill>
                  </a:rPr>
                  <a:t>From </a:t>
                </a:r>
                <a:r>
                  <a:rPr lang="sv-SE" sz="2400" dirty="0" err="1">
                    <a:solidFill>
                      <a:schemeClr val="accent1"/>
                    </a:solidFill>
                  </a:rPr>
                  <a:t>row</a:t>
                </a:r>
                <a:r>
                  <a:rPr lang="sv-SE" sz="2400" dirty="0">
                    <a:solidFill>
                      <a:schemeClr val="accent1"/>
                    </a:solidFill>
                  </a:rPr>
                  <a:t> 1: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sv-SE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  <m: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</m:oMath>
                </a14:m>
                <a:endParaRPr lang="sv-SE" sz="24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A800D8B-22F6-F85C-F3DA-B8D2AE116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5474" y="677122"/>
                <a:ext cx="6079508" cy="733826"/>
              </a:xfrm>
              <a:blipFill>
                <a:blip r:embed="rId3"/>
                <a:stretch>
                  <a:fillRect l="-150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0B52A2-C32C-C662-CCB0-19DF0DFADCEF}"/>
                  </a:ext>
                </a:extLst>
              </p:cNvPr>
              <p:cNvSpPr txBox="1"/>
              <p:nvPr/>
            </p:nvSpPr>
            <p:spPr>
              <a:xfrm>
                <a:off x="5895474" y="1375462"/>
                <a:ext cx="4798595" cy="653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From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row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2: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0B52A2-C32C-C662-CCB0-19DF0DFAD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74" y="1375462"/>
                <a:ext cx="4798595" cy="653833"/>
              </a:xfrm>
              <a:prstGeom prst="rect">
                <a:avLst/>
              </a:prstGeom>
              <a:blipFill>
                <a:blip r:embed="rId4"/>
                <a:stretch>
                  <a:fillRect l="-1906" b="-841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C47434-4629-725D-6365-18DF8F73F1E6}"/>
                  </a:ext>
                </a:extLst>
              </p:cNvPr>
              <p:cNvSpPr txBox="1"/>
              <p:nvPr/>
            </p:nvSpPr>
            <p:spPr>
              <a:xfrm>
                <a:off x="185437" y="2314021"/>
                <a:ext cx="10435195" cy="653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Then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row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3: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sv-SE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a:rPr lang="sv-SE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C47434-4629-725D-6365-18DF8F73F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37" y="2314021"/>
                <a:ext cx="10435195" cy="653833"/>
              </a:xfrm>
              <a:prstGeom prst="rect">
                <a:avLst/>
              </a:prstGeom>
              <a:blipFill>
                <a:blip r:embed="rId5"/>
                <a:stretch>
                  <a:fillRect l="-876" b="-841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D163A5-3D0F-1313-21A6-5A3C1BEE7FCF}"/>
                  </a:ext>
                </a:extLst>
              </p:cNvPr>
              <p:cNvSpPr txBox="1"/>
              <p:nvPr/>
            </p:nvSpPr>
            <p:spPr>
              <a:xfrm>
                <a:off x="548640" y="3169191"/>
                <a:ext cx="10751319" cy="736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So;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sv-SE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     and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then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;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AD163A5-3D0F-1313-21A6-5A3C1BEE7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169191"/>
                <a:ext cx="10751319" cy="736227"/>
              </a:xfrm>
              <a:prstGeom prst="rect">
                <a:avLst/>
              </a:prstGeom>
              <a:blipFill>
                <a:blip r:embed="rId6"/>
                <a:stretch>
                  <a:fillRect l="-850" b="-74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34E067-0916-F2E8-7126-635FAD701784}"/>
              </a:ext>
            </a:extLst>
          </p:cNvPr>
          <p:cNvSpPr/>
          <p:nvPr/>
        </p:nvSpPr>
        <p:spPr>
          <a:xfrm>
            <a:off x="1100451" y="3169191"/>
            <a:ext cx="7850255" cy="73883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2FBCFD-FCD0-8E48-0600-37A8D8214004}"/>
              </a:ext>
            </a:extLst>
          </p:cNvPr>
          <p:cNvGrpSpPr/>
          <p:nvPr/>
        </p:nvGrpSpPr>
        <p:grpSpPr>
          <a:xfrm>
            <a:off x="381758" y="4179608"/>
            <a:ext cx="11928471" cy="772199"/>
            <a:chOff x="381758" y="4179608"/>
            <a:chExt cx="11928471" cy="7721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3FA6A53-27B9-B761-B294-5D97D436CC56}"/>
                    </a:ext>
                  </a:extLst>
                </p:cNvPr>
                <p:cNvSpPr txBox="1"/>
                <p:nvPr/>
              </p:nvSpPr>
              <p:spPr>
                <a:xfrm>
                  <a:off x="381758" y="4179608"/>
                  <a:ext cx="11928471" cy="7721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sv-SE" sz="24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𝐴𝐵</m:t>
                                            </m:r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sv-SE" sz="24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sv-SE" sz="2400" dirty="0">
                                <a:solidFill>
                                  <a:schemeClr val="accent1"/>
                                </a:solidFill>
                                <a:latin typeface="+mj-lt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sv-SE" sz="24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3FA6A53-27B9-B761-B294-5D97D436C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758" y="4179608"/>
                  <a:ext cx="11928471" cy="7721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14461A5-5C68-E55B-CFA7-9E4F2476F2C9}"/>
                </a:ext>
              </a:extLst>
            </p:cNvPr>
            <p:cNvSpPr/>
            <p:nvPr/>
          </p:nvSpPr>
          <p:spPr>
            <a:xfrm>
              <a:off x="595563" y="4191139"/>
              <a:ext cx="11478126" cy="738836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3F4F124-407D-899F-6A95-17617B750400}"/>
              </a:ext>
            </a:extLst>
          </p:cNvPr>
          <p:cNvGrpSpPr/>
          <p:nvPr/>
        </p:nvGrpSpPr>
        <p:grpSpPr>
          <a:xfrm>
            <a:off x="797356" y="5119899"/>
            <a:ext cx="11236147" cy="789832"/>
            <a:chOff x="797356" y="5119899"/>
            <a:chExt cx="11236147" cy="789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F59AB21-8641-BF1A-5DCD-D06B4E022E7C}"/>
                    </a:ext>
                  </a:extLst>
                </p:cNvPr>
                <p:cNvSpPr txBox="1"/>
                <p:nvPr/>
              </p:nvSpPr>
              <p:spPr>
                <a:xfrm>
                  <a:off x="797356" y="5119899"/>
                  <a:ext cx="11236147" cy="789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sv-SE" sz="24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𝐴𝐵</m:t>
                                            </m:r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sv-SE" sz="24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sv-SE" sz="2400" dirty="0">
                                <a:solidFill>
                                  <a:schemeClr val="accent1"/>
                                </a:solidFill>
                                <a:latin typeface="+mj-lt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sv-SE" sz="24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F59AB21-8641-BF1A-5DCD-D06B4E022E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356" y="5119899"/>
                  <a:ext cx="11236147" cy="7898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048D390-8A65-E00C-3BCC-034F783F3E18}"/>
                </a:ext>
              </a:extLst>
            </p:cNvPr>
            <p:cNvSpPr/>
            <p:nvPr/>
          </p:nvSpPr>
          <p:spPr>
            <a:xfrm>
              <a:off x="1393370" y="5148483"/>
              <a:ext cx="10001273" cy="738836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E15214-D9C8-6689-FB69-527215F740FD}"/>
                  </a:ext>
                </a:extLst>
              </p:cNvPr>
              <p:cNvSpPr txBox="1"/>
              <p:nvPr/>
            </p:nvSpPr>
            <p:spPr>
              <a:xfrm>
                <a:off x="1597760" y="6180878"/>
                <a:ext cx="9963301" cy="476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is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also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a part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.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Hence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,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some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dofs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occur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in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more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than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400" dirty="0" err="1">
                    <a:solidFill>
                      <a:schemeClr val="accent1"/>
                    </a:solidFill>
                    <a:latin typeface="+mj-lt"/>
                  </a:rPr>
                  <a:t>one</a:t>
                </a:r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position.  </a:t>
                </a:r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E15214-D9C8-6689-FB69-527215F74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760" y="6180878"/>
                <a:ext cx="9963301" cy="476990"/>
              </a:xfrm>
              <a:prstGeom prst="rect">
                <a:avLst/>
              </a:prstGeom>
              <a:blipFill>
                <a:blip r:embed="rId9"/>
                <a:stretch>
                  <a:fillRect l="-122" t="-6410" r="-184" b="-2948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75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Frequency based decoupling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F0CE-8835-19E1-25AE-0C967ED74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4" y="666750"/>
            <a:ext cx="11506955" cy="60547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358B77-E281-03A8-C0CB-1845C0CF5780}"/>
                  </a:ext>
                </a:extLst>
              </p:cNvPr>
              <p:cNvSpPr txBox="1"/>
              <p:nvPr/>
            </p:nvSpPr>
            <p:spPr>
              <a:xfrm>
                <a:off x="2242177" y="2765800"/>
                <a:ext cx="834392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Let </a:t>
                </a:r>
                <a:r>
                  <a:rPr lang="sv-SE" sz="2200" dirty="0" err="1">
                    <a:solidFill>
                      <a:schemeClr val="accent1"/>
                    </a:solidFill>
                    <a:latin typeface="+mj-lt"/>
                  </a:rPr>
                  <a:t>us</a:t>
                </a:r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partition the </a:t>
                </a:r>
                <a:r>
                  <a:rPr lang="sv-SE" sz="2200" dirty="0" err="1">
                    <a:solidFill>
                      <a:schemeClr val="accent1"/>
                    </a:solidFill>
                    <a:latin typeface="+mj-lt"/>
                  </a:rPr>
                  <a:t>structures</a:t>
                </a:r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sv-SE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2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sv-SE" sz="22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he</m:t>
                    </m:r>
                    <m:r>
                      <a:rPr lang="sv-SE" sz="22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sv-SE" sz="22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negative</m:t>
                    </m:r>
                    <m:r>
                      <a:rPr lang="sv-SE" sz="22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200" dirty="0" err="1">
                    <a:solidFill>
                      <a:schemeClr val="accent1"/>
                    </a:solidFill>
                    <a:latin typeface="+mj-lt"/>
                  </a:rPr>
                  <a:t>such</a:t>
                </a:r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200" dirty="0" err="1">
                    <a:solidFill>
                      <a:schemeClr val="accent1"/>
                    </a:solidFill>
                    <a:latin typeface="+mj-lt"/>
                  </a:rPr>
                  <a:t>that</a:t>
                </a:r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: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358B77-E281-03A8-C0CB-1845C0CF5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177" y="2765800"/>
                <a:ext cx="8343924" cy="430887"/>
              </a:xfrm>
              <a:prstGeom prst="rect">
                <a:avLst/>
              </a:prstGeom>
              <a:blipFill>
                <a:blip r:embed="rId2"/>
                <a:stretch>
                  <a:fillRect l="-950" t="-8571" b="-3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2523ECB-5A75-1471-2F6A-865206080C2C}"/>
                  </a:ext>
                </a:extLst>
              </p:cNvPr>
              <p:cNvSpPr txBox="1"/>
              <p:nvPr/>
            </p:nvSpPr>
            <p:spPr>
              <a:xfrm>
                <a:off x="2089357" y="5205117"/>
                <a:ext cx="3886330" cy="1339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𝑎𝑎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𝑐𝑏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𝑏𝑎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𝑏𝑐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𝑏𝑏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2523ECB-5A75-1471-2F6A-865206080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357" y="5205117"/>
                <a:ext cx="3886330" cy="1339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4326EC-95E6-50ED-D642-382DFB41BCC0}"/>
                  </a:ext>
                </a:extLst>
              </p:cNvPr>
              <p:cNvSpPr txBox="1"/>
              <p:nvPr/>
            </p:nvSpPr>
            <p:spPr>
              <a:xfrm>
                <a:off x="6241652" y="5452043"/>
                <a:ext cx="3886330" cy="845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𝑎𝑎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4326EC-95E6-50ED-D642-382DFB41B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652" y="5452043"/>
                <a:ext cx="3886330" cy="845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6930FE-73BC-9643-4909-3A2D11147A54}"/>
                  </a:ext>
                </a:extLst>
              </p:cNvPr>
              <p:cNvSpPr txBox="1"/>
              <p:nvPr/>
            </p:nvSpPr>
            <p:spPr>
              <a:xfrm>
                <a:off x="349626" y="3314064"/>
                <a:ext cx="2147076" cy="1242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sv-SE" sz="22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sv-SE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  <m:sup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,</a:t>
                </a:r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6930FE-73BC-9643-4909-3A2D11147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26" y="3314064"/>
                <a:ext cx="2147076" cy="12421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58700AE-051C-6DC3-B3AA-BF23F512AB71}"/>
                  </a:ext>
                </a:extLst>
              </p:cNvPr>
              <p:cNvSpPr txBox="1"/>
              <p:nvPr/>
            </p:nvSpPr>
            <p:spPr>
              <a:xfrm>
                <a:off x="2141442" y="3527579"/>
                <a:ext cx="1660916" cy="847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58700AE-051C-6DC3-B3AA-BF23F512A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2" y="3527579"/>
                <a:ext cx="1660916" cy="8475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7C19B45-9903-F784-D6BE-7A1A44A8705F}"/>
                  </a:ext>
                </a:extLst>
              </p:cNvPr>
              <p:cNvSpPr txBox="1"/>
              <p:nvPr/>
            </p:nvSpPr>
            <p:spPr>
              <a:xfrm>
                <a:off x="3802358" y="3362508"/>
                <a:ext cx="8308672" cy="1173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200" dirty="0" err="1">
                    <a:solidFill>
                      <a:schemeClr val="accent1"/>
                    </a:solidFill>
                    <a:latin typeface="+mj-lt"/>
                  </a:rPr>
                  <a:t>then</a:t>
                </a:r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2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sv-SE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sv-SE" sz="22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2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sv-SE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2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p>
                    <m:r>
                      <a:rPr lang="sv-SE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e>
                              <m: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2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sv-SE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sz="2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7C19B45-9903-F784-D6BE-7A1A44A87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358" y="3362508"/>
                <a:ext cx="8308672" cy="1173206"/>
              </a:xfrm>
              <a:prstGeom prst="rect">
                <a:avLst/>
              </a:prstGeom>
              <a:blipFill>
                <a:blip r:embed="rId7"/>
                <a:stretch>
                  <a:fillRect l="-95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27F2B402-3843-25A5-2C29-60FF0A23B928}"/>
              </a:ext>
            </a:extLst>
          </p:cNvPr>
          <p:cNvSpPr txBox="1"/>
          <p:nvPr/>
        </p:nvSpPr>
        <p:spPr>
          <a:xfrm>
            <a:off x="2268212" y="4680303"/>
            <a:ext cx="5550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200" dirty="0" err="1">
                <a:solidFill>
                  <a:schemeClr val="accent1"/>
                </a:solidFill>
                <a:latin typeface="+mj-lt"/>
              </a:rPr>
              <a:t>This</a:t>
            </a:r>
            <a:r>
              <a:rPr lang="sv-SE" sz="22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sv-SE" sz="2200" dirty="0" err="1">
                <a:solidFill>
                  <a:schemeClr val="accent1"/>
                </a:solidFill>
                <a:latin typeface="+mj-lt"/>
              </a:rPr>
              <a:t>results</a:t>
            </a:r>
            <a:r>
              <a:rPr lang="sv-SE" sz="2200" dirty="0">
                <a:solidFill>
                  <a:schemeClr val="accent1"/>
                </a:solidFill>
                <a:latin typeface="+mj-lt"/>
              </a:rPr>
              <a:t> in the </a:t>
            </a:r>
            <a:r>
              <a:rPr lang="sv-SE" sz="2200" dirty="0" err="1">
                <a:solidFill>
                  <a:schemeClr val="accent1"/>
                </a:solidFill>
                <a:latin typeface="+mj-lt"/>
              </a:rPr>
              <a:t>frequency</a:t>
            </a:r>
            <a:r>
              <a:rPr lang="sv-SE" sz="22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sv-SE" sz="2200" dirty="0" err="1">
                <a:solidFill>
                  <a:schemeClr val="accent1"/>
                </a:solidFill>
                <a:latin typeface="+mj-lt"/>
              </a:rPr>
              <a:t>response</a:t>
            </a:r>
            <a:r>
              <a:rPr lang="sv-SE" sz="22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sv-SE" sz="2200" dirty="0" err="1">
                <a:solidFill>
                  <a:schemeClr val="accent1"/>
                </a:solidFill>
                <a:latin typeface="+mj-lt"/>
              </a:rPr>
              <a:t>matrices</a:t>
            </a:r>
            <a:r>
              <a:rPr lang="sv-SE" sz="2200" dirty="0">
                <a:solidFill>
                  <a:schemeClr val="accent1"/>
                </a:solidFill>
                <a:latin typeface="+mj-lt"/>
              </a:rPr>
              <a:t>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451890-1F64-F13B-54A2-F84D960AC603}"/>
              </a:ext>
            </a:extLst>
          </p:cNvPr>
          <p:cNvGrpSpPr/>
          <p:nvPr/>
        </p:nvGrpSpPr>
        <p:grpSpPr>
          <a:xfrm>
            <a:off x="1435464" y="715934"/>
            <a:ext cx="9727290" cy="1747249"/>
            <a:chOff x="1405385" y="3832857"/>
            <a:chExt cx="9727290" cy="174724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CF4ECAA-6761-7760-62CA-DA921A0530D5}"/>
                </a:ext>
              </a:extLst>
            </p:cNvPr>
            <p:cNvGrpSpPr/>
            <p:nvPr/>
          </p:nvGrpSpPr>
          <p:grpSpPr>
            <a:xfrm>
              <a:off x="1405385" y="3832857"/>
              <a:ext cx="9727290" cy="1747249"/>
              <a:chOff x="1396013" y="3825527"/>
              <a:chExt cx="9727290" cy="1747249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D5D897B-0392-E365-E471-3B24F797E7FD}"/>
                  </a:ext>
                </a:extLst>
              </p:cNvPr>
              <p:cNvGrpSpPr/>
              <p:nvPr/>
            </p:nvGrpSpPr>
            <p:grpSpPr>
              <a:xfrm>
                <a:off x="2101991" y="4519998"/>
                <a:ext cx="8202049" cy="1052778"/>
                <a:chOff x="1300835" y="4462848"/>
                <a:chExt cx="8202049" cy="1052778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ACE8AA54-081D-47AD-37AF-FCB90649B2DE}"/>
                    </a:ext>
                  </a:extLst>
                </p:cNvPr>
                <p:cNvGrpSpPr/>
                <p:nvPr/>
              </p:nvGrpSpPr>
              <p:grpSpPr>
                <a:xfrm>
                  <a:off x="1300835" y="4469562"/>
                  <a:ext cx="1941254" cy="1046064"/>
                  <a:chOff x="382806" y="2688609"/>
                  <a:chExt cx="1941254" cy="1046064"/>
                </a:xfrm>
              </p:grpSpPr>
              <p:sp>
                <p:nvSpPr>
                  <p:cNvPr id="87" name="Oval 86">
                    <a:extLst>
                      <a:ext uri="{FF2B5EF4-FFF2-40B4-BE49-F238E27FC236}">
                        <a16:creationId xmlns:a16="http://schemas.microsoft.com/office/drawing/2014/main" id="{9B45C839-766F-4D21-8895-D1AE3EA1A0B1}"/>
                      </a:ext>
                    </a:extLst>
                  </p:cNvPr>
                  <p:cNvSpPr/>
                  <p:nvPr/>
                </p:nvSpPr>
                <p:spPr>
                  <a:xfrm>
                    <a:off x="382806" y="2688609"/>
                    <a:ext cx="1080375" cy="104606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4ED8D3E3-EC3A-76D1-B2A0-B932A206BC73}"/>
                      </a:ext>
                    </a:extLst>
                  </p:cNvPr>
                  <p:cNvSpPr/>
                  <p:nvPr/>
                </p:nvSpPr>
                <p:spPr>
                  <a:xfrm>
                    <a:off x="1356929" y="2887973"/>
                    <a:ext cx="967131" cy="647336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FB81AB42-C260-ECE6-A1FD-256D413AA984}"/>
                      </a:ext>
                    </a:extLst>
                  </p:cNvPr>
                  <p:cNvSpPr/>
                  <p:nvPr/>
                </p:nvSpPr>
                <p:spPr>
                  <a:xfrm>
                    <a:off x="1158844" y="2906162"/>
                    <a:ext cx="336581" cy="59753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E0531D92-2BE0-F8B7-8DAB-41C33D65E6E8}"/>
                    </a:ext>
                  </a:extLst>
                </p:cNvPr>
                <p:cNvSpPr/>
                <p:nvPr/>
              </p:nvSpPr>
              <p:spPr>
                <a:xfrm>
                  <a:off x="8535753" y="4637309"/>
                  <a:ext cx="967131" cy="647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v-S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8F2EC482-69B5-3380-F479-AC437759FD30}"/>
                    </a:ext>
                  </a:extLst>
                </p:cNvPr>
                <p:cNvGrpSpPr/>
                <p:nvPr/>
              </p:nvGrpSpPr>
              <p:grpSpPr>
                <a:xfrm>
                  <a:off x="5436886" y="4462848"/>
                  <a:ext cx="1112619" cy="1046064"/>
                  <a:chOff x="262918" y="3175954"/>
                  <a:chExt cx="1112619" cy="1046064"/>
                </a:xfrm>
              </p:grpSpPr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5BC8752B-8E12-8403-DAF6-CC88F6CA8CA8}"/>
                      </a:ext>
                    </a:extLst>
                  </p:cNvPr>
                  <p:cNvSpPr/>
                  <p:nvPr/>
                </p:nvSpPr>
                <p:spPr>
                  <a:xfrm>
                    <a:off x="262918" y="3175954"/>
                    <a:ext cx="1080375" cy="104606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5" name="Rectangle 84">
                    <a:extLst>
                      <a:ext uri="{FF2B5EF4-FFF2-40B4-BE49-F238E27FC236}">
                        <a16:creationId xmlns:a16="http://schemas.microsoft.com/office/drawing/2014/main" id="{7B9CEF35-6462-BC3A-219C-EC40E8D84C63}"/>
                      </a:ext>
                    </a:extLst>
                  </p:cNvPr>
                  <p:cNvSpPr/>
                  <p:nvPr/>
                </p:nvSpPr>
                <p:spPr>
                  <a:xfrm>
                    <a:off x="1038956" y="3393507"/>
                    <a:ext cx="336581" cy="59753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569F2CE7-8D57-1167-161D-019EA31BB6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38251" y="3388519"/>
                    <a:ext cx="4762" cy="623888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4715D8B1-22B5-6934-BD83-65D5D0319D57}"/>
                    </a:ext>
                  </a:extLst>
                </p:cNvPr>
                <p:cNvGrpSpPr/>
                <p:nvPr/>
              </p:nvGrpSpPr>
              <p:grpSpPr>
                <a:xfrm>
                  <a:off x="7276345" y="4842514"/>
                  <a:ext cx="483934" cy="236925"/>
                  <a:chOff x="4143375" y="3560117"/>
                  <a:chExt cx="483934" cy="236925"/>
                </a:xfrm>
              </p:grpSpPr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593FB8EF-3D3E-1650-CFBF-14DBBB6FF056}"/>
                      </a:ext>
                    </a:extLst>
                  </p:cNvPr>
                  <p:cNvCxnSpPr/>
                  <p:nvPr/>
                </p:nvCxnSpPr>
                <p:spPr>
                  <a:xfrm>
                    <a:off x="4143375" y="3560117"/>
                    <a:ext cx="476250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20B5A1A6-98FE-19E2-DFBA-52A6720BBA8D}"/>
                      </a:ext>
                    </a:extLst>
                  </p:cNvPr>
                  <p:cNvCxnSpPr/>
                  <p:nvPr/>
                </p:nvCxnSpPr>
                <p:spPr>
                  <a:xfrm>
                    <a:off x="4151059" y="3797042"/>
                    <a:ext cx="476250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06CDBE0-ED4A-0EF2-DE33-5BB09BCF8244}"/>
                      </a:ext>
                    </a:extLst>
                  </p:cNvPr>
                  <p:cNvSpPr txBox="1"/>
                  <p:nvPr/>
                </p:nvSpPr>
                <p:spPr>
                  <a:xfrm>
                    <a:off x="4116019" y="3832296"/>
                    <a:ext cx="826079" cy="5703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06CDBE0-ED4A-0EF2-DE33-5BB09BCF82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6019" y="3832296"/>
                    <a:ext cx="826079" cy="57034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61234BE8-E6CB-9FB4-BC79-6C3A775E94DE}"/>
                      </a:ext>
                    </a:extLst>
                  </p:cNvPr>
                  <p:cNvSpPr txBox="1"/>
                  <p:nvPr/>
                </p:nvSpPr>
                <p:spPr>
                  <a:xfrm>
                    <a:off x="1396013" y="3825527"/>
                    <a:ext cx="826079" cy="53995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61234BE8-E6CB-9FB4-BC79-6C3A775E94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6013" y="3825527"/>
                    <a:ext cx="826079" cy="53995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C63D653-AD0E-CBE0-9F8C-15B6464BBCA8}"/>
                      </a:ext>
                    </a:extLst>
                  </p:cNvPr>
                  <p:cNvSpPr txBox="1"/>
                  <p:nvPr/>
                </p:nvSpPr>
                <p:spPr>
                  <a:xfrm>
                    <a:off x="3072472" y="3868280"/>
                    <a:ext cx="826079" cy="53995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𝒄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C63D653-AD0E-CBE0-9F8C-15B6464BBC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72472" y="3868280"/>
                    <a:ext cx="826079" cy="53995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7D62139-415D-068C-5F9F-BA42939B04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4465" y="4218154"/>
                <a:ext cx="432098" cy="71569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F4406F2-D115-2090-D5A5-ADA73D3908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51045" y="4340765"/>
                <a:ext cx="278191" cy="5588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AD141E2-CA1A-4A5D-7E57-B58AB8A2296F}"/>
                  </a:ext>
                </a:extLst>
              </p:cNvPr>
              <p:cNvCxnSpPr/>
              <p:nvPr/>
            </p:nvCxnSpPr>
            <p:spPr>
              <a:xfrm flipH="1">
                <a:off x="3827109" y="4340765"/>
                <a:ext cx="521251" cy="81424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8989F588-91A2-7B10-8C46-26DACD1C937E}"/>
                  </a:ext>
                </a:extLst>
              </p:cNvPr>
              <p:cNvGrpSpPr/>
              <p:nvPr/>
            </p:nvGrpSpPr>
            <p:grpSpPr>
              <a:xfrm>
                <a:off x="5571845" y="3885375"/>
                <a:ext cx="2528360" cy="1211730"/>
                <a:chOff x="2321933" y="1548287"/>
                <a:chExt cx="2528360" cy="121173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E83EFA94-4B37-1DD1-BD32-B588EFC1AD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1933" y="1548287"/>
                      <a:ext cx="826079" cy="54091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𝑨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04" name="TextBox 667703">
                      <a:extLst>
                        <a:ext uri="{FF2B5EF4-FFF2-40B4-BE49-F238E27FC236}">
                          <a16:creationId xmlns:a16="http://schemas.microsoft.com/office/drawing/2014/main" id="{AE21E5EB-A7A0-B77D-16C7-AC45A8571E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1933" y="1548287"/>
                      <a:ext cx="826079" cy="54091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C8FDA379-48F6-2CD9-B4FB-E648A4A72B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6473" y="1945776"/>
                  <a:ext cx="372752" cy="57511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92E42CCE-0869-63A9-6878-4547BCFD7B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24214" y="1549248"/>
                      <a:ext cx="826079" cy="5399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𝑨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06" name="TextBox 667705">
                      <a:extLst>
                        <a:ext uri="{FF2B5EF4-FFF2-40B4-BE49-F238E27FC236}">
                          <a16:creationId xmlns:a16="http://schemas.microsoft.com/office/drawing/2014/main" id="{C532714D-9A93-0886-9C92-3FF6D6ADA8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24214" y="1549248"/>
                      <a:ext cx="826079" cy="539956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5BD9B03-2F94-417F-D4D2-989F89C860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71276" y="2043610"/>
                  <a:ext cx="311342" cy="71640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6E30EAE4-A87F-E81C-79D9-154BF119F2CA}"/>
                  </a:ext>
                </a:extLst>
              </p:cNvPr>
              <p:cNvGrpSpPr/>
              <p:nvPr/>
            </p:nvGrpSpPr>
            <p:grpSpPr>
              <a:xfrm>
                <a:off x="8540883" y="3854721"/>
                <a:ext cx="2582420" cy="1278178"/>
                <a:chOff x="5454979" y="1554391"/>
                <a:chExt cx="2582420" cy="127817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C33E0F4D-A91E-8E12-15C1-7001427B59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54979" y="1591040"/>
                      <a:ext cx="826079" cy="5399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𝑩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10" name="TextBox 667709">
                      <a:extLst>
                        <a:ext uri="{FF2B5EF4-FFF2-40B4-BE49-F238E27FC236}">
                          <a16:creationId xmlns:a16="http://schemas.microsoft.com/office/drawing/2014/main" id="{84AA973B-B063-6383-71D2-1DC331A09A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4979" y="1591040"/>
                      <a:ext cx="826079" cy="539956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D47EA245-E1AE-4958-7B70-95CF64A8F647}"/>
                    </a:ext>
                  </a:extLst>
                </p:cNvPr>
                <p:cNvCxnSpPr/>
                <p:nvPr/>
              </p:nvCxnSpPr>
              <p:spPr>
                <a:xfrm>
                  <a:off x="5735183" y="2089204"/>
                  <a:ext cx="509006" cy="69072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4AEE1EC4-D498-926E-FD51-F68A8A9136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11320" y="1554391"/>
                      <a:ext cx="826079" cy="57034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𝒃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𝑩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12" name="TextBox 667711">
                      <a:extLst>
                        <a:ext uri="{FF2B5EF4-FFF2-40B4-BE49-F238E27FC236}">
                          <a16:creationId xmlns:a16="http://schemas.microsoft.com/office/drawing/2014/main" id="{C2A86624-449D-8128-4D03-F3AA6DB6DF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1320" y="1554391"/>
                      <a:ext cx="826079" cy="57034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B09CCA10-851C-0AF5-2137-5FFE7DBA056E}"/>
                    </a:ext>
                  </a:extLst>
                </p:cNvPr>
                <p:cNvCxnSpPr/>
                <p:nvPr/>
              </p:nvCxnSpPr>
              <p:spPr>
                <a:xfrm flipH="1">
                  <a:off x="6939498" y="2018328"/>
                  <a:ext cx="521251" cy="81424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89C1621-D4CD-1DC5-6AE7-B65D3159DD56}"/>
                </a:ext>
              </a:extLst>
            </p:cNvPr>
            <p:cNvGrpSpPr/>
            <p:nvPr/>
          </p:nvGrpSpPr>
          <p:grpSpPr>
            <a:xfrm>
              <a:off x="2766561" y="4675886"/>
              <a:ext cx="7328461" cy="739678"/>
              <a:chOff x="2766561" y="4675886"/>
              <a:chExt cx="7328461" cy="739678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758D9C5-D709-A5D5-A44E-3AC0D434C3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1045" y="4675886"/>
                <a:ext cx="0" cy="739678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C0354FC-AD38-892D-93F9-4A268BFD41FA}"/>
                  </a:ext>
                </a:extLst>
              </p:cNvPr>
              <p:cNvGrpSpPr/>
              <p:nvPr/>
            </p:nvGrpSpPr>
            <p:grpSpPr>
              <a:xfrm>
                <a:off x="2766561" y="4768909"/>
                <a:ext cx="7328461" cy="571763"/>
                <a:chOff x="2766561" y="4768909"/>
                <a:chExt cx="7328461" cy="571763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73B43EE5-C15E-060E-9262-D93E32D18D67}"/>
                    </a:ext>
                  </a:extLst>
                </p:cNvPr>
                <p:cNvGrpSpPr/>
                <p:nvPr/>
              </p:nvGrpSpPr>
              <p:grpSpPr>
                <a:xfrm>
                  <a:off x="2766561" y="4768909"/>
                  <a:ext cx="7328461" cy="571763"/>
                  <a:chOff x="2766561" y="4768909"/>
                  <a:chExt cx="7328461" cy="571763"/>
                </a:xfrm>
              </p:grpSpPr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92E2A75-5F40-065D-39D0-483ABCCDAC2D}"/>
                      </a:ext>
                    </a:extLst>
                  </p:cNvPr>
                  <p:cNvSpPr txBox="1"/>
                  <p:nvPr/>
                </p:nvSpPr>
                <p:spPr>
                  <a:xfrm>
                    <a:off x="2766561" y="4848229"/>
                    <a:ext cx="605474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6082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AB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5A62347-68F7-50B6-3F71-EC956B6B153C}"/>
                      </a:ext>
                    </a:extLst>
                  </p:cNvPr>
                  <p:cNvSpPr txBox="1"/>
                  <p:nvPr/>
                </p:nvSpPr>
                <p:spPr>
                  <a:xfrm>
                    <a:off x="6478851" y="4809522"/>
                    <a:ext cx="549310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-A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B7BBACC-801E-3AE3-8454-E7C81B1CC34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962" y="4768909"/>
                    <a:ext cx="490060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6082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B</a:t>
                    </a:r>
                  </a:p>
                </p:txBody>
              </p:sp>
            </p:grp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3DC4859-76E7-B105-5F5F-F4A13DAED7FC}"/>
                    </a:ext>
                  </a:extLst>
                </p:cNvPr>
                <p:cNvCxnSpPr/>
                <p:nvPr/>
              </p:nvCxnSpPr>
              <p:spPr>
                <a:xfrm>
                  <a:off x="4768570" y="5057172"/>
                  <a:ext cx="47625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D8D58ED3-7F8A-E06A-2B4C-45DBA85DE0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0505" y="4809522"/>
                  <a:ext cx="0" cy="4953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482792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5142-0E9B-FFEC-B0F5-DA92A798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664FD-FF80-5F9F-E9A4-CA6DE4AA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Frequency based decoupling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BE-3212-837C-3159-19F7A963F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503" y="666750"/>
            <a:ext cx="8683368" cy="60547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31A9B20-28BC-4710-3F47-CD590643F984}"/>
                  </a:ext>
                </a:extLst>
              </p:cNvPr>
              <p:cNvSpPr txBox="1"/>
              <p:nvPr/>
            </p:nvSpPr>
            <p:spPr>
              <a:xfrm>
                <a:off x="-60289" y="1468558"/>
                <a:ext cx="12548102" cy="87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sv-SE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sv-SE" sz="13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kumimoji="0" lang="sv-SE" sz="13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kumimoji="0" lang="sv-SE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sv-SE" sz="13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sv-SE" sz="13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sv-SE" sz="13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rgbClr val="15608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sv-SE" sz="13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rgbClr val="15608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𝑎𝑏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𝑐𝑏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𝑏𝑏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d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sv-SE" sz="13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rgbClr val="15608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sv-SE" sz="1300" b="0" i="1" smtClean="0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sv-SE" sz="1300" b="0" i="1" smtClean="0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b="0" i="1" smtClean="0">
                                              <a:solidFill>
                                                <a:srgbClr val="15608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1300" b="0" i="1" smtClean="0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sv-SE" sz="1300" b="0" i="1" smtClean="0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sv-SE" sz="1300" b="0" i="1" smtClean="0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sv-SE" sz="13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d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sv-SE" sz="13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13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13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sv-SE" sz="13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sv-SE" sz="1300" b="0" i="1" smtClean="0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sv-SE" sz="13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0" lang="sv-SE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sv-SE" sz="13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sv-SE" sz="13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sv-SE" sz="13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kumimoji="0" lang="sv-SE" sz="13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sv-SE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31A9B20-28BC-4710-3F47-CD590643F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289" y="1468558"/>
                <a:ext cx="12548102" cy="8739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45E1FA-D4CF-D12E-3183-A2B52D013B56}"/>
                  </a:ext>
                </a:extLst>
              </p:cNvPr>
              <p:cNvSpPr txBox="1"/>
              <p:nvPr/>
            </p:nvSpPr>
            <p:spPr>
              <a:xfrm>
                <a:off x="3217043" y="2428340"/>
                <a:ext cx="6832303" cy="1345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sv-SE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sv-SE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kumimoji="0" lang="sv-SE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kumimoji="0" lang="sv-SE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sv-SE" sz="2200" i="1" smtClean="0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200" i="1" smtClean="0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𝑐𝑏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𝑏𝑏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2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sv-SE" sz="22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2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  <m:sup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bSup>
                                  <m:r>
                                    <a:rPr lang="sv-SE" sz="2200" b="0" i="1" smtClean="0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  <m:sup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sv-SE" sz="2200" b="0" i="1" smtClean="0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sv-SE" sz="22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𝑐𝑏</m:t>
                              </m:r>
                            </m:sub>
                            <m:sup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bSup>
                    </m:oMath>
                  </m:oMathPara>
                </a14:m>
                <a:endParaRPr kumimoji="0" lang="sv-SE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45E1FA-D4CF-D12E-3183-A2B52D013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043" y="2428340"/>
                <a:ext cx="6832303" cy="13459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A4543D-A8B7-1467-EA25-18CB8FC9DB6F}"/>
                  </a:ext>
                </a:extLst>
              </p:cNvPr>
              <p:cNvSpPr txBox="1"/>
              <p:nvPr/>
            </p:nvSpPr>
            <p:spPr>
              <a:xfrm>
                <a:off x="1125399" y="4909209"/>
                <a:ext cx="9602958" cy="87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sv-SE" sz="13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kumimoji="0" lang="sv-SE" sz="13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kumimoji="0" lang="sv-SE" sz="13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sv-SE" sz="13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sv-SE" sz="13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13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13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13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sv-SE" sz="13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sv-SE" sz="13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rgbClr val="15608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sv-SE" sz="13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rgbClr val="15608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𝑎𝑏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𝑐𝑏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𝑏𝑏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rgbClr val="15608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𝐴𝐵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d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sv-SE" sz="13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rgbClr val="15608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  <m: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sv-SE" sz="13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rgbClr val="15608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sv-SE" sz="1300" i="1">
                                                <a:solidFill>
                                                  <a:srgbClr val="15608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sv-SE" sz="13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𝑐𝑎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p>
                                            </m:sSubSup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𝑐𝑐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sv-SE" sz="1300" i="1">
                                                    <a:solidFill>
                                                      <a:schemeClr val="accent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d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sv-SE" sz="13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13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13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13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sv-SE" sz="13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sv-SE" sz="13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13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𝑏𝑎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𝑏𝑐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𝑏𝑏</m:t>
                                        </m:r>
                                      </m:sub>
                                      <m:sup>
                                        <m:r>
                                          <a:rPr lang="sv-SE" sz="13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sv-SE" sz="13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13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1300" i="1">
                                    <a:solidFill>
                                      <a:srgbClr val="15608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1300" i="1">
                                    <a:solidFill>
                                      <a:srgbClr val="15608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lang="sv-SE" sz="13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13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A4543D-A8B7-1467-EA25-18CB8FC9D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99" y="4909209"/>
                <a:ext cx="9602958" cy="8739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C48B-7538-5847-339C-0BB9538F74B8}"/>
                  </a:ext>
                </a:extLst>
              </p:cNvPr>
              <p:cNvSpPr txBox="1"/>
              <p:nvPr/>
            </p:nvSpPr>
            <p:spPr>
              <a:xfrm>
                <a:off x="3217043" y="5848471"/>
                <a:ext cx="5628487" cy="953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sv-SE" sz="22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kumimoji="0" lang="sv-SE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sv-SE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kumimoji="0" lang="sv-SE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sv-SE" sz="22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2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2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  <m:sup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bSup>
                                  <m:r>
                                    <a:rPr lang="sv-SE" sz="22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  <m:sup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𝑐𝑏</m:t>
                              </m:r>
                            </m:sub>
                            <m:sup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bSup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C48B-7538-5847-339C-0BB9538F7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043" y="5848471"/>
                <a:ext cx="5628487" cy="9532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8B75629-0444-8B02-8898-C19A73ABE703}"/>
              </a:ext>
            </a:extLst>
          </p:cNvPr>
          <p:cNvGrpSpPr/>
          <p:nvPr/>
        </p:nvGrpSpPr>
        <p:grpSpPr>
          <a:xfrm>
            <a:off x="270949" y="706660"/>
            <a:ext cx="11928471" cy="772199"/>
            <a:chOff x="381758" y="4179608"/>
            <a:chExt cx="11928471" cy="7721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96E6896-4135-F075-03A0-531FC9D39D6E}"/>
                    </a:ext>
                  </a:extLst>
                </p:cNvPr>
                <p:cNvSpPr txBox="1"/>
                <p:nvPr/>
              </p:nvSpPr>
              <p:spPr>
                <a:xfrm>
                  <a:off x="381758" y="4179608"/>
                  <a:ext cx="11928471" cy="7721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sv-SE" sz="24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𝐴𝐵</m:t>
                                            </m:r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sv-SE" sz="24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sv-SE" sz="2400" dirty="0">
                                <a:solidFill>
                                  <a:schemeClr val="accent1"/>
                                </a:solidFill>
                                <a:latin typeface="+mj-lt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sv-SE" sz="24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96E6896-4135-F075-03A0-531FC9D39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758" y="4179608"/>
                  <a:ext cx="11928471" cy="7721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10BC7B1-98E4-FDC0-CC81-F6DDBB2048C0}"/>
                </a:ext>
              </a:extLst>
            </p:cNvPr>
            <p:cNvSpPr/>
            <p:nvPr/>
          </p:nvSpPr>
          <p:spPr>
            <a:xfrm>
              <a:off x="595563" y="4191139"/>
              <a:ext cx="11478126" cy="738836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E0CE6D-9E29-B63F-7D3A-BAAAE66135DB}"/>
              </a:ext>
            </a:extLst>
          </p:cNvPr>
          <p:cNvGrpSpPr/>
          <p:nvPr/>
        </p:nvGrpSpPr>
        <p:grpSpPr>
          <a:xfrm>
            <a:off x="595688" y="4026131"/>
            <a:ext cx="11236147" cy="789832"/>
            <a:chOff x="797356" y="5119899"/>
            <a:chExt cx="11236147" cy="789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876B89B-F158-115B-4ECF-B75D9C886150}"/>
                    </a:ext>
                  </a:extLst>
                </p:cNvPr>
                <p:cNvSpPr txBox="1"/>
                <p:nvPr/>
              </p:nvSpPr>
              <p:spPr>
                <a:xfrm>
                  <a:off x="797356" y="5119899"/>
                  <a:ext cx="11236147" cy="789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sv-SE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sv-SE" sz="24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𝐴𝐵</m:t>
                                            </m:r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sv-SE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sv-SE" sz="24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  <m:r>
                                              <a:rPr lang="sv-SE" sz="24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r>
                                          <a:rPr lang="sv-SE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sv-SE" sz="2400" dirty="0">
                                <a:solidFill>
                                  <a:schemeClr val="accent1"/>
                                </a:solidFill>
                                <a:latin typeface="+mj-lt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p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sv-SE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  <m:sSup>
                          <m:sSup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sv-SE" sz="24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876B89B-F158-115B-4ECF-B75D9C886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356" y="5119899"/>
                  <a:ext cx="11236147" cy="7898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D955AFA-C468-F5A0-00B1-2E95156D8407}"/>
                </a:ext>
              </a:extLst>
            </p:cNvPr>
            <p:cNvSpPr/>
            <p:nvPr/>
          </p:nvSpPr>
          <p:spPr>
            <a:xfrm>
              <a:off x="1393370" y="5148483"/>
              <a:ext cx="10001273" cy="738836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367705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F501-305A-1A26-E0E8-44402585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A098-11FB-F408-62AD-7578665F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Frequency based decoupling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6C8-25F5-81E3-B2C2-3FDF93C0D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503" y="666750"/>
            <a:ext cx="8683368" cy="605472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8F819D-79B1-866E-E9D1-3F7864821134}"/>
                  </a:ext>
                </a:extLst>
              </p:cNvPr>
              <p:cNvSpPr txBox="1"/>
              <p:nvPr/>
            </p:nvSpPr>
            <p:spPr>
              <a:xfrm>
                <a:off x="3172436" y="2634709"/>
                <a:ext cx="6832303" cy="1345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sv-SE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sv-SE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  <m:sup>
                                    <m:r>
                                      <a:rPr kumimoji="0" lang="sv-SE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kumimoji="0" lang="sv-SE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kumimoji="0" lang="sv-SE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sv-SE" sz="2200" i="1" smtClean="0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200" i="1" smtClean="0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𝑎𝑏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𝑐𝑏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𝑏𝑏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2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rgbClr val="15608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sv-SE" sz="22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2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  <m:sup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bSup>
                                  <m:r>
                                    <a:rPr lang="sv-SE" sz="2200" b="0" i="1" smtClean="0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  <m:sup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sv-SE" sz="2200" b="0" i="1" smtClean="0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sv-SE" sz="22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𝑐𝑏</m:t>
                              </m:r>
                            </m:sub>
                            <m:sup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bSup>
                    </m:oMath>
                  </m:oMathPara>
                </a14:m>
                <a:endParaRPr kumimoji="0" lang="sv-SE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8F819D-79B1-866E-E9D1-3F7864821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436" y="2634709"/>
                <a:ext cx="6832303" cy="13459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99DCFC-DB48-C730-7531-3B67E6EF50F6}"/>
                  </a:ext>
                </a:extLst>
              </p:cNvPr>
              <p:cNvSpPr txBox="1"/>
              <p:nvPr/>
            </p:nvSpPr>
            <p:spPr>
              <a:xfrm>
                <a:off x="3254061" y="4168090"/>
                <a:ext cx="5456472" cy="953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sv-SE" sz="2200" i="1" smtClean="0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sv-SE" sz="2200" i="1">
                                        <a:solidFill>
                                          <a:srgbClr val="15608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kumimoji="0" lang="sv-SE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sv-SE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kumimoji="0" lang="sv-SE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sv-SE" sz="22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2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𝑐𝑐</m:t>
                                        </m:r>
                                      </m:sub>
                                      <m:sup>
                                        <m:r>
                                          <a:rPr lang="sv-SE" sz="22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sv-SE" sz="22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  <m:sup>
                                      <m:r>
                                        <a:rPr lang="sv-SE" sz="2200" i="1">
                                          <a:solidFill>
                                            <a:srgbClr val="15608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bSup>
                                  <m:r>
                                    <a:rPr lang="sv-SE" sz="2200" i="1">
                                      <a:solidFill>
                                        <a:srgbClr val="15608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𝑐𝑐</m:t>
                                      </m:r>
                                    </m:sub>
                                    <m:sup>
                                      <m:r>
                                        <a:rPr lang="sv-SE" sz="22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𝑐𝑏</m:t>
                              </m:r>
                            </m:sub>
                            <m:sup>
                              <m:r>
                                <a:rPr lang="sv-SE" sz="2200" i="1">
                                  <a:solidFill>
                                    <a:srgbClr val="156082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bSup>
                        </m:e>
                      </m:d>
                      <m:sSubSup>
                        <m:sSubSupPr>
                          <m:ctrlP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sv-SE" sz="2200" i="1">
                              <a:solidFill>
                                <a:srgbClr val="15608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bSup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99DCFC-DB48-C730-7531-3B67E6EF5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061" y="4168090"/>
                <a:ext cx="5456472" cy="953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FB514AF-9E97-5010-5633-E52AF588BCFF}"/>
              </a:ext>
            </a:extLst>
          </p:cNvPr>
          <p:cNvGrpSpPr/>
          <p:nvPr/>
        </p:nvGrpSpPr>
        <p:grpSpPr>
          <a:xfrm>
            <a:off x="1435464" y="715934"/>
            <a:ext cx="9727290" cy="1747249"/>
            <a:chOff x="1405385" y="3832857"/>
            <a:chExt cx="9727290" cy="174724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8B1D26F-E1B6-62F8-1774-F93E9A5E7E33}"/>
                </a:ext>
              </a:extLst>
            </p:cNvPr>
            <p:cNvGrpSpPr/>
            <p:nvPr/>
          </p:nvGrpSpPr>
          <p:grpSpPr>
            <a:xfrm>
              <a:off x="1405385" y="3832857"/>
              <a:ext cx="9727290" cy="1747249"/>
              <a:chOff x="1396013" y="3825527"/>
              <a:chExt cx="9727290" cy="1747249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FECB660-3AE2-4F87-BA8E-8420E40FB05D}"/>
                  </a:ext>
                </a:extLst>
              </p:cNvPr>
              <p:cNvGrpSpPr/>
              <p:nvPr/>
            </p:nvGrpSpPr>
            <p:grpSpPr>
              <a:xfrm>
                <a:off x="2101991" y="4519998"/>
                <a:ext cx="8202049" cy="1052778"/>
                <a:chOff x="1300835" y="4462848"/>
                <a:chExt cx="8202049" cy="1052778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5999997C-819C-3B9A-8597-C24236264D9B}"/>
                    </a:ext>
                  </a:extLst>
                </p:cNvPr>
                <p:cNvGrpSpPr/>
                <p:nvPr/>
              </p:nvGrpSpPr>
              <p:grpSpPr>
                <a:xfrm>
                  <a:off x="1300835" y="4469562"/>
                  <a:ext cx="1941254" cy="1046064"/>
                  <a:chOff x="382806" y="2688609"/>
                  <a:chExt cx="1941254" cy="1046064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55576647-8895-8F61-2B53-F86647C2B23D}"/>
                      </a:ext>
                    </a:extLst>
                  </p:cNvPr>
                  <p:cNvSpPr/>
                  <p:nvPr/>
                </p:nvSpPr>
                <p:spPr>
                  <a:xfrm>
                    <a:off x="382806" y="2688609"/>
                    <a:ext cx="1080375" cy="104606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FCE5BA79-51F0-33CE-FA0E-0D5FFF7121C7}"/>
                      </a:ext>
                    </a:extLst>
                  </p:cNvPr>
                  <p:cNvSpPr/>
                  <p:nvPr/>
                </p:nvSpPr>
                <p:spPr>
                  <a:xfrm>
                    <a:off x="1356929" y="2887973"/>
                    <a:ext cx="967131" cy="647336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72E01C60-5D3A-B962-8A5C-9FFC06D8017B}"/>
                      </a:ext>
                    </a:extLst>
                  </p:cNvPr>
                  <p:cNvSpPr/>
                  <p:nvPr/>
                </p:nvSpPr>
                <p:spPr>
                  <a:xfrm>
                    <a:off x="1158844" y="2906162"/>
                    <a:ext cx="336581" cy="59753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8FE5ED0-FDB7-4236-45D4-B0DC04380932}"/>
                    </a:ext>
                  </a:extLst>
                </p:cNvPr>
                <p:cNvSpPr/>
                <p:nvPr/>
              </p:nvSpPr>
              <p:spPr>
                <a:xfrm>
                  <a:off x="8535753" y="4637309"/>
                  <a:ext cx="967131" cy="647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v-S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FFFE1A3-1CB8-FB40-1947-E6848F8B2F59}"/>
                    </a:ext>
                  </a:extLst>
                </p:cNvPr>
                <p:cNvGrpSpPr/>
                <p:nvPr/>
              </p:nvGrpSpPr>
              <p:grpSpPr>
                <a:xfrm>
                  <a:off x="5436886" y="4462848"/>
                  <a:ext cx="1112619" cy="1046064"/>
                  <a:chOff x="262918" y="3175954"/>
                  <a:chExt cx="1112619" cy="1046064"/>
                </a:xfrm>
              </p:grpSpPr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5559BAF5-B3E5-E676-740F-247D969CD394}"/>
                      </a:ext>
                    </a:extLst>
                  </p:cNvPr>
                  <p:cNvSpPr/>
                  <p:nvPr/>
                </p:nvSpPr>
                <p:spPr>
                  <a:xfrm>
                    <a:off x="262918" y="3175954"/>
                    <a:ext cx="1080375" cy="104606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20CBA169-1152-38D6-5F92-F1E3D61BA31E}"/>
                      </a:ext>
                    </a:extLst>
                  </p:cNvPr>
                  <p:cNvSpPr/>
                  <p:nvPr/>
                </p:nvSpPr>
                <p:spPr>
                  <a:xfrm>
                    <a:off x="1038956" y="3393507"/>
                    <a:ext cx="336581" cy="59753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D9484E79-54DC-86A3-A2EC-3CBCAF98CF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38251" y="3388519"/>
                    <a:ext cx="4762" cy="623888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F37B647B-09F3-F08E-EC10-F9A2516E45C3}"/>
                    </a:ext>
                  </a:extLst>
                </p:cNvPr>
                <p:cNvGrpSpPr/>
                <p:nvPr/>
              </p:nvGrpSpPr>
              <p:grpSpPr>
                <a:xfrm>
                  <a:off x="7276345" y="4842514"/>
                  <a:ext cx="483934" cy="236925"/>
                  <a:chOff x="4143375" y="3560117"/>
                  <a:chExt cx="483934" cy="236925"/>
                </a:xfrm>
              </p:grpSpPr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4C440483-6D9D-0819-3D63-677EF7FC42FB}"/>
                      </a:ext>
                    </a:extLst>
                  </p:cNvPr>
                  <p:cNvCxnSpPr/>
                  <p:nvPr/>
                </p:nvCxnSpPr>
                <p:spPr>
                  <a:xfrm>
                    <a:off x="4143375" y="3560117"/>
                    <a:ext cx="476250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BC23675A-C053-715B-018C-33723BB22C93}"/>
                      </a:ext>
                    </a:extLst>
                  </p:cNvPr>
                  <p:cNvCxnSpPr/>
                  <p:nvPr/>
                </p:nvCxnSpPr>
                <p:spPr>
                  <a:xfrm>
                    <a:off x="4151059" y="3797042"/>
                    <a:ext cx="476250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92C0C0C-5C4F-B7C8-F373-247E04135379}"/>
                      </a:ext>
                    </a:extLst>
                  </p:cNvPr>
                  <p:cNvSpPr txBox="1"/>
                  <p:nvPr/>
                </p:nvSpPr>
                <p:spPr>
                  <a:xfrm>
                    <a:off x="4116019" y="3832296"/>
                    <a:ext cx="826079" cy="5703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06CDBE0-ED4A-0EF2-DE33-5BB09BCF82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6019" y="3832296"/>
                    <a:ext cx="826079" cy="57034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8BCEBA3-2F02-16AE-F769-E5CE7F6CC304}"/>
                      </a:ext>
                    </a:extLst>
                  </p:cNvPr>
                  <p:cNvSpPr txBox="1"/>
                  <p:nvPr/>
                </p:nvSpPr>
                <p:spPr>
                  <a:xfrm>
                    <a:off x="1396013" y="3825527"/>
                    <a:ext cx="826079" cy="53995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61234BE8-E6CB-9FB4-BC79-6C3A775E94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6013" y="3825527"/>
                    <a:ext cx="826079" cy="53995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BB22AE9-DE06-C1A5-96B7-B25048139B1F}"/>
                      </a:ext>
                    </a:extLst>
                  </p:cNvPr>
                  <p:cNvSpPr txBox="1"/>
                  <p:nvPr/>
                </p:nvSpPr>
                <p:spPr>
                  <a:xfrm>
                    <a:off x="3072472" y="3868280"/>
                    <a:ext cx="826079" cy="53995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𝒄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C63D653-AD0E-CBE0-9F8C-15B6464BBC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72472" y="3868280"/>
                    <a:ext cx="826079" cy="53995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4942655-2EE0-ABC0-F7AE-D3E500E2BC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4465" y="4218154"/>
                <a:ext cx="432098" cy="71569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45ACEFB-8497-3ECE-A2E1-5927532D9D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51045" y="4340765"/>
                <a:ext cx="278191" cy="5588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5680E0A-B19F-7720-09EF-85E64B48A5BE}"/>
                  </a:ext>
                </a:extLst>
              </p:cNvPr>
              <p:cNvCxnSpPr/>
              <p:nvPr/>
            </p:nvCxnSpPr>
            <p:spPr>
              <a:xfrm flipH="1">
                <a:off x="3827109" y="4340765"/>
                <a:ext cx="521251" cy="81424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8486090-8374-DC80-8C61-CF749153621F}"/>
                  </a:ext>
                </a:extLst>
              </p:cNvPr>
              <p:cNvGrpSpPr/>
              <p:nvPr/>
            </p:nvGrpSpPr>
            <p:grpSpPr>
              <a:xfrm>
                <a:off x="5571845" y="3885375"/>
                <a:ext cx="2528360" cy="1211730"/>
                <a:chOff x="2321933" y="1548287"/>
                <a:chExt cx="2528360" cy="121173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4187F6FE-41F3-EBCE-2CEB-C93BAAF306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1933" y="1548287"/>
                      <a:ext cx="826079" cy="54091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𝑨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04" name="TextBox 667703">
                      <a:extLst>
                        <a:ext uri="{FF2B5EF4-FFF2-40B4-BE49-F238E27FC236}">
                          <a16:creationId xmlns:a16="http://schemas.microsoft.com/office/drawing/2014/main" id="{AE21E5EB-A7A0-B77D-16C7-AC45A8571E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1933" y="1548287"/>
                      <a:ext cx="826079" cy="54091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E70C9B68-009C-BFC0-4E40-0CA776C763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6473" y="1945776"/>
                  <a:ext cx="372752" cy="57511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A89BBE07-A91F-1AFB-21BC-971A1F5B77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24214" y="1549248"/>
                      <a:ext cx="826079" cy="5399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𝑨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06" name="TextBox 667705">
                      <a:extLst>
                        <a:ext uri="{FF2B5EF4-FFF2-40B4-BE49-F238E27FC236}">
                          <a16:creationId xmlns:a16="http://schemas.microsoft.com/office/drawing/2014/main" id="{C532714D-9A93-0886-9C92-3FF6D6ADA8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24214" y="1549248"/>
                      <a:ext cx="826079" cy="539956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E55BB37C-B22A-45D0-17BA-B1CAEDEFF3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71276" y="2043610"/>
                  <a:ext cx="311342" cy="71640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F8607F1-E00D-9C1E-CED8-DF1E094081A8}"/>
                  </a:ext>
                </a:extLst>
              </p:cNvPr>
              <p:cNvGrpSpPr/>
              <p:nvPr/>
            </p:nvGrpSpPr>
            <p:grpSpPr>
              <a:xfrm>
                <a:off x="8540883" y="3854721"/>
                <a:ext cx="2582420" cy="1278178"/>
                <a:chOff x="5454979" y="1554391"/>
                <a:chExt cx="2582420" cy="127817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6C98AF41-DA79-C4D8-9E4E-581BD18E47A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54979" y="1591040"/>
                      <a:ext cx="826079" cy="5399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𝑩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10" name="TextBox 667709">
                      <a:extLst>
                        <a:ext uri="{FF2B5EF4-FFF2-40B4-BE49-F238E27FC236}">
                          <a16:creationId xmlns:a16="http://schemas.microsoft.com/office/drawing/2014/main" id="{84AA973B-B063-6383-71D2-1DC331A09A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4979" y="1591040"/>
                      <a:ext cx="826079" cy="539956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E48D0131-7645-48ED-05E6-EDA4F226B185}"/>
                    </a:ext>
                  </a:extLst>
                </p:cNvPr>
                <p:cNvCxnSpPr/>
                <p:nvPr/>
              </p:nvCxnSpPr>
              <p:spPr>
                <a:xfrm>
                  <a:off x="5735183" y="2089204"/>
                  <a:ext cx="509006" cy="69072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D472985F-6012-FB88-9364-F0CFD080CB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11320" y="1554391"/>
                      <a:ext cx="826079" cy="57034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𝒃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𝑩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12" name="TextBox 667711">
                      <a:extLst>
                        <a:ext uri="{FF2B5EF4-FFF2-40B4-BE49-F238E27FC236}">
                          <a16:creationId xmlns:a16="http://schemas.microsoft.com/office/drawing/2014/main" id="{C2A86624-449D-8128-4D03-F3AA6DB6DF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1320" y="1554391"/>
                      <a:ext cx="826079" cy="57034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D9AF047-6A75-A02F-28C2-AA851BE108F5}"/>
                    </a:ext>
                  </a:extLst>
                </p:cNvPr>
                <p:cNvCxnSpPr/>
                <p:nvPr/>
              </p:nvCxnSpPr>
              <p:spPr>
                <a:xfrm flipH="1">
                  <a:off x="6939498" y="2018328"/>
                  <a:ext cx="521251" cy="81424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8391D3-3E11-D649-3512-486D4CF265F3}"/>
                </a:ext>
              </a:extLst>
            </p:cNvPr>
            <p:cNvGrpSpPr/>
            <p:nvPr/>
          </p:nvGrpSpPr>
          <p:grpSpPr>
            <a:xfrm>
              <a:off x="2766561" y="4675886"/>
              <a:ext cx="7328461" cy="739678"/>
              <a:chOff x="2766561" y="4675886"/>
              <a:chExt cx="7328461" cy="739678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E7E312D-5F06-1188-4363-EC55E5962E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1045" y="4675886"/>
                <a:ext cx="0" cy="739678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EBF7EC7-0A1D-9748-0780-26E3BF693DBF}"/>
                  </a:ext>
                </a:extLst>
              </p:cNvPr>
              <p:cNvGrpSpPr/>
              <p:nvPr/>
            </p:nvGrpSpPr>
            <p:grpSpPr>
              <a:xfrm>
                <a:off x="2766561" y="4768909"/>
                <a:ext cx="7328461" cy="571763"/>
                <a:chOff x="2766561" y="4768909"/>
                <a:chExt cx="7328461" cy="571763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02337F06-3157-55A8-982C-86600B0882A8}"/>
                    </a:ext>
                  </a:extLst>
                </p:cNvPr>
                <p:cNvGrpSpPr/>
                <p:nvPr/>
              </p:nvGrpSpPr>
              <p:grpSpPr>
                <a:xfrm>
                  <a:off x="2766561" y="4768909"/>
                  <a:ext cx="7328461" cy="571763"/>
                  <a:chOff x="2766561" y="4768909"/>
                  <a:chExt cx="7328461" cy="571763"/>
                </a:xfrm>
              </p:grpSpPr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8AC6F9DD-0B67-F34A-EC27-B2FF65C6EA35}"/>
                      </a:ext>
                    </a:extLst>
                  </p:cNvPr>
                  <p:cNvSpPr txBox="1"/>
                  <p:nvPr/>
                </p:nvSpPr>
                <p:spPr>
                  <a:xfrm>
                    <a:off x="2766561" y="4848229"/>
                    <a:ext cx="605474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6082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AB</a:t>
                    </a: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D97F083-6153-52FE-5907-53B9A964B7B6}"/>
                      </a:ext>
                    </a:extLst>
                  </p:cNvPr>
                  <p:cNvSpPr txBox="1"/>
                  <p:nvPr/>
                </p:nvSpPr>
                <p:spPr>
                  <a:xfrm>
                    <a:off x="6478851" y="4809522"/>
                    <a:ext cx="549310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-A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46ABEE3A-0693-5789-CFBF-1CABEDB5009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962" y="4768909"/>
                    <a:ext cx="490060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6082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B</a:t>
                    </a:r>
                  </a:p>
                </p:txBody>
              </p:sp>
            </p:grp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8308A75C-DEAF-74DB-366C-D3F80366C4B0}"/>
                    </a:ext>
                  </a:extLst>
                </p:cNvPr>
                <p:cNvCxnSpPr/>
                <p:nvPr/>
              </p:nvCxnSpPr>
              <p:spPr>
                <a:xfrm>
                  <a:off x="4768570" y="5057172"/>
                  <a:ext cx="47625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82F6642-1CF7-5CE4-E3FC-1422346B92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0505" y="4809522"/>
                  <a:ext cx="0" cy="4953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3971E29-9D06-CE21-2D1D-9D7E8FB7B078}"/>
                  </a:ext>
                </a:extLst>
              </p:cNvPr>
              <p:cNvSpPr txBox="1"/>
              <p:nvPr/>
            </p:nvSpPr>
            <p:spPr>
              <a:xfrm>
                <a:off x="3478663" y="5723534"/>
                <a:ext cx="5847098" cy="678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22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sv-SE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⟨"/>
                        <m:endChr m:val="⟩"/>
                        <m:ctrlP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𝑏𝑏</m:t>
                            </m:r>
                          </m:sub>
                          <m:sup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p>
                        </m:sSubSup>
                        <m:r>
                          <a:rPr lang="sv-SE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𝑏𝑐</m:t>
                            </m:r>
                          </m:sub>
                          <m:sup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p>
                        </m:sSubSup>
                        <m:r>
                          <a:rPr lang="sv-SE" sz="22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sv-SE" sz="22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sv-SE" sz="22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  <m:sup>
                                    <m:r>
                                      <a:rPr lang="sv-SE" sz="22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sup>
                                </m:sSubSup>
                                <m:r>
                                  <a:rPr lang="sv-SE" sz="22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sv-SE" sz="22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2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sv-SE" sz="22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  <m:sup>
                                    <m:r>
                                      <a:rPr lang="sv-SE" sz="22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sv-SE" sz="2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𝑐𝑏</m:t>
                            </m:r>
                          </m:sub>
                          <m:sup>
                            <m:r>
                              <a:rPr lang="sv-SE" sz="22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sup>
                        </m:sSubSup>
                      </m:e>
                    </m:d>
                  </m:oMath>
                </a14:m>
                <a:r>
                  <a:rPr lang="sv-SE" sz="22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sv-SE" sz="2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sz="2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sv-SE" sz="2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sv-SE" sz="22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bSup>
                  </m:oMath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3971E29-9D06-CE21-2D1D-9D7E8FB7B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663" y="5723534"/>
                <a:ext cx="5847098" cy="6787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Arc 67">
            <a:extLst>
              <a:ext uri="{FF2B5EF4-FFF2-40B4-BE49-F238E27FC236}">
                <a16:creationId xmlns:a16="http://schemas.microsoft.com/office/drawing/2014/main" id="{08C9D4C2-CF79-F96D-5049-C59853CD86AA}"/>
              </a:ext>
            </a:extLst>
          </p:cNvPr>
          <p:cNvSpPr/>
          <p:nvPr/>
        </p:nvSpPr>
        <p:spPr>
          <a:xfrm rot="2531800" flipH="1" flipV="1">
            <a:off x="2879654" y="3222964"/>
            <a:ext cx="3492362" cy="3322881"/>
          </a:xfrm>
          <a:prstGeom prst="arc">
            <a:avLst>
              <a:gd name="adj1" fmla="val 16200000"/>
              <a:gd name="adj2" fmla="val 10855"/>
            </a:avLst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8012F304-486D-479C-6940-3A8E80D9BCAF}"/>
              </a:ext>
            </a:extLst>
          </p:cNvPr>
          <p:cNvSpPr/>
          <p:nvPr/>
        </p:nvSpPr>
        <p:spPr>
          <a:xfrm rot="2531800" flipH="1" flipV="1">
            <a:off x="3059477" y="2953663"/>
            <a:ext cx="1995685" cy="2137247"/>
          </a:xfrm>
          <a:prstGeom prst="arc">
            <a:avLst>
              <a:gd name="adj1" fmla="val 16200000"/>
              <a:gd name="adj2" fmla="val 10855"/>
            </a:avLst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C7881F-1754-C767-5D69-0721AD91B479}"/>
              </a:ext>
            </a:extLst>
          </p:cNvPr>
          <p:cNvSpPr txBox="1"/>
          <p:nvPr/>
        </p:nvSpPr>
        <p:spPr>
          <a:xfrm>
            <a:off x="20570" y="3773239"/>
            <a:ext cx="3116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200" dirty="0" err="1">
                <a:solidFill>
                  <a:srgbClr val="00B050"/>
                </a:solidFill>
                <a:latin typeface="+mj-lt"/>
              </a:rPr>
              <a:t>Identical</a:t>
            </a:r>
            <a:r>
              <a:rPr lang="sv-SE" sz="2200" dirty="0">
                <a:solidFill>
                  <a:srgbClr val="00B050"/>
                </a:solidFill>
                <a:latin typeface="+mj-lt"/>
              </a:rPr>
              <a:t> by </a:t>
            </a:r>
            <a:r>
              <a:rPr lang="sv-SE" sz="2200" dirty="0" err="1">
                <a:solidFill>
                  <a:srgbClr val="00B050"/>
                </a:solidFill>
                <a:latin typeface="+mj-lt"/>
              </a:rPr>
              <a:t>construction</a:t>
            </a:r>
            <a:endParaRPr lang="sv-SE" sz="2200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6042AAF7-6D75-6E83-F56D-A7AB3A35918C}"/>
              </a:ext>
            </a:extLst>
          </p:cNvPr>
          <p:cNvSpPr/>
          <p:nvPr/>
        </p:nvSpPr>
        <p:spPr>
          <a:xfrm rot="2531800" flipH="1" flipV="1">
            <a:off x="3054886" y="2624648"/>
            <a:ext cx="1995685" cy="2137247"/>
          </a:xfrm>
          <a:prstGeom prst="arc">
            <a:avLst>
              <a:gd name="adj1" fmla="val 16200000"/>
              <a:gd name="adj2" fmla="val 10855"/>
            </a:avLst>
          </a:prstGeom>
          <a:noFill/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064C81-A875-0F4D-9A5D-5D18E2AD3DB1}"/>
              </a:ext>
            </a:extLst>
          </p:cNvPr>
          <p:cNvSpPr txBox="1"/>
          <p:nvPr/>
        </p:nvSpPr>
        <p:spPr>
          <a:xfrm>
            <a:off x="443290" y="2937250"/>
            <a:ext cx="2719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200" dirty="0" err="1">
                <a:solidFill>
                  <a:srgbClr val="FF0000"/>
                </a:solidFill>
                <a:latin typeface="+mj-lt"/>
              </a:rPr>
              <a:t>Identical</a:t>
            </a:r>
            <a:r>
              <a:rPr lang="sv-SE" sz="2200" dirty="0">
                <a:solidFill>
                  <a:srgbClr val="FF0000"/>
                </a:solidFill>
                <a:latin typeface="+mj-lt"/>
              </a:rPr>
              <a:t> </a:t>
            </a:r>
            <a:r>
              <a:rPr lang="sv-SE" sz="2200" dirty="0" err="1">
                <a:solidFill>
                  <a:srgbClr val="FF0000"/>
                </a:solidFill>
                <a:latin typeface="+mj-lt"/>
              </a:rPr>
              <a:t>since</a:t>
            </a:r>
            <a:r>
              <a:rPr lang="sv-SE" sz="2200" dirty="0">
                <a:solidFill>
                  <a:srgbClr val="FF0000"/>
                </a:solidFill>
                <a:latin typeface="+mj-lt"/>
              </a:rPr>
              <a:t> a in AB</a:t>
            </a:r>
          </a:p>
          <a:p>
            <a:r>
              <a:rPr lang="sv-SE" sz="2200" dirty="0">
                <a:solidFill>
                  <a:srgbClr val="FF0000"/>
                </a:solidFill>
                <a:latin typeface="+mj-lt"/>
              </a:rPr>
              <a:t>is </a:t>
            </a:r>
            <a:r>
              <a:rPr lang="sv-SE" sz="2200" dirty="0" err="1">
                <a:solidFill>
                  <a:srgbClr val="FF0000"/>
                </a:solidFill>
                <a:latin typeface="+mj-lt"/>
              </a:rPr>
              <a:t>equal</a:t>
            </a:r>
            <a:r>
              <a:rPr lang="sv-SE" sz="2200" dirty="0">
                <a:solidFill>
                  <a:srgbClr val="FF0000"/>
                </a:solidFill>
                <a:latin typeface="+mj-lt"/>
              </a:rPr>
              <a:t> to a in -A</a:t>
            </a:r>
          </a:p>
        </p:txBody>
      </p:sp>
    </p:spTree>
    <p:extLst>
      <p:ext uri="{BB962C8B-B14F-4D97-AF65-F5344CB8AC3E}">
        <p14:creationId xmlns:p14="http://schemas.microsoft.com/office/powerpoint/2010/main" val="1484649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feld 60"/>
          <p:cNvSpPr txBox="1"/>
          <p:nvPr/>
        </p:nvSpPr>
        <p:spPr>
          <a:xfrm>
            <a:off x="446067" y="679796"/>
            <a:ext cx="2195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Let us reconsider 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7408493" y="5344130"/>
            <a:ext cx="42211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If </a:t>
            </a:r>
            <a:r>
              <a:rPr lang="en-US" sz="2200" i="1" dirty="0">
                <a:solidFill>
                  <a:schemeClr val="accent1"/>
                </a:solidFill>
                <a:latin typeface="+mj-lt"/>
                <a:cs typeface="Times New Roman"/>
              </a:rPr>
              <a:t>E</a:t>
            </a:r>
            <a:r>
              <a:rPr lang="en-US" sz="2200" dirty="0">
                <a:solidFill>
                  <a:schemeClr val="accent1"/>
                </a:solidFill>
                <a:latin typeface="+mj-lt"/>
                <a:cs typeface="Times New Roman"/>
              </a:rPr>
              <a:t>=</a:t>
            </a:r>
            <a:r>
              <a:rPr lang="en-US" sz="2200" i="1" dirty="0">
                <a:solidFill>
                  <a:schemeClr val="accent1"/>
                </a:solidFill>
                <a:latin typeface="+mj-lt"/>
                <a:cs typeface="Times New Roman"/>
              </a:rPr>
              <a:t>C, 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then the equilibrium and the compatibility are “collocated”</a:t>
            </a:r>
          </a:p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If not, they are “non-collocated”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502D34-6F46-4507-8A69-E7F69D8E4435}"/>
                  </a:ext>
                </a:extLst>
              </p:cNvPr>
              <p:cNvSpPr txBox="1"/>
              <p:nvPr/>
            </p:nvSpPr>
            <p:spPr>
              <a:xfrm>
                <a:off x="1561384" y="3351146"/>
                <a:ext cx="5309571" cy="1173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sv-SE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502D34-6F46-4507-8A69-E7F69D8E4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384" y="3351146"/>
                <a:ext cx="5309571" cy="1173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27DFB5-0C14-9042-EFE4-77BD9727CC25}"/>
                  </a:ext>
                </a:extLst>
              </p:cNvPr>
              <p:cNvSpPr txBox="1"/>
              <p:nvPr/>
            </p:nvSpPr>
            <p:spPr>
              <a:xfrm>
                <a:off x="1543644" y="5243718"/>
                <a:ext cx="5309571" cy="1208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sv-SE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27DFB5-0C14-9042-EFE4-77BD9727C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644" y="5243718"/>
                <a:ext cx="5309571" cy="12084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64F01024-6440-E645-E442-13DDE96B41D1}"/>
              </a:ext>
            </a:extLst>
          </p:cNvPr>
          <p:cNvGrpSpPr/>
          <p:nvPr/>
        </p:nvGrpSpPr>
        <p:grpSpPr>
          <a:xfrm>
            <a:off x="7408493" y="3488846"/>
            <a:ext cx="4783507" cy="1600438"/>
            <a:chOff x="6596752" y="3059947"/>
            <a:chExt cx="4783507" cy="1600438"/>
          </a:xfrm>
        </p:grpSpPr>
        <p:sp>
          <p:nvSpPr>
            <p:cNvPr id="12" name="Textfeld 11"/>
            <p:cNvSpPr txBox="1"/>
            <p:nvPr/>
          </p:nvSpPr>
          <p:spPr>
            <a:xfrm>
              <a:off x="6596752" y="3059947"/>
              <a:ext cx="4783507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i="1" dirty="0">
                  <a:solidFill>
                    <a:schemeClr val="accent1"/>
                  </a:solidFill>
                  <a:latin typeface="+mj-lt"/>
                </a:rPr>
                <a:t>AB</a:t>
              </a:r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is an assembly of </a:t>
              </a:r>
              <a:r>
                <a:rPr lang="en-US" sz="2200" i="1" dirty="0">
                  <a:solidFill>
                    <a:schemeClr val="accent1"/>
                  </a:solidFill>
                  <a:latin typeface="+mj-lt"/>
                </a:rPr>
                <a:t>A</a:t>
              </a:r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and </a:t>
              </a:r>
              <a:r>
                <a:rPr lang="en-US" sz="2200" i="1" dirty="0">
                  <a:solidFill>
                    <a:schemeClr val="accent1"/>
                  </a:solidFill>
                  <a:latin typeface="+mj-lt"/>
                </a:rPr>
                <a:t>B</a:t>
              </a:r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, but</a:t>
              </a:r>
            </a:p>
            <a:p>
              <a:r>
                <a:rPr lang="en-US" sz="2200" i="1" dirty="0">
                  <a:solidFill>
                    <a:schemeClr val="accent1"/>
                  </a:solidFill>
                  <a:latin typeface="+mj-lt"/>
                </a:rPr>
                <a:t>A</a:t>
              </a:r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in </a:t>
              </a:r>
              <a:r>
                <a:rPr lang="en-US" sz="2200" i="1" dirty="0">
                  <a:solidFill>
                    <a:schemeClr val="accent1"/>
                  </a:solidFill>
                  <a:latin typeface="+mj-lt"/>
                </a:rPr>
                <a:t>AB</a:t>
              </a:r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can be different from </a:t>
              </a:r>
              <a:r>
                <a:rPr lang="en-US" sz="2200" i="1" dirty="0">
                  <a:solidFill>
                    <a:schemeClr val="accent1"/>
                  </a:solidFill>
                  <a:latin typeface="+mj-lt"/>
                </a:rPr>
                <a:t>A</a:t>
              </a:r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alone</a:t>
              </a:r>
            </a:p>
            <a:p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due to measurement/modeling errors.</a:t>
              </a:r>
            </a:p>
            <a:p>
              <a:endParaRPr lang="en-US" sz="1000" dirty="0">
                <a:solidFill>
                  <a:schemeClr val="accent1"/>
                </a:solidFill>
                <a:latin typeface="+mj-lt"/>
              </a:endParaRPr>
            </a:p>
            <a:p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Hence,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1134BC-219D-7936-BA6E-75013F0C63B4}"/>
                    </a:ext>
                  </a:extLst>
                </p:cNvPr>
                <p:cNvSpPr txBox="1"/>
                <p:nvPr/>
              </p:nvSpPr>
              <p:spPr>
                <a:xfrm>
                  <a:off x="7535062" y="4223278"/>
                  <a:ext cx="1606885" cy="437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sv-SE" sz="22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</m:oMath>
                  </a14:m>
                  <a:r>
                    <a:rPr lang="sv-SE" sz="2200" dirty="0">
                      <a:solidFill>
                        <a:schemeClr val="accent1"/>
                      </a:solidFill>
                      <a:latin typeface="+mj-lt"/>
                    </a:rPr>
                    <a:t>+</a:t>
                  </a:r>
                  <a14:m>
                    <m:oMath xmlns:m="http://schemas.openxmlformats.org/officeDocument/2006/math">
                      <m:r>
                        <a:rPr lang="sv-SE" sz="22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</m:oMath>
                  </a14:m>
                  <a:endParaRPr lang="sv-SE" sz="22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1134BC-219D-7936-BA6E-75013F0C63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5062" y="4223278"/>
                  <a:ext cx="1606885" cy="437107"/>
                </a:xfrm>
                <a:prstGeom prst="rect">
                  <a:avLst/>
                </a:prstGeom>
                <a:blipFill>
                  <a:blip r:embed="rId5"/>
                  <a:stretch>
                    <a:fillRect l="-379" t="-9722" b="-29167"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89498F33-7CE5-F807-9D32-5D2B4118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66" y="109103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Frequency based decoupling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FD6572-1327-22C5-4E0C-0EAFE0F8C525}"/>
              </a:ext>
            </a:extLst>
          </p:cNvPr>
          <p:cNvGrpSpPr/>
          <p:nvPr/>
        </p:nvGrpSpPr>
        <p:grpSpPr>
          <a:xfrm>
            <a:off x="1764898" y="1091152"/>
            <a:ext cx="9727290" cy="1747249"/>
            <a:chOff x="1405385" y="3832857"/>
            <a:chExt cx="9727290" cy="174724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98755EE-9A42-6A0C-5647-C17523CB4C99}"/>
                </a:ext>
              </a:extLst>
            </p:cNvPr>
            <p:cNvGrpSpPr/>
            <p:nvPr/>
          </p:nvGrpSpPr>
          <p:grpSpPr>
            <a:xfrm>
              <a:off x="1405385" y="3832857"/>
              <a:ext cx="9727290" cy="1747249"/>
              <a:chOff x="1396013" y="3825527"/>
              <a:chExt cx="9727290" cy="1747249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CE25234-66CB-3EC1-6C64-F226E4B4E705}"/>
                  </a:ext>
                </a:extLst>
              </p:cNvPr>
              <p:cNvGrpSpPr/>
              <p:nvPr/>
            </p:nvGrpSpPr>
            <p:grpSpPr>
              <a:xfrm>
                <a:off x="2101991" y="4519998"/>
                <a:ext cx="8202049" cy="1052778"/>
                <a:chOff x="1300835" y="4462848"/>
                <a:chExt cx="8202049" cy="1052778"/>
              </a:xfrm>
            </p:grpSpPr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F0BFFA03-38BF-6A8D-5032-BFF4CB667002}"/>
                    </a:ext>
                  </a:extLst>
                </p:cNvPr>
                <p:cNvGrpSpPr/>
                <p:nvPr/>
              </p:nvGrpSpPr>
              <p:grpSpPr>
                <a:xfrm>
                  <a:off x="1300835" y="4469562"/>
                  <a:ext cx="1941254" cy="1046064"/>
                  <a:chOff x="382806" y="2688609"/>
                  <a:chExt cx="1941254" cy="1046064"/>
                </a:xfrm>
              </p:grpSpPr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82ABA41E-F9CA-D0D2-E7AE-80FF96B15F01}"/>
                      </a:ext>
                    </a:extLst>
                  </p:cNvPr>
                  <p:cNvSpPr/>
                  <p:nvPr/>
                </p:nvSpPr>
                <p:spPr>
                  <a:xfrm>
                    <a:off x="382806" y="2688609"/>
                    <a:ext cx="1080375" cy="104606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DFCB5513-A394-3BF2-F87B-5F644A2A73E3}"/>
                      </a:ext>
                    </a:extLst>
                  </p:cNvPr>
                  <p:cNvSpPr/>
                  <p:nvPr/>
                </p:nvSpPr>
                <p:spPr>
                  <a:xfrm>
                    <a:off x="1356929" y="2887973"/>
                    <a:ext cx="967131" cy="647336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391C97E7-ABB5-F68E-0BED-708642231BE3}"/>
                      </a:ext>
                    </a:extLst>
                  </p:cNvPr>
                  <p:cNvSpPr/>
                  <p:nvPr/>
                </p:nvSpPr>
                <p:spPr>
                  <a:xfrm>
                    <a:off x="1158844" y="2906162"/>
                    <a:ext cx="336581" cy="59753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65CCDE0-B5B9-4D8E-C68A-8BC556884409}"/>
                    </a:ext>
                  </a:extLst>
                </p:cNvPr>
                <p:cNvSpPr/>
                <p:nvPr/>
              </p:nvSpPr>
              <p:spPr>
                <a:xfrm>
                  <a:off x="8535753" y="4637309"/>
                  <a:ext cx="967131" cy="6473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sv-S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66329E7A-41F8-7AB0-BEDA-300E2DD6AAF4}"/>
                    </a:ext>
                  </a:extLst>
                </p:cNvPr>
                <p:cNvGrpSpPr/>
                <p:nvPr/>
              </p:nvGrpSpPr>
              <p:grpSpPr>
                <a:xfrm>
                  <a:off x="5436886" y="4462848"/>
                  <a:ext cx="1112619" cy="1046064"/>
                  <a:chOff x="262918" y="3175954"/>
                  <a:chExt cx="1112619" cy="1046064"/>
                </a:xfrm>
              </p:grpSpPr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451CACA5-78D9-5ECF-DCBE-03A65D9F664A}"/>
                      </a:ext>
                    </a:extLst>
                  </p:cNvPr>
                  <p:cNvSpPr/>
                  <p:nvPr/>
                </p:nvSpPr>
                <p:spPr>
                  <a:xfrm>
                    <a:off x="262918" y="3175954"/>
                    <a:ext cx="1080375" cy="104606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12B0E511-3CF1-3454-D5D4-52B0B9C48ED8}"/>
                      </a:ext>
                    </a:extLst>
                  </p:cNvPr>
                  <p:cNvSpPr/>
                  <p:nvPr/>
                </p:nvSpPr>
                <p:spPr>
                  <a:xfrm>
                    <a:off x="1038956" y="3393507"/>
                    <a:ext cx="336581" cy="59753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sv-SE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88C58BF1-5840-6BA7-C93F-5A0D88973B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38251" y="3388519"/>
                    <a:ext cx="4762" cy="623888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2918697B-61C8-973E-4D88-58E40FACD503}"/>
                    </a:ext>
                  </a:extLst>
                </p:cNvPr>
                <p:cNvGrpSpPr/>
                <p:nvPr/>
              </p:nvGrpSpPr>
              <p:grpSpPr>
                <a:xfrm>
                  <a:off x="7276345" y="4842514"/>
                  <a:ext cx="483934" cy="236925"/>
                  <a:chOff x="4143375" y="3560117"/>
                  <a:chExt cx="483934" cy="236925"/>
                </a:xfrm>
              </p:grpSpPr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5BB948B9-378B-8B6F-3781-BD7EAAD32B60}"/>
                      </a:ext>
                    </a:extLst>
                  </p:cNvPr>
                  <p:cNvCxnSpPr/>
                  <p:nvPr/>
                </p:nvCxnSpPr>
                <p:spPr>
                  <a:xfrm>
                    <a:off x="4143375" y="3560117"/>
                    <a:ext cx="476250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C8E597C-1B05-2917-33EB-15227BE60C8A}"/>
                      </a:ext>
                    </a:extLst>
                  </p:cNvPr>
                  <p:cNvCxnSpPr/>
                  <p:nvPr/>
                </p:nvCxnSpPr>
                <p:spPr>
                  <a:xfrm>
                    <a:off x="4151059" y="3797042"/>
                    <a:ext cx="476250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BC83403-93F6-91E2-2698-9C4EECE3C960}"/>
                      </a:ext>
                    </a:extLst>
                  </p:cNvPr>
                  <p:cNvSpPr txBox="1"/>
                  <p:nvPr/>
                </p:nvSpPr>
                <p:spPr>
                  <a:xfrm>
                    <a:off x="4116019" y="3832296"/>
                    <a:ext cx="826079" cy="5703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𝒃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06CDBE0-ED4A-0EF2-DE33-5BB09BCF82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6019" y="3832296"/>
                    <a:ext cx="826079" cy="57034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738F2688-EAA0-F9DB-380E-16ABBFB27DCE}"/>
                      </a:ext>
                    </a:extLst>
                  </p:cNvPr>
                  <p:cNvSpPr txBox="1"/>
                  <p:nvPr/>
                </p:nvSpPr>
                <p:spPr>
                  <a:xfrm>
                    <a:off x="1396013" y="3825527"/>
                    <a:ext cx="826079" cy="53995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𝒂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61234BE8-E6CB-9FB4-BC79-6C3A775E94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6013" y="3825527"/>
                    <a:ext cx="826079" cy="53995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4DA247D-FCB2-182D-A9CF-2B06266F30EB}"/>
                      </a:ext>
                    </a:extLst>
                  </p:cNvPr>
                  <p:cNvSpPr txBox="1"/>
                  <p:nvPr/>
                </p:nvSpPr>
                <p:spPr>
                  <a:xfrm>
                    <a:off x="3072472" y="3868280"/>
                    <a:ext cx="826079" cy="53995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𝒄</m:t>
                              </m:r>
                            </m:sub>
                            <m:sup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𝑨𝑩</m:t>
                              </m:r>
                              <m:r>
                                <a:rPr kumimoji="0" lang="sv-SE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sup>
                          </m:sSubSup>
                        </m:oMath>
                      </m:oMathPara>
                    </a14:m>
                    <a:endParaRPr kumimoji="0" lang="sv-SE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C63D653-AD0E-CBE0-9F8C-15B6464BBC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72472" y="3868280"/>
                    <a:ext cx="826079" cy="53995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26BA64E-84B8-5772-9318-686FF5AAF9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4465" y="4218154"/>
                <a:ext cx="432098" cy="71569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364C6B9-191C-1CB1-BB39-CBCEB45866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51045" y="4340765"/>
                <a:ext cx="278191" cy="5588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9E66E974-EA27-579B-6962-90A11C657C4E}"/>
                  </a:ext>
                </a:extLst>
              </p:cNvPr>
              <p:cNvCxnSpPr/>
              <p:nvPr/>
            </p:nvCxnSpPr>
            <p:spPr>
              <a:xfrm flipH="1">
                <a:off x="3827109" y="4340765"/>
                <a:ext cx="521251" cy="81424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BF8102F9-107F-A375-040E-FC0DB02E77C6}"/>
                  </a:ext>
                </a:extLst>
              </p:cNvPr>
              <p:cNvGrpSpPr/>
              <p:nvPr/>
            </p:nvGrpSpPr>
            <p:grpSpPr>
              <a:xfrm>
                <a:off x="5571845" y="3885375"/>
                <a:ext cx="2528360" cy="1211730"/>
                <a:chOff x="2321933" y="1548287"/>
                <a:chExt cx="2528360" cy="121173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3B6A16FA-D65F-FFBF-250A-92E8661F3F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21933" y="1548287"/>
                      <a:ext cx="826079" cy="54091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𝒂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𝑨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04" name="TextBox 667703">
                      <a:extLst>
                        <a:ext uri="{FF2B5EF4-FFF2-40B4-BE49-F238E27FC236}">
                          <a16:creationId xmlns:a16="http://schemas.microsoft.com/office/drawing/2014/main" id="{AE21E5EB-A7A0-B77D-16C7-AC45A8571E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21933" y="1548287"/>
                      <a:ext cx="826079" cy="540917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390C2B51-9CA3-07BC-D50D-55ACB7D70F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6473" y="1945776"/>
                  <a:ext cx="372752" cy="57511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Box 39">
                      <a:extLst>
                        <a:ext uri="{FF2B5EF4-FFF2-40B4-BE49-F238E27FC236}">
                          <a16:creationId xmlns:a16="http://schemas.microsoft.com/office/drawing/2014/main" id="{55A6ED18-10E2-167D-E1CF-0CEE47EDED1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24214" y="1549248"/>
                      <a:ext cx="826079" cy="5399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𝑨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06" name="TextBox 667705">
                      <a:extLst>
                        <a:ext uri="{FF2B5EF4-FFF2-40B4-BE49-F238E27FC236}">
                          <a16:creationId xmlns:a16="http://schemas.microsoft.com/office/drawing/2014/main" id="{C532714D-9A93-0886-9C92-3FF6D6ADA86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24214" y="1549248"/>
                      <a:ext cx="826079" cy="539956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0D8E02B-26AE-6F05-0AA7-7DC6487E89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71276" y="2043610"/>
                  <a:ext cx="311342" cy="71640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D8F98B5-9877-1D84-7F57-1E7B2F4FE0AB}"/>
                  </a:ext>
                </a:extLst>
              </p:cNvPr>
              <p:cNvGrpSpPr/>
              <p:nvPr/>
            </p:nvGrpSpPr>
            <p:grpSpPr>
              <a:xfrm>
                <a:off x="8540883" y="3854721"/>
                <a:ext cx="2582420" cy="1278178"/>
                <a:chOff x="5454979" y="1554391"/>
                <a:chExt cx="2582420" cy="127817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2CBB2F11-09F0-6D89-258A-1796BC3738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54979" y="1591040"/>
                      <a:ext cx="826079" cy="5399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𝒄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𝑩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10" name="TextBox 667709">
                      <a:extLst>
                        <a:ext uri="{FF2B5EF4-FFF2-40B4-BE49-F238E27FC236}">
                          <a16:creationId xmlns:a16="http://schemas.microsoft.com/office/drawing/2014/main" id="{84AA973B-B063-6383-71D2-1DC331A09A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4979" y="1591040"/>
                      <a:ext cx="826079" cy="539956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8E9A5482-2867-1B4B-8DA8-F1C736AE4B3C}"/>
                    </a:ext>
                  </a:extLst>
                </p:cNvPr>
                <p:cNvCxnSpPr/>
                <p:nvPr/>
              </p:nvCxnSpPr>
              <p:spPr>
                <a:xfrm>
                  <a:off x="5735183" y="2089204"/>
                  <a:ext cx="509006" cy="69072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34FF2105-3F1C-FA7A-6FB6-3E872969EC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11320" y="1554391"/>
                      <a:ext cx="826079" cy="57034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𝒃</m:t>
                                </m:r>
                              </m:sub>
                              <m:sup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𝑩</m:t>
                                </m:r>
                                <m:r>
                                  <a:rPr kumimoji="0" lang="sv-SE" sz="2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kumimoji="0" lang="sv-SE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667712" name="TextBox 667711">
                      <a:extLst>
                        <a:ext uri="{FF2B5EF4-FFF2-40B4-BE49-F238E27FC236}">
                          <a16:creationId xmlns:a16="http://schemas.microsoft.com/office/drawing/2014/main" id="{C2A86624-449D-8128-4D03-F3AA6DB6DF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1320" y="1554391"/>
                      <a:ext cx="826079" cy="57034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B9D60A3B-87A5-7FF8-1268-857A50C32611}"/>
                    </a:ext>
                  </a:extLst>
                </p:cNvPr>
                <p:cNvCxnSpPr/>
                <p:nvPr/>
              </p:nvCxnSpPr>
              <p:spPr>
                <a:xfrm flipH="1">
                  <a:off x="6939498" y="2018328"/>
                  <a:ext cx="521251" cy="814241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1AA46CF-E7D1-2167-676F-0AE22D9070DA}"/>
                </a:ext>
              </a:extLst>
            </p:cNvPr>
            <p:cNvGrpSpPr/>
            <p:nvPr/>
          </p:nvGrpSpPr>
          <p:grpSpPr>
            <a:xfrm>
              <a:off x="2766561" y="4675886"/>
              <a:ext cx="7328461" cy="739678"/>
              <a:chOff x="2766561" y="4675886"/>
              <a:chExt cx="7328461" cy="739678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FD41927-75A1-1AE3-AB87-ADC1DD06EF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1045" y="4675886"/>
                <a:ext cx="0" cy="739678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9053263-8DB8-7471-7036-6309EA0C5563}"/>
                  </a:ext>
                </a:extLst>
              </p:cNvPr>
              <p:cNvGrpSpPr/>
              <p:nvPr/>
            </p:nvGrpSpPr>
            <p:grpSpPr>
              <a:xfrm>
                <a:off x="2766561" y="4768909"/>
                <a:ext cx="7328461" cy="571763"/>
                <a:chOff x="2766561" y="4768909"/>
                <a:chExt cx="7328461" cy="571763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2E8FCAFD-0645-446C-EBDC-B21F92798C7F}"/>
                    </a:ext>
                  </a:extLst>
                </p:cNvPr>
                <p:cNvGrpSpPr/>
                <p:nvPr/>
              </p:nvGrpSpPr>
              <p:grpSpPr>
                <a:xfrm>
                  <a:off x="2766561" y="4768909"/>
                  <a:ext cx="7328461" cy="571763"/>
                  <a:chOff x="2766561" y="4768909"/>
                  <a:chExt cx="7328461" cy="571763"/>
                </a:xfrm>
              </p:grpSpPr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EB0E7546-52A7-8E2B-9747-914605D7B12D}"/>
                      </a:ext>
                    </a:extLst>
                  </p:cNvPr>
                  <p:cNvSpPr txBox="1"/>
                  <p:nvPr/>
                </p:nvSpPr>
                <p:spPr>
                  <a:xfrm>
                    <a:off x="2766561" y="4848229"/>
                    <a:ext cx="605474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6082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AB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947A8302-0935-B969-2702-BCE6DA0035E9}"/>
                      </a:ext>
                    </a:extLst>
                  </p:cNvPr>
                  <p:cNvSpPr txBox="1"/>
                  <p:nvPr/>
                </p:nvSpPr>
                <p:spPr>
                  <a:xfrm>
                    <a:off x="6478851" y="4809522"/>
                    <a:ext cx="549310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-A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7507601-7A90-DE5A-4499-909340287C86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962" y="4768909"/>
                    <a:ext cx="490060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sv-SE" sz="2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6082"/>
                        </a:solidFill>
                        <a:effectLst/>
                        <a:uLnTx/>
                        <a:uFillTx/>
                        <a:latin typeface="Aptos Display" panose="02110004020202020204"/>
                        <a:ea typeface="+mn-ea"/>
                        <a:cs typeface="+mn-cs"/>
                      </a:rPr>
                      <a:t>B</a:t>
                    </a:r>
                  </a:p>
                </p:txBody>
              </p:sp>
            </p:grp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68AE0D19-479E-0795-3C6C-B82289876ED4}"/>
                    </a:ext>
                  </a:extLst>
                </p:cNvPr>
                <p:cNvCxnSpPr/>
                <p:nvPr/>
              </p:nvCxnSpPr>
              <p:spPr>
                <a:xfrm>
                  <a:off x="4768570" y="5057172"/>
                  <a:ext cx="476250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AEF77DF-E32D-7638-73FA-40310E0D16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10505" y="4809522"/>
                  <a:ext cx="0" cy="49530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7027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3962"/>
            <a:ext cx="9934318" cy="53649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Frequency Based Decoupling: A Big Family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66B92E-9AA7-4780-92E4-9B118B060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763481"/>
            <a:ext cx="11337324" cy="515493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feld 60"/>
          <p:cNvSpPr txBox="1"/>
          <p:nvPr/>
        </p:nvSpPr>
        <p:spPr>
          <a:xfrm>
            <a:off x="105032" y="742124"/>
            <a:ext cx="70681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Method 1: </a:t>
            </a:r>
            <a:r>
              <a:rPr lang="en-US" sz="2200" b="1" i="1" dirty="0">
                <a:solidFill>
                  <a:schemeClr val="accent1"/>
                </a:solidFill>
                <a:latin typeface="+mj-lt"/>
              </a:rPr>
              <a:t>standard decoupling 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(collocated on the interface) </a:t>
            </a:r>
          </a:p>
        </p:txBody>
      </p:sp>
      <p:grpSp>
        <p:nvGrpSpPr>
          <p:cNvPr id="41" name="Gruppierung 40"/>
          <p:cNvGrpSpPr/>
          <p:nvPr/>
        </p:nvGrpSpPr>
        <p:grpSpPr>
          <a:xfrm>
            <a:off x="3030113" y="1420984"/>
            <a:ext cx="2481589" cy="1221009"/>
            <a:chOff x="1302505" y="3304864"/>
            <a:chExt cx="2481589" cy="1221009"/>
          </a:xfrm>
        </p:grpSpPr>
        <p:pic>
          <p:nvPicPr>
            <p:cNvPr id="42" name="Bild 41"/>
            <p:cNvPicPr>
              <a:picLocks noChangeAspect="1"/>
            </p:cNvPicPr>
            <p:nvPr/>
          </p:nvPicPr>
          <p:blipFill rotWithShape="1">
            <a:blip r:embed="rId3"/>
            <a:srcRect l="29670" t="66020" r="33503" b="8713"/>
            <a:stretch/>
          </p:blipFill>
          <p:spPr>
            <a:xfrm>
              <a:off x="1302505" y="3304864"/>
              <a:ext cx="2481589" cy="1221009"/>
            </a:xfrm>
            <a:prstGeom prst="rect">
              <a:avLst/>
            </a:prstGeom>
          </p:spPr>
        </p:pic>
        <p:sp>
          <p:nvSpPr>
            <p:cNvPr id="44" name="Textfeld 43"/>
            <p:cNvSpPr txBox="1"/>
            <p:nvPr/>
          </p:nvSpPr>
          <p:spPr>
            <a:xfrm>
              <a:off x="1725821" y="3728147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45" name="Textfeld 44"/>
            <p:cNvSpPr txBox="1"/>
            <p:nvPr/>
          </p:nvSpPr>
          <p:spPr>
            <a:xfrm>
              <a:off x="2692287" y="3717746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sp>
        <p:nvSpPr>
          <p:cNvPr id="46" name="Textfeld 45"/>
          <p:cNvSpPr txBox="1"/>
          <p:nvPr/>
        </p:nvSpPr>
        <p:spPr>
          <a:xfrm>
            <a:off x="5287045" y="1694286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grpSp>
        <p:nvGrpSpPr>
          <p:cNvPr id="47" name="Gruppierung 46"/>
          <p:cNvGrpSpPr/>
          <p:nvPr/>
        </p:nvGrpSpPr>
        <p:grpSpPr>
          <a:xfrm>
            <a:off x="5807636" y="1394223"/>
            <a:ext cx="1656405" cy="1204729"/>
            <a:chOff x="1221098" y="5079397"/>
            <a:chExt cx="1656405" cy="1204729"/>
          </a:xfrm>
        </p:grpSpPr>
        <p:pic>
          <p:nvPicPr>
            <p:cNvPr id="48" name="Bild 47"/>
            <p:cNvPicPr>
              <a:picLocks noChangeAspect="1"/>
            </p:cNvPicPr>
            <p:nvPr/>
          </p:nvPicPr>
          <p:blipFill rotWithShape="1">
            <a:blip r:embed="rId3"/>
            <a:srcRect l="73699" t="66281" r="1644" b="8713"/>
            <a:stretch/>
          </p:blipFill>
          <p:spPr>
            <a:xfrm>
              <a:off x="1221098" y="5079397"/>
              <a:ext cx="1656405" cy="1204729"/>
            </a:xfrm>
            <a:prstGeom prst="rect">
              <a:avLst/>
            </a:prstGeom>
          </p:spPr>
        </p:pic>
        <p:sp>
          <p:nvSpPr>
            <p:cNvPr id="49" name="Textfeld 48"/>
            <p:cNvSpPr txBox="1"/>
            <p:nvPr/>
          </p:nvSpPr>
          <p:spPr>
            <a:xfrm>
              <a:off x="1624745" y="5492280"/>
              <a:ext cx="445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- A</a:t>
              </a:r>
            </a:p>
          </p:txBody>
        </p:sp>
      </p:grpSp>
      <p:sp>
        <p:nvSpPr>
          <p:cNvPr id="50" name="Textfeld 49"/>
          <p:cNvSpPr txBox="1"/>
          <p:nvPr/>
        </p:nvSpPr>
        <p:spPr>
          <a:xfrm>
            <a:off x="7439360" y="169428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=</a:t>
            </a:r>
          </a:p>
        </p:txBody>
      </p:sp>
      <p:grpSp>
        <p:nvGrpSpPr>
          <p:cNvPr id="51" name="Gruppierung 50"/>
          <p:cNvGrpSpPr/>
          <p:nvPr/>
        </p:nvGrpSpPr>
        <p:grpSpPr>
          <a:xfrm>
            <a:off x="8324349" y="1426331"/>
            <a:ext cx="1403753" cy="1221009"/>
            <a:chOff x="2380341" y="3304864"/>
            <a:chExt cx="1403753" cy="1221009"/>
          </a:xfrm>
        </p:grpSpPr>
        <p:pic>
          <p:nvPicPr>
            <p:cNvPr id="52" name="Bild 51"/>
            <p:cNvPicPr>
              <a:picLocks noChangeAspect="1"/>
            </p:cNvPicPr>
            <p:nvPr/>
          </p:nvPicPr>
          <p:blipFill rotWithShape="1">
            <a:blip r:embed="rId3"/>
            <a:srcRect l="45665" t="66020" r="33503" b="8713"/>
            <a:stretch/>
          </p:blipFill>
          <p:spPr>
            <a:xfrm>
              <a:off x="2380341" y="3304864"/>
              <a:ext cx="1403753" cy="1221009"/>
            </a:xfrm>
            <a:prstGeom prst="rect">
              <a:avLst/>
            </a:prstGeom>
          </p:spPr>
        </p:pic>
        <p:sp>
          <p:nvSpPr>
            <p:cNvPr id="53" name="Textfeld 52"/>
            <p:cNvSpPr txBox="1"/>
            <p:nvPr/>
          </p:nvSpPr>
          <p:spPr>
            <a:xfrm>
              <a:off x="2692287" y="3717746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</p:grpSp>
      <p:sp>
        <p:nvSpPr>
          <p:cNvPr id="54" name="Textfeld 53"/>
          <p:cNvSpPr txBox="1"/>
          <p:nvPr/>
        </p:nvSpPr>
        <p:spPr>
          <a:xfrm>
            <a:off x="3605294" y="153651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66CC"/>
                </a:solidFill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64" name="Textfeld 63"/>
          <p:cNvSpPr txBox="1"/>
          <p:nvPr/>
        </p:nvSpPr>
        <p:spPr>
          <a:xfrm>
            <a:off x="4720219" y="16354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66CC"/>
                </a:solidFill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65" name="Textfeld 64"/>
          <p:cNvSpPr txBox="1"/>
          <p:nvPr/>
        </p:nvSpPr>
        <p:spPr>
          <a:xfrm>
            <a:off x="3896730" y="168089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66CC"/>
                </a:solidFill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66" name="Textfeld 65"/>
          <p:cNvSpPr txBox="1"/>
          <p:nvPr/>
        </p:nvSpPr>
        <p:spPr>
          <a:xfrm>
            <a:off x="6431375" y="14482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66CC"/>
                </a:solidFill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67" name="Textfeld 66"/>
          <p:cNvSpPr txBox="1"/>
          <p:nvPr/>
        </p:nvSpPr>
        <p:spPr>
          <a:xfrm>
            <a:off x="6722811" y="1592667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66CC"/>
                </a:solidFill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68" name="Textfeld 67"/>
          <p:cNvSpPr txBox="1"/>
          <p:nvPr/>
        </p:nvSpPr>
        <p:spPr>
          <a:xfrm>
            <a:off x="8909878" y="165415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66CC"/>
                </a:solidFill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70" name="Textfeld 69"/>
          <p:cNvSpPr txBox="1"/>
          <p:nvPr/>
        </p:nvSpPr>
        <p:spPr>
          <a:xfrm>
            <a:off x="8086389" y="1699611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solidFill>
                  <a:srgbClr val="0066CC"/>
                </a:solidFill>
                <a:latin typeface="Times New Roman"/>
                <a:cs typeface="Times New Roman"/>
              </a:rPr>
              <a:t>c</a:t>
            </a:r>
          </a:p>
        </p:txBody>
      </p:sp>
      <p:grpSp>
        <p:nvGrpSpPr>
          <p:cNvPr id="4" name="Gruppierung 3"/>
          <p:cNvGrpSpPr/>
          <p:nvPr/>
        </p:nvGrpSpPr>
        <p:grpSpPr>
          <a:xfrm>
            <a:off x="4074502" y="1693508"/>
            <a:ext cx="125647" cy="700544"/>
            <a:chOff x="2317816" y="3532785"/>
            <a:chExt cx="158268" cy="771056"/>
          </a:xfrm>
        </p:grpSpPr>
        <p:sp>
          <p:nvSpPr>
            <p:cNvPr id="39" name="Oval 38"/>
            <p:cNvSpPr/>
            <p:nvPr/>
          </p:nvSpPr>
          <p:spPr bwMode="auto">
            <a:xfrm>
              <a:off x="2328230" y="3532785"/>
              <a:ext cx="146532" cy="146532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2317816" y="4157309"/>
              <a:ext cx="146532" cy="146532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2323684" y="3756185"/>
              <a:ext cx="146532" cy="146532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55" name="Oval 54"/>
            <p:cNvSpPr/>
            <p:nvPr/>
          </p:nvSpPr>
          <p:spPr bwMode="auto">
            <a:xfrm>
              <a:off x="2329552" y="3973706"/>
              <a:ext cx="146532" cy="146532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56" name="Gruppierung 55"/>
          <p:cNvGrpSpPr/>
          <p:nvPr/>
        </p:nvGrpSpPr>
        <p:grpSpPr>
          <a:xfrm>
            <a:off x="6960266" y="1638822"/>
            <a:ext cx="125647" cy="700544"/>
            <a:chOff x="2317816" y="3532785"/>
            <a:chExt cx="158268" cy="771056"/>
          </a:xfrm>
        </p:grpSpPr>
        <p:sp>
          <p:nvSpPr>
            <p:cNvPr id="57" name="Oval 56"/>
            <p:cNvSpPr/>
            <p:nvPr/>
          </p:nvSpPr>
          <p:spPr bwMode="auto">
            <a:xfrm>
              <a:off x="2328230" y="3532785"/>
              <a:ext cx="146532" cy="146532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58" name="Oval 57"/>
            <p:cNvSpPr/>
            <p:nvPr/>
          </p:nvSpPr>
          <p:spPr bwMode="auto">
            <a:xfrm>
              <a:off x="2317816" y="4157309"/>
              <a:ext cx="146532" cy="146532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59" name="Oval 58"/>
            <p:cNvSpPr/>
            <p:nvPr/>
          </p:nvSpPr>
          <p:spPr bwMode="auto">
            <a:xfrm>
              <a:off x="2323684" y="3756185"/>
              <a:ext cx="146532" cy="146532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60" name="Oval 59"/>
            <p:cNvSpPr/>
            <p:nvPr/>
          </p:nvSpPr>
          <p:spPr bwMode="auto">
            <a:xfrm>
              <a:off x="2329552" y="3973706"/>
              <a:ext cx="146532" cy="146532"/>
            </a:xfrm>
            <a:prstGeom prst="ellipse">
              <a:avLst/>
            </a:prstGeom>
            <a:solidFill>
              <a:srgbClr val="FF0000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7" name="Gruppierung 6"/>
          <p:cNvGrpSpPr/>
          <p:nvPr/>
        </p:nvGrpSpPr>
        <p:grpSpPr>
          <a:xfrm>
            <a:off x="7082032" y="1693508"/>
            <a:ext cx="293237" cy="583068"/>
            <a:chOff x="2453933" y="5372440"/>
            <a:chExt cx="482573" cy="636283"/>
          </a:xfrm>
        </p:grpSpPr>
        <p:cxnSp>
          <p:nvCxnSpPr>
            <p:cNvPr id="62" name="Gerade Verbindung mit Pfeil 61"/>
            <p:cNvCxnSpPr/>
            <p:nvPr/>
          </p:nvCxnSpPr>
          <p:spPr bwMode="auto">
            <a:xfrm>
              <a:off x="2458480" y="5372440"/>
              <a:ext cx="47215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  <a:round/>
              <a:headEnd type="none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mit Pfeil 62"/>
            <p:cNvCxnSpPr/>
            <p:nvPr/>
          </p:nvCxnSpPr>
          <p:spPr bwMode="auto">
            <a:xfrm>
              <a:off x="2464347" y="5606241"/>
              <a:ext cx="47215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  <a:round/>
              <a:headEnd type="none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mit Pfeil 68"/>
            <p:cNvCxnSpPr/>
            <p:nvPr/>
          </p:nvCxnSpPr>
          <p:spPr bwMode="auto">
            <a:xfrm>
              <a:off x="2453933" y="5823762"/>
              <a:ext cx="47215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  <a:round/>
              <a:headEnd type="none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mit Pfeil 77"/>
            <p:cNvCxnSpPr/>
            <p:nvPr/>
          </p:nvCxnSpPr>
          <p:spPr bwMode="auto">
            <a:xfrm>
              <a:off x="2459800" y="6008723"/>
              <a:ext cx="47215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  <a:round/>
              <a:headEnd type="none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8" name="Textfeld 7"/>
          <p:cNvSpPr txBox="1"/>
          <p:nvPr/>
        </p:nvSpPr>
        <p:spPr>
          <a:xfrm>
            <a:off x="4795887" y="4870982"/>
            <a:ext cx="66464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corresponds to the method derived in the previous slides:</a:t>
            </a:r>
          </a:p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simple but very sensitive to errors !</a:t>
            </a:r>
          </a:p>
        </p:txBody>
      </p:sp>
      <p:pic>
        <p:nvPicPr>
          <p:cNvPr id="10" name="Bild 9"/>
          <p:cNvPicPr>
            <a:picLocks noChangeAspect="1"/>
          </p:cNvPicPr>
          <p:nvPr/>
        </p:nvPicPr>
        <p:blipFill rotWithShape="1">
          <a:blip r:embed="rId4"/>
          <a:srcRect l="66746" t="51982"/>
          <a:stretch/>
        </p:blipFill>
        <p:spPr>
          <a:xfrm>
            <a:off x="8826054" y="5209864"/>
            <a:ext cx="400341" cy="416230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6349005" y="3250078"/>
            <a:ext cx="31827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>
                <a:solidFill>
                  <a:schemeClr val="accent1"/>
                </a:solidFill>
                <a:latin typeface="+mj-lt"/>
              </a:rPr>
              <a:t>note: forces drawn only in </a:t>
            </a:r>
          </a:p>
          <a:p>
            <a:r>
              <a:rPr lang="en-US" sz="2200" i="1" dirty="0">
                <a:solidFill>
                  <a:schemeClr val="accent1"/>
                </a:solidFill>
                <a:latin typeface="+mj-lt"/>
              </a:rPr>
              <a:t>standalone A for simplicity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F847A6-D460-932D-2E7B-FDE25C506D6F}"/>
                  </a:ext>
                </a:extLst>
              </p:cNvPr>
              <p:cNvSpPr txBox="1"/>
              <p:nvPr/>
            </p:nvSpPr>
            <p:spPr>
              <a:xfrm>
                <a:off x="572233" y="3066650"/>
                <a:ext cx="5309571" cy="1208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sv-SE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F847A6-D460-932D-2E7B-FDE25C506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33" y="3066650"/>
                <a:ext cx="5309571" cy="12084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B8DE2E-DF7D-B470-5196-1551905DB68F}"/>
                  </a:ext>
                </a:extLst>
              </p:cNvPr>
              <p:cNvSpPr txBox="1"/>
              <p:nvPr/>
            </p:nvSpPr>
            <p:spPr>
              <a:xfrm>
                <a:off x="575545" y="4694368"/>
                <a:ext cx="3694576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B8DE2E-DF7D-B470-5196-1551905DB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45" y="4694368"/>
                <a:ext cx="3694576" cy="4385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A805BF-6C54-E09C-0DD6-8148604DD13B}"/>
                  </a:ext>
                </a:extLst>
              </p:cNvPr>
              <p:cNvSpPr txBox="1"/>
              <p:nvPr/>
            </p:nvSpPr>
            <p:spPr>
              <a:xfrm>
                <a:off x="541169" y="5321487"/>
                <a:ext cx="3064125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A805BF-6C54-E09C-0DD6-8148604DD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69" y="5321487"/>
                <a:ext cx="3064125" cy="4385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172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06162-60F9-B883-B130-FE3B7148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13C5294F-8749-1DF4-4744-1D6C476F5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3962"/>
            <a:ext cx="9934318" cy="53649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Frequency Based Decoupling: A Big Family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4D28FD-EF19-8A63-48E8-45F5C3C16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763481"/>
            <a:ext cx="11337324" cy="54508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C37BE967-24E2-209B-EF79-B0DDF4BE0E30}"/>
              </a:ext>
            </a:extLst>
          </p:cNvPr>
          <p:cNvSpPr txBox="1"/>
          <p:nvPr/>
        </p:nvSpPr>
        <p:spPr>
          <a:xfrm>
            <a:off x="71259" y="731467"/>
            <a:ext cx="90783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Method 2: “</a:t>
            </a:r>
            <a:r>
              <a:rPr lang="en-US" sz="2200" b="1" i="1" dirty="0">
                <a:solidFill>
                  <a:schemeClr val="accent1"/>
                </a:solidFill>
                <a:latin typeface="+mj-lt"/>
              </a:rPr>
              <a:t>extended interface” decoupling 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(collocated on interface and in A)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B6D6C9-22E2-5921-3868-2A1C1D465F75}"/>
                  </a:ext>
                </a:extLst>
              </p:cNvPr>
              <p:cNvSpPr txBox="1"/>
              <p:nvPr/>
            </p:nvSpPr>
            <p:spPr>
              <a:xfrm>
                <a:off x="755539" y="2854649"/>
                <a:ext cx="5309571" cy="1208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sv-SE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B6D6C9-22E2-5921-3868-2A1C1D465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39" y="2854649"/>
                <a:ext cx="5309571" cy="12084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7A812-3CE6-2110-36C1-71DB1639CDDD}"/>
                  </a:ext>
                </a:extLst>
              </p:cNvPr>
              <p:cNvSpPr txBox="1"/>
              <p:nvPr/>
            </p:nvSpPr>
            <p:spPr>
              <a:xfrm>
                <a:off x="575545" y="4406627"/>
                <a:ext cx="4220342" cy="723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7A812-3CE6-2110-36C1-71DB1639C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45" y="4406627"/>
                <a:ext cx="4220342" cy="7230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2F8F56-E1B7-E7FC-9FFA-82A4992AF741}"/>
                  </a:ext>
                </a:extLst>
              </p:cNvPr>
              <p:cNvSpPr txBox="1"/>
              <p:nvPr/>
            </p:nvSpPr>
            <p:spPr>
              <a:xfrm>
                <a:off x="541169" y="5321487"/>
                <a:ext cx="3622458" cy="723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2F8F56-E1B7-E7FC-9FFA-82A4992AF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69" y="5321487"/>
                <a:ext cx="3622458" cy="7230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04F5496B-2688-0C8F-5E74-B2E701A35966}"/>
              </a:ext>
            </a:extLst>
          </p:cNvPr>
          <p:cNvGrpSpPr/>
          <p:nvPr/>
        </p:nvGrpSpPr>
        <p:grpSpPr>
          <a:xfrm>
            <a:off x="2921526" y="1315756"/>
            <a:ext cx="6697989" cy="1253117"/>
            <a:chOff x="3101134" y="1481655"/>
            <a:chExt cx="6697989" cy="125311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BA0F79E-C6B2-96BF-8578-75D89B567CB0}"/>
                </a:ext>
              </a:extLst>
            </p:cNvPr>
            <p:cNvGrpSpPr/>
            <p:nvPr/>
          </p:nvGrpSpPr>
          <p:grpSpPr>
            <a:xfrm>
              <a:off x="3101134" y="1481655"/>
              <a:ext cx="6697989" cy="1253117"/>
              <a:chOff x="3101134" y="1481655"/>
              <a:chExt cx="6697989" cy="125311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E44B90F-8CF6-C2A0-5A27-65809E7A1516}"/>
                  </a:ext>
                </a:extLst>
              </p:cNvPr>
              <p:cNvGrpSpPr/>
              <p:nvPr/>
            </p:nvGrpSpPr>
            <p:grpSpPr>
              <a:xfrm>
                <a:off x="3101134" y="1481655"/>
                <a:ext cx="6697989" cy="1253117"/>
                <a:chOff x="3101134" y="1481655"/>
                <a:chExt cx="6697989" cy="1253117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9BB6D401-099A-B423-90E7-2D58500F6F6B}"/>
                    </a:ext>
                  </a:extLst>
                </p:cNvPr>
                <p:cNvGrpSpPr/>
                <p:nvPr/>
              </p:nvGrpSpPr>
              <p:grpSpPr>
                <a:xfrm>
                  <a:off x="3101134" y="1481655"/>
                  <a:ext cx="6697989" cy="1253117"/>
                  <a:chOff x="3101134" y="1481655"/>
                  <a:chExt cx="6697989" cy="1253117"/>
                </a:xfrm>
              </p:grpSpPr>
              <p:grpSp>
                <p:nvGrpSpPr>
                  <p:cNvPr id="34" name="Gruppierung 40">
                    <a:extLst>
                      <a:ext uri="{FF2B5EF4-FFF2-40B4-BE49-F238E27FC236}">
                        <a16:creationId xmlns:a16="http://schemas.microsoft.com/office/drawing/2014/main" id="{D2C61749-D31D-3A8E-7598-53F81B004E7D}"/>
                      </a:ext>
                    </a:extLst>
                  </p:cNvPr>
                  <p:cNvGrpSpPr/>
                  <p:nvPr/>
                </p:nvGrpSpPr>
                <p:grpSpPr>
                  <a:xfrm>
                    <a:off x="3101134" y="1508416"/>
                    <a:ext cx="2481589" cy="1221009"/>
                    <a:chOff x="1302505" y="3304864"/>
                    <a:chExt cx="2481589" cy="1221009"/>
                  </a:xfrm>
                </p:grpSpPr>
                <p:pic>
                  <p:nvPicPr>
                    <p:cNvPr id="93" name="Bild 41">
                      <a:extLst>
                        <a:ext uri="{FF2B5EF4-FFF2-40B4-BE49-F238E27FC236}">
                          <a16:creationId xmlns:a16="http://schemas.microsoft.com/office/drawing/2014/main" id="{BAD9963B-FBF7-BCA8-50A0-BE5F94BF31A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l="29670" t="66020" r="33503" b="8713"/>
                    <a:stretch/>
                  </p:blipFill>
                  <p:spPr>
                    <a:xfrm>
                      <a:off x="1302505" y="3304864"/>
                      <a:ext cx="2481589" cy="122100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4" name="Textfeld 43">
                      <a:extLst>
                        <a:ext uri="{FF2B5EF4-FFF2-40B4-BE49-F238E27FC236}">
                          <a16:creationId xmlns:a16="http://schemas.microsoft.com/office/drawing/2014/main" id="{0B4E369B-EEE7-9149-CC8E-3DAD4B4F94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25821" y="3728147"/>
                      <a:ext cx="32092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/>
                        <a:t>A</a:t>
                      </a:r>
                    </a:p>
                  </p:txBody>
                </p:sp>
                <p:sp>
                  <p:nvSpPr>
                    <p:cNvPr id="95" name="Textfeld 44">
                      <a:extLst>
                        <a:ext uri="{FF2B5EF4-FFF2-40B4-BE49-F238E27FC236}">
                          <a16:creationId xmlns:a16="http://schemas.microsoft.com/office/drawing/2014/main" id="{04CB21EB-8127-A644-497B-8B0BEA5AA6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92287" y="3717746"/>
                      <a:ext cx="32412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/>
                        <a:t>B</a:t>
                      </a:r>
                    </a:p>
                  </p:txBody>
                </p:sp>
              </p:grpSp>
              <p:sp>
                <p:nvSpPr>
                  <p:cNvPr id="35" name="Textfeld 45">
                    <a:extLst>
                      <a:ext uri="{FF2B5EF4-FFF2-40B4-BE49-F238E27FC236}">
                        <a16:creationId xmlns:a16="http://schemas.microsoft.com/office/drawing/2014/main" id="{FD565ADF-E5F5-0FA0-E16C-78C6F1C7658B}"/>
                      </a:ext>
                    </a:extLst>
                  </p:cNvPr>
                  <p:cNvSpPr txBox="1"/>
                  <p:nvPr/>
                </p:nvSpPr>
                <p:spPr>
                  <a:xfrm>
                    <a:off x="5358066" y="1781718"/>
                    <a:ext cx="43152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600"/>
                      <a:t>+</a:t>
                    </a:r>
                  </a:p>
                </p:txBody>
              </p:sp>
              <p:grpSp>
                <p:nvGrpSpPr>
                  <p:cNvPr id="36" name="Gruppierung 46">
                    <a:extLst>
                      <a:ext uri="{FF2B5EF4-FFF2-40B4-BE49-F238E27FC236}">
                        <a16:creationId xmlns:a16="http://schemas.microsoft.com/office/drawing/2014/main" id="{6C4B9561-9FC6-F00E-5EE5-A3758BBDDA21}"/>
                      </a:ext>
                    </a:extLst>
                  </p:cNvPr>
                  <p:cNvGrpSpPr/>
                  <p:nvPr/>
                </p:nvGrpSpPr>
                <p:grpSpPr>
                  <a:xfrm>
                    <a:off x="5878657" y="1481655"/>
                    <a:ext cx="1656405" cy="1204729"/>
                    <a:chOff x="1221098" y="5079397"/>
                    <a:chExt cx="1656405" cy="1204729"/>
                  </a:xfrm>
                </p:grpSpPr>
                <p:pic>
                  <p:nvPicPr>
                    <p:cNvPr id="91" name="Bild 47">
                      <a:extLst>
                        <a:ext uri="{FF2B5EF4-FFF2-40B4-BE49-F238E27FC236}">
                          <a16:creationId xmlns:a16="http://schemas.microsoft.com/office/drawing/2014/main" id="{FD33B61D-81D8-AEBA-F350-A34CC7FD693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l="73699" t="66281" r="1644" b="8713"/>
                    <a:stretch/>
                  </p:blipFill>
                  <p:spPr>
                    <a:xfrm>
                      <a:off x="1221098" y="5079397"/>
                      <a:ext cx="1656405" cy="120472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2" name="Textfeld 48">
                      <a:extLst>
                        <a:ext uri="{FF2B5EF4-FFF2-40B4-BE49-F238E27FC236}">
                          <a16:creationId xmlns:a16="http://schemas.microsoft.com/office/drawing/2014/main" id="{5DC30B41-9D39-631C-8BAD-47AAD03B81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4745" y="5492280"/>
                      <a:ext cx="44595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- A</a:t>
                      </a:r>
                    </a:p>
                  </p:txBody>
                </p:sp>
              </p:grpSp>
              <p:sp>
                <p:nvSpPr>
                  <p:cNvPr id="37" name="Textfeld 49">
                    <a:extLst>
                      <a:ext uri="{FF2B5EF4-FFF2-40B4-BE49-F238E27FC236}">
                        <a16:creationId xmlns:a16="http://schemas.microsoft.com/office/drawing/2014/main" id="{8AB89543-B15A-66AF-C2DF-69ECA4C70BE0}"/>
                      </a:ext>
                    </a:extLst>
                  </p:cNvPr>
                  <p:cNvSpPr txBox="1"/>
                  <p:nvPr/>
                </p:nvSpPr>
                <p:spPr>
                  <a:xfrm>
                    <a:off x="7510381" y="1781716"/>
                    <a:ext cx="43152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600"/>
                      <a:t>=</a:t>
                    </a:r>
                  </a:p>
                </p:txBody>
              </p:sp>
              <p:grpSp>
                <p:nvGrpSpPr>
                  <p:cNvPr id="38" name="Gruppierung 50">
                    <a:extLst>
                      <a:ext uri="{FF2B5EF4-FFF2-40B4-BE49-F238E27FC236}">
                        <a16:creationId xmlns:a16="http://schemas.microsoft.com/office/drawing/2014/main" id="{C57ACE4A-D158-1568-90A3-2FBE64FBA136}"/>
                      </a:ext>
                    </a:extLst>
                  </p:cNvPr>
                  <p:cNvGrpSpPr/>
                  <p:nvPr/>
                </p:nvGrpSpPr>
                <p:grpSpPr>
                  <a:xfrm>
                    <a:off x="8395370" y="1513763"/>
                    <a:ext cx="1403753" cy="1221009"/>
                    <a:chOff x="2380341" y="3304864"/>
                    <a:chExt cx="1403753" cy="1221009"/>
                  </a:xfrm>
                </p:grpSpPr>
                <p:pic>
                  <p:nvPicPr>
                    <p:cNvPr id="89" name="Bild 51">
                      <a:extLst>
                        <a:ext uri="{FF2B5EF4-FFF2-40B4-BE49-F238E27FC236}">
                          <a16:creationId xmlns:a16="http://schemas.microsoft.com/office/drawing/2014/main" id="{975B72AE-CFD8-8CA6-6A27-9DE62E8DCA1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l="45665" t="66020" r="33503" b="8713"/>
                    <a:stretch/>
                  </p:blipFill>
                  <p:spPr>
                    <a:xfrm>
                      <a:off x="2380341" y="3304864"/>
                      <a:ext cx="1403753" cy="122100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0" name="Textfeld 52">
                      <a:extLst>
                        <a:ext uri="{FF2B5EF4-FFF2-40B4-BE49-F238E27FC236}">
                          <a16:creationId xmlns:a16="http://schemas.microsoft.com/office/drawing/2014/main" id="{59C4F749-E485-1547-BC8B-1510F6F384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92287" y="3717746"/>
                      <a:ext cx="32412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/>
                        <a:t>B</a:t>
                      </a:r>
                    </a:p>
                  </p:txBody>
                </p:sp>
              </p:grpSp>
              <p:sp>
                <p:nvSpPr>
                  <p:cNvPr id="71" name="Textfeld 63">
                    <a:extLst>
                      <a:ext uri="{FF2B5EF4-FFF2-40B4-BE49-F238E27FC236}">
                        <a16:creationId xmlns:a16="http://schemas.microsoft.com/office/drawing/2014/main" id="{AF3F8EA1-FFFC-47C5-D963-05AE16DCB2B6}"/>
                      </a:ext>
                    </a:extLst>
                  </p:cNvPr>
                  <p:cNvSpPr txBox="1"/>
                  <p:nvPr/>
                </p:nvSpPr>
                <p:spPr>
                  <a:xfrm>
                    <a:off x="4791240" y="1722873"/>
                    <a:ext cx="31290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i="1">
                        <a:solidFill>
                          <a:srgbClr val="0066CC"/>
                        </a:solidFill>
                        <a:latin typeface="Times New Roman"/>
                        <a:cs typeface="Times New Roman"/>
                      </a:rPr>
                      <a:t>b</a:t>
                    </a:r>
                  </a:p>
                </p:txBody>
              </p:sp>
              <p:sp>
                <p:nvSpPr>
                  <p:cNvPr id="72" name="Textfeld 67">
                    <a:extLst>
                      <a:ext uri="{FF2B5EF4-FFF2-40B4-BE49-F238E27FC236}">
                        <a16:creationId xmlns:a16="http://schemas.microsoft.com/office/drawing/2014/main" id="{513020F0-E037-E1FB-CEBD-65853FCC50D1}"/>
                      </a:ext>
                    </a:extLst>
                  </p:cNvPr>
                  <p:cNvSpPr txBox="1"/>
                  <p:nvPr/>
                </p:nvSpPr>
                <p:spPr>
                  <a:xfrm>
                    <a:off x="8980899" y="1741589"/>
                    <a:ext cx="31290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i="1">
                        <a:solidFill>
                          <a:srgbClr val="0066CC"/>
                        </a:solidFill>
                        <a:latin typeface="Times New Roman"/>
                        <a:cs typeface="Times New Roman"/>
                      </a:rPr>
                      <a:t>b</a:t>
                    </a:r>
                  </a:p>
                </p:txBody>
              </p:sp>
              <p:sp>
                <p:nvSpPr>
                  <p:cNvPr id="73" name="Textfeld 69">
                    <a:extLst>
                      <a:ext uri="{FF2B5EF4-FFF2-40B4-BE49-F238E27FC236}">
                        <a16:creationId xmlns:a16="http://schemas.microsoft.com/office/drawing/2014/main" id="{1215CD60-F191-FD6B-F468-742CB479722C}"/>
                      </a:ext>
                    </a:extLst>
                  </p:cNvPr>
                  <p:cNvSpPr txBox="1"/>
                  <p:nvPr/>
                </p:nvSpPr>
                <p:spPr>
                  <a:xfrm>
                    <a:off x="8157410" y="1787043"/>
                    <a:ext cx="29848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i="1">
                        <a:solidFill>
                          <a:srgbClr val="0066CC"/>
                        </a:solidFill>
                        <a:latin typeface="Times New Roman"/>
                        <a:cs typeface="Times New Roman"/>
                      </a:rPr>
                      <a:t>c</a:t>
                    </a:r>
                  </a:p>
                </p:txBody>
              </p:sp>
              <p:grpSp>
                <p:nvGrpSpPr>
                  <p:cNvPr id="74" name="Gruppierung 3">
                    <a:extLst>
                      <a:ext uri="{FF2B5EF4-FFF2-40B4-BE49-F238E27FC236}">
                        <a16:creationId xmlns:a16="http://schemas.microsoft.com/office/drawing/2014/main" id="{16D2A91E-D34A-9C4D-0436-AB0CDBF48E51}"/>
                      </a:ext>
                    </a:extLst>
                  </p:cNvPr>
                  <p:cNvGrpSpPr/>
                  <p:nvPr/>
                </p:nvGrpSpPr>
                <p:grpSpPr>
                  <a:xfrm>
                    <a:off x="4145523" y="1780940"/>
                    <a:ext cx="125647" cy="700544"/>
                    <a:chOff x="2317816" y="3532785"/>
                    <a:chExt cx="158268" cy="771056"/>
                  </a:xfrm>
                </p:grpSpPr>
                <p:sp>
                  <p:nvSpPr>
                    <p:cNvPr id="85" name="Oval 84">
                      <a:extLst>
                        <a:ext uri="{FF2B5EF4-FFF2-40B4-BE49-F238E27FC236}">
                          <a16:creationId xmlns:a16="http://schemas.microsoft.com/office/drawing/2014/main" id="{45C88AC2-CF3C-2B4B-566B-99E9FAB04A7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328230" y="3532785"/>
                      <a:ext cx="146532" cy="14653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86" name="Oval 85">
                      <a:extLst>
                        <a:ext uri="{FF2B5EF4-FFF2-40B4-BE49-F238E27FC236}">
                          <a16:creationId xmlns:a16="http://schemas.microsoft.com/office/drawing/2014/main" id="{37ADF358-869C-58C3-840F-AD2A43E166C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317816" y="4157309"/>
                      <a:ext cx="146532" cy="14653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87" name="Oval 86">
                      <a:extLst>
                        <a:ext uri="{FF2B5EF4-FFF2-40B4-BE49-F238E27FC236}">
                          <a16:creationId xmlns:a16="http://schemas.microsoft.com/office/drawing/2014/main" id="{FE28375F-C3C7-CD3A-E783-68685009CDD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323684" y="3756185"/>
                      <a:ext cx="146532" cy="14653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88" name="Oval 87">
                      <a:extLst>
                        <a:ext uri="{FF2B5EF4-FFF2-40B4-BE49-F238E27FC236}">
                          <a16:creationId xmlns:a16="http://schemas.microsoft.com/office/drawing/2014/main" id="{61ED003C-B0D2-8C9B-EB00-9AD35D41AFA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329552" y="3973706"/>
                      <a:ext cx="146532" cy="14653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  <p:sp>
                <p:nvSpPr>
                  <p:cNvPr id="75" name="Oval 74">
                    <a:extLst>
                      <a:ext uri="{FF2B5EF4-FFF2-40B4-BE49-F238E27FC236}">
                        <a16:creationId xmlns:a16="http://schemas.microsoft.com/office/drawing/2014/main" id="{CA79CD73-CEDC-387A-2DEC-3BFAE28341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68006" y="1961488"/>
                    <a:ext cx="116330" cy="133132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07CDFDD6-C021-0997-6531-F222229A72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94421" y="2349425"/>
                    <a:ext cx="116330" cy="133132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7" name="Oval 76">
                    <a:extLst>
                      <a:ext uri="{FF2B5EF4-FFF2-40B4-BE49-F238E27FC236}">
                        <a16:creationId xmlns:a16="http://schemas.microsoft.com/office/drawing/2014/main" id="{4B5C56F3-9DB2-C600-B293-B23C9ECB9A5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88982" y="2192069"/>
                    <a:ext cx="116330" cy="133132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79" name="Oval 78">
                    <a:extLst>
                      <a:ext uri="{FF2B5EF4-FFF2-40B4-BE49-F238E27FC236}">
                        <a16:creationId xmlns:a16="http://schemas.microsoft.com/office/drawing/2014/main" id="{EF1702BA-BAC6-0591-D978-44B14AF1B8C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89933" y="1671801"/>
                    <a:ext cx="116330" cy="133132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905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latin typeface="Arial" charset="0"/>
                      <a:ea typeface="ＭＳ Ｐゴシック" charset="0"/>
                    </a:endParaRPr>
                  </a:p>
                </p:txBody>
              </p:sp>
              <p:grpSp>
                <p:nvGrpSpPr>
                  <p:cNvPr id="80" name="Gruppierung 10">
                    <a:extLst>
                      <a:ext uri="{FF2B5EF4-FFF2-40B4-BE49-F238E27FC236}">
                        <a16:creationId xmlns:a16="http://schemas.microsoft.com/office/drawing/2014/main" id="{0B3C7C18-0F86-DFE0-6914-1780F42332B4}"/>
                      </a:ext>
                    </a:extLst>
                  </p:cNvPr>
                  <p:cNvGrpSpPr/>
                  <p:nvPr/>
                </p:nvGrpSpPr>
                <p:grpSpPr>
                  <a:xfrm>
                    <a:off x="6212356" y="1672343"/>
                    <a:ext cx="637306" cy="810756"/>
                    <a:chOff x="1996406" y="2100321"/>
                    <a:chExt cx="637306" cy="810756"/>
                  </a:xfrm>
                </p:grpSpPr>
                <p:sp>
                  <p:nvSpPr>
                    <p:cNvPr id="81" name="Oval 80">
                      <a:extLst>
                        <a:ext uri="{FF2B5EF4-FFF2-40B4-BE49-F238E27FC236}">
                          <a16:creationId xmlns:a16="http://schemas.microsoft.com/office/drawing/2014/main" id="{784F3EB6-4568-18CB-1A23-5E180D85F52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996406" y="2390008"/>
                      <a:ext cx="116330" cy="13313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82" name="Oval 81">
                      <a:extLst>
                        <a:ext uri="{FF2B5EF4-FFF2-40B4-BE49-F238E27FC236}">
                          <a16:creationId xmlns:a16="http://schemas.microsoft.com/office/drawing/2014/main" id="{AFDF0B48-D01F-F650-87BF-28413B48F85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222821" y="2777945"/>
                      <a:ext cx="116330" cy="13313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83" name="Oval 82">
                      <a:extLst>
                        <a:ext uri="{FF2B5EF4-FFF2-40B4-BE49-F238E27FC236}">
                          <a16:creationId xmlns:a16="http://schemas.microsoft.com/office/drawing/2014/main" id="{FC5C1E31-34B8-D2F5-14E3-7FED18B7D66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517382" y="2620589"/>
                      <a:ext cx="116330" cy="13313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>
                        <a:latin typeface="Arial" charset="0"/>
                        <a:ea typeface="ＭＳ Ｐゴシック" charset="0"/>
                      </a:endParaRPr>
                    </a:p>
                  </p:txBody>
                </p:sp>
                <p:sp>
                  <p:nvSpPr>
                    <p:cNvPr id="84" name="Oval 83">
                      <a:extLst>
                        <a:ext uri="{FF2B5EF4-FFF2-40B4-BE49-F238E27FC236}">
                          <a16:creationId xmlns:a16="http://schemas.microsoft.com/office/drawing/2014/main" id="{C228E8C5-520F-AF50-CBD5-F164B78CECF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2218333" y="2100321"/>
                      <a:ext cx="116330" cy="133132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>
                        <a:latin typeface="Arial" charset="0"/>
                        <a:ea typeface="ＭＳ Ｐゴシック" charset="0"/>
                      </a:endParaRPr>
                    </a:p>
                  </p:txBody>
                </p:sp>
              </p:grp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82DD9DCB-676A-552B-1667-BC78E4560060}"/>
                    </a:ext>
                  </a:extLst>
                </p:cNvPr>
                <p:cNvGrpSpPr/>
                <p:nvPr/>
              </p:nvGrpSpPr>
              <p:grpSpPr>
                <a:xfrm>
                  <a:off x="6301808" y="1535717"/>
                  <a:ext cx="1144482" cy="884051"/>
                  <a:chOff x="6301808" y="1535717"/>
                  <a:chExt cx="1144482" cy="884051"/>
                </a:xfrm>
              </p:grpSpPr>
              <p:sp>
                <p:nvSpPr>
                  <p:cNvPr id="23" name="Textfeld 65">
                    <a:extLst>
                      <a:ext uri="{FF2B5EF4-FFF2-40B4-BE49-F238E27FC236}">
                        <a16:creationId xmlns:a16="http://schemas.microsoft.com/office/drawing/2014/main" id="{9BA35D29-589E-3DBF-9C83-CCB093798B6F}"/>
                      </a:ext>
                    </a:extLst>
                  </p:cNvPr>
                  <p:cNvSpPr txBox="1"/>
                  <p:nvPr/>
                </p:nvSpPr>
                <p:spPr>
                  <a:xfrm>
                    <a:off x="6502396" y="1535717"/>
                    <a:ext cx="31290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i="1" dirty="0">
                        <a:solidFill>
                          <a:srgbClr val="0066CC"/>
                        </a:solidFill>
                        <a:latin typeface="Times New Roman"/>
                        <a:cs typeface="Times New Roman"/>
                      </a:rPr>
                      <a:t>a</a:t>
                    </a:r>
                  </a:p>
                </p:txBody>
              </p:sp>
              <p:sp>
                <p:nvSpPr>
                  <p:cNvPr id="24" name="Textfeld 66">
                    <a:extLst>
                      <a:ext uri="{FF2B5EF4-FFF2-40B4-BE49-F238E27FC236}">
                        <a16:creationId xmlns:a16="http://schemas.microsoft.com/office/drawing/2014/main" id="{DD2619B7-13D1-107E-012D-11CFA8F366D2}"/>
                      </a:ext>
                    </a:extLst>
                  </p:cNvPr>
                  <p:cNvSpPr txBox="1"/>
                  <p:nvPr/>
                </p:nvSpPr>
                <p:spPr>
                  <a:xfrm>
                    <a:off x="6793832" y="1680099"/>
                    <a:ext cx="29848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000" i="1">
                        <a:solidFill>
                          <a:srgbClr val="0066CC"/>
                        </a:solidFill>
                        <a:latin typeface="Times New Roman"/>
                        <a:cs typeface="Times New Roman"/>
                      </a:rPr>
                      <a:t>c</a:t>
                    </a:r>
                  </a:p>
                </p:txBody>
              </p:sp>
              <p:grpSp>
                <p:nvGrpSpPr>
                  <p:cNvPr id="25" name="Gruppierung 6">
                    <a:extLst>
                      <a:ext uri="{FF2B5EF4-FFF2-40B4-BE49-F238E27FC236}">
                        <a16:creationId xmlns:a16="http://schemas.microsoft.com/office/drawing/2014/main" id="{723ED2B8-2D2F-2775-897F-EF1636F2BD64}"/>
                      </a:ext>
                    </a:extLst>
                  </p:cNvPr>
                  <p:cNvGrpSpPr/>
                  <p:nvPr/>
                </p:nvGrpSpPr>
                <p:grpSpPr>
                  <a:xfrm>
                    <a:off x="7153053" y="1780940"/>
                    <a:ext cx="293237" cy="583068"/>
                    <a:chOff x="2453933" y="5372440"/>
                    <a:chExt cx="482573" cy="636283"/>
                  </a:xfrm>
                </p:grpSpPr>
                <p:cxnSp>
                  <p:nvCxnSpPr>
                    <p:cNvPr id="30" name="Gerade Verbindung mit Pfeil 61">
                      <a:extLst>
                        <a:ext uri="{FF2B5EF4-FFF2-40B4-BE49-F238E27FC236}">
                          <a16:creationId xmlns:a16="http://schemas.microsoft.com/office/drawing/2014/main" id="{7525C431-DD7D-5460-5E40-38E11B0FA231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2458480" y="5372440"/>
                      <a:ext cx="472159" cy="0"/>
                    </a:xfrm>
                    <a:prstGeom prst="straightConnector1">
                      <a:avLst/>
                    </a:prstGeom>
                    <a:noFill/>
                    <a:ln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/>
                      <a:tailEnd type="arrow"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1" name="Gerade Verbindung mit Pfeil 62">
                      <a:extLst>
                        <a:ext uri="{FF2B5EF4-FFF2-40B4-BE49-F238E27FC236}">
                          <a16:creationId xmlns:a16="http://schemas.microsoft.com/office/drawing/2014/main" id="{00D0857E-B6A8-61F7-9F5A-C74BF2645065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2464347" y="5606241"/>
                      <a:ext cx="472159" cy="0"/>
                    </a:xfrm>
                    <a:prstGeom prst="straightConnector1">
                      <a:avLst/>
                    </a:prstGeom>
                    <a:noFill/>
                    <a:ln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/>
                      <a:tailEnd type="arrow"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2" name="Gerade Verbindung mit Pfeil 68">
                      <a:extLst>
                        <a:ext uri="{FF2B5EF4-FFF2-40B4-BE49-F238E27FC236}">
                          <a16:creationId xmlns:a16="http://schemas.microsoft.com/office/drawing/2014/main" id="{C9BD3676-1009-11EB-7013-A5D79EFEF697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2453933" y="5823762"/>
                      <a:ext cx="472159" cy="0"/>
                    </a:xfrm>
                    <a:prstGeom prst="straightConnector1">
                      <a:avLst/>
                    </a:prstGeom>
                    <a:noFill/>
                    <a:ln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/>
                      <a:tailEnd type="arrow"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  <p:cxnSp>
                  <p:nvCxnSpPr>
                    <p:cNvPr id="33" name="Gerade Verbindung mit Pfeil 77">
                      <a:extLst>
                        <a:ext uri="{FF2B5EF4-FFF2-40B4-BE49-F238E27FC236}">
                          <a16:creationId xmlns:a16="http://schemas.microsoft.com/office/drawing/2014/main" id="{98CE257A-EAF0-9500-DB92-A965F95DDE74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2459800" y="6008723"/>
                      <a:ext cx="472159" cy="0"/>
                    </a:xfrm>
                    <a:prstGeom prst="straightConnector1">
                      <a:avLst/>
                    </a:prstGeom>
                    <a:noFill/>
                    <a:ln w="1905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/>
                      <a:tailEnd type="arrow"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</p:cxnSp>
              </p:grpSp>
              <p:cxnSp>
                <p:nvCxnSpPr>
                  <p:cNvPr id="26" name="Gerade Verbindung mit Pfeil 81">
                    <a:extLst>
                      <a:ext uri="{FF2B5EF4-FFF2-40B4-BE49-F238E27FC236}">
                        <a16:creationId xmlns:a16="http://schemas.microsoft.com/office/drawing/2014/main" id="{9B7D6538-E611-3939-A087-F07AA83D017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549750" y="2419768"/>
                    <a:ext cx="286909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rgbClr val="008000"/>
                    </a:solidFill>
                    <a:prstDash val="solid"/>
                    <a:round/>
                    <a:headEnd type="none"/>
                    <a:tailEnd type="arrow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7" name="Gerade Verbindung mit Pfeil 82">
                    <a:extLst>
                      <a:ext uri="{FF2B5EF4-FFF2-40B4-BE49-F238E27FC236}">
                        <a16:creationId xmlns:a16="http://schemas.microsoft.com/office/drawing/2014/main" id="{AC0A4E25-CCB9-3BB4-85DB-6A181833EC2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301808" y="2006133"/>
                    <a:ext cx="286909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rgbClr val="008000"/>
                    </a:solidFill>
                    <a:prstDash val="solid"/>
                    <a:round/>
                    <a:headEnd type="none"/>
                    <a:tailEnd type="arrow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8" name="Gerade Verbindung mit Pfeil 83">
                    <a:extLst>
                      <a:ext uri="{FF2B5EF4-FFF2-40B4-BE49-F238E27FC236}">
                        <a16:creationId xmlns:a16="http://schemas.microsoft.com/office/drawing/2014/main" id="{53268F79-9AB4-1C88-D5FB-85DE14480B8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509427" y="1675332"/>
                    <a:ext cx="286909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rgbClr val="008000"/>
                    </a:solidFill>
                    <a:prstDash val="solid"/>
                    <a:round/>
                    <a:headEnd type="none"/>
                    <a:tailEnd type="arrow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9" name="Gerade Verbindung mit Pfeil 84">
                    <a:extLst>
                      <a:ext uri="{FF2B5EF4-FFF2-40B4-BE49-F238E27FC236}">
                        <a16:creationId xmlns:a16="http://schemas.microsoft.com/office/drawing/2014/main" id="{5FD6967A-4435-52E2-42FD-73BA25455FC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6758461" y="2241904"/>
                    <a:ext cx="286909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rgbClr val="008000"/>
                    </a:solidFill>
                    <a:prstDash val="solid"/>
                    <a:round/>
                    <a:headEnd type="none"/>
                    <a:tailEnd type="arrow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grpSp>
            <p:nvGrpSpPr>
              <p:cNvPr id="16" name="Gruppierung 55">
                <a:extLst>
                  <a:ext uri="{FF2B5EF4-FFF2-40B4-BE49-F238E27FC236}">
                    <a16:creationId xmlns:a16="http://schemas.microsoft.com/office/drawing/2014/main" id="{570F6FAF-A2A9-1AFD-9A41-F25CAEA534A2}"/>
                  </a:ext>
                </a:extLst>
              </p:cNvPr>
              <p:cNvGrpSpPr/>
              <p:nvPr/>
            </p:nvGrpSpPr>
            <p:grpSpPr>
              <a:xfrm>
                <a:off x="7031287" y="1726254"/>
                <a:ext cx="125647" cy="700544"/>
                <a:chOff x="2317816" y="3532785"/>
                <a:chExt cx="158268" cy="771056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2393EDF8-7264-9533-9973-60BEFB40FFBD}"/>
                    </a:ext>
                  </a:extLst>
                </p:cNvPr>
                <p:cNvSpPr/>
                <p:nvPr/>
              </p:nvSpPr>
              <p:spPr bwMode="auto">
                <a:xfrm>
                  <a:off x="2328230" y="3532785"/>
                  <a:ext cx="146532" cy="1465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A1FD1C54-DA29-C188-F43B-A346D5EF00EB}"/>
                    </a:ext>
                  </a:extLst>
                </p:cNvPr>
                <p:cNvSpPr/>
                <p:nvPr/>
              </p:nvSpPr>
              <p:spPr bwMode="auto">
                <a:xfrm>
                  <a:off x="2317816" y="4157309"/>
                  <a:ext cx="146532" cy="1465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69EA2591-BFA0-9B8A-4E6C-967F3BE23FDA}"/>
                    </a:ext>
                  </a:extLst>
                </p:cNvPr>
                <p:cNvSpPr/>
                <p:nvPr/>
              </p:nvSpPr>
              <p:spPr bwMode="auto">
                <a:xfrm>
                  <a:off x="2323684" y="3756185"/>
                  <a:ext cx="146532" cy="1465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759B607B-4DC7-C390-51D3-E97FEA904CCB}"/>
                    </a:ext>
                  </a:extLst>
                </p:cNvPr>
                <p:cNvSpPr/>
                <p:nvPr/>
              </p:nvSpPr>
              <p:spPr bwMode="auto">
                <a:xfrm>
                  <a:off x="2329552" y="3973706"/>
                  <a:ext cx="146532" cy="1465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6" name="Textfeld 53">
              <a:extLst>
                <a:ext uri="{FF2B5EF4-FFF2-40B4-BE49-F238E27FC236}">
                  <a16:creationId xmlns:a16="http://schemas.microsoft.com/office/drawing/2014/main" id="{C69080EC-CD16-7EBA-9B59-4A38E2ED090F}"/>
                </a:ext>
              </a:extLst>
            </p:cNvPr>
            <p:cNvSpPr txBox="1"/>
            <p:nvPr/>
          </p:nvSpPr>
          <p:spPr>
            <a:xfrm>
              <a:off x="3676315" y="162394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a</a:t>
              </a:r>
            </a:p>
          </p:txBody>
        </p:sp>
        <p:sp>
          <p:nvSpPr>
            <p:cNvPr id="9" name="Textfeld 64">
              <a:extLst>
                <a:ext uri="{FF2B5EF4-FFF2-40B4-BE49-F238E27FC236}">
                  <a16:creationId xmlns:a16="http://schemas.microsoft.com/office/drawing/2014/main" id="{CBB84A67-76B1-6BDF-83A5-A33613A885EF}"/>
                </a:ext>
              </a:extLst>
            </p:cNvPr>
            <p:cNvSpPr txBox="1"/>
            <p:nvPr/>
          </p:nvSpPr>
          <p:spPr>
            <a:xfrm>
              <a:off x="3967751" y="1768327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c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6F3DCC2-535F-F145-90A1-3000D73EA464}"/>
              </a:ext>
            </a:extLst>
          </p:cNvPr>
          <p:cNvGrpSpPr/>
          <p:nvPr/>
        </p:nvGrpSpPr>
        <p:grpSpPr>
          <a:xfrm>
            <a:off x="4795887" y="4496798"/>
            <a:ext cx="6515075" cy="1446550"/>
            <a:chOff x="4720264" y="4615084"/>
            <a:chExt cx="6515075" cy="1446550"/>
          </a:xfrm>
        </p:grpSpPr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2FC26903-F74C-BBB5-55E9-E8F0D515A020}"/>
                </a:ext>
              </a:extLst>
            </p:cNvPr>
            <p:cNvSpPr txBox="1"/>
            <p:nvPr/>
          </p:nvSpPr>
          <p:spPr>
            <a:xfrm>
              <a:off x="4720264" y="4615084"/>
              <a:ext cx="651507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Request compatibility on interface and in some </a:t>
              </a:r>
              <a:r>
                <a:rPr lang="en-US" sz="2200" dirty="0" err="1">
                  <a:solidFill>
                    <a:schemeClr val="accent1"/>
                  </a:solidFill>
                  <a:latin typeface="+mj-lt"/>
                </a:rPr>
                <a:t>dofs</a:t>
              </a:r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of A</a:t>
              </a:r>
            </a:p>
            <a:p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. uses more info of the problem </a:t>
              </a:r>
            </a:p>
            <a:p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. still strong compatibility so sensitive to errors</a:t>
              </a:r>
            </a:p>
            <a:p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. interface problem badly condition (could use SVD) </a:t>
              </a:r>
            </a:p>
          </p:txBody>
        </p:sp>
        <p:pic>
          <p:nvPicPr>
            <p:cNvPr id="99" name="Bild 70">
              <a:extLst>
                <a:ext uri="{FF2B5EF4-FFF2-40B4-BE49-F238E27FC236}">
                  <a16:creationId xmlns:a16="http://schemas.microsoft.com/office/drawing/2014/main" id="{4A63AF08-AC00-B0FF-C2AB-3ACE14BF08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-712" t="-2124" r="67458" b="54106"/>
            <a:stretch/>
          </p:blipFill>
          <p:spPr>
            <a:xfrm>
              <a:off x="8498959" y="4941586"/>
              <a:ext cx="381626" cy="396773"/>
            </a:xfrm>
            <a:prstGeom prst="rect">
              <a:avLst/>
            </a:prstGeom>
          </p:spPr>
        </p:pic>
        <p:pic>
          <p:nvPicPr>
            <p:cNvPr id="100" name="Bild 9">
              <a:extLst>
                <a:ext uri="{FF2B5EF4-FFF2-40B4-BE49-F238E27FC236}">
                  <a16:creationId xmlns:a16="http://schemas.microsoft.com/office/drawing/2014/main" id="{0B11D997-6AC3-1BEC-4428-8C79C8469E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66746" t="51982"/>
            <a:stretch/>
          </p:blipFill>
          <p:spPr>
            <a:xfrm>
              <a:off x="10759041" y="5482056"/>
              <a:ext cx="386538" cy="401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5297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434F-834B-7E08-CD24-5F2D331C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7C358067-3C82-120D-9D24-9DD0B31D8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3962"/>
            <a:ext cx="9934318" cy="53649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Frequency Based Decoupling: A Big Family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B91CFC-BFB8-30B0-082C-25A7F41EC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763481"/>
            <a:ext cx="11337324" cy="54508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3B6C287F-85F5-FA37-9BB2-6E978586AC74}"/>
              </a:ext>
            </a:extLst>
          </p:cNvPr>
          <p:cNvSpPr txBox="1"/>
          <p:nvPr/>
        </p:nvSpPr>
        <p:spPr>
          <a:xfrm>
            <a:off x="0" y="757845"/>
            <a:ext cx="12015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Method 3: </a:t>
            </a:r>
            <a:r>
              <a:rPr lang="en-US" sz="2200" b="1" i="1" dirty="0">
                <a:solidFill>
                  <a:schemeClr val="accent1"/>
                </a:solidFill>
                <a:latin typeface="+mj-lt"/>
              </a:rPr>
              <a:t>Non-Collocated (NC) overdetermined 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forces on interface / compatibility on interface and in </a:t>
            </a:r>
            <a:r>
              <a:rPr lang="en-US" sz="2200" i="1" dirty="0">
                <a:solidFill>
                  <a:schemeClr val="accent1"/>
                </a:solidFill>
                <a:latin typeface="+mj-lt"/>
              </a:rPr>
              <a:t>A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431513-24E7-01B2-B85A-8F404DB46845}"/>
                  </a:ext>
                </a:extLst>
              </p:cNvPr>
              <p:cNvSpPr txBox="1"/>
              <p:nvPr/>
            </p:nvSpPr>
            <p:spPr>
              <a:xfrm>
                <a:off x="755539" y="2854649"/>
                <a:ext cx="5309571" cy="1208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sv-SE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431513-24E7-01B2-B85A-8F404DB46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39" y="2854649"/>
                <a:ext cx="5309571" cy="12084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53E62E-31EC-F1D7-2940-69C2E228748E}"/>
                  </a:ext>
                </a:extLst>
              </p:cNvPr>
              <p:cNvSpPr txBox="1"/>
              <p:nvPr/>
            </p:nvSpPr>
            <p:spPr>
              <a:xfrm>
                <a:off x="699654" y="4415695"/>
                <a:ext cx="3084648" cy="723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53E62E-31EC-F1D7-2940-69C2E2287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54" y="4415695"/>
                <a:ext cx="3084648" cy="7230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F95C2E-2F6C-AFF4-12ED-408281A29AC0}"/>
                  </a:ext>
                </a:extLst>
              </p:cNvPr>
              <p:cNvSpPr txBox="1"/>
              <p:nvPr/>
            </p:nvSpPr>
            <p:spPr>
              <a:xfrm>
                <a:off x="749644" y="5315032"/>
                <a:ext cx="2494994" cy="723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F95C2E-2F6C-AFF4-12ED-408281A29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44" y="5315032"/>
                <a:ext cx="2494994" cy="7230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8C0D31E-891F-0C3C-2105-9A6BCDB15245}"/>
              </a:ext>
            </a:extLst>
          </p:cNvPr>
          <p:cNvGrpSpPr/>
          <p:nvPr/>
        </p:nvGrpSpPr>
        <p:grpSpPr>
          <a:xfrm>
            <a:off x="2872345" y="1275152"/>
            <a:ext cx="6697989" cy="1253117"/>
            <a:chOff x="3101134" y="1592103"/>
            <a:chExt cx="6697989" cy="125311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ED327EB-F43F-0CB1-E568-FB8982D5CE20}"/>
                </a:ext>
              </a:extLst>
            </p:cNvPr>
            <p:cNvGrpSpPr/>
            <p:nvPr/>
          </p:nvGrpSpPr>
          <p:grpSpPr>
            <a:xfrm>
              <a:off x="3101134" y="1592103"/>
              <a:ext cx="6697989" cy="1253117"/>
              <a:chOff x="3101134" y="1592103"/>
              <a:chExt cx="6697989" cy="1253117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4839808-CA36-4A9D-D30B-AAE0C5C484CA}"/>
                  </a:ext>
                </a:extLst>
              </p:cNvPr>
              <p:cNvGrpSpPr/>
              <p:nvPr/>
            </p:nvGrpSpPr>
            <p:grpSpPr>
              <a:xfrm>
                <a:off x="3101134" y="1592103"/>
                <a:ext cx="6697989" cy="1253117"/>
                <a:chOff x="3101134" y="1592103"/>
                <a:chExt cx="6697989" cy="1253117"/>
              </a:xfrm>
            </p:grpSpPr>
            <p:grpSp>
              <p:nvGrpSpPr>
                <p:cNvPr id="57" name="Gruppierung 40">
                  <a:extLst>
                    <a:ext uri="{FF2B5EF4-FFF2-40B4-BE49-F238E27FC236}">
                      <a16:creationId xmlns:a16="http://schemas.microsoft.com/office/drawing/2014/main" id="{7EF8170E-E032-525F-F8FA-C74F092FE2EE}"/>
                    </a:ext>
                  </a:extLst>
                </p:cNvPr>
                <p:cNvGrpSpPr/>
                <p:nvPr/>
              </p:nvGrpSpPr>
              <p:grpSpPr>
                <a:xfrm>
                  <a:off x="3101134" y="1618864"/>
                  <a:ext cx="2481589" cy="1221009"/>
                  <a:chOff x="1302505" y="3304864"/>
                  <a:chExt cx="2481589" cy="1221009"/>
                </a:xfrm>
              </p:grpSpPr>
              <p:pic>
                <p:nvPicPr>
                  <p:cNvPr id="106" name="Bild 41">
                    <a:extLst>
                      <a:ext uri="{FF2B5EF4-FFF2-40B4-BE49-F238E27FC236}">
                        <a16:creationId xmlns:a16="http://schemas.microsoft.com/office/drawing/2014/main" id="{B4DB84A6-6DAB-EBBE-7CB5-7EB4CB736D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29670" t="66020" r="33503" b="8713"/>
                  <a:stretch/>
                </p:blipFill>
                <p:spPr>
                  <a:xfrm>
                    <a:off x="1302505" y="3304864"/>
                    <a:ext cx="2481589" cy="1221009"/>
                  </a:xfrm>
                  <a:prstGeom prst="rect">
                    <a:avLst/>
                  </a:prstGeom>
                </p:spPr>
              </p:pic>
              <p:sp>
                <p:nvSpPr>
                  <p:cNvPr id="107" name="Textfeld 43">
                    <a:extLst>
                      <a:ext uri="{FF2B5EF4-FFF2-40B4-BE49-F238E27FC236}">
                        <a16:creationId xmlns:a16="http://schemas.microsoft.com/office/drawing/2014/main" id="{BFDC7670-7C38-3651-484B-B99AF71A7BCD}"/>
                      </a:ext>
                    </a:extLst>
                  </p:cNvPr>
                  <p:cNvSpPr txBox="1"/>
                  <p:nvPr/>
                </p:nvSpPr>
                <p:spPr>
                  <a:xfrm>
                    <a:off x="1725821" y="3728147"/>
                    <a:ext cx="3209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/>
                      <a:t>A</a:t>
                    </a:r>
                  </a:p>
                </p:txBody>
              </p:sp>
              <p:sp>
                <p:nvSpPr>
                  <p:cNvPr id="108" name="Textfeld 44">
                    <a:extLst>
                      <a:ext uri="{FF2B5EF4-FFF2-40B4-BE49-F238E27FC236}">
                        <a16:creationId xmlns:a16="http://schemas.microsoft.com/office/drawing/2014/main" id="{C9D6D48F-46C4-F8DF-91B7-BEF086059107}"/>
                      </a:ext>
                    </a:extLst>
                  </p:cNvPr>
                  <p:cNvSpPr txBox="1"/>
                  <p:nvPr/>
                </p:nvSpPr>
                <p:spPr>
                  <a:xfrm>
                    <a:off x="2692287" y="3717746"/>
                    <a:ext cx="3241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/>
                      <a:t>B</a:t>
                    </a:r>
                  </a:p>
                </p:txBody>
              </p:sp>
            </p:grpSp>
            <p:sp>
              <p:nvSpPr>
                <p:cNvPr id="58" name="Textfeld 45">
                  <a:extLst>
                    <a:ext uri="{FF2B5EF4-FFF2-40B4-BE49-F238E27FC236}">
                      <a16:creationId xmlns:a16="http://schemas.microsoft.com/office/drawing/2014/main" id="{DDDC8EE8-FB64-ED72-B8EA-1EF6D8A8EEAC}"/>
                    </a:ext>
                  </a:extLst>
                </p:cNvPr>
                <p:cNvSpPr txBox="1"/>
                <p:nvPr/>
              </p:nvSpPr>
              <p:spPr>
                <a:xfrm>
                  <a:off x="5358066" y="1892166"/>
                  <a:ext cx="43152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/>
                    <a:t>+</a:t>
                  </a:r>
                </a:p>
              </p:txBody>
            </p:sp>
            <p:grpSp>
              <p:nvGrpSpPr>
                <p:cNvPr id="59" name="Gruppierung 46">
                  <a:extLst>
                    <a:ext uri="{FF2B5EF4-FFF2-40B4-BE49-F238E27FC236}">
                      <a16:creationId xmlns:a16="http://schemas.microsoft.com/office/drawing/2014/main" id="{B77E780C-D251-5F40-9636-C016F52BB698}"/>
                    </a:ext>
                  </a:extLst>
                </p:cNvPr>
                <p:cNvGrpSpPr/>
                <p:nvPr/>
              </p:nvGrpSpPr>
              <p:grpSpPr>
                <a:xfrm>
                  <a:off x="5878657" y="1592103"/>
                  <a:ext cx="1656405" cy="1204729"/>
                  <a:chOff x="1221098" y="5079397"/>
                  <a:chExt cx="1656405" cy="1204729"/>
                </a:xfrm>
              </p:grpSpPr>
              <p:pic>
                <p:nvPicPr>
                  <p:cNvPr id="104" name="Bild 47">
                    <a:extLst>
                      <a:ext uri="{FF2B5EF4-FFF2-40B4-BE49-F238E27FC236}">
                        <a16:creationId xmlns:a16="http://schemas.microsoft.com/office/drawing/2014/main" id="{FE4CB06F-074A-D1D2-B145-CB921D3BB3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73699" t="66281" r="1644" b="8713"/>
                  <a:stretch/>
                </p:blipFill>
                <p:spPr>
                  <a:xfrm>
                    <a:off x="1221098" y="5079397"/>
                    <a:ext cx="1656405" cy="1204729"/>
                  </a:xfrm>
                  <a:prstGeom prst="rect">
                    <a:avLst/>
                  </a:prstGeom>
                </p:spPr>
              </p:pic>
              <p:sp>
                <p:nvSpPr>
                  <p:cNvPr id="105" name="Textfeld 48">
                    <a:extLst>
                      <a:ext uri="{FF2B5EF4-FFF2-40B4-BE49-F238E27FC236}">
                        <a16:creationId xmlns:a16="http://schemas.microsoft.com/office/drawing/2014/main" id="{AF5FDEB7-A36E-79F6-C21A-F0AFCB1E3CBC}"/>
                      </a:ext>
                    </a:extLst>
                  </p:cNvPr>
                  <p:cNvSpPr txBox="1"/>
                  <p:nvPr/>
                </p:nvSpPr>
                <p:spPr>
                  <a:xfrm>
                    <a:off x="1624745" y="5492280"/>
                    <a:ext cx="44595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>
                        <a:solidFill>
                          <a:srgbClr val="FF0000"/>
                        </a:solidFill>
                      </a:rPr>
                      <a:t>- A</a:t>
                    </a:r>
                  </a:p>
                </p:txBody>
              </p:sp>
            </p:grpSp>
            <p:sp>
              <p:nvSpPr>
                <p:cNvPr id="60" name="Textfeld 49">
                  <a:extLst>
                    <a:ext uri="{FF2B5EF4-FFF2-40B4-BE49-F238E27FC236}">
                      <a16:creationId xmlns:a16="http://schemas.microsoft.com/office/drawing/2014/main" id="{E9DDA704-B645-705D-120B-862F10004ACB}"/>
                    </a:ext>
                  </a:extLst>
                </p:cNvPr>
                <p:cNvSpPr txBox="1"/>
                <p:nvPr/>
              </p:nvSpPr>
              <p:spPr>
                <a:xfrm>
                  <a:off x="7510381" y="1892164"/>
                  <a:ext cx="43152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600"/>
                    <a:t>=</a:t>
                  </a:r>
                </a:p>
              </p:txBody>
            </p:sp>
            <p:grpSp>
              <p:nvGrpSpPr>
                <p:cNvPr id="62" name="Gruppierung 50">
                  <a:extLst>
                    <a:ext uri="{FF2B5EF4-FFF2-40B4-BE49-F238E27FC236}">
                      <a16:creationId xmlns:a16="http://schemas.microsoft.com/office/drawing/2014/main" id="{267D403F-D226-833B-6700-1D2FB49A3EAD}"/>
                    </a:ext>
                  </a:extLst>
                </p:cNvPr>
                <p:cNvGrpSpPr/>
                <p:nvPr/>
              </p:nvGrpSpPr>
              <p:grpSpPr>
                <a:xfrm>
                  <a:off x="8395370" y="1624211"/>
                  <a:ext cx="1403753" cy="1221009"/>
                  <a:chOff x="2380341" y="3304864"/>
                  <a:chExt cx="1403753" cy="1221009"/>
                </a:xfrm>
              </p:grpSpPr>
              <p:pic>
                <p:nvPicPr>
                  <p:cNvPr id="102" name="Bild 51">
                    <a:extLst>
                      <a:ext uri="{FF2B5EF4-FFF2-40B4-BE49-F238E27FC236}">
                        <a16:creationId xmlns:a16="http://schemas.microsoft.com/office/drawing/2014/main" id="{03C535A8-2130-6B65-CECF-BF28077C92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45665" t="66020" r="33503" b="8713"/>
                  <a:stretch/>
                </p:blipFill>
                <p:spPr>
                  <a:xfrm>
                    <a:off x="2380341" y="3304864"/>
                    <a:ext cx="1403753" cy="1221009"/>
                  </a:xfrm>
                  <a:prstGeom prst="rect">
                    <a:avLst/>
                  </a:prstGeom>
                </p:spPr>
              </p:pic>
              <p:sp>
                <p:nvSpPr>
                  <p:cNvPr id="103" name="Textfeld 52">
                    <a:extLst>
                      <a:ext uri="{FF2B5EF4-FFF2-40B4-BE49-F238E27FC236}">
                        <a16:creationId xmlns:a16="http://schemas.microsoft.com/office/drawing/2014/main" id="{CF9EB57D-38E1-52C4-8DBD-E7D55C582753}"/>
                      </a:ext>
                    </a:extLst>
                  </p:cNvPr>
                  <p:cNvSpPr txBox="1"/>
                  <p:nvPr/>
                </p:nvSpPr>
                <p:spPr>
                  <a:xfrm>
                    <a:off x="2692287" y="3717746"/>
                    <a:ext cx="3241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/>
                      <a:t>B</a:t>
                    </a:r>
                  </a:p>
                </p:txBody>
              </p:sp>
            </p:grpSp>
            <p:sp>
              <p:nvSpPr>
                <p:cNvPr id="63" name="Textfeld 53">
                  <a:extLst>
                    <a:ext uri="{FF2B5EF4-FFF2-40B4-BE49-F238E27FC236}">
                      <a16:creationId xmlns:a16="http://schemas.microsoft.com/office/drawing/2014/main" id="{0D3352D6-7C5F-AFC2-7918-5F6CE52B7D24}"/>
                    </a:ext>
                  </a:extLst>
                </p:cNvPr>
                <p:cNvSpPr txBox="1"/>
                <p:nvPr/>
              </p:nvSpPr>
              <p:spPr>
                <a:xfrm>
                  <a:off x="3676315" y="1734393"/>
                  <a:ext cx="312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>
                      <a:solidFill>
                        <a:srgbClr val="0066CC"/>
                      </a:solidFill>
                      <a:latin typeface="Times New Roman"/>
                      <a:cs typeface="Times New Roman"/>
                    </a:rPr>
                    <a:t>a</a:t>
                  </a:r>
                </a:p>
              </p:txBody>
            </p:sp>
            <p:sp>
              <p:nvSpPr>
                <p:cNvPr id="64" name="Textfeld 63">
                  <a:extLst>
                    <a:ext uri="{FF2B5EF4-FFF2-40B4-BE49-F238E27FC236}">
                      <a16:creationId xmlns:a16="http://schemas.microsoft.com/office/drawing/2014/main" id="{4315A102-4E25-1614-F474-DA7A556F5990}"/>
                    </a:ext>
                  </a:extLst>
                </p:cNvPr>
                <p:cNvSpPr txBox="1"/>
                <p:nvPr/>
              </p:nvSpPr>
              <p:spPr>
                <a:xfrm>
                  <a:off x="4791240" y="1833321"/>
                  <a:ext cx="312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>
                      <a:solidFill>
                        <a:srgbClr val="0066CC"/>
                      </a:solidFill>
                      <a:latin typeface="Times New Roman"/>
                      <a:cs typeface="Times New Roman"/>
                    </a:rPr>
                    <a:t>b</a:t>
                  </a:r>
                </a:p>
              </p:txBody>
            </p:sp>
            <p:sp>
              <p:nvSpPr>
                <p:cNvPr id="65" name="Textfeld 64">
                  <a:extLst>
                    <a:ext uri="{FF2B5EF4-FFF2-40B4-BE49-F238E27FC236}">
                      <a16:creationId xmlns:a16="http://schemas.microsoft.com/office/drawing/2014/main" id="{FF78C07D-1A68-798C-7906-8C17ADCB1071}"/>
                    </a:ext>
                  </a:extLst>
                </p:cNvPr>
                <p:cNvSpPr txBox="1"/>
                <p:nvPr/>
              </p:nvSpPr>
              <p:spPr>
                <a:xfrm>
                  <a:off x="3967751" y="1878775"/>
                  <a:ext cx="29848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>
                      <a:solidFill>
                        <a:srgbClr val="0066CC"/>
                      </a:solidFill>
                      <a:latin typeface="Times New Roman"/>
                      <a:cs typeface="Times New Roman"/>
                    </a:rPr>
                    <a:t>c</a:t>
                  </a:r>
                </a:p>
              </p:txBody>
            </p:sp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71DDE09D-1B6E-E4DF-E85F-E3F1FD9CC8A9}"/>
                    </a:ext>
                  </a:extLst>
                </p:cNvPr>
                <p:cNvSpPr txBox="1"/>
                <p:nvPr/>
              </p:nvSpPr>
              <p:spPr>
                <a:xfrm>
                  <a:off x="6502396" y="1646165"/>
                  <a:ext cx="312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>
                      <a:solidFill>
                        <a:srgbClr val="0066CC"/>
                      </a:solidFill>
                      <a:latin typeface="Times New Roman"/>
                      <a:cs typeface="Times New Roman"/>
                    </a:rPr>
                    <a:t>a</a:t>
                  </a:r>
                </a:p>
              </p:txBody>
            </p:sp>
            <p:sp>
              <p:nvSpPr>
                <p:cNvPr id="67" name="Textfeld 66">
                  <a:extLst>
                    <a:ext uri="{FF2B5EF4-FFF2-40B4-BE49-F238E27FC236}">
                      <a16:creationId xmlns:a16="http://schemas.microsoft.com/office/drawing/2014/main" id="{9E880CC3-238E-9E7A-27BF-33D6462669E8}"/>
                    </a:ext>
                  </a:extLst>
                </p:cNvPr>
                <p:cNvSpPr txBox="1"/>
                <p:nvPr/>
              </p:nvSpPr>
              <p:spPr>
                <a:xfrm>
                  <a:off x="6793832" y="1790547"/>
                  <a:ext cx="29848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>
                      <a:solidFill>
                        <a:srgbClr val="0066CC"/>
                      </a:solidFill>
                      <a:latin typeface="Times New Roman"/>
                      <a:cs typeface="Times New Roman"/>
                    </a:rPr>
                    <a:t>c</a:t>
                  </a:r>
                </a:p>
              </p:txBody>
            </p:sp>
            <p:sp>
              <p:nvSpPr>
                <p:cNvPr id="68" name="Textfeld 67">
                  <a:extLst>
                    <a:ext uri="{FF2B5EF4-FFF2-40B4-BE49-F238E27FC236}">
                      <a16:creationId xmlns:a16="http://schemas.microsoft.com/office/drawing/2014/main" id="{D61D868D-2E68-B2F5-964E-166D7D5C6A54}"/>
                    </a:ext>
                  </a:extLst>
                </p:cNvPr>
                <p:cNvSpPr txBox="1"/>
                <p:nvPr/>
              </p:nvSpPr>
              <p:spPr>
                <a:xfrm>
                  <a:off x="8980899" y="1852037"/>
                  <a:ext cx="3129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>
                      <a:solidFill>
                        <a:srgbClr val="0066CC"/>
                      </a:solidFill>
                      <a:latin typeface="Times New Roman"/>
                      <a:cs typeface="Times New Roman"/>
                    </a:rPr>
                    <a:t>b</a:t>
                  </a:r>
                </a:p>
              </p:txBody>
            </p:sp>
            <p:sp>
              <p:nvSpPr>
                <p:cNvPr id="69" name="Textfeld 69">
                  <a:extLst>
                    <a:ext uri="{FF2B5EF4-FFF2-40B4-BE49-F238E27FC236}">
                      <a16:creationId xmlns:a16="http://schemas.microsoft.com/office/drawing/2014/main" id="{C076A070-035E-69AC-40FE-537DC1812D2A}"/>
                    </a:ext>
                  </a:extLst>
                </p:cNvPr>
                <p:cNvSpPr txBox="1"/>
                <p:nvPr/>
              </p:nvSpPr>
              <p:spPr>
                <a:xfrm>
                  <a:off x="8157410" y="1897491"/>
                  <a:ext cx="29848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>
                      <a:solidFill>
                        <a:srgbClr val="0066CC"/>
                      </a:solidFill>
                      <a:latin typeface="Times New Roman"/>
                      <a:cs typeface="Times New Roman"/>
                    </a:rPr>
                    <a:t>c</a:t>
                  </a:r>
                </a:p>
              </p:txBody>
            </p:sp>
            <p:grpSp>
              <p:nvGrpSpPr>
                <p:cNvPr id="70" name="Gruppierung 6">
                  <a:extLst>
                    <a:ext uri="{FF2B5EF4-FFF2-40B4-BE49-F238E27FC236}">
                      <a16:creationId xmlns:a16="http://schemas.microsoft.com/office/drawing/2014/main" id="{03894C4D-3E50-CFF8-F65A-C4F75971931F}"/>
                    </a:ext>
                  </a:extLst>
                </p:cNvPr>
                <p:cNvGrpSpPr/>
                <p:nvPr/>
              </p:nvGrpSpPr>
              <p:grpSpPr>
                <a:xfrm>
                  <a:off x="7153053" y="1891388"/>
                  <a:ext cx="293237" cy="583068"/>
                  <a:chOff x="2453933" y="5372440"/>
                  <a:chExt cx="482573" cy="636283"/>
                </a:xfrm>
              </p:grpSpPr>
              <p:cxnSp>
                <p:nvCxnSpPr>
                  <p:cNvPr id="78" name="Gerade Verbindung mit Pfeil 61">
                    <a:extLst>
                      <a:ext uri="{FF2B5EF4-FFF2-40B4-BE49-F238E27FC236}">
                        <a16:creationId xmlns:a16="http://schemas.microsoft.com/office/drawing/2014/main" id="{6C910B2F-9F46-4DB9-E78E-68AE2538D57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458480" y="5372440"/>
                    <a:ext cx="472159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rgbClr val="008000"/>
                    </a:solidFill>
                    <a:prstDash val="solid"/>
                    <a:round/>
                    <a:headEnd type="none"/>
                    <a:tailEnd type="arrow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6" name="Gerade Verbindung mit Pfeil 62">
                    <a:extLst>
                      <a:ext uri="{FF2B5EF4-FFF2-40B4-BE49-F238E27FC236}">
                        <a16:creationId xmlns:a16="http://schemas.microsoft.com/office/drawing/2014/main" id="{D34E7EFE-51AB-2D7E-5786-2C9B51C39BAE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464347" y="5606241"/>
                    <a:ext cx="472159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rgbClr val="008000"/>
                    </a:solidFill>
                    <a:prstDash val="solid"/>
                    <a:round/>
                    <a:headEnd type="none"/>
                    <a:tailEnd type="arrow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7" name="Gerade Verbindung mit Pfeil 68">
                    <a:extLst>
                      <a:ext uri="{FF2B5EF4-FFF2-40B4-BE49-F238E27FC236}">
                        <a16:creationId xmlns:a16="http://schemas.microsoft.com/office/drawing/2014/main" id="{0890B2EC-F111-7406-D373-CE57DDF3787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453933" y="5823762"/>
                    <a:ext cx="472159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rgbClr val="008000"/>
                    </a:solidFill>
                    <a:prstDash val="solid"/>
                    <a:round/>
                    <a:headEnd type="none"/>
                    <a:tailEnd type="arrow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98" name="Gerade Verbindung mit Pfeil 77">
                    <a:extLst>
                      <a:ext uri="{FF2B5EF4-FFF2-40B4-BE49-F238E27FC236}">
                        <a16:creationId xmlns:a16="http://schemas.microsoft.com/office/drawing/2014/main" id="{D69CE5FE-B142-355A-8CC0-345B995221F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2459800" y="6008723"/>
                    <a:ext cx="472159" cy="0"/>
                  </a:xfrm>
                  <a:prstGeom prst="straightConnector1">
                    <a:avLst/>
                  </a:prstGeom>
                  <a:noFill/>
                  <a:ln w="19050" cap="flat" cmpd="sng" algn="ctr">
                    <a:solidFill>
                      <a:srgbClr val="008000"/>
                    </a:solidFill>
                    <a:prstDash val="solid"/>
                    <a:round/>
                    <a:headEnd type="none"/>
                    <a:tailEnd type="arrow"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</p:cxnSp>
            </p:grpSp>
          </p:grp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4244C66-B558-6D3E-25B1-B181B6FD1D89}"/>
                  </a:ext>
                </a:extLst>
              </p:cNvPr>
              <p:cNvSpPr/>
              <p:nvPr/>
            </p:nvSpPr>
            <p:spPr bwMode="auto">
              <a:xfrm>
                <a:off x="3368006" y="2071936"/>
                <a:ext cx="116330" cy="1331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F531317-003D-BDF3-550D-61D18F7AA9A4}"/>
                  </a:ext>
                </a:extLst>
              </p:cNvPr>
              <p:cNvSpPr/>
              <p:nvPr/>
            </p:nvSpPr>
            <p:spPr bwMode="auto">
              <a:xfrm>
                <a:off x="3594421" y="2459873"/>
                <a:ext cx="116330" cy="1331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89454FE-F5D5-E416-538A-200020551649}"/>
                  </a:ext>
                </a:extLst>
              </p:cNvPr>
              <p:cNvSpPr/>
              <p:nvPr/>
            </p:nvSpPr>
            <p:spPr bwMode="auto">
              <a:xfrm>
                <a:off x="3888982" y="2302517"/>
                <a:ext cx="116330" cy="1331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99A5240-F49F-70A7-9D69-1D5701F64144}"/>
                  </a:ext>
                </a:extLst>
              </p:cNvPr>
              <p:cNvSpPr/>
              <p:nvPr/>
            </p:nvSpPr>
            <p:spPr bwMode="auto">
              <a:xfrm>
                <a:off x="3589933" y="1782249"/>
                <a:ext cx="116330" cy="1331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52" name="Gruppierung 10">
                <a:extLst>
                  <a:ext uri="{FF2B5EF4-FFF2-40B4-BE49-F238E27FC236}">
                    <a16:creationId xmlns:a16="http://schemas.microsoft.com/office/drawing/2014/main" id="{C08D201B-A86C-EA42-7DF4-9B55EBA04386}"/>
                  </a:ext>
                </a:extLst>
              </p:cNvPr>
              <p:cNvGrpSpPr/>
              <p:nvPr/>
            </p:nvGrpSpPr>
            <p:grpSpPr>
              <a:xfrm>
                <a:off x="6212356" y="1782791"/>
                <a:ext cx="637306" cy="810756"/>
                <a:chOff x="1996406" y="2100321"/>
                <a:chExt cx="637306" cy="810756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86273E2B-12FE-4D45-85DF-8E52E2F0F172}"/>
                    </a:ext>
                  </a:extLst>
                </p:cNvPr>
                <p:cNvSpPr/>
                <p:nvPr/>
              </p:nvSpPr>
              <p:spPr bwMode="auto">
                <a:xfrm>
                  <a:off x="1996406" y="2390008"/>
                  <a:ext cx="116330" cy="1331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3DFFA116-5B1E-DD78-FA06-21F687587A9A}"/>
                    </a:ext>
                  </a:extLst>
                </p:cNvPr>
                <p:cNvSpPr/>
                <p:nvPr/>
              </p:nvSpPr>
              <p:spPr bwMode="auto">
                <a:xfrm>
                  <a:off x="2222821" y="2777945"/>
                  <a:ext cx="116330" cy="1331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620C7EBA-B72D-9120-9BDE-53E34E5991F6}"/>
                    </a:ext>
                  </a:extLst>
                </p:cNvPr>
                <p:cNvSpPr/>
                <p:nvPr/>
              </p:nvSpPr>
              <p:spPr bwMode="auto">
                <a:xfrm>
                  <a:off x="2517382" y="2620589"/>
                  <a:ext cx="116330" cy="1331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8D96404-D0E7-1AE3-B576-EF60F716E572}"/>
                    </a:ext>
                  </a:extLst>
                </p:cNvPr>
                <p:cNvSpPr/>
                <p:nvPr/>
              </p:nvSpPr>
              <p:spPr bwMode="auto">
                <a:xfrm>
                  <a:off x="2218333" y="2100321"/>
                  <a:ext cx="116330" cy="1331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0" name="Gruppierung 3">
              <a:extLst>
                <a:ext uri="{FF2B5EF4-FFF2-40B4-BE49-F238E27FC236}">
                  <a16:creationId xmlns:a16="http://schemas.microsoft.com/office/drawing/2014/main" id="{77BFC12E-91C4-58A0-A2CF-1EC6437EF5D2}"/>
                </a:ext>
              </a:extLst>
            </p:cNvPr>
            <p:cNvGrpSpPr/>
            <p:nvPr/>
          </p:nvGrpSpPr>
          <p:grpSpPr>
            <a:xfrm>
              <a:off x="4145523" y="1891388"/>
              <a:ext cx="125647" cy="700544"/>
              <a:chOff x="2317816" y="3532785"/>
              <a:chExt cx="158268" cy="771056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FD5811C5-8AE5-DC6C-570A-1FFE6D85B8BA}"/>
                  </a:ext>
                </a:extLst>
              </p:cNvPr>
              <p:cNvSpPr/>
              <p:nvPr/>
            </p:nvSpPr>
            <p:spPr bwMode="auto">
              <a:xfrm>
                <a:off x="2328230" y="35327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3B5CC82-1B59-C8CB-BF2E-F9974841C754}"/>
                  </a:ext>
                </a:extLst>
              </p:cNvPr>
              <p:cNvSpPr/>
              <p:nvPr/>
            </p:nvSpPr>
            <p:spPr bwMode="auto">
              <a:xfrm>
                <a:off x="2317816" y="4157309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0663668-2845-2962-330C-3D66E3FD33A8}"/>
                  </a:ext>
                </a:extLst>
              </p:cNvPr>
              <p:cNvSpPr/>
              <p:nvPr/>
            </p:nvSpPr>
            <p:spPr bwMode="auto">
              <a:xfrm>
                <a:off x="2323684" y="37561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80F4240C-EB26-9676-40C2-0C6E62867C41}"/>
                  </a:ext>
                </a:extLst>
              </p:cNvPr>
              <p:cNvSpPr/>
              <p:nvPr/>
            </p:nvSpPr>
            <p:spPr bwMode="auto">
              <a:xfrm>
                <a:off x="2329552" y="3973706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1" name="Gruppierung 55">
              <a:extLst>
                <a:ext uri="{FF2B5EF4-FFF2-40B4-BE49-F238E27FC236}">
                  <a16:creationId xmlns:a16="http://schemas.microsoft.com/office/drawing/2014/main" id="{8954D30B-6CEB-6EE9-73AB-AE27C9AEDD81}"/>
                </a:ext>
              </a:extLst>
            </p:cNvPr>
            <p:cNvGrpSpPr/>
            <p:nvPr/>
          </p:nvGrpSpPr>
          <p:grpSpPr>
            <a:xfrm>
              <a:off x="7031287" y="1836702"/>
              <a:ext cx="125647" cy="700544"/>
              <a:chOff x="2317816" y="3532785"/>
              <a:chExt cx="158268" cy="771056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2BDF6DC-5DDD-E2FF-3766-34B7BA76F5CE}"/>
                  </a:ext>
                </a:extLst>
              </p:cNvPr>
              <p:cNvSpPr/>
              <p:nvPr/>
            </p:nvSpPr>
            <p:spPr bwMode="auto">
              <a:xfrm>
                <a:off x="2328230" y="35327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F4A74EC-7FBB-CE98-D37B-9690E0D9E4AC}"/>
                  </a:ext>
                </a:extLst>
              </p:cNvPr>
              <p:cNvSpPr/>
              <p:nvPr/>
            </p:nvSpPr>
            <p:spPr bwMode="auto">
              <a:xfrm>
                <a:off x="2317816" y="4157309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96737EE-0EF8-11C4-56C9-0DF7EB391C24}"/>
                  </a:ext>
                </a:extLst>
              </p:cNvPr>
              <p:cNvSpPr/>
              <p:nvPr/>
            </p:nvSpPr>
            <p:spPr bwMode="auto">
              <a:xfrm>
                <a:off x="2323684" y="37561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1E729AA-DFDC-9A77-2670-4AE4AFA29A86}"/>
                  </a:ext>
                </a:extLst>
              </p:cNvPr>
              <p:cNvSpPr/>
              <p:nvPr/>
            </p:nvSpPr>
            <p:spPr bwMode="auto">
              <a:xfrm>
                <a:off x="2329552" y="3973706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5408CDB-402A-B1AE-4804-2F437A298B97}"/>
                  </a:ext>
                </a:extLst>
              </p:cNvPr>
              <p:cNvSpPr txBox="1"/>
              <p:nvPr/>
            </p:nvSpPr>
            <p:spPr>
              <a:xfrm>
                <a:off x="7227651" y="2986358"/>
                <a:ext cx="2825879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45408CDB-402A-B1AE-4804-2F437A298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651" y="2986358"/>
                <a:ext cx="2825879" cy="438582"/>
              </a:xfrm>
              <a:prstGeom prst="rect">
                <a:avLst/>
              </a:prstGeom>
              <a:blipFill>
                <a:blip r:embed="rId7"/>
                <a:stretch>
                  <a:fillRect l="-21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915BA8E-04F8-B315-CD8E-55C84228F3BF}"/>
                  </a:ext>
                </a:extLst>
              </p:cNvPr>
              <p:cNvSpPr txBox="1"/>
              <p:nvPr/>
            </p:nvSpPr>
            <p:spPr>
              <a:xfrm>
                <a:off x="7211173" y="3492835"/>
                <a:ext cx="2336106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915BA8E-04F8-B315-CD8E-55C84228F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173" y="3492835"/>
                <a:ext cx="2336106" cy="4385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EB422CE-44D4-9CB2-5B17-36D71ED5B4EC}"/>
              </a:ext>
            </a:extLst>
          </p:cNvPr>
          <p:cNvGrpSpPr/>
          <p:nvPr/>
        </p:nvGrpSpPr>
        <p:grpSpPr>
          <a:xfrm>
            <a:off x="4551074" y="4480761"/>
            <a:ext cx="6866633" cy="1569660"/>
            <a:chOff x="4115045" y="4492630"/>
            <a:chExt cx="7196150" cy="1569660"/>
          </a:xfrm>
        </p:grpSpPr>
        <p:sp>
          <p:nvSpPr>
            <p:cNvPr id="115" name="Textfeld 7">
              <a:extLst>
                <a:ext uri="{FF2B5EF4-FFF2-40B4-BE49-F238E27FC236}">
                  <a16:creationId xmlns:a16="http://schemas.microsoft.com/office/drawing/2014/main" id="{A18758A8-DE93-24F5-EF1D-19FD42B65073}"/>
                </a:ext>
              </a:extLst>
            </p:cNvPr>
            <p:cNvSpPr txBox="1"/>
            <p:nvPr/>
          </p:nvSpPr>
          <p:spPr>
            <a:xfrm>
              <a:off x="4115045" y="4492630"/>
              <a:ext cx="719615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  <a:latin typeface="+mj-lt"/>
                </a:rPr>
                <a:t>More compatibility asked for than forces :</a:t>
              </a:r>
            </a:p>
            <a:p>
              <a:r>
                <a:rPr lang="en-US" sz="2400" dirty="0">
                  <a:solidFill>
                    <a:schemeClr val="accent1"/>
                  </a:solidFill>
                  <a:latin typeface="+mj-lt"/>
                </a:rPr>
                <a:t>       . uses more info of the problem </a:t>
              </a:r>
            </a:p>
            <a:p>
              <a:r>
                <a:rPr lang="en-US" sz="2400" dirty="0">
                  <a:solidFill>
                    <a:schemeClr val="accent1"/>
                  </a:solidFill>
                  <a:latin typeface="+mj-lt"/>
                </a:rPr>
                <a:t>       . only approximate (weak compatibility)</a:t>
              </a:r>
            </a:p>
            <a:p>
              <a:r>
                <a:rPr lang="en-US" sz="2400" dirty="0">
                  <a:solidFill>
                    <a:schemeClr val="accent1"/>
                  </a:solidFill>
                  <a:latin typeface="+mj-lt"/>
                </a:rPr>
                <a:t>       . interface problem overdetermined (least square)</a:t>
              </a:r>
              <a:r>
                <a:rPr lang="en-US" sz="2200" dirty="0">
                  <a:solidFill>
                    <a:schemeClr val="accent1"/>
                  </a:solidFill>
                  <a:latin typeface="+mj-lt"/>
                </a:rPr>
                <a:t> </a:t>
              </a:r>
            </a:p>
          </p:txBody>
        </p:sp>
        <p:pic>
          <p:nvPicPr>
            <p:cNvPr id="116" name="Bild 70">
              <a:extLst>
                <a:ext uri="{FF2B5EF4-FFF2-40B4-BE49-F238E27FC236}">
                  <a16:creationId xmlns:a16="http://schemas.microsoft.com/office/drawing/2014/main" id="{EEE3048A-A240-2752-BCBA-345D19E077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-712" t="-2124" r="67458" b="54106"/>
            <a:stretch/>
          </p:blipFill>
          <p:spPr>
            <a:xfrm>
              <a:off x="8742410" y="4880687"/>
              <a:ext cx="381626" cy="3967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4488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1AA7-BEBF-3D02-C119-FE8FCE09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EB31048D-D710-E3B4-66E5-54CF8AAE8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3962"/>
            <a:ext cx="9934318" cy="53649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Frequency Based Decoupling: A Big Family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C1C017-1F1D-4F28-6D3B-D00D55362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763481"/>
            <a:ext cx="11337324" cy="54508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88A304AB-2E88-C7AE-6C90-44045A6F44C1}"/>
              </a:ext>
            </a:extLst>
          </p:cNvPr>
          <p:cNvSpPr txBox="1"/>
          <p:nvPr/>
        </p:nvSpPr>
        <p:spPr>
          <a:xfrm>
            <a:off x="0" y="757845"/>
            <a:ext cx="9836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Method 4: </a:t>
            </a:r>
            <a:r>
              <a:rPr lang="en-US" sz="2200" b="1" i="1" dirty="0">
                <a:solidFill>
                  <a:schemeClr val="accent1"/>
                </a:solidFill>
                <a:latin typeface="+mj-lt"/>
              </a:rPr>
              <a:t>Non-Collocated (NC) internal 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forces in </a:t>
            </a:r>
            <a:r>
              <a:rPr lang="en-US" sz="2200" i="1" dirty="0">
                <a:solidFill>
                  <a:schemeClr val="accent1"/>
                </a:solidFill>
                <a:latin typeface="+mj-lt"/>
              </a:rPr>
              <a:t>A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 and compatibility on interface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4DFB3A-6333-8E3D-8B60-2B7B980824A0}"/>
                  </a:ext>
                </a:extLst>
              </p:cNvPr>
              <p:cNvSpPr txBox="1"/>
              <p:nvPr/>
            </p:nvSpPr>
            <p:spPr>
              <a:xfrm>
                <a:off x="311655" y="2836926"/>
                <a:ext cx="5309571" cy="1208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sv-SE" sz="24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p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4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sv-SE" sz="240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40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4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4DFB3A-6333-8E3D-8B60-2B7B98082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55" y="2836926"/>
                <a:ext cx="5309571" cy="12084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EDEA3AD-A99B-B246-685E-7963D720575B}"/>
                  </a:ext>
                </a:extLst>
              </p:cNvPr>
              <p:cNvSpPr txBox="1"/>
              <p:nvPr/>
            </p:nvSpPr>
            <p:spPr>
              <a:xfrm>
                <a:off x="6783767" y="2968635"/>
                <a:ext cx="3052691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EDEA3AD-A99B-B246-685E-7963D7205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767" y="2968635"/>
                <a:ext cx="3052691" cy="438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52E31D5-CB58-D66F-A794-C5F62CC912B4}"/>
                  </a:ext>
                </a:extLst>
              </p:cNvPr>
              <p:cNvSpPr txBox="1"/>
              <p:nvPr/>
            </p:nvSpPr>
            <p:spPr>
              <a:xfrm>
                <a:off x="6767289" y="3475112"/>
                <a:ext cx="2541464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52E31D5-CB58-D66F-A794-C5F62CC91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289" y="3475112"/>
                <a:ext cx="2541464" cy="4385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6" name="Bild 70">
            <a:extLst>
              <a:ext uri="{FF2B5EF4-FFF2-40B4-BE49-F238E27FC236}">
                <a16:creationId xmlns:a16="http://schemas.microsoft.com/office/drawing/2014/main" id="{F6489E10-A153-BC74-67B3-BAB1F5FFEA8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712" t="-2124" r="67458" b="54106"/>
          <a:stretch/>
        </p:blipFill>
        <p:spPr>
          <a:xfrm>
            <a:off x="11488227" y="4801132"/>
            <a:ext cx="364151" cy="39677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3959656-378B-7DCC-F573-44C2233B1D7D}"/>
              </a:ext>
            </a:extLst>
          </p:cNvPr>
          <p:cNvGrpSpPr/>
          <p:nvPr/>
        </p:nvGrpSpPr>
        <p:grpSpPr>
          <a:xfrm>
            <a:off x="2803607" y="1303938"/>
            <a:ext cx="6697989" cy="1253117"/>
            <a:chOff x="3101134" y="1592103"/>
            <a:chExt cx="6697989" cy="1253117"/>
          </a:xfrm>
        </p:grpSpPr>
        <p:grpSp>
          <p:nvGrpSpPr>
            <p:cNvPr id="3" name="Gruppierung 40">
              <a:extLst>
                <a:ext uri="{FF2B5EF4-FFF2-40B4-BE49-F238E27FC236}">
                  <a16:creationId xmlns:a16="http://schemas.microsoft.com/office/drawing/2014/main" id="{550A10CD-2899-3B29-B340-3D589420EF22}"/>
                </a:ext>
              </a:extLst>
            </p:cNvPr>
            <p:cNvGrpSpPr/>
            <p:nvPr/>
          </p:nvGrpSpPr>
          <p:grpSpPr>
            <a:xfrm>
              <a:off x="3101134" y="1618864"/>
              <a:ext cx="2481589" cy="1221009"/>
              <a:chOff x="1302505" y="3304864"/>
              <a:chExt cx="2481589" cy="1221009"/>
            </a:xfrm>
          </p:grpSpPr>
          <p:pic>
            <p:nvPicPr>
              <p:cNvPr id="72" name="Bild 41">
                <a:extLst>
                  <a:ext uri="{FF2B5EF4-FFF2-40B4-BE49-F238E27FC236}">
                    <a16:creationId xmlns:a16="http://schemas.microsoft.com/office/drawing/2014/main" id="{95C459E4-AA02-06AB-02B7-A4F9782EFB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29670" t="66020" r="33503" b="8713"/>
              <a:stretch/>
            </p:blipFill>
            <p:spPr>
              <a:xfrm>
                <a:off x="1302505" y="3304864"/>
                <a:ext cx="2481589" cy="1221009"/>
              </a:xfrm>
              <a:prstGeom prst="rect">
                <a:avLst/>
              </a:prstGeom>
            </p:spPr>
          </p:pic>
          <p:sp>
            <p:nvSpPr>
              <p:cNvPr id="73" name="Textfeld 43">
                <a:extLst>
                  <a:ext uri="{FF2B5EF4-FFF2-40B4-BE49-F238E27FC236}">
                    <a16:creationId xmlns:a16="http://schemas.microsoft.com/office/drawing/2014/main" id="{F3EB1E21-AEC8-50C8-2E7A-2A1D234C62C5}"/>
                  </a:ext>
                </a:extLst>
              </p:cNvPr>
              <p:cNvSpPr txBox="1"/>
              <p:nvPr/>
            </p:nvSpPr>
            <p:spPr>
              <a:xfrm>
                <a:off x="1725821" y="3728147"/>
                <a:ext cx="3209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A</a:t>
                </a:r>
              </a:p>
            </p:txBody>
          </p:sp>
          <p:sp>
            <p:nvSpPr>
              <p:cNvPr id="74" name="Textfeld 44">
                <a:extLst>
                  <a:ext uri="{FF2B5EF4-FFF2-40B4-BE49-F238E27FC236}">
                    <a16:creationId xmlns:a16="http://schemas.microsoft.com/office/drawing/2014/main" id="{D8A4161B-78E4-A0F6-BB58-368F40B59E9D}"/>
                  </a:ext>
                </a:extLst>
              </p:cNvPr>
              <p:cNvSpPr txBox="1"/>
              <p:nvPr/>
            </p:nvSpPr>
            <p:spPr>
              <a:xfrm>
                <a:off x="2692287" y="3717746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B</a:t>
                </a:r>
              </a:p>
            </p:txBody>
          </p:sp>
        </p:grpSp>
        <p:sp>
          <p:nvSpPr>
            <p:cNvPr id="6" name="Textfeld 45">
              <a:extLst>
                <a:ext uri="{FF2B5EF4-FFF2-40B4-BE49-F238E27FC236}">
                  <a16:creationId xmlns:a16="http://schemas.microsoft.com/office/drawing/2014/main" id="{A59727BD-F167-7255-DB76-139A12BE9030}"/>
                </a:ext>
              </a:extLst>
            </p:cNvPr>
            <p:cNvSpPr txBox="1"/>
            <p:nvPr/>
          </p:nvSpPr>
          <p:spPr>
            <a:xfrm>
              <a:off x="5358066" y="1892166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/>
                <a:t>+</a:t>
              </a:r>
            </a:p>
          </p:txBody>
        </p:sp>
        <p:grpSp>
          <p:nvGrpSpPr>
            <p:cNvPr id="8" name="Gruppierung 46">
              <a:extLst>
                <a:ext uri="{FF2B5EF4-FFF2-40B4-BE49-F238E27FC236}">
                  <a16:creationId xmlns:a16="http://schemas.microsoft.com/office/drawing/2014/main" id="{C7897D93-E2EA-44A4-A9B4-D3B1910CC55C}"/>
                </a:ext>
              </a:extLst>
            </p:cNvPr>
            <p:cNvGrpSpPr/>
            <p:nvPr/>
          </p:nvGrpSpPr>
          <p:grpSpPr>
            <a:xfrm>
              <a:off x="5878657" y="1592103"/>
              <a:ext cx="1656405" cy="1204729"/>
              <a:chOff x="1221098" y="5079397"/>
              <a:chExt cx="1656405" cy="1204729"/>
            </a:xfrm>
          </p:grpSpPr>
          <p:pic>
            <p:nvPicPr>
              <p:cNvPr id="38" name="Bild 47">
                <a:extLst>
                  <a:ext uri="{FF2B5EF4-FFF2-40B4-BE49-F238E27FC236}">
                    <a16:creationId xmlns:a16="http://schemas.microsoft.com/office/drawing/2014/main" id="{967E22C7-A9CE-B3C0-D90D-9DDC141942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73699" t="66281" r="1644" b="8713"/>
              <a:stretch/>
            </p:blipFill>
            <p:spPr>
              <a:xfrm>
                <a:off x="1221098" y="5079397"/>
                <a:ext cx="1656405" cy="1204729"/>
              </a:xfrm>
              <a:prstGeom prst="rect">
                <a:avLst/>
              </a:prstGeom>
            </p:spPr>
          </p:pic>
          <p:sp>
            <p:nvSpPr>
              <p:cNvPr id="71" name="Textfeld 48">
                <a:extLst>
                  <a:ext uri="{FF2B5EF4-FFF2-40B4-BE49-F238E27FC236}">
                    <a16:creationId xmlns:a16="http://schemas.microsoft.com/office/drawing/2014/main" id="{8E1C1DA0-76B3-9184-569B-54FA6AF899AB}"/>
                  </a:ext>
                </a:extLst>
              </p:cNvPr>
              <p:cNvSpPr txBox="1"/>
              <p:nvPr/>
            </p:nvSpPr>
            <p:spPr>
              <a:xfrm>
                <a:off x="1624745" y="5492280"/>
                <a:ext cx="4459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>
                    <a:solidFill>
                      <a:srgbClr val="FF0000"/>
                    </a:solidFill>
                  </a:rPr>
                  <a:t>- A</a:t>
                </a:r>
              </a:p>
            </p:txBody>
          </p:sp>
        </p:grpSp>
        <p:sp>
          <p:nvSpPr>
            <p:cNvPr id="9" name="Textfeld 49">
              <a:extLst>
                <a:ext uri="{FF2B5EF4-FFF2-40B4-BE49-F238E27FC236}">
                  <a16:creationId xmlns:a16="http://schemas.microsoft.com/office/drawing/2014/main" id="{FF27D5F0-1F06-4FA6-88B9-0E51114D2815}"/>
                </a:ext>
              </a:extLst>
            </p:cNvPr>
            <p:cNvSpPr txBox="1"/>
            <p:nvPr/>
          </p:nvSpPr>
          <p:spPr>
            <a:xfrm>
              <a:off x="7510381" y="1892164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/>
                <a:t>=</a:t>
              </a:r>
            </a:p>
          </p:txBody>
        </p:sp>
        <p:grpSp>
          <p:nvGrpSpPr>
            <p:cNvPr id="15" name="Gruppierung 50">
              <a:extLst>
                <a:ext uri="{FF2B5EF4-FFF2-40B4-BE49-F238E27FC236}">
                  <a16:creationId xmlns:a16="http://schemas.microsoft.com/office/drawing/2014/main" id="{1FAA7B73-0F6A-8607-07CE-2BB83A78CE26}"/>
                </a:ext>
              </a:extLst>
            </p:cNvPr>
            <p:cNvGrpSpPr/>
            <p:nvPr/>
          </p:nvGrpSpPr>
          <p:grpSpPr>
            <a:xfrm>
              <a:off x="8395370" y="1624211"/>
              <a:ext cx="1403753" cy="1221009"/>
              <a:chOff x="2380341" y="3304864"/>
              <a:chExt cx="1403753" cy="1221009"/>
            </a:xfrm>
          </p:grpSpPr>
          <p:pic>
            <p:nvPicPr>
              <p:cNvPr id="36" name="Bild 51">
                <a:extLst>
                  <a:ext uri="{FF2B5EF4-FFF2-40B4-BE49-F238E27FC236}">
                    <a16:creationId xmlns:a16="http://schemas.microsoft.com/office/drawing/2014/main" id="{90E38C2D-C0B1-CDC6-B2E3-D341AED131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45665" t="66020" r="33503" b="8713"/>
              <a:stretch/>
            </p:blipFill>
            <p:spPr>
              <a:xfrm>
                <a:off x="2380341" y="3304864"/>
                <a:ext cx="1403753" cy="1221009"/>
              </a:xfrm>
              <a:prstGeom prst="rect">
                <a:avLst/>
              </a:prstGeom>
            </p:spPr>
          </p:pic>
          <p:sp>
            <p:nvSpPr>
              <p:cNvPr id="37" name="Textfeld 52">
                <a:extLst>
                  <a:ext uri="{FF2B5EF4-FFF2-40B4-BE49-F238E27FC236}">
                    <a16:creationId xmlns:a16="http://schemas.microsoft.com/office/drawing/2014/main" id="{43D89047-6CCC-725B-1719-8DA89470BBA4}"/>
                  </a:ext>
                </a:extLst>
              </p:cNvPr>
              <p:cNvSpPr txBox="1"/>
              <p:nvPr/>
            </p:nvSpPr>
            <p:spPr>
              <a:xfrm>
                <a:off x="2692287" y="3717746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B</a:t>
                </a:r>
              </a:p>
            </p:txBody>
          </p:sp>
        </p:grpSp>
        <p:sp>
          <p:nvSpPr>
            <p:cNvPr id="16" name="Textfeld 53">
              <a:extLst>
                <a:ext uri="{FF2B5EF4-FFF2-40B4-BE49-F238E27FC236}">
                  <a16:creationId xmlns:a16="http://schemas.microsoft.com/office/drawing/2014/main" id="{F62E6D9F-98B4-8BCD-D7A0-59764FEF2717}"/>
                </a:ext>
              </a:extLst>
            </p:cNvPr>
            <p:cNvSpPr txBox="1"/>
            <p:nvPr/>
          </p:nvSpPr>
          <p:spPr>
            <a:xfrm>
              <a:off x="3676315" y="173439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a</a:t>
              </a:r>
            </a:p>
          </p:txBody>
        </p:sp>
        <p:sp>
          <p:nvSpPr>
            <p:cNvPr id="17" name="Textfeld 63">
              <a:extLst>
                <a:ext uri="{FF2B5EF4-FFF2-40B4-BE49-F238E27FC236}">
                  <a16:creationId xmlns:a16="http://schemas.microsoft.com/office/drawing/2014/main" id="{A1B760C6-0B21-5532-13EC-1BEBC3E0E66C}"/>
                </a:ext>
              </a:extLst>
            </p:cNvPr>
            <p:cNvSpPr txBox="1"/>
            <p:nvPr/>
          </p:nvSpPr>
          <p:spPr>
            <a:xfrm>
              <a:off x="4791240" y="183332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b</a:t>
              </a:r>
            </a:p>
          </p:txBody>
        </p:sp>
        <p:sp>
          <p:nvSpPr>
            <p:cNvPr id="18" name="Textfeld 64">
              <a:extLst>
                <a:ext uri="{FF2B5EF4-FFF2-40B4-BE49-F238E27FC236}">
                  <a16:creationId xmlns:a16="http://schemas.microsoft.com/office/drawing/2014/main" id="{8F28DB86-1582-5AE9-A37F-D262DDBE9BD2}"/>
                </a:ext>
              </a:extLst>
            </p:cNvPr>
            <p:cNvSpPr txBox="1"/>
            <p:nvPr/>
          </p:nvSpPr>
          <p:spPr>
            <a:xfrm>
              <a:off x="3967751" y="1878775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c</a:t>
              </a:r>
            </a:p>
          </p:txBody>
        </p:sp>
        <p:sp>
          <p:nvSpPr>
            <p:cNvPr id="19" name="Textfeld 65">
              <a:extLst>
                <a:ext uri="{FF2B5EF4-FFF2-40B4-BE49-F238E27FC236}">
                  <a16:creationId xmlns:a16="http://schemas.microsoft.com/office/drawing/2014/main" id="{1D3563CA-3AC8-52E0-941D-4A6F0B04A5BF}"/>
                </a:ext>
              </a:extLst>
            </p:cNvPr>
            <p:cNvSpPr txBox="1"/>
            <p:nvPr/>
          </p:nvSpPr>
          <p:spPr>
            <a:xfrm>
              <a:off x="6502396" y="164616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a</a:t>
              </a:r>
            </a:p>
          </p:txBody>
        </p:sp>
        <p:sp>
          <p:nvSpPr>
            <p:cNvPr id="20" name="Textfeld 66">
              <a:extLst>
                <a:ext uri="{FF2B5EF4-FFF2-40B4-BE49-F238E27FC236}">
                  <a16:creationId xmlns:a16="http://schemas.microsoft.com/office/drawing/2014/main" id="{F2DD8487-14B4-7B10-C542-371640A07744}"/>
                </a:ext>
              </a:extLst>
            </p:cNvPr>
            <p:cNvSpPr txBox="1"/>
            <p:nvPr/>
          </p:nvSpPr>
          <p:spPr>
            <a:xfrm>
              <a:off x="6793832" y="1790547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c</a:t>
              </a:r>
            </a:p>
          </p:txBody>
        </p:sp>
        <p:sp>
          <p:nvSpPr>
            <p:cNvPr id="21" name="Textfeld 67">
              <a:extLst>
                <a:ext uri="{FF2B5EF4-FFF2-40B4-BE49-F238E27FC236}">
                  <a16:creationId xmlns:a16="http://schemas.microsoft.com/office/drawing/2014/main" id="{5B9ACF8F-BD81-018D-7EBB-2C09BC24AE95}"/>
                </a:ext>
              </a:extLst>
            </p:cNvPr>
            <p:cNvSpPr txBox="1"/>
            <p:nvPr/>
          </p:nvSpPr>
          <p:spPr>
            <a:xfrm>
              <a:off x="8980899" y="185203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b</a:t>
              </a:r>
            </a:p>
          </p:txBody>
        </p:sp>
        <p:sp>
          <p:nvSpPr>
            <p:cNvPr id="22" name="Textfeld 69">
              <a:extLst>
                <a:ext uri="{FF2B5EF4-FFF2-40B4-BE49-F238E27FC236}">
                  <a16:creationId xmlns:a16="http://schemas.microsoft.com/office/drawing/2014/main" id="{6D9951F7-8D16-D177-EB6B-8E318D8A829A}"/>
                </a:ext>
              </a:extLst>
            </p:cNvPr>
            <p:cNvSpPr txBox="1"/>
            <p:nvPr/>
          </p:nvSpPr>
          <p:spPr>
            <a:xfrm>
              <a:off x="8157410" y="1897491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>
                  <a:solidFill>
                    <a:srgbClr val="0066CC"/>
                  </a:solidFill>
                  <a:latin typeface="Times New Roman"/>
                  <a:cs typeface="Times New Roman"/>
                </a:rPr>
                <a:t>c</a:t>
              </a:r>
            </a:p>
          </p:txBody>
        </p:sp>
        <p:grpSp>
          <p:nvGrpSpPr>
            <p:cNvPr id="23" name="Gruppierung 3">
              <a:extLst>
                <a:ext uri="{FF2B5EF4-FFF2-40B4-BE49-F238E27FC236}">
                  <a16:creationId xmlns:a16="http://schemas.microsoft.com/office/drawing/2014/main" id="{2557D64F-547E-91BF-FD04-1D9C8C96A5A3}"/>
                </a:ext>
              </a:extLst>
            </p:cNvPr>
            <p:cNvGrpSpPr/>
            <p:nvPr/>
          </p:nvGrpSpPr>
          <p:grpSpPr>
            <a:xfrm>
              <a:off x="4145523" y="1891388"/>
              <a:ext cx="125647" cy="700544"/>
              <a:chOff x="2317816" y="3532785"/>
              <a:chExt cx="158268" cy="771056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B8305D7-DBD8-33C1-2215-C44B296E3F16}"/>
                  </a:ext>
                </a:extLst>
              </p:cNvPr>
              <p:cNvSpPr/>
              <p:nvPr/>
            </p:nvSpPr>
            <p:spPr bwMode="auto">
              <a:xfrm>
                <a:off x="2328230" y="35327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45889B3-03E3-7333-B72C-2240391011D2}"/>
                  </a:ext>
                </a:extLst>
              </p:cNvPr>
              <p:cNvSpPr/>
              <p:nvPr/>
            </p:nvSpPr>
            <p:spPr bwMode="auto">
              <a:xfrm>
                <a:off x="2317816" y="4157309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22F1F46-BB1D-C6D7-28EC-B3EF182BC8A4}"/>
                  </a:ext>
                </a:extLst>
              </p:cNvPr>
              <p:cNvSpPr/>
              <p:nvPr/>
            </p:nvSpPr>
            <p:spPr bwMode="auto">
              <a:xfrm>
                <a:off x="2323684" y="37561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4E8D440-AA92-99B9-B2BF-524F628A637E}"/>
                  </a:ext>
                </a:extLst>
              </p:cNvPr>
              <p:cNvSpPr/>
              <p:nvPr/>
            </p:nvSpPr>
            <p:spPr bwMode="auto">
              <a:xfrm>
                <a:off x="2329552" y="3973706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24" name="Gruppierung 55">
              <a:extLst>
                <a:ext uri="{FF2B5EF4-FFF2-40B4-BE49-F238E27FC236}">
                  <a16:creationId xmlns:a16="http://schemas.microsoft.com/office/drawing/2014/main" id="{C562C586-2F57-84C6-9D92-EFBC53EE84C4}"/>
                </a:ext>
              </a:extLst>
            </p:cNvPr>
            <p:cNvGrpSpPr/>
            <p:nvPr/>
          </p:nvGrpSpPr>
          <p:grpSpPr>
            <a:xfrm>
              <a:off x="7031287" y="1836702"/>
              <a:ext cx="125647" cy="700544"/>
              <a:chOff x="2317816" y="3532785"/>
              <a:chExt cx="158268" cy="771056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EFDCB8E3-DBE2-42F5-1271-0F90B45139B8}"/>
                  </a:ext>
                </a:extLst>
              </p:cNvPr>
              <p:cNvSpPr/>
              <p:nvPr/>
            </p:nvSpPr>
            <p:spPr bwMode="auto">
              <a:xfrm>
                <a:off x="2328230" y="35327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1DC89D5-1700-7051-8915-004934A93610}"/>
                  </a:ext>
                </a:extLst>
              </p:cNvPr>
              <p:cNvSpPr/>
              <p:nvPr/>
            </p:nvSpPr>
            <p:spPr bwMode="auto">
              <a:xfrm>
                <a:off x="2317816" y="4157309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D07B77D-491D-4A86-5186-23B0D4F7ED5E}"/>
                  </a:ext>
                </a:extLst>
              </p:cNvPr>
              <p:cNvSpPr/>
              <p:nvPr/>
            </p:nvSpPr>
            <p:spPr bwMode="auto">
              <a:xfrm>
                <a:off x="2323684" y="37561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06B7671-D378-D4C3-F9C1-E3D5470DD117}"/>
                  </a:ext>
                </a:extLst>
              </p:cNvPr>
              <p:cNvSpPr/>
              <p:nvPr/>
            </p:nvSpPr>
            <p:spPr bwMode="auto">
              <a:xfrm>
                <a:off x="2329552" y="3973706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  <p:cxnSp>
          <p:nvCxnSpPr>
            <p:cNvPr id="25" name="Gerade Verbindung mit Pfeil 71">
              <a:extLst>
                <a:ext uri="{FF2B5EF4-FFF2-40B4-BE49-F238E27FC236}">
                  <a16:creationId xmlns:a16="http://schemas.microsoft.com/office/drawing/2014/main" id="{9A19669A-14DA-75D1-2C7A-8BCEEED71753}"/>
                </a:ext>
              </a:extLst>
            </p:cNvPr>
            <p:cNvCxnSpPr/>
            <p:nvPr/>
          </p:nvCxnSpPr>
          <p:spPr bwMode="auto">
            <a:xfrm>
              <a:off x="6466920" y="2502604"/>
              <a:ext cx="28690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  <a:round/>
              <a:headEnd type="none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mit Pfeil 82">
              <a:extLst>
                <a:ext uri="{FF2B5EF4-FFF2-40B4-BE49-F238E27FC236}">
                  <a16:creationId xmlns:a16="http://schemas.microsoft.com/office/drawing/2014/main" id="{FC2354E7-CFEE-181F-F8A2-D7561A6DF687}"/>
                </a:ext>
              </a:extLst>
            </p:cNvPr>
            <p:cNvCxnSpPr/>
            <p:nvPr/>
          </p:nvCxnSpPr>
          <p:spPr bwMode="auto">
            <a:xfrm>
              <a:off x="6426597" y="1758168"/>
              <a:ext cx="28690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  <a:round/>
              <a:headEnd type="none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mit Pfeil 83">
              <a:extLst>
                <a:ext uri="{FF2B5EF4-FFF2-40B4-BE49-F238E27FC236}">
                  <a16:creationId xmlns:a16="http://schemas.microsoft.com/office/drawing/2014/main" id="{34ACDF1D-A296-6059-3109-8646955D47D9}"/>
                </a:ext>
              </a:extLst>
            </p:cNvPr>
            <p:cNvCxnSpPr/>
            <p:nvPr/>
          </p:nvCxnSpPr>
          <p:spPr bwMode="auto">
            <a:xfrm>
              <a:off x="6675631" y="2324740"/>
              <a:ext cx="286909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8000"/>
              </a:solidFill>
              <a:prstDash val="solid"/>
              <a:round/>
              <a:headEnd type="none"/>
              <a:tailEnd type="arrow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8681E7A-D7A1-C6BD-74F1-07EE3EEA9CEC}"/>
                  </a:ext>
                </a:extLst>
              </p:cNvPr>
              <p:cNvSpPr txBox="1"/>
              <p:nvPr/>
            </p:nvSpPr>
            <p:spPr>
              <a:xfrm>
                <a:off x="305760" y="4499745"/>
                <a:ext cx="2877098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8681E7A-D7A1-C6BD-74F1-07EE3EEA9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60" y="4499745"/>
                <a:ext cx="2877098" cy="4385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F51D975-DC27-53F5-9204-7B014834D112}"/>
                  </a:ext>
                </a:extLst>
              </p:cNvPr>
              <p:cNvSpPr txBox="1"/>
              <p:nvPr/>
            </p:nvSpPr>
            <p:spPr>
              <a:xfrm>
                <a:off x="330409" y="5348195"/>
                <a:ext cx="2240990" cy="438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2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sz="2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𝑐𝑎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sv-SE" sz="22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F51D975-DC27-53F5-9204-7B014834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09" y="5348195"/>
                <a:ext cx="2240990" cy="438582"/>
              </a:xfrm>
              <a:prstGeom prst="rect">
                <a:avLst/>
              </a:prstGeom>
              <a:blipFill>
                <a:blip r:embed="rId9"/>
                <a:stretch>
                  <a:fillRect l="-27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feld 7">
            <a:extLst>
              <a:ext uri="{FF2B5EF4-FFF2-40B4-BE49-F238E27FC236}">
                <a16:creationId xmlns:a16="http://schemas.microsoft.com/office/drawing/2014/main" id="{7AD8863D-77C5-A349-3FC1-4CC75B993E4B}"/>
              </a:ext>
            </a:extLst>
          </p:cNvPr>
          <p:cNvSpPr txBox="1"/>
          <p:nvPr/>
        </p:nvSpPr>
        <p:spPr>
          <a:xfrm>
            <a:off x="3338423" y="4472396"/>
            <a:ext cx="85598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Works if the interface </a:t>
            </a:r>
            <a:r>
              <a:rPr lang="en-US" sz="2200" dirty="0" err="1">
                <a:solidFill>
                  <a:schemeClr val="accent1"/>
                </a:solidFill>
                <a:latin typeface="+mj-lt"/>
              </a:rPr>
              <a:t>dofs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 are controllable from the </a:t>
            </a:r>
            <a:r>
              <a:rPr lang="en-US" sz="2200" dirty="0" err="1">
                <a:solidFill>
                  <a:schemeClr val="accent1"/>
                </a:solidFill>
                <a:latin typeface="+mj-lt"/>
              </a:rPr>
              <a:t>dofs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 inside </a:t>
            </a:r>
            <a:r>
              <a:rPr lang="en-US" sz="2200" i="1" dirty="0">
                <a:solidFill>
                  <a:schemeClr val="accent1"/>
                </a:solidFill>
                <a:latin typeface="+mj-lt"/>
              </a:rPr>
              <a:t>A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 </a:t>
            </a:r>
          </a:p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 . no need to have driving points at interface (can be difficult to measure)</a:t>
            </a:r>
          </a:p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 . approximate (weak) compatibility</a:t>
            </a:r>
          </a:p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 . interface problem </a:t>
            </a:r>
            <a:r>
              <a:rPr lang="en-US" sz="2200" dirty="0" err="1">
                <a:solidFill>
                  <a:schemeClr val="accent1"/>
                </a:solidFill>
                <a:latin typeface="+mj-lt"/>
              </a:rPr>
              <a:t>overdetermined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 if more c-</a:t>
            </a:r>
            <a:r>
              <a:rPr lang="en-US" sz="2200" dirty="0" err="1">
                <a:solidFill>
                  <a:schemeClr val="accent1"/>
                </a:solidFill>
                <a:latin typeface="+mj-lt"/>
              </a:rPr>
              <a:t>dofs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 than a-</a:t>
            </a:r>
            <a:r>
              <a:rPr lang="en-US" sz="2200" dirty="0" err="1">
                <a:solidFill>
                  <a:schemeClr val="accent1"/>
                </a:solidFill>
                <a:latin typeface="+mj-lt"/>
              </a:rPr>
              <a:t>dofs</a:t>
            </a:r>
            <a:endParaRPr lang="en-US" sz="22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2039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5E80-DB6E-B195-B29C-F6F23E169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DDC621BF-2599-61D9-CD7A-12A8EE6CC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3962"/>
            <a:ext cx="9934318" cy="53649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Frequency Based Decoupling: A Big Family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CF51F-83D1-A4BA-2174-6D6136DB7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763481"/>
            <a:ext cx="11337324" cy="54508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2163A2C-3DEB-FF6D-CF74-B86A45D99D43}"/>
              </a:ext>
            </a:extLst>
          </p:cNvPr>
          <p:cNvSpPr txBox="1"/>
          <p:nvPr/>
        </p:nvSpPr>
        <p:spPr>
          <a:xfrm>
            <a:off x="0" y="757845"/>
            <a:ext cx="9836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Method 4: </a:t>
            </a:r>
            <a:r>
              <a:rPr lang="en-US" sz="2200" b="1" i="1" dirty="0">
                <a:solidFill>
                  <a:schemeClr val="accent1"/>
                </a:solidFill>
                <a:latin typeface="+mj-lt"/>
              </a:rPr>
              <a:t>Non-Collocated (NC) internal 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forces in </a:t>
            </a:r>
            <a:r>
              <a:rPr lang="en-US" sz="2200" i="1" dirty="0">
                <a:solidFill>
                  <a:schemeClr val="accent1"/>
                </a:solidFill>
                <a:latin typeface="+mj-lt"/>
              </a:rPr>
              <a:t>A</a:t>
            </a:r>
            <a:r>
              <a:rPr lang="en-US" sz="2200" dirty="0">
                <a:solidFill>
                  <a:schemeClr val="accent1"/>
                </a:solidFill>
                <a:latin typeface="+mj-lt"/>
              </a:rPr>
              <a:t> and compatibility on interface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DB6BE4-5F06-EB57-2808-8F47B41ABD92}"/>
              </a:ext>
            </a:extLst>
          </p:cNvPr>
          <p:cNvGrpSpPr/>
          <p:nvPr/>
        </p:nvGrpSpPr>
        <p:grpSpPr>
          <a:xfrm>
            <a:off x="2747005" y="1488312"/>
            <a:ext cx="6697989" cy="1253117"/>
            <a:chOff x="2617964" y="3276404"/>
            <a:chExt cx="6697989" cy="125311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F426AD-11D0-F42D-ABE1-F37DD9677892}"/>
                </a:ext>
              </a:extLst>
            </p:cNvPr>
            <p:cNvGrpSpPr/>
            <p:nvPr/>
          </p:nvGrpSpPr>
          <p:grpSpPr>
            <a:xfrm>
              <a:off x="2617964" y="3276404"/>
              <a:ext cx="6697989" cy="1253117"/>
              <a:chOff x="2617964" y="3276404"/>
              <a:chExt cx="6697989" cy="1253117"/>
            </a:xfrm>
          </p:grpSpPr>
          <p:grpSp>
            <p:nvGrpSpPr>
              <p:cNvPr id="40" name="Gruppierung 40">
                <a:extLst>
                  <a:ext uri="{FF2B5EF4-FFF2-40B4-BE49-F238E27FC236}">
                    <a16:creationId xmlns:a16="http://schemas.microsoft.com/office/drawing/2014/main" id="{4AB220F0-2078-A321-7AF1-FC4BFC6BB92F}"/>
                  </a:ext>
                </a:extLst>
              </p:cNvPr>
              <p:cNvGrpSpPr/>
              <p:nvPr/>
            </p:nvGrpSpPr>
            <p:grpSpPr>
              <a:xfrm>
                <a:off x="2617964" y="3303165"/>
                <a:ext cx="2481589" cy="1221009"/>
                <a:chOff x="1302505" y="3304864"/>
                <a:chExt cx="2481589" cy="1221009"/>
              </a:xfrm>
            </p:grpSpPr>
            <p:pic>
              <p:nvPicPr>
                <p:cNvPr id="70" name="Bild 41">
                  <a:extLst>
                    <a:ext uri="{FF2B5EF4-FFF2-40B4-BE49-F238E27FC236}">
                      <a16:creationId xmlns:a16="http://schemas.microsoft.com/office/drawing/2014/main" id="{E6C751AF-43D5-26FD-F576-A979199DF9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9670" t="66020" r="33503" b="8713"/>
                <a:stretch/>
              </p:blipFill>
              <p:spPr>
                <a:xfrm>
                  <a:off x="1302505" y="3304864"/>
                  <a:ext cx="2481589" cy="1221009"/>
                </a:xfrm>
                <a:prstGeom prst="rect">
                  <a:avLst/>
                </a:prstGeom>
              </p:spPr>
            </p:pic>
            <p:sp>
              <p:nvSpPr>
                <p:cNvPr id="75" name="Textfeld 43">
                  <a:extLst>
                    <a:ext uri="{FF2B5EF4-FFF2-40B4-BE49-F238E27FC236}">
                      <a16:creationId xmlns:a16="http://schemas.microsoft.com/office/drawing/2014/main" id="{2B501008-34F1-0524-240A-B2E5FC6311FC}"/>
                    </a:ext>
                  </a:extLst>
                </p:cNvPr>
                <p:cNvSpPr txBox="1"/>
                <p:nvPr/>
              </p:nvSpPr>
              <p:spPr>
                <a:xfrm>
                  <a:off x="1725821" y="3728147"/>
                  <a:ext cx="3209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A</a:t>
                  </a:r>
                </a:p>
              </p:txBody>
            </p:sp>
            <p:sp>
              <p:nvSpPr>
                <p:cNvPr id="76" name="Textfeld 44">
                  <a:extLst>
                    <a:ext uri="{FF2B5EF4-FFF2-40B4-BE49-F238E27FC236}">
                      <a16:creationId xmlns:a16="http://schemas.microsoft.com/office/drawing/2014/main" id="{AAE6F771-4E12-98FC-C25A-E23876E8987E}"/>
                    </a:ext>
                  </a:extLst>
                </p:cNvPr>
                <p:cNvSpPr txBox="1"/>
                <p:nvPr/>
              </p:nvSpPr>
              <p:spPr>
                <a:xfrm>
                  <a:off x="2692287" y="3717746"/>
                  <a:ext cx="3241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B</a:t>
                  </a:r>
                </a:p>
              </p:txBody>
            </p:sp>
          </p:grpSp>
          <p:sp>
            <p:nvSpPr>
              <p:cNvPr id="41" name="Textfeld 45">
                <a:extLst>
                  <a:ext uri="{FF2B5EF4-FFF2-40B4-BE49-F238E27FC236}">
                    <a16:creationId xmlns:a16="http://schemas.microsoft.com/office/drawing/2014/main" id="{3C8F700B-855D-E137-9544-6CA80CEEC667}"/>
                  </a:ext>
                </a:extLst>
              </p:cNvPr>
              <p:cNvSpPr txBox="1"/>
              <p:nvPr/>
            </p:nvSpPr>
            <p:spPr>
              <a:xfrm>
                <a:off x="4874896" y="3576467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/>
                  <a:t>+</a:t>
                </a:r>
              </a:p>
            </p:txBody>
          </p:sp>
          <p:grpSp>
            <p:nvGrpSpPr>
              <p:cNvPr id="42" name="Gruppierung 46">
                <a:extLst>
                  <a:ext uri="{FF2B5EF4-FFF2-40B4-BE49-F238E27FC236}">
                    <a16:creationId xmlns:a16="http://schemas.microsoft.com/office/drawing/2014/main" id="{C440C9AA-1069-BAE5-1128-FA0A4C6D0C75}"/>
                  </a:ext>
                </a:extLst>
              </p:cNvPr>
              <p:cNvGrpSpPr/>
              <p:nvPr/>
            </p:nvGrpSpPr>
            <p:grpSpPr>
              <a:xfrm>
                <a:off x="5395487" y="3276404"/>
                <a:ext cx="1656405" cy="1204729"/>
                <a:chOff x="1221098" y="5079397"/>
                <a:chExt cx="1656405" cy="1204729"/>
              </a:xfrm>
            </p:grpSpPr>
            <p:pic>
              <p:nvPicPr>
                <p:cNvPr id="68" name="Bild 47">
                  <a:extLst>
                    <a:ext uri="{FF2B5EF4-FFF2-40B4-BE49-F238E27FC236}">
                      <a16:creationId xmlns:a16="http://schemas.microsoft.com/office/drawing/2014/main" id="{F23DB43E-CCF2-D93A-9534-0876A63465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73699" t="66281" r="1644" b="8713"/>
                <a:stretch/>
              </p:blipFill>
              <p:spPr>
                <a:xfrm>
                  <a:off x="1221098" y="5079397"/>
                  <a:ext cx="1656405" cy="1204729"/>
                </a:xfrm>
                <a:prstGeom prst="rect">
                  <a:avLst/>
                </a:prstGeom>
              </p:spPr>
            </p:pic>
            <p:sp>
              <p:nvSpPr>
                <p:cNvPr id="69" name="Textfeld 48">
                  <a:extLst>
                    <a:ext uri="{FF2B5EF4-FFF2-40B4-BE49-F238E27FC236}">
                      <a16:creationId xmlns:a16="http://schemas.microsoft.com/office/drawing/2014/main" id="{930666F8-E9CD-6862-DEBC-358DE736E9DB}"/>
                    </a:ext>
                  </a:extLst>
                </p:cNvPr>
                <p:cNvSpPr txBox="1"/>
                <p:nvPr/>
              </p:nvSpPr>
              <p:spPr>
                <a:xfrm>
                  <a:off x="1624745" y="5492280"/>
                  <a:ext cx="44595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>
                      <a:solidFill>
                        <a:srgbClr val="FF0000"/>
                      </a:solidFill>
                    </a:rPr>
                    <a:t>- A</a:t>
                  </a:r>
                </a:p>
              </p:txBody>
            </p:sp>
          </p:grpSp>
          <p:sp>
            <p:nvSpPr>
              <p:cNvPr id="43" name="Textfeld 49">
                <a:extLst>
                  <a:ext uri="{FF2B5EF4-FFF2-40B4-BE49-F238E27FC236}">
                    <a16:creationId xmlns:a16="http://schemas.microsoft.com/office/drawing/2014/main" id="{BCF804FA-E04B-2B61-D8FB-2926EDB8D18D}"/>
                  </a:ext>
                </a:extLst>
              </p:cNvPr>
              <p:cNvSpPr txBox="1"/>
              <p:nvPr/>
            </p:nvSpPr>
            <p:spPr>
              <a:xfrm>
                <a:off x="7027211" y="3576465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/>
                  <a:t>=</a:t>
                </a:r>
              </a:p>
            </p:txBody>
          </p:sp>
          <p:grpSp>
            <p:nvGrpSpPr>
              <p:cNvPr id="44" name="Gruppierung 50">
                <a:extLst>
                  <a:ext uri="{FF2B5EF4-FFF2-40B4-BE49-F238E27FC236}">
                    <a16:creationId xmlns:a16="http://schemas.microsoft.com/office/drawing/2014/main" id="{04E80581-7054-8B19-D901-3A6C33A84A01}"/>
                  </a:ext>
                </a:extLst>
              </p:cNvPr>
              <p:cNvGrpSpPr/>
              <p:nvPr/>
            </p:nvGrpSpPr>
            <p:grpSpPr>
              <a:xfrm>
                <a:off x="7912200" y="3308512"/>
                <a:ext cx="1403753" cy="1221009"/>
                <a:chOff x="2380341" y="3304864"/>
                <a:chExt cx="1403753" cy="1221009"/>
              </a:xfrm>
            </p:grpSpPr>
            <p:pic>
              <p:nvPicPr>
                <p:cNvPr id="66" name="Bild 51">
                  <a:extLst>
                    <a:ext uri="{FF2B5EF4-FFF2-40B4-BE49-F238E27FC236}">
                      <a16:creationId xmlns:a16="http://schemas.microsoft.com/office/drawing/2014/main" id="{C009DAA5-081A-1BC3-61FD-8B6A349C99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45665" t="66020" r="33503" b="8713"/>
                <a:stretch/>
              </p:blipFill>
              <p:spPr>
                <a:xfrm>
                  <a:off x="2380341" y="3304864"/>
                  <a:ext cx="1403753" cy="1221009"/>
                </a:xfrm>
                <a:prstGeom prst="rect">
                  <a:avLst/>
                </a:prstGeom>
              </p:spPr>
            </p:pic>
            <p:sp>
              <p:nvSpPr>
                <p:cNvPr id="67" name="Textfeld 52">
                  <a:extLst>
                    <a:ext uri="{FF2B5EF4-FFF2-40B4-BE49-F238E27FC236}">
                      <a16:creationId xmlns:a16="http://schemas.microsoft.com/office/drawing/2014/main" id="{4BDB7E4C-047F-A0CC-FBFE-60AB65463796}"/>
                    </a:ext>
                  </a:extLst>
                </p:cNvPr>
                <p:cNvSpPr txBox="1"/>
                <p:nvPr/>
              </p:nvSpPr>
              <p:spPr>
                <a:xfrm>
                  <a:off x="2692287" y="3717746"/>
                  <a:ext cx="3241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/>
                    <a:t>B</a:t>
                  </a:r>
                </a:p>
              </p:txBody>
            </p:sp>
          </p:grpSp>
          <p:sp>
            <p:nvSpPr>
              <p:cNvPr id="45" name="Textfeld 53">
                <a:extLst>
                  <a:ext uri="{FF2B5EF4-FFF2-40B4-BE49-F238E27FC236}">
                    <a16:creationId xmlns:a16="http://schemas.microsoft.com/office/drawing/2014/main" id="{CE105762-C6F8-1863-C6E8-4F002BB621C7}"/>
                  </a:ext>
                </a:extLst>
              </p:cNvPr>
              <p:cNvSpPr txBox="1"/>
              <p:nvPr/>
            </p:nvSpPr>
            <p:spPr>
              <a:xfrm>
                <a:off x="3193145" y="3418694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>
                    <a:solidFill>
                      <a:srgbClr val="0066CC"/>
                    </a:solidFill>
                    <a:latin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46" name="Textfeld 63">
                <a:extLst>
                  <a:ext uri="{FF2B5EF4-FFF2-40B4-BE49-F238E27FC236}">
                    <a16:creationId xmlns:a16="http://schemas.microsoft.com/office/drawing/2014/main" id="{E9836CA8-8628-FCE6-D9FD-C13201E3D399}"/>
                  </a:ext>
                </a:extLst>
              </p:cNvPr>
              <p:cNvSpPr txBox="1"/>
              <p:nvPr/>
            </p:nvSpPr>
            <p:spPr>
              <a:xfrm>
                <a:off x="4308070" y="3517622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>
                    <a:solidFill>
                      <a:srgbClr val="0066CC"/>
                    </a:solidFill>
                    <a:latin typeface="Times New Roman"/>
                    <a:cs typeface="Times New Roman"/>
                  </a:rPr>
                  <a:t>b</a:t>
                </a:r>
              </a:p>
            </p:txBody>
          </p:sp>
          <p:sp>
            <p:nvSpPr>
              <p:cNvPr id="47" name="Textfeld 64">
                <a:extLst>
                  <a:ext uri="{FF2B5EF4-FFF2-40B4-BE49-F238E27FC236}">
                    <a16:creationId xmlns:a16="http://schemas.microsoft.com/office/drawing/2014/main" id="{8B0497FA-86AE-51C7-A22F-7FAD050092BA}"/>
                  </a:ext>
                </a:extLst>
              </p:cNvPr>
              <p:cNvSpPr txBox="1"/>
              <p:nvPr/>
            </p:nvSpPr>
            <p:spPr>
              <a:xfrm>
                <a:off x="3484581" y="3563076"/>
                <a:ext cx="298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>
                    <a:solidFill>
                      <a:srgbClr val="0066CC"/>
                    </a:solidFill>
                    <a:latin typeface="Times New Roman"/>
                    <a:cs typeface="Times New Roman"/>
                  </a:rPr>
                  <a:t>c</a:t>
                </a:r>
              </a:p>
            </p:txBody>
          </p:sp>
          <p:sp>
            <p:nvSpPr>
              <p:cNvPr id="48" name="Textfeld 65">
                <a:extLst>
                  <a:ext uri="{FF2B5EF4-FFF2-40B4-BE49-F238E27FC236}">
                    <a16:creationId xmlns:a16="http://schemas.microsoft.com/office/drawing/2014/main" id="{D3EDC904-F285-6AA2-2E72-361368863604}"/>
                  </a:ext>
                </a:extLst>
              </p:cNvPr>
              <p:cNvSpPr txBox="1"/>
              <p:nvPr/>
            </p:nvSpPr>
            <p:spPr>
              <a:xfrm>
                <a:off x="6019226" y="3330466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>
                    <a:solidFill>
                      <a:srgbClr val="0066CC"/>
                    </a:solidFill>
                    <a:latin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49" name="Textfeld 66">
                <a:extLst>
                  <a:ext uri="{FF2B5EF4-FFF2-40B4-BE49-F238E27FC236}">
                    <a16:creationId xmlns:a16="http://schemas.microsoft.com/office/drawing/2014/main" id="{F2ACB5D0-484A-B044-DCA2-9FCB28B8F4C5}"/>
                  </a:ext>
                </a:extLst>
              </p:cNvPr>
              <p:cNvSpPr txBox="1"/>
              <p:nvPr/>
            </p:nvSpPr>
            <p:spPr>
              <a:xfrm>
                <a:off x="6310662" y="3474848"/>
                <a:ext cx="298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>
                    <a:solidFill>
                      <a:srgbClr val="0066CC"/>
                    </a:solidFill>
                    <a:latin typeface="Times New Roman"/>
                    <a:cs typeface="Times New Roman"/>
                  </a:rPr>
                  <a:t>c</a:t>
                </a:r>
              </a:p>
            </p:txBody>
          </p:sp>
          <p:sp>
            <p:nvSpPr>
              <p:cNvPr id="50" name="Textfeld 67">
                <a:extLst>
                  <a:ext uri="{FF2B5EF4-FFF2-40B4-BE49-F238E27FC236}">
                    <a16:creationId xmlns:a16="http://schemas.microsoft.com/office/drawing/2014/main" id="{12FF7238-97BA-248D-194C-9CB0A41B13B0}"/>
                  </a:ext>
                </a:extLst>
              </p:cNvPr>
              <p:cNvSpPr txBox="1"/>
              <p:nvPr/>
            </p:nvSpPr>
            <p:spPr>
              <a:xfrm>
                <a:off x="8497729" y="3536338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>
                    <a:solidFill>
                      <a:srgbClr val="0066CC"/>
                    </a:solidFill>
                    <a:latin typeface="Times New Roman"/>
                    <a:cs typeface="Times New Roman"/>
                  </a:rPr>
                  <a:t>b</a:t>
                </a:r>
              </a:p>
            </p:txBody>
          </p:sp>
          <p:sp>
            <p:nvSpPr>
              <p:cNvPr id="51" name="Textfeld 69">
                <a:extLst>
                  <a:ext uri="{FF2B5EF4-FFF2-40B4-BE49-F238E27FC236}">
                    <a16:creationId xmlns:a16="http://schemas.microsoft.com/office/drawing/2014/main" id="{10B8CC7F-04DB-2AAD-C2CD-2EF541621C8C}"/>
                  </a:ext>
                </a:extLst>
              </p:cNvPr>
              <p:cNvSpPr txBox="1"/>
              <p:nvPr/>
            </p:nvSpPr>
            <p:spPr>
              <a:xfrm>
                <a:off x="7674240" y="3581792"/>
                <a:ext cx="298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i="1">
                    <a:solidFill>
                      <a:srgbClr val="0066CC"/>
                    </a:solidFill>
                    <a:latin typeface="Times New Roman"/>
                    <a:cs typeface="Times New Roman"/>
                  </a:rPr>
                  <a:t>c</a:t>
                </a:r>
              </a:p>
            </p:txBody>
          </p:sp>
          <p:grpSp>
            <p:nvGrpSpPr>
              <p:cNvPr id="52" name="Gruppierung 3">
                <a:extLst>
                  <a:ext uri="{FF2B5EF4-FFF2-40B4-BE49-F238E27FC236}">
                    <a16:creationId xmlns:a16="http://schemas.microsoft.com/office/drawing/2014/main" id="{0A630E32-A295-FB17-D802-5B821FB9178A}"/>
                  </a:ext>
                </a:extLst>
              </p:cNvPr>
              <p:cNvGrpSpPr/>
              <p:nvPr/>
            </p:nvGrpSpPr>
            <p:grpSpPr>
              <a:xfrm>
                <a:off x="3662353" y="3575689"/>
                <a:ext cx="125647" cy="700544"/>
                <a:chOff x="2317816" y="3532785"/>
                <a:chExt cx="158268" cy="771056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0EBE90DB-D65A-CA44-3BE9-570F4A682A7A}"/>
                    </a:ext>
                  </a:extLst>
                </p:cNvPr>
                <p:cNvSpPr/>
                <p:nvPr/>
              </p:nvSpPr>
              <p:spPr bwMode="auto">
                <a:xfrm>
                  <a:off x="2328230" y="3532785"/>
                  <a:ext cx="146532" cy="1465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EEA74AA5-359F-E19C-6D82-DD3B06B55FC7}"/>
                    </a:ext>
                  </a:extLst>
                </p:cNvPr>
                <p:cNvSpPr/>
                <p:nvPr/>
              </p:nvSpPr>
              <p:spPr bwMode="auto">
                <a:xfrm>
                  <a:off x="2317816" y="4157309"/>
                  <a:ext cx="146532" cy="1465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1ECC2D6F-0A16-BEDF-9E94-61FEE0EF2883}"/>
                    </a:ext>
                  </a:extLst>
                </p:cNvPr>
                <p:cNvSpPr/>
                <p:nvPr/>
              </p:nvSpPr>
              <p:spPr bwMode="auto">
                <a:xfrm>
                  <a:off x="2323684" y="3756185"/>
                  <a:ext cx="146532" cy="1465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124C3A4C-AFB2-18B8-1549-90FF96B0FF72}"/>
                    </a:ext>
                  </a:extLst>
                </p:cNvPr>
                <p:cNvSpPr/>
                <p:nvPr/>
              </p:nvSpPr>
              <p:spPr bwMode="auto">
                <a:xfrm>
                  <a:off x="2329552" y="3973706"/>
                  <a:ext cx="146532" cy="146532"/>
                </a:xfrm>
                <a:prstGeom prst="ellipse">
                  <a:avLst/>
                </a:prstGeom>
                <a:solidFill>
                  <a:srgbClr val="FF0000"/>
                </a:solidFill>
                <a:ln w="1905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latin typeface="Arial" charset="0"/>
                    <a:ea typeface="ＭＳ Ｐゴシック" charset="0"/>
                  </a:endParaRPr>
                </a:p>
              </p:txBody>
            </p:sp>
          </p:grpSp>
          <p:cxnSp>
            <p:nvCxnSpPr>
              <p:cNvPr id="53" name="Gerade Verbindung mit Pfeil 71">
                <a:extLst>
                  <a:ext uri="{FF2B5EF4-FFF2-40B4-BE49-F238E27FC236}">
                    <a16:creationId xmlns:a16="http://schemas.microsoft.com/office/drawing/2014/main" id="{1DDBAC57-D567-E0E8-34E5-0D1059806353}"/>
                  </a:ext>
                </a:extLst>
              </p:cNvPr>
              <p:cNvCxnSpPr/>
              <p:nvPr/>
            </p:nvCxnSpPr>
            <p:spPr bwMode="auto">
              <a:xfrm>
                <a:off x="5983750" y="4186905"/>
                <a:ext cx="28690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  <a:round/>
                <a:headEnd type="none"/>
                <a:tailEnd type="arrow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4" name="Gerade Verbindung mit Pfeil 81">
                <a:extLst>
                  <a:ext uri="{FF2B5EF4-FFF2-40B4-BE49-F238E27FC236}">
                    <a16:creationId xmlns:a16="http://schemas.microsoft.com/office/drawing/2014/main" id="{D8EFF149-E2E7-C128-A914-3B322D04D584}"/>
                  </a:ext>
                </a:extLst>
              </p:cNvPr>
              <p:cNvCxnSpPr/>
              <p:nvPr/>
            </p:nvCxnSpPr>
            <p:spPr bwMode="auto">
              <a:xfrm>
                <a:off x="5735808" y="3773270"/>
                <a:ext cx="28690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  <a:round/>
                <a:headEnd type="none"/>
                <a:tailEnd type="arrow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5" name="Gerade Verbindung mit Pfeil 82">
                <a:extLst>
                  <a:ext uri="{FF2B5EF4-FFF2-40B4-BE49-F238E27FC236}">
                    <a16:creationId xmlns:a16="http://schemas.microsoft.com/office/drawing/2014/main" id="{574C2284-2381-AC90-4F1F-7A1A1F80FFAA}"/>
                  </a:ext>
                </a:extLst>
              </p:cNvPr>
              <p:cNvCxnSpPr/>
              <p:nvPr/>
            </p:nvCxnSpPr>
            <p:spPr bwMode="auto">
              <a:xfrm>
                <a:off x="5943427" y="3442469"/>
                <a:ext cx="28690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  <a:round/>
                <a:headEnd type="none"/>
                <a:tailEnd type="arrow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6" name="Gerade Verbindung mit Pfeil 83">
                <a:extLst>
                  <a:ext uri="{FF2B5EF4-FFF2-40B4-BE49-F238E27FC236}">
                    <a16:creationId xmlns:a16="http://schemas.microsoft.com/office/drawing/2014/main" id="{70AA4F87-312D-609D-F216-AD64AE0E2FDB}"/>
                  </a:ext>
                </a:extLst>
              </p:cNvPr>
              <p:cNvCxnSpPr/>
              <p:nvPr/>
            </p:nvCxnSpPr>
            <p:spPr bwMode="auto">
              <a:xfrm>
                <a:off x="6192461" y="4009041"/>
                <a:ext cx="28690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  <a:round/>
                <a:headEnd type="none"/>
                <a:tailEnd type="arrow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7" name="Gerade Verbindung mit Pfeil 84">
                <a:extLst>
                  <a:ext uri="{FF2B5EF4-FFF2-40B4-BE49-F238E27FC236}">
                    <a16:creationId xmlns:a16="http://schemas.microsoft.com/office/drawing/2014/main" id="{841FD4EB-762E-835C-8E08-FE72F82A91C8}"/>
                  </a:ext>
                </a:extLst>
              </p:cNvPr>
              <p:cNvCxnSpPr/>
              <p:nvPr/>
            </p:nvCxnSpPr>
            <p:spPr bwMode="auto">
              <a:xfrm>
                <a:off x="6136150" y="4339305"/>
                <a:ext cx="28690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  <a:round/>
                <a:headEnd type="none"/>
                <a:tailEnd type="arrow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8" name="Gerade Verbindung mit Pfeil 88">
                <a:extLst>
                  <a:ext uri="{FF2B5EF4-FFF2-40B4-BE49-F238E27FC236}">
                    <a16:creationId xmlns:a16="http://schemas.microsoft.com/office/drawing/2014/main" id="{270C2CB1-C59C-D23D-4E98-40A877D331D1}"/>
                  </a:ext>
                </a:extLst>
              </p:cNvPr>
              <p:cNvCxnSpPr/>
              <p:nvPr/>
            </p:nvCxnSpPr>
            <p:spPr bwMode="auto">
              <a:xfrm>
                <a:off x="5777769" y="4077533"/>
                <a:ext cx="28690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  <a:round/>
                <a:headEnd type="none"/>
                <a:tailEnd type="arrow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9" name="Gerade Verbindung mit Pfeil 89">
                <a:extLst>
                  <a:ext uri="{FF2B5EF4-FFF2-40B4-BE49-F238E27FC236}">
                    <a16:creationId xmlns:a16="http://schemas.microsoft.com/office/drawing/2014/main" id="{508AB699-3E12-9711-98EA-6A6929321134}"/>
                  </a:ext>
                </a:extLst>
              </p:cNvPr>
              <p:cNvCxnSpPr/>
              <p:nvPr/>
            </p:nvCxnSpPr>
            <p:spPr bwMode="auto">
              <a:xfrm>
                <a:off x="5792119" y="3650092"/>
                <a:ext cx="28690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  <a:round/>
                <a:headEnd type="none"/>
                <a:tailEnd type="arrow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0" name="Gerade Verbindung mit Pfeil 90">
                <a:extLst>
                  <a:ext uri="{FF2B5EF4-FFF2-40B4-BE49-F238E27FC236}">
                    <a16:creationId xmlns:a16="http://schemas.microsoft.com/office/drawing/2014/main" id="{CAFBA07C-1E18-C6CC-2AB9-2A5DA646F049}"/>
                  </a:ext>
                </a:extLst>
              </p:cNvPr>
              <p:cNvCxnSpPr/>
              <p:nvPr/>
            </p:nvCxnSpPr>
            <p:spPr bwMode="auto">
              <a:xfrm>
                <a:off x="6137785" y="3761075"/>
                <a:ext cx="28690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8000"/>
                </a:solidFill>
                <a:prstDash val="solid"/>
                <a:round/>
                <a:headEnd type="none"/>
                <a:tailEnd type="arrow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0" name="Gruppierung 55">
              <a:extLst>
                <a:ext uri="{FF2B5EF4-FFF2-40B4-BE49-F238E27FC236}">
                  <a16:creationId xmlns:a16="http://schemas.microsoft.com/office/drawing/2014/main" id="{4714B2CC-BB41-E9C0-D158-81D8FDCA1147}"/>
                </a:ext>
              </a:extLst>
            </p:cNvPr>
            <p:cNvGrpSpPr/>
            <p:nvPr/>
          </p:nvGrpSpPr>
          <p:grpSpPr>
            <a:xfrm>
              <a:off x="6548117" y="3521003"/>
              <a:ext cx="125647" cy="700544"/>
              <a:chOff x="2317816" y="3532785"/>
              <a:chExt cx="158268" cy="771056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06F130C-7289-E0ED-C6EA-85AD9E34ABFF}"/>
                  </a:ext>
                </a:extLst>
              </p:cNvPr>
              <p:cNvSpPr/>
              <p:nvPr/>
            </p:nvSpPr>
            <p:spPr bwMode="auto">
              <a:xfrm>
                <a:off x="2328230" y="35327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3C67460-65F7-FBF4-7D06-10A23567A2EF}"/>
                  </a:ext>
                </a:extLst>
              </p:cNvPr>
              <p:cNvSpPr/>
              <p:nvPr/>
            </p:nvSpPr>
            <p:spPr bwMode="auto">
              <a:xfrm>
                <a:off x="2317816" y="4157309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78801370-B3E0-2686-0BE8-7B5F10E4C266}"/>
                  </a:ext>
                </a:extLst>
              </p:cNvPr>
              <p:cNvSpPr/>
              <p:nvPr/>
            </p:nvSpPr>
            <p:spPr bwMode="auto">
              <a:xfrm>
                <a:off x="2323684" y="3756185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D0D3E80-3911-7E2B-4570-2C8744E8AC52}"/>
                  </a:ext>
                </a:extLst>
              </p:cNvPr>
              <p:cNvSpPr/>
              <p:nvPr/>
            </p:nvSpPr>
            <p:spPr bwMode="auto">
              <a:xfrm>
                <a:off x="2329552" y="3973706"/>
                <a:ext cx="146532" cy="146532"/>
              </a:xfrm>
              <a:prstGeom prst="ellipse">
                <a:avLst/>
              </a:prstGeom>
              <a:solidFill>
                <a:srgbClr val="FF0000"/>
              </a:solidFill>
              <a:ln w="1905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BD7040C1-ED00-4AEB-A51B-84CA931C4F7B}"/>
              </a:ext>
            </a:extLst>
          </p:cNvPr>
          <p:cNvSpPr txBox="1"/>
          <p:nvPr/>
        </p:nvSpPr>
        <p:spPr>
          <a:xfrm>
            <a:off x="266235" y="3105923"/>
            <a:ext cx="1101491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Many other variants can be imagined by choosing other locations for the compatibility conditions and for the forces.</a:t>
            </a:r>
          </a:p>
          <a:p>
            <a:endParaRPr lang="en-US" sz="2200" dirty="0">
              <a:solidFill>
                <a:schemeClr val="accent1"/>
              </a:solidFill>
              <a:latin typeface="+mj-lt"/>
            </a:endParaRPr>
          </a:p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One could even imagine taking more forces than compatibility conditions. In that case the interface problem would be underdetermined, and a least square procedure would choose the force distribution with minimum norm.</a:t>
            </a:r>
          </a:p>
          <a:p>
            <a:endParaRPr lang="en-US" sz="2200" dirty="0">
              <a:solidFill>
                <a:schemeClr val="accent1"/>
              </a:solidFill>
              <a:latin typeface="+mj-lt"/>
            </a:endParaRPr>
          </a:p>
          <a:p>
            <a:r>
              <a:rPr lang="en-US" sz="2200" dirty="0">
                <a:solidFill>
                  <a:schemeClr val="accent1"/>
                </a:solidFill>
                <a:latin typeface="+mj-lt"/>
              </a:rPr>
              <a:t>This would correspond to a weakening on the force side.</a:t>
            </a:r>
          </a:p>
        </p:txBody>
      </p:sp>
    </p:spTree>
    <p:extLst>
      <p:ext uri="{BB962C8B-B14F-4D97-AF65-F5344CB8AC3E}">
        <p14:creationId xmlns:p14="http://schemas.microsoft.com/office/powerpoint/2010/main" val="60552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2929-3ADB-BBE8-37E8-A5EC1F3AA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A716-9860-C99F-CE72-1BCF759B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Up</a:t>
            </a:r>
            <a:r>
              <a:rPr lang="en-US"/>
              <a:t>: Nonlinear CMS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848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E5EA762-36B8-4486-B2A4-375E820FDB54}">
  <we:reference id="wa104381909" version="3.15.0.0" store="en-US" storeType="OMEX"/>
  <we:alternateReferences>
    <we:reference id="WA104381909" version="3.15.0.0" store="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up&gt;&lt;mi&gt;M&lt;/mi&gt;&lt;mfenced&gt;&lt;mi&gt;s&lt;/mi&gt;&lt;/mfenced&gt;&lt;/msup&gt;&lt;/math&gt;\&quot;,\&quot;base64Image\&quot;:\&quot;iVBORw0KGgoAAAANSUhEUgAAAN8AAABRCAYAAABSQ3OEAAAACXBIWXMAAA7EAAAOxAGVKw4bAAAABGJhU0UAAABQq0/DagAAC79JREFUeNrtXQ9kVl0Yf0ySTCTJJDGTmSRmJslEkpnJyEySRCb5ZEYmSRJJMvmMZDKfGTOTmUQmST6RmUlmTGaSGZNJZkbfPV93up33ufc+59xzzz3nfZ8fh7T3fc9znvM858/z7wAwKgHtQWuskLEeCNo1nnJG0dgXtJGg/Qza3xUy5sfheN8H7RCLAKOo3W45FMShoFVV0Nj7w3F/D9plFgVGEcIn2sMK5cH1CA8Gg7aNxYKRJ/YEbSoidHcrnB/nI7x4HbRdLCKMPLA/aHMRYXvELClRwA9B28ssYZjEwaB9iQjZCLMk9gg6E7TdzBKGCRyQFO8t329QPJN4tINZwsgCcYRaiAiVsG7uY7agEAvSdIRXo8wShi6qwhX8Z6SdZrYkQvj91iP86mGWMHTQLyneU2YJCTcjPNsMWjOzhKGCNknxVuGXm4FBO35+jvBunu9/DCqEpe6rpHy9zBYldEv8u8ssYVAwIAnOCq/cWvflZen4yXGgjEQ0SIon2n1mixYeSnyc9G0ATxFh0GlPHB7jKwPjO2WIlgnktxtYj7TQhPDymE8DuBS0Mfhl8l7PIJyuRmR0Z1S6b0EbN6Qgh5Hfn2cdygT57vza58EIAbmFDCqtvXJwLLXwKyVFVeHEHex2DneIJ0hfj1l/MmEY4elh3wclLHLvFQR21cExvNNQvJeQT9xgddA2kP46PJSNmqDdCE8Eq+GJSYxtKVSGVsBzDwfBvC/zgmdXIDLaFIR20zHab2go3ifIz+p4KaZPnyL0t4XGoQ0CL5fCzwpFbAlaX/j/lwzTdBTpex3KwHp8WlF4XRGkBqKAyC3P0K6JmPukLxDCPCXRL0z9PeHxfmun26q/shjD4zbDdFWFC7/czwXfle+SQ8KrMhmzGoq3kPOOgS0GEx7JwpBE+2J4/Ew6Zk8hY87DF/cR6ee578o3oijA5xyg+Q7oWTXzjJBojelzyBM5wI52nUS7wZJ0NcmjDs04Qt8GeF7zRtXi+VfB9DaBvkuhuYAFwZeQsgGEdmq+4UXpHpgH4nzVp3xVvEYNAS4yKl/cSeYQA4oLltrxmH47PZEFjI8q14CV8DvjOdEX58u95avy3UQsSGlCPFYgvXJ6jjjiUC2eeQcIfLFkfMgL2Nwf0bgv5rU4n3NQHjPhDSKgaUL8b0G0tiC0iKPePaLync/ZABTX70lPZAEzFqmUM+wKv5NX/c04l9iSj4pXDX+ab8W/KW6HtYJolc3aM6HQfyAqX02O9NUm9FvriTxgboN1Bfqbct7p42QzLwNPruiUBiGEeDtRkG0PdhBhuAgv2kOkdyZn+s4k9L3TE3kYSTjpUOZbyI4odV+XE331CTyu9035ngFuhqfc++os0tmWcMnuJCrfg5xpPJvQ93ZP5KHdUSNb9PQTR98Z35RPdjG0hP8/TxDmVks07kHonCGs1rbN0Z0OnRKy3FuXEsbR67DytfukeLKL4UdESCYIwmzLfD4GpU7VaNrPMoHWHxYU4HxC/z6hJ4WXVwqkLelKdM4nJssuhqi5dogg0DZ8K11Iv32Rvx8l7nrjFmgtF+UTTvWFFH6edVD5On1i8muJ+O7I324TBPpZzvQJy+Sq1Od7xVUaG1sRx07fqlKnZbmIk0SzY8rnzc4nuxhEO0hcxW3tJi+h1OR9KOUzcc1GwZ1yMLhEMZzCU3EPt11xe6eDu3HmVXpBceUT7WOO9GFhRD3I8YiSTrRgiadJroZqD5VPBEsvgltVDcrC2im7GAakv9cTjRh5QDh01yA9oqaduOsNWOLpgQQafC13cBiZiyLz6fYm0HHUF6Z+TdmytxEFO4/jlPymwXfAIyweE2m0dRyJS/b0/V2GVkjPZLflSjnp+9FedjFsxBBOKUh0xDBtvUgf12I+O0egb8PypMRZCdvBb6QZ4C4WvBCs+cJI2cUwFfM5SrykyRi+eiiNrHkT89n9xF1vyjJvR8F+QLctJBXZspVV0OHIPGtDdjHciPncOEG4TZ33xbFlBjluHoz5PLXsxQ3LvI1LbXKtUvWDcHFVvf8VXdHuIrgb+kayFsn3kkaiUSbPeEksAzzJN0cNKWu0zN8T4EcZiRHQK78Qt7OvW6L7EXjsYJddDCsJn6U4sE0IVROyILxK2SXXCLQtF8Dfqpi7smvVlV+EdDUZunP9sLhoYP3v90H55N1sWEFRsZa1Ktd2xHDyLYWZzcRdr6jdZqRA4aRia/Hq1ZgvjNezBd47Z8ATyC6GroTPngFawdQs6Ed+My0L+jZR+Yo6isRFutQ5IgPRjPt3Gt8vItRwC1iq2x0fFA8rlJT0QmoNQcCznPWx+9FLwvfeEugSx9jdBQr3Crgbeyhn3Kskoe6C4qqHNUBxoYOZIbsYphVWyKSmU64bKwmxCullHnZCvCPbhRozW3hY4O6QBjl0UKWoFPZewrQlurF443fgCWQXA8X8TTFstGjQgtVfpLgtOqD4wrgU1EFxMaY6CkSJwBGL8UfkhGHLojwMxYa2aQNzMVCOClNgPnwLs5g9z6C0phYE0xgDNx/HfAC4ny7psckdMYakLot0Lzu6mKWiE/Qyu0cJgq4SWoSVhBATT01NWQA3stZ17yguGAdGEu7J96U7oNjBr0JpWZE1sJvC0wLFhbRlhuxioObiUXYalayB0Qyr5yFwozCuCuSKAEsOLAwvIsomlEjllafNUCZqLNMsy6E37gVAdhtqZne3QWHHqg2PKozhKlFArjjEd+Gv/O7YPWUlvD9VSyeSjnCRng1PD+sh7XPhPAlZKOJpuBpkgWjyRfEwFwPVPEsxcLwgMlAuCbEMya4OGc+JynfAMf7LmRqfgKECOaTsoU/E38xwUaVUr6YE1U5CtmeSq4jHo4+OzoEcmXGVdYp81diU5terkhyvM9zRqon3ANWj67DiGE4Sd71+R+egDv5026wq7vqVireSkeeQT8RjLgZVKxXFqR0nSAeh1Fe4rCF41IdQWh2ei06wX87QZ/R6NLekCd/U2LZXCEJ/mrByZcnqpiT2imOp6yX67oD9koY+4oS06F/2cRCyi0EntWWSIPjY/Q1LSdIJsdpN3PUmPZmTf+DP2NhjrGslp6WoQ/26rwORXQx9Gr9BSVyVn4nGSkJ8Ab1gZ+pDKD5N0ph0DK9lnfsfwpUxXw6Kh7kYdKoM9xMEP5rGLyyT02CuriI1a73Bs/mJPnn2GewXoHUNYmGeiVwhunwejOxi0K2zcYEg+FFnOZZvN2hw98baoqdzdCsyhrkKVsC9EcUTJ4Hjvg9IdjHohl2dJQj/VmrHUSi1joqQql2afR8h7nrPPJ6nNvgdgLAI8UWjyvmOtxWzK1LBanwfEOZi0C1fd4wg/MKdIKyon8BsoiX1IZQOz+dLROW8gd9vIDRWiOI1hzudkNU74OHTzlQjhe6KsoOoAFhlqayl2ikPoWxm2FldQ3e4C/ZUiPIJmZktt8VGdjFkjQJfB3rke9SIkOWBEOpDKG/KTCArKfJld7nsdklGiqz1NT9rKF/WhNY2Yj+3gMFwBJiLIetDHROKivfYwDj6iX0185QzXIFs6tepTCxjSEHx5kGvqJKMT2Amo4LBsAbZwT1h4DfvKiifiXCpGvAva51R4ahFBLTPwO9eICqDqURH6kMo53nKGa7gJuTzjBfF+DFn6LgpMEpUPs6JYziDeURATYQsNYC9F4GoLoZZnm6GK8DKq20Y+u3tKYpwz+A4qEfcQZ5yhivAokFMPpf7A+LrpphMYv0A/lUpY1QwjkP+jxZiaUKmy4V3Ad2qepGnnVE0qqH0jTsTeXQysGeiTb6JIO6VqwrKN8BTzygSOyE9+Fik9JhIU8HiRU3F5Ym0pWVQi6JZhzLI+2L4h22hYWKOKKji7idSNuoz9NknHTcPZxyDcKSLwjjvQD1uNEqHCGVrhjIM0GW4BVFOTSTJbmQQWFECXES9PFHsO5qmpBvMfD3seyUD/Uk74XR4PBZFik6yuDBMYtKgsKpaQlsNHDfHc1A6NsgwGAxGueI/NVCi53mdm3QAAACUdEVYdE1hdGhNTAA8bWF0aCB4bWxucz0iaHR0cDovL3d3dy53My5vcmcvMTk5OC9NYXRoL01hdGhNTCI+PG1zdHlsZSBtYXRoc2l6ZT0iMTZweCI+PG1zdXA+PG1pPk08L21pPjxtZmVuY2VkPjxtaT5zPC9taT48L21mZW5jZWQ+PC9tc3VwPjwvbXN0eWxlPjwvbWF0aD7w7/OLAAAAAElFTkSuQmCC\&quot;,\&quot;slideId\&quot;:760,\&quot;accessibleText\&quot;:\&quot;M to the power of open parentheses s close parentheses end exponent\&quot;,\&quot;imageHeight\&quot;:12.96},{\&quot;mathml\&quot;:\&quot;&lt;math style=\\\&quot;font-family:stix;font-size:16px;\\\&quot; xmlns=\\\&quot;http://www.w3.org/1998/Math/MathML\\\&quot;&gt;&lt;msup&gt;&lt;mi&gt;K&lt;/mi&gt;&lt;mfenced&gt;&lt;mi&gt;s&lt;/mi&gt;&lt;/mfenced&gt;&lt;/msup&gt;&lt;/math&gt;\&quot;,\&quot;base64Image\&quot;:\&quot;iVBORw0KGgoAAAANSUhEUgAAAM0AAABRCAYAAABxGCJRAAAACXBIWXMAAA7EAAAOxAGVKw4bAAAABGJhU0UAAABQq0/DagAACeFJREFUeNrtXXFE31sUv2Yyk8gzk2QkSWZGkpkkZpIkMUmSGU9mf2TG5JlkHplM5hnJTCYxyeSZxzN5MhOTZJLIZJJEnkmS2Pse3d77dt+939/5fn/f+/19z/2eD/efrd/3nnvuOfeee+455wrBSDPavVaXkbFWeO0BTzkjKi57bdprP7z2W0bG/EKOd9Fr1SwCjLC7y44UoEmvncvQ2MfkuPe9do9FgRFGaKCNZpQHAz4evPLaeRYLhg4/ee2DT1ieZpwfPT5ezHuthEWE4Ue519Z8QvKcWfI/xfnstUvMEgbgite2fMIxzSwxmmrLXitllmQbFYrCLLD9rsVrhUcXmCXZBJgaGz5hAG/ZZWaLFrCQLPl49ZZZkj2ckyvmD1+7zWwJBNzbHPr49ZBZki2MKQozwSxB4Rcfz4691sAsyQbaFIXZEyfuZgbOTPvq4906n2/cB3h+thWlecRsCYV+hX9PmSVu46Uy4bu8UkY6D+4oZhrHqTmKWkVhoI0wWyJhVOHj75SIb9UIgq02i6Dnu6W+b8XAqznNd2tZ/iOhXsPLG1SIv+a1KSkQ63KrjFtgN6TCDCDogUuwP2JUnhVxckOfr3Bf1Xx7nWU/L6hnw3nK9maT18bzVCAQ/Dteu5gHLUVyJ/wQoX+IrK2JkS/jmj5esNznhSkNT69SH1RjBMXZjskUUhX5IMTOci3m/ou9dqTpq5PgnJZ57bHc+cFVfijH9k0KcavQ5/7AIhT3XVSvhqfjLqwGr0IqTIUFGoqRyjsq7CR73TX0Ryli97x0Whwh+PhN/m2rtDoG5b/fjZmm65q+QYnJeyP7Ej5s6zCUo99dOcG2oHMA/E1oDi9oTFxw+UIYS6VvoTnN79808LnNggWhWwx7s6I0tlyGN3PsMh/FSS6LzRVatzrPEZrDSYX2TWmmBe3sunOkjbuUL5p+3mXFPGu00HelOHsJlpQ55ofJJT9JZP50JlAX4nel0kzzX0Da4PWshr4jQbymwieEwuxY6FfNU0nSHPNj2EADldCZlxrasfk+fco5xwYmEjb1rQN7AI971a0NUJhPls0xzEqIXa3TgFUN7WHOHLsCfzEdBf0G/j6hqjR3kKZZd4x9gpm3V0BzTMVWQodiWzjU0B7GJX96HppIWMZmXD/PxBUW32uY5CTNMXWlNY25mcgcHhkWHyy65W9s1S9rE2a3N0nsIBRmKaa+xlJijqmOCNO4K4nMoc59fBiC/nrLO+ttA39tOR4S97ro2rM8+4ELwvkUmWN+tASM+yKReZwOWIwwvIVQJiipW2WJvpoAHtdQU5pHSKXJJy8ebpu3DeZYGs4MHQHjLiIyj+0BY0hDinZxAH0t1JQGEySZjz99KGAFrEgJD7oCxk7FdDgnzt63pM11HqQ07ZQU5rzAuZqj3IqXpdgcU9ETMHZKeJhjHn8uIG1FAXTdocTkDqRpNhDyu8AEnTt5T6TTheuK0sAiuJFjLjtSqDRdlJg8gVQabGIXbMGTBMyxMOYZtSqabTnmElIvGlKmNKR2mg2BSwPAoCHge2kzx1x0BPgxhZjTpCuEXkzh7hca1chdBhM6M2w4G+0ROeQFuZyLCSoNBGFu5pjXP1PkCCDjPXuAVJoge/OKMAd6ptkcU1ERMH6qablAd676C0nms1wKoOM6Faa+QyjMsTA/l9AXMCnPBa1bXlOSFPW6zbkqEH1LcJ6aqZvApoQrtS0atn7T7TMVcyzM+a5d0EaubNi+AivwdyqMbEGaZr8qv2sS5gs0SuaYDm8N4+oR9LEYMMdJRRl3Gvr/QIWJz5FK0+zbmUYC/o6aOabDY8PY0lZZE2IAP0c43/wIsA6SgCmdnswrDCsIhTmQigBetmUHzTEVjYJGuvO0iBbWZNpJDwu8UJO42CwT+NKykG23b/j/r8TNMZ0zQDfWtFWDfC/pqo/pTHGQoLLr+i+nIBx3kUqzL3J71lyrbzxdQKHC4tRjGTYA03Qjv1LAc9UyZcHIpyStSzBFBlSlhD5/hunHCL/Xje11QrTrMnWHKZsgOtNrD6k4bQ4pjb/ARBpjo9QM0zDJWyWicNVgag19k3irphGpCFAOaAD5t+uCvufMj9ECrsa5oAZjTof4ra6e8lJCdOuiyD9SEYhhpCJ0SEVYRf79Y4eUpkronxBJA3SCj4lYgLn8ojmT1iVEty6AlExJ2kWBC505DWu4hVQaOJy69IDrjEjno07PhN7tH/RI0gXDObY7Qbp3UroI5UQpUgFUF+sc8nfjDilNbUoPrdMBC92IcsaBHfO+NJ/VBS7JUPwmUbjQnbzRhRT+QeV31QL/ds01hxRHTaZLMrjRhPc+JQHhPxJ4Tyf8Bm7fyxKmWU10XKYkBFhXcwPSLNC1BYeUBi7d9lNmh+/K84E/xwfM4k7prIA7F7hXOpS0r4mTSAC4pC7EGztlGsWupyQEmIKApjikEqF3xZLP984BtbzVqmCEgRo6M0qJ+DqkwAe5MPuR3/gqaKYIY50n91kXUFDN+i/U5GIQKfC5wuBXkN8Zcmjyq8TZZLs94Zan0BYWFOdDNbUBzCOFPdchsUng49bKHRIA1YkyyzoRyqxtpTaAIoHzfmED92aRivPGMUFQL4b7WTe0UF8Kv0dxENiCgGPI71UKvKuzzjGBeCPO5qHcYB05Ayi04nc4DVAdCLYgYJgyOr8iv7nkoGD4owV2BJ2nOGwDXNrrLigMAFMQMGwmINwTbCMVp9dBAfE/ggXewssZVxiINln2yVI35cFgCwJGeeb8HvLbW4Jmwb1ceOIb41qGFeeST2Fg571JfUDYgoBRt9Il5PeHHRUYCNU/zTvalDZ91s4wp5YMVCMqc2FQ2GDLqBG8N5HfP3LY9oc6CX+J/2ok12VEYRrkznIsF0UncqqwBQG38+wHG9M247gQ9ctd52FGlAZCZFZcWySwBQHzLVEEK+0hsq8mxwUpS5ECpcKtjN1/V4KkAiyHkH2tCAYjxcCkKgcVOA8DeHtkC6k4HPDISCXKkQL8KcY+e5B9QopBCU8RI23A3qE8jbnfRWS/ozxFjLRhBim8cV9EXRf41NtqniZGWoAtCGir3OqksBeFwGBYATbn5a2l/sMU4mjh6WKkASNIgbV5CYc1D1eFg75+Bj2sIQXW5rsynQJfWmiQp4xRSDSEEFabSlMagg6IJqjhqWMUCnMhhPWRRTpqRLgnO9ZEPJesDEYoDIYUVLjBt5UDMiXCv3UD70hW8DQybOO8PD8siGiPMu1IZYvDPIJQGnjHZVFEfyQK3OBQq6CZHQSMOAH1ksFdDJ6nYxHfq2YHUvkg1B9z6QlFrMFLBrkk32Okw38BCqnE74RbxdUZBUCrBQGNktc/kQAd/mJzDAaDwUgC/wCdu+wmqfx/TwAAAJR0RVh0TWF0aE1MADxtYXRoIHhtbG5zPSJodHRwOi8vd3d3LnczLm9yZy8xOTk4L01hdGgvTWF0aE1MIj48bXN0eWxlIG1hdGhzaXplPSIxNnB4Ij48bXN1cD48bWk+SzwvbWk+PG1mZW5jZWQ+PG1pPnM8L21pPjwvbWZlbmNlZD48L21zdXA+PC9tc3R5bGU+PC9tYXRoPpUM1KAAAAAASUVORK5CYII=\&quot;,\&quot;slideId\&quot;:760,\&quot;accessibleText\&quot;:\&quot;K to the power of open parentheses s close parentheses end exponent\&quot;,\&quot;imageHeight\&quot;:12.96},{\&quot;mathml\&quot;:\&quot;&lt;math style=\\\&quot;font-family:stix;font-size:48px;\\\&quot; xmlns=\\\&quot;http://www.w3.org/1998/Math/MathML\\\&quot;&gt;&lt;msup&gt;&lt;mi mathcolor=\\\&quot;#00007F\\\&quot;&gt;M&lt;/mi&gt;&lt;mfenced mathcolor=\\\&quot;#00007F\\\&quot;&gt;&lt;mi&gt;s&lt;/mi&gt;&lt;/mfenced&gt;&lt;/msup&gt;&lt;/math&gt;\&quot;,\&quot;base64Image\&quot;:\&quot;iVBORw0KGgoAAAANSUhEUgAAAqAAAADxCAYAAAAUcQW+AAAACXBIWXMAAA7EAAAOxAGVKw4bAAAABGJhU0UAAADwfZlgggAAKFlJREFUeNrtnS9QXMsSh69AIBCICARiBQKBQCAQCAQCgYiIQCBWRCAiEAhEqtgqBCICEYFAIBAIRAQCgUAgEAgEAoFAIBAIBAKxIm/nnCUvkGX3nPnbM/N9Vce8d+/Npqdnpme659f//QcAAJHSGsIGgB8DAACAjw3703//be52vmNsAXGzOdP57jrfMrYAAACQu2F/6XwPne93+bUWsAlEepAa7fjwzf99efOk87+NYxcAAAA5m/VkeeP5Z7N+/a5JYUKkh6le/vzU+b7h0wAAAOGDz2ZnU37usVmrr935/6exEUTm0/Mf+PPrd1keugAAAMAzmxOd77zPJv3S2aSXsBNEGoQudnz4cYB/r3MbCgAA4G9z/trn1lN9t51vFjtB5H4+VZaR9L0NPSkf3gEAAICrDVm9cN8fsCFfsSFDQj4/OuCm/3f58K41h60AAADsb8TznY32fsBGfNb558awFSTm+0NdabF+vt8mJQ8AAGB3A/5ebrB9N+DTzj83jK0g4XmwVmEeHHb+uRFsBQAAoL/hjpY1bn033Nc6OIJPyGFONCsEoVe8kgcAANCi6AJzXSH43CH4hMyC0MXyFXzfefFEXSgAAEC9DbZZYYNV3xa2gkznyEKFOdIu5xIAAAAMYPNHhRTj7/JRBkDWQej8AK1QDmoAAAADNtORivWe6jvgtS9AMW+mKwahe8wZAACAt5too7NB3lQMPnfYSAG0glAObgAAAN3NU3V7uePmE8AE1fmrUt30IY/2AAAg9+Cz6s0NOp8Ag+fTYsX6aeYSAABku1nOl1IxlYLPi1ITFAAGzKvPFYPQEwTrAQAgt01yoWK68HepBcpGCVBjfq1VnFsnlLQAAEAum+NijeBT3ZBOYDOAuqh6aeqqAQAA/ut2N3quuDH+LoNVANA46A2XtZ6V5toe9gIAgFQ3xDoPjtS3is0AjObcaGce3VY87G1gLwAASG0jnKoZfO5gMwBrc69i1qG1hL0AACCVDXC0fEhUOfi8oCYNwCabyxXn3kuZqQAAAIg7+FTtNS9rBJ9PnX9nErsBWA9CdyrOwbuyMxkAAEC8m95JjeDzd6kNCgAODoNDZXYB6TMAAEg7+PxRL/hU/zwAOAxCJ2uoUBxRCgMAALEFnysVu7H8nfaj0xGA+7n5rca8/Ia9AAAglg1utobQ/O9uoDqL3QC8zdGjGmUxC9gLAACEU0d38M+3hd0AvM7T8RqpeLITAAAgnc3zmsEnmxtAmCB0vcY8pWc8AACIDT63agafvHoHCBeAqlfxNzXm6ldsBgAA0jazuZqPjtR3gN0Ags7b+ZoavePYDAAApGxiSmz+vmbw+cJmBiCBzWNS8QAAEOMGtl8/9c7DIwAhB8jpmmUz69gMAABCB58rGsHnfWcTG8Z2AGLm8QHZCwAAiASt1Lu6QVnDdgCiAtCJmjXch9gMAABCbVp73H4CJDOfz2oeJJewGQAAeKbW61mkXADSm9P3ZRYEAADAz0al9AOvNW8/EZ0HEEsdXdDi28ZmAADgKwBtat5+UvsJIHtur9Wc18+df2cMuwEAgOsNSvPhUbFRcfsJIHt+j2s0lOBBEgAAuEan3Wbx7WM7gCjm+C+N+T2D3eDVgTonks279L7WBmOb3In7eyL++SODdWWi1ADUSr/P4esAUazJnzXm+Cl2g9eN4kzzlkL6x1V/WgvdVJmaTcI3M7jh05Jd+t09PNK+DyCOdXlU86A5i+0g5QD0grFNZpEb1nhxSQAabrzG9A8LrRb+DhBVDHGkMddPsBukHIA+MLbJ+OhWYr6ZeACqSgx0bUP6HSCy+b6sOdfnsR3Oc5hQavO9g9NFJX7/nNF4aSn92013vExuPzdvSb8DRDnn29SCgokTjXS+RnkDsblSpsKK4PRC/zFB8AC0wbhG7ZMppN4fOt9xKcKsTvytT4kfGLYNbPUTnweIct6faO7RU9gOqgQCs11R6X1Nbb8QH3IPcS9qMaben8o5ouZKbqLLxYOEJwPbfcHnAaKc+9815zy3oFDb2Ya68gsHwm9H2dDi9bGFiFLvL2W2oLWUd9lHkTUxsCElMwCRXhbMGmQqp7Ef6G46Y2XqzOjmw1UKfp3xidKnRiJJvbfLBzepp9Urb0ImmZEz7AcQ9fzXrf0+wHZgGjSMl9fpogIEasriXMh2Igg+Lzm5v5n/i4b23MKGYHZoVTX/qgGCesdQ1FvPd0vHGu4ft6m+6CoDUHyTma7bx/oHeVrvgvkkHDIQoHbxHTMm0flQBKl3Ve/Ea+13m8+JoU0XsSFUXCMaZXlVUfJxVKonDFwz2t1/7rDsklcEqSOWfk8TkfXCDt8N5v8afg22glApN6GI0Ud3iyE99c5C2WPcxg0PDW17wQCk62NFgHNh8YDaLks/igPlnF4NctGh7fHdGjGW6RiZZEHogAbWHHEaMXrQuEXbF55232aMbN98UP8JfX1rrnu7/uJPwaKQIayQEi6yNY//PqbL+gLB4HCgHnEC2AkmrhGjh5qn57bwmk9O6L3n+iW12mDZp2a6t50h5/xNN2Xf6sqqvX4bfX7bTebjZtJZkcdIYM0Rj4QEoJOMRRQn53vZr90RTP5gns8ilwaW14K9iLufHWa+Hvw0XGcbzAGw4YhC0qk8bsBXjL8fjNGHY2ehWYCq7wMo6ilvDXzpubz4UPJ7vbqOFXWkqtbza9kOt+hSRpmO3fVghRp7kOCIx0IC0CZjIdpPloXfdjwiEdJ3/K7N6+4obYCiscmTfq2/CirrllsVHf6+dL5zi+vFaubrwYSh/a6ZC2DDEYW8Zlb1OiB002nIbGDAjUbFOT5jp7YWMl8HFgweGe3ZUVDY/GYgpP73fjOX+VgOmT8Yo9wJzJxwWNCt1i7jITaAOREefLZJD/cdv20LNubhQd57xbx+wGK7011xIDZ8+ERXNPOsiHr0BaDvgLOCgogTxkOkj6xG8KCARgZON5pXUX/INPgcLfUfdW8+nf2mC/0aVLDwAPkWG4KJA34TFETcMB7iNp7JCFLvvM7uP4bj2BgM94lj/TXdZeOCIgi9pX5Re1y3UK+BmE9AiNGn7R9nEQSfz2jI9t2kP1uq0abeK0//WTLwmxUPv6+hURNKxqS0XZOOcxAywHiQFUwQSAhanDYi0fOjNrH/HN+1NDdpwZnfGjBskHq/96eaUDuQ2mJsi7XBRgneOXYE3ZOjtP7dXOfL8I1YUu+khgdvMvdkJyDADZlnTd46DyWVFBR07DBm6QEo8ndQe8J+ExiAIkYvwzfOIgk+X7g177vB2Kr/pAd8nuvAVTwHw9Z0dUUXJScF3TF+sbA+LGNHqOt4hwIDilXGJXjQ0oqonR7KCf3n+BdLdt7Dltn5zoShRN9EgN98hARTbZtZUMhQHfIAqgcZQzJTrOiKBfaLqbh6O9vWF0xuc9llXoLmWrBu6DMBumZVqml8Ymzf2OyXhTXiDjtCncVlTmhQgRh92EPJtX4dUBB/mWHc+m4ulloX0iY3Q985NfMZsT5/xdi+sdcPS2sEt8pQ2el+klKFdwFoS78+UPVh9+4rd/QmH3igsHQwoGYuwz3iMb4b0MLvB93c/mJs39hrg8eg4HtxuRYagCJGH2YR0k29v3T7QyO/JG9Mp1GnAM39YcKCzwRqjVs8vGvLeZ0vfqxXLK0T29gSqkzQSdmvmsGzPwzrH0jUbYNq0Yj8ksBx/WoxAEVmJS/fsVGiNRswqLqknKTyWC+glAE+HW5N+MOSMcbI62K9rb/gFGneM+SXRI7rjiVbt7Elt2JxPRDst6a15hnfN/GArUwJHemg0uSs29fXc30f6T6PvjCjmXp/KlNdxe3pS4AAlNP24LE9sWTre2yZXVCyHneJTL/X8KoBC/w11mPs3eDL2YY1+ubueA5AEaP35wu6tcBdvVZ1m4Bcl9AA9N6SvS+wZXZrQ8vOwSXYQ6ThDy5OHnm42HOt+I1aBviYmBoBQ50OE4jRR7To6KbeT/+/iGv/Nzhpu53nI9w2Q+AAVM3TzwHXt14yUpeMbU9b2cpibWFL6OdoWzUd6rr77916DDB4Ted+g1nUPFQ8vw3+lBRSCPklGDC+UxbtfYg9s/OfdUu+cxxwr+slNXjE2Pa01V384w0xOFrd3r4/+5wmXX1seG43l08dGz+Y9/xVtVRBHqrR9m3wGH/G3mCwT3yx6D8Tgf4O35BgqmwrW7KMt9gSPnKyCX2pG7UJ8cAkET841ByXd7cHqt4nSPq9yRgODEAtSjCRVsvQf2zeoAe6dewlL6TmBfTYE87sKWZQYwvVT4QV22t5fYiEGL27RXlRc0ye/hWW9noo+XuBG2ccB46zRW1W9d+CzPxnqJzz1nxoOsDfYVyWNqno2OCU+nxw7WRHevWfxWT2qR2KGL2bBfmTwcvoHg/DgtR/cjteba7vWtxQuDXK04fOLc7byzA3Y+8VX9CY/sBOB6jYgLAT7d83H60lxOizXWRO/t08+unsIb8U4WGTkgd4v2esW567AQ4yb948cLHxsZ32OLCCSweb0XCkqb8WoynPwQapErubSdMg9d7jMGBLpqW2T84zlpXmu83uVMvYM0sfmrA8f58pnxG7P7Qo2QFJDvbw9tbLqq4gm57fsW/YTb1bD3Bov2k/eLgl6AcLfnRjeQ7/wqapB6CvyjkA/19I7sxfLnptuYgYvb2xP7H7ejVY+03kudzNdwJQ6DXX11nbsxjn76zT4PIGrK4TffNwGkaM3n0gsmLv1fsff5pHfkn8uLcJQMHS3tF2kMngpbSscW7yUBRcOddXO1I32jdpnKLCbR5P9m8pbL6wrhUINRjTSuM+RD02WDzMHDmYzzeU0yQbgF5hT/h7ATmoL5kRPPC4YNyMx/3U3qv3N/9d2m/KP3gQ+IOtdcSV4sURouVJBqCs1fBmAan7AOWDdmWtDY8BxwPjZrSgrNt99e4quKEdJAEoRLCHOMp+qXUKBIzvil21A4ByM5rWWBSWPJySKnygOeZT/wowm9T+hvQBxI01x58AFGzvI20Hc1uVe81h3+Dju8DeDS5ONj80FoTRD5wUMXr5C8lQWULhIvVe+NM+8kvifWCeABQc7CVHjub3U6lTDQmtGaPYFP4r22naqr1EjD6C8d62/+r9TXB7HyAA5VUlASiEX1smHN2C/i7XFdUqGFgzIBWnGtNYMPqkYBGjFz7ek/obROuz/0WK9ptsJhBZELrjcK6f8iiJNQPSWSy+mLXf7PnffPQYeGwwhpUXkGGN2+7X77jin9EK9ACJm3A2E5DhW6OO94A9glDWDEgjAN2v//J8YA0gYvQyx3rLzav3N3/GGfJLbCaQ/Vqz4vjiYQ0bs2ZA3A6lU693VGHxQYxe5uLRdvPq/c+fEar9JvJLbCYgLwh1vA98pMQCrBkQg0MtuAlGEKMXNs6jBrfSJ9XTXbTfjMgn5thMwLGPTRpIvVXNxuF3BKAQ6Ql1S0PqpkIqFjF6YeOseyB4rCdzRfvNiHxigjEAD0HLV8fz/4Z6UAJQiHMTOncjdaNepnsNQNB/7L9oOHz1/mbcQ7Tf5AZczy8alufgNDaFD9aFU8drwB42jjIARQc0Y2carR+YVJW68Z2K5STVZ4zv3L56dxXQIL/k2DfGLI/DPDaFPr7mWhnlC3aOLQCFnJ1pyd0mU9T+IMET/uZh3/2r9z9j3gwUgBL46PsH4wC+fO2L47XguSwrAQJQiGFB+Omu1WHxGhox+mgXfJ1HPbTfjNBHnglAwaO/7TheDxCpdzt+y7zdABsnmaFub12HckfKwRCjDzS+Jimv4/qLeHHgeAoQgJ4w1kYbisWa3br1wpDpvnOFIka049dEuxlsbDwz7ie2ehziLRDZZUzf2P7YIPXe0FiY5pFfitJPrhgL8BzEjDuWZnou/wwQHoBeY898Hanl/qGPujHlJixAULFqYMcVf/7E4zMBvnJCAAoB9p9Fx2vDL2wsPgA9w575bjxn7q/LEaMPsECYCD8fevQnUjgy1gGLc7S1jj1BzqGVmmQHY2ZT3/sAe+bpRKMa7RL3AjsrBc1ub7Qe6r96/zPOtN+Mdy34jhwWBFyvXOqD3vIgSfSh4Qf2zNOJmn401hCj97yYfwujIuB7nP+M9yJzOchaQB022PK/MbePVVUXJpAZgPJwONdApa5cTrvjLJ80/pxZzwHJZMZjOmFwC3no2Z+QX5LjN7PcSEPgoGbeca/4EWxsbb3Yo3EAmDpRXemVS4PTLTdifsb01H/qXdufKGCXdQNlUYMRQGsN2Xa4L1CbHO7yihpdML3xMKntQpLHQxCxFi5op/1mAmuCLUmcc2wJmuvIcHnRQS1oohcdKJhAMdFbGo4yZ+CwiNG7Hc8pg9S7hZSpkeQTrVdlbCpXqBKAkLXMUTML1XYaLKwVttRO2hwKcKCqor4GtXaI0TtcsIcM7PtQqiGIWZAIdMKtCQf2BMABjNa07yhmiF4rri2Nxw22zG9y68gvGQr6IkbvcDxbYetlkV9KxI82UKIAQUHOJY8WxY6NrXr/Y2yZ30bT1HCUb4YOu+0xMMnoVFUIzr+EDeBov5mILy1YHJ8J7AmGe8ZMmaIlDS9wbGxdOGxhy/ycZ99/obDXGsGXTAKGEYO6PUup9+J3tGi/mYQ/fbI4NnPYEyzsVXsO1o497Go8LlwigLbz3NV/PWj8ZyJGb38cf8iQqlI3zt4DUFquuvGpe0vz7zO2BEuHItsPWK+wq9GYjKPZDbobzGyYEyNi9A7GsR2+dhL5pcT8ylKtNpqLkY37Rfdi4k6ejquJvBwvrx34yoy9x4rU4+Z2emmF6VSAGL3FMRwxuHW8s5d6L35LM1AAOs9cduJb6/R3zm7Mh2WrGBS/74ELCjHjsWhpHC6xZX6nlzON06KlgMXrS+nVhMdwW05gTvvNxDaXaUtj9AtbRjPmUz3WiXFhv3GNA6yYsbB16bCDLfM76b6Eq5fxWiu4nWjwaZJ6d6CPSvvNxNaIEUsHxWtsGc2Yf5afQSr80qI4PTXKBmNhS6N1BVtmhc5DIJu1XF7FyhPUiCz0W+9kpN7/BMMhuh+tMpedrhMnlm6pqbOLY13pUXahggxxfvmD19cixuGnpTH4hC3zchyddKnFVoeI0Yeb+C5uNJBfSjQgWWOcstoXepX0HAn8nTMEoMkcUO+xY36Ocxe21g4xeoOgYElW6r0YT9pvprlOTFBnl9V4H8YTINgq4yIANRiDW7RYoW4AM6nhJIeWHRcxer2xGzHQZ3SQei9+E+032WQolUhjrD9oeSntIVLxW39QAxp0Lxq2050K++fmOK3wG4g1+YaqTj6WyAax9584OSrfY/nnW2Yue/G5n0gxZTPWT/EECUUmiNv5cL4yQf0n6DiORrpUyXNY/Q2I0de32ReZSgDILyV+YLVxwDjGjuLHuV/71Z+R/V50QONYF26wY15Oo5MudSCjghh9TXuNGqTeb9yk3v8EoMgvsWYM+h55CS9+nCf7PxSROH7Kr+iEFMhf1siMQN0Juyzo4Qpi9NVtdSgzxUT7zUzWjQML4zaBHUUHFEvxKRmoyxFu4ALZ3kJpTmsOO+blNDrp0i+Ofgti9O4ODZ7+3rTfzCQ4sZBuUwEORHyjJfAQb6y+ccS4B7P9FTbMz2nu5NTaWdEQC/SK39um8Mmg97Hj1Lv3MRSeDkw6OBku+4IbjdsWdhS9N+wMGL/TBIMg1Bn0bf+Q76UQ6GwiOvJLFw4deJ+aQZcBnutbQuSXMttwjgzH7RQbih7fgwr1ksLUREwDUNuPa7OJJWw8AJvFjnk5TUtWkTBi9APGqyn7dKkC3CDp9yZzOYg/mqbhH7i5Fh2AXvhtx2zlN99Q/xnE7suGa8E1a0F+TqNzWpxx+HsQo/94sx8zeOHpIfWufaChrWO8AeiwgRIDN07y94fH+A4RRq/gKQkJdnnU+o4N89s86qZLn90uNojR95ng5wayIp42+So3JtxkJ7bx7BiO3zdsKHJ/GI3vMVnRFQ79zzDrwLGZ9BWKGLk5jM6V+S/HC8ik5+AlkpoTtUlLlydCfinTQGUqz8eAye8PMzXG8FyIL84Z+OEJY65t9yHDB4nUgme4wOzLq7UrbmVp3fhvUP4sv64G+aWM15JTM0F6ELjuLMY3D1sbrCPB9iiTdfwLNsxv07iTWWuHGP27k+W1Qep92qM/7QYIQNtl2g0C++kSdaDJ7Q/f4ntEol0CxO2nmd1N3m7c8viIE0uV786TMyNG//9xasXT0ixI+81L5rIIPx02fPxBHai8oOKHxkHia0AfnDY4xFL7aeYrR5RQgevAxlOwhhh91w6z3eJs3VOlx5tB77W79A2W569bBuN4jP3EjecvjXF86qwF44F+7z4v34P5ymMeD4HBlsOcya2R8ZrKvZA5PsWNUiSp92LMVgMFoAgXy/HZMYNa5Sd33dVAc07rrj/n/lOqxe3ns+ZvpYTH/KJEd/3+hf3y2yh05Jde/G0QJoXkOkLYIif1dly3gkYSHLrfHXNZ3NrSoi98MoGFSVvFXY8+N6RZ+3mPfrAV+3838JMZ7JffwqIjv+SxbaXv19TiJvS8Qer9KsxNklH9H+0309mMPhncgv7EfmLGccTC/PSU2tbKmD35zxIlG0+cU3YDdRxGR35pw+Pil7EYfXE7fRvXiZL2m/BmffmpL8dEGl7IOjRtaZ46DkJ1Hkqp4JObN0v2nzC4LKF8KlOnESq/9Gfxy1iM3qj+NdCDHKMUDO030wtexrqbPFqM8Y7hZ4tz9ch+nWXRpemE4DP4fqXbIOUM2+W5sEzKr7XLVYzeKPV+E66YXjsFQ/vNdDcm3RrmHWwnYi1at19rrzIWNh4nFSVkOpJvl7R7lLL2c9DMdWFpxVFrZ1QAL7i8oO+J/iG+Yu7itqsd4PazxVwWvc580rwFJQ0vI7DYcXdwLB6ZTmisM6vdIFLzURR+JeAyq3sjDrkuLGdx1Nppd7QQ/mLzw7/vvsHvDyimr/WgzUYAOsdcTvKwS22vjH3CtapFu7sX7ZZpXKWAoG7FXr/Nle4t7H75sNIoM7TIeDqZ3zqlVy/cQufrMLryS6MBFsCMxOiNgribsCd7o8BZ93vmNiOK9WaklLqhPizCAPSmTw3lXjdAfB8wbnQfoF2HOZT+k/LfoMWjUx+5k6uMABIdZjmezSAXMfoitfSgf4sQWkokSPvNU+Zy0mvObyRygo/bfW/ZnKpdjv6kzM88l+ioDnBriMs737c+670lYVxyXlT246m1y0WMXt2+xtqGUr1CD5J+X2MuR7Xu6NyIHWC3YPN6uEfQeKR/m9ia6j5Ku3e0JtyXN6+qLIcbT09z+lRjnFawW95OcxfPazXftYUhUrpGgvs34dPQodpvhuo1DZp+vqB5u9/AdkHGa7LHwzALc04Fh4UvbHVfT+s2LLgrD+7FTSdBZxj/qHurfc445e00Db2C4VBBjlF/WZ2gZtLzeBhoJUpIvRdj9CtAAHrLXM7mxmQPuwU7MNz9/2t9dfTnDJcPUooHSM3y0ZHKuP39FQ+UmuVDInWTSu23gLl8HOd+BSEXlY24Huf4Tu/6vuk1emS1LcCfdB602fgISuI9AD9zCwoQdfCp0fmIkimIRn7pTYCTqBi9Uer9SkYhd6j2m5tfmMtZHYJ3sRuAmDjiqP4jZlLvuS/8mrdVoW8fUhSjL26CdFPvL3JSGboaj6bagUrgHCJdh4a6mo7cggLEN3/na95+PqP5Cf+V9TPS22/2DEATFKM3Sb2rGikxJ+GLAAHoMXM5+rVoWuMwTOcUgPBr/pncrCJIdpz9OFNfRhJFdb8TD3+fVcPUu5BURtFmMUT7zXXmchJB6Pd41DgAQGPv4tAIf5znLs4FPyUx+kK6wuDVu1IFEBNANAPVf84wl5MIQHVS8Te8gAYIduHwUC97GqJ7Ikh0nkZc8ktvfntCYvQ6j8BCNwP48O9yGCD4fKSYPal1SSMV76tOGwD+Wu+PatZ9clEARkGckF7MqYjRGwXS1/JufoK03ySlk97a1KzpA888SALwOkcX41HOAYmnl7N4b9xSEKNPKfVe/H2mAqXfKWhPc306rl8qw004gIe1frzmZcNPbAZ/O5Cu/NKkkN8/5jkAXbT8+4c0+2C//p7vAgOGb4Hkl6gpSnONGtWYI9+wG4Dztb5OpztabcI/i3uk8ktvJoHPALRp2f6tNF69ay9Ktr5L5nLS69RUzS5JbfQFAZzOya815uM9pTHQK1jQkV/aF/Z3iFSMvigfaBuk3gUWcqsOTEHab/5gLie/4X3WqI0ewW4A1ufidI0D4XN5gAT4Nwi6C38LaPx3iFCMvih9uJYRCFtdmBbC1H+2lpjLWWx8dR/rUXMGYP+S4bZGadQiNoNejtTQrLUbFxaARihGv7lt8BsE19Kom0jvAeg9tUVZHZr3eJwGEGz+1XkUuIK9wNZtgiD5JWvB3O/6YtfGdp83TL0Lrm1TtZjeA9B95nJW65bKHpzWlGaaxm4APvdaVSMK8LEzncUveF78PVY9BjsvFjbPW4NUs+BWk4UiQYj2m03mcnZB6Eh5GKzVeeUTdgPQnnPN6uu7RHUWkHaL8Kyx2c8LDEB9i9GPGfzWXcPU+7DwBSpE/WeD+ZzlGtaoWcPOTTmA3lybr3G5sIW9YJBDLcXbfvOfoM63GP20h0ncq/ZW+EtCLUUF0++OuZx9EFpHBYPNEcDZHJOYIQWJwcJ2uAc41idIBGL0hZi2iVyUcGHtQlD/PkAAus1czn6DVJIwjzXm7xo2A6i8b92yFoPtAPQ2rVo7n9qTOsXVRreDl/JfeRe3uyHS7/PMZagZhLbxG4CBc2qkxqPSVewFVYOhifRq7Wo9SPAsem5Uo9qW0/a072LVChCAvsiuiQXPPjhVI8vwxMt4gL7B51lFVRaCT6jlXGvp1dqp8gBvgc9hDVuPmaXeJb96f2P/swAB6BlzGd7Nt0aN7M497ToB/plDQxX30zYNQEAnWDhKT2vR6HW5xmv0yr/LRCT/Ig6B9UJRIUD7TandoCCiIPTGTNUCILngc79iBmEOe0FdB9Ps1S1da1FLVN/xy2uj1PtLPLczweo/G8xn+MAnVebhqoZGKL4Euc+Z4Ypdju4pXwGfwcJL+RpO9N+rKUuMvqizfTQIriIS8vV6+4z8EtQ5bFftmHSNUD1kPFeqpt1PyBiASbCwk2atnZJG8nr7NmCzUulzk9rGmHqb1xIDp/0mSF3zrghCIdODWpXgcy+ufQkkLsZXGsFWK4JJNOk5AO1T/6IeDhm97J6KaPFqBEq/N5nLUMNP1ys2gbjhYRJkNC9GK0gttcv5Q/AJQYK0GDTzivoVn0HQlw8C/Am9FqexPqwJ0n4zgpIQEOircxUVKe4IQoHgs/jUfJnBVhAqWIhIa9Go05ClzkTGqffIdC2DtN9Efgl018CxiuLaPEyClOdBo8JepfajcWwFtoKFY7eal8H/fhceg6AePaVzSr0Xf9/hUo7De/q9xVwGA78dqlgXyu0PpBgHzAx4INsuH8GScge7i+5T2rV2Rpqbdb9f7/5s09R7hP2pab8JUW/EyxXWxBfEtiGhOGBhwD51X/4zAHYdbyl9rcXNbY+B0OW7P9vk9vUkztMm7Tch+nVxrGwsMVCTdxlbQeS+/nWABvgBKhAgKTiLTGvRqxj9/V+2/WHw33mKt84mSPvNQ+YyWF43hrrtiQdlMLZJS0Kc/t235OSRAxa4DhZu0tdaNOo8pHM7PNR9Wds2+O+sRrqohWq/2WQugyOfbgwWro+tThug9bmPTx8jLA+uHXBMc8OP7FS0Oes5GJrUDOwjT70XPrUYqP6zwXwGx+vISu9HGjF1JwN449PvheafufUEX863mketnXagbSAHZJR6jziYCiK/RPtN8LWWfOq2mH295T8n/Q4R+/PUX5m6feSVwGewcJCP1mKItHCOqeQg7Td3mcvg2c8nSsULNmyI3pe3UXSAEI73mI/WolFK3Nd3GvdtSrD2m/PMZQAAgDiChfm8Nvt/al2kfc/x36YEa7+J/BIAAEAkAdl2Xpt9UbclOQBdScCnaL8JAAAAfYOF67y0FoOIo9fp9R75QwbabwIAAED/YKGR3wMZrRf/Pr6nNCSEgrXfnGQ+AwAAxBGMreSntRhKnzIXAfUgN8zILwEAAEQUgP7Kb7MvxOGlBaDHCflUiPab+8xlAACAOAKxEc0WkZFv9kWNoqTg8zGdVme03wQAAID+wYJmKlr9e7Gz+cCrdyd2XQ5gvzYi4AAAAPEEC/v5ai1uXggJPo/wKeSXAAAAcgpAH/Ld7JWMVPDg874TzI8m5lN3yC8BAADAB7SmNTf7tUQCJQFi9CmUMrzxqbFAtpxlPgMAAMQRLGxoBk1Tef/9ebXdx6bNQNqpQ8xnAACAKNi8yXuzD/JY5vV7SC/1Xtj0EPkqAAAA+ChQmNDc7E8SssEsqXebqINJCGUB5JcAAABiCRZaPPYIVq+YqGD65kygYL7BfAYAAIgjWLjR3OwXErNDgHaRKabeC1tuBbDnFXMZAAAgCkzaUCYnGfRA6t2aLa8CBKDbzGcAAIA4AoUdzc3+OkFb+BSj3034UDOu2dIV+SUAAIBMAtB7zc3+IEFbHJJ6txKAfg3UfnOY+QwAACA/UJin28ybAHSb1LsVO57QfhMAAAA+ChR+GWz4KwnaY5XUu/Gh5lOY9LtqJAAAAADSA4WGWaCgWncmF4Auk3o39quvgeSX5pnTAAAA8oMtQ5mc1kiCNpkl9W5sw5NA9Z8jzGkAAADRqMcaRpJD7UTtMoZEkJH9Qr1+R/8TAAAggkChabjh36drm80XBwHSTfqp98KvNgJ1kzpgTgMAAMgPsi4NN/yLhG1zQ32iVvA50vm7PgUKQLeY0wAAALIDhQUkb/oGoGek3rX8KtDjoyLA/8q8BgAAkB1gnVvY9M8Tts8hqffaweew/zambwLQBeY1AACA3EBhwZ6cULIB6Dap99p+1QoXfCLBBAAAID24urIoezOUqI1WSb3XCj4bAWs/CUABAACEBwpNy5v+dKJ2WiT1XitgPw0bfBbfMvMbAABAXlDV6GzSzzyuqRRQzVq4HZ7KJPjcFhB8qu8HcxwAAEBeoHDsYNN/SDMNbypGr+ohs/CplUCi872+63RLQgAAAOIMFBzeUinh8SRt9kIg1DdI/ywo+OQlPAAAgLBAwbU2owrUZhIMQG9IvX9omxV5weerNi23oAAAAKGDz6anQOEhvSB084TU+z/+pLQ+jwQGnhkqDwAAAMgMoHY831I9pSWFs7lP6v1N8LlUar+KDj5fv92yLSgAAAD4ChSmLHU60v06gVtrPIEAdJvUuwqolbzR5mUkged7GaxF1gMAAAC3AdNE99ZOQm2e+g17nQBgMt5bwTpi9Kml3lU5RdHZ6C7CwPP9d1nWrOaiyQoAAOActakWdZ4nQh+FdAMAFcyo9LyqIYzGtlXF6C/iT72rG+vipvNn57tPIOj86LHcYTlfYj4YAQAA+A8UGmUtXnE7dSU46Ox3M3rZrdFrdoNSoel6FaRUCWpi6gbV+lSK7BeHlu2uNuxjogFnhZpldXjYPOh8W6VahJJxKoLTMdYaAADIPehcTPhW6u/vtnw4Jcbuw2looBai+pfhe7VH+T12yxAuy6AdAAAgnwC0mdGGfybL9n3F6CNJvRctWAkmzUXuW6xFAABAAEoA6iMAvYn/1TsBqKVvlbUIAAAIQAlAfQSgZ/HfhhGAWroBbbIWAQAAASgBqI8A9DB+wXkCUEsBKJqiAAAAAAAAAAAu+B++uVPRdPP1NgAAALx0RVh0TWF0aE1MADxtYXRoIHhtbG5zPSJodHRwOi8vd3d3LnczLm9yZy8xOTk4L01hdGgvTWF0aE1MIj48bXN0eWxlIG1hdGhzaXplPSI0OHB4Ij48bXN1cD48bWkgbWF0aGNvbG9yPSIjMDAwMDdGIj5NPC9taT48bWZlbmNlZCBtYXRoY29sb3I9IiMwMDAwN0YiPjxtaT5zPC9taT48L21mZW5jZWQ+PC9tc3VwPjwvbXN0eWxlPjwvbWF0aD79PZM9AAAAAElFTkSuQmCC\&quot;,\&quot;slideId\&quot;:760,\&quot;accessibleText\&quot;:\&quot;M to the power of open parentheses s close parentheses end exponent\&quot;,\&quot;imageHeight\&quot;:38.56},{\&quot;mathml\&quot;:\&quot;&lt;math style=\\\&quot;font-family:stix;font-size:48px;\\\&quot; xmlns=\\\&quot;http://www.w3.org/1998/Math/MathML\\\&quot;&gt;&lt;msup&gt;&lt;mi&gt;M&lt;/mi&gt;&lt;mfenced&gt;&lt;mi&gt;s&lt;/mi&gt;&lt;/mfenced&gt;&lt;/msup&gt;&lt;/math&gt;\&quot;,\&quot;base64Image\&quot;:\&quot;iVBORw0KGgoAAAANSUhEUgAAAqAAAADxCAYAAAAUcQW+AAAACXBIWXMAAA7EAAAOxAGVKw4bAAAABGJhU0UAAADwfZlgggAAJhZJREFUeNrtnS1UHEu3hrdAIBCICARiBAKBQCAQESMQCEREBAIxIiIiAoFAIGYtBAKBiEAgIhAIRAQCgYhAIBAIBAKBQEQgIhARiFx2GL474cBMd1V1/T7PWmXuPV/o2VXVvWv/vCUCAACpMoIJgHUMAAAAPnj3OHYfxxGmgMSZexw3j2MZUwAAAMTLx8fx83H86Y0FTAKJMv44rvrW8vHjmMQsAAAA8TAtTxHPPy/GpZDChDR5bT3/ehxfWNMAAADh6TyO+1c+1joeHscsJoLEaL+xnp/Hee/QBQAAAJ6ZehynAz7Svx/HEmaCRFl8HHdD1veaEA0FAADwxid5O+qp4/pxzGMmSJwZeSojGRQN1drQd5gKAACgOfRD+23IB/mCDzJkhDYjnQ5Z89p49x5TAQAAuKf9OG6HfIh/PI4JTAWZoWn23SFrX+udSckDAAA4ZKP3gR30AT55HKOYCjJmtcI+OHgcY5gKAADAHE0/Hg/54D7XweF8Qgl0KjihWoZClzwAAIABegvMsAYMHTs4n1AY2iH/e8i+UM1Q6kIBAABq0KnwgdWxiamgUBYq7JGH3l4CAACAIWzL8BSjjl1MBYXTlsFaoRzUAAAAhqCNE1XqPXXsC92+AMpsRSd0jz0DAADwL63HcVXR+dzhQwpg5IRycAMAAOiht73cCJFPABv05q8qddMq00TTHgAAFE3VyA06nwDD0e74B/YSAADA27TlSSqmivN5Jk+aoAAwmA8VnVCtt0awHgAAiqKKhMzzuORDCVCL1Yp7S51QSloAAKAIqoho94tpT2EygNrsC3XVAAAAf9Hbje4rfhj/9JxVAKiP1nieVNxne5gLAABypU7DkY7PmAzACq2bvq6439YxFwAA5MZMTedzB5MBONt7VbMOS5gLAAByQaMwlzWcT+14pyYNwB3LFfee1mbPYi4AAEgd7V4/r+F8atPRNGYDcM5OxT2ol0K0MBcAAKRM1bvdn0cbkwE0gmYVzgTpMwAAyJztms7nNiYDaBTNLlStBz0USmEAACAxVqTabSz9aT9uOgJoni819uUXzAUAAKkwL9WF5v/0HNV5zAbgjcMa+3MBcwEAQOzU0R18HpuYDcArk1I9FU92AgAAoue0pvPJxw0gDGs19il3xgMAQLRs1nQ+6XoHCIc6lFc19uonTAYAALHxXuo1HenYx2wAQWlLPY3eSUwGAACxoHqBtzWdz998zACi4EhIxQMAQIJ8k/qpdxqPAOJgtubeXcNkAAAQmhUD51OjpaOYDiAa9oXsBQAAJIJJ6l3HKqYDiIopqVfDfYDJAAAgFHtC9BMgF37U3MtLmAwAAHzTNnA+kXIByGdP62FyDLMBAIAvtAv2Usyin4jOA8TLVc09vYXJAADAFx0xi35S+wkQN6s197Re5zmB2QAAoGlMG4/0Q0X0EyButLu97oUSNCQBAEDjmFy3qeMbpgNIgu8G+3sOs8EzeiK5yXCsM7XZsZHJ2twuYK5UquW3oQP6nqUOkAQfDPb3CWaDZ36I2Uci9kGoPy9m5Ck1m8PaLCHCt2doG3XQub4PIA3GDQ+a85gOcnZAz5jabFAtyKuM1mbuDuiExWGhy3IHSIpDg31+jNkgZwf0J1ObDZuZrc3cHdBtC9uQfgdIi2XDvd7GdHAg+aQ2Xw5uUUkfLVh/yGxd7mY8XzbRz2sh/Q6Q4p43eUdTCwr/QyVTWr0IxIo8pcLUOdVUtmkzQejRYlqTJofUu0bij+RJhFlP/O8yn7MtC1t9ZckDJMmx4Z6fwXRQxRHQouGOPKUPbyWNjz9yD2mTYur9V2+PdKQ80eXx3u83td1HljxAkmwY7nmioFAbTZOp/MK+xB0d5YOWLguSTupd94BmC5ak7LKPrqUNKZkBSJN5i70/i/nAFI3yfLWMfDQ11pieJNFykBRS7+oga8PNO6bsLzaZkR+YDyBpTGu/9zEd2KLXcp1E5iBQU5YmOwk4n+ec3P9h0dKem5gQLA+tLXm6AEH7GNq9Md/7vzfd3Kb3ond7Y7rQOTiyOMhz9S5Yo5vcVIC6iXHElCRHCqn3DaFb+yXHljZdxIRQEXUoP/acPdWgvK7wznjo/XdaKrPec1LHHD1PRxBZFzGvA/3Tc+ABnDihsURCEaNPL4oRe+qdF+V/mbQ8NDw4dAYg3zW20Xunuzqg6r/zo/fvqkNqUoOsXdx3L/7diULnyCYLwg1o4IxZQYwe6vMtcudziylyHvmg/hMGoY6hRtd9NLs+K1ioDGGVlPDCK87n78IDCDaHgyWWO7jiUhCjh3qn55hT7+ec0N/kXKjVBreohN5Z4D2v2RhN2XflKc3+PNYHPNtV4fNmc7MizUjgjEOJw3GYZiqSODnHrC2rjjGCya8zL8ilgdt3wZ6ke/vZQeHz99XyPdtiC4ALYkmn0tzAWrEd20zRm7i4LGASM0LvkHdtsY7ue4EPld9ry3/l0XSdaUr/kzxdh/tTKNNxzYpQYw8RcCRxOA8dpiJqliOPdmiNFxIhb2NbaqN1d5Q2wAcx15L+2XMq65Zb6X+v0fdTh++Lz4XP45Sl/S7ZCuCCWLqZ15mKaGlJnBcYENGoxpy4qa2FstFmHtMmI03Xu1BQ+CLmQur9433hczki9g1jlDuBFaMRRbV2mY5oOZa4nU9dw6SH32bLgY1pPCibtoXD4vqmOz0Q2zY+cSuafVakiwnBBheNCa7GMdMRJZ8l/oYCLjJo9kPzLOoPZaKlLTdiHvls6plMndB7pvQvtg3I15gQbPgSkRNxxXREhyoTxJ56pzt7MJPYGCwx7RPQd3qTFxeMi1kzFPWLT7hoTES9BoKdgBCjz5sfEr/zqdEMNGTf5oMjO1PvVSZLFmtmxcPztaR+TSgZkyc6Dt4LdMODMU3IWyBGnwfrkoaeH7WJg9l1ZGeu4CwPfR+bpt5VL9iXakJdR2qTqf2LixK8U8wIpifH2JwJwvlxkErqndTwcFxcHEB2okw6FmvGtyZvnUbJT0ztXybETQMo8ndQm5jqPxGjj4sUUu/P9zkTNX8bV/Wf3AFfJhcJHQxnpbqiywJT+z9+O3g/LGNGqMtBhA7FZ6YlON1EnE+UE4bz0ZGd9zBlcUyJnUTfVIBnrtrTgATT/+NCIeMbZoQ6aG1OjCnWLlMTlBlJ627nNaZsILvsSzBkzXLNhLg1q0pN4y+m9h++O3g/3GBGqMP7SB0KxOjDHkpMT8OhnNY5pm0grq4u7GDK4jixXDOxrvkLpvYfth29I4gqQ2W+CilV+JeumNcH3gVYKzfC3eTDDhSuDgbUzJWH7Z4OtTeHRW6/M7X/4ErthGZQqMylxOmAIkYfBtPU+++ec4L8UnzMCuoUYMaUgzUT6mrcySHvsm2m9x9WHL0jtjAlVGFa4u5qBr+MWhxINNqwIcgvxcgnh7ZGZqUsXJRozQd8/nOhnKQqrgIIKGVAJVYl7saSCabIK1sWL5wRCSPZhPzScHYc2foBUxIVk7QaBAe909pM7z+4ypRwIx1Uou69vr7r+0j3+WNOzFLv2kk62Xvh/Bb/Diin7eEcO7L1LaYsjjVJu0RmUDd8i+n9hwnh2w2eGJX69+buiF/nAjF6f2vBNPX+rNfaFuS6YuXWka3PMGVxdB0dXEYCvtvu3gim0Lj4X1y9lzuYEgZh4jDUuWECMfp0ME29n/S9xLckjAPKSXswY0K0GcI6oDo+BPwNr8lInTO1r+Iqi7WJKWEQmzUX1GXvf3ft0bmgm655Fg0PFfcvnL8bCSO/BIOZcWjvA8xZHGuO1s5RwN/wmtTgIVP7KjcZzDckQN27fb8OOE02NfjgNYsKBv80nJv+O39bEib6ybVvw/mAvcGCjw7Xz1Sg3/BFkGCqiitZxmtMCW9hou32LHXzTWgwyYUDw3l5GT3oBHJAO0zhUFxKMJFWKw+XEfRQUcfX5IU+MbWv4krJRLNq1NhC5RNh1eu1fDYiIUbfHIuGc/Lc9d6Pz0NJ/wtukmkciktt1g3MWRwjvT3vag3NBvgNkxKXNmnMuMxwUp8Pr3IoZvWfik/tUMTom0EPE6ad0a81hoWo/yQ6Xo1dhzYnalQmpw7X0HmgyNhLxRc0pl9nX1CxgchOtP2RjyXPjgYvinheMsevfDzmBfmlnA6blDzAS9Yc790QB5kLAhuV2OPACk0yZ7CQZvr+9zPi19EgVeKWjpin3l87DHQDOaBtprISLm+nWsacRTLleO9qNJLymThx+T6nZAesF9jPF1GvMfHraPDRc0dL3KbeXTs4XL/pHpeyaTj95XLleA9/x6TZO6BfMSe8pG693mudiz6vXESM3h2mVzK+1b0a6vpN5Lma2+84oPAaa8K7vQRcNi3ynoZ/aBksoi8eTsOI0TfPirjren+mLcgvxY7Lm8twQMv+dri+BU8Pr3RKx0VHaBSFhqirCfiW1M2xEO1K7eNhKqUyKEqxK2Ec0BZTWokRoR4b3HHYwF7WYAblNHk6oBeYE/qp2/18HoHjcca0WWOq7fZa13s/XL8Z/8EDxx9c0ZTixaEgWp6jA8q7Gv6hbgPKW9eVrXt0OH4ybVaY1m691fXelHPDdZA4oBA/TWW/1jBtFKyIW7UDgL/MGiygJQ+npCoDzJiR/wow29T+hlwDiBubzT8OKLj+jjw0sK/133yPeYOzwLcbmmDb4IUw/sa/hRh9/GhK61yaSb0rIa7fRH6pHm0cUGiAw4b2t2Zd5jBvVu+McUwKyqW4q71EjD5+tsR913u/c3sr/h1QuipxQCE8U9JMFPRP773yDhPzzoB8mDB4YQxKwSJGHzfTFh+IDwFeUly/yccE0mKnwX1+IjQl8c6AbPhosHBmhvybdx4dj3WmsDKaor40tPNRxb/RDeSAEgnnYwJxMN7wN2APJ5R3BuRB3Xq9nxU2P2L0cbIpzXS99xPi+k0kPfiYQFysNLznVzEx7wxIG5N6vcMK/y5i9HG+PExT718q/o1Q128iv8THBOKj6e/AEibmnQHpYiKrUMUZQYw+LjQlZhqVrtL13tQLius3m+M9HxNoGK03v29w3/9k3eGAQrrUTclqdKtKKhYx+rgwPRDcST2ZK67fTIcp5gA88KnhvX8l1IPigEKSnEozUjfLnh0Q9B8HvzSa7HrvJ8T1m0TAzWg5nodZTApvcNLwO2APEyfpgKIDWjDjBo5JN9BC5SRlPsemTuFRzb/VEuSXUmLC8Ty0MSkMWGtNK6N8xMzJOaBQMCY3FlX9yEwLEjwxYHojUZ2u92c6gRxQHB9zmAfwxceG3wNaazqFmXFAIQ2+Sv36z6qp7lHPTghi9G5f+B2Pzi7Xb4bDZYMIDigMY6fh9wEi9c3isrSO3o2CGelFuZqUO/rp0RFBjP5fbFJeRwYv8VGD9eRiHDPVVris2f2AOaHCd+dCUMRIlY7DeUK7uWDmPGzsM4+OyC5T+g9HYp56bxn8vbYgv5QiF8wFeGZSmpVmuu/9DYjbAb3EnOXSleYbfQ6IhAXhs4UdVzyuJ5rPwuNSKBwHFKqy2PB74Tsmjt4B/YE5y6XudYkm4XLE6P1jI/x84HE9kcKJA5d7dA1zQkSH1jYmdo5Lfe99zFkmKs1T97rEvcCLlYLmZiNaar8Jw7/J9ZvpsiHIYUE4mtQHvRYakmI+NGxjzjLpiB+NNcTo/fJFwqgI+J7n57HIVg7yLqAOG1wxIc02q37CxNE6oDQOF0pduRwVq39n8HfmPTsk0wXPqerfmUYhDzyvJ+SX4sHlHiUiDSa0pdnM2Bgmdsaew7nh4oBCqSu9cm5xuiUi5gfTVJZN6t10PVHAHlcEyqUGI4AJWw2+K6hNDhe8okYXrCMeXYu/hyRP86wGdNpbEib93mUrO8OVJM4ppgRDRnuBDmpB8wx0oGACf+kaLJT3Fn8PMfpmmRHz1LuLlOlnCeOAcvWqO1xpgaJKALbvsqYus1jCvE5wpXbywKGABVRV1Nem1g4x+uYYsbCvHgzGI3oh4eiEY9/RvNxjSrBkQ1DMiJlLR/NxhSnLw0R+yVbQFzH65uhK2HpZ5JfywKVcGo1hYEsTqXiaFt3gqt7/CFOWR8dgoXyx/JtNFpeXfKqalrCpd6UtYdLvHbayUxYczs0U5gRL9JroByENHyOuAg6bmLI8TDrYWpZ/02eN4O9C5lFlRUzr9lyl3pVuIAe0xVZ2yjuHc/Mec4ID9hp4b+xhVmsIIoAxdcPn1w7+JmL07tmWOKSqrgI4n1y52gy3jubnA6YER4ci1w2sF5jVikmHczGNOcvCRH5pL9DfZWEPtqdpespl7WRLkF/KCVe12mgupsVZLzChIzYd11XH7w46r+2YE3fNitTjFkbXYKG4uKkAMXp3aOrdNOqoH5hxh8/SCeSAttnKjbDmaH643zkdRiVuFQN9PtdRUCJv5iw6moNzTFkedeVyHhw6LD47pT9nPIc2DV2uHXOu38yLWUdz9B1TJsPMK/M3Gdkzuo6CcoANH3TYwZTlnXTrOoEu62V81gpuZTqHNqn3JvRRuX4zL8YcHRQvMWUyfJD4M0i6Ll2K01OjbI4rjdYVTFkWJo1ALmu5fIqV56gROW7h8LlOvT87wyHS75/Zyo1yLG6i1NTZpcFrZRcbET7nttB9HQNfHc3BO0xZFibpUpdXHSJGH27jNxHR6ArySzmyyjwVxWslPYcRPuec4IDmckC9xYzlUTd65rrWDjF6c1Q8OabUu8L1m3kyJdTZlcRBQg6CqzIuHFBzrh3YHy3Wwpg2WCQHjp8BMXozxsRcn7GJ1LsI12/ykaFUIhfeuvJyMsJndZWGpwbU/L3/gP2hLt0IPiCu5BuqjolM5s7mNpCmmgl8z+XzWGYre8FFnRdSTGnwKyEnYUmIzofEVXaE+s/CMEmXzjh+BsTo6/NR4lQCQH4pb1wcMI4wY/QMun71a2LPiw5oGu+FK8xYFibp0iZkVBCjr4emzm8tNvl4g8+G/BLvjGHjTuiEj51BpVm3kc7fneW65CYkc1w0KJIZKQwT+aWmGlcQo6+OjWpAu8HnakmY9HuXreyVfQdzNoUZo2ZYSrsV4TNfChG4ULgozXmPGcvCJF36saFnQYy+uUODr9/dCeSAttnKXnGRblvCjElHtGI8xNuqbxwy7cFsf4EJyyO0/FI/LjTEQnXx+0LrnEzvPm469e57DmNPB+aMvgPuLedtEzNGzc6Q+TvJ0AlCncGcn1JuUAgMMJFfOmvweXw2r6RaM2jj4LU9OCXIL5XDoeW8nWDCqBlWZqH1krGpidg6oDNMu3FgxPY9Po8Zy6IrcRUJI0Y/mE7kp8u2hEm/d9jKQbBNw2vEhMh1vJxVmMO1yJ7ZpoyL+k9zli3fBZe8C8rD5LQ41+DzIEb/NhppMO3w9JF6Nz3QcK1jumjE+1aIOOVKlfdNbIcImy54SkLCBY82MGF5H4+66dL7hl82iNG/zamYy4r4+sifiX/nk6hFWHYs5+8LJoyScUmvmWzMci2i/2nOkdhJX6GIURgmIfPvDT/TtPh1XlKpOfki8csTtQT5pRKZkTKbAXNnrsYcnkbyzO8t1uExU27MiNg1JFILXiAmDT+dhp9p1LPzksLVjdMWm9tnXU1HkF8qlROL+bvDfFGymOA+XOc9EuwbZfMO/4gJy8PktpqWh+dCjP7fk6WpsLKmNWY9PutuAOdTf+MYWzk4tndwUwcaH3WzLjE0kZiWABH9tMOmd+NaaD7ixFJh3Hh6NsTo/5+uxW/zfaVZiOs3z9nKUaCZC5vmD+pA42PbYB4/BXzeWYtDLLWfdtjIsXUxX3mYODa+nDXE6J+Y770cTU+VPiODvmt3uTc4PjYt5vEI80XHd4N5/PU4JgM9r6mGNJ3v9tgcPicwX3mYyC+1PT2bz1TuWaTzoxGlVFLvik/5LISL40Q/JKa1yr+kudvVwAzT9482JPlOqc4arr1ToYTHRaDE9P39HfOVh4n8UpPXb77EppDcRAg7Rmw01UJEBY/Ev/N5w1aOjq7FfHIvfFzYXKu46/E5R8Ss9lP1a1tMszUbFutkDvOVh4n8ks9rKzueHZnYaIt56v0iUCTpTvw7oFy/GR/vxDwK+hXzRcOYg/3pK7VtkjHTiPss0+wEU31qym4KxaRWZt3j85UsRq/O43ViJ8q2hEm/d9jKUfJVzOWYSMPHwayjPdq0E2rSKPVLiLy5YsoiWEL5VKHEKr/0TMli9Db1r6EacjYkjAPaYitHyUTvI48WY7p8cLhPtUPadZ2l3tJk0qyK8+kW0wtSfmC6MolZfumZUsXo2xanySsJV0x/Kv6dT67fjBvTGuYdTBcFa+K+1r4jbpqTlg2DKOfCdY+xvPs5aBZKV9KotbMpgI+5vGDQid7mN4c61U9YOM1cv5kv78QsCkoaPg52Gjw4rhs4gvqe+dxzIk2bolhX4YNZzxFxKBQT+aVOgOc0vdEi9o7Nt/hm8fwhxfSXJUz6/T1bOcvDLrW9cdC0qsVD71uk715N4y71omLPY0WeorD6XrwQu8zQItPZCCalV7+FKHSxmMovjQd41pLE6G2cuKvAJ/tv4t/5vCeakQRaEnIr1IelyFu30WlUe6/nIL50GDWyqQ1olxLmUPoy5a/PwxWPzWFSBoHof8HELr/UTyli9BNinnoPITjv4iVkO07Yylm/c/4IEjmhee3goFHRqrccPafMf4jfEh1VEFkVxOWbxqRJ7YZ5KRuTaFU30LOWIkZ/IOl1vT/TChTdWGUrJ4VJRGwfswVj9BWnUev2TKOJM/JUJnTb0PtA/12NvL4XIp6+ODGYpxXMVjYm0ap2YpET0xEipduRdFPvIuGu35xkKyfFgphF91uYLggvm0vuHO25kd5a0DSsdk+bXlhw0zu4r+J0BlsfdaPap8xT2ZhEq3xev/kSm/tlTca0599no5UYQ+pd+R7A+bxmKxcTMdnDbMEODDd941NDf0e/LdqQstQ7jGvTUffF+NL7/2kj0YxQ+x0DdRvUYvleQUBMUtohm3NMHGab0fb8+2yarLYiWE8mDW0uBk5JugfguhEvoqAAcWFy8xElU5CM/FK/g5OrGH3H4jlVkiSGQu62hEm/f2QrF3UI3sVsANFwKPWbmEm9F45ptCp09CFHMXq1qWnqXecwllRGN4DzqSfvd2znZBnpHaCIggKkR1vqRT8144HmJ/ytn4n9+s3XyFGM3ib1vhbRmvI5N/0yMJA2swaHYW5OAQhP3SzqMiYDxUR+KYbUl41EUd1x7OH32HSNX0g8qYx3Eub6zTW2chaY3KDSxmwAwaj77eLQCP8jJfmlfnISo9cue5uu9/mI1lNHwtR/zrGVs8AkFR+D7BhAiWjAoU45nPob45gNlJakJb/UT05i9D8snq0b2ZryGZnu1yKkmD0fTFLx65gNwDt1Go/uCRSArRMXy13MuYjR2zjSlxFGfkJcv0lKJz86NdfAvdCQBOCTuv0jHUwG/ZhE3rqRPHsOYvQ5pd6VGQmTfqegPU/qilprqQyRcIDmmawZbPiKyaAfU/ml6Uief8Kzk7Po+Pn1Q3lp8TwbEa6pLxJGfomaojwZN9gjXzAbQOPUuemOqzbhP6Qqv9SPT0en4/jZu5JH17vpS8nVOGcrZ41G1evckqQHEvQFAZrjU439eCuUxsArmMgvfYvsN6QqRj8v5lJF+r+LsZBbb2AKcf3mNls5ez5I/droMcwG4JzZGgfC+94BEuA/mDSLdCL7DSmK0Y+KXeo91m7fBQlT/7nEVi6Cus161JwBuA8yXNcIlCxiMniNlphF3iYj+x0pitFvWTxDzLU02wGcz1uhtqgk9oTmNIBQ1GkKXMFc4CqaEJP8kitnru64cvC8bbFLvcdc23YewAH9xlYuCs0enEg9aaZZzAbg9Vv7CXPBIFKWX+rH5vpKEwF+24/ntcXfj/mqyQkJc/1mh61cHGO9w2Cdxsl3mA3AmE6N9/sG5oJhjlCdrtKY71v2LUY/YfGsNleHnkrcVw12JEz9Z4vtXCQtqVfDTqQcwIx2DedzE3PBMJbELPoXowPkW4x+1sMmfi31Hnsn4Tfx73zesJWLd0LrqGDwcQRobo91MRdUwaRu8jjS35KCGP242MlFxS6srU1AtwEc0C22cvHogfCuxppZxWQAlb9bVUvGeBdDZUzqEDsR/x6f2pMmxdU20cFzib/Luy1h0u9ttjLUdEIfWDcAQxmT6k2lnzEXVGVK8qu1u5J4Rc9talT1YzmdwJrqBnA+Yy0JgTBoiUrVLMMvoTMeYJDzWaVJ+QHnE+qyKvnV2h17dHwOajzXhNil3tcSWVM/xL8D+oOtDC/QQ3LV7M6tcF0nwEtGKn5P1fnkAhCozaHkp7Vo011u0o1eFRuR/DNJQ2Bdo5Ahrt9cZyuDpRN6JXaqFgC5OZ9VysU0g/Aec0FdTO/q7kT+u0xE9ZvuvLZJvf9OKDrTFuSXIC7UqbyosZ9ZS1A6GkiocsuRZg4oXwFvzoI6Q+OR/66OxCVGr87jncXfSEnI12f0GfklqHPYrnpj0qUgVA/lUjXtfixkDMCCHcmz1m7RswM07GN1Jna1jSndbX4j/h1QRMXB9TvvAicUCj2oVXE+9xL7LkGEVE1LpSYuO+3ZARpU/7ImdtHVmYTWU0vCpN87bGWoge7JKpdAaE0ojUlQCprZHCa19NDbPzifEMRJayfw20Y9O0Af33gO/XjdSzmNNR0JI780znaGmuihsYoixQ1OKOB8/h26X+YwFYRyFlLSWrSRO3J1M5Ft6j01XcsQ128ivwSmTEg1cW0akyBnWhW+VfqencRU4IoqHW42mpehsXH+6o7X7pQuKfUuPWf5VwAHtMtWBgs0lVilLpToD+SIrulBDbKact8QUu7g+KVr4ix0EvqNNpqbdcf3F3/bNvWe4v3UbQlT/9lmO4MDliu8E/VgiNg25MLCkO/Ube+/AXDKkuSvtbjl0Qk6f/G3baKvx4meNrsSpv6T6zfBFZqSP62w5pYxFSTOJxmsAb4vqEBARM5ZalqLPsXob/v+7rbFv6MRmFTrbEJcv3nAVgbH6OFvVYZnMLaEtCSkub4HlZzcccCCprmS/LUWbW4eMhm6sbWz9sHi3/ic6HoKdf1mh60MDdGS4cL1M5gJEuPDgPWsfSEIy0OjTBh+7FM7Fc17doamDR371FPvim/hf67fBF+syOtNGhuYBhLlpdD8vRD1BE98ljJq7UwdbRs5IJvUe8rOVAj5Ja7fBF9oLdyu/H+U/1RIv0O6aOT+OVOn727klcAb+1KO1mKItHCJqeQQ12/uspXBM6pu8Z0PNmSA1jCj6ADeuZNytBZtUuK+xkni0ZSWIL8EAAAAA2gX9rE/jtz5vM8gmtIR5JcAAABgACbySyl/7Hcjd0BXMlhTXL8JAAAAA7mUsrQWuxE7n+pEpd7IwPWbAAAAMJCWlNcg81nidD5T73p/ph3IftNsZwAAgDRYkfK0FkPpU5YioN4V5JcAAABgAN8L/NhPR+h8HmW0pkJcv/mNrQwAAJAGY2J2RWTqH/vRyJxPlcDK5aozrt8EAACAgZimohcz+O0/ha73JlgOYD89RCECDgAAkAgmUjm5aC2eReJ8HrKmkF8CAAAoCZMoYC4f+4MInM/bxzGe2ZoKcf1ml60MAACQBrOGH/vVTH5/DGL0i5mtqYlAdpxnOwMAAKTBuuHHfqbw30/X9tt0JIx26gjbGQAAIA2uCv/Yh2iWeR5a+jCe4ZoKUdZwxFYGAABIgynDj/1xRjaYF1LvLhmRMMoCHbYzAABAGnSFZo9Q9Yq5CqbPBbJni+0MAACQBibpdx0LmdkhxHWR45muqc0A9rxgKwMAAKSBzTWUuTlPvlPGixmvq4sADugW2xkAACANdgw/9pcZ2sKnGP1uxmtKbyF6EOSXAAAA4A1uDT/2+xnawlfXds6pd+WThLl+c5TtDAAAED9t4baZfraE1LsLjoXrNwEAAOANvlt88FcytMdnIfVuyzsJk35fZzsDAADET8vSUZjN0CZNi9HnnnpXQqTfdbTZ0gAAAPFjK5MzlqFNmhajXyxgXYVIvz9kuh4BAACyQps1bCSHHjK1S5Ni9CVIBIXqfkf/EwAAIAE6lh/824xt87sBB0mF/scLWFfrEib9vs+WBgAAiJ9zyw/+Wca2uRLqE03QFPivQA7oJlsaAAAgbhYEyZtB/BBS7yaEaj760/vbAAAAEDGnDj74pxnbx6UYfSmpd9uaYtuxwLYGAACIFxfRz2c5oVxxKUbfLmRddQM6n0gwAQAARM6FuJO9GcnURq7E6EtJvbckXO0nDigAAEDkdBx/9GcztdOikHqvw0lg51PHMtsbAAAgPlqP415orqmCrRi9RodnCllXWxLe+dSxzRYHAACIj6MGPvradJJjGt5WjL5byJpakTCi86+NS8m3JAQAACBJmoxSrWdqM1Mx+lIcoQ8ROZ90wgMAAERG09qM6qjNZWg3EzH6UlLvMUU+X2rTEgUFAAAITMeTo/AzQyf0WEi9v0S1Pg8jdDxLVB4AAACIkh3xG6VSGZ52Rvb7JqTe+1mSJ+3XPwmMXXm6FhQAAAA8oSlgFzcdmQ513CYzsGOdutlcU+/qUKu80XkijudLGaxFXgcAAADNMtVz/mKozdNn2Hsc05JuVLCOGH03s7U01/tNqUQ8Bw11nrVmdZxXBAAAgBv0o9qRp3rFGJtCnh0AdWba8lRDmApVxejPJP3Uu0asNdL59XHcZuB0vtUsd9DbL9NCsxIAAEBlWvJUi6cO3UXETuegyKg6pLs9R6At8abrpys6NSndBvVOnkT21fZaYqDasHeZOpxVapb18LD/ODblSS1ioTfvE7xqAACgdDQSl2tUqn9cy1PjVCyMSh4aqBM9p/+XlOlo2gx1zm969uvwKgIAgJLoFPTB/xGZ7QeJ0aeSem/hSDoZXV5FAACAA4oD6oO3xOhT6nrHAXUzPvMqAgAAHFAcUB/8kPSjYTigbkaHVxEAAOCA4oD64EDSF5zHAXUz0BQFAAAAAAAAAGiC/wNkOire8eb/zAAAAJR0RVh0TWF0aE1MADxtYXRoIHhtbG5zPSJodHRwOi8vd3d3LnczLm9yZy8xOTk4L01hdGgvTWF0aE1MIj48bXN0eWxlIG1hdGhzaXplPSI0OHB4Ij48bXN1cD48bWk+TTwvbWk+PG1mZW5jZWQ+PG1pPnM8L21pPjwvbWZlbmNlZD48L21zdXA+PC9tc3R5bGU+PC9tYXRoPrLhoK0AAAAASUVORK5CYII=\&quot;,\&quot;slideId\&quot;:760,\&quot;accessibleText\&quot;:\&quot;M to the power of open parentheses s close parentheses end exponent\&quot;,\&quot;imageHeight\&quot;:38.56},{\&quot;mathml\&quot;:\&quot;&lt;math style=\\\&quot;font-family:stix;font-size:48px;\\\&quot; xmlns=\\\&quot;http://www.w3.org/1998/Math/MathML\\\&quot;&gt;&lt;msup&gt;&lt;mi&gt;K&lt;/mi&gt;&lt;mfenced&gt;&lt;mi&gt;s&lt;/mi&gt;&lt;/mfenced&gt;&lt;/msup&gt;&lt;/math&gt;\&quot;,\&quot;base64Image\&quot;:\&quot;iVBORw0KGgoAAAANSUhEUgAAAmgAAADxCAYAAAB/GUvrAAAACXBIWXMAAA7EAAAOxAGVKw4bAAAABGJhU0UAAADwfZlgggAAIJpJREFUeNrt3S1UHM/SgPESEYiICAQCsQIRgUAgEIgVCAQiIgIRsQIRgUAgEIg9B4FAICIQCEREBAIRgYhAICIQEREIBAKBQCAQCMS9VBgSkv/CzvTUTPVMP79z2rz33jdLTc9MTX9UiwBAe70iBKAfAwAQh9H7tnPfvhIKNNz0fTu/b4uEAgDQZO/v2+V9+1/W5ggJGurNfTt90pcP79s4YQEANMlbeRgx+98/7acwRYRmGtSfr+/bMn0aANAEvft2M+Blpu3uvk0RIjRM95n+/NhOso8SAACiM3Hfjl94id3etwXChIaav29XQ/r3qjCaBgCIyJI8P2qm7ey+zRAmNNykPEzTvzSapmvTRgkVAMCTvoj2hrywfvDCQovoZoHjIX1eN8bMEioAgIfufbsY8qI6um9jhAoto9OYO0P6vq63ZMoTAFCr9ewF9NIL6tt9GyFUaLGVHPfBl/v2mlABAKqk0zuHQ15Ij+twSM6Qgl6OJE2n+dnlCQCohFZRH7ZAWts2yRkSozs8b4fcF1ozjXVpAADzUYJhLyBtG4QKiZrLcY/cZfcSAAClbcnwKRxtO4QKievKy7XS+JABAJSmC5vzrDfT9lnYrQaoqZxJ2i73DACgqI78fTD0sDVnvGiA4kkaHzYAgNy0Wvq5MHIGlKEnZ+RZt6llONhUAwAw+fKnzhkwnO7uvONeAgCU0ZWHUgB5krPv8lATDcDL3uVM0nS9JwVtAQB/yVMi4LH95EUCFLKS897SJI0lAwCAX/IU2XxabHOCkAGFfRbWdQIActLTAW5yvjj+lyVzAIrTNWbfct5nu4QLANJVZEOAto+EDChF122e5bzf1ggXAKRnsmBytk3IALN7L++o9QLhAoC0vuLzHHr+dMcma2IAO4s57z1dGzpFuACg/XT35UmB5Ew3BbwlbIC57Zz3oBaN7hAuAGi3vGdrPrYuIQMqoaPS34XSNgCQvK2CydkWIQMqpaPTedej7QtLDQCgdT5IvmrmT6dVOCkAqN5ygftymXABQHvkPbT5sd1l/xsA9dgvcH/OES4AaL4idZce2wZhA2o1LvmnOhndBoAWOC6YnPHwB3ysFrhPObMTABpso2Byxq5NwI8mXKcF7tUlQgYAzTMrxTYFPB7SDMBPV4rVKBwnZADQHFov6aJgcnbLwx6IwldhqhMAWmlPik9tsjEAiMNUwXt3lZABQPw+BCRnOto2QuiAaHwWRr8BoDVCpja1rRA6ICoTUmwN6RdCBgDx2hVGz4C2OCp4Ly8QMgCITzcgOWOrPtCee1o/tjhQHQAioru4fkrY6BlFaYF4nRa8pzcJGQDEoydho2esPQPitlLwntbjosYIGwD4C90YoA9yRs+AuOnuzKIFp9kwAAARCDnOSdseoQMa4SDg/p4mbNCDmM9ppVod9Wu+EOdfbatl959uxb8NTNBmeXwBjfAu4P7+RthwHvhyoP1pnRqu0xFxbuWo0W5gHPS+5XgYoBneBH6IzRA6EjRe/CRoJGj104XAN4Fx6PPoAhplP+A+PyRsJGi8+EnQSNDqt1UiDkxvAs2yGHivdwldunQN2jUv/uCmu+/qWoOWcpzvsli3ZQ1amdGzM2F6E2jiPX8nrEVDIE00JrOMXQ9s7svDGpkTCSsD0JZ2ld0kWkBQq7bPy8Pi7rorPr/K/l09DqR339bl4UDeNibZ59lo2Ud52M3UturamyVi84lHFdBIh4H3/CShwzCjWXKwmSUFd9LOhOxH9je+l3qmL63oeYy6qHRZHtY7XDUs7rqIdvu+TbX8PnpTMqF+z6MIaKT1wHueUTQUpsnLmrRjHduP7OZ526LroyNuc9nNHXPsr7PYjyZy3/RLJrEcjA4000yJe3+K8CHUUgNHbLTp4vtuAtdnUeKbBtVkY0vSq4Z/UbK/Amiu0LWnnwkdyhiT5uw2PJf0dse8jyj+Wll7PMF7ZL5k3DZ4zKAEXcvZkYe1rLPZM7Cbjezo/73qzSd6LmU/a28TvQZfJXyjFEe7oZSREh2wrrYj7Vt0npf3dLSOsr5L+P44LBm/eR4xyKmTfZRpMqRrUs9k+Lrhu+y/p7vG17IkzupZ2ROKsKr1Evf/Ct0aFl9ppxJnqYalxK+N5winviTGEo59yKHJ//bf1zxeMKSPaQLwXew2cd1lz431LGELWQM5Kf9dApPqs6DMKDoniMDEosS3EL3LZfm1GaLu2Ouaiw+EvtSXM+vP8BJNnHR09lbqeZbuZfd0nim3uQHJ2W3iAxhlkucFujssxFI77Y7k7JfQ8+DKtBOhhs+jk5KxpP4Z/jWdjZZ5Pl91tkSnRPvyMI352NZe+G2niV+3MjMZbBaAiS2JI0H7yKX4ZbXmuOuCdkpCPJgxiCf1z/B0FGZXmluL8kvi1+9TyQGHDrcAylqK4EHAqMMDTZTqGtFMfSPAIBsGcR0njJCHEekzKbfkYD/7YOvKf+sPaj+bzZ7fuqHqsoJnxGbi1/BDyfixWQCldZ2TszNGcH5bk/rqypFI/NdPKb/uh8XBeCfh9Qwvs6Sr6DNR//s6ensszGpYmSgZv5/cCmh6gsZiyge6TqWOtWcbJBHPxt9iLR/SNlfiPtbpUIsdwHqM3I1Bf55N/Fq+Mngms7YXjU3QvpEs/H4QnFQca/0ypz7X8zYNYszCYJ6loS/0VePf0pHyGxNGuaSlR9X7hBBleFau59yyBxsVx1kf1ExpVvsg1rZOGJOlu69DC0zvVvibQpO0Gy7pL/tSfgkPEKzuXYNPR8/wUIuuyl1eOjLEGr+XjRvFmh2c6Qo9mUVLWVRZ2PiNhG1WYP2U3cfzW8KIUNtOCdosoS81JcIuTTvvjGLOepM0LZToM3UUh+5I8TVpX7msv/QMngvs5kSwA/HZuZn62rNBx6owpeljxyjuHPGUHh2dDp3avKjxOVg00djg0v5iURvxmDAiVBX1c4a1tcRjPi7VHYjOlGZxFrXnLgkjIywF21bNv/WwwG9b4tL+MmbwbNAlLG8IJYrqiM/05kTCMdcbtYqzNpnSDE+WrWrLIT1l7uW61yxOSf71rnNc2t8slqEsEkYU9UHqT85SXnyqyVkV5TSY0gxntYt5l1AmZ0LKbfDx+FDNuyuREht/WOzw3iOMKMrjHM5Uj3Uak2oOTGZKsxyr9Wd9QpmcsjvgPdbh5llTdc2l/YvFOu1zwoiiTh0StBRLEVSx5kx3ZTGlWZ7V0Tg9QpmcbyX7TKx9/geXtpKBDEYlkduE1J+c3WUjSSnRdR/WGzG+S9rr+Ky8ErsadKzZSU/ZXdheO9mHjfwdcGn/YnVGMnUSkduyQ4L2PbEY60v7xjiGOiXHlKZd8mx1XShGyQdu0ea1bnR8yIfJFpf3L1ZrtTcJJfI6EtafVUm/liyL0DKlaW/J8PqwjT4tswZ9Zsbx97+0WanH5f3PhzY7vVGbVxWM7ORp3UTi2xPb45uY0qyG1Skad4SSUZWAtur4+zd5TudmNdKu71xmPzBU1yE5u02kc24bJ2e73NSVOTS6RheEMjkWZxh/dvz9L+3m7HB5/zImLIVAjTzKa7R9eFdHJffFdkPFMl21UhfC2kqE6Rsl9l4bBfSjb9AmhyvhGL5BrJ7rPUKJYX5K/Qlam493sq5xptvgmdKs1ms+PuCcoGnzXFc6qEzICZd2IKv1xJxxiqHJhMfxTp2WxlMPPT8T2ylNDt2u57pZXbMvhDM5q0Z956vj3/BpwO/Z59IOdN6C640GsNy5lnoVZf36tdpscSccUFz3tbPq3xzjkp73hv3Ha7R8UKklSmwMZjXrdEYo8ZIDqT9Ba+MLbEPsNgPoWpQZumZjP1SYtkiP5Qis16jVoPIRfCQOZlWWSt8ZrPHDQNoxrh0StF7LYvjJMDa665MpzfqtG17DdcLJs7Rkm3L4G8YlrtpsMfsm7OSEwxcT68/y06mIE7ErO/KBLulmx7B/M+qQpmPDPnTiNLLy7xKNMS7rQJ8Nr/U84cQgmw7JWVtKELw3/GLWQ+on6Y6uLEui9AhnklbF9lnpkej/+OejEYPt8kGHqp1J/Qlav+Exe5U9iK3Wm+l6PKY0/VkedbZIOJM0IbbPSh3NGiesUeoLSyJQoXHxmd7sNjhmer6iVX2zW0ZaWvux0iWcyTo1fl4eENLWJ2ifCCf+9U7qT86afLzTrOFLnCnN+JwLCRrKs57m1PaRsEbHclMRdRPxHztSf4LW1ArreuqBVX0zpjTjZHleKglaujrGfenxw5adfnHp8V5ElS6k/gStaV+Co/JQ6Zkv4XZ7ZdzPKU2Qtn2xf3bqqPsIoW1lgvaDcOKpt0J5jWEWZPDhwSHtUh5KmiDeUQ/KyMDKTEXPz32hqGkbE7RzwomnVqX+5KwpnVC/UvV4E6tpCh2+ppYQCRrScljRc3SV0Ebhg9ju1gV++yb1J2hNON6pI7blFvp88TbCpJCgwdaU2K9FezwaaJbwurMu8g78ogvUbx0StF7kcdHaVUxppqlLgoYKVLEWTZsWyJ4mvK16ZrwhpFDvHZIz/eqLteDi41maTGnysCVBg6UJqWYUTZtu8holxDwz0C6fhfIaj3QawrKwZF+Y0uRhy8MWf2xX+Fz9xvOGZwba5dIhQetHGIc1w69bpjR52PKwxSA6dXUl1T1bd0nSeGagHabFp7xGN6IY6PSjZW0zpjR52PKwxUs+SLXP1xVCzDMDzbcu9SdnMR3vpOvvroUpTfCwRb2qKrvx2BYIMc8MNNuxpLn+TBNEy40ATGm2yywPW1RMi4PfSHXP2Uv6HQkammtEqttRFPPxRlrV2/IgbKY022eChy1qsFTxs1Y3PDGiT4KGBpoRn/Vnnh1Pq25b1nzb5AHYSh3jPj9FSPGMqouE7xLiRiZo1EFL3IZDcuZ1vJOOiFiu+dAkr0cXaq0xae+mGMTX16rc1antPWFuXIKGxP1wSNA8jney3gig0waTdJ/WI0FDnc+oKp+7N9lHKkjQ0ABaxd9j/Vmdo046RLxj/Hdqgvma7pMEywXcJGgYpsoCthSxrd6i2G7wQMKqXpz63LRgXfPq1hsBmNJMj2X/eUc4MYQmT1XPavAMq05Pmr8UCJE4kHaW19CH3JrYbgRgSjNNli9LXozIQ2c2qiy9cSPxnoFMgvan/SScaX+pXUv9CVq/4r9L11iciP2aOaY002S5qYQEDXnNV/wcPiDE0SdoR4QzXV3xKa8xX+HftGT85an/v9j5lLYdw/60SjhRQL/iZ3GXEJtbM7w+nwknN38bjncavW9fxL6441u6SfIsj0HrE04UVGV9tDNhw0DM79UtwpmuU4cE7WsFf4d+BV4Y/04dNWFKE6pn3K+AIrQ+2mWFz+QlQhxtgrZGONPUEZ/pzRXjv0O/MCzLZ2ihyHm6B56wPGljj3Ai8CO0yrM6+Ri1sysUFkZEowJFmtWUoX5VfhWmNFHPCIZlDSogxGaFz2XWRtrZE9YIIqJOVHdNFy0EaH0kCrs08RKrjSfHhBKBdO2u9e501qLZs1wz2CGc6dEb8ULqT9A+lfzdVZwIoJsWPvJwwhBWtdAoPIkytA5jVaWRFgiviSOj63HHeylNXfGZ3izzAJjOvvIsf4++dGfoDsjhs9iVbQHKsNxVzPpIez/FbskNEtR3SM70ayB0CnFT7M8L1YWcI3QF5GRZ24h+h7KqmOq8pW+asDoa7iuhTNOR1J+gHQb8zk4Fv1UfQot0ARQ0Z9gHJwgnSpqu4KOVaU4bVscLbhDK9IyI7fmUedtmwd/ZE/uz6PTLhilNhBg17IezhBMGLMs5PJ1ZQDkcC4dgi+Kz/ixvYqTToF+kmhG8N1x+lGC1seYdoYTRR4N1AdsfhLWUcYmvJBUaxKO8hu46yrO2QaeRrDcC6GjhsrAbBuVZfThQc6pZvsvD6Lu22OrYrYj9WmGeleGmxW4zEesBE3Qu9Sdo+0N+kz4Q+mK/pkJ3wUxyyWFk1ahfcr5ec4xI3Ltw9fdZj6IxchNu3uganBDK9HTEZ3rz45Df9F2Y0kT8poz65gGhbIzJAddvPLLfaD2K1uWyB+sZXYNtQknnqauNPfN7lsV+I8DjAbMM08Oaro+02GDzk1A2xrsB128+wn5pWbyWNZLhrGrUfSCU6Tl0SM4GvYx0cevnCv4tHeqf4zIj8nvolg+Ixhg0rb0e4e/cEnYPxuCT0TUYJZRpiaW8htbZuZJq1rmNc5lRMavppA6hbIRNKb6m1oPV4nQSNP8PuAvCmJ6u+Exvzj9JEK3P0XzcdbTKiARqMiGs80nJlwa9QE9J0NxZVCGgFl2C+g7J2U2WOOmuoJOK/g0eJmjiQ/gjYWyE555bMY7WW01zsgYtzIjRAATxT1AVOyXznCWmo1tVTq1+49KiZhbrTCi10QzXDXqJLgiju56sRtdZf5aYjvhMb97U9O+wMQB1sqh1xEHI8XvpeK9PDfu91EFrxnPhlDCmp+eUoNW5U5Q1aKiLxYabK/ps9N7Kywu5Y7x+ZTdgcZJAOIsNRIysJ8jjeKe62zKXGTWyKBMzQRijNmzKsBPhb/7JCI4bi6UPs4QxPR7HO9Xd9Iv2NZcaNbGYzlggjI0eEYlxo8eRlC9XBJ/Yc1B9gmYSSM5iXheCdtJpzrJrLDcIY9S2pXkblMomCewuDlf2TNRNQpiefkIJmq6fYIEr6rIv7EBus2HT2Pq8GWtZgjbJZQ9isUFjhjCm50jqT5SuxC9JY3cc6lJ2mlO/uFmQHa88pYlWI/vNZYrVsv4s3KKw0Q0FeR3vtJ0lSl5JGmU3UNf9dcGIRWvl+dCMLcku83HMlHu4zZLPgXVCyBd+XU2HanWq8U4ou4F22xZ2H7fRG2neZo/XQv0zL2UGJPQ9yY7uBHmU17jJRhYsXl4cAYXYTZbsp18IYZSKHD5+HMlvni3RDw+55MFeSbkNQ6xFTZRHeY0v/3yFXjslaOdC2Q3U45uUW6+J+BSdfehG8JvXSvTDLpc82NuS76r3hDA9HYlj5KovfqNobFtGHcqegcg6tPgsS/OWVYSet8zoWTkfS9z7Z8JynCT1nJKizj+/Q6c7vQrlMrePOmgfL7M4m3Vo8dkKuI5Ljr93SihN5KVMuZ0+4UvToUNC9Nw27XfiN4rGGh/UYUMoDdMmBwHXUZdzjDv93tD1xuzcLK/Mx9kY4Uvzi96jvEbf+IFn1bp0CVRMH7ShC4Wv5c/GGsQh9ExL3TBQ95TVVGDf09/KOt1yypzUc0D40tSNMBHShwhlN9Bm/RJ9lHM541Lm2J6dGn+nPtdC1p5p/b4Ol7m09RL9ZJrw8aKoq93mGAXwKPvBGXOoy6iEj6Jxjmw8ytYTq3PqcEfCRmynuMwmjoVlDSjou9SfAB3lfIF5ld3Qf/cNXQMV+yTh5TaY5oxD6IL7upO0kI0M14zcmNENaKGzQpy7maiOUwLUz/n7VoSyG2ivsRIfIV3CFwXLTU26w896nZd+aIZsAiM5s7Us1Q1moKV6TslP3q3aumbiTCi7gfYKPZdvm9BFYdX4uXOZPZct1sHqodwhZYtOePaZC53e5EMsYR7rvM4L/sYP4jeKRlFGVC10Kp9pzjhUdUSdliFaC0iUdFT2Y5ZkhW5aoF/ZCj09YJ/Qpc2jKOxewO88ckzS5ukmqFg/sG/2CJ27Mgdf5x3JP8oSJ50mW8hGVR6bfsCuZs/VHxK+zumUZ11lQnZv3gqjmEmbEZ+EJ+Sl4ll2g+M1UDVdd3QhrE9polN5fg3XbpZA/ZtQ6ciYbhAJrZ9mPaW6xjMuuoEQigLz1R7F8U557QhlN9Bei4F9kxIIvgYl1jqqlveUgMcpyaOaP0L1w3NFKD5btZBNJOdcF3hMG34v8XvLVF+n7AaaIGRE5TNhczMyIKnaLzEaNSkPm0ZCRlPzFpzVkbtZYcSsLt8CrtMHwsaDJbbjnfJYE79RtB26DSo2J2FrlDqEzsW/i79144bF+Zqvsr6g01zHJT5MdSRGzxdeISlz6x9FR0WPuU7oOiU5XYPE8kL8ym5M0nUQ4Rf3LmFzS6jPn7SlCj+odcG4bhDoycOmgP4/bTn7z+az5xQ7Mf0V3UCi7xiWLMBlPdet0UNjUfxG0ViUjap1AkZMGEUD4hJycsAKYYOIT3kNy+SGshtos5CpfKbggXjsB7wfmdqE2/FOa4Z/g1eJEMpuoA7av34Io2hAE3Wl2OiZjphT8wy/9KRZ5TWesyd+Sdoa3QgV07UoRTfyUHkc8Fd0hmeRkOHRF4eE5ryCv2NcKLuBdgupQN4lbICbj3xUIZRXeY29iv6eFaHsBtorZKrzVNjBB3jQc3UvCw5c8KGP37rSnOOd8iaclN1Am4VMdTIFD9SvyMYAnf2ZJmR4qi/tWH/21Duh7AbarVewX94IGwaAOs1HMmiBBmva8U55fXdM0ljgiTp8Dbjv2G0MVE/XQxcpXfWJkGFQJ6rzMF6r453ymHb62yi7gbroWpWiZ3UuEzagcgfCUU4oqSfNPN4pL8puoO10zWORncv60UJ9JaA6SwXuR10v3SFkiCWBsTreKY8J8dmh+lh2Y4wuhhoUXXOpo26vCRtgbqrAB9ONsKkML2j68U55rIvfKNoeXQw1KXoUFGteAFv60XMm+UeyOSIQz3rrlLR8rPnvHHFKRB/bLF0NNdkVNrMAXops2vlAuPCSvrSvvMZzFoSyG2g//Rj5JsVKb0wRNqC0zQL33RLhwjAe5TXOHf9eym4gBTrNclrwnhwlbECwnuSvGLBOuJDnS9tj8bznUUiz4ld240JYlI36dKTYtD5rJYEw3QLvlQ3ChTzmnBIV76HdL+I3irZJt0PNSVqRMwB5eQDV3WN9woW8tpySlPEIbqgbp7/9NoK/H2nR9WVXBfroCiEDctEi0Xl3bPJxjkJ+OCQox5H87RviN4r2ha6HiJM0narpEjLgRbpc5UTirFqAhhsTn7VYWxHdXBeOSRovQNRNi2HmnYq5FnZ2Ai+9P/JssLsjOUOInlNiMhdRDD44JmhaxZ1z11C3juSfktEPGI6DAv6mz+3DnMnZAuFCiM8OScllhEnJifglaT26ISJP0rRUB0eVAX+SszxHI+oINMXJEWREiu3ssmoHEcbCs+yGXoM3dEc40KQr7xrUc+EgZ0Dfm3lOCdCRZ5YHIFjRQ5WtWqy7wzzLbvTpjnCi62jynjigU/IUskWq8k5rHgojzijpk1MyEut6Fh0d8Cy7wegEPG3n7Ks/SNKQ6IdMnuRsV1hXDAMeh4afRR4Tz7IbB3RJOFuVfFP9p8LGAaRDl6AMW6d8l90/JGcobcIpCfncgK8kz7Ib7+iacKbrMfOsTT0nSQPJ2e91xNOEClaWhIPCn+NZduMHX2CIwJjk29nMxgG0mfbt70PuAa2DxqkwMLXvkHzoEHBTDgn/Ln5JGkfsIAb6oZBnXRqjB2gj7dNXQ95n63xQo4oH77X4jA41xVvxLbvxmm6KSCzmeF7oJheKcaIttJD6SxvGLiSuYutokSmnxGOjYXHaFr9RtG26KSKiU57HOZK0RUKFhlvK+vJL66jZxYzKbDklHTMNi5MuDr0Sv7IbLMBGTHTkfUWGl6LZFKZ90Mz+/dJH+RUfIKiDx/oqTThGGhirZfEbRTuiqyJCHRle2HaSMKFhXircricHUHgWtTxcPdZWHTb4q+qnY5LGOgfE6oMMHmFeJzRoqH8L0epoMaNmqE3PKdFYanDM5h0TtDNhugjx0rU4O/Jnzc4x/RUNNvlkAEMPQ6d8Bmq165RoNH3K46v4JWlLdFtETtdLHvBCQwvoGkp2JMOFR3mNixZ8VXuW3dBr9oauCwBAO006JRg7LYkfZTcAAIC5VeF4pzI8y25oo1o7AAAtdOSUWLRpe7Jn2Y1DujAAAO2ioz+3DknFScvi6F124z1dGQCA9lh0Sij6LYylZ9mNn0IZAwAAWsNrgft8S+PpWXZjle4MAEA7nDkkElqFeaSl8Xxa0LDudikc1gsAQOO9dUokDloe1x3xG0Xbo1sDANBsK05JxFrL46qjWNdOsdXROw6kBgCgwbzKa6SQQHjVlvtfdl0BAEAD6Y6/G4fk4Sqh+Hqs73tsc3RxAACax6skREprpN45Jmh6zulrujkAAM2y4ZQ49BKLM2U3AABAbicOCYOeWJDaqI7ulPUqu6EbFcbo6gAANEPHKWlI9czILaHsBgAAGGJJmHKr07j4bMh4LLvxli4PAED89p2ShamEY74mfqNo34RzOgEAiJq+qC/F5xiilOnRVheOSdp7uj4AAPGacUoQPhF6t5MbtJ0Jo2gAAERr0ylBWCT07qNoy1wCAADi5FFeQ9s4of9l2TFBu+E6AAAQHz3E26O8xhmh/817FI2pZgAAIvORpCAKnmvRNEGf5BIAABCPA6ekYInQ/0VHMr3qomn7yiUAACAOrxyTgmnC/x+7jgkamzYAAIjEvGMyMEL4/6PrnKBpXbrXXAYAAHztiN/OQQx25ZykbXEJAADwo9Ob105JwDnhf9Zn5wRNNwww/QwAgJMFxySABO15nrs5H9upcMIAAAAuDh0TgAvC/6zFCBI0bZtcCgAA6qVTWB7FaZ82FqMP1o0kQWOqEwCAmnmvc6LMxvPmJY4E7XGkc4xLAgBA9WIYPdO2zqUYaDWiBE3bd2E9GgAAldIX7Y9IXvwnXI6BvkWWoGnbI0kDAKA625G9+N9zSf6yIPElZ49tXyguDACAudimzh4r17PG6YHG4SLiBE3b0X0b51IBAFCe7pbci/il//O+TSR+jToSz9Rzno0D89xWAACE6963swa89PXoJy3QmtoUmv69y+J/vFPolCc7cQEAKPDSfycPhWhj2K1Z9ISBtfs22vJrNJr9nRfSvMTs33acJZlMVQMAMOCFrxXotb7ZZQte+ppY6nonLcUxK80fWdPkZS77e3SX5m0LrtGga6YlObazvjjBbQkASIWWOujIw+5HfdnrNNOZNG+kLHTtk/69n+7bkjxM376VOMo/aAI2nV2XlSxJ0d+q68puErg2z7XrLAZ7WX99nyXcHW5lAEAbfE38RT+sXWWJ6lSN10STsNOWjobVNeJ2niXcAAA00jkv9FytW+M1OSLeZqU7AAAgQSNBI0EjQQMAgASNBI1GggYAIEEjQSNBI0EDAAAAAACt939bh5vO2rdTpAAAAJR0RVh0TWF0aE1MADxtYXRoIHhtbG5zPSJodHRwOi8vd3d3LnczLm9yZy8xOTk4L01hdGgvTWF0aE1MIj48bXN0eWxlIG1hdGhzaXplPSI0OHB4Ij48bXN1cD48bWk+SzwvbWk+PG1mZW5jZWQ+PG1pPnM8L21pPjwvbWZlbmNlZD48L21zdXA+PC9tc3R5bGU+PC9tYXRoPtcCh4YAAAAASUVORK5CYII=\&quot;,\&quot;slideId\&quot;:760,\&quot;accessibleText\&quot;:\&quot;K to the power of open parentheses s close parentheses end exponent\&quot;,\&quot;imageHeight\&quot;:38.56},{\&quot;mathml\&quot;:\&quot;&lt;math style=\\\&quot;font-family:stix;font-size:48px;\\\&quot; xmlns=\\\&quot;http://www.w3.org/1998/Math/MathML\\\&quot;&gt;&lt;msub&gt;&lt;mi&gt;u&lt;/mi&gt;&lt;mi&gt;i&lt;/mi&gt;&lt;/msub&gt;&lt;/math&gt;\&quot;,\&quot;base64Image\&quot;:\&quot;iVBORw0KGgoAAAANSUhEUgAAAQgAAAEICAYAAACj9mr/AAAACXBIWXMAAA7EAAAOxAGVKw4bAAAABGJhU0UAAACFXfblMQAAEJBJREFUeNrt3S9UI8sSwOESCEQEAoFARCAQCAQCgYhAIBArEAhEBAKBQCBWIHIOImIFAoFAIBAIxArECgQCEYFYEbECgUAgEAgEAvFe+jG8zeVm/iTpmqnp+X3ntLp3A+k0le6a6m6Raqr32pQAqLxar6302n6vXfXaQ6/9p9cee22W7gGqZa7Xmr120mudXnuLAsLX9s4sAgjbTK+tRbOD8157jgkGg9pNwP1y2GtnCm2VIQfLM4ONaPD/6rWnIYLBoNYKuJ/ex+ybuLbEMETRJqOBuN1rx71222uvCoN9JdD+O1AKDi4gTzA8kZdaFAi2+pYIXcVvv69tMtB+/aPUXxcMWWgFAZcn2JWPxOF1FAjecgoEg9p9oP29rNhnBwxnjOozUXgYfdO4APCY42xg2HYc6Odwpthn5B8wsgejgSCubQT4GUxEQVmjv57JP6AqASLU+odvin1G/gGVCRB3gX4Gl4p9tsUQR1UCRDvA/nfJYM2kLyXpUOEeJdajtih/n2acKq6X01ojwH7eUuyvLsMYRQUPVwz1lGNweJMw6x9uFfvsnKGKIk1HeYE8AsR1gP3npv+aj5ObDFEUzW26ehbyD6NoKfcZ+QeYsC3UP4ziN/kHVIFmoc9nmw6szxrK/fWDYQlLroT6h2GcCE98UCGaewlC/DbUnHG5LfaTDElY8ktxwK8F1lebyrOH3wxHWNMV6h8sBFPyDzBnUvTKhUM7f9IlW7W30pN/gCnzwmEnWe0qBwfyDzBnQ3HAh3b+pPbmuCuGI6xpKw32FwnrsJOG6BeU7TIcYc2NkI3P4iyHADHPcIQ1r0qD/SigPqop9lN//gEwZVFxwK8H1E/ayclQd7yCgV+J8yc7OQSIPYYjrDkX6h/S5FH7QP4BJmntKWgF1Ed7OQSHB4YirFkQqgGz+JNDgDhjOMIarQNXQ9p/sSb5HMnXZDiC/EP5XOYUIOoMR1ijtYMzlPyDq314ySE4dBiKsEbzROZQ8g95JCdDS+giEFqHnoSSf3B7SO5zChANhiOsOST/kGgjp+AQ6oVCKDmtysBQpss/cwoQNwxFWKN54WwI0+U5yadykvwDTGowXU7Uzik4kH9Apf4AQpguuwCX1+3n5B9A/qFkmjnOHi4YirD4DUn+Id5djgGiyXCENVp7C0KYLi/mGBwor4ZJP8g/xLrMMTiwvRuVmkKXPf8wo7j0Yns3SsEdAcf+i3xnVuQfUBrr5B9iA+eLkH8A+QfyDwMc5BwcyD+A/ENJTIr+dXpfW5uhCPIP5bCTc3CgvBrkH0oizzMfKK8G+YeS2ZX8Zw9s7wb5B2YPbO8G+Ycyr6eLmD2QfwD5hxJwv/NTAcGB/ANMOmE9bWL2QP4BJnH/xT+XW88FBYgdhiKsmWY9/Q9HBQUHyqthEvdf/DUv8cnad9HdzUl5NUw6Zj39f1cJ7+dc2N6NCtK6ur5s+YekmdR99H7Y3o1K0ax/WClZPyQ91lxNmV34aLMMR1Ql/+DaRIn64TBl6q95kZBrXYYiLDpTGvB3JeoDd0vWa8z7eI2+2ZvKs4cfDEVYpLXXoEznGVxnyAucKgeINYYirJkW9l8kLbFu+5ZJmoVTlFfDJK39F68lGfDulOq4xKQLnIvR/7ekPHu4ZijCIq3n+r8DyL/s9/1/35UDxBFDERZpnbNYhoTbWsLyqvtlBnSjHCC+MRRhcXpd1YRb2iG0/fkT93hT87h7l3+YYjiC/IMdSU8kznPqJ7Z3wzSt8x+sJ9xWEpYWnzUP/bRv0zpgKKJK+QfLCTf3yDJp38mgsxj+KAeIJYYirJlVHPDrht93Ujl1f83DpznRqxNx7VnKVY6Oivgm1Sv4WZb4vRT9NQ/9tI+du2QowiKtdXXH6PutpSwVWjH/7lLY3o0KelQa8MdG32/SgTiPUQD5alJ0d2+yvRsm1RUH/KrB97uSkkeIq9nQfrzJ9m6Y1BS9+gdrCbe0gqikI97aQnk1Kkjr/AeLBT9HKUuL6YR/21UOEOsMRVikVf9wGMjSwtE8ho/t3ahk/sHSN2LaU4vzgpZh1p/2gPyD2qCfLskyyp3/MJPy70+UA8QxQxEWaZ3/cGvoPa6nLA82M7zGnbC9GxWkVf/w3cj7czODpK3ZPzMuwzTzD+/C9m4YtKA46BtG3mPSvRVu30OWwqQtYXs3KkhrX4H7RrSQkU/LrzQzvo72xb1s74ZJWse2W7j/wm20ehtzaZFX/oHt3ahU/qHoikA3e0kqanqV7HseasL2blTQtOKgXy74vaU9kmwO8VqryrOHC4YiLGpKmOdPrqV84/8a8hu7pRwgdhmKqFL+ociM/EzKsilLQdRX2sfb1xmKsEhr41FR919MZPhj3hzyNbXPf7hnGMKiGdFLvBV1/8Vhyu91OsJrLivPHk4V+2MqWh6xAQxD2xC9+oci9l9spgS8JxmtUlH7ej3N8urPo/Eeo88byExr41ER9Q/zkn7L1ainWmnmHzRvz9qPma1MM/SRhda9Du2c38dUhvcyTk7kSTFAaF0mtBwzm3qLgimQSLP+Ic8diW5t3ZH0Mx5HLUKaU15etJRyS89SjsN7YNSahHH+w3GGKfw435jaG7R8J3OTnuLcC9WayEjr/os8T2TezvD77Iz5MzQ3aGkUkyV9rssMe2TVkXKfiNSQ9Ee0Pz18Y/5WDBBXCrPC9xyXMgjUhOgV/uTxKG0hYY3d/0hz3KVOTXQLpHyWV88l9ElHqIPAEBZLnH9wuy/TTt9+9zSdXlLOP8x56pNalF+I64sFhjyGsVPS/MOUZCsN3zfeT5+FS74k1Wl8Z7hjWFoH1Gquc7PssfjcJOYrU3+sGCB83d6dlJTsCE8tMAKtC3JWCg5qbg0+4/Fnap4gteXh99uQ+KTkG0sLjGJGcdBrJMLcN2CWKwF95R36vSr21bh/vMspv1+ToY5RNEqwpv7kAs6vjD/f91pbs4LyZcypf1KlpM/lCypIa2firUJwuMr4s88V1tobYrP+YTJl6ZN28TAw9lq+6AAxJdkLuW6Vljb7igHiUDFoNhji5rjPrR4180ljrcpAX6ciuTqHrLtMH8VvUrLfmWKAGLWY7EJsnuKFwV9yLfl4qvY24G/lUPzVwXilVRn47OF3c09Bsm6tflHu4I5igFgc4fdJe+R6I1RLWrEn6WeTfCbWjy19blOiWxk46sUvbtrVHiJ4uf9vVbmvHhX7qT7k79LOECzJOxQv6xO3QQWGdQtvYEU5QIxyt8PCCN/Wmzn0lWY/zQ8x4NJmDu5biBvBbRjnhLauhSC/pjzwXVvP+LvUow4d9tDcVg79NKvcR1mKpNy0M0tCmfs8bfBxbojPKuCRNHMIEK54Zydh0K9H07BRTtNu5dRPC1LsTCvrrOpSKKW2YNLjknQn9ADRv936KgoGZ1F0fBnj9U5y7KeGct+8xywzXI7oULJVcJqYkuJ/fG7qexG9Q4xzmQYV0c5y/qZs5PCe3EA4ioL2fjSreBvi37LPwg7fp57vF/VGVgkOZgJEHnke5MP3np1OUW9kqWTB4aSgNfac4T7Z4u/RlHmlz7mQ5eNUyYJDUWpG+4QnFvZsKn3Wq0W9occSBIe2FJ+d7xrrE+6zsKmp9Hk3i3pDl4YDw5uhKfQxwQFVDBBNo8Hh1VjyzUpClzMlbdMqPtws6g3VRPekpFEv+7W2s80tce6ZTSFFXenzL/TvoW0kMLiCoX2xWw1Y1GzrVfxfyQcdroryxfPn/1j030TNQLLSPetdLMEAuC2gX7h9u1x8H8Jk4lyPhoy2H8JHCXZTyrOHwD2PfhBmU4i37nlpWbc0hc4rSLhpmHuOP1PCATAjukfgX4rR04WQOV/la3wcWYx+z4qD/yH6Ziz7xqLJKHfjK8HrXseVkbOnIgxLHr5sO9Hy3+Q0+tBjsuUpioSNAKfMs1GgGCWH4/r3Ipq51fibCs72mF+k5meR7lvSnU7kypy7km134WsU+U7l4yy+xQqto1ei93wSJapu+tplNENoRwNnmaBQCc0RZpkXZZ5hz0bTp0ZfW44SKRySCvxbXbIdiuRmDZt0F1BNs9GMws0wr6OZpbspriUflbo8sQIAAAAAAAAAAAAAAAAAAAAAAAAAAAAAAAAAAAAAAAAAAAAAAIAv7na1WboBgLsV3l2Q810+rmZ0d9Z+XldZp3uAanA3ZLlb2jfk4xLsK0m+3NkFCK6tBAIMBG550Oi1ffm4sPpWPm5tH+ay3mu6Eih3IFiMZgQuELjbt+9k+Fu749oeXQzY52YDK722Ey0NXCD4I+m3co/bFuh6wI7tKC/gbtfujrAk8Nke+DgAW84KDAhf2ykfB0CAiGsbfBwAAWJQc7mNaT4OwCZXe1Dvay5Bud5rTflIUl7K32ImjXbHRwCU30r0x+w7QLToWiCc2cYfzwFihW4FwvHdY3Bwj1Yn6FIgHGseA8RPuhMIS8NjgNihO4GwbHgMEHW6EwjLnlBeDSDGhacAcUZXAuG59xQgmnQlEJYp8bPt250hUaM7gbAse5o9cHoUEKC2pwBxQFcC4ekI5dUABnD7MN485R84vRoIjK8CKfIPQIBOyD8AiPNA/gHAIHPip/7BnSXB9m4gME1Ps4djuhIIj6/9F5xeDQTo2VOA4PRqIDALnoJDl64EwrPrKUAc0ZVAeH55ChBLdCUQlklP+QdXXs3jTSAwbO8GEOuHUF4NIEZXOL0awAAz4qe8+p6uBMKz5Wn2cEpXAuHxtb17i64EwuNjezenVwMBmvc0e7ihK4HwbHsKEC26EgjPpacA0aArgfD4KK9+FMqrgeAsCZfzAohxIFzOCyCGr+3ds3QlEBZ3JBzl1QAGWhfKqwHE8HV79ze6EgiPj/LqF+HxJhCcuqfZwxVdCYSn6SlA7NKVQHhOPQWIBboSCMtElDsYNzg8kX8AwuPr9izKq4EA7Qnl1QBidITTqwEM4I6EexPKqwEM0BDKqwHE8HV69TpdCYTnj1BeDWAAX9u7Ka8GArQjlFcDiHEmlFcDiOFjezfl1UCAOL0aQKxdobwaQAxft2fV6UogPD5uz6K8GgiQr+3dR3QlEB5f27tXPP0+8x5fC8CYfoqd8mq3m7QrHxWdW3w0QPF81D/4Kq8+//K6e3w8QHFmPC0vfPwh7ym9LoARfRMb5dXr8u+NYr+FqkygUD6u13sY83dwN39/fcz6KtRUAIXzkaA8GePnT8rgMzDZEQoY8OghQDTG+PmDdpBe8rEAxavL+AfEvESzgFHsD3g9lhaAEZseZg+/xvjZg4LTDh8LYIOPHZzbI/zc1Wim4DOXAcAzHxf0Dvt4c00G37vhDsut8ZEAdlx7CBBTQwaHQTOHd+GYOsCc+zGDw+MQP+ubxN/Ytc1HAdjzIuOfP5k11xH3tIS8A2CUjxLrpLzBhCTf1OVKqSf5GIBwA0TcY0l3psOdJNdPzPMRAHb5uEXLvUY7+mOvy0d9w1XKa7v/xoEwgHE+zoHIq3YCQM46BQQHKiWBkjjOOTi06HKgPDaFmQOAGO4R45NyYHDFURw+C5TUD8Xg4ILPMl0MlNeU0izCHfoyTfcC5bcofq7e+zyfcoMuBcLidlOOs3nL/Vu354It20Cg3N4Jdw/F7yFmC+5MiYawpwKoFFc67c5vcOdGtqJ20GtN+SiTngnhTf4XDrclU/MfwsMAAACBdEVYdE1hdGhNTAA8bWF0aCB4bWxucz0iaHR0cDovL3d3dy53My5vcmcvMTk5OC9NYXRoL01hdGhNTCI+PG1zdHlsZSBtYXRoc2l6ZT0iNDhweCI+PG1zdWI+PG1pPnU8L21pPjxtaT5pPC9taT48L21zdWI+PC9tc3R5bGU+PC9tYXRoPq97fsEAAAAASUVORK5CYII=\&quot;,\&quot;slideId\&quot;:760,\&quot;accessibleText\&quot;:\&quot;u subscript i\&quot;,\&quot;imageHeight\&quot;:42.24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27977</TotalTime>
  <Words>1023</Words>
  <Application>Microsoft Office PowerPoint</Application>
  <PresentationFormat>Widescreen</PresentationFormat>
  <Paragraphs>286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Module 10: Decoupling</vt:lpstr>
      <vt:lpstr>Decoupling, the basic idea</vt:lpstr>
      <vt:lpstr>Some objectives of decoupling</vt:lpstr>
      <vt:lpstr>A substructuring benchmark structure</vt:lpstr>
      <vt:lpstr>Reminder of frequency based substructuring (FBS)</vt:lpstr>
      <vt:lpstr>Frequency based decoupling</vt:lpstr>
      <vt:lpstr>Frequency based decoupling</vt:lpstr>
      <vt:lpstr>Frequency based decoupling</vt:lpstr>
      <vt:lpstr>Frequency based decoupling</vt:lpstr>
      <vt:lpstr>Frequency based decoupling</vt:lpstr>
      <vt:lpstr>Frequency based decoupling</vt:lpstr>
      <vt:lpstr>Frequency based decoupling</vt:lpstr>
      <vt:lpstr>Frequency Based Decoupling: A Big Family</vt:lpstr>
      <vt:lpstr>Frequency Based Decoupling: A Big Family</vt:lpstr>
      <vt:lpstr>Frequency Based Decoupling: A Big Family</vt:lpstr>
      <vt:lpstr>Frequency Based Decoupling: A Big Family</vt:lpstr>
      <vt:lpstr>Frequency Based Decoupling: A Big Family</vt:lpstr>
      <vt:lpstr>Next Up: Nonlinear CMS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Dan Roettgen</cp:lastModifiedBy>
  <cp:revision>166</cp:revision>
  <dcterms:created xsi:type="dcterms:W3CDTF">2025-09-04T01:59:06Z</dcterms:created>
  <dcterms:modified xsi:type="dcterms:W3CDTF">2026-01-17T05:29:31Z</dcterms:modified>
</cp:coreProperties>
</file>