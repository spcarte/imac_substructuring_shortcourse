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430" r:id="rId2"/>
    <p:sldId id="284" r:id="rId3"/>
    <p:sldId id="288" r:id="rId4"/>
    <p:sldId id="300" r:id="rId5"/>
    <p:sldId id="295" r:id="rId6"/>
    <p:sldId id="428" r:id="rId7"/>
    <p:sldId id="395" r:id="rId8"/>
    <p:sldId id="396" r:id="rId9"/>
    <p:sldId id="426" r:id="rId10"/>
    <p:sldId id="397" r:id="rId11"/>
    <p:sldId id="393" r:id="rId12"/>
    <p:sldId id="423" r:id="rId13"/>
    <p:sldId id="422" r:id="rId14"/>
    <p:sldId id="429" r:id="rId15"/>
    <p:sldId id="275" r:id="rId16"/>
    <p:sldId id="442" r:id="rId17"/>
    <p:sldId id="443" r:id="rId18"/>
    <p:sldId id="451" r:id="rId19"/>
    <p:sldId id="452" r:id="rId20"/>
    <p:sldId id="453" r:id="rId21"/>
    <p:sldId id="434" r:id="rId22"/>
    <p:sldId id="409" r:id="rId23"/>
    <p:sldId id="436" r:id="rId24"/>
    <p:sldId id="394" r:id="rId25"/>
    <p:sldId id="411" r:id="rId26"/>
    <p:sldId id="437" r:id="rId27"/>
    <p:sldId id="412" r:id="rId28"/>
    <p:sldId id="416" r:id="rId29"/>
    <p:sldId id="418" r:id="rId30"/>
    <p:sldId id="424" r:id="rId31"/>
    <p:sldId id="421" r:id="rId32"/>
    <p:sldId id="438" r:id="rId33"/>
    <p:sldId id="43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E74"/>
    <a:srgbClr val="C97195"/>
    <a:srgbClr val="F4B898"/>
    <a:srgbClr val="9AAC84"/>
    <a:srgbClr val="FFFFFF"/>
    <a:srgbClr val="0CB45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90011" autoAdjust="0"/>
  </p:normalViewPr>
  <p:slideViewPr>
    <p:cSldViewPr snapToGrid="0">
      <p:cViewPr varScale="1">
        <p:scale>
          <a:sx n="74" d="100"/>
          <a:sy n="74" d="100"/>
        </p:scale>
        <p:origin x="61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0AF16D-D6F6-468C-99B2-781C342322D4}" type="datetimeFigureOut">
              <a:rPr lang="en-US" smtClean="0"/>
              <a:t>1/16/2026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ABE455-AB4D-4A2C-B598-513206699028}" type="slidenum">
              <a:rPr lang="en-US" smtClean="0"/>
              <a:t>‹#›</a:t>
            </a:fld>
            <a:endParaRPr lang="en-US"/>
          </a:p>
        </p:txBody>
      </p:sp>
    </p:spTree>
    <p:extLst>
      <p:ext uri="{BB962C8B-B14F-4D97-AF65-F5344CB8AC3E}">
        <p14:creationId xmlns:p14="http://schemas.microsoft.com/office/powerpoint/2010/main" val="1533546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C724AB-BD9D-4E2C-8BF8-10D22BFA052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100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C724AB-BD9D-4E2C-8BF8-10D22BFA052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49900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motivation behind my project, was that last year, a lot of work was done practicing substructuring techniques on the test bed at low, linear response levels. But, since there is a bolted joint interface between the wing and frame, we can expect that some degree of nonlinear response will manifest at higher forcing levels. So what we did for this year was to screen the assembly for nonlinear behavior, and then form a nonlinear pseudo-modal model and try to project that nonlinearity through the linear substructuring prediction. </a:t>
            </a:r>
          </a:p>
        </p:txBody>
      </p:sp>
      <p:sp>
        <p:nvSpPr>
          <p:cNvPr id="4" name="Slide Number Placeholder 3"/>
          <p:cNvSpPr>
            <a:spLocks noGrp="1"/>
          </p:cNvSpPr>
          <p:nvPr>
            <p:ph type="sldNum" sz="quarter" idx="5"/>
          </p:nvPr>
        </p:nvSpPr>
        <p:spPr/>
        <p:txBody>
          <a:bodyPr/>
          <a:lstStyle/>
          <a:p>
            <a:fld id="{D602CC36-CD2E-49FA-A919-762571CB942F}" type="slidenum">
              <a:rPr lang="en-US" smtClean="0"/>
              <a:t>9</a:t>
            </a:fld>
            <a:endParaRPr lang="en-US"/>
          </a:p>
        </p:txBody>
      </p:sp>
    </p:spTree>
    <p:extLst>
      <p:ext uri="{BB962C8B-B14F-4D97-AF65-F5344CB8AC3E}">
        <p14:creationId xmlns:p14="http://schemas.microsoft.com/office/powerpoint/2010/main" val="483531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diagram to give you an idea of what we’re trying to do with substructuring. [NEXT] The goal is to start with an assembly of the frame, a transmission simulator plate, and the thin rectangular wing, [NEXT] decouple the dynamics of the plate and thin wing, [NEXT] and then replace it by coupling in the plate and thick wing. [NEXT] And then this will give us a prediction of the frame, plate, and thick wing assembly. So in addition to getting a linear prediction, we want to form a nonlinear pseudo-modal model of the original assembly, and project that through to get a prediction of the nonlinear response of the thick wing assembly. </a:t>
            </a:r>
          </a:p>
        </p:txBody>
      </p:sp>
      <p:sp>
        <p:nvSpPr>
          <p:cNvPr id="4" name="Slide Number Placeholder 3"/>
          <p:cNvSpPr>
            <a:spLocks noGrp="1"/>
          </p:cNvSpPr>
          <p:nvPr>
            <p:ph type="sldNum" sz="quarter" idx="5"/>
          </p:nvPr>
        </p:nvSpPr>
        <p:spPr/>
        <p:txBody>
          <a:bodyPr/>
          <a:lstStyle/>
          <a:p>
            <a:fld id="{D602CC36-CD2E-49FA-A919-762571CB942F}" type="slidenum">
              <a:rPr lang="en-US" smtClean="0"/>
              <a:t>10</a:t>
            </a:fld>
            <a:endParaRPr lang="en-US"/>
          </a:p>
        </p:txBody>
      </p:sp>
    </p:spTree>
    <p:extLst>
      <p:ext uri="{BB962C8B-B14F-4D97-AF65-F5344CB8AC3E}">
        <p14:creationId xmlns:p14="http://schemas.microsoft.com/office/powerpoint/2010/main" val="15469666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the experimental data I needed for each assembly, I did very standard linear modal testing, where the assemblies were suspended with bungee cords and then impacted with a modal hammer. I instrumented with a lot of accelerometers to try and get a good spatial resolution of the mode shapes out to at least 1600 Hz. I initially had washers between the components, but this made the system response too linear. Which is bad in this case since we need to see some sort of nonlinear behavior in order to model and project it. So for all data shown here, there are no washers in the interfaces. And each is held together by 4 steel bolts in the corners of the plate. </a:t>
            </a:r>
          </a:p>
        </p:txBody>
      </p:sp>
      <p:sp>
        <p:nvSpPr>
          <p:cNvPr id="4" name="Slide Number Placeholder 3"/>
          <p:cNvSpPr>
            <a:spLocks noGrp="1"/>
          </p:cNvSpPr>
          <p:nvPr>
            <p:ph type="sldNum" sz="quarter" idx="5"/>
          </p:nvPr>
        </p:nvSpPr>
        <p:spPr/>
        <p:txBody>
          <a:bodyPr/>
          <a:lstStyle/>
          <a:p>
            <a:fld id="{D602CC36-CD2E-49FA-A919-762571CB942F}" type="slidenum">
              <a:rPr lang="en-US" smtClean="0"/>
              <a:t>11</a:t>
            </a:fld>
            <a:endParaRPr lang="en-US"/>
          </a:p>
        </p:txBody>
      </p:sp>
    </p:spTree>
    <p:extLst>
      <p:ext uri="{BB962C8B-B14F-4D97-AF65-F5344CB8AC3E}">
        <p14:creationId xmlns:p14="http://schemas.microsoft.com/office/powerpoint/2010/main" val="1123719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substructure together each of those experimental subsystems, I used component mode synthesis. So we start with an equation of motion with each of the subsystems initially uncoupled. [NEXT] To tie them together, we define a set of constraints between the overlapping degrees of freedom in each. [NEXT] Usually these sorts of hard constraints lead to poor results, so what we can do is cast them to modal coordinates, and then soften the constraints by projecting them through a representative of the motion at the interface. Where that can be directly mode shapes or an SVD representation of them. </a:t>
            </a:r>
          </a:p>
        </p:txBody>
      </p:sp>
      <p:sp>
        <p:nvSpPr>
          <p:cNvPr id="4" name="Slide Number Placeholder 3"/>
          <p:cNvSpPr>
            <a:spLocks noGrp="1"/>
          </p:cNvSpPr>
          <p:nvPr>
            <p:ph type="sldNum" sz="quarter" idx="5"/>
          </p:nvPr>
        </p:nvSpPr>
        <p:spPr/>
        <p:txBody>
          <a:bodyPr/>
          <a:lstStyle/>
          <a:p>
            <a:fld id="{D602CC36-CD2E-49FA-A919-762571CB942F}" type="slidenum">
              <a:rPr lang="en-US" smtClean="0"/>
              <a:t>12</a:t>
            </a:fld>
            <a:endParaRPr lang="en-US"/>
          </a:p>
        </p:txBody>
      </p:sp>
    </p:spTree>
    <p:extLst>
      <p:ext uri="{BB962C8B-B14F-4D97-AF65-F5344CB8AC3E}">
        <p14:creationId xmlns:p14="http://schemas.microsoft.com/office/powerpoint/2010/main" val="2933481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since were trying to constrain motion together and the equations equate to zero, we can solve for the coupling transformation matrix as the null space of that B matrix of constraints. So then we can use that to pre and post multiply the uncouple M and K, and then get the predicted mode shapes and frequencies from an </a:t>
            </a:r>
            <a:r>
              <a:rPr lang="en-US" dirty="0" err="1"/>
              <a:t>eigensolution</a:t>
            </a:r>
            <a:r>
              <a:rPr lang="en-US" dirty="0"/>
              <a:t> of the coupled M and K. </a:t>
            </a:r>
          </a:p>
        </p:txBody>
      </p:sp>
      <p:sp>
        <p:nvSpPr>
          <p:cNvPr id="4" name="Slide Number Placeholder 3"/>
          <p:cNvSpPr>
            <a:spLocks noGrp="1"/>
          </p:cNvSpPr>
          <p:nvPr>
            <p:ph type="sldNum" sz="quarter" idx="5"/>
          </p:nvPr>
        </p:nvSpPr>
        <p:spPr/>
        <p:txBody>
          <a:bodyPr/>
          <a:lstStyle/>
          <a:p>
            <a:fld id="{D602CC36-CD2E-49FA-A919-762571CB942F}" type="slidenum">
              <a:rPr lang="en-US" smtClean="0"/>
              <a:t>13</a:t>
            </a:fld>
            <a:endParaRPr lang="en-US"/>
          </a:p>
        </p:txBody>
      </p:sp>
    </p:spTree>
    <p:extLst>
      <p:ext uri="{BB962C8B-B14F-4D97-AF65-F5344CB8AC3E}">
        <p14:creationId xmlns:p14="http://schemas.microsoft.com/office/powerpoint/2010/main" val="12506210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substructure together each of those experimental subsystems, I used component mode synthesis. So we start with an equation of motion with each of the subsystems initially uncoupled. [NEXT] To tie them together, we define a set of constraints between the overlapping degrees of freedom in each. [NEXT] Usually these sorts of hard constraints lead to poor results, so what we can do is cast them to modal coordinates, and then soften the constraints by projecting them through a representative of the motion at the interface. Where that can be directly mode shapes or an SVD representation of them. </a:t>
            </a:r>
          </a:p>
        </p:txBody>
      </p:sp>
      <p:sp>
        <p:nvSpPr>
          <p:cNvPr id="4" name="Slide Number Placeholder 3"/>
          <p:cNvSpPr>
            <a:spLocks noGrp="1"/>
          </p:cNvSpPr>
          <p:nvPr>
            <p:ph type="sldNum" sz="quarter" idx="5"/>
          </p:nvPr>
        </p:nvSpPr>
        <p:spPr/>
        <p:txBody>
          <a:bodyPr/>
          <a:lstStyle/>
          <a:p>
            <a:fld id="{D602CC36-CD2E-49FA-A919-762571CB942F}" type="slidenum">
              <a:rPr lang="en-US" smtClean="0"/>
              <a:t>14</a:t>
            </a:fld>
            <a:endParaRPr lang="en-US"/>
          </a:p>
        </p:txBody>
      </p:sp>
    </p:spTree>
    <p:extLst>
      <p:ext uri="{BB962C8B-B14F-4D97-AF65-F5344CB8AC3E}">
        <p14:creationId xmlns:p14="http://schemas.microsoft.com/office/powerpoint/2010/main" val="435264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linear substructuring predictions, where I guess you could say it’s a cheated or informed answer, where I had the truth data and tuned the content in each subsystem to best match that. I think its justified here because the focus of this work is on the viability of the nonlinear projection, so having the best linear prediction helps in narrowing in on that result which ill show later. So, we have good results out to about 100 Hz, with mostly under 3 or 4 percent error. The damping is admittedly all over the place, but it was also the same when trying to measure it experimentally, where the nonlinearity in the joint kept causing the linear value to shift around and it didn’t really settle. And the MAC values are pretty good too.</a:t>
            </a:r>
          </a:p>
          <a:p>
            <a:endParaRPr lang="en-US" dirty="0"/>
          </a:p>
        </p:txBody>
      </p:sp>
      <p:sp>
        <p:nvSpPr>
          <p:cNvPr id="4" name="Slide Number Placeholder 3"/>
          <p:cNvSpPr>
            <a:spLocks noGrp="1"/>
          </p:cNvSpPr>
          <p:nvPr>
            <p:ph type="sldNum" sz="quarter" idx="5"/>
          </p:nvPr>
        </p:nvSpPr>
        <p:spPr/>
        <p:txBody>
          <a:bodyPr/>
          <a:lstStyle/>
          <a:p>
            <a:fld id="{70ABE455-AB4D-4A2C-B598-513206699028}" type="slidenum">
              <a:rPr lang="en-US" smtClean="0"/>
              <a:t>18</a:t>
            </a:fld>
            <a:endParaRPr lang="en-US"/>
          </a:p>
        </p:txBody>
      </p:sp>
    </p:spTree>
    <p:extLst>
      <p:ext uri="{BB962C8B-B14F-4D97-AF65-F5344CB8AC3E}">
        <p14:creationId xmlns:p14="http://schemas.microsoft.com/office/powerpoint/2010/main" val="3143431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0ABE455-AB4D-4A2C-B598-513206699028}" type="slidenum">
              <a:rPr lang="en-US" smtClean="0"/>
              <a:t>19</a:t>
            </a:fld>
            <a:endParaRPr lang="en-US"/>
          </a:p>
        </p:txBody>
      </p:sp>
    </p:spTree>
    <p:extLst>
      <p:ext uri="{BB962C8B-B14F-4D97-AF65-F5344CB8AC3E}">
        <p14:creationId xmlns:p14="http://schemas.microsoft.com/office/powerpoint/2010/main" val="41073445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0ABE455-AB4D-4A2C-B598-513206699028}" type="slidenum">
              <a:rPr lang="en-US" smtClean="0"/>
              <a:t>20</a:t>
            </a:fld>
            <a:endParaRPr lang="en-US"/>
          </a:p>
        </p:txBody>
      </p:sp>
    </p:spTree>
    <p:extLst>
      <p:ext uri="{BB962C8B-B14F-4D97-AF65-F5344CB8AC3E}">
        <p14:creationId xmlns:p14="http://schemas.microsoft.com/office/powerpoint/2010/main" val="3635701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if we use the truth values to tune in the modal basis </a:t>
            </a:r>
            <a:r>
              <a:rPr lang="en-US" dirty="0" err="1"/>
              <a:t>selctions</a:t>
            </a:r>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D602CC36-CD2E-49FA-A919-762571CB942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54003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odule Titl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DBEEFF38-9219-3402-6C1E-B326B8FB361A}"/>
              </a:ext>
            </a:extLst>
          </p:cNvPr>
          <p:cNvSpPr>
            <a:spLocks noGrp="1"/>
          </p:cNvSpPr>
          <p:nvPr>
            <p:ph type="dt" sz="half" idx="10"/>
          </p:nvPr>
        </p:nvSpPr>
        <p:spPr>
          <a:xfrm>
            <a:off x="105032" y="6356350"/>
            <a:ext cx="2743200" cy="365125"/>
          </a:xfrm>
          <a:prstGeom prst="rect">
            <a:avLst/>
          </a:prstGeom>
        </p:spPr>
        <p:txBody>
          <a:bodyPr/>
          <a:lstStyle>
            <a:lvl1pPr>
              <a:defRPr>
                <a:solidFill>
                  <a:schemeClr val="bg1"/>
                </a:solidFill>
              </a:defRPr>
            </a:lvl1pPr>
          </a:lstStyle>
          <a:p>
            <a:fld id="{32B7F7EA-D5FA-48A9-A388-858D3B14DD11}" type="datetimeFigureOut">
              <a:rPr lang="en-US" smtClean="0"/>
              <a:pPr/>
              <a:t>1/16/2026</a:t>
            </a:fld>
            <a:endParaRPr lang="en-US"/>
          </a:p>
        </p:txBody>
      </p:sp>
      <p:pic>
        <p:nvPicPr>
          <p:cNvPr id="1026" name="Picture 2" descr="lnu_wordmark_symbol_eng_rgb">
            <a:extLst>
              <a:ext uri="{FF2B5EF4-FFF2-40B4-BE49-F238E27FC236}">
                <a16:creationId xmlns:a16="http://schemas.microsoft.com/office/drawing/2014/main" id="{C8BBA26D-0448-C98D-A6E4-7D55251344C0}"/>
              </a:ext>
            </a:extLst>
          </p:cNvPr>
          <p:cNvPicPr>
            <a:picLocks noChangeAspect="1" noChangeArrowheads="1"/>
          </p:cNvPicPr>
          <p:nvPr userDrawn="1"/>
        </p:nvPicPr>
        <p:blipFill>
          <a:blip r:embed="rId3" cstate="print">
            <a:duotone>
              <a:prstClr val="black"/>
              <a:schemeClr val="bg1">
                <a:tint val="45000"/>
                <a:satMod val="400000"/>
              </a:schemeClr>
            </a:duotone>
            <a:extLst>
              <a:ext uri="{28A0092B-C50C-407E-A947-70E740481C1C}">
                <a14:useLocalDpi xmlns:a14="http://schemas.microsoft.com/office/drawing/2010/main"/>
              </a:ext>
            </a:extLst>
          </a:blip>
          <a:srcRect/>
          <a:stretch>
            <a:fillRect/>
          </a:stretch>
        </p:blipFill>
        <p:spPr bwMode="auto">
          <a:xfrm>
            <a:off x="7482361" y="5087024"/>
            <a:ext cx="4303240" cy="697596"/>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1682C91-27D9-7A04-4E8D-33817B2D740C}"/>
              </a:ext>
            </a:extLst>
          </p:cNvPr>
          <p:cNvSpPr>
            <a:spLocks noGrp="1"/>
          </p:cNvSpPr>
          <p:nvPr>
            <p:ph type="ctrTitle" hasCustomPrompt="1"/>
          </p:nvPr>
        </p:nvSpPr>
        <p:spPr>
          <a:xfrm>
            <a:off x="213086" y="537502"/>
            <a:ext cx="6847472" cy="1976513"/>
          </a:xfrm>
          <a:prstGeom prst="rect">
            <a:avLst/>
          </a:prstGeom>
        </p:spPr>
        <p:txBody>
          <a:bodyPr anchor="b"/>
          <a:lstStyle>
            <a:lvl1pPr algn="l">
              <a:defRPr sz="6000">
                <a:solidFill>
                  <a:schemeClr val="bg1"/>
                </a:solidFill>
              </a:defRPr>
            </a:lvl1pPr>
          </a:lstStyle>
          <a:p>
            <a:r>
              <a:rPr lang="en-US" dirty="0"/>
              <a:t>Module #: Title</a:t>
            </a:r>
          </a:p>
        </p:txBody>
      </p:sp>
      <p:sp>
        <p:nvSpPr>
          <p:cNvPr id="16" name="TextBox 15">
            <a:extLst>
              <a:ext uri="{FF2B5EF4-FFF2-40B4-BE49-F238E27FC236}">
                <a16:creationId xmlns:a16="http://schemas.microsoft.com/office/drawing/2014/main" id="{84DD5900-7FFF-4234-2E19-03956DD10669}"/>
              </a:ext>
            </a:extLst>
          </p:cNvPr>
          <p:cNvSpPr txBox="1"/>
          <p:nvPr userDrawn="1"/>
        </p:nvSpPr>
        <p:spPr>
          <a:xfrm>
            <a:off x="213085" y="2570480"/>
            <a:ext cx="6695715" cy="3139321"/>
          </a:xfrm>
          <a:prstGeom prst="rect">
            <a:avLst/>
          </a:prstGeom>
          <a:noFill/>
        </p:spPr>
        <p:txBody>
          <a:bodyPr wrap="square" rtlCol="0">
            <a:spAutoFit/>
          </a:bodyPr>
          <a:lstStyle/>
          <a:p>
            <a:endParaRPr lang="en-US" dirty="0">
              <a:solidFill>
                <a:schemeClr val="bg1"/>
              </a:solidFill>
            </a:endParaRPr>
          </a:p>
          <a:p>
            <a:r>
              <a:rPr lang="en-US" b="1" dirty="0">
                <a:solidFill>
                  <a:schemeClr val="bg1"/>
                </a:solidFill>
              </a:rPr>
              <a:t>Andreas Linderholt</a:t>
            </a:r>
          </a:p>
          <a:p>
            <a:r>
              <a:rPr lang="en-US" b="0" i="1" dirty="0">
                <a:solidFill>
                  <a:schemeClr val="bg1"/>
                </a:solidFill>
              </a:rPr>
              <a:t>Linnaeus University </a:t>
            </a:r>
          </a:p>
          <a:p>
            <a:r>
              <a:rPr lang="en-US" b="0" i="1" dirty="0">
                <a:solidFill>
                  <a:schemeClr val="bg1"/>
                </a:solidFill>
              </a:rPr>
              <a:t>Department of Mechanical Engineering</a:t>
            </a:r>
          </a:p>
          <a:p>
            <a:endParaRPr lang="en-US" b="1"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chemeClr val="bg1"/>
                </a:solidFill>
              </a:rPr>
              <a:t>Steven Carter</a:t>
            </a:r>
          </a:p>
          <a:p>
            <a:r>
              <a:rPr lang="en-US" b="1" dirty="0">
                <a:solidFill>
                  <a:schemeClr val="bg1"/>
                </a:solidFill>
              </a:rPr>
              <a:t>Benjamin Moldenhauer</a:t>
            </a:r>
          </a:p>
          <a:p>
            <a:r>
              <a:rPr lang="en-US" b="1" dirty="0">
                <a:solidFill>
                  <a:schemeClr val="bg1"/>
                </a:solidFill>
              </a:rPr>
              <a:t>Daniel Roettgen</a:t>
            </a:r>
          </a:p>
          <a:p>
            <a:r>
              <a:rPr lang="en-US" b="0" i="1" dirty="0">
                <a:solidFill>
                  <a:schemeClr val="bg1"/>
                </a:solidFill>
              </a:rPr>
              <a:t>Sandia National Laboratories</a:t>
            </a:r>
          </a:p>
          <a:p>
            <a:r>
              <a:rPr lang="en-US" b="0" i="1" dirty="0">
                <a:solidFill>
                  <a:schemeClr val="bg1"/>
                </a:solidFill>
              </a:rPr>
              <a:t>Experimental Structural Dynamics</a:t>
            </a:r>
          </a:p>
          <a:p>
            <a:endParaRPr lang="en-US" dirty="0"/>
          </a:p>
        </p:txBody>
      </p:sp>
      <p:sp>
        <p:nvSpPr>
          <p:cNvPr id="17" name="Picture Placeholder 8">
            <a:extLst>
              <a:ext uri="{FF2B5EF4-FFF2-40B4-BE49-F238E27FC236}">
                <a16:creationId xmlns:a16="http://schemas.microsoft.com/office/drawing/2014/main" id="{55A49339-AFD2-293D-5083-71E4E4D94B10}"/>
              </a:ext>
            </a:extLst>
          </p:cNvPr>
          <p:cNvSpPr>
            <a:spLocks noGrp="1"/>
          </p:cNvSpPr>
          <p:nvPr>
            <p:ph type="pic" sz="quarter" idx="13" hasCustomPrompt="1"/>
          </p:nvPr>
        </p:nvSpPr>
        <p:spPr>
          <a:xfrm>
            <a:off x="9522779" y="297608"/>
            <a:ext cx="2262822" cy="1463992"/>
          </a:xfrm>
          <a:prstGeom prst="rect">
            <a:avLst/>
          </a:prstGeom>
          <a:ln w="19050">
            <a:noFill/>
          </a:ln>
        </p:spPr>
        <p:txBody>
          <a:bodyPr/>
          <a:lstStyle>
            <a:lvl1pPr marL="0" indent="0">
              <a:buNone/>
              <a:defRPr/>
            </a:lvl1pPr>
          </a:lstStyle>
          <a:p>
            <a:r>
              <a:rPr lang="en-US" dirty="0"/>
              <a:t>Picture</a:t>
            </a:r>
          </a:p>
        </p:txBody>
      </p:sp>
      <p:sp>
        <p:nvSpPr>
          <p:cNvPr id="18" name="Picture Placeholder 8">
            <a:extLst>
              <a:ext uri="{FF2B5EF4-FFF2-40B4-BE49-F238E27FC236}">
                <a16:creationId xmlns:a16="http://schemas.microsoft.com/office/drawing/2014/main" id="{58CEA6CC-F9AC-D943-BDC1-48802068B7AC}"/>
              </a:ext>
            </a:extLst>
          </p:cNvPr>
          <p:cNvSpPr>
            <a:spLocks noGrp="1"/>
          </p:cNvSpPr>
          <p:nvPr>
            <p:ph type="pic" sz="quarter" idx="14" hasCustomPrompt="1"/>
          </p:nvPr>
        </p:nvSpPr>
        <p:spPr>
          <a:xfrm>
            <a:off x="9522779" y="1838484"/>
            <a:ext cx="2262822" cy="1463992"/>
          </a:xfrm>
          <a:prstGeom prst="rect">
            <a:avLst/>
          </a:prstGeom>
          <a:ln w="19050">
            <a:noFill/>
          </a:ln>
        </p:spPr>
        <p:txBody>
          <a:bodyPr/>
          <a:lstStyle>
            <a:lvl1pPr marL="0" indent="0">
              <a:buNone/>
              <a:defRPr/>
            </a:lvl1pPr>
          </a:lstStyle>
          <a:p>
            <a:r>
              <a:rPr lang="en-US" dirty="0"/>
              <a:t>Picture</a:t>
            </a:r>
          </a:p>
        </p:txBody>
      </p:sp>
      <p:pic>
        <p:nvPicPr>
          <p:cNvPr id="23" name="Picture 22">
            <a:extLst>
              <a:ext uri="{FF2B5EF4-FFF2-40B4-BE49-F238E27FC236}">
                <a16:creationId xmlns:a16="http://schemas.microsoft.com/office/drawing/2014/main" id="{4EAA5A42-DD64-4CDB-4EF6-E5FD7223D67D}"/>
              </a:ext>
            </a:extLst>
          </p:cNvPr>
          <p:cNvPicPr>
            <a:picLocks noChangeAspect="1"/>
          </p:cNvPicPr>
          <p:nvPr userDrawn="1"/>
        </p:nvPicPr>
        <p:blipFill>
          <a:blip r:embed="rId4" cstate="print">
            <a:extLst>
              <a:ext uri="{28A0092B-C50C-407E-A947-70E740481C1C}">
                <a14:useLocalDpi xmlns:a14="http://schemas.microsoft.com/office/drawing/2010/main"/>
              </a:ext>
            </a:extLst>
          </a:blip>
          <a:srcRect/>
          <a:stretch/>
        </p:blipFill>
        <p:spPr>
          <a:xfrm>
            <a:off x="5704659" y="5766266"/>
            <a:ext cx="6487341" cy="1091734"/>
          </a:xfrm>
          <a:prstGeom prst="rect">
            <a:avLst/>
          </a:prstGeom>
        </p:spPr>
      </p:pic>
      <p:pic>
        <p:nvPicPr>
          <p:cNvPr id="24" name="Picture 23">
            <a:extLst>
              <a:ext uri="{FF2B5EF4-FFF2-40B4-BE49-F238E27FC236}">
                <a16:creationId xmlns:a16="http://schemas.microsoft.com/office/drawing/2014/main" id="{0640B613-3A6D-056E-0592-B710A66DBB4A}"/>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8390065" y="3358941"/>
            <a:ext cx="3151696" cy="1775351"/>
          </a:xfrm>
          <a:prstGeom prst="rect">
            <a:avLst/>
          </a:prstGeom>
        </p:spPr>
      </p:pic>
      <p:sp>
        <p:nvSpPr>
          <p:cNvPr id="26" name="TextBox 25">
            <a:extLst>
              <a:ext uri="{FF2B5EF4-FFF2-40B4-BE49-F238E27FC236}">
                <a16:creationId xmlns:a16="http://schemas.microsoft.com/office/drawing/2014/main" id="{E0AED2AD-3489-102B-FD4A-EF0FD9432851}"/>
              </a:ext>
            </a:extLst>
          </p:cNvPr>
          <p:cNvSpPr txBox="1"/>
          <p:nvPr userDrawn="1"/>
        </p:nvSpPr>
        <p:spPr>
          <a:xfrm>
            <a:off x="324845" y="5393103"/>
            <a:ext cx="4051642" cy="391517"/>
          </a:xfrm>
          <a:prstGeom prst="rect">
            <a:avLst/>
          </a:prstGeom>
          <a:noFill/>
        </p:spPr>
        <p:txBody>
          <a:bodyPr wrap="square" lIns="0" tIns="0" rIns="0" bIns="0" rtlCol="0">
            <a:noAutofit/>
          </a:bodyPr>
          <a:lstStyle/>
          <a:p>
            <a:pPr algn="l">
              <a:lnSpc>
                <a:spcPct val="110000"/>
              </a:lnSpc>
            </a:pPr>
            <a:r>
              <a:rPr lang="en-US" sz="800" b="0" i="0" u="none" strike="noStrike" dirty="0">
                <a:solidFill>
                  <a:schemeClr val="bg1"/>
                </a:solidFill>
                <a:effectLst/>
                <a:latin typeface="+mn-lt"/>
              </a:rPr>
              <a:t>Sandia National Laboratories is a </a:t>
            </a:r>
            <a:r>
              <a:rPr lang="en-US" sz="800" b="0" i="0" u="none" strike="noStrike" dirty="0" err="1">
                <a:solidFill>
                  <a:schemeClr val="bg1"/>
                </a:solidFill>
                <a:effectLst/>
                <a:latin typeface="+mn-lt"/>
              </a:rPr>
              <a:t>multimission</a:t>
            </a:r>
            <a:r>
              <a:rPr lang="en-US" sz="800" b="0" i="0" u="none" strike="noStrike" dirty="0">
                <a:solidFill>
                  <a:schemeClr val="bg1"/>
                </a:solidFill>
                <a:effectLst/>
                <a:latin typeface="+mn-lt"/>
              </a:rPr>
              <a:t> laboratory managed and operated by National Technology and Engineering Solutions of Sandia, LLC, a wholly owned subsidiary of Honeywell International Inc., for the U.S. Department of Energy’s National Nuclear Security Administration under contract DE-NA0003525</a:t>
            </a:r>
            <a:endParaRPr lang="en-US" sz="800" b="0" i="0" dirty="0">
              <a:solidFill>
                <a:schemeClr val="bg1"/>
              </a:solidFill>
              <a:latin typeface="+mn-lt"/>
            </a:endParaRPr>
          </a:p>
        </p:txBody>
      </p:sp>
    </p:spTree>
    <p:extLst>
      <p:ext uri="{BB962C8B-B14F-4D97-AF65-F5344CB8AC3E}">
        <p14:creationId xmlns:p14="http://schemas.microsoft.com/office/powerpoint/2010/main" val="1982104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Slide">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3AEC8612-5184-DD49-1D2B-3D06982D3835}"/>
              </a:ext>
            </a:extLst>
          </p:cNvPr>
          <p:cNvPicPr>
            <a:picLocks noChangeAspect="1"/>
          </p:cNvPicPr>
          <p:nvPr userDrawn="1"/>
        </p:nvPicPr>
        <p:blipFill>
          <a:blip r:embed="rId2"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a:xfrm>
            <a:off x="11385383" y="5620835"/>
            <a:ext cx="869482" cy="1504260"/>
          </a:xfrm>
          <a:prstGeom prst="rect">
            <a:avLst/>
          </a:prstGeom>
        </p:spPr>
      </p:pic>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105032" y="136525"/>
            <a:ext cx="10515600" cy="662781"/>
          </a:xfrm>
          <a:prstGeom prst="rect">
            <a:avLst/>
          </a:prstGeom>
        </p:spPr>
        <p:txBody>
          <a:bodyPr/>
          <a:lstStyle>
            <a:lvl1pPr>
              <a:defRPr b="1">
                <a:solidFill>
                  <a:schemeClr val="accent1"/>
                </a:solidFill>
                <a:latin typeface="+mn-lt"/>
              </a:defRPr>
            </a:lvl1pPr>
          </a:lstStyle>
          <a:p>
            <a:r>
              <a:rPr lang="en-US" dirty="0"/>
              <a:t>Title</a:t>
            </a:r>
          </a:p>
        </p:txBody>
      </p:sp>
      <p:sp>
        <p:nvSpPr>
          <p:cNvPr id="3" name="Content Placeholder 2">
            <a:extLst>
              <a:ext uri="{FF2B5EF4-FFF2-40B4-BE49-F238E27FC236}">
                <a16:creationId xmlns:a16="http://schemas.microsoft.com/office/drawing/2014/main" id="{FCA49D2C-832F-6FF3-40A6-F5F2FE06B1DF}"/>
              </a:ext>
            </a:extLst>
          </p:cNvPr>
          <p:cNvSpPr>
            <a:spLocks noGrp="1"/>
          </p:cNvSpPr>
          <p:nvPr>
            <p:ph idx="1"/>
          </p:nvPr>
        </p:nvSpPr>
        <p:spPr>
          <a:xfrm>
            <a:off x="105032" y="939585"/>
            <a:ext cx="11337324" cy="4978829"/>
          </a:xfrm>
          <a:prstGeom prst="rect">
            <a:avLst/>
          </a:prstGeom>
        </p:spPr>
        <p:txBody>
          <a:bodyPr/>
          <a:lstStyle>
            <a:lvl1pPr>
              <a:defRPr>
                <a:solidFill>
                  <a:schemeClr val="accent1"/>
                </a:solidFill>
                <a:latin typeface="+mj-lt"/>
              </a:defRPr>
            </a:lvl1pPr>
            <a:lvl2pPr>
              <a:defRPr>
                <a:solidFill>
                  <a:schemeClr val="accent1"/>
                </a:solidFill>
                <a:latin typeface="+mj-lt"/>
              </a:defRPr>
            </a:lvl2pPr>
            <a:lvl3pPr>
              <a:defRPr>
                <a:solidFill>
                  <a:schemeClr val="accent1"/>
                </a:solidFill>
                <a:latin typeface="+mj-lt"/>
              </a:defRPr>
            </a:lvl3pPr>
            <a:lvl4pPr>
              <a:defRPr>
                <a:solidFill>
                  <a:schemeClr val="accent1"/>
                </a:solidFill>
                <a:latin typeface="+mj-lt"/>
              </a:defRPr>
            </a:lvl4pPr>
            <a:lvl5pPr>
              <a:defRPr>
                <a:solidFill>
                  <a:schemeClr val="accent1"/>
                </a:solidFill>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7" name="Picture 16">
            <a:extLst>
              <a:ext uri="{FF2B5EF4-FFF2-40B4-BE49-F238E27FC236}">
                <a16:creationId xmlns:a16="http://schemas.microsoft.com/office/drawing/2014/main" id="{13A23D71-51C1-E310-51CE-7DE5CD2D46C1}"/>
              </a:ext>
            </a:extLst>
          </p:cNvPr>
          <p:cNvPicPr>
            <a:picLocks noChangeAspect="1"/>
          </p:cNvPicPr>
          <p:nvPr userDrawn="1"/>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l="-7258"/>
          <a:stretch/>
        </p:blipFill>
        <p:spPr>
          <a:xfrm>
            <a:off x="-125729" y="5642823"/>
            <a:ext cx="1554480" cy="1504260"/>
          </a:xfrm>
          <a:prstGeom prst="rect">
            <a:avLst/>
          </a:prstGeom>
        </p:spPr>
      </p:pic>
      <p:sp>
        <p:nvSpPr>
          <p:cNvPr id="20" name="TextBox 19">
            <a:extLst>
              <a:ext uri="{FF2B5EF4-FFF2-40B4-BE49-F238E27FC236}">
                <a16:creationId xmlns:a16="http://schemas.microsoft.com/office/drawing/2014/main" id="{0E0252BF-FA0F-2F01-F0F1-01835876CA31}"/>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spTree>
    <p:extLst>
      <p:ext uri="{BB962C8B-B14F-4D97-AF65-F5344CB8AC3E}">
        <p14:creationId xmlns:p14="http://schemas.microsoft.com/office/powerpoint/2010/main" val="1961887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105032" y="136525"/>
            <a:ext cx="10515600" cy="662781"/>
          </a:xfrm>
          <a:prstGeom prst="rect">
            <a:avLst/>
          </a:prstGeom>
        </p:spPr>
        <p:txBody>
          <a:bodyPr/>
          <a:lstStyle>
            <a:lvl1pPr>
              <a:defRPr b="1">
                <a:solidFill>
                  <a:schemeClr val="accent1"/>
                </a:solidFill>
                <a:latin typeface="+mn-lt"/>
              </a:defRPr>
            </a:lvl1pPr>
          </a:lstStyle>
          <a:p>
            <a:r>
              <a:rPr lang="en-US" dirty="0"/>
              <a:t>Title</a:t>
            </a:r>
          </a:p>
        </p:txBody>
      </p:sp>
      <p:sp>
        <p:nvSpPr>
          <p:cNvPr id="3" name="Content Placeholder 2">
            <a:extLst>
              <a:ext uri="{FF2B5EF4-FFF2-40B4-BE49-F238E27FC236}">
                <a16:creationId xmlns:a16="http://schemas.microsoft.com/office/drawing/2014/main" id="{FCA49D2C-832F-6FF3-40A6-F5F2FE06B1DF}"/>
              </a:ext>
            </a:extLst>
          </p:cNvPr>
          <p:cNvSpPr>
            <a:spLocks noGrp="1"/>
          </p:cNvSpPr>
          <p:nvPr>
            <p:ph idx="1"/>
          </p:nvPr>
        </p:nvSpPr>
        <p:spPr>
          <a:xfrm>
            <a:off x="105032" y="939585"/>
            <a:ext cx="8683368" cy="4978829"/>
          </a:xfrm>
          <a:prstGeom prst="rect">
            <a:avLst/>
          </a:prstGeom>
        </p:spPr>
        <p:txBody>
          <a:bodyPr/>
          <a:lstStyle>
            <a:lvl1pPr>
              <a:defRPr>
                <a:solidFill>
                  <a:schemeClr val="accent1"/>
                </a:solidFill>
                <a:latin typeface="+mj-lt"/>
              </a:defRPr>
            </a:lvl1pPr>
            <a:lvl2pPr>
              <a:defRPr>
                <a:solidFill>
                  <a:schemeClr val="accent1"/>
                </a:solidFill>
                <a:latin typeface="+mj-lt"/>
              </a:defRPr>
            </a:lvl2pPr>
            <a:lvl3pPr>
              <a:defRPr>
                <a:solidFill>
                  <a:schemeClr val="accent1"/>
                </a:solidFill>
                <a:latin typeface="+mj-lt"/>
              </a:defRPr>
            </a:lvl3pPr>
            <a:lvl4pPr>
              <a:defRPr>
                <a:solidFill>
                  <a:schemeClr val="accent1"/>
                </a:solidFill>
                <a:latin typeface="+mj-lt"/>
              </a:defRPr>
            </a:lvl4pPr>
            <a:lvl5pPr>
              <a:defRPr>
                <a:solidFill>
                  <a:schemeClr val="accent1"/>
                </a:solidFill>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Picture Placeholder 4">
            <a:extLst>
              <a:ext uri="{FF2B5EF4-FFF2-40B4-BE49-F238E27FC236}">
                <a16:creationId xmlns:a16="http://schemas.microsoft.com/office/drawing/2014/main" id="{463C00C0-AFE4-5CDB-792C-B1FF128BB46B}"/>
              </a:ext>
            </a:extLst>
          </p:cNvPr>
          <p:cNvSpPr>
            <a:spLocks noGrp="1"/>
          </p:cNvSpPr>
          <p:nvPr>
            <p:ph type="pic" sz="quarter" idx="10" hasCustomPrompt="1"/>
          </p:nvPr>
        </p:nvSpPr>
        <p:spPr>
          <a:xfrm>
            <a:off x="8918876" y="876197"/>
            <a:ext cx="3087687" cy="2366963"/>
          </a:xfrm>
          <a:ln>
            <a:solidFill>
              <a:schemeClr val="accent1"/>
            </a:solidFill>
          </a:ln>
        </p:spPr>
        <p:txBody>
          <a:bodyPr/>
          <a:lstStyle>
            <a:lvl1pPr marL="0" indent="0">
              <a:buNone/>
              <a:defRPr/>
            </a:lvl1pPr>
          </a:lstStyle>
          <a:p>
            <a:r>
              <a:rPr lang="en-US" dirty="0"/>
              <a:t>Picture here</a:t>
            </a:r>
          </a:p>
        </p:txBody>
      </p:sp>
      <p:sp>
        <p:nvSpPr>
          <p:cNvPr id="6" name="Picture Placeholder 4">
            <a:extLst>
              <a:ext uri="{FF2B5EF4-FFF2-40B4-BE49-F238E27FC236}">
                <a16:creationId xmlns:a16="http://schemas.microsoft.com/office/drawing/2014/main" id="{602C02E6-8B4E-746B-32D8-FBA12F839E67}"/>
              </a:ext>
            </a:extLst>
          </p:cNvPr>
          <p:cNvSpPr>
            <a:spLocks noGrp="1"/>
          </p:cNvSpPr>
          <p:nvPr>
            <p:ph type="pic" sz="quarter" idx="11" hasCustomPrompt="1"/>
          </p:nvPr>
        </p:nvSpPr>
        <p:spPr>
          <a:xfrm>
            <a:off x="8918875" y="3339996"/>
            <a:ext cx="3087687" cy="2366963"/>
          </a:xfrm>
          <a:ln>
            <a:solidFill>
              <a:schemeClr val="accent1"/>
            </a:solidFill>
          </a:ln>
        </p:spPr>
        <p:txBody>
          <a:bodyPr/>
          <a:lstStyle>
            <a:lvl1pPr marL="0" indent="0">
              <a:buNone/>
              <a:defRPr/>
            </a:lvl1pPr>
          </a:lstStyle>
          <a:p>
            <a:r>
              <a:rPr lang="en-US" dirty="0"/>
              <a:t>Picture here</a:t>
            </a:r>
          </a:p>
        </p:txBody>
      </p:sp>
      <p:pic>
        <p:nvPicPr>
          <p:cNvPr id="9" name="Picture 8">
            <a:extLst>
              <a:ext uri="{FF2B5EF4-FFF2-40B4-BE49-F238E27FC236}">
                <a16:creationId xmlns:a16="http://schemas.microsoft.com/office/drawing/2014/main" id="{4230CF3A-888A-B8BC-F56F-72E990F0AF6B}"/>
              </a:ext>
            </a:extLst>
          </p:cNvPr>
          <p:cNvPicPr>
            <a:picLocks noChangeAspect="1"/>
          </p:cNvPicPr>
          <p:nvPr userDrawn="1"/>
        </p:nvPicPr>
        <p:blipFill>
          <a:blip r:embed="rId2"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a:xfrm>
            <a:off x="11385383" y="5620835"/>
            <a:ext cx="869482" cy="1504260"/>
          </a:xfrm>
          <a:prstGeom prst="rect">
            <a:avLst/>
          </a:prstGeom>
        </p:spPr>
      </p:pic>
      <p:sp>
        <p:nvSpPr>
          <p:cNvPr id="10" name="TextBox 9">
            <a:extLst>
              <a:ext uri="{FF2B5EF4-FFF2-40B4-BE49-F238E27FC236}">
                <a16:creationId xmlns:a16="http://schemas.microsoft.com/office/drawing/2014/main" id="{BAC3CC7A-4227-B03B-A890-0B34C7C41C16}"/>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pic>
        <p:nvPicPr>
          <p:cNvPr id="11" name="Picture 10">
            <a:extLst>
              <a:ext uri="{FF2B5EF4-FFF2-40B4-BE49-F238E27FC236}">
                <a16:creationId xmlns:a16="http://schemas.microsoft.com/office/drawing/2014/main" id="{30157A07-85D3-76EC-2529-437C905C2B5C}"/>
              </a:ext>
            </a:extLst>
          </p:cNvPr>
          <p:cNvPicPr>
            <a:picLocks noChangeAspect="1"/>
          </p:cNvPicPr>
          <p:nvPr userDrawn="1"/>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l="-7258"/>
          <a:stretch/>
        </p:blipFill>
        <p:spPr>
          <a:xfrm>
            <a:off x="-125729" y="5642823"/>
            <a:ext cx="1554480" cy="1504260"/>
          </a:xfrm>
          <a:prstGeom prst="rect">
            <a:avLst/>
          </a:prstGeom>
        </p:spPr>
      </p:pic>
    </p:spTree>
    <p:extLst>
      <p:ext uri="{BB962C8B-B14F-4D97-AF65-F5344CB8AC3E}">
        <p14:creationId xmlns:p14="http://schemas.microsoft.com/office/powerpoint/2010/main" val="27557036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ansition / Break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409832" y="1409120"/>
            <a:ext cx="10515600" cy="662781"/>
          </a:xfrm>
          <a:prstGeom prst="rect">
            <a:avLst/>
          </a:prstGeom>
        </p:spPr>
        <p:txBody>
          <a:bodyPr/>
          <a:lstStyle>
            <a:lvl1pPr algn="ctr">
              <a:defRPr b="1">
                <a:solidFill>
                  <a:schemeClr val="accent1"/>
                </a:solidFill>
                <a:latin typeface="+mn-lt"/>
              </a:defRPr>
            </a:lvl1pPr>
          </a:lstStyle>
          <a:p>
            <a:r>
              <a:rPr lang="en-US" dirty="0"/>
              <a:t>Transition Title</a:t>
            </a:r>
          </a:p>
        </p:txBody>
      </p:sp>
      <p:pic>
        <p:nvPicPr>
          <p:cNvPr id="14" name="Picture 13">
            <a:extLst>
              <a:ext uri="{FF2B5EF4-FFF2-40B4-BE49-F238E27FC236}">
                <a16:creationId xmlns:a16="http://schemas.microsoft.com/office/drawing/2014/main" id="{6EE25C2B-00D8-B739-8A7C-9F78150F5A93}"/>
              </a:ext>
            </a:extLst>
          </p:cNvPr>
          <p:cNvPicPr>
            <a:picLocks noChangeAspect="1"/>
          </p:cNvPicPr>
          <p:nvPr userDrawn="1"/>
        </p:nvPicPr>
        <p:blipFill>
          <a:blip r:embed="rId2">
            <a:clrChange>
              <a:clrFrom>
                <a:srgbClr val="FFFFFF"/>
              </a:clrFrom>
              <a:clrTo>
                <a:srgbClr val="FFFFFF">
                  <a:alpha val="0"/>
                </a:srgbClr>
              </a:clrTo>
            </a:clrChange>
          </a:blip>
          <a:stretch>
            <a:fillRect/>
          </a:stretch>
        </p:blipFill>
        <p:spPr>
          <a:xfrm>
            <a:off x="2225040" y="1841555"/>
            <a:ext cx="6675121" cy="3760097"/>
          </a:xfrm>
          <a:prstGeom prst="rect">
            <a:avLst/>
          </a:prstGeom>
        </p:spPr>
      </p:pic>
      <p:pic>
        <p:nvPicPr>
          <p:cNvPr id="15" name="Picture 14">
            <a:extLst>
              <a:ext uri="{FF2B5EF4-FFF2-40B4-BE49-F238E27FC236}">
                <a16:creationId xmlns:a16="http://schemas.microsoft.com/office/drawing/2014/main" id="{D1A11BA6-9A4D-41B0-FE13-D42E91F591C5}"/>
              </a:ext>
            </a:extLst>
          </p:cNvPr>
          <p:cNvPicPr>
            <a:picLocks noChangeAspect="1"/>
          </p:cNvPicPr>
          <p:nvPr userDrawn="1"/>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a:xfrm>
            <a:off x="11385383" y="5620835"/>
            <a:ext cx="869482" cy="1504260"/>
          </a:xfrm>
          <a:prstGeom prst="rect">
            <a:avLst/>
          </a:prstGeom>
        </p:spPr>
      </p:pic>
      <p:pic>
        <p:nvPicPr>
          <p:cNvPr id="17" name="Picture 16">
            <a:extLst>
              <a:ext uri="{FF2B5EF4-FFF2-40B4-BE49-F238E27FC236}">
                <a16:creationId xmlns:a16="http://schemas.microsoft.com/office/drawing/2014/main" id="{C92307F5-1B86-EB7B-529A-B5AC3C3702FF}"/>
              </a:ext>
            </a:extLst>
          </p:cNvPr>
          <p:cNvPicPr>
            <a:picLocks noChangeAspect="1"/>
          </p:cNvPicPr>
          <p:nvPr userDrawn="1"/>
        </p:nvPicPr>
        <p:blipFill>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l="-7258"/>
          <a:stretch/>
        </p:blipFill>
        <p:spPr>
          <a:xfrm>
            <a:off x="-125729" y="5642823"/>
            <a:ext cx="1554480" cy="1504260"/>
          </a:xfrm>
          <a:prstGeom prst="rect">
            <a:avLst/>
          </a:prstGeom>
        </p:spPr>
      </p:pic>
      <p:sp>
        <p:nvSpPr>
          <p:cNvPr id="20" name="TextBox 19">
            <a:extLst>
              <a:ext uri="{FF2B5EF4-FFF2-40B4-BE49-F238E27FC236}">
                <a16:creationId xmlns:a16="http://schemas.microsoft.com/office/drawing/2014/main" id="{CEA77C6D-65EF-D438-A2B7-B79287A44518}"/>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spTree>
    <p:extLst>
      <p:ext uri="{BB962C8B-B14F-4D97-AF65-F5344CB8AC3E}">
        <p14:creationId xmlns:p14="http://schemas.microsoft.com/office/powerpoint/2010/main" val="2131107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cSld name="Title and Content White">
    <p:spTree>
      <p:nvGrpSpPr>
        <p:cNvPr id="1" name=""/>
        <p:cNvGrpSpPr/>
        <p:nvPr/>
      </p:nvGrpSpPr>
      <p:grpSpPr>
        <a:xfrm>
          <a:off x="0" y="0"/>
          <a:ext cx="0" cy="0"/>
          <a:chOff x="0" y="0"/>
          <a:chExt cx="0" cy="0"/>
        </a:xfrm>
      </p:grpSpPr>
      <p:sp>
        <p:nvSpPr>
          <p:cNvPr id="17" name="Rectangle 16"/>
          <p:cNvSpPr/>
          <p:nvPr/>
        </p:nvSpPr>
        <p:spPr>
          <a:xfrm rot="5400000">
            <a:off x="196407" y="352887"/>
            <a:ext cx="772430" cy="66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Title Placeholder 1"/>
          <p:cNvSpPr>
            <a:spLocks noGrp="1"/>
          </p:cNvSpPr>
          <p:nvPr>
            <p:ph type="title" hasCustomPrompt="1"/>
          </p:nvPr>
        </p:nvSpPr>
        <p:spPr>
          <a:xfrm>
            <a:off x="720648" y="246888"/>
            <a:ext cx="10844784" cy="694944"/>
          </a:xfrm>
          <a:prstGeom prst="rect">
            <a:avLst/>
          </a:prstGeom>
        </p:spPr>
        <p:txBody>
          <a:bodyPr vert="horz" lIns="91440" tIns="45720" rIns="91440" bIns="45720" rtlCol="0" anchor="t" anchorCtr="0">
            <a:noAutofit/>
          </a:bodyPr>
          <a:lstStyle>
            <a:lvl1pPr>
              <a:defRPr>
                <a:solidFill>
                  <a:schemeClr val="bg2">
                    <a:lumMod val="25000"/>
                  </a:schemeClr>
                </a:solidFill>
              </a:defRPr>
            </a:lvl1pPr>
          </a:lstStyle>
          <a:p>
            <a:r>
              <a:rPr lang="en-US" dirty="0"/>
              <a:t>CLICK TO EDIT MASTER TITLE STYLE</a:t>
            </a:r>
          </a:p>
        </p:txBody>
      </p:sp>
      <p:sp>
        <p:nvSpPr>
          <p:cNvPr id="20" name="Date Placeholder 3"/>
          <p:cNvSpPr>
            <a:spLocks noGrp="1"/>
          </p:cNvSpPr>
          <p:nvPr>
            <p:ph type="dt" sz="half" idx="2"/>
          </p:nvPr>
        </p:nvSpPr>
        <p:spPr>
          <a:xfrm>
            <a:off x="64951" y="6492875"/>
            <a:ext cx="2472271" cy="365125"/>
          </a:xfrm>
          <a:prstGeom prst="rect">
            <a:avLst/>
          </a:prstGeom>
        </p:spPr>
        <p:txBody>
          <a:bodyPr vert="horz" lIns="91440" tIns="45720" rIns="91440" bIns="45720" rtlCol="0" anchor="ctr"/>
          <a:lstStyle>
            <a:lvl1pPr algn="l">
              <a:defRPr sz="1000">
                <a:solidFill>
                  <a:schemeClr val="bg1">
                    <a:lumMod val="50000"/>
                  </a:schemeClr>
                </a:solidFill>
              </a:defRPr>
            </a:lvl1pPr>
          </a:lstStyle>
          <a:p>
            <a:fld id="{42DBB2FB-2109-41DD-914D-DC4C4AB493CE}" type="datetime1">
              <a:rPr lang="en-US" smtClean="0"/>
              <a:t>1/16/2026</a:t>
            </a:fld>
            <a:endParaRPr lang="en-US" dirty="0"/>
          </a:p>
        </p:txBody>
      </p:sp>
      <p:sp>
        <p:nvSpPr>
          <p:cNvPr id="22" name="Slide Number Placeholder 5"/>
          <p:cNvSpPr>
            <a:spLocks noGrp="1"/>
          </p:cNvSpPr>
          <p:nvPr>
            <p:ph type="sldNum" sz="quarter" idx="4"/>
          </p:nvPr>
        </p:nvSpPr>
        <p:spPr>
          <a:xfrm>
            <a:off x="11674644" y="6492875"/>
            <a:ext cx="419397" cy="365125"/>
          </a:xfrm>
          <a:prstGeom prst="rect">
            <a:avLst/>
          </a:prstGeom>
        </p:spPr>
        <p:txBody>
          <a:bodyPr vert="horz" lIns="91440" tIns="45720" rIns="91440" bIns="45720" rtlCol="0" anchor="ctr"/>
          <a:lstStyle>
            <a:lvl1pPr algn="r">
              <a:defRPr sz="1000">
                <a:solidFill>
                  <a:srgbClr val="000000"/>
                </a:solidFill>
              </a:defRPr>
            </a:lvl1pPr>
          </a:lstStyle>
          <a:p>
            <a:fld id="{4FAB73BC-B049-4115-A692-8D63A059BFB8}" type="slidenum">
              <a:rPr lang="en-US" smtClean="0"/>
              <a:pPr/>
              <a:t>‹#›</a:t>
            </a:fld>
            <a:endParaRPr lang="en-US" dirty="0"/>
          </a:p>
        </p:txBody>
      </p:sp>
      <p:sp>
        <p:nvSpPr>
          <p:cNvPr id="4" name="Text Placeholder 3"/>
          <p:cNvSpPr>
            <a:spLocks noGrp="1"/>
          </p:cNvSpPr>
          <p:nvPr>
            <p:ph type="body" sz="quarter" idx="10"/>
          </p:nvPr>
        </p:nvSpPr>
        <p:spPr>
          <a:xfrm>
            <a:off x="720648" y="1124712"/>
            <a:ext cx="10844784" cy="5404104"/>
          </a:xfrm>
        </p:spPr>
        <p:txBody>
          <a:bodyPr/>
          <a:lstStyle>
            <a:lvl1pPr>
              <a:buClr>
                <a:schemeClr val="accent1"/>
              </a:buClr>
              <a:defRPr>
                <a:solidFill>
                  <a:schemeClr val="tx1"/>
                </a:solidFill>
              </a:defRPr>
            </a:lvl1pPr>
            <a:lvl2pPr>
              <a:buClr>
                <a:schemeClr val="accent1"/>
              </a:buClr>
              <a:defRPr>
                <a:solidFill>
                  <a:schemeClr val="tx1"/>
                </a:solidFill>
              </a:defRPr>
            </a:lvl2pPr>
            <a:lvl3pPr>
              <a:buClr>
                <a:schemeClr val="accent1"/>
              </a:buClr>
              <a:defRPr>
                <a:solidFill>
                  <a:schemeClr val="tx1"/>
                </a:solidFill>
              </a:defRPr>
            </a:lvl3pPr>
            <a:lvl4pPr>
              <a:buClr>
                <a:schemeClr val="accent1"/>
              </a:buClr>
              <a:defRPr>
                <a:solidFill>
                  <a:schemeClr val="tx1"/>
                </a:solidFill>
              </a:defRPr>
            </a:lvl4pPr>
            <a:lvl5pPr>
              <a:buClr>
                <a:schemeClr val="accent1"/>
              </a:buClr>
              <a:defRPr>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Rectangle 10"/>
          <p:cNvSpPr/>
          <p:nvPr/>
        </p:nvSpPr>
        <p:spPr>
          <a:xfrm>
            <a:off x="11734800" y="408404"/>
            <a:ext cx="457199" cy="368300"/>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sp>
      <p:pic>
        <p:nvPicPr>
          <p:cNvPr id="12" name="Picture 11"/>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1795760" y="475488"/>
            <a:ext cx="259675" cy="251610"/>
          </a:xfrm>
          <a:prstGeom prst="rect">
            <a:avLst/>
          </a:prstGeom>
        </p:spPr>
      </p:pic>
      <p:grpSp>
        <p:nvGrpSpPr>
          <p:cNvPr id="3" name="Group 2"/>
          <p:cNvGrpSpPr/>
          <p:nvPr/>
        </p:nvGrpSpPr>
        <p:grpSpPr>
          <a:xfrm>
            <a:off x="12125325" y="0"/>
            <a:ext cx="66679" cy="6857999"/>
            <a:chOff x="12125325" y="0"/>
            <a:chExt cx="66679" cy="6857999"/>
          </a:xfrm>
        </p:grpSpPr>
        <p:pic>
          <p:nvPicPr>
            <p:cNvPr id="13" name="Picture 12"/>
            <p:cNvPicPr>
              <a:picLocks/>
            </p:cNvPicPr>
            <p:nvPr/>
          </p:nvPicPr>
          <p:blipFill rotWithShape="1">
            <a:blip r:embed="rId3" cstate="print">
              <a:extLst>
                <a:ext uri="{28A0092B-C50C-407E-A947-70E740481C1C}">
                  <a14:useLocalDpi xmlns:a14="http://schemas.microsoft.com/office/drawing/2010/main"/>
                </a:ext>
              </a:extLst>
            </a:blip>
            <a:srcRect b="-3"/>
            <a:stretch/>
          </p:blipFill>
          <p:spPr>
            <a:xfrm rot="16200000">
              <a:off x="8773049" y="3439044"/>
              <a:ext cx="6771231" cy="66679"/>
            </a:xfrm>
            <a:prstGeom prst="rect">
              <a:avLst/>
            </a:prstGeom>
          </p:spPr>
        </p:pic>
        <p:sp>
          <p:nvSpPr>
            <p:cNvPr id="2" name="Rectangle 1"/>
            <p:cNvSpPr/>
            <p:nvPr/>
          </p:nvSpPr>
          <p:spPr>
            <a:xfrm>
              <a:off x="12125325" y="0"/>
              <a:ext cx="66675" cy="2825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64103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Title Placeholder 12">
            <a:extLst>
              <a:ext uri="{FF2B5EF4-FFF2-40B4-BE49-F238E27FC236}">
                <a16:creationId xmlns:a16="http://schemas.microsoft.com/office/drawing/2014/main" id="{AE4A825A-4063-94F5-2E60-E497DE3FD8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14" name="Text Placeholder 13">
            <a:extLst>
              <a:ext uri="{FF2B5EF4-FFF2-40B4-BE49-F238E27FC236}">
                <a16:creationId xmlns:a16="http://schemas.microsoft.com/office/drawing/2014/main" id="{4AC2EE41-D82D-F945-F481-EC0ADFBAC9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04332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1" r:id="rId4"/>
    <p:sldLayoutId id="2147483654"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jpeg"/></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5.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8.jpeg"/><Relationship Id="rId4" Type="http://schemas.openxmlformats.org/officeDocument/2006/relationships/image" Target="../media/image37.jpeg"/></Relationships>
</file>

<file path=ppt/slides/_rels/slide12.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0.jpe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52.png"/><Relationship Id="rId3" Type="http://schemas.microsoft.com/office/2007/relationships/media" Target="../media/media2.mp4"/><Relationship Id="rId7" Type="http://schemas.openxmlformats.org/officeDocument/2006/relationships/image" Target="../media/image5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0.jpeg"/><Relationship Id="rId5" Type="http://schemas.openxmlformats.org/officeDocument/2006/relationships/slideLayout" Target="../slideLayouts/slideLayout2.xml"/><Relationship Id="rId4" Type="http://schemas.openxmlformats.org/officeDocument/2006/relationships/video" Target="../media/media2.mp4"/></Relationships>
</file>

<file path=ppt/slides/_rels/slide24.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53.jpeg"/><Relationship Id="rId1" Type="http://schemas.openxmlformats.org/officeDocument/2006/relationships/slideLayout" Target="../slideLayouts/slideLayout2.xml"/><Relationship Id="rId6" Type="http://schemas.openxmlformats.org/officeDocument/2006/relationships/image" Target="../media/image57.gif"/><Relationship Id="rId5" Type="http://schemas.openxmlformats.org/officeDocument/2006/relationships/image" Target="../media/image56.gif"/><Relationship Id="rId4" Type="http://schemas.openxmlformats.org/officeDocument/2006/relationships/image" Target="../media/image55.gif"/></Relationships>
</file>

<file path=ppt/slides/_rels/slide25.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58.gif"/><Relationship Id="rId1" Type="http://schemas.openxmlformats.org/officeDocument/2006/relationships/slideLayout" Target="../slideLayouts/slideLayout2.xml"/><Relationship Id="rId6" Type="http://schemas.openxmlformats.org/officeDocument/2006/relationships/image" Target="../media/image61.gif"/><Relationship Id="rId5" Type="http://schemas.openxmlformats.org/officeDocument/2006/relationships/image" Target="../media/image60.gif"/><Relationship Id="rId4"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62.emf"/><Relationship Id="rId2" Type="http://schemas.openxmlformats.org/officeDocument/2006/relationships/image" Target="../media/image240.png"/><Relationship Id="rId1" Type="http://schemas.openxmlformats.org/officeDocument/2006/relationships/slideLayout" Target="../slideLayouts/slideLayout2.xml"/><Relationship Id="rId6" Type="http://schemas.openxmlformats.org/officeDocument/2006/relationships/image" Target="../media/image65.gif"/><Relationship Id="rId5" Type="http://schemas.openxmlformats.org/officeDocument/2006/relationships/image" Target="../media/image64.gif"/><Relationship Id="rId4" Type="http://schemas.openxmlformats.org/officeDocument/2006/relationships/image" Target="../media/image63.gif"/></Relationships>
</file>

<file path=ppt/slides/_rels/slide28.xml.rels><?xml version="1.0" encoding="UTF-8" standalone="yes"?>
<Relationships xmlns="http://schemas.openxmlformats.org/package/2006/relationships"><Relationship Id="rId2" Type="http://schemas.openxmlformats.org/officeDocument/2006/relationships/image" Target="../media/image66.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00.png"/><Relationship Id="rId1" Type="http://schemas.openxmlformats.org/officeDocument/2006/relationships/slideLayout" Target="../slideLayouts/slideLayout2.xml"/><Relationship Id="rId4" Type="http://schemas.openxmlformats.org/officeDocument/2006/relationships/image" Target="../media/image67.emf"/></Relationships>
</file>

<file path=ppt/slides/_rels/slide30.xml.rels><?xml version="1.0" encoding="UTF-8" standalone="yes"?>
<Relationships xmlns="http://schemas.openxmlformats.org/package/2006/relationships"><Relationship Id="rId2" Type="http://schemas.openxmlformats.org/officeDocument/2006/relationships/image" Target="../media/image68.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75.gif"/><Relationship Id="rId3" Type="http://schemas.openxmlformats.org/officeDocument/2006/relationships/image" Target="../media/image70.gif"/><Relationship Id="rId7" Type="http://schemas.openxmlformats.org/officeDocument/2006/relationships/image" Target="../media/image74.gif"/><Relationship Id="rId2" Type="http://schemas.openxmlformats.org/officeDocument/2006/relationships/image" Target="../media/image69.gif"/><Relationship Id="rId1" Type="http://schemas.openxmlformats.org/officeDocument/2006/relationships/slideLayout" Target="../slideLayouts/slideLayout2.xml"/><Relationship Id="rId6" Type="http://schemas.openxmlformats.org/officeDocument/2006/relationships/image" Target="../media/image73.gif"/><Relationship Id="rId5" Type="http://schemas.openxmlformats.org/officeDocument/2006/relationships/image" Target="../media/image72.gif"/><Relationship Id="rId4" Type="http://schemas.openxmlformats.org/officeDocument/2006/relationships/image" Target="../media/image71.gif"/><Relationship Id="rId9" Type="http://schemas.openxmlformats.org/officeDocument/2006/relationships/image" Target="../media/image76.gif"/></Relationships>
</file>

<file path=ppt/slides/_rels/slide32.xml.rels><?xml version="1.0" encoding="UTF-8" standalone="yes"?>
<Relationships xmlns="http://schemas.openxmlformats.org/package/2006/relationships"><Relationship Id="rId3" Type="http://schemas.openxmlformats.org/officeDocument/2006/relationships/image" Target="../media/image77.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AE1F67-28F7-715E-D2C3-C1E0D9C57DDF}"/>
              </a:ext>
            </a:extLst>
          </p:cNvPr>
          <p:cNvSpPr>
            <a:spLocks noGrp="1"/>
          </p:cNvSpPr>
          <p:nvPr>
            <p:ph type="ctrTitle"/>
          </p:nvPr>
        </p:nvSpPr>
        <p:spPr>
          <a:xfrm>
            <a:off x="213085" y="537502"/>
            <a:ext cx="8499115" cy="1976513"/>
          </a:xfrm>
        </p:spPr>
        <p:txBody>
          <a:bodyPr>
            <a:normAutofit fontScale="90000"/>
          </a:bodyPr>
          <a:lstStyle/>
          <a:p>
            <a:r>
              <a:rPr lang="en-US" dirty="0"/>
              <a:t>Module 7: The Frame &amp; Wing Structure and Examples</a:t>
            </a:r>
          </a:p>
        </p:txBody>
      </p:sp>
      <p:sp>
        <p:nvSpPr>
          <p:cNvPr id="5" name="Picture Placeholder 4">
            <a:extLst>
              <a:ext uri="{FF2B5EF4-FFF2-40B4-BE49-F238E27FC236}">
                <a16:creationId xmlns:a16="http://schemas.microsoft.com/office/drawing/2014/main" id="{85FE757D-58CA-604E-CDF5-F597A5453EA6}"/>
              </a:ext>
            </a:extLst>
          </p:cNvPr>
          <p:cNvSpPr>
            <a:spLocks noGrp="1"/>
          </p:cNvSpPr>
          <p:nvPr>
            <p:ph type="pic" sz="quarter" idx="13"/>
          </p:nvPr>
        </p:nvSpPr>
        <p:spPr/>
        <p:txBody>
          <a:bodyPr/>
          <a:lstStyle/>
          <a:p>
            <a:endParaRPr lang="en-US"/>
          </a:p>
        </p:txBody>
      </p:sp>
      <p:sp>
        <p:nvSpPr>
          <p:cNvPr id="6" name="Picture Placeholder 5">
            <a:extLst>
              <a:ext uri="{FF2B5EF4-FFF2-40B4-BE49-F238E27FC236}">
                <a16:creationId xmlns:a16="http://schemas.microsoft.com/office/drawing/2014/main" id="{0EDAB9D8-CD52-B5C4-F2FD-B1221C93CFA5}"/>
              </a:ext>
            </a:extLst>
          </p:cNvPr>
          <p:cNvSpPr>
            <a:spLocks noGrp="1"/>
          </p:cNvSpPr>
          <p:nvPr>
            <p:ph type="pic" sz="quarter" idx="14"/>
          </p:nvPr>
        </p:nvSpPr>
        <p:spPr/>
        <p:txBody>
          <a:bodyPr/>
          <a:lstStyle/>
          <a:p>
            <a:endParaRPr lang="en-US"/>
          </a:p>
        </p:txBody>
      </p:sp>
      <p:pic>
        <p:nvPicPr>
          <p:cNvPr id="7" name="Picture Placeholder 5">
            <a:extLst>
              <a:ext uri="{FF2B5EF4-FFF2-40B4-BE49-F238E27FC236}">
                <a16:creationId xmlns:a16="http://schemas.microsoft.com/office/drawing/2014/main" id="{A19FDC88-7C0D-1E97-68F2-24A04AFB73D1}"/>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9523413" y="296863"/>
            <a:ext cx="2262187" cy="1465262"/>
          </a:xfrm>
          <a:prstGeom prst="rect">
            <a:avLst/>
          </a:prstGeom>
          <a:ln w="19050">
            <a:noFill/>
          </a:ln>
        </p:spPr>
      </p:pic>
      <p:pic>
        <p:nvPicPr>
          <p:cNvPr id="8" name="Picture Placeholder 7">
            <a:extLst>
              <a:ext uri="{FF2B5EF4-FFF2-40B4-BE49-F238E27FC236}">
                <a16:creationId xmlns:a16="http://schemas.microsoft.com/office/drawing/2014/main" id="{7B785EB8-7A26-6026-0A30-97EB60EB31AA}"/>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9523413" y="1838325"/>
            <a:ext cx="2262187" cy="1463675"/>
          </a:xfrm>
          <a:prstGeom prst="rect">
            <a:avLst/>
          </a:prstGeom>
          <a:ln w="19050">
            <a:noFill/>
          </a:ln>
        </p:spPr>
      </p:pic>
    </p:spTree>
    <p:extLst>
      <p:ext uri="{BB962C8B-B14F-4D97-AF65-F5344CB8AC3E}">
        <p14:creationId xmlns:p14="http://schemas.microsoft.com/office/powerpoint/2010/main" val="18827719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1AF90-9985-450C-871B-E1FCBA3A588D}"/>
              </a:ext>
            </a:extLst>
          </p:cNvPr>
          <p:cNvSpPr>
            <a:spLocks noGrp="1"/>
          </p:cNvSpPr>
          <p:nvPr>
            <p:ph type="title"/>
          </p:nvPr>
        </p:nvSpPr>
        <p:spPr/>
        <p:txBody>
          <a:bodyPr vert="horz" lIns="91440" tIns="45720" rIns="91440" bIns="45720" rtlCol="0" anchor="t" anchorCtr="0">
            <a:noAutofit/>
          </a:bodyPr>
          <a:lstStyle/>
          <a:p>
            <a:r>
              <a:rPr lang="en-US" dirty="0"/>
              <a:t>Background</a:t>
            </a:r>
          </a:p>
        </p:txBody>
      </p:sp>
      <p:sp>
        <p:nvSpPr>
          <p:cNvPr id="3" name="Content Placeholder 2">
            <a:extLst>
              <a:ext uri="{FF2B5EF4-FFF2-40B4-BE49-F238E27FC236}">
                <a16:creationId xmlns:a16="http://schemas.microsoft.com/office/drawing/2014/main" id="{9AAFC752-158A-4E4C-9408-3AA810B98094}"/>
              </a:ext>
            </a:extLst>
          </p:cNvPr>
          <p:cNvSpPr>
            <a:spLocks noGrp="1"/>
          </p:cNvSpPr>
          <p:nvPr>
            <p:ph idx="1"/>
          </p:nvPr>
        </p:nvSpPr>
        <p:spPr>
          <a:xfrm>
            <a:off x="105033" y="939585"/>
            <a:ext cx="7277902" cy="4978829"/>
          </a:xfrm>
        </p:spPr>
        <p:txBody>
          <a:bodyPr>
            <a:normAutofit/>
          </a:bodyPr>
          <a:lstStyle/>
          <a:p>
            <a:r>
              <a:rPr lang="en-US" sz="2000" dirty="0"/>
              <a:t>The substructuring community has a rich history which shares its roots with model reduction and structural modification</a:t>
            </a:r>
          </a:p>
          <a:p>
            <a:r>
              <a:rPr lang="en-US" sz="2000" dirty="0"/>
              <a:t>Each year we see 4-5 sessions on substructuring at IMAC with various topics including:</a:t>
            </a:r>
          </a:p>
          <a:p>
            <a:pPr lvl="1"/>
            <a:r>
              <a:rPr lang="en-US" sz="1800" dirty="0"/>
              <a:t>Component Mode Synthesis</a:t>
            </a:r>
          </a:p>
          <a:p>
            <a:pPr lvl="1"/>
            <a:r>
              <a:rPr lang="en-US" sz="1800" dirty="0"/>
              <a:t>Frequency Based Substructuring</a:t>
            </a:r>
          </a:p>
          <a:p>
            <a:pPr lvl="1"/>
            <a:r>
              <a:rPr lang="en-US" sz="1800" dirty="0"/>
              <a:t>Transfer Path Analysis</a:t>
            </a:r>
          </a:p>
          <a:p>
            <a:pPr lvl="1"/>
            <a:r>
              <a:rPr lang="en-US" sz="1800" dirty="0"/>
              <a:t>Model Reduction</a:t>
            </a:r>
          </a:p>
          <a:p>
            <a:pPr lvl="1"/>
            <a:r>
              <a:rPr lang="en-US" sz="1800" dirty="0"/>
              <a:t>Applications of Substructuring</a:t>
            </a:r>
          </a:p>
          <a:p>
            <a:pPr lvl="1"/>
            <a:r>
              <a:rPr lang="en-US" sz="1800" dirty="0"/>
              <a:t>Real-time Hybrid Substructuring and many more</a:t>
            </a:r>
          </a:p>
          <a:p>
            <a:r>
              <a:rPr lang="en-US" sz="2000" dirty="0"/>
              <a:t>In 2012 the </a:t>
            </a:r>
            <a:r>
              <a:rPr lang="en-US" sz="2000" dirty="0" err="1"/>
              <a:t>AmpAir</a:t>
            </a:r>
            <a:r>
              <a:rPr lang="en-US" sz="2000" dirty="0"/>
              <a:t> 600 Wind Turbine was selected as a round-robin substructuring example that many universities and research groups have studied</a:t>
            </a:r>
          </a:p>
          <a:p>
            <a:pPr>
              <a:buClr>
                <a:srgbClr val="002060"/>
              </a:buClr>
            </a:pPr>
            <a:r>
              <a:rPr lang="en-US" sz="2000" dirty="0"/>
              <a:t>The Dynamic Substructuring focus group continued organizing IMAC sessions and in 2018 it officially became a technical division.</a:t>
            </a:r>
          </a:p>
          <a:p>
            <a:endParaRPr lang="en-US" sz="2000" dirty="0"/>
          </a:p>
        </p:txBody>
      </p:sp>
      <p:pic>
        <p:nvPicPr>
          <p:cNvPr id="6" name="Picture 5">
            <a:extLst>
              <a:ext uri="{FF2B5EF4-FFF2-40B4-BE49-F238E27FC236}">
                <a16:creationId xmlns:a16="http://schemas.microsoft.com/office/drawing/2014/main" id="{96D3749E-A8F1-4E13-AD53-FA20CEF46F82}"/>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569331" y="3822700"/>
            <a:ext cx="2968812" cy="2829649"/>
          </a:xfrm>
          <a:prstGeom prst="rect">
            <a:avLst/>
          </a:prstGeom>
        </p:spPr>
      </p:pic>
      <p:pic>
        <p:nvPicPr>
          <p:cNvPr id="8" name="Picture 7">
            <a:extLst>
              <a:ext uri="{FF2B5EF4-FFF2-40B4-BE49-F238E27FC236}">
                <a16:creationId xmlns:a16="http://schemas.microsoft.com/office/drawing/2014/main" id="{E5761AE6-5D89-4BC1-ACC1-EA84F6A86D6B}"/>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7945131" y="370064"/>
            <a:ext cx="3958971" cy="2267023"/>
          </a:xfrm>
          <a:prstGeom prst="rect">
            <a:avLst/>
          </a:prstGeom>
        </p:spPr>
      </p:pic>
      <p:pic>
        <p:nvPicPr>
          <p:cNvPr id="10" name="Picture 9">
            <a:extLst>
              <a:ext uri="{FF2B5EF4-FFF2-40B4-BE49-F238E27FC236}">
                <a16:creationId xmlns:a16="http://schemas.microsoft.com/office/drawing/2014/main" id="{8F7DFD50-96D3-4457-AF5F-2CB20A313623}"/>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5878856" y="2488279"/>
            <a:ext cx="3570355" cy="1334421"/>
          </a:xfrm>
          <a:prstGeom prst="rect">
            <a:avLst/>
          </a:prstGeom>
        </p:spPr>
      </p:pic>
    </p:spTree>
    <p:extLst>
      <p:ext uri="{BB962C8B-B14F-4D97-AF65-F5344CB8AC3E}">
        <p14:creationId xmlns:p14="http://schemas.microsoft.com/office/powerpoint/2010/main" val="4085721936"/>
      </p:ext>
    </p:extLst>
  </p:cSld>
  <p:clrMapOvr>
    <a:masterClrMapping/>
  </p:clrMapOvr>
  <mc:AlternateContent xmlns:mc="http://schemas.openxmlformats.org/markup-compatibility/2006" xmlns:p14="http://schemas.microsoft.com/office/powerpoint/2010/main">
    <mc:Choice Requires="p14">
      <p:transition spd="med" p14:dur="700" advTm="87278">
        <p:fade/>
      </p:transition>
    </mc:Choice>
    <mc:Fallback xmlns="">
      <p:transition spd="med" advTm="87278">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1AF90-9985-450C-871B-E1FCBA3A588D}"/>
              </a:ext>
            </a:extLst>
          </p:cNvPr>
          <p:cNvSpPr>
            <a:spLocks noGrp="1"/>
          </p:cNvSpPr>
          <p:nvPr>
            <p:ph type="title"/>
          </p:nvPr>
        </p:nvSpPr>
        <p:spPr/>
        <p:txBody>
          <a:bodyPr>
            <a:normAutofit fontScale="90000"/>
          </a:bodyPr>
          <a:lstStyle/>
          <a:p>
            <a:r>
              <a:rPr lang="en-US" dirty="0"/>
              <a:t>Round-Robin Challenge</a:t>
            </a:r>
          </a:p>
        </p:txBody>
      </p:sp>
      <p:sp>
        <p:nvSpPr>
          <p:cNvPr id="3" name="Content Placeholder 2">
            <a:extLst>
              <a:ext uri="{FF2B5EF4-FFF2-40B4-BE49-F238E27FC236}">
                <a16:creationId xmlns:a16="http://schemas.microsoft.com/office/drawing/2014/main" id="{9AAFC752-158A-4E4C-9408-3AA810B98094}"/>
              </a:ext>
            </a:extLst>
          </p:cNvPr>
          <p:cNvSpPr>
            <a:spLocks noGrp="1"/>
          </p:cNvSpPr>
          <p:nvPr>
            <p:ph idx="1"/>
          </p:nvPr>
        </p:nvSpPr>
        <p:spPr>
          <a:xfrm>
            <a:off x="105032" y="1007533"/>
            <a:ext cx="11807568" cy="5105399"/>
          </a:xfrm>
        </p:spPr>
        <p:txBody>
          <a:bodyPr>
            <a:normAutofit lnSpcReduction="10000"/>
          </a:bodyPr>
          <a:lstStyle/>
          <a:p>
            <a:r>
              <a:rPr lang="en-US" sz="2600" dirty="0"/>
              <a:t>The Technical Division on Dynamic Substructuring has </a:t>
            </a:r>
            <a:br>
              <a:rPr lang="en-US" sz="2600" dirty="0"/>
            </a:br>
            <a:r>
              <a:rPr lang="en-US" sz="2600" dirty="0"/>
              <a:t>formed a team to begin creating a new round-robin challenge </a:t>
            </a:r>
            <a:br>
              <a:rPr lang="en-US" sz="2600" dirty="0"/>
            </a:br>
            <a:r>
              <a:rPr lang="en-US" sz="2600" dirty="0"/>
              <a:t>for researchers to utilize</a:t>
            </a:r>
          </a:p>
          <a:p>
            <a:r>
              <a:rPr lang="en-US" sz="2600" dirty="0"/>
              <a:t>To develop a structure that suits everyone’s needs the team </a:t>
            </a:r>
            <a:br>
              <a:rPr lang="en-US" sz="2600" dirty="0"/>
            </a:br>
            <a:r>
              <a:rPr lang="en-US" sz="2600" dirty="0"/>
              <a:t>assembled a list of desired qualities that the round-robin </a:t>
            </a:r>
            <a:br>
              <a:rPr lang="en-US" sz="2600" dirty="0"/>
            </a:br>
            <a:r>
              <a:rPr lang="en-US" sz="2600" dirty="0"/>
              <a:t>challenge structure should have:</a:t>
            </a:r>
          </a:p>
          <a:p>
            <a:pPr lvl="1"/>
            <a:r>
              <a:rPr lang="en-US" dirty="0"/>
              <a:t>Interfaces challenging and suited for both FBS and CMS techniques</a:t>
            </a:r>
          </a:p>
          <a:p>
            <a:pPr lvl="1"/>
            <a:r>
              <a:rPr lang="en-US" dirty="0"/>
              <a:t>Simpler system than the </a:t>
            </a:r>
            <a:r>
              <a:rPr lang="en-US" dirty="0" err="1"/>
              <a:t>Ampair</a:t>
            </a:r>
            <a:r>
              <a:rPr lang="en-US" dirty="0"/>
              <a:t> with more similar dynamics between substructures</a:t>
            </a:r>
          </a:p>
          <a:p>
            <a:pPr lvl="1"/>
            <a:r>
              <a:rPr lang="en-US" dirty="0"/>
              <a:t>Potential for future circular transfer paths</a:t>
            </a:r>
          </a:p>
          <a:p>
            <a:pPr lvl="1"/>
            <a:r>
              <a:rPr lang="en-US" dirty="0"/>
              <a:t>Repeatability designed into the interfaces</a:t>
            </a:r>
          </a:p>
          <a:p>
            <a:pPr lvl="1"/>
            <a:r>
              <a:rPr lang="en-US" dirty="0"/>
              <a:t>Nonlinear dynamics due to joints in the structure should be minimized</a:t>
            </a:r>
          </a:p>
          <a:p>
            <a:pPr lvl="1"/>
            <a:r>
              <a:rPr lang="en-US" dirty="0"/>
              <a:t>Something that is easy to manufacture and transport</a:t>
            </a:r>
          </a:p>
          <a:p>
            <a:pPr lvl="1"/>
            <a:r>
              <a:rPr lang="en-US" dirty="0"/>
              <a:t>Structure that is simple to test</a:t>
            </a:r>
          </a:p>
          <a:p>
            <a:pPr lvl="1"/>
            <a:endParaRPr lang="en-US" dirty="0"/>
          </a:p>
          <a:p>
            <a:pPr lvl="1"/>
            <a:endParaRPr lang="en-US" sz="1800" dirty="0"/>
          </a:p>
          <a:p>
            <a:endParaRPr lang="en-US" sz="1800" dirty="0"/>
          </a:p>
          <a:p>
            <a:pPr indent="0">
              <a:buNone/>
            </a:pPr>
            <a:endParaRPr lang="en-US" sz="1800" dirty="0"/>
          </a:p>
          <a:p>
            <a:endParaRPr lang="en-US" sz="1800" dirty="0"/>
          </a:p>
        </p:txBody>
      </p:sp>
      <p:pic>
        <p:nvPicPr>
          <p:cNvPr id="7" name="Picture 6">
            <a:extLst>
              <a:ext uri="{FF2B5EF4-FFF2-40B4-BE49-F238E27FC236}">
                <a16:creationId xmlns:a16="http://schemas.microsoft.com/office/drawing/2014/main" id="{7DDE8CDE-C902-4F6A-B2B1-65A0DCBC9DE8}"/>
              </a:ext>
            </a:extLst>
          </p:cNvPr>
          <p:cNvPicPr>
            <a:picLocks noChangeAspect="1"/>
          </p:cNvPicPr>
          <p:nvPr/>
        </p:nvPicPr>
        <p:blipFill>
          <a:blip r:embed="rId2"/>
          <a:stretch>
            <a:fillRect/>
          </a:stretch>
        </p:blipFill>
        <p:spPr>
          <a:xfrm>
            <a:off x="8542705" y="606671"/>
            <a:ext cx="3369895" cy="2246597"/>
          </a:xfrm>
          <a:prstGeom prst="rect">
            <a:avLst/>
          </a:prstGeom>
        </p:spPr>
      </p:pic>
    </p:spTree>
    <p:extLst>
      <p:ext uri="{BB962C8B-B14F-4D97-AF65-F5344CB8AC3E}">
        <p14:creationId xmlns:p14="http://schemas.microsoft.com/office/powerpoint/2010/main" val="184100027"/>
      </p:ext>
    </p:extLst>
  </p:cSld>
  <p:clrMapOvr>
    <a:masterClrMapping/>
  </p:clrMapOvr>
  <mc:AlternateContent xmlns:mc="http://schemas.openxmlformats.org/markup-compatibility/2006" xmlns:p14="http://schemas.microsoft.com/office/powerpoint/2010/main">
    <mc:Choice Requires="p14">
      <p:transition spd="med" p14:dur="700" advTm="90382">
        <p:fade/>
      </p:transition>
    </mc:Choice>
    <mc:Fallback xmlns="">
      <p:transition spd="med" advTm="90382">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BD4B9-A4CC-431A-8051-7FDDD145D1CF}"/>
              </a:ext>
            </a:extLst>
          </p:cNvPr>
          <p:cNvSpPr>
            <a:spLocks noGrp="1"/>
          </p:cNvSpPr>
          <p:nvPr>
            <p:ph type="title"/>
          </p:nvPr>
        </p:nvSpPr>
        <p:spPr/>
        <p:txBody>
          <a:bodyPr>
            <a:normAutofit fontScale="90000"/>
          </a:bodyPr>
          <a:lstStyle/>
          <a:p>
            <a:r>
              <a:rPr lang="en-US" dirty="0"/>
              <a:t>Experimental Substructure (Four-unit frame)</a:t>
            </a:r>
          </a:p>
        </p:txBody>
      </p:sp>
      <p:sp>
        <p:nvSpPr>
          <p:cNvPr id="3" name="Content Placeholder 2">
            <a:extLst>
              <a:ext uri="{FF2B5EF4-FFF2-40B4-BE49-F238E27FC236}">
                <a16:creationId xmlns:a16="http://schemas.microsoft.com/office/drawing/2014/main" id="{F6C53812-30BF-BA70-EE9B-E0C297934853}"/>
              </a:ext>
            </a:extLst>
          </p:cNvPr>
          <p:cNvSpPr>
            <a:spLocks noGrp="1"/>
          </p:cNvSpPr>
          <p:nvPr>
            <p:ph idx="1"/>
          </p:nvPr>
        </p:nvSpPr>
        <p:spPr>
          <a:xfrm>
            <a:off x="245709" y="1095432"/>
            <a:ext cx="8623124" cy="2154534"/>
          </a:xfrm>
        </p:spPr>
        <p:txBody>
          <a:bodyPr>
            <a:normAutofit fontScale="92500" lnSpcReduction="10000"/>
          </a:bodyPr>
          <a:lstStyle/>
          <a:p>
            <a:r>
              <a:rPr lang="en-US" sz="2800" dirty="0"/>
              <a:t>Team developed four unit frame with key features</a:t>
            </a:r>
          </a:p>
          <a:p>
            <a:pPr lvl="1"/>
            <a:r>
              <a:rPr lang="en-US" dirty="0"/>
              <a:t>Manufactured from one piece of metal of stock</a:t>
            </a:r>
          </a:p>
          <a:p>
            <a:pPr lvl="1"/>
            <a:r>
              <a:rPr lang="en-US" dirty="0"/>
              <a:t>Subcomponent and shaker attachment points machined into frame</a:t>
            </a:r>
          </a:p>
          <a:p>
            <a:pPr lvl="1"/>
            <a:r>
              <a:rPr lang="en-US" dirty="0"/>
              <a:t>Adaptable to many types of studies</a:t>
            </a:r>
          </a:p>
          <a:p>
            <a:pPr lvl="1"/>
            <a:r>
              <a:rPr lang="en-US" dirty="0"/>
              <a:t>Possible circular/recursive transfer path</a:t>
            </a:r>
          </a:p>
          <a:p>
            <a:pPr lvl="1"/>
            <a:r>
              <a:rPr lang="en-US" dirty="0"/>
              <a:t>Large enough to minimize error due to mass loading</a:t>
            </a:r>
          </a:p>
        </p:txBody>
      </p:sp>
      <p:pic>
        <p:nvPicPr>
          <p:cNvPr id="4" name="Picture 3">
            <a:extLst>
              <a:ext uri="{FF2B5EF4-FFF2-40B4-BE49-F238E27FC236}">
                <a16:creationId xmlns:a16="http://schemas.microsoft.com/office/drawing/2014/main" id="{4CC58232-E221-4167-858E-1A74C8C9395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726037" y="3181495"/>
            <a:ext cx="6352518" cy="3096853"/>
          </a:xfrm>
          <a:prstGeom prst="rect">
            <a:avLst/>
          </a:prstGeom>
        </p:spPr>
      </p:pic>
      <p:sp>
        <p:nvSpPr>
          <p:cNvPr id="115" name="TextBox 114">
            <a:extLst>
              <a:ext uri="{FF2B5EF4-FFF2-40B4-BE49-F238E27FC236}">
                <a16:creationId xmlns:a16="http://schemas.microsoft.com/office/drawing/2014/main" id="{682BE885-FDA9-4A5A-A0AE-D7C6215209D9}"/>
              </a:ext>
            </a:extLst>
          </p:cNvPr>
          <p:cNvSpPr txBox="1"/>
          <p:nvPr/>
        </p:nvSpPr>
        <p:spPr>
          <a:xfrm>
            <a:off x="2541554" y="6278349"/>
            <a:ext cx="472994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Shown is a 3-unit frame (final design has 4 units)</a:t>
            </a:r>
          </a:p>
        </p:txBody>
      </p:sp>
      <p:pic>
        <p:nvPicPr>
          <p:cNvPr id="7" name="Picture 6">
            <a:extLst>
              <a:ext uri="{FF2B5EF4-FFF2-40B4-BE49-F238E27FC236}">
                <a16:creationId xmlns:a16="http://schemas.microsoft.com/office/drawing/2014/main" id="{6ADB87AB-885C-1B26-B9D4-C5DA130BB51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rot="16200000">
            <a:off x="7445355" y="2675545"/>
            <a:ext cx="5182917" cy="2022689"/>
          </a:xfrm>
          <a:prstGeom prst="rect">
            <a:avLst/>
          </a:prstGeom>
        </p:spPr>
      </p:pic>
    </p:spTree>
    <p:extLst>
      <p:ext uri="{BB962C8B-B14F-4D97-AF65-F5344CB8AC3E}">
        <p14:creationId xmlns:p14="http://schemas.microsoft.com/office/powerpoint/2010/main" val="1639199300"/>
      </p:ext>
    </p:extLst>
  </p:cSld>
  <p:clrMapOvr>
    <a:masterClrMapping/>
  </p:clrMapOvr>
  <mc:AlternateContent xmlns:mc="http://schemas.openxmlformats.org/markup-compatibility/2006" xmlns:p14="http://schemas.microsoft.com/office/powerpoint/2010/main">
    <mc:Choice Requires="p14">
      <p:transition spd="med" p14:dur="700" advTm="88857">
        <p:fade/>
      </p:transition>
    </mc:Choice>
    <mc:Fallback xmlns="">
      <p:transition spd="med" advTm="88857">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1AF90-9985-450C-871B-E1FCBA3A588D}"/>
              </a:ext>
            </a:extLst>
          </p:cNvPr>
          <p:cNvSpPr>
            <a:spLocks noGrp="1"/>
          </p:cNvSpPr>
          <p:nvPr>
            <p:ph type="title"/>
          </p:nvPr>
        </p:nvSpPr>
        <p:spPr/>
        <p:txBody>
          <a:bodyPr>
            <a:normAutofit fontScale="90000"/>
          </a:bodyPr>
          <a:lstStyle/>
          <a:p>
            <a:r>
              <a:rPr lang="en-US" dirty="0"/>
              <a:t>What is the “truth” answer?</a:t>
            </a:r>
          </a:p>
        </p:txBody>
      </p:sp>
      <p:sp>
        <p:nvSpPr>
          <p:cNvPr id="3" name="Content Placeholder 2">
            <a:extLst>
              <a:ext uri="{FF2B5EF4-FFF2-40B4-BE49-F238E27FC236}">
                <a16:creationId xmlns:a16="http://schemas.microsoft.com/office/drawing/2014/main" id="{9AAFC752-158A-4E4C-9408-3AA810B98094}"/>
              </a:ext>
            </a:extLst>
          </p:cNvPr>
          <p:cNvSpPr>
            <a:spLocks noGrp="1"/>
          </p:cNvSpPr>
          <p:nvPr>
            <p:ph idx="1"/>
          </p:nvPr>
        </p:nvSpPr>
        <p:spPr>
          <a:xfrm>
            <a:off x="1" y="1120238"/>
            <a:ext cx="12191999" cy="4473040"/>
          </a:xfrm>
        </p:spPr>
        <p:txBody>
          <a:bodyPr>
            <a:normAutofit fontScale="92500"/>
          </a:bodyPr>
          <a:lstStyle/>
          <a:p>
            <a:r>
              <a:rPr lang="en-US" dirty="0"/>
              <a:t>Truth depends on a lot of factors:</a:t>
            </a:r>
          </a:p>
          <a:p>
            <a:pPr lvl="1"/>
            <a:r>
              <a:rPr lang="en-US" dirty="0"/>
              <a:t>Assembly procedure</a:t>
            </a:r>
          </a:p>
          <a:p>
            <a:pPr lvl="1"/>
            <a:r>
              <a:rPr lang="en-US" dirty="0"/>
              <a:t>Frequency range of interest</a:t>
            </a:r>
          </a:p>
          <a:p>
            <a:pPr lvl="1"/>
            <a:r>
              <a:rPr lang="en-US" dirty="0"/>
              <a:t>Linearity of joints</a:t>
            </a:r>
          </a:p>
          <a:p>
            <a:pPr lvl="1"/>
            <a:r>
              <a:rPr lang="en-US" dirty="0"/>
              <a:t>And other factors…</a:t>
            </a:r>
          </a:p>
          <a:p>
            <a:r>
              <a:rPr lang="en-US" dirty="0"/>
              <a:t>The goal of this round-robin isn’t to see which method is the closest to truth</a:t>
            </a:r>
          </a:p>
          <a:p>
            <a:r>
              <a:rPr lang="en-US" dirty="0"/>
              <a:t>Instead… Round-Robin goals include:</a:t>
            </a:r>
          </a:p>
          <a:p>
            <a:pPr lvl="1"/>
            <a:r>
              <a:rPr lang="en-US" dirty="0"/>
              <a:t>Fostering collaboration between universities and industrial researchers</a:t>
            </a:r>
          </a:p>
          <a:p>
            <a:pPr lvl="1"/>
            <a:r>
              <a:rPr lang="en-US" dirty="0"/>
              <a:t>Help researchers focus on how to best approach a substructuring problem when truth is unknown</a:t>
            </a:r>
          </a:p>
          <a:p>
            <a:pPr lvl="1"/>
            <a:r>
              <a:rPr lang="en-US" dirty="0"/>
              <a:t>Discuss different approaches taken and why some are more suited for specific connection interfaces</a:t>
            </a:r>
          </a:p>
          <a:p>
            <a:pPr lvl="1"/>
            <a:r>
              <a:rPr lang="en-US" dirty="0"/>
              <a:t>See range of blind predictions to understand the range of answer found using substructuring practices</a:t>
            </a:r>
          </a:p>
        </p:txBody>
      </p:sp>
      <p:sp>
        <p:nvSpPr>
          <p:cNvPr id="5" name="Text Box 117">
            <a:extLst>
              <a:ext uri="{FF2B5EF4-FFF2-40B4-BE49-F238E27FC236}">
                <a16:creationId xmlns:a16="http://schemas.microsoft.com/office/drawing/2014/main" id="{1B435E38-4F02-43C2-9935-3ADD81D4AC74}"/>
              </a:ext>
            </a:extLst>
          </p:cNvPr>
          <p:cNvSpPr txBox="1">
            <a:spLocks noChangeArrowheads="1"/>
          </p:cNvSpPr>
          <p:nvPr/>
        </p:nvSpPr>
        <p:spPr bwMode="auto">
          <a:xfrm>
            <a:off x="2132120" y="5661926"/>
            <a:ext cx="7927759" cy="369332"/>
          </a:xfrm>
          <a:prstGeom prst="rect">
            <a:avLst/>
          </a:prstGeom>
          <a:solidFill>
            <a:schemeClr val="tx2"/>
          </a:solidFill>
          <a:ln w="25400">
            <a:solidFill>
              <a:schemeClr val="tx2"/>
            </a:solidFill>
            <a:miter lim="800000"/>
            <a:headEnd/>
            <a:tailEnd/>
          </a:ln>
          <a:effectLst/>
        </p:spPr>
        <p:txBody>
          <a:bodyPr wrap="square">
            <a:spAutoFit/>
          </a:bodyPr>
          <a:lstStyle>
            <a:defPPr>
              <a:defRPr lang="en-US"/>
            </a:defPPr>
            <a:lvl1pPr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9pPr>
          </a:lstStyle>
          <a:p>
            <a:pPr marL="0" marR="0" lvl="0" indent="0" algn="ctr" defTabSz="457200" rtl="0" eaLnBrk="1" fontAlgn="base" latinLnBrk="0" hangingPunct="1">
              <a:lnSpc>
                <a:spcPct val="100000"/>
              </a:lnSpc>
              <a:spcBef>
                <a:spcPct val="50000"/>
              </a:spcBef>
              <a:spcAft>
                <a:spcPct val="0"/>
              </a:spcAft>
              <a:buClrTx/>
              <a:buSzTx/>
              <a:buFontTx/>
              <a:buNone/>
              <a:tabLst/>
              <a:defRPr/>
            </a:pPr>
            <a:r>
              <a:rPr kumimoji="0" lang="en-US" altLang="en-US" sz="1800" b="1" i="0" u="none" strike="noStrike" kern="1200" cap="none" spc="0" normalizeH="0" baseline="0" noProof="0" dirty="0">
                <a:ln>
                  <a:noFill/>
                </a:ln>
                <a:solidFill>
                  <a:srgbClr val="FFFFFF"/>
                </a:solidFill>
                <a:effectLst/>
                <a:uLnTx/>
                <a:uFillTx/>
                <a:latin typeface="Calibri" panose="020F0502020204030204" pitchFamily="34" charset="0"/>
                <a:ea typeface="+mn-ea"/>
                <a:cs typeface="Arial" panose="020B0604020202020204" pitchFamily="34" charset="0"/>
              </a:rPr>
              <a:t>It depends… but we can learn a lot by comparing and collaborating on methods</a:t>
            </a:r>
          </a:p>
        </p:txBody>
      </p:sp>
      <p:pic>
        <p:nvPicPr>
          <p:cNvPr id="1028" name="Picture 4" descr="Image result for question mark screen bean">
            <a:extLst>
              <a:ext uri="{FF2B5EF4-FFF2-40B4-BE49-F238E27FC236}">
                <a16:creationId xmlns:a16="http://schemas.microsoft.com/office/drawing/2014/main" id="{87AF63B8-A732-4CF7-849B-C46A6BF102AE}"/>
              </a:ext>
            </a:extLst>
          </p:cNvPr>
          <p:cNvPicPr>
            <a:picLocks noChangeAspect="1" noChangeArrowheads="1"/>
          </p:cNvPicPr>
          <p:nvPr/>
        </p:nvPicPr>
        <p:blipFill>
          <a:blip r:embed="rId2">
            <a:clrChange>
              <a:clrFrom>
                <a:srgbClr val="F9F9F9"/>
              </a:clrFrom>
              <a:clrTo>
                <a:srgbClr val="F9F9F9">
                  <a:alpha val="0"/>
                </a:srgbClr>
              </a:clrTo>
            </a:clrChange>
            <a:extLst>
              <a:ext uri="{28A0092B-C50C-407E-A947-70E740481C1C}">
                <a14:useLocalDpi xmlns:a14="http://schemas.microsoft.com/office/drawing/2010/main"/>
              </a:ext>
            </a:extLst>
          </a:blip>
          <a:srcRect/>
          <a:stretch>
            <a:fillRect/>
          </a:stretch>
        </p:blipFill>
        <p:spPr bwMode="auto">
          <a:xfrm>
            <a:off x="9130036" y="352610"/>
            <a:ext cx="2513702" cy="2623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1861524"/>
      </p:ext>
    </p:extLst>
  </p:cSld>
  <p:clrMapOvr>
    <a:masterClrMapping/>
  </p:clrMapOvr>
  <mc:AlternateContent xmlns:mc="http://schemas.openxmlformats.org/markup-compatibility/2006" xmlns:p14="http://schemas.microsoft.com/office/powerpoint/2010/main">
    <mc:Choice Requires="p14">
      <p:transition spd="med" p14:dur="700" advTm="99218">
        <p:fade/>
      </p:transition>
    </mc:Choice>
    <mc:Fallback xmlns="">
      <p:transition spd="med" advTm="99218">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Trial Run</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1" y="939585"/>
            <a:ext cx="11701735" cy="1576621"/>
          </a:xfrm>
        </p:spPr>
        <p:txBody>
          <a:bodyPr>
            <a:normAutofit/>
          </a:bodyPr>
          <a:lstStyle/>
          <a:p>
            <a:r>
              <a:rPr lang="en-US" sz="2600" dirty="0"/>
              <a:t>SNL performed a trial run on the “original design” system </a:t>
            </a:r>
          </a:p>
          <a:p>
            <a:pPr lvl="1"/>
            <a:r>
              <a:rPr lang="en-US" sz="2200" dirty="0"/>
              <a:t>Initially presented results from a numerical study performed while designing the system.</a:t>
            </a:r>
          </a:p>
          <a:p>
            <a:pPr lvl="1"/>
            <a:r>
              <a:rPr lang="en-US" sz="2200" dirty="0"/>
              <a:t>Then performed experimental analytical hybrid substructuring using the transmission simulator method to connect the 4-unit frame with an analytical model of the rectangular wing.</a:t>
            </a:r>
            <a:endParaRPr lang="en-US" sz="2200" b="1" dirty="0"/>
          </a:p>
        </p:txBody>
      </p:sp>
      <p:sp>
        <p:nvSpPr>
          <p:cNvPr id="8" name="Rectangle 7">
            <a:extLst>
              <a:ext uri="{FF2B5EF4-FFF2-40B4-BE49-F238E27FC236}">
                <a16:creationId xmlns:a16="http://schemas.microsoft.com/office/drawing/2014/main" id="{CEAEB426-25F8-4701-AEBB-57C946E37CA0}"/>
              </a:ext>
            </a:extLst>
          </p:cNvPr>
          <p:cNvSpPr/>
          <p:nvPr/>
        </p:nvSpPr>
        <p:spPr>
          <a:xfrm>
            <a:off x="319367" y="3647173"/>
            <a:ext cx="3460735" cy="127838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12" name="Rectangle 11">
            <a:extLst>
              <a:ext uri="{FF2B5EF4-FFF2-40B4-BE49-F238E27FC236}">
                <a16:creationId xmlns:a16="http://schemas.microsoft.com/office/drawing/2014/main" id="{F905B209-BC43-488B-BDF7-959BFB92772A}"/>
              </a:ext>
            </a:extLst>
          </p:cNvPr>
          <p:cNvSpPr/>
          <p:nvPr/>
        </p:nvSpPr>
        <p:spPr>
          <a:xfrm>
            <a:off x="525033" y="3832864"/>
            <a:ext cx="600645" cy="90700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Trebuchet MS" panose="020B0603020202020204"/>
              <a:ea typeface="+mn-ea"/>
              <a:cs typeface="+mn-cs"/>
            </a:endParaRPr>
          </a:p>
        </p:txBody>
      </p:sp>
      <p:sp>
        <p:nvSpPr>
          <p:cNvPr id="13" name="Rectangle 12">
            <a:extLst>
              <a:ext uri="{FF2B5EF4-FFF2-40B4-BE49-F238E27FC236}">
                <a16:creationId xmlns:a16="http://schemas.microsoft.com/office/drawing/2014/main" id="{76DAC38F-3E6D-4FEB-8316-DF095DF2B7AC}"/>
              </a:ext>
            </a:extLst>
          </p:cNvPr>
          <p:cNvSpPr/>
          <p:nvPr/>
        </p:nvSpPr>
        <p:spPr>
          <a:xfrm>
            <a:off x="1331344" y="3832864"/>
            <a:ext cx="600645" cy="90700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Trebuchet MS" panose="020B0603020202020204"/>
              <a:ea typeface="+mn-ea"/>
              <a:cs typeface="+mn-cs"/>
            </a:endParaRPr>
          </a:p>
        </p:txBody>
      </p:sp>
      <p:sp>
        <p:nvSpPr>
          <p:cNvPr id="14" name="Rectangle 13">
            <a:extLst>
              <a:ext uri="{FF2B5EF4-FFF2-40B4-BE49-F238E27FC236}">
                <a16:creationId xmlns:a16="http://schemas.microsoft.com/office/drawing/2014/main" id="{F63554AF-DB04-42EC-B92F-0791F49AF713}"/>
              </a:ext>
            </a:extLst>
          </p:cNvPr>
          <p:cNvSpPr/>
          <p:nvPr/>
        </p:nvSpPr>
        <p:spPr>
          <a:xfrm>
            <a:off x="2151788" y="3832864"/>
            <a:ext cx="600645" cy="90700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Trebuchet MS" panose="020B0603020202020204"/>
              <a:ea typeface="+mn-ea"/>
              <a:cs typeface="+mn-cs"/>
            </a:endParaRPr>
          </a:p>
        </p:txBody>
      </p:sp>
      <p:sp>
        <p:nvSpPr>
          <p:cNvPr id="15" name="Rectangle 14">
            <a:extLst>
              <a:ext uri="{FF2B5EF4-FFF2-40B4-BE49-F238E27FC236}">
                <a16:creationId xmlns:a16="http://schemas.microsoft.com/office/drawing/2014/main" id="{B01B38B9-CA40-49AF-92E3-C3FE9CB1A328}"/>
              </a:ext>
            </a:extLst>
          </p:cNvPr>
          <p:cNvSpPr/>
          <p:nvPr/>
        </p:nvSpPr>
        <p:spPr>
          <a:xfrm>
            <a:off x="2972232" y="3832864"/>
            <a:ext cx="600645" cy="907002"/>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Trebuchet MS" panose="020B0603020202020204"/>
              <a:ea typeface="+mn-ea"/>
              <a:cs typeface="+mn-cs"/>
            </a:endParaRPr>
          </a:p>
        </p:txBody>
      </p:sp>
      <p:sp>
        <p:nvSpPr>
          <p:cNvPr id="10" name="Rectangle 9">
            <a:extLst>
              <a:ext uri="{FF2B5EF4-FFF2-40B4-BE49-F238E27FC236}">
                <a16:creationId xmlns:a16="http://schemas.microsoft.com/office/drawing/2014/main" id="{AF6A79B0-DC4C-481D-8EBA-9A1944AD4AC2}"/>
              </a:ext>
            </a:extLst>
          </p:cNvPr>
          <p:cNvSpPr/>
          <p:nvPr/>
        </p:nvSpPr>
        <p:spPr>
          <a:xfrm>
            <a:off x="1931989" y="3647173"/>
            <a:ext cx="1040243" cy="127838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16" name="Rectangle 15">
            <a:extLst>
              <a:ext uri="{FF2B5EF4-FFF2-40B4-BE49-F238E27FC236}">
                <a16:creationId xmlns:a16="http://schemas.microsoft.com/office/drawing/2014/main" id="{19226DA3-6835-46BA-987E-9E971C59F845}"/>
              </a:ext>
            </a:extLst>
          </p:cNvPr>
          <p:cNvSpPr/>
          <p:nvPr/>
        </p:nvSpPr>
        <p:spPr>
          <a:xfrm>
            <a:off x="4935448" y="3642940"/>
            <a:ext cx="1040243" cy="127838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17" name="Rectangle 16">
            <a:extLst>
              <a:ext uri="{FF2B5EF4-FFF2-40B4-BE49-F238E27FC236}">
                <a16:creationId xmlns:a16="http://schemas.microsoft.com/office/drawing/2014/main" id="{DB006518-B526-41E8-A991-97A39F2661BD}"/>
              </a:ext>
            </a:extLst>
          </p:cNvPr>
          <p:cNvSpPr/>
          <p:nvPr/>
        </p:nvSpPr>
        <p:spPr>
          <a:xfrm>
            <a:off x="7179394" y="2528882"/>
            <a:ext cx="1040243" cy="3507662"/>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18" name="TextBox 17">
            <a:extLst>
              <a:ext uri="{FF2B5EF4-FFF2-40B4-BE49-F238E27FC236}">
                <a16:creationId xmlns:a16="http://schemas.microsoft.com/office/drawing/2014/main" id="{BA6D80FB-F804-4D89-9146-F44B1F7D11F2}"/>
              </a:ext>
            </a:extLst>
          </p:cNvPr>
          <p:cNvSpPr txBox="1"/>
          <p:nvPr/>
        </p:nvSpPr>
        <p:spPr>
          <a:xfrm>
            <a:off x="3778544" y="3929335"/>
            <a:ext cx="1156904" cy="64633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0000"/>
                </a:solidFill>
                <a:effectLst/>
                <a:uLnTx/>
                <a:uFillTx/>
                <a:latin typeface="Trebuchet MS" panose="020B0603020202020204"/>
                <a:ea typeface="+mn-ea"/>
                <a:cs typeface="+mn-cs"/>
              </a:rPr>
              <a:t>-</a:t>
            </a:r>
            <a:endPar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endParaRPr>
          </a:p>
        </p:txBody>
      </p:sp>
      <p:sp>
        <p:nvSpPr>
          <p:cNvPr id="19" name="TextBox 18">
            <a:extLst>
              <a:ext uri="{FF2B5EF4-FFF2-40B4-BE49-F238E27FC236}">
                <a16:creationId xmlns:a16="http://schemas.microsoft.com/office/drawing/2014/main" id="{7C2133CB-0482-49D8-8B54-257E42C28150}"/>
              </a:ext>
            </a:extLst>
          </p:cNvPr>
          <p:cNvSpPr txBox="1"/>
          <p:nvPr/>
        </p:nvSpPr>
        <p:spPr>
          <a:xfrm>
            <a:off x="5986121" y="3937801"/>
            <a:ext cx="1182843" cy="64633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0000"/>
                </a:solidFill>
                <a:effectLst/>
                <a:uLnTx/>
                <a:uFillTx/>
                <a:latin typeface="Trebuchet MS" panose="020B0603020202020204"/>
                <a:ea typeface="+mn-ea"/>
                <a:cs typeface="+mn-cs"/>
              </a:rPr>
              <a:t>+</a:t>
            </a:r>
            <a:endPar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endParaRPr>
          </a:p>
        </p:txBody>
      </p:sp>
      <p:sp>
        <p:nvSpPr>
          <p:cNvPr id="20" name="TextBox 19">
            <a:extLst>
              <a:ext uri="{FF2B5EF4-FFF2-40B4-BE49-F238E27FC236}">
                <a16:creationId xmlns:a16="http://schemas.microsoft.com/office/drawing/2014/main" id="{F6A1AD91-2B36-4EAD-9767-A18419CDA806}"/>
              </a:ext>
            </a:extLst>
          </p:cNvPr>
          <p:cNvSpPr txBox="1"/>
          <p:nvPr/>
        </p:nvSpPr>
        <p:spPr>
          <a:xfrm>
            <a:off x="317810" y="5099009"/>
            <a:ext cx="3460734" cy="64633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0000"/>
                </a:solidFill>
                <a:effectLst/>
                <a:uLnTx/>
                <a:uFillTx/>
                <a:latin typeface="Trebuchet MS" panose="020B0603020202020204"/>
                <a:ea typeface="+mn-ea"/>
                <a:cs typeface="+mn-cs"/>
              </a:rPr>
              <a:t>Experiment</a:t>
            </a:r>
            <a:endPar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endParaRPr>
          </a:p>
        </p:txBody>
      </p:sp>
      <p:sp>
        <p:nvSpPr>
          <p:cNvPr id="21" name="TextBox 20">
            <a:extLst>
              <a:ext uri="{FF2B5EF4-FFF2-40B4-BE49-F238E27FC236}">
                <a16:creationId xmlns:a16="http://schemas.microsoft.com/office/drawing/2014/main" id="{C793CEAD-3C2C-417F-9EE3-A5A8FCBA5171}"/>
              </a:ext>
            </a:extLst>
          </p:cNvPr>
          <p:cNvSpPr txBox="1"/>
          <p:nvPr/>
        </p:nvSpPr>
        <p:spPr>
          <a:xfrm>
            <a:off x="5061969" y="5538996"/>
            <a:ext cx="1287634" cy="64633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0000"/>
                </a:solidFill>
                <a:effectLst/>
                <a:uLnTx/>
                <a:uFillTx/>
                <a:latin typeface="Trebuchet MS" panose="020B0603020202020204"/>
                <a:ea typeface="+mn-ea"/>
                <a:cs typeface="+mn-cs"/>
              </a:rPr>
              <a:t>FEM</a:t>
            </a:r>
            <a:endPar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endParaRPr>
          </a:p>
        </p:txBody>
      </p:sp>
      <p:cxnSp>
        <p:nvCxnSpPr>
          <p:cNvPr id="24" name="Straight Arrow Connector 23">
            <a:extLst>
              <a:ext uri="{FF2B5EF4-FFF2-40B4-BE49-F238E27FC236}">
                <a16:creationId xmlns:a16="http://schemas.microsoft.com/office/drawing/2014/main" id="{B3BCC58C-6C16-414B-ADDA-281F25D99908}"/>
              </a:ext>
            </a:extLst>
          </p:cNvPr>
          <p:cNvCxnSpPr>
            <a:cxnSpLocks/>
            <a:stCxn id="21" idx="0"/>
          </p:cNvCxnSpPr>
          <p:nvPr/>
        </p:nvCxnSpPr>
        <p:spPr>
          <a:xfrm flipH="1" flipV="1">
            <a:off x="5519811" y="4986620"/>
            <a:ext cx="185975" cy="552376"/>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33D32722-DA15-45C4-928B-A3BE4A807E09}"/>
              </a:ext>
            </a:extLst>
          </p:cNvPr>
          <p:cNvCxnSpPr>
            <a:cxnSpLocks/>
            <a:stCxn id="21" idx="3"/>
          </p:cNvCxnSpPr>
          <p:nvPr/>
        </p:nvCxnSpPr>
        <p:spPr>
          <a:xfrm flipV="1">
            <a:off x="6349603" y="5732344"/>
            <a:ext cx="709262" cy="129818"/>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pic>
        <p:nvPicPr>
          <p:cNvPr id="5" name="Picture 4">
            <a:extLst>
              <a:ext uri="{FF2B5EF4-FFF2-40B4-BE49-F238E27FC236}">
                <a16:creationId xmlns:a16="http://schemas.microsoft.com/office/drawing/2014/main" id="{64613504-CF39-28F4-E2A7-1552F5E6776D}"/>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rot="5400000">
            <a:off x="8809523" y="3211542"/>
            <a:ext cx="3070294" cy="2148720"/>
          </a:xfrm>
          <a:prstGeom prst="rect">
            <a:avLst/>
          </a:prstGeom>
        </p:spPr>
      </p:pic>
      <p:sp>
        <p:nvSpPr>
          <p:cNvPr id="4" name="TextBox 3">
            <a:extLst>
              <a:ext uri="{FF2B5EF4-FFF2-40B4-BE49-F238E27FC236}">
                <a16:creationId xmlns:a16="http://schemas.microsoft.com/office/drawing/2014/main" id="{72D58A5D-517C-76D2-5586-7CF535A3D68E}"/>
              </a:ext>
            </a:extLst>
          </p:cNvPr>
          <p:cNvSpPr txBox="1"/>
          <p:nvPr/>
        </p:nvSpPr>
        <p:spPr>
          <a:xfrm>
            <a:off x="8230067" y="3933567"/>
            <a:ext cx="1040243" cy="64633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000000"/>
                </a:solidFill>
                <a:effectLst/>
                <a:uLnTx/>
                <a:uFillTx/>
                <a:latin typeface="Trebuchet MS" panose="020B0603020202020204"/>
                <a:ea typeface="+mn-ea"/>
                <a:cs typeface="+mn-cs"/>
              </a:rPr>
              <a:t>=</a:t>
            </a:r>
            <a:endPar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endParaRPr>
          </a:p>
        </p:txBody>
      </p:sp>
    </p:spTree>
    <p:extLst>
      <p:ext uri="{BB962C8B-B14F-4D97-AF65-F5344CB8AC3E}">
        <p14:creationId xmlns:p14="http://schemas.microsoft.com/office/powerpoint/2010/main" val="3125869183"/>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Trial Results</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70399" y="799306"/>
            <a:ext cx="11337324" cy="4978829"/>
          </a:xfrm>
        </p:spPr>
        <p:txBody>
          <a:bodyPr>
            <a:normAutofit/>
          </a:bodyPr>
          <a:lstStyle/>
          <a:p>
            <a:pPr lvl="1"/>
            <a:r>
              <a:rPr lang="en-US" dirty="0"/>
              <a:t>Results were compared to an updated truth FEM model</a:t>
            </a:r>
          </a:p>
          <a:p>
            <a:pPr lvl="2"/>
            <a:endParaRPr lang="en-US" dirty="0"/>
          </a:p>
          <a:p>
            <a:pPr marL="201159" lvl="1" indent="0">
              <a:buNone/>
            </a:pPr>
            <a:endParaRPr lang="en-US" b="1" dirty="0"/>
          </a:p>
        </p:txBody>
      </p:sp>
      <p:pic>
        <p:nvPicPr>
          <p:cNvPr id="26" name="Picture 25">
            <a:extLst>
              <a:ext uri="{FF2B5EF4-FFF2-40B4-BE49-F238E27FC236}">
                <a16:creationId xmlns:a16="http://schemas.microsoft.com/office/drawing/2014/main" id="{165EB052-9D02-4CE7-A894-33DD3C176EF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l="25244" t="29444" r="26968" b="32222"/>
          <a:stretch/>
        </p:blipFill>
        <p:spPr>
          <a:xfrm>
            <a:off x="5781907" y="1521516"/>
            <a:ext cx="2876199" cy="1301362"/>
          </a:xfrm>
          <a:prstGeom prst="rect">
            <a:avLst/>
          </a:prstGeom>
        </p:spPr>
      </p:pic>
      <p:pic>
        <p:nvPicPr>
          <p:cNvPr id="27" name="Picture 26">
            <a:extLst>
              <a:ext uri="{FF2B5EF4-FFF2-40B4-BE49-F238E27FC236}">
                <a16:creationId xmlns:a16="http://schemas.microsoft.com/office/drawing/2014/main" id="{1F0A0F77-2373-42B7-9A37-5B66819ED79C}"/>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l="23834" t="28228" r="25244" b="29583"/>
          <a:stretch/>
        </p:blipFill>
        <p:spPr>
          <a:xfrm>
            <a:off x="5781907" y="2896258"/>
            <a:ext cx="3076576" cy="1437732"/>
          </a:xfrm>
          <a:prstGeom prst="rect">
            <a:avLst/>
          </a:prstGeom>
        </p:spPr>
      </p:pic>
      <p:pic>
        <p:nvPicPr>
          <p:cNvPr id="28" name="Picture 27">
            <a:extLst>
              <a:ext uri="{FF2B5EF4-FFF2-40B4-BE49-F238E27FC236}">
                <a16:creationId xmlns:a16="http://schemas.microsoft.com/office/drawing/2014/main" id="{0CC08F56-1A43-45FA-852D-70F5BC13DFD1}"/>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l="24303" t="26944" r="25872" b="29583"/>
          <a:stretch/>
        </p:blipFill>
        <p:spPr>
          <a:xfrm>
            <a:off x="8967652" y="1521516"/>
            <a:ext cx="3076577" cy="1514101"/>
          </a:xfrm>
          <a:prstGeom prst="rect">
            <a:avLst/>
          </a:prstGeom>
        </p:spPr>
      </p:pic>
      <p:pic>
        <p:nvPicPr>
          <p:cNvPr id="29" name="Picture 28">
            <a:extLst>
              <a:ext uri="{FF2B5EF4-FFF2-40B4-BE49-F238E27FC236}">
                <a16:creationId xmlns:a16="http://schemas.microsoft.com/office/drawing/2014/main" id="{23E7EAAB-35E6-4F76-835C-2166588883C3}"/>
              </a:ext>
            </a:extLst>
          </p:cNvPr>
          <p:cNvPicPr>
            <a:picLocks noChangeAspect="1"/>
          </p:cNvPicPr>
          <p:nvPr/>
        </p:nvPicPr>
        <p:blipFill rotWithShape="1">
          <a:blip r:embed="rId5" cstate="print">
            <a:extLst>
              <a:ext uri="{28A0092B-C50C-407E-A947-70E740481C1C}">
                <a14:useLocalDpi xmlns:a14="http://schemas.microsoft.com/office/drawing/2010/main"/>
              </a:ext>
            </a:extLst>
          </a:blip>
          <a:srcRect l="27447" t="29444" r="29007" b="28055"/>
          <a:stretch/>
        </p:blipFill>
        <p:spPr>
          <a:xfrm>
            <a:off x="5982284" y="4583320"/>
            <a:ext cx="2876199" cy="1583380"/>
          </a:xfrm>
          <a:prstGeom prst="rect">
            <a:avLst/>
          </a:prstGeom>
        </p:spPr>
      </p:pic>
      <p:pic>
        <p:nvPicPr>
          <p:cNvPr id="30" name="Picture 29">
            <a:extLst>
              <a:ext uri="{FF2B5EF4-FFF2-40B4-BE49-F238E27FC236}">
                <a16:creationId xmlns:a16="http://schemas.microsoft.com/office/drawing/2014/main" id="{85C8C1E7-A33D-4CA2-AA27-0F3CB28D780E}"/>
              </a:ext>
            </a:extLst>
          </p:cNvPr>
          <p:cNvPicPr>
            <a:picLocks noChangeAspect="1"/>
          </p:cNvPicPr>
          <p:nvPr/>
        </p:nvPicPr>
        <p:blipFill rotWithShape="1">
          <a:blip r:embed="rId6" cstate="print">
            <a:extLst>
              <a:ext uri="{28A0092B-C50C-407E-A947-70E740481C1C}">
                <a14:useLocalDpi xmlns:a14="http://schemas.microsoft.com/office/drawing/2010/main"/>
              </a:ext>
            </a:extLst>
          </a:blip>
          <a:srcRect l="27700" t="28228" r="28456" b="30695"/>
          <a:stretch/>
        </p:blipFill>
        <p:spPr>
          <a:xfrm>
            <a:off x="9067039" y="3036112"/>
            <a:ext cx="2742847" cy="1449472"/>
          </a:xfrm>
          <a:prstGeom prst="rect">
            <a:avLst/>
          </a:prstGeom>
        </p:spPr>
      </p:pic>
      <p:pic>
        <p:nvPicPr>
          <p:cNvPr id="31" name="Picture 30">
            <a:extLst>
              <a:ext uri="{FF2B5EF4-FFF2-40B4-BE49-F238E27FC236}">
                <a16:creationId xmlns:a16="http://schemas.microsoft.com/office/drawing/2014/main" id="{031B314B-7FFC-42FD-94E6-4C7E48288FED}"/>
              </a:ext>
            </a:extLst>
          </p:cNvPr>
          <p:cNvPicPr>
            <a:picLocks noChangeAspect="1"/>
          </p:cNvPicPr>
          <p:nvPr/>
        </p:nvPicPr>
        <p:blipFill rotWithShape="1">
          <a:blip r:embed="rId7" cstate="print">
            <a:extLst>
              <a:ext uri="{28A0092B-C50C-407E-A947-70E740481C1C}">
                <a14:useLocalDpi xmlns:a14="http://schemas.microsoft.com/office/drawing/2010/main"/>
              </a:ext>
            </a:extLst>
          </a:blip>
          <a:srcRect l="27447" t="32266" r="29007" b="34861"/>
          <a:stretch/>
        </p:blipFill>
        <p:spPr>
          <a:xfrm>
            <a:off x="9344875" y="4861860"/>
            <a:ext cx="2742093" cy="1167601"/>
          </a:xfrm>
          <a:prstGeom prst="rect">
            <a:avLst/>
          </a:prstGeom>
        </p:spPr>
      </p:pic>
      <p:sp>
        <p:nvSpPr>
          <p:cNvPr id="32" name="TextBox 31">
            <a:extLst>
              <a:ext uri="{FF2B5EF4-FFF2-40B4-BE49-F238E27FC236}">
                <a16:creationId xmlns:a16="http://schemas.microsoft.com/office/drawing/2014/main" id="{DF3F36BC-B652-4611-AB9F-E12898CBB9CA}"/>
              </a:ext>
            </a:extLst>
          </p:cNvPr>
          <p:cNvSpPr txBox="1"/>
          <p:nvPr/>
        </p:nvSpPr>
        <p:spPr>
          <a:xfrm>
            <a:off x="5841675" y="1315786"/>
            <a:ext cx="881973"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64.0 Hz</a:t>
            </a:r>
          </a:p>
        </p:txBody>
      </p:sp>
      <p:sp>
        <p:nvSpPr>
          <p:cNvPr id="33" name="TextBox 32">
            <a:extLst>
              <a:ext uri="{FF2B5EF4-FFF2-40B4-BE49-F238E27FC236}">
                <a16:creationId xmlns:a16="http://schemas.microsoft.com/office/drawing/2014/main" id="{23E97919-4A4E-47F7-8837-39CD8DFDFD48}"/>
              </a:ext>
            </a:extLst>
          </p:cNvPr>
          <p:cNvSpPr txBox="1"/>
          <p:nvPr/>
        </p:nvSpPr>
        <p:spPr>
          <a:xfrm>
            <a:off x="9105299" y="4403702"/>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332 Hz</a:t>
            </a:r>
          </a:p>
        </p:txBody>
      </p:sp>
      <p:sp>
        <p:nvSpPr>
          <p:cNvPr id="34" name="TextBox 33">
            <a:extLst>
              <a:ext uri="{FF2B5EF4-FFF2-40B4-BE49-F238E27FC236}">
                <a16:creationId xmlns:a16="http://schemas.microsoft.com/office/drawing/2014/main" id="{B6285604-319F-4887-8F98-6A35A59D11B8}"/>
              </a:ext>
            </a:extLst>
          </p:cNvPr>
          <p:cNvSpPr txBox="1"/>
          <p:nvPr/>
        </p:nvSpPr>
        <p:spPr>
          <a:xfrm>
            <a:off x="9067039" y="1312325"/>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233 Hz</a:t>
            </a:r>
          </a:p>
        </p:txBody>
      </p:sp>
      <p:sp>
        <p:nvSpPr>
          <p:cNvPr id="35" name="TextBox 34">
            <a:extLst>
              <a:ext uri="{FF2B5EF4-FFF2-40B4-BE49-F238E27FC236}">
                <a16:creationId xmlns:a16="http://schemas.microsoft.com/office/drawing/2014/main" id="{79AD570E-EC40-4BEA-838D-8C1C851ED85B}"/>
              </a:ext>
            </a:extLst>
          </p:cNvPr>
          <p:cNvSpPr txBox="1"/>
          <p:nvPr/>
        </p:nvSpPr>
        <p:spPr>
          <a:xfrm>
            <a:off x="5781907" y="4376000"/>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238 Hz</a:t>
            </a:r>
          </a:p>
        </p:txBody>
      </p:sp>
      <p:sp>
        <p:nvSpPr>
          <p:cNvPr id="36" name="TextBox 35">
            <a:extLst>
              <a:ext uri="{FF2B5EF4-FFF2-40B4-BE49-F238E27FC236}">
                <a16:creationId xmlns:a16="http://schemas.microsoft.com/office/drawing/2014/main" id="{5B730597-B871-4102-A016-1F2093CEBF64}"/>
              </a:ext>
            </a:extLst>
          </p:cNvPr>
          <p:cNvSpPr txBox="1"/>
          <p:nvPr/>
        </p:nvSpPr>
        <p:spPr>
          <a:xfrm>
            <a:off x="9105299" y="2777943"/>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293 Hz</a:t>
            </a:r>
          </a:p>
        </p:txBody>
      </p:sp>
      <p:sp>
        <p:nvSpPr>
          <p:cNvPr id="37" name="TextBox 36">
            <a:extLst>
              <a:ext uri="{FF2B5EF4-FFF2-40B4-BE49-F238E27FC236}">
                <a16:creationId xmlns:a16="http://schemas.microsoft.com/office/drawing/2014/main" id="{5B02F555-E3F3-4233-970E-C4F62D262A4E}"/>
              </a:ext>
            </a:extLst>
          </p:cNvPr>
          <p:cNvSpPr txBox="1"/>
          <p:nvPr/>
        </p:nvSpPr>
        <p:spPr>
          <a:xfrm>
            <a:off x="5849967" y="2777943"/>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115 Hz</a:t>
            </a:r>
          </a:p>
        </p:txBody>
      </p:sp>
      <p:pic>
        <p:nvPicPr>
          <p:cNvPr id="38" name="Picture 37" descr="Diagram, engineering drawing&#10;&#10;Description automatically generated">
            <a:extLst>
              <a:ext uri="{FF2B5EF4-FFF2-40B4-BE49-F238E27FC236}">
                <a16:creationId xmlns:a16="http://schemas.microsoft.com/office/drawing/2014/main" id="{53A80536-D7CA-4884-A081-520ED5310D4F}"/>
              </a:ext>
            </a:extLst>
          </p:cNvPr>
          <p:cNvPicPr>
            <a:picLocks noChangeAspect="1"/>
          </p:cNvPicPr>
          <p:nvPr/>
        </p:nvPicPr>
        <p:blipFill rotWithShape="1">
          <a:blip r:embed="rId8" cstate="print">
            <a:extLst>
              <a:ext uri="{28A0092B-C50C-407E-A947-70E740481C1C}">
                <a14:useLocalDpi xmlns:a14="http://schemas.microsoft.com/office/drawing/2010/main"/>
              </a:ext>
            </a:extLst>
          </a:blip>
          <a:srcRect/>
          <a:stretch/>
        </p:blipFill>
        <p:spPr>
          <a:xfrm>
            <a:off x="247099" y="1372422"/>
            <a:ext cx="2514600" cy="1450456"/>
          </a:xfrm>
          <a:prstGeom prst="rect">
            <a:avLst/>
          </a:prstGeom>
        </p:spPr>
      </p:pic>
      <p:pic>
        <p:nvPicPr>
          <p:cNvPr id="39" name="Picture 38" descr="Diagram&#10;&#10;Description automatically generated">
            <a:extLst>
              <a:ext uri="{FF2B5EF4-FFF2-40B4-BE49-F238E27FC236}">
                <a16:creationId xmlns:a16="http://schemas.microsoft.com/office/drawing/2014/main" id="{4286945F-9792-4A21-AB2B-11CE5E83B2BD}"/>
              </a:ext>
            </a:extLst>
          </p:cNvPr>
          <p:cNvPicPr>
            <a:picLocks noChangeAspect="1"/>
          </p:cNvPicPr>
          <p:nvPr/>
        </p:nvPicPr>
        <p:blipFill rotWithShape="1">
          <a:blip r:embed="rId9" cstate="print">
            <a:extLst>
              <a:ext uri="{28A0092B-C50C-407E-A947-70E740481C1C}">
                <a14:useLocalDpi xmlns:a14="http://schemas.microsoft.com/office/drawing/2010/main"/>
              </a:ext>
            </a:extLst>
          </a:blip>
          <a:srcRect/>
          <a:stretch/>
        </p:blipFill>
        <p:spPr>
          <a:xfrm>
            <a:off x="247099" y="2874305"/>
            <a:ext cx="2514600" cy="1395763"/>
          </a:xfrm>
          <a:prstGeom prst="rect">
            <a:avLst/>
          </a:prstGeom>
        </p:spPr>
      </p:pic>
      <p:pic>
        <p:nvPicPr>
          <p:cNvPr id="40" name="Picture 39" descr="Chart&#10;&#10;Description automatically generated">
            <a:extLst>
              <a:ext uri="{FF2B5EF4-FFF2-40B4-BE49-F238E27FC236}">
                <a16:creationId xmlns:a16="http://schemas.microsoft.com/office/drawing/2014/main" id="{DB2CB02F-C200-4CB0-932B-AE8780D9B048}"/>
              </a:ext>
            </a:extLst>
          </p:cNvPr>
          <p:cNvPicPr>
            <a:picLocks noChangeAspect="1"/>
          </p:cNvPicPr>
          <p:nvPr/>
        </p:nvPicPr>
        <p:blipFill rotWithShape="1">
          <a:blip r:embed="rId10" cstate="print">
            <a:extLst>
              <a:ext uri="{28A0092B-C50C-407E-A947-70E740481C1C}">
                <a14:useLocalDpi xmlns:a14="http://schemas.microsoft.com/office/drawing/2010/main"/>
              </a:ext>
            </a:extLst>
          </a:blip>
          <a:srcRect/>
          <a:stretch/>
        </p:blipFill>
        <p:spPr>
          <a:xfrm>
            <a:off x="295844" y="4587776"/>
            <a:ext cx="2514600" cy="1326868"/>
          </a:xfrm>
          <a:prstGeom prst="rect">
            <a:avLst/>
          </a:prstGeom>
        </p:spPr>
      </p:pic>
      <p:pic>
        <p:nvPicPr>
          <p:cNvPr id="41" name="Picture 40" descr="A picture containing chart, diagram&#10;&#10;Description automatically generated">
            <a:extLst>
              <a:ext uri="{FF2B5EF4-FFF2-40B4-BE49-F238E27FC236}">
                <a16:creationId xmlns:a16="http://schemas.microsoft.com/office/drawing/2014/main" id="{6A960957-3768-4FBD-BFFC-3D0159DE9CB5}"/>
              </a:ext>
            </a:extLst>
          </p:cNvPr>
          <p:cNvPicPr>
            <a:picLocks noChangeAspect="1"/>
          </p:cNvPicPr>
          <p:nvPr/>
        </p:nvPicPr>
        <p:blipFill rotWithShape="1">
          <a:blip r:embed="rId11" cstate="print">
            <a:extLst>
              <a:ext uri="{28A0092B-C50C-407E-A947-70E740481C1C}">
                <a14:useLocalDpi xmlns:a14="http://schemas.microsoft.com/office/drawing/2010/main"/>
              </a:ext>
            </a:extLst>
          </a:blip>
          <a:srcRect/>
          <a:stretch/>
        </p:blipFill>
        <p:spPr>
          <a:xfrm>
            <a:off x="2978992" y="1582560"/>
            <a:ext cx="2514600" cy="1258557"/>
          </a:xfrm>
          <a:prstGeom prst="rect">
            <a:avLst/>
          </a:prstGeom>
        </p:spPr>
      </p:pic>
      <p:pic>
        <p:nvPicPr>
          <p:cNvPr id="42" name="Picture 41" descr="A picture containing diagram&#10;&#10;Description automatically generated">
            <a:extLst>
              <a:ext uri="{FF2B5EF4-FFF2-40B4-BE49-F238E27FC236}">
                <a16:creationId xmlns:a16="http://schemas.microsoft.com/office/drawing/2014/main" id="{D912025A-D68B-4017-9911-7660AC8B6075}"/>
              </a:ext>
            </a:extLst>
          </p:cNvPr>
          <p:cNvPicPr>
            <a:picLocks noChangeAspect="1"/>
          </p:cNvPicPr>
          <p:nvPr/>
        </p:nvPicPr>
        <p:blipFill rotWithShape="1">
          <a:blip r:embed="rId12" cstate="print">
            <a:extLst>
              <a:ext uri="{28A0092B-C50C-407E-A947-70E740481C1C}">
                <a14:useLocalDpi xmlns:a14="http://schemas.microsoft.com/office/drawing/2010/main"/>
              </a:ext>
            </a:extLst>
          </a:blip>
          <a:srcRect/>
          <a:stretch/>
        </p:blipFill>
        <p:spPr>
          <a:xfrm>
            <a:off x="2957761" y="2874299"/>
            <a:ext cx="2514600" cy="1452413"/>
          </a:xfrm>
          <a:prstGeom prst="rect">
            <a:avLst/>
          </a:prstGeom>
        </p:spPr>
      </p:pic>
      <p:pic>
        <p:nvPicPr>
          <p:cNvPr id="43" name="Picture 42" descr="A picture containing diagram&#10;&#10;Description automatically generated">
            <a:extLst>
              <a:ext uri="{FF2B5EF4-FFF2-40B4-BE49-F238E27FC236}">
                <a16:creationId xmlns:a16="http://schemas.microsoft.com/office/drawing/2014/main" id="{835FBAB3-DB34-426A-997B-A0E49B370DE0}"/>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3003223" y="4718602"/>
            <a:ext cx="2514600" cy="1312730"/>
          </a:xfrm>
          <a:prstGeom prst="rect">
            <a:avLst/>
          </a:prstGeom>
        </p:spPr>
      </p:pic>
      <p:sp>
        <p:nvSpPr>
          <p:cNvPr id="44" name="TextBox 43">
            <a:extLst>
              <a:ext uri="{FF2B5EF4-FFF2-40B4-BE49-F238E27FC236}">
                <a16:creationId xmlns:a16="http://schemas.microsoft.com/office/drawing/2014/main" id="{A91AA4A9-204D-4705-867B-F15B3685700D}"/>
              </a:ext>
            </a:extLst>
          </p:cNvPr>
          <p:cNvSpPr txBox="1"/>
          <p:nvPr/>
        </p:nvSpPr>
        <p:spPr>
          <a:xfrm>
            <a:off x="112182" y="1312325"/>
            <a:ext cx="881973"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58.8 Hz</a:t>
            </a:r>
          </a:p>
        </p:txBody>
      </p:sp>
      <p:sp>
        <p:nvSpPr>
          <p:cNvPr id="45" name="TextBox 44">
            <a:extLst>
              <a:ext uri="{FF2B5EF4-FFF2-40B4-BE49-F238E27FC236}">
                <a16:creationId xmlns:a16="http://schemas.microsoft.com/office/drawing/2014/main" id="{B801E5A0-3389-4B59-9B51-5EF50D943823}"/>
              </a:ext>
            </a:extLst>
          </p:cNvPr>
          <p:cNvSpPr txBox="1"/>
          <p:nvPr/>
        </p:nvSpPr>
        <p:spPr>
          <a:xfrm>
            <a:off x="120487" y="2775394"/>
            <a:ext cx="881973"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98.3 Hz</a:t>
            </a:r>
          </a:p>
        </p:txBody>
      </p:sp>
      <p:sp>
        <p:nvSpPr>
          <p:cNvPr id="46" name="TextBox 45">
            <a:extLst>
              <a:ext uri="{FF2B5EF4-FFF2-40B4-BE49-F238E27FC236}">
                <a16:creationId xmlns:a16="http://schemas.microsoft.com/office/drawing/2014/main" id="{83E1BB58-AB60-4852-9000-06605D31177E}"/>
              </a:ext>
            </a:extLst>
          </p:cNvPr>
          <p:cNvSpPr txBox="1"/>
          <p:nvPr/>
        </p:nvSpPr>
        <p:spPr>
          <a:xfrm>
            <a:off x="169232" y="4376000"/>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212 Hz</a:t>
            </a:r>
          </a:p>
        </p:txBody>
      </p:sp>
      <p:sp>
        <p:nvSpPr>
          <p:cNvPr id="47" name="TextBox 46">
            <a:extLst>
              <a:ext uri="{FF2B5EF4-FFF2-40B4-BE49-F238E27FC236}">
                <a16:creationId xmlns:a16="http://schemas.microsoft.com/office/drawing/2014/main" id="{609D024E-0E80-40F0-B6F5-0FCC3FBED74A}"/>
              </a:ext>
            </a:extLst>
          </p:cNvPr>
          <p:cNvSpPr txBox="1"/>
          <p:nvPr/>
        </p:nvSpPr>
        <p:spPr>
          <a:xfrm>
            <a:off x="2960723" y="1312325"/>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218 Hz</a:t>
            </a:r>
          </a:p>
        </p:txBody>
      </p:sp>
      <p:sp>
        <p:nvSpPr>
          <p:cNvPr id="48" name="TextBox 47">
            <a:extLst>
              <a:ext uri="{FF2B5EF4-FFF2-40B4-BE49-F238E27FC236}">
                <a16:creationId xmlns:a16="http://schemas.microsoft.com/office/drawing/2014/main" id="{67789D38-D705-47C1-BD86-36D30A8DFDE8}"/>
              </a:ext>
            </a:extLst>
          </p:cNvPr>
          <p:cNvSpPr txBox="1"/>
          <p:nvPr/>
        </p:nvSpPr>
        <p:spPr>
          <a:xfrm>
            <a:off x="2969029" y="2781494"/>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272 Hz</a:t>
            </a:r>
          </a:p>
        </p:txBody>
      </p:sp>
      <p:sp>
        <p:nvSpPr>
          <p:cNvPr id="49" name="TextBox 48">
            <a:extLst>
              <a:ext uri="{FF2B5EF4-FFF2-40B4-BE49-F238E27FC236}">
                <a16:creationId xmlns:a16="http://schemas.microsoft.com/office/drawing/2014/main" id="{51F26A3E-C793-4A80-A8A2-945F445E3019}"/>
              </a:ext>
            </a:extLst>
          </p:cNvPr>
          <p:cNvSpPr txBox="1"/>
          <p:nvPr/>
        </p:nvSpPr>
        <p:spPr>
          <a:xfrm>
            <a:off x="3080491" y="4385064"/>
            <a:ext cx="824265" cy="369332"/>
          </a:xfrm>
          <a:prstGeom prst="rect">
            <a:avLst/>
          </a:prstGeom>
          <a:solidFill>
            <a:schemeClr val="bg1"/>
          </a:solidFill>
          <a:ln w="19050">
            <a:solidFill>
              <a:schemeClr val="tx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293 Hz</a:t>
            </a:r>
          </a:p>
        </p:txBody>
      </p:sp>
    </p:spTree>
    <p:extLst>
      <p:ext uri="{BB962C8B-B14F-4D97-AF65-F5344CB8AC3E}">
        <p14:creationId xmlns:p14="http://schemas.microsoft.com/office/powerpoint/2010/main" val="4175155003"/>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2FE0D-4A8C-42E3-9B84-3A2AB8B8B492}"/>
              </a:ext>
            </a:extLst>
          </p:cNvPr>
          <p:cNvSpPr>
            <a:spLocks noGrp="1"/>
          </p:cNvSpPr>
          <p:nvPr>
            <p:ph type="title"/>
          </p:nvPr>
        </p:nvSpPr>
        <p:spPr/>
        <p:txBody>
          <a:bodyPr>
            <a:normAutofit fontScale="90000"/>
          </a:bodyPr>
          <a:lstStyle/>
          <a:p>
            <a:r>
              <a:rPr lang="en-US" dirty="0"/>
              <a:t>Trial Results #2</a:t>
            </a:r>
          </a:p>
        </p:txBody>
      </p:sp>
      <p:sp>
        <p:nvSpPr>
          <p:cNvPr id="10" name="Content Placeholder 2">
            <a:extLst>
              <a:ext uri="{FF2B5EF4-FFF2-40B4-BE49-F238E27FC236}">
                <a16:creationId xmlns:a16="http://schemas.microsoft.com/office/drawing/2014/main" id="{148553B1-3005-437A-9555-5FDA937C490D}"/>
              </a:ext>
            </a:extLst>
          </p:cNvPr>
          <p:cNvSpPr>
            <a:spLocks noGrp="1"/>
          </p:cNvSpPr>
          <p:nvPr>
            <p:ph idx="1"/>
          </p:nvPr>
        </p:nvSpPr>
        <p:spPr>
          <a:xfrm>
            <a:off x="105032" y="939586"/>
            <a:ext cx="11337324" cy="884982"/>
          </a:xfrm>
        </p:spPr>
        <p:txBody>
          <a:bodyPr>
            <a:normAutofit/>
          </a:bodyPr>
          <a:lstStyle/>
          <a:p>
            <a:pPr lvl="1"/>
            <a:r>
              <a:rPr lang="en-US" dirty="0"/>
              <a:t>Mode matching provided good predictions of mode shape and frequency with some spurious modes</a:t>
            </a:r>
          </a:p>
          <a:p>
            <a:pPr lvl="2"/>
            <a:endParaRPr lang="en-US" dirty="0"/>
          </a:p>
          <a:p>
            <a:pPr marL="201159" lvl="1" indent="0">
              <a:buNone/>
            </a:pPr>
            <a:endParaRPr lang="en-US" b="1" dirty="0"/>
          </a:p>
        </p:txBody>
      </p:sp>
      <p:pic>
        <p:nvPicPr>
          <p:cNvPr id="5" name="Picture 4">
            <a:extLst>
              <a:ext uri="{FF2B5EF4-FFF2-40B4-BE49-F238E27FC236}">
                <a16:creationId xmlns:a16="http://schemas.microsoft.com/office/drawing/2014/main" id="{58BC1F19-3F9C-49E9-B904-C9E2A4C82FF9}"/>
              </a:ext>
            </a:extLst>
          </p:cNvPr>
          <p:cNvPicPr>
            <a:picLocks noChangeAspect="1"/>
          </p:cNvPicPr>
          <p:nvPr/>
        </p:nvPicPr>
        <p:blipFill>
          <a:blip r:embed="rId2"/>
          <a:srcRect l="13553" r="22303"/>
          <a:stretch/>
        </p:blipFill>
        <p:spPr>
          <a:xfrm>
            <a:off x="6777034" y="1768690"/>
            <a:ext cx="5309934" cy="4149724"/>
          </a:xfrm>
          <a:prstGeom prst="rect">
            <a:avLst/>
          </a:prstGeom>
        </p:spPr>
      </p:pic>
      <p:pic>
        <p:nvPicPr>
          <p:cNvPr id="7" name="Picture 6">
            <a:extLst>
              <a:ext uri="{FF2B5EF4-FFF2-40B4-BE49-F238E27FC236}">
                <a16:creationId xmlns:a16="http://schemas.microsoft.com/office/drawing/2014/main" id="{BFBE132E-7378-4962-8567-9FF4E6B35282}"/>
              </a:ext>
            </a:extLst>
          </p:cNvPr>
          <p:cNvPicPr>
            <a:picLocks noChangeAspect="1"/>
          </p:cNvPicPr>
          <p:nvPr/>
        </p:nvPicPr>
        <p:blipFill>
          <a:blip r:embed="rId3"/>
          <a:srcRect r="6761"/>
          <a:stretch/>
        </p:blipFill>
        <p:spPr>
          <a:xfrm>
            <a:off x="1" y="1974175"/>
            <a:ext cx="6792488" cy="3651925"/>
          </a:xfrm>
          <a:prstGeom prst="rect">
            <a:avLst/>
          </a:prstGeom>
        </p:spPr>
      </p:pic>
      <p:sp>
        <p:nvSpPr>
          <p:cNvPr id="9" name="TextBox 8">
            <a:extLst>
              <a:ext uri="{FF2B5EF4-FFF2-40B4-BE49-F238E27FC236}">
                <a16:creationId xmlns:a16="http://schemas.microsoft.com/office/drawing/2014/main" id="{975D7CAB-6CF1-4629-9DB0-ED5D2D36708D}"/>
              </a:ext>
            </a:extLst>
          </p:cNvPr>
          <p:cNvSpPr txBox="1"/>
          <p:nvPr/>
        </p:nvSpPr>
        <p:spPr>
          <a:xfrm>
            <a:off x="1039297" y="2353106"/>
            <a:ext cx="2093369" cy="646331"/>
          </a:xfrm>
          <a:prstGeom prst="rect">
            <a:avLst/>
          </a:prstGeom>
          <a:solidFill>
            <a:schemeClr val="bg1"/>
          </a:solidFill>
          <a:ln>
            <a:solidFill>
              <a:schemeClr val="tx1"/>
            </a:solid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4040FF"/>
                </a:solidFill>
                <a:effectLst/>
                <a:uLnTx/>
                <a:uFillTx/>
                <a:latin typeface="Trebuchet MS" panose="020B0603020202020204"/>
                <a:ea typeface="+mn-ea"/>
                <a:cs typeface="+mn-cs"/>
              </a:rPr>
              <a:t>Hybrid Prediction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0000"/>
                </a:solidFill>
                <a:effectLst/>
                <a:uLnTx/>
                <a:uFillTx/>
                <a:latin typeface="Trebuchet MS" panose="020B0603020202020204"/>
                <a:ea typeface="+mn-ea"/>
                <a:cs typeface="+mn-cs"/>
              </a:rPr>
              <a:t>FEM Result</a:t>
            </a:r>
          </a:p>
        </p:txBody>
      </p:sp>
    </p:spTree>
    <p:extLst>
      <p:ext uri="{BB962C8B-B14F-4D97-AF65-F5344CB8AC3E}">
        <p14:creationId xmlns:p14="http://schemas.microsoft.com/office/powerpoint/2010/main" val="916397320"/>
      </p:ext>
    </p:extLst>
  </p:cSld>
  <p:clrMapOvr>
    <a:masterClrMapping/>
  </p:clrMapOvr>
  <mc:AlternateContent xmlns:mc="http://schemas.openxmlformats.org/markup-compatibility/2006" xmlns:p14="http://schemas.microsoft.com/office/powerpoint/2010/main">
    <mc:Choice Requires="p14">
      <p:transition spd="med" p14:dur="700" advTm="20187">
        <p:fade/>
      </p:transition>
    </mc:Choice>
    <mc:Fallback xmlns="">
      <p:transition spd="med" advTm="20187">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F9B793D8-CF0D-49DF-821A-86EA64D0D21A}"/>
              </a:ext>
            </a:extLst>
          </p:cNvPr>
          <p:cNvSpPr>
            <a:spLocks noGrp="1"/>
          </p:cNvSpPr>
          <p:nvPr>
            <p:ph idx="1"/>
          </p:nvPr>
        </p:nvSpPr>
        <p:spPr>
          <a:xfrm>
            <a:off x="0" y="596899"/>
            <a:ext cx="12192000" cy="5795433"/>
          </a:xfrm>
        </p:spPr>
        <p:txBody>
          <a:bodyPr>
            <a:normAutofit/>
          </a:bodyPr>
          <a:lstStyle/>
          <a:p>
            <a:pPr marL="0" indent="0" algn="ctr">
              <a:spcBef>
                <a:spcPts val="1800"/>
              </a:spcBef>
              <a:spcAft>
                <a:spcPts val="600"/>
              </a:spcAft>
              <a:buNone/>
            </a:pPr>
            <a:r>
              <a:rPr lang="en-US" sz="4000" dirty="0"/>
              <a:t>Let’s put this mornings lectures to use!</a:t>
            </a:r>
          </a:p>
          <a:p>
            <a:pPr marL="0" indent="0" algn="ctr">
              <a:spcBef>
                <a:spcPts val="1800"/>
              </a:spcBef>
              <a:spcAft>
                <a:spcPts val="600"/>
              </a:spcAft>
              <a:buNone/>
            </a:pPr>
            <a:endParaRPr lang="en-US" sz="4000" dirty="0"/>
          </a:p>
          <a:p>
            <a:pPr marL="0" indent="0" algn="ctr">
              <a:spcBef>
                <a:spcPts val="1800"/>
              </a:spcBef>
              <a:spcAft>
                <a:spcPts val="600"/>
              </a:spcAft>
              <a:buNone/>
            </a:pPr>
            <a:endParaRPr lang="en-US" sz="4000" dirty="0"/>
          </a:p>
          <a:p>
            <a:pPr marL="0" indent="0" algn="ctr">
              <a:spcBef>
                <a:spcPts val="1800"/>
              </a:spcBef>
              <a:spcAft>
                <a:spcPts val="600"/>
              </a:spcAft>
              <a:buNone/>
            </a:pPr>
            <a:endParaRPr lang="en-US" sz="4000" dirty="0"/>
          </a:p>
          <a:p>
            <a:pPr marL="0" indent="0" algn="ctr">
              <a:spcBef>
                <a:spcPts val="1800"/>
              </a:spcBef>
              <a:spcAft>
                <a:spcPts val="600"/>
              </a:spcAft>
              <a:buNone/>
            </a:pPr>
            <a:endParaRPr lang="en-US" sz="4000" dirty="0"/>
          </a:p>
          <a:p>
            <a:pPr marL="0" indent="0" algn="ctr">
              <a:spcBef>
                <a:spcPts val="1800"/>
              </a:spcBef>
              <a:spcAft>
                <a:spcPts val="600"/>
              </a:spcAft>
              <a:buNone/>
            </a:pPr>
            <a:r>
              <a:rPr lang="en-US" sz="4000" dirty="0"/>
              <a:t>Through the rest of Module 7 we will attempt linear substructuring with real Frame &amp; Wing test data!</a:t>
            </a:r>
          </a:p>
        </p:txBody>
      </p:sp>
      <p:pic>
        <p:nvPicPr>
          <p:cNvPr id="39" name="Picture 38">
            <a:extLst>
              <a:ext uri="{FF2B5EF4-FFF2-40B4-BE49-F238E27FC236}">
                <a16:creationId xmlns:a16="http://schemas.microsoft.com/office/drawing/2014/main" id="{1A741731-D3AE-4940-A9E8-37C1C2630232}"/>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89022" y="1346200"/>
            <a:ext cx="4413956" cy="3310467"/>
          </a:xfrm>
          <a:prstGeom prst="rect">
            <a:avLst/>
          </a:prstGeom>
        </p:spPr>
      </p:pic>
    </p:spTree>
    <p:extLst>
      <p:ext uri="{BB962C8B-B14F-4D97-AF65-F5344CB8AC3E}">
        <p14:creationId xmlns:p14="http://schemas.microsoft.com/office/powerpoint/2010/main" val="2953972397"/>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213DD2-505F-4438-92A8-C7D418A0846B}"/>
              </a:ext>
            </a:extLst>
          </p:cNvPr>
          <p:cNvSpPr/>
          <p:nvPr/>
        </p:nvSpPr>
        <p:spPr>
          <a:xfrm>
            <a:off x="909412" y="4564340"/>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B30DC50B-4994-4575-839E-6111C94EEDC0}"/>
              </a:ext>
            </a:extLst>
          </p:cNvPr>
          <p:cNvSpPr/>
          <p:nvPr/>
        </p:nvSpPr>
        <p:spPr>
          <a:xfrm>
            <a:off x="1989190" y="4564342"/>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Substructuring Diagram</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33017" y="933753"/>
            <a:ext cx="5882530" cy="2937823"/>
          </a:xfrm>
        </p:spPr>
        <p:txBody>
          <a:bodyPr>
            <a:normAutofit/>
          </a:bodyPr>
          <a:lstStyle/>
          <a:p>
            <a:pPr lvl="1"/>
            <a:r>
              <a:rPr lang="en-US" sz="3200" dirty="0"/>
              <a:t>The goal of this example is to take a frame, plate, and thin-wing assembly, and use experimental substructuring to remove the thin-wing and replace it with the thick-wing. </a:t>
            </a:r>
          </a:p>
        </p:txBody>
      </p:sp>
      <p:sp>
        <p:nvSpPr>
          <p:cNvPr id="4" name="Rectangle 3">
            <a:extLst>
              <a:ext uri="{FF2B5EF4-FFF2-40B4-BE49-F238E27FC236}">
                <a16:creationId xmlns:a16="http://schemas.microsoft.com/office/drawing/2014/main" id="{5D68B286-5280-42C1-946B-DE2E206865F7}"/>
              </a:ext>
            </a:extLst>
          </p:cNvPr>
          <p:cNvSpPr/>
          <p:nvPr/>
        </p:nvSpPr>
        <p:spPr>
          <a:xfrm>
            <a:off x="6433202" y="625411"/>
            <a:ext cx="1358284" cy="3246165"/>
          </a:xfrm>
          <a:prstGeom prst="rect">
            <a:avLst/>
          </a:prstGeom>
          <a:solidFill>
            <a:srgbClr val="008E74"/>
          </a:solidFill>
          <a:ln>
            <a:solidFill>
              <a:srgbClr val="008E7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C48D6C7-D618-4512-A0FB-DF04B3695926}"/>
              </a:ext>
            </a:extLst>
          </p:cNvPr>
          <p:cNvSpPr/>
          <p:nvPr/>
        </p:nvSpPr>
        <p:spPr>
          <a:xfrm>
            <a:off x="6606317" y="806028"/>
            <a:ext cx="1012055" cy="588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C097A3D-5B27-47E2-9BD1-9E6877C43B50}"/>
              </a:ext>
            </a:extLst>
          </p:cNvPr>
          <p:cNvSpPr/>
          <p:nvPr/>
        </p:nvSpPr>
        <p:spPr>
          <a:xfrm>
            <a:off x="6606317" y="1560630"/>
            <a:ext cx="1012055" cy="588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A060E58-5622-43D3-940D-8419273E5003}"/>
              </a:ext>
            </a:extLst>
          </p:cNvPr>
          <p:cNvSpPr/>
          <p:nvPr/>
        </p:nvSpPr>
        <p:spPr>
          <a:xfrm>
            <a:off x="6606317" y="2315232"/>
            <a:ext cx="1012055" cy="588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1551A6E-AEC7-42E2-A091-BA700EB3E76A}"/>
              </a:ext>
            </a:extLst>
          </p:cNvPr>
          <p:cNvSpPr/>
          <p:nvPr/>
        </p:nvSpPr>
        <p:spPr>
          <a:xfrm>
            <a:off x="6606317" y="3069834"/>
            <a:ext cx="1012055" cy="588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605DA49-EC7F-4DA8-9507-CC0D4D7594B6}"/>
              </a:ext>
            </a:extLst>
          </p:cNvPr>
          <p:cNvSpPr/>
          <p:nvPr/>
        </p:nvSpPr>
        <p:spPr>
          <a:xfrm>
            <a:off x="9248991" y="545704"/>
            <a:ext cx="1358284" cy="902060"/>
          </a:xfrm>
          <a:prstGeom prst="rect">
            <a:avLst/>
          </a:prstGeom>
          <a:solidFill>
            <a:srgbClr val="C97195"/>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A01B515-A86D-4CC2-A390-4B3E68714430}"/>
              </a:ext>
            </a:extLst>
          </p:cNvPr>
          <p:cNvSpPr/>
          <p:nvPr/>
        </p:nvSpPr>
        <p:spPr>
          <a:xfrm>
            <a:off x="8174046" y="2969516"/>
            <a:ext cx="3523348" cy="902060"/>
          </a:xfrm>
          <a:prstGeom prst="rect">
            <a:avLst/>
          </a:prstGeom>
          <a:solidFill>
            <a:srgbClr val="9AAC84"/>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BB27F09-3965-483F-A37A-ED3C24B3451F}"/>
              </a:ext>
            </a:extLst>
          </p:cNvPr>
          <p:cNvSpPr txBox="1"/>
          <p:nvPr/>
        </p:nvSpPr>
        <p:spPr>
          <a:xfrm>
            <a:off x="6647376" y="1643999"/>
            <a:ext cx="929936" cy="369332"/>
          </a:xfrm>
          <a:prstGeom prst="rect">
            <a:avLst/>
          </a:prstGeom>
          <a:noFill/>
        </p:spPr>
        <p:txBody>
          <a:bodyPr wrap="square">
            <a:spAutoFit/>
          </a:bodyPr>
          <a:lstStyle/>
          <a:p>
            <a:pPr algn="ctr"/>
            <a:r>
              <a:rPr lang="en-US" dirty="0"/>
              <a:t>Frame</a:t>
            </a:r>
          </a:p>
        </p:txBody>
      </p:sp>
      <p:sp>
        <p:nvSpPr>
          <p:cNvPr id="16" name="TextBox 15">
            <a:extLst>
              <a:ext uri="{FF2B5EF4-FFF2-40B4-BE49-F238E27FC236}">
                <a16:creationId xmlns:a16="http://schemas.microsoft.com/office/drawing/2014/main" id="{A8094253-58F1-45E9-A4EC-A6289DBA0057}"/>
              </a:ext>
            </a:extLst>
          </p:cNvPr>
          <p:cNvSpPr txBox="1"/>
          <p:nvPr/>
        </p:nvSpPr>
        <p:spPr>
          <a:xfrm>
            <a:off x="9248991" y="765829"/>
            <a:ext cx="1358284" cy="369332"/>
          </a:xfrm>
          <a:prstGeom prst="rect">
            <a:avLst/>
          </a:prstGeom>
          <a:noFill/>
        </p:spPr>
        <p:txBody>
          <a:bodyPr wrap="square">
            <a:spAutoFit/>
          </a:bodyPr>
          <a:lstStyle/>
          <a:p>
            <a:pPr algn="ctr"/>
            <a:r>
              <a:rPr lang="en-US" dirty="0"/>
              <a:t>Plate</a:t>
            </a:r>
          </a:p>
        </p:txBody>
      </p:sp>
      <p:sp>
        <p:nvSpPr>
          <p:cNvPr id="18" name="TextBox 17">
            <a:extLst>
              <a:ext uri="{FF2B5EF4-FFF2-40B4-BE49-F238E27FC236}">
                <a16:creationId xmlns:a16="http://schemas.microsoft.com/office/drawing/2014/main" id="{5F65FD4C-B81D-420B-9F0D-101EEB80A4E4}"/>
              </a:ext>
            </a:extLst>
          </p:cNvPr>
          <p:cNvSpPr txBox="1"/>
          <p:nvPr/>
        </p:nvSpPr>
        <p:spPr>
          <a:xfrm>
            <a:off x="8939167" y="3179729"/>
            <a:ext cx="2216905" cy="369332"/>
          </a:xfrm>
          <a:prstGeom prst="rect">
            <a:avLst/>
          </a:prstGeom>
          <a:noFill/>
        </p:spPr>
        <p:txBody>
          <a:bodyPr wrap="square">
            <a:spAutoFit/>
          </a:bodyPr>
          <a:lstStyle/>
          <a:p>
            <a:r>
              <a:rPr lang="en-US" dirty="0"/>
              <a:t>Thick Wing, 1/4”</a:t>
            </a:r>
          </a:p>
        </p:txBody>
      </p:sp>
      <p:pic>
        <p:nvPicPr>
          <p:cNvPr id="6" name="Picture 5">
            <a:extLst>
              <a:ext uri="{FF2B5EF4-FFF2-40B4-BE49-F238E27FC236}">
                <a16:creationId xmlns:a16="http://schemas.microsoft.com/office/drawing/2014/main" id="{EB736EE4-327F-4071-81FB-62FDCA8BE839}"/>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955105" y="3958122"/>
            <a:ext cx="1070755" cy="2534753"/>
          </a:xfrm>
          <a:prstGeom prst="rect">
            <a:avLst/>
          </a:prstGeom>
        </p:spPr>
      </p:pic>
      <p:sp>
        <p:nvSpPr>
          <p:cNvPr id="26" name="Rectangle 25">
            <a:extLst>
              <a:ext uri="{FF2B5EF4-FFF2-40B4-BE49-F238E27FC236}">
                <a16:creationId xmlns:a16="http://schemas.microsoft.com/office/drawing/2014/main" id="{395AD8E9-227C-4AF8-9198-1F268AB885E5}"/>
              </a:ext>
            </a:extLst>
          </p:cNvPr>
          <p:cNvSpPr/>
          <p:nvPr/>
        </p:nvSpPr>
        <p:spPr>
          <a:xfrm>
            <a:off x="8174046" y="1641776"/>
            <a:ext cx="3523348" cy="902060"/>
          </a:xfrm>
          <a:prstGeom prst="rect">
            <a:avLst/>
          </a:prstGeom>
          <a:solidFill>
            <a:srgbClr val="F4B898"/>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4027176-99CE-4DE2-A443-87AC19BB1D65}"/>
              </a:ext>
            </a:extLst>
          </p:cNvPr>
          <p:cNvSpPr/>
          <p:nvPr/>
        </p:nvSpPr>
        <p:spPr>
          <a:xfrm>
            <a:off x="4633652" y="4562983"/>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560A412-9F3C-400A-BCB3-9A1C093AE097}"/>
              </a:ext>
            </a:extLst>
          </p:cNvPr>
          <p:cNvSpPr/>
          <p:nvPr/>
        </p:nvSpPr>
        <p:spPr>
          <a:xfrm>
            <a:off x="5777223" y="4562983"/>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329665AA-08B3-4D34-9D95-818063E8B5F8}"/>
              </a:ext>
            </a:extLst>
          </p:cNvPr>
          <p:cNvSpPr/>
          <p:nvPr/>
        </p:nvSpPr>
        <p:spPr>
          <a:xfrm>
            <a:off x="4633652" y="5788168"/>
            <a:ext cx="3289728" cy="717873"/>
          </a:xfrm>
          <a:prstGeom prst="rect">
            <a:avLst/>
          </a:prstGeom>
          <a:solidFill>
            <a:srgbClr val="9AAC84"/>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8AD701B-D809-4F67-B76C-D457D1E1BB5B}"/>
              </a:ext>
            </a:extLst>
          </p:cNvPr>
          <p:cNvSpPr/>
          <p:nvPr/>
        </p:nvSpPr>
        <p:spPr>
          <a:xfrm>
            <a:off x="5777223" y="5788168"/>
            <a:ext cx="1002586" cy="717872"/>
          </a:xfrm>
          <a:prstGeom prst="rect">
            <a:avLst/>
          </a:prstGeom>
          <a:solidFill>
            <a:srgbClr val="C97195"/>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A15622D0-2561-4E04-B985-80F3F2AC6CB9}"/>
              </a:ext>
            </a:extLst>
          </p:cNvPr>
          <p:cNvSpPr/>
          <p:nvPr/>
        </p:nvSpPr>
        <p:spPr>
          <a:xfrm>
            <a:off x="8557946" y="4737253"/>
            <a:ext cx="3289728" cy="717873"/>
          </a:xfrm>
          <a:prstGeom prst="rect">
            <a:avLst/>
          </a:prstGeom>
          <a:solidFill>
            <a:srgbClr val="9AAC84"/>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51163E-4CD4-4787-AE04-63C5C9FE818C}"/>
              </a:ext>
            </a:extLst>
          </p:cNvPr>
          <p:cNvSpPr/>
          <p:nvPr/>
        </p:nvSpPr>
        <p:spPr>
          <a:xfrm>
            <a:off x="9637724" y="4737255"/>
            <a:ext cx="1002586" cy="717872"/>
          </a:xfrm>
          <a:prstGeom prst="rect">
            <a:avLst/>
          </a:prstGeom>
          <a:solidFill>
            <a:srgbClr val="C97195"/>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34" name="Picture 33">
            <a:extLst>
              <a:ext uri="{FF2B5EF4-FFF2-40B4-BE49-F238E27FC236}">
                <a16:creationId xmlns:a16="http://schemas.microsoft.com/office/drawing/2014/main" id="{5B744EB2-EAEB-477E-AB65-82925A7F201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9603639" y="4123316"/>
            <a:ext cx="1070755" cy="2534753"/>
          </a:xfrm>
          <a:prstGeom prst="rect">
            <a:avLst/>
          </a:prstGeom>
        </p:spPr>
      </p:pic>
      <p:sp>
        <p:nvSpPr>
          <p:cNvPr id="35" name="TextBox 34">
            <a:extLst>
              <a:ext uri="{FF2B5EF4-FFF2-40B4-BE49-F238E27FC236}">
                <a16:creationId xmlns:a16="http://schemas.microsoft.com/office/drawing/2014/main" id="{D45DE6FB-DFE4-4485-8241-A21F2E52F5A1}"/>
              </a:ext>
            </a:extLst>
          </p:cNvPr>
          <p:cNvSpPr txBox="1"/>
          <p:nvPr/>
        </p:nvSpPr>
        <p:spPr>
          <a:xfrm>
            <a:off x="4218136" y="4639721"/>
            <a:ext cx="390307" cy="584775"/>
          </a:xfrm>
          <a:prstGeom prst="rect">
            <a:avLst/>
          </a:prstGeom>
          <a:noFill/>
        </p:spPr>
        <p:txBody>
          <a:bodyPr wrap="square">
            <a:spAutoFit/>
          </a:bodyPr>
          <a:lstStyle/>
          <a:p>
            <a:pPr algn="ctr"/>
            <a:r>
              <a:rPr lang="en-US" sz="3200" dirty="0"/>
              <a:t>-</a:t>
            </a:r>
          </a:p>
        </p:txBody>
      </p:sp>
      <p:sp>
        <p:nvSpPr>
          <p:cNvPr id="36" name="TextBox 35">
            <a:extLst>
              <a:ext uri="{FF2B5EF4-FFF2-40B4-BE49-F238E27FC236}">
                <a16:creationId xmlns:a16="http://schemas.microsoft.com/office/drawing/2014/main" id="{B0F7996E-EA80-4C82-AD70-E487D5CD0471}"/>
              </a:ext>
            </a:extLst>
          </p:cNvPr>
          <p:cNvSpPr txBox="1"/>
          <p:nvPr/>
        </p:nvSpPr>
        <p:spPr>
          <a:xfrm>
            <a:off x="4169431" y="5812701"/>
            <a:ext cx="390307" cy="584775"/>
          </a:xfrm>
          <a:prstGeom prst="rect">
            <a:avLst/>
          </a:prstGeom>
          <a:noFill/>
        </p:spPr>
        <p:txBody>
          <a:bodyPr wrap="square">
            <a:spAutoFit/>
          </a:bodyPr>
          <a:lstStyle/>
          <a:p>
            <a:pPr algn="ctr"/>
            <a:r>
              <a:rPr lang="en-US" sz="3200" dirty="0"/>
              <a:t>+</a:t>
            </a:r>
          </a:p>
        </p:txBody>
      </p:sp>
      <p:sp>
        <p:nvSpPr>
          <p:cNvPr id="37" name="TextBox 36">
            <a:extLst>
              <a:ext uri="{FF2B5EF4-FFF2-40B4-BE49-F238E27FC236}">
                <a16:creationId xmlns:a16="http://schemas.microsoft.com/office/drawing/2014/main" id="{238DFCFA-7D6A-4C8A-B212-19E9D772C06F}"/>
              </a:ext>
            </a:extLst>
          </p:cNvPr>
          <p:cNvSpPr txBox="1"/>
          <p:nvPr/>
        </p:nvSpPr>
        <p:spPr>
          <a:xfrm>
            <a:off x="8117221" y="4805918"/>
            <a:ext cx="390307" cy="584775"/>
          </a:xfrm>
          <a:prstGeom prst="rect">
            <a:avLst/>
          </a:prstGeom>
          <a:noFill/>
        </p:spPr>
        <p:txBody>
          <a:bodyPr wrap="square">
            <a:spAutoFit/>
          </a:bodyPr>
          <a:lstStyle/>
          <a:p>
            <a:pPr algn="ctr"/>
            <a:r>
              <a:rPr lang="en-US" sz="3200" dirty="0"/>
              <a:t>=</a:t>
            </a:r>
          </a:p>
        </p:txBody>
      </p:sp>
      <p:sp>
        <p:nvSpPr>
          <p:cNvPr id="17" name="TextBox 16">
            <a:extLst>
              <a:ext uri="{FF2B5EF4-FFF2-40B4-BE49-F238E27FC236}">
                <a16:creationId xmlns:a16="http://schemas.microsoft.com/office/drawing/2014/main" id="{FDFD80E0-8004-479E-BC77-FA9A59E68773}"/>
              </a:ext>
            </a:extLst>
          </p:cNvPr>
          <p:cNvSpPr txBox="1"/>
          <p:nvPr/>
        </p:nvSpPr>
        <p:spPr>
          <a:xfrm>
            <a:off x="8911278" y="1888206"/>
            <a:ext cx="2048883" cy="369332"/>
          </a:xfrm>
          <a:prstGeom prst="rect">
            <a:avLst/>
          </a:prstGeom>
          <a:noFill/>
        </p:spPr>
        <p:txBody>
          <a:bodyPr wrap="square">
            <a:spAutoFit/>
          </a:bodyPr>
          <a:lstStyle/>
          <a:p>
            <a:r>
              <a:rPr lang="en-US" dirty="0"/>
              <a:t>Thin Wing, 1/8”</a:t>
            </a:r>
          </a:p>
        </p:txBody>
      </p:sp>
      <p:sp>
        <p:nvSpPr>
          <p:cNvPr id="3" name="TextBox 2">
            <a:extLst>
              <a:ext uri="{FF2B5EF4-FFF2-40B4-BE49-F238E27FC236}">
                <a16:creationId xmlns:a16="http://schemas.microsoft.com/office/drawing/2014/main" id="{7A99C15B-39FF-ABE0-4EE8-3C9B901D4FC9}"/>
              </a:ext>
            </a:extLst>
          </p:cNvPr>
          <p:cNvSpPr txBox="1"/>
          <p:nvPr/>
        </p:nvSpPr>
        <p:spPr>
          <a:xfrm>
            <a:off x="10666621" y="40546"/>
            <a:ext cx="1467774" cy="584775"/>
          </a:xfrm>
          <a:prstGeom prst="rect">
            <a:avLst/>
          </a:prstGeom>
          <a:noFill/>
        </p:spPr>
        <p:txBody>
          <a:bodyPr wrap="none" rtlCol="0">
            <a:spAutoFit/>
          </a:bodyPr>
          <a:lstStyle/>
          <a:p>
            <a:pPr algn="ctr"/>
            <a:r>
              <a:rPr lang="en-US" sz="1600" b="1" dirty="0"/>
              <a:t>Transmission </a:t>
            </a:r>
          </a:p>
          <a:p>
            <a:pPr algn="ctr"/>
            <a:r>
              <a:rPr lang="en-US" sz="1600" b="1" dirty="0"/>
              <a:t>Simulator!</a:t>
            </a:r>
          </a:p>
        </p:txBody>
      </p:sp>
      <p:cxnSp>
        <p:nvCxnSpPr>
          <p:cNvPr id="20" name="Straight Arrow Connector 19">
            <a:extLst>
              <a:ext uri="{FF2B5EF4-FFF2-40B4-BE49-F238E27FC236}">
                <a16:creationId xmlns:a16="http://schemas.microsoft.com/office/drawing/2014/main" id="{F2E64701-F321-935B-AD9A-36D37CA98430}"/>
              </a:ext>
            </a:extLst>
          </p:cNvPr>
          <p:cNvCxnSpPr>
            <a:cxnSpLocks/>
          </p:cNvCxnSpPr>
          <p:nvPr/>
        </p:nvCxnSpPr>
        <p:spPr>
          <a:xfrm flipH="1">
            <a:off x="10793747" y="707434"/>
            <a:ext cx="462686" cy="12810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81631731"/>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Experimental Setup </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203199" y="799306"/>
            <a:ext cx="11637434" cy="1989928"/>
          </a:xfrm>
        </p:spPr>
        <p:txBody>
          <a:bodyPr>
            <a:normAutofit/>
          </a:bodyPr>
          <a:lstStyle/>
          <a:p>
            <a:r>
              <a:rPr lang="en-US" dirty="0"/>
              <a:t>Testing was performed on all three substructures and the truth assembly using hammer impacts and accelerometers – the structure was densely instrumented with accelerometers to characterize modes to at least 1600 Hz.</a:t>
            </a:r>
          </a:p>
          <a:p>
            <a:r>
              <a:rPr lang="en-US" dirty="0"/>
              <a:t>Lets use these experimental mode sets to complete dynamic </a:t>
            </a:r>
            <a:r>
              <a:rPr lang="en-US" dirty="0" err="1"/>
              <a:t>substructuring</a:t>
            </a:r>
            <a:r>
              <a:rPr lang="en-US" dirty="0"/>
              <a:t>.</a:t>
            </a:r>
            <a:endParaRPr lang="en-US" b="1" dirty="0"/>
          </a:p>
        </p:txBody>
      </p:sp>
      <p:pic>
        <p:nvPicPr>
          <p:cNvPr id="10" name="Picture 9">
            <a:extLst>
              <a:ext uri="{FF2B5EF4-FFF2-40B4-BE49-F238E27FC236}">
                <a16:creationId xmlns:a16="http://schemas.microsoft.com/office/drawing/2014/main" id="{456DC8D3-42C2-4360-8FED-DFCE860E2E38}"/>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1866898" y="2724329"/>
            <a:ext cx="4111544" cy="3660401"/>
          </a:xfrm>
          <a:prstGeom prst="rect">
            <a:avLst/>
          </a:prstGeom>
        </p:spPr>
      </p:pic>
      <p:pic>
        <p:nvPicPr>
          <p:cNvPr id="6" name="Picture 5">
            <a:extLst>
              <a:ext uri="{FF2B5EF4-FFF2-40B4-BE49-F238E27FC236}">
                <a16:creationId xmlns:a16="http://schemas.microsoft.com/office/drawing/2014/main" id="{AD5C4932-8691-4E99-8B30-CF7561E50D9E}"/>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6114483" y="2724329"/>
            <a:ext cx="4985313" cy="1747812"/>
          </a:xfrm>
          <a:prstGeom prst="rect">
            <a:avLst/>
          </a:prstGeom>
        </p:spPr>
      </p:pic>
      <p:pic>
        <p:nvPicPr>
          <p:cNvPr id="11" name="Picture 10">
            <a:extLst>
              <a:ext uri="{FF2B5EF4-FFF2-40B4-BE49-F238E27FC236}">
                <a16:creationId xmlns:a16="http://schemas.microsoft.com/office/drawing/2014/main" id="{938402DE-9F76-4290-9DCC-1C539323E873}"/>
              </a:ext>
            </a:extLst>
          </p:cNvPr>
          <p:cNvPicPr>
            <a:picLocks noChangeAspect="1"/>
          </p:cNvPicPr>
          <p:nvPr/>
        </p:nvPicPr>
        <p:blipFill rotWithShape="1">
          <a:blip r:embed="rId5" cstate="print">
            <a:extLst>
              <a:ext uri="{28A0092B-C50C-407E-A947-70E740481C1C}">
                <a14:useLocalDpi xmlns:a14="http://schemas.microsoft.com/office/drawing/2010/main"/>
              </a:ext>
            </a:extLst>
          </a:blip>
          <a:srcRect/>
          <a:stretch/>
        </p:blipFill>
        <p:spPr>
          <a:xfrm>
            <a:off x="6114484" y="4636918"/>
            <a:ext cx="4985312" cy="1747812"/>
          </a:xfrm>
          <a:prstGeom prst="rect">
            <a:avLst/>
          </a:prstGeom>
        </p:spPr>
      </p:pic>
    </p:spTree>
    <p:extLst>
      <p:ext uri="{BB962C8B-B14F-4D97-AF65-F5344CB8AC3E}">
        <p14:creationId xmlns:p14="http://schemas.microsoft.com/office/powerpoint/2010/main" val="680921103"/>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CSM Substructuring Theory – TSM</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fontScale="85000" lnSpcReduction="20000"/>
              </a:bodyPr>
              <a:lstStyle/>
              <a:p>
                <a:pPr lvl="1">
                  <a:spcBef>
                    <a:spcPts val="600"/>
                  </a:spcBef>
                  <a:spcAft>
                    <a:spcPts val="1200"/>
                  </a:spcAft>
                </a:pPr>
                <a:r>
                  <a:rPr lang="en-US" dirty="0"/>
                  <a:t>To perform CMS substructuring, acquire modal information for each substructure and form EOM.</a:t>
                </a:r>
                <a:endParaRPr lang="en-US" baseline="30000" dirty="0"/>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oMath>
                  </m:oMathPara>
                </a14:m>
                <a:endParaRPr lang="en-US" dirty="0"/>
              </a:p>
              <a:p>
                <a:pPr lvl="1">
                  <a:spcBef>
                    <a:spcPts val="600"/>
                  </a:spcBef>
                  <a:spcAft>
                    <a:spcPts val="1200"/>
                  </a:spcAft>
                </a:pPr>
                <a:r>
                  <a:rPr lang="en-US" dirty="0"/>
                  <a:t>Physical constraints are defined connecting both structures to the Plate &amp; Thin-Wing subsystem.</a:t>
                </a:r>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oMath>
                  </m:oMathPara>
                </a14:m>
                <a:endParaRPr lang="en-US" b="0" i="1" dirty="0">
                  <a:solidFill>
                    <a:srgbClr val="000000"/>
                  </a:solidFill>
                  <a:latin typeface="Cambria Math" panose="02040503050406030204" pitchFamily="18" charset="0"/>
                  <a:ea typeface="Times New Roman" panose="02020603050405020304" pitchFamily="18" charset="0"/>
                  <a:cs typeface="Times New Roman" panose="02020603050405020304" pitchFamily="18" charset="0"/>
                </a:endParaRPr>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b="0" i="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oMath>
                  </m:oMathPara>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lvl="1">
                  <a:spcBef>
                    <a:spcPts val="600"/>
                  </a:spcBef>
                  <a:spcAft>
                    <a:spcPts val="1200"/>
                  </a:spcAft>
                </a:pPr>
                <a:r>
                  <a:rPr lang="en-US" dirty="0"/>
                  <a:t>These constraints are cast to modal domain and softened by projecting each subsystems dynamics through the mode shapes of the Plate &amp; Thin-Wing (or a set of singular vectors).</a:t>
                </a:r>
                <a:endParaRPr lang="en-US" i="1" dirty="0">
                  <a:solidFill>
                    <a:srgbClr val="000000"/>
                  </a:solidFill>
                  <a:latin typeface="Cambria Math" panose="02040503050406030204" pitchFamily="18" charset="0"/>
                  <a:ea typeface="Times New Roman" panose="02020603050405020304" pitchFamily="18" charset="0"/>
                  <a:cs typeface="Times New Roman" panose="02020603050405020304" pitchFamily="18" charset="0"/>
                </a:endParaRPr>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2"/>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𝑆</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𝐶</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,1→2</m:t>
                                    </m:r>
                                  </m:sub>
                                  <m:sup>
                                    <m:r>
                                      <a:rPr lang="en-US" b="0"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𝑆</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𝐶</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,3→2</m:t>
                                    </m:r>
                                  </m:sub>
                                  <m:sup>
                                    <m:r>
                                      <a:rPr lang="en-US" b="0"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oMath>
                  </m:oMathPara>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blipFill>
                <a:blip r:embed="rId3"/>
                <a:stretch>
                  <a:fillRect t="-208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70D7D46-1F06-4723-9AA5-3B5077277A9E}"/>
              </a:ext>
            </a:extLst>
          </p:cNvPr>
          <p:cNvSpPr txBox="1"/>
          <p:nvPr/>
        </p:nvSpPr>
        <p:spPr>
          <a:xfrm>
            <a:off x="9618696" y="27028"/>
            <a:ext cx="2475345" cy="830997"/>
          </a:xfrm>
          <a:prstGeom prst="rect">
            <a:avLst/>
          </a:prstGeom>
          <a:noFill/>
        </p:spPr>
        <p:txBody>
          <a:bodyPr wrap="square" rtlCol="0">
            <a:spAutoFit/>
          </a:bodyPr>
          <a:lstStyle/>
          <a:p>
            <a:r>
              <a:rPr lang="en-US" sz="1600" dirty="0">
                <a:latin typeface="+mj-lt"/>
              </a:rPr>
              <a:t>1: Frame, Plate &amp; Thin-Wing</a:t>
            </a:r>
          </a:p>
          <a:p>
            <a:r>
              <a:rPr lang="en-US" sz="1600" dirty="0">
                <a:latin typeface="+mj-lt"/>
              </a:rPr>
              <a:t>2: Plate &amp; Thin-Wing</a:t>
            </a:r>
          </a:p>
          <a:p>
            <a:r>
              <a:rPr lang="en-US" sz="1600" dirty="0">
                <a:latin typeface="+mj-lt"/>
              </a:rPr>
              <a:t>3: Plate &amp; Thick-Wing</a:t>
            </a:r>
          </a:p>
        </p:txBody>
      </p:sp>
    </p:spTree>
    <p:extLst>
      <p:ext uri="{BB962C8B-B14F-4D97-AF65-F5344CB8AC3E}">
        <p14:creationId xmlns:p14="http://schemas.microsoft.com/office/powerpoint/2010/main" val="2969910709"/>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CSM Substructuring Theory – TSM</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fontScale="85000" lnSpcReduction="10000"/>
              </a:bodyPr>
              <a:lstStyle/>
              <a:p>
                <a:pPr lvl="1">
                  <a:spcBef>
                    <a:spcPts val="600"/>
                  </a:spcBef>
                  <a:spcAft>
                    <a:spcPts val="1200"/>
                  </a:spcAft>
                </a:pPr>
                <a:r>
                  <a:rPr lang="en-US" dirty="0"/>
                  <a:t>The null space function is used to determine the localization matrix </a:t>
                </a:r>
                <a:r>
                  <a:rPr lang="en-US" dirty="0">
                    <a:solidFill>
                      <a:srgbClr val="000000"/>
                    </a:solidFill>
                    <a:latin typeface="Times New Roman" panose="02020603050405020304" pitchFamily="18" charset="0"/>
                    <a:cs typeface="Times New Roman" panose="02020603050405020304" pitchFamily="18" charset="0"/>
                  </a:rPr>
                  <a:t>L.</a:t>
                </a:r>
              </a:p>
              <a:p>
                <a:pPr marL="201159" lvl="1" indent="0" algn="ctr">
                  <a:spcBef>
                    <a:spcPts val="600"/>
                  </a:spcBef>
                  <a:spcAft>
                    <a:spcPts val="1200"/>
                  </a:spcAft>
                  <a:buNone/>
                </a:pPr>
                <a14:m>
                  <m:oMathPara xmlns:m="http://schemas.openxmlformats.org/officeDocument/2006/math">
                    <m:oMathParaPr>
                      <m:jc m:val="centerGroup"/>
                    </m:oMathParaPr>
                    <m:oMath xmlns:m="http://schemas.openxmlformats.org/officeDocument/2006/math">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b="0" i="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null</m:t>
                      </m:r>
                      <m:r>
                        <a:rPr lang="en-US" b="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acc>
                        <m:accPr>
                          <m:chr m:val="̃"/>
                          <m:ctrlP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oMath>
                  </m:oMathPara>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lvl="1">
                  <a:spcBef>
                    <a:spcPts val="600"/>
                  </a:spcBef>
                  <a:spcAft>
                    <a:spcPts val="1200"/>
                  </a:spcAft>
                </a:pPr>
                <a:r>
                  <a:rPr lang="en-US" dirty="0"/>
                  <a:t>L-matrix is used to enforce constraints on equation of motion and predict system assembly response.</a:t>
                </a:r>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201159" lvl="1" indent="0" algn="ctr">
                  <a:spcBef>
                    <a:spcPts val="600"/>
                  </a:spcBef>
                  <a:spcAft>
                    <a:spcPts val="1200"/>
                  </a:spcAft>
                  <a:buNone/>
                </a:pPr>
                <a:r>
                  <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oMath>
                </a14:m>
                <a:endParaRPr lang="en-US" dirty="0"/>
              </a:p>
              <a:p>
                <a:pPr lvl="1">
                  <a:spcBef>
                    <a:spcPts val="600"/>
                  </a:spcBef>
                  <a:spcAft>
                    <a:spcPts val="1200"/>
                  </a:spcAft>
                </a:pPr>
                <a:r>
                  <a:rPr lang="en-US" dirty="0"/>
                  <a:t>An Eigen solution of the Transformed Mass and Stiffness Matrices yield the predicted Natural Frequencies and Mode shapes.</a:t>
                </a:r>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acc>
                        <m:accPr>
                          <m:chr m:val="̂"/>
                          <m:ctrlPr>
                            <a:rPr lang="en-US" b="0" i="1" smtClean="0">
                              <a:solidFill>
                                <a:srgbClr val="000000"/>
                              </a:solidFill>
                              <a:latin typeface="Cambria Math" panose="02040503050406030204" pitchFamily="18" charset="0"/>
                              <a:cs typeface="Times New Roman" panose="02020603050405020304" pitchFamily="18" charset="0"/>
                            </a:rPr>
                          </m:ctrlPr>
                        </m:accPr>
                        <m:e>
                          <m:r>
                            <m:rPr>
                              <m:sty m:val="p"/>
                            </m:rP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m:t>
                          </m:r>
                        </m:e>
                      </m:acc>
                      <m:r>
                        <a:rPr lang="en-US" b="0" i="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   </m:t>
                      </m:r>
                      <m:acc>
                        <m:accPr>
                          <m:chr m:val="̂"/>
                          <m:ctrlPr>
                            <a:rPr lang="en-US" b="0" i="1" smtClean="0">
                              <a:solidFill>
                                <a:srgbClr val="000000"/>
                              </a:solidFill>
                              <a:latin typeface="Cambria Math" panose="02040503050406030204" pitchFamily="18" charset="0"/>
                              <a:cs typeface="Times New Roman" panose="02020603050405020304" pitchFamily="18" charset="0"/>
                            </a:rPr>
                          </m:ctrlPr>
                        </m:accPr>
                        <m:e>
                          <m:r>
                            <m:rPr>
                              <m:sty m:val="p"/>
                            </m:rPr>
                            <a:rPr lang="en-US" i="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K</m:t>
                          </m:r>
                        </m:e>
                      </m:acc>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oMath>
                  </m:oMathPara>
                </a14:m>
                <a:endParaRPr lang="en-US" b="0" i="1" dirty="0">
                  <a:latin typeface="Cambria Math" panose="02040503050406030204" pitchFamily="18" charset="0"/>
                </a:endParaRPr>
              </a:p>
              <a:p>
                <a:pPr marL="201159" lvl="1" indent="0">
                  <a:spcBef>
                    <a:spcPts val="1200"/>
                  </a:spcBef>
                  <a:spcAft>
                    <a:spcPts val="1200"/>
                  </a:spcAft>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solidFill>
                          <a:latin typeface="Cambria Math" panose="02040503050406030204" pitchFamily="18" charset="0"/>
                        </a:rPr>
                        <m:t>eig</m:t>
                      </m:r>
                      <m:r>
                        <a:rPr lang="en-US" b="0" i="1" smtClean="0">
                          <a:solidFill>
                            <a:schemeClr val="tx1"/>
                          </a:solidFill>
                          <a:latin typeface="Cambria Math" panose="02040503050406030204" pitchFamily="18" charset="0"/>
                        </a:rPr>
                        <m:t>(</m:t>
                      </m:r>
                      <m:acc>
                        <m:accPr>
                          <m:chr m:val="̂"/>
                          <m:ctrlPr>
                            <a:rPr lang="en-US" i="1">
                              <a:solidFill>
                                <a:schemeClr val="tx1"/>
                              </a:solidFill>
                              <a:latin typeface="Cambria Math" panose="02040503050406030204" pitchFamily="18" charset="0"/>
                              <a:cs typeface="Times New Roman" panose="02020603050405020304" pitchFamily="18" charset="0"/>
                            </a:rPr>
                          </m:ctrlPr>
                        </m:accPr>
                        <m:e>
                          <m:r>
                            <m:rPr>
                              <m:sty m:val="p"/>
                            </m:rPr>
                            <a:rPr lang="en-US"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K</m:t>
                          </m:r>
                        </m:e>
                      </m:acc>
                      <m:r>
                        <a:rPr lang="en-US" b="0" i="1" smtClean="0">
                          <a:solidFill>
                            <a:schemeClr val="tx1"/>
                          </a:solidFill>
                          <a:latin typeface="Cambria Math" panose="02040503050406030204" pitchFamily="18" charset="0"/>
                        </a:rPr>
                        <m:t>,</m:t>
                      </m:r>
                      <m:acc>
                        <m:accPr>
                          <m:chr m:val="̂"/>
                          <m:ctrlPr>
                            <a:rPr lang="en-US" i="1">
                              <a:solidFill>
                                <a:schemeClr val="tx1"/>
                              </a:solidFill>
                              <a:latin typeface="Cambria Math" panose="02040503050406030204" pitchFamily="18" charset="0"/>
                              <a:cs typeface="Times New Roman" panose="02020603050405020304" pitchFamily="18" charset="0"/>
                            </a:rPr>
                          </m:ctrlPr>
                        </m:accPr>
                        <m:e>
                          <m:r>
                            <m:rPr>
                              <m:sty m:val="p"/>
                            </m:rPr>
                            <a:rPr lang="en-US">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M</m:t>
                          </m:r>
                        </m:e>
                      </m:acc>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acc>
                            <m:accPr>
                              <m:chr m:val="̂"/>
                              <m:ctrlPr>
                                <a:rPr lang="en-US" b="0" i="1" smtClean="0">
                                  <a:solidFill>
                                    <a:schemeClr val="tx1"/>
                                  </a:solidFill>
                                  <a:latin typeface="Cambria Math" panose="02040503050406030204" pitchFamily="18" charset="0"/>
                                </a:rPr>
                              </m:ctrlPr>
                            </m:accPr>
                            <m:e>
                              <m:r>
                                <a:rPr lang="en-US" i="1">
                                  <a:solidFill>
                                    <a:schemeClr val="tx1"/>
                                  </a:solidFill>
                                  <a:latin typeface="Cambria Math" panose="02040503050406030204" pitchFamily="18" charset="0"/>
                                </a:rPr>
                                <m:t>𝜔</m:t>
                              </m:r>
                            </m:e>
                          </m:acc>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m:t>
                      </m:r>
                      <m:acc>
                        <m:accPr>
                          <m:chr m:val="̂"/>
                          <m:ctrlPr>
                            <a:rPr lang="en-US" b="0" i="1" smtClean="0">
                              <a:solidFill>
                                <a:schemeClr val="tx1"/>
                              </a:solidFill>
                              <a:latin typeface="Cambria Math" panose="02040503050406030204" pitchFamily="18" charset="0"/>
                            </a:rPr>
                          </m:ctrlPr>
                        </m:accPr>
                        <m:e>
                          <m:r>
                            <m:rPr>
                              <m:sty m:val="p"/>
                            </m:rPr>
                            <a:rPr lang="en-US">
                              <a:solidFill>
                                <a:schemeClr val="tx1"/>
                              </a:solidFill>
                              <a:latin typeface="Cambria Math" panose="02040503050406030204" pitchFamily="18" charset="0"/>
                            </a:rPr>
                            <m:t>Φ</m:t>
                          </m:r>
                        </m:e>
                      </m:acc>
                    </m:oMath>
                  </m:oMathPara>
                </a14:m>
                <a:endParaRPr lang="en-US" dirty="0">
                  <a:solidFill>
                    <a:schemeClr val="tx1"/>
                  </a:solidFill>
                </a:endParaRPr>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blipFill>
                <a:blip r:embed="rId3"/>
                <a:stretch>
                  <a:fillRect t="-1836"/>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E8949321-8807-42B3-BE31-843AB1B8AD90}"/>
              </a:ext>
            </a:extLst>
          </p:cNvPr>
          <p:cNvSpPr txBox="1"/>
          <p:nvPr/>
        </p:nvSpPr>
        <p:spPr>
          <a:xfrm>
            <a:off x="9618696" y="27028"/>
            <a:ext cx="2475345" cy="830997"/>
          </a:xfrm>
          <a:prstGeom prst="rect">
            <a:avLst/>
          </a:prstGeom>
          <a:noFill/>
        </p:spPr>
        <p:txBody>
          <a:bodyPr wrap="square" rtlCol="0">
            <a:spAutoFit/>
          </a:bodyPr>
          <a:lstStyle/>
          <a:p>
            <a:r>
              <a:rPr lang="en-US" sz="1600" dirty="0">
                <a:latin typeface="+mj-lt"/>
              </a:rPr>
              <a:t>1: Frame, Plate &amp; Thin-Wing</a:t>
            </a:r>
          </a:p>
          <a:p>
            <a:r>
              <a:rPr lang="en-US" sz="1600" dirty="0">
                <a:latin typeface="+mj-lt"/>
              </a:rPr>
              <a:t>2: Plate &amp; Thin-Wing</a:t>
            </a:r>
          </a:p>
          <a:p>
            <a:r>
              <a:rPr lang="en-US" sz="1600" dirty="0">
                <a:latin typeface="+mj-lt"/>
              </a:rPr>
              <a:t>3: Plate &amp; Thick-Wing</a:t>
            </a:r>
          </a:p>
        </p:txBody>
      </p:sp>
    </p:spTree>
    <p:extLst>
      <p:ext uri="{BB962C8B-B14F-4D97-AF65-F5344CB8AC3E}">
        <p14:creationId xmlns:p14="http://schemas.microsoft.com/office/powerpoint/2010/main" val="740081144"/>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a:xfrm>
            <a:off x="105032" y="136525"/>
            <a:ext cx="9170853" cy="662781"/>
          </a:xfrm>
        </p:spPr>
        <p:txBody>
          <a:bodyPr>
            <a:normAutofit fontScale="90000"/>
          </a:bodyPr>
          <a:lstStyle/>
          <a:p>
            <a:r>
              <a:rPr lang="en-US" dirty="0"/>
              <a:t>Choices for the Practitioner to Make</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fontScale="85000" lnSpcReduction="20000"/>
              </a:bodyPr>
              <a:lstStyle/>
              <a:p>
                <a:pPr lvl="1">
                  <a:spcBef>
                    <a:spcPts val="600"/>
                  </a:spcBef>
                  <a:spcAft>
                    <a:spcPts val="1200"/>
                  </a:spcAft>
                </a:pPr>
                <a:r>
                  <a:rPr lang="en-US" dirty="0"/>
                  <a:t>To perform CMS substructuring, acquire modal information for each substructure and form EOM.</a:t>
                </a:r>
                <a:endParaRPr lang="en-US" baseline="30000" dirty="0"/>
              </a:p>
              <a:p>
                <a:pPr marL="201159" lvl="1" indent="0">
                  <a:spcBef>
                    <a:spcPts val="600"/>
                  </a:spcBef>
                  <a:spcAft>
                    <a:spcPts val="1200"/>
                  </a:spcAft>
                  <a:buNone/>
                </a:pPr>
                <a14:m>
                  <m:oMathPara xmlns:m="http://schemas.openxmlformats.org/officeDocument/2006/math">
                    <m:oMathParaPr>
                      <m:jc m:val="left"/>
                    </m:oMathParaPr>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b="0" i="1" smtClean="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oMath>
                  </m:oMathPara>
                </a14:m>
                <a:endParaRPr lang="en-US" dirty="0"/>
              </a:p>
              <a:p>
                <a:pPr lvl="1">
                  <a:spcBef>
                    <a:spcPts val="600"/>
                  </a:spcBef>
                  <a:spcAft>
                    <a:spcPts val="1200"/>
                  </a:spcAft>
                </a:pPr>
                <a:r>
                  <a:rPr lang="en-US" dirty="0"/>
                  <a:t>Physical constraints are defined connecting both structures to the Plate &amp; Thin-Wing subsystem.</a:t>
                </a:r>
              </a:p>
              <a:p>
                <a:pPr marL="201159" lvl="1" indent="0">
                  <a:spcBef>
                    <a:spcPts val="600"/>
                  </a:spcBef>
                  <a:spcAft>
                    <a:spcPts val="1200"/>
                  </a:spcAft>
                  <a:buNone/>
                </a:pPr>
                <a:r>
                  <a:rPr lang="en-US" b="0" dirty="0">
                    <a:solidFill>
                      <a:srgbClr val="000000"/>
                    </a:solidFill>
                    <a:ea typeface="Times New Roman" panose="02020603050405020304" pitchFamily="18" charset="0"/>
                    <a:cs typeface="Times New Roman" panose="02020603050405020304" pitchFamily="18" charset="0"/>
                  </a:rPr>
                  <a:t>			</a:t>
                </a:r>
                <a14:m>
                  <m:oMath xmlns:m="http://schemas.openxmlformats.org/officeDocument/2006/math">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oMath>
                </a14:m>
                <a:endParaRPr lang="en-US" b="0" i="1" dirty="0">
                  <a:solidFill>
                    <a:srgbClr val="000000"/>
                  </a:solidFill>
                  <a:latin typeface="Cambria Math" panose="02040503050406030204" pitchFamily="18" charset="0"/>
                  <a:ea typeface="Times New Roman" panose="02020603050405020304" pitchFamily="18" charset="0"/>
                  <a:cs typeface="Times New Roman" panose="02020603050405020304" pitchFamily="18" charset="0"/>
                </a:endParaRPr>
              </a:p>
              <a:p>
                <a:pPr marL="201159" lvl="1" indent="0">
                  <a:spcBef>
                    <a:spcPts val="600"/>
                  </a:spcBef>
                  <a:spcAft>
                    <a:spcPts val="1200"/>
                  </a:spcAft>
                  <a:buNone/>
                </a:pPr>
                <a:r>
                  <a:rPr lang="en-US" dirty="0">
                    <a:solidFill>
                      <a:srgbClr val="000000"/>
                    </a:solidFill>
                    <a:ea typeface="Times New Roman" panose="02020603050405020304" pitchFamily="18" charset="0"/>
                    <a:cs typeface="Times New Roman" panose="02020603050405020304" pitchFamily="18" charset="0"/>
                  </a:rPr>
                  <a:t>			</a:t>
                </a:r>
                <a14:m>
                  <m:oMath xmlns:m="http://schemas.openxmlformats.org/officeDocument/2006/math">
                    <m:d>
                      <m:dPr>
                        <m:begChr m:val="["/>
                        <m:endChr m:val="]"/>
                        <m:ctrlP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b="0" i="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𝑥</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oMath>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lvl="1">
                  <a:spcBef>
                    <a:spcPts val="600"/>
                  </a:spcBef>
                  <a:spcAft>
                    <a:spcPts val="1200"/>
                  </a:spcAft>
                </a:pPr>
                <a:r>
                  <a:rPr lang="en-US" dirty="0"/>
                  <a:t>These constraints are cast to modal domain and softened by projecting each subsystems dynamics through the mode shapes of the Plate &amp; Thin-Wing.</a:t>
                </a:r>
                <a:endParaRPr lang="en-US" i="1" dirty="0">
                  <a:solidFill>
                    <a:srgbClr val="000000"/>
                  </a:solidFill>
                  <a:latin typeface="Cambria Math" panose="02040503050406030204" pitchFamily="18" charset="0"/>
                  <a:ea typeface="Times New Roman" panose="02020603050405020304" pitchFamily="18" charset="0"/>
                  <a:cs typeface="Times New Roman" panose="02020603050405020304" pitchFamily="18" charset="0"/>
                </a:endParaRPr>
              </a:p>
              <a:p>
                <a:pPr marL="201159" lvl="1" indent="0">
                  <a:spcBef>
                    <a:spcPts val="600"/>
                  </a:spcBef>
                  <a:spcAft>
                    <a:spcPts val="1200"/>
                  </a:spcAft>
                  <a:buNone/>
                </a:pPr>
                <a:r>
                  <a:rPr lang="en-US" dirty="0">
                    <a:solidFill>
                      <a:srgbClr val="000000"/>
                    </a:solidFill>
                    <a:ea typeface="Times New Roman" panose="02020603050405020304" pitchFamily="18" charset="0"/>
                    <a:cs typeface="Times New Roman" panose="02020603050405020304" pitchFamily="18" charset="0"/>
                  </a:rPr>
                  <a:t>	</a:t>
                </a:r>
                <a14:m>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2"/>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𝑆</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𝐶</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,1→2</m:t>
                                  </m:r>
                                </m:sub>
                                <m:sup>
                                  <m:r>
                                    <a:rPr lang="en-US" b="0"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𝑆</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𝐶</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,3→2</m:t>
                                  </m:r>
                                </m:sub>
                                <m:sup>
                                  <m:r>
                                    <a:rPr lang="en-US" b="0"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oMath>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blipFill>
                <a:blip r:embed="rId3"/>
                <a:stretch>
                  <a:fillRect t="-208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70D7D46-1F06-4723-9AA5-3B5077277A9E}"/>
              </a:ext>
            </a:extLst>
          </p:cNvPr>
          <p:cNvSpPr txBox="1"/>
          <p:nvPr/>
        </p:nvSpPr>
        <p:spPr>
          <a:xfrm>
            <a:off x="9740900" y="0"/>
            <a:ext cx="2451100" cy="830997"/>
          </a:xfrm>
          <a:prstGeom prst="rect">
            <a:avLst/>
          </a:prstGeom>
          <a:noFill/>
        </p:spPr>
        <p:txBody>
          <a:bodyPr wrap="square" rtlCol="0">
            <a:spAutoFit/>
          </a:bodyPr>
          <a:lstStyle/>
          <a:p>
            <a:r>
              <a:rPr lang="en-US" sz="1600" dirty="0">
                <a:latin typeface="+mj-lt"/>
              </a:rPr>
              <a:t>1: Frame, Plate &amp; Thin-Wing</a:t>
            </a:r>
          </a:p>
          <a:p>
            <a:r>
              <a:rPr lang="en-US" sz="1600" dirty="0">
                <a:latin typeface="+mj-lt"/>
              </a:rPr>
              <a:t>2: Plate &amp; Thin-Wing</a:t>
            </a:r>
          </a:p>
          <a:p>
            <a:r>
              <a:rPr lang="en-US" sz="1600" dirty="0">
                <a:latin typeface="+mj-lt"/>
              </a:rPr>
              <a:t>3: Plate &amp; Thick-Wing</a:t>
            </a:r>
          </a:p>
        </p:txBody>
      </p:sp>
      <p:sp>
        <p:nvSpPr>
          <p:cNvPr id="4" name="Rectangle 3">
            <a:extLst>
              <a:ext uri="{FF2B5EF4-FFF2-40B4-BE49-F238E27FC236}">
                <a16:creationId xmlns:a16="http://schemas.microsoft.com/office/drawing/2014/main" id="{8A1AE227-E738-88A7-01A4-D559578ED104}"/>
              </a:ext>
            </a:extLst>
          </p:cNvPr>
          <p:cNvSpPr/>
          <p:nvPr/>
        </p:nvSpPr>
        <p:spPr>
          <a:xfrm>
            <a:off x="7501466" y="3015762"/>
            <a:ext cx="3837021" cy="106386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Which DOFs should we constrain in our subtraction and addition steps?</a:t>
            </a:r>
          </a:p>
        </p:txBody>
      </p:sp>
      <p:sp>
        <p:nvSpPr>
          <p:cNvPr id="5" name="Rectangle 4">
            <a:extLst>
              <a:ext uri="{FF2B5EF4-FFF2-40B4-BE49-F238E27FC236}">
                <a16:creationId xmlns:a16="http://schemas.microsoft.com/office/drawing/2014/main" id="{478DE803-1A87-8911-2C10-16111470D091}"/>
              </a:ext>
            </a:extLst>
          </p:cNvPr>
          <p:cNvSpPr/>
          <p:nvPr/>
        </p:nvSpPr>
        <p:spPr>
          <a:xfrm>
            <a:off x="7873010" y="1334004"/>
            <a:ext cx="3465478" cy="106386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many modes should we include for each structure?</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D6331907-36F4-8EAB-6D3D-A0CDD21B126A}"/>
                  </a:ext>
                </a:extLst>
              </p:cNvPr>
              <p:cNvSpPr/>
              <p:nvPr/>
            </p:nvSpPr>
            <p:spPr>
              <a:xfrm>
                <a:off x="7150100" y="4816448"/>
                <a:ext cx="4188388" cy="106386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Should we </a:t>
                </a:r>
                <a:r>
                  <a:rPr lang="en-US" dirty="0">
                    <a:solidFill>
                      <a:schemeClr val="bg1"/>
                    </a:solidFill>
                  </a:rPr>
                  <a:t>use </a:t>
                </a:r>
                <a14:m>
                  <m:oMath xmlns:m="http://schemas.openxmlformats.org/officeDocument/2006/math">
                    <m:sSub>
                      <m:sSubPr>
                        <m:ctrlPr>
                          <a:rPr lang="en-US" i="1" smtClean="0">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b="0" i="1">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b="0" i="1" smtClean="0">
                            <a:solidFill>
                              <a:schemeClr val="bg1"/>
                            </a:solidFill>
                            <a:latin typeface="Cambria Math" panose="02040503050406030204" pitchFamily="18" charset="0"/>
                            <a:ea typeface="Times New Roman" panose="02020603050405020304" pitchFamily="18" charset="0"/>
                            <a:cs typeface="Times New Roman" panose="02020603050405020304" pitchFamily="18" charset="0"/>
                          </a:rPr>
                          <m:t>2</m:t>
                        </m:r>
                      </m:sub>
                    </m:sSub>
                  </m:oMath>
                </a14:m>
                <a:r>
                  <a:rPr lang="en-US" dirty="0">
                    <a:solidFill>
                      <a:schemeClr val="bg1"/>
                    </a:solidFill>
                  </a:rPr>
                  <a:t> for the constraint softening? Or try using singular vectors</a:t>
                </a:r>
                <a:r>
                  <a:rPr lang="en-US" dirty="0"/>
                  <a:t>?</a:t>
                </a:r>
              </a:p>
            </p:txBody>
          </p:sp>
        </mc:Choice>
        <mc:Fallback xmlns="">
          <p:sp>
            <p:nvSpPr>
              <p:cNvPr id="8" name="Rectangle 7">
                <a:extLst>
                  <a:ext uri="{FF2B5EF4-FFF2-40B4-BE49-F238E27FC236}">
                    <a16:creationId xmlns:a16="http://schemas.microsoft.com/office/drawing/2014/main" id="{D6331907-36F4-8EAB-6D3D-A0CDD21B126A}"/>
                  </a:ext>
                </a:extLst>
              </p:cNvPr>
              <p:cNvSpPr>
                <a:spLocks noRot="1" noChangeAspect="1" noMove="1" noResize="1" noEditPoints="1" noAdjustHandles="1" noChangeArrowheads="1" noChangeShapeType="1" noTextEdit="1"/>
              </p:cNvSpPr>
              <p:nvPr/>
            </p:nvSpPr>
            <p:spPr>
              <a:xfrm>
                <a:off x="7150100" y="4816448"/>
                <a:ext cx="4188388" cy="1063869"/>
              </a:xfrm>
              <a:prstGeom prst="rect">
                <a:avLst/>
              </a:prstGeom>
              <a:blipFill>
                <a:blip r:embed="rId4"/>
                <a:stretch>
                  <a:fillRect l="-145"/>
                </a:stretch>
              </a:blipFill>
            </p:spPr>
            <p:txBody>
              <a:bodyPr/>
              <a:lstStyle/>
              <a:p>
                <a:r>
                  <a:rPr lang="en-US">
                    <a:noFill/>
                  </a:rPr>
                  <a:t> </a:t>
                </a:r>
              </a:p>
            </p:txBody>
          </p:sp>
        </mc:Fallback>
      </mc:AlternateContent>
    </p:spTree>
    <p:extLst>
      <p:ext uri="{BB962C8B-B14F-4D97-AF65-F5344CB8AC3E}">
        <p14:creationId xmlns:p14="http://schemas.microsoft.com/office/powerpoint/2010/main" val="2776508994"/>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CB39835-F37B-5854-84DA-3D4E381D5D58}"/>
                  </a:ext>
                </a:extLst>
              </p:cNvPr>
              <p:cNvSpPr>
                <a:spLocks noGrp="1"/>
              </p:cNvSpPr>
              <p:nvPr>
                <p:ph type="title"/>
              </p:nvPr>
            </p:nvSpPr>
            <p:spPr>
              <a:xfrm>
                <a:off x="409832" y="694267"/>
                <a:ext cx="10515600" cy="1642533"/>
              </a:xfrm>
            </p:spPr>
            <p:txBody>
              <a:bodyPr>
                <a:normAutofit/>
              </a:bodyPr>
              <a:lstStyle/>
              <a:p>
                <a:r>
                  <a:rPr lang="en-US" dirty="0"/>
                  <a:t>Data &amp; Script Available</a:t>
                </a:r>
                <a:br>
                  <a:rPr lang="en-US" dirty="0"/>
                </a:br>
                <a14:m>
                  <m:oMath xmlns:m="http://schemas.openxmlformats.org/officeDocument/2006/math">
                    <m:r>
                      <a:rPr lang="en-US" b="1" i="1" smtClean="0">
                        <a:latin typeface="Cambria Math" panose="02040503050406030204" pitchFamily="18" charset="0"/>
                      </a:rPr>
                      <m:t>→</m:t>
                    </m:r>
                  </m:oMath>
                </a14:m>
                <a:r>
                  <a:rPr lang="en-US" dirty="0"/>
                  <a:t> Lets Make Some Choices!</a:t>
                </a:r>
              </a:p>
            </p:txBody>
          </p:sp>
        </mc:Choice>
        <mc:Fallback xmlns="">
          <p:sp>
            <p:nvSpPr>
              <p:cNvPr id="2" name="Title 1">
                <a:extLst>
                  <a:ext uri="{FF2B5EF4-FFF2-40B4-BE49-F238E27FC236}">
                    <a16:creationId xmlns:a16="http://schemas.microsoft.com/office/drawing/2014/main" id="{ACB39835-F37B-5854-84DA-3D4E381D5D58}"/>
                  </a:ext>
                </a:extLst>
              </p:cNvPr>
              <p:cNvSpPr>
                <a:spLocks noGrp="1" noRot="1" noChangeAspect="1" noMove="1" noResize="1" noEditPoints="1" noAdjustHandles="1" noChangeArrowheads="1" noChangeShapeType="1" noTextEdit="1"/>
              </p:cNvSpPr>
              <p:nvPr>
                <p:ph type="title"/>
              </p:nvPr>
            </p:nvSpPr>
            <p:spPr>
              <a:xfrm>
                <a:off x="409832" y="694267"/>
                <a:ext cx="10515600" cy="1642533"/>
              </a:xfrm>
              <a:blipFill>
                <a:blip r:embed="rId2"/>
                <a:stretch>
                  <a:fillRect t="-743" b="-7807"/>
                </a:stretch>
              </a:blipFill>
            </p:spPr>
            <p:txBody>
              <a:bodyPr/>
              <a:lstStyle/>
              <a:p>
                <a:r>
                  <a:rPr lang="en-US">
                    <a:noFill/>
                  </a:rPr>
                  <a:t> </a:t>
                </a:r>
              </a:p>
            </p:txBody>
          </p:sp>
        </mc:Fallback>
      </mc:AlternateContent>
    </p:spTree>
    <p:extLst>
      <p:ext uri="{BB962C8B-B14F-4D97-AF65-F5344CB8AC3E}">
        <p14:creationId xmlns:p14="http://schemas.microsoft.com/office/powerpoint/2010/main" val="1335978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D1D60-93F6-F824-1B56-CB584314AAAB}"/>
              </a:ext>
            </a:extLst>
          </p:cNvPr>
          <p:cNvSpPr>
            <a:spLocks noGrp="1"/>
          </p:cNvSpPr>
          <p:nvPr>
            <p:ph type="title"/>
          </p:nvPr>
        </p:nvSpPr>
        <p:spPr/>
        <p:txBody>
          <a:bodyPr>
            <a:normAutofit fontScale="90000"/>
          </a:bodyPr>
          <a:lstStyle/>
          <a:p>
            <a:r>
              <a:rPr lang="en-US" dirty="0"/>
              <a:t>Frame &amp; Wing Example Exercise</a:t>
            </a:r>
          </a:p>
        </p:txBody>
      </p:sp>
      <p:sp>
        <p:nvSpPr>
          <p:cNvPr id="3" name="Content Placeholder 2">
            <a:extLst>
              <a:ext uri="{FF2B5EF4-FFF2-40B4-BE49-F238E27FC236}">
                <a16:creationId xmlns:a16="http://schemas.microsoft.com/office/drawing/2014/main" id="{6E7843CE-F679-072A-8BF3-9253CE9960AD}"/>
              </a:ext>
            </a:extLst>
          </p:cNvPr>
          <p:cNvSpPr>
            <a:spLocks noGrp="1"/>
          </p:cNvSpPr>
          <p:nvPr>
            <p:ph idx="1"/>
          </p:nvPr>
        </p:nvSpPr>
        <p:spPr>
          <a:xfrm>
            <a:off x="105032" y="939586"/>
            <a:ext cx="11337324" cy="2784984"/>
          </a:xfrm>
        </p:spPr>
        <p:txBody>
          <a:bodyPr/>
          <a:lstStyle/>
          <a:p>
            <a:r>
              <a:rPr lang="en-US" dirty="0"/>
              <a:t>Test Data: </a:t>
            </a:r>
            <a:r>
              <a:rPr lang="en-US" dirty="0" err="1">
                <a:solidFill>
                  <a:schemeClr val="tx1"/>
                </a:solidFill>
              </a:rPr>
              <a:t>FrameWing_Data.mat</a:t>
            </a:r>
            <a:endParaRPr lang="en-US" dirty="0">
              <a:solidFill>
                <a:schemeClr val="tx1"/>
              </a:solidFill>
            </a:endParaRPr>
          </a:p>
          <a:p>
            <a:r>
              <a:rPr lang="en-US" dirty="0"/>
              <a:t>MATLAB Script: </a:t>
            </a:r>
            <a:r>
              <a:rPr lang="en-US" dirty="0">
                <a:solidFill>
                  <a:schemeClr val="tx1"/>
                </a:solidFill>
              </a:rPr>
              <a:t>Mod7_FrameWing_Example.m</a:t>
            </a:r>
          </a:p>
          <a:p>
            <a:pPr lvl="1"/>
            <a:r>
              <a:rPr lang="en-US" dirty="0"/>
              <a:t>Which modes should be used to define each subsystem?</a:t>
            </a:r>
          </a:p>
          <a:p>
            <a:pPr lvl="1"/>
            <a:r>
              <a:rPr lang="en-US" dirty="0"/>
              <a:t>Should constraints for adding the thick wing be just in the middle or also on the wings?</a:t>
            </a:r>
          </a:p>
          <a:p>
            <a:pPr lvl="1"/>
            <a:r>
              <a:rPr lang="en-US" dirty="0"/>
              <a:t>Is the constraint softening done with modes or singular vectors?</a:t>
            </a:r>
          </a:p>
          <a:p>
            <a:r>
              <a:rPr lang="en-US" dirty="0"/>
              <a:t>Try different inputs and check the MAC and FRF result plots that come up</a:t>
            </a:r>
          </a:p>
        </p:txBody>
      </p:sp>
      <p:sp>
        <p:nvSpPr>
          <p:cNvPr id="4" name="Rectangle 3">
            <a:extLst>
              <a:ext uri="{FF2B5EF4-FFF2-40B4-BE49-F238E27FC236}">
                <a16:creationId xmlns:a16="http://schemas.microsoft.com/office/drawing/2014/main" id="{A3B75DEA-935D-E404-FC6E-D1F404D528FF}"/>
              </a:ext>
            </a:extLst>
          </p:cNvPr>
          <p:cNvSpPr/>
          <p:nvPr/>
        </p:nvSpPr>
        <p:spPr>
          <a:xfrm>
            <a:off x="672345" y="4356908"/>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080C4387-0985-1E05-003F-E74B76E4E9BC}"/>
              </a:ext>
            </a:extLst>
          </p:cNvPr>
          <p:cNvSpPr/>
          <p:nvPr/>
        </p:nvSpPr>
        <p:spPr>
          <a:xfrm>
            <a:off x="1752123" y="4356910"/>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65E13A1-F5F6-1CD3-1F04-C2533D60C8A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718039" y="3744336"/>
            <a:ext cx="1081555" cy="2560320"/>
          </a:xfrm>
          <a:prstGeom prst="rect">
            <a:avLst/>
          </a:prstGeom>
        </p:spPr>
      </p:pic>
      <p:sp>
        <p:nvSpPr>
          <p:cNvPr id="7" name="Rectangle 6">
            <a:extLst>
              <a:ext uri="{FF2B5EF4-FFF2-40B4-BE49-F238E27FC236}">
                <a16:creationId xmlns:a16="http://schemas.microsoft.com/office/drawing/2014/main" id="{246C2277-E441-C49A-6ED4-FD942C9E2F83}"/>
              </a:ext>
            </a:extLst>
          </p:cNvPr>
          <p:cNvSpPr/>
          <p:nvPr/>
        </p:nvSpPr>
        <p:spPr>
          <a:xfrm>
            <a:off x="4396585" y="4355551"/>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B592FF3-119A-ACAD-4742-0288B3374DA9}"/>
              </a:ext>
            </a:extLst>
          </p:cNvPr>
          <p:cNvSpPr/>
          <p:nvPr/>
        </p:nvSpPr>
        <p:spPr>
          <a:xfrm>
            <a:off x="5540156" y="4355551"/>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1AE9029-62EB-EE32-049E-9FD341C6A108}"/>
              </a:ext>
            </a:extLst>
          </p:cNvPr>
          <p:cNvSpPr/>
          <p:nvPr/>
        </p:nvSpPr>
        <p:spPr>
          <a:xfrm>
            <a:off x="4396585" y="5580736"/>
            <a:ext cx="3289728" cy="717873"/>
          </a:xfrm>
          <a:prstGeom prst="rect">
            <a:avLst/>
          </a:prstGeom>
          <a:solidFill>
            <a:srgbClr val="9AAC84"/>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1DB026-6EED-C13D-1A4E-850C7C29E47E}"/>
              </a:ext>
            </a:extLst>
          </p:cNvPr>
          <p:cNvSpPr/>
          <p:nvPr/>
        </p:nvSpPr>
        <p:spPr>
          <a:xfrm>
            <a:off x="5540156" y="5580736"/>
            <a:ext cx="1002586" cy="717872"/>
          </a:xfrm>
          <a:prstGeom prst="rect">
            <a:avLst/>
          </a:prstGeom>
          <a:solidFill>
            <a:srgbClr val="C97195"/>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6A28EE-7A80-3285-3FF3-16B89C80F66D}"/>
              </a:ext>
            </a:extLst>
          </p:cNvPr>
          <p:cNvSpPr/>
          <p:nvPr/>
        </p:nvSpPr>
        <p:spPr>
          <a:xfrm>
            <a:off x="8320879" y="4526645"/>
            <a:ext cx="3289728" cy="717873"/>
          </a:xfrm>
          <a:prstGeom prst="rect">
            <a:avLst/>
          </a:prstGeom>
          <a:solidFill>
            <a:srgbClr val="9AAC84"/>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25F22BF-E89F-D906-FE33-CD04A6D1F56D}"/>
              </a:ext>
            </a:extLst>
          </p:cNvPr>
          <p:cNvSpPr/>
          <p:nvPr/>
        </p:nvSpPr>
        <p:spPr>
          <a:xfrm>
            <a:off x="9400657" y="4529823"/>
            <a:ext cx="1002586" cy="714695"/>
          </a:xfrm>
          <a:prstGeom prst="rect">
            <a:avLst/>
          </a:prstGeom>
          <a:solidFill>
            <a:srgbClr val="C97195"/>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21CB97D0-835B-10E4-0F7B-AEB084054847}"/>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9390068" y="3915883"/>
            <a:ext cx="1081555" cy="2560320"/>
          </a:xfrm>
          <a:prstGeom prst="rect">
            <a:avLst/>
          </a:prstGeom>
        </p:spPr>
      </p:pic>
      <p:sp>
        <p:nvSpPr>
          <p:cNvPr id="14" name="TextBox 13">
            <a:extLst>
              <a:ext uri="{FF2B5EF4-FFF2-40B4-BE49-F238E27FC236}">
                <a16:creationId xmlns:a16="http://schemas.microsoft.com/office/drawing/2014/main" id="{85922254-49FE-CE6A-529D-EF6C7B4F5580}"/>
              </a:ext>
            </a:extLst>
          </p:cNvPr>
          <p:cNvSpPr txBox="1"/>
          <p:nvPr/>
        </p:nvSpPr>
        <p:spPr>
          <a:xfrm>
            <a:off x="3981069" y="4432289"/>
            <a:ext cx="390307" cy="584775"/>
          </a:xfrm>
          <a:prstGeom prst="rect">
            <a:avLst/>
          </a:prstGeom>
          <a:noFill/>
        </p:spPr>
        <p:txBody>
          <a:bodyPr wrap="square">
            <a:spAutoFit/>
          </a:bodyPr>
          <a:lstStyle/>
          <a:p>
            <a:pPr algn="ctr"/>
            <a:r>
              <a:rPr lang="en-US" sz="3200" dirty="0"/>
              <a:t>-</a:t>
            </a:r>
          </a:p>
        </p:txBody>
      </p:sp>
      <p:sp>
        <p:nvSpPr>
          <p:cNvPr id="15" name="TextBox 14">
            <a:extLst>
              <a:ext uri="{FF2B5EF4-FFF2-40B4-BE49-F238E27FC236}">
                <a16:creationId xmlns:a16="http://schemas.microsoft.com/office/drawing/2014/main" id="{3BD502E2-D7F5-1E9D-97FF-E149C10A599B}"/>
              </a:ext>
            </a:extLst>
          </p:cNvPr>
          <p:cNvSpPr txBox="1"/>
          <p:nvPr/>
        </p:nvSpPr>
        <p:spPr>
          <a:xfrm>
            <a:off x="3932364" y="5605269"/>
            <a:ext cx="390307" cy="584775"/>
          </a:xfrm>
          <a:prstGeom prst="rect">
            <a:avLst/>
          </a:prstGeom>
          <a:noFill/>
        </p:spPr>
        <p:txBody>
          <a:bodyPr wrap="square">
            <a:spAutoFit/>
          </a:bodyPr>
          <a:lstStyle/>
          <a:p>
            <a:pPr algn="ctr"/>
            <a:r>
              <a:rPr lang="en-US" sz="3200" dirty="0"/>
              <a:t>+</a:t>
            </a:r>
          </a:p>
        </p:txBody>
      </p:sp>
      <p:sp>
        <p:nvSpPr>
          <p:cNvPr id="16" name="TextBox 15">
            <a:extLst>
              <a:ext uri="{FF2B5EF4-FFF2-40B4-BE49-F238E27FC236}">
                <a16:creationId xmlns:a16="http://schemas.microsoft.com/office/drawing/2014/main" id="{5E81053D-5BCA-635A-6841-53B9C1B68512}"/>
              </a:ext>
            </a:extLst>
          </p:cNvPr>
          <p:cNvSpPr txBox="1"/>
          <p:nvPr/>
        </p:nvSpPr>
        <p:spPr>
          <a:xfrm>
            <a:off x="7880154" y="4598486"/>
            <a:ext cx="390307" cy="584775"/>
          </a:xfrm>
          <a:prstGeom prst="rect">
            <a:avLst/>
          </a:prstGeom>
          <a:noFill/>
        </p:spPr>
        <p:txBody>
          <a:bodyPr wrap="square">
            <a:spAutoFit/>
          </a:bodyPr>
          <a:lstStyle/>
          <a:p>
            <a:pPr algn="ctr"/>
            <a:r>
              <a:rPr lang="en-US" sz="3200" dirty="0"/>
              <a:t>=</a:t>
            </a:r>
          </a:p>
        </p:txBody>
      </p:sp>
      <p:sp>
        <p:nvSpPr>
          <p:cNvPr id="17" name="TextBox 16">
            <a:extLst>
              <a:ext uri="{FF2B5EF4-FFF2-40B4-BE49-F238E27FC236}">
                <a16:creationId xmlns:a16="http://schemas.microsoft.com/office/drawing/2014/main" id="{16194D13-CC11-782E-F66B-3A9E726B187A}"/>
              </a:ext>
            </a:extLst>
          </p:cNvPr>
          <p:cNvSpPr txBox="1"/>
          <p:nvPr/>
        </p:nvSpPr>
        <p:spPr>
          <a:xfrm>
            <a:off x="1866086" y="3936204"/>
            <a:ext cx="778119" cy="369332"/>
          </a:xfrm>
          <a:prstGeom prst="rect">
            <a:avLst/>
          </a:prstGeom>
          <a:noFill/>
        </p:spPr>
        <p:txBody>
          <a:bodyPr wrap="square">
            <a:spAutoFit/>
          </a:bodyPr>
          <a:lstStyle/>
          <a:p>
            <a:pPr algn="ctr"/>
            <a:r>
              <a:rPr lang="en-US" sz="1800" dirty="0">
                <a:solidFill>
                  <a:schemeClr val="tx1"/>
                </a:solidFill>
              </a:rPr>
              <a:t>SS1</a:t>
            </a:r>
            <a:endParaRPr lang="en-US" dirty="0"/>
          </a:p>
        </p:txBody>
      </p:sp>
      <p:sp>
        <p:nvSpPr>
          <p:cNvPr id="18" name="TextBox 17">
            <a:extLst>
              <a:ext uri="{FF2B5EF4-FFF2-40B4-BE49-F238E27FC236}">
                <a16:creationId xmlns:a16="http://schemas.microsoft.com/office/drawing/2014/main" id="{DFEC737B-D55D-FCE4-B8DA-03F2BB53224D}"/>
              </a:ext>
            </a:extLst>
          </p:cNvPr>
          <p:cNvSpPr txBox="1"/>
          <p:nvPr/>
        </p:nvSpPr>
        <p:spPr>
          <a:xfrm>
            <a:off x="9400657" y="0"/>
            <a:ext cx="2791343" cy="1077218"/>
          </a:xfrm>
          <a:prstGeom prst="rect">
            <a:avLst/>
          </a:prstGeom>
          <a:noFill/>
        </p:spPr>
        <p:txBody>
          <a:bodyPr wrap="square" rtlCol="0">
            <a:spAutoFit/>
          </a:bodyPr>
          <a:lstStyle/>
          <a:p>
            <a:r>
              <a:rPr lang="en-US" sz="1600" dirty="0">
                <a:latin typeface="+mj-lt"/>
              </a:rPr>
              <a:t>SS1: Frame, Plate &amp; Thin-Wing</a:t>
            </a:r>
          </a:p>
          <a:p>
            <a:r>
              <a:rPr lang="en-US" sz="1600" dirty="0">
                <a:latin typeface="+mj-lt"/>
              </a:rPr>
              <a:t>SS2: Plate &amp; Thin-Wing</a:t>
            </a:r>
          </a:p>
          <a:p>
            <a:r>
              <a:rPr lang="en-US" sz="1600" dirty="0">
                <a:latin typeface="+mj-lt"/>
              </a:rPr>
              <a:t>SS3: Plate &amp; Thick-Wing</a:t>
            </a:r>
          </a:p>
          <a:p>
            <a:r>
              <a:rPr lang="en-US" sz="1600" dirty="0">
                <a:latin typeface="+mj-lt"/>
              </a:rPr>
              <a:t>SS4: Frame, Plate &amp; Thick-Wing</a:t>
            </a:r>
          </a:p>
        </p:txBody>
      </p:sp>
      <p:sp>
        <p:nvSpPr>
          <p:cNvPr id="19" name="TextBox 18">
            <a:extLst>
              <a:ext uri="{FF2B5EF4-FFF2-40B4-BE49-F238E27FC236}">
                <a16:creationId xmlns:a16="http://schemas.microsoft.com/office/drawing/2014/main" id="{0131A4ED-EF2D-0AE0-84D9-CBBDBEB7DB6B}"/>
              </a:ext>
            </a:extLst>
          </p:cNvPr>
          <p:cNvSpPr txBox="1"/>
          <p:nvPr/>
        </p:nvSpPr>
        <p:spPr>
          <a:xfrm>
            <a:off x="5540156" y="3976862"/>
            <a:ext cx="1002585" cy="369332"/>
          </a:xfrm>
          <a:prstGeom prst="rect">
            <a:avLst/>
          </a:prstGeom>
          <a:noFill/>
        </p:spPr>
        <p:txBody>
          <a:bodyPr wrap="square">
            <a:spAutoFit/>
          </a:bodyPr>
          <a:lstStyle/>
          <a:p>
            <a:pPr algn="ctr"/>
            <a:r>
              <a:rPr lang="en-US" sz="1800" dirty="0">
                <a:solidFill>
                  <a:schemeClr val="tx1"/>
                </a:solidFill>
              </a:rPr>
              <a:t>SS2</a:t>
            </a:r>
            <a:endParaRPr lang="en-US" dirty="0"/>
          </a:p>
        </p:txBody>
      </p:sp>
      <p:sp>
        <p:nvSpPr>
          <p:cNvPr id="20" name="TextBox 19">
            <a:extLst>
              <a:ext uri="{FF2B5EF4-FFF2-40B4-BE49-F238E27FC236}">
                <a16:creationId xmlns:a16="http://schemas.microsoft.com/office/drawing/2014/main" id="{C45CEBE4-F58C-3E87-DDEE-6C7E0598D9F9}"/>
              </a:ext>
            </a:extLst>
          </p:cNvPr>
          <p:cNvSpPr txBox="1"/>
          <p:nvPr/>
        </p:nvSpPr>
        <p:spPr>
          <a:xfrm>
            <a:off x="5540156" y="5209955"/>
            <a:ext cx="1002585" cy="369332"/>
          </a:xfrm>
          <a:prstGeom prst="rect">
            <a:avLst/>
          </a:prstGeom>
          <a:noFill/>
        </p:spPr>
        <p:txBody>
          <a:bodyPr wrap="square">
            <a:spAutoFit/>
          </a:bodyPr>
          <a:lstStyle/>
          <a:p>
            <a:pPr algn="ctr"/>
            <a:r>
              <a:rPr lang="en-US" sz="1800" dirty="0">
                <a:solidFill>
                  <a:schemeClr val="tx1"/>
                </a:solidFill>
              </a:rPr>
              <a:t>SS3</a:t>
            </a:r>
            <a:endParaRPr lang="en-US" dirty="0"/>
          </a:p>
        </p:txBody>
      </p:sp>
      <p:sp>
        <p:nvSpPr>
          <p:cNvPr id="21" name="TextBox 20">
            <a:extLst>
              <a:ext uri="{FF2B5EF4-FFF2-40B4-BE49-F238E27FC236}">
                <a16:creationId xmlns:a16="http://schemas.microsoft.com/office/drawing/2014/main" id="{105B537F-285D-E61C-7724-7607435971E0}"/>
              </a:ext>
            </a:extLst>
          </p:cNvPr>
          <p:cNvSpPr txBox="1"/>
          <p:nvPr/>
        </p:nvSpPr>
        <p:spPr>
          <a:xfrm>
            <a:off x="9531350" y="4108815"/>
            <a:ext cx="794564" cy="369332"/>
          </a:xfrm>
          <a:prstGeom prst="rect">
            <a:avLst/>
          </a:prstGeom>
          <a:noFill/>
        </p:spPr>
        <p:txBody>
          <a:bodyPr wrap="square">
            <a:spAutoFit/>
          </a:bodyPr>
          <a:lstStyle/>
          <a:p>
            <a:pPr algn="ctr"/>
            <a:r>
              <a:rPr lang="en-US" sz="1800" dirty="0">
                <a:solidFill>
                  <a:schemeClr val="tx1"/>
                </a:solidFill>
              </a:rPr>
              <a:t>SS4</a:t>
            </a:r>
            <a:endParaRPr lang="en-US" dirty="0"/>
          </a:p>
        </p:txBody>
      </p:sp>
    </p:spTree>
    <p:extLst>
      <p:ext uri="{BB962C8B-B14F-4D97-AF65-F5344CB8AC3E}">
        <p14:creationId xmlns:p14="http://schemas.microsoft.com/office/powerpoint/2010/main" val="2781035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AC731-4765-3E0C-F517-12A8E938269A}"/>
              </a:ext>
            </a:extLst>
          </p:cNvPr>
          <p:cNvSpPr>
            <a:spLocks noGrp="1"/>
          </p:cNvSpPr>
          <p:nvPr>
            <p:ph type="title"/>
          </p:nvPr>
        </p:nvSpPr>
        <p:spPr/>
        <p:txBody>
          <a:bodyPr>
            <a:normAutofit fontScale="90000"/>
          </a:bodyPr>
          <a:lstStyle/>
          <a:p>
            <a:r>
              <a:rPr lang="en-US" dirty="0"/>
              <a:t>Info On the Constraint Options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B3312A-DD29-E091-9023-D8241581E422}"/>
                  </a:ext>
                </a:extLst>
              </p:cNvPr>
              <p:cNvSpPr>
                <a:spLocks noGrp="1"/>
              </p:cNvSpPr>
              <p:nvPr>
                <p:ph idx="1"/>
              </p:nvPr>
            </p:nvSpPr>
            <p:spPr>
              <a:xfrm>
                <a:off x="105032" y="939585"/>
                <a:ext cx="11651540" cy="2273733"/>
              </a:xfrm>
            </p:spPr>
            <p:txBody>
              <a:bodyPr>
                <a:normAutofit fontScale="92500" lnSpcReduction="10000"/>
              </a:bodyPr>
              <a:lstStyle/>
              <a:p>
                <a:r>
                  <a:rPr lang="en-US" dirty="0"/>
                  <a:t>DOF labels </a:t>
                </a:r>
                <a14:m>
                  <m:oMath xmlns:m="http://schemas.openxmlformats.org/officeDocument/2006/math">
                    <m:r>
                      <a:rPr lang="en-US" i="1">
                        <a:latin typeface="Cambria Math" panose="02040503050406030204" pitchFamily="18" charset="0"/>
                      </a:rPr>
                      <m:t>→</m:t>
                    </m:r>
                  </m:oMath>
                </a14:m>
                <a:r>
                  <a:rPr lang="en-US" dirty="0"/>
                  <a:t> </a:t>
                </a:r>
                <a:r>
                  <a:rPr lang="en-US" b="1" dirty="0">
                    <a:solidFill>
                      <a:schemeClr val="tx1"/>
                    </a:solidFill>
                  </a:rPr>
                  <a:t>100s: Frame </a:t>
                </a:r>
                <a:r>
                  <a:rPr lang="en-US" dirty="0">
                    <a:solidFill>
                      <a:schemeClr val="tx1"/>
                    </a:solidFill>
                  </a:rPr>
                  <a:t>| </a:t>
                </a:r>
                <a:r>
                  <a:rPr lang="en-US" b="1" dirty="0">
                    <a:solidFill>
                      <a:schemeClr val="tx1"/>
                    </a:solidFill>
                  </a:rPr>
                  <a:t>200s: Plate </a:t>
                </a:r>
                <a:r>
                  <a:rPr lang="en-US" dirty="0">
                    <a:solidFill>
                      <a:schemeClr val="tx1"/>
                    </a:solidFill>
                  </a:rPr>
                  <a:t>| </a:t>
                </a:r>
                <a:r>
                  <a:rPr lang="en-US" b="1" dirty="0">
                    <a:solidFill>
                      <a:schemeClr val="tx1"/>
                    </a:solidFill>
                  </a:rPr>
                  <a:t>300s:Thin Wing </a:t>
                </a:r>
                <a:r>
                  <a:rPr lang="en-US" dirty="0">
                    <a:solidFill>
                      <a:schemeClr val="tx1"/>
                    </a:solidFill>
                  </a:rPr>
                  <a:t>| </a:t>
                </a:r>
                <a:r>
                  <a:rPr lang="en-US" b="1" dirty="0">
                    <a:solidFill>
                      <a:schemeClr val="tx1"/>
                    </a:solidFill>
                  </a:rPr>
                  <a:t>400s: Thick Wing</a:t>
                </a:r>
              </a:p>
              <a:p>
                <a:r>
                  <a:rPr lang="en-US" dirty="0"/>
                  <a:t>When decoupling the plate and thin wing, we’ll define constraints at all of the 200s and 300s since those are obviously the same in SS1 and SS2</a:t>
                </a:r>
              </a:p>
              <a:p>
                <a:r>
                  <a:rPr lang="en-US" dirty="0"/>
                  <a:t>To couple in the plate and thick wing, the plate is the same so we can use the 200s. In this scenario, the </a:t>
                </a:r>
                <a:r>
                  <a:rPr lang="en-US" dirty="0" err="1"/>
                  <a:t>accels</a:t>
                </a:r>
                <a:r>
                  <a:rPr lang="en-US" dirty="0"/>
                  <a:t> are in the same position on the thin and thick wing, so we can define constraints between the wings as well </a:t>
                </a:r>
                <a14:m>
                  <m:oMath xmlns:m="http://schemas.openxmlformats.org/officeDocument/2006/math">
                    <m:r>
                      <a:rPr lang="en-US" b="0" i="1" smtClean="0">
                        <a:latin typeface="Cambria Math" panose="02040503050406030204" pitchFamily="18" charset="0"/>
                      </a:rPr>
                      <m:t>→</m:t>
                    </m:r>
                  </m:oMath>
                </a14:m>
                <a:r>
                  <a:rPr lang="en-US" dirty="0"/>
                  <a:t> 300s to 400s</a:t>
                </a:r>
              </a:p>
            </p:txBody>
          </p:sp>
        </mc:Choice>
        <mc:Fallback xmlns="">
          <p:sp>
            <p:nvSpPr>
              <p:cNvPr id="3" name="Content Placeholder 2">
                <a:extLst>
                  <a:ext uri="{FF2B5EF4-FFF2-40B4-BE49-F238E27FC236}">
                    <a16:creationId xmlns:a16="http://schemas.microsoft.com/office/drawing/2014/main" id="{DFB3312A-DD29-E091-9023-D8241581E422}"/>
                  </a:ext>
                </a:extLst>
              </p:cNvPr>
              <p:cNvSpPr>
                <a:spLocks noGrp="1" noRot="1" noChangeAspect="1" noMove="1" noResize="1" noEditPoints="1" noAdjustHandles="1" noChangeArrowheads="1" noChangeShapeType="1" noTextEdit="1"/>
              </p:cNvSpPr>
              <p:nvPr>
                <p:ph idx="1"/>
              </p:nvPr>
            </p:nvSpPr>
            <p:spPr>
              <a:xfrm>
                <a:off x="105032" y="939585"/>
                <a:ext cx="11651540" cy="2273733"/>
              </a:xfrm>
              <a:blipFill>
                <a:blip r:embed="rId2"/>
                <a:stretch>
                  <a:fillRect l="-785" t="-5362" r="-1255" b="-6434"/>
                </a:stretch>
              </a:blipFill>
            </p:spPr>
            <p:txBody>
              <a:bodyPr/>
              <a:lstStyle/>
              <a:p>
                <a:r>
                  <a:rPr lang="en-US">
                    <a:noFill/>
                  </a:rPr>
                  <a:t> </a:t>
                </a:r>
              </a:p>
            </p:txBody>
          </p:sp>
        </mc:Fallback>
      </mc:AlternateContent>
      <p:pic>
        <p:nvPicPr>
          <p:cNvPr id="22" name="Picture 21">
            <a:extLst>
              <a:ext uri="{FF2B5EF4-FFF2-40B4-BE49-F238E27FC236}">
                <a16:creationId xmlns:a16="http://schemas.microsoft.com/office/drawing/2014/main" id="{499FF902-DE0C-B992-AB6A-C0BBD6A2FC6C}"/>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1600648" y="3310620"/>
            <a:ext cx="4276277" cy="3280864"/>
          </a:xfrm>
          <a:prstGeom prst="rect">
            <a:avLst/>
          </a:prstGeom>
        </p:spPr>
      </p:pic>
      <p:pic>
        <p:nvPicPr>
          <p:cNvPr id="23" name="Picture 22">
            <a:extLst>
              <a:ext uri="{FF2B5EF4-FFF2-40B4-BE49-F238E27FC236}">
                <a16:creationId xmlns:a16="http://schemas.microsoft.com/office/drawing/2014/main" id="{9A7B3972-BFA2-DB1D-57DC-A79AD5D8F307}"/>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6279532" y="4057296"/>
            <a:ext cx="5098924" cy="1787643"/>
          </a:xfrm>
          <a:prstGeom prst="rect">
            <a:avLst/>
          </a:prstGeom>
        </p:spPr>
      </p:pic>
      <p:cxnSp>
        <p:nvCxnSpPr>
          <p:cNvPr id="9" name="Straight Arrow Connector 8">
            <a:extLst>
              <a:ext uri="{FF2B5EF4-FFF2-40B4-BE49-F238E27FC236}">
                <a16:creationId xmlns:a16="http://schemas.microsoft.com/office/drawing/2014/main" id="{7EA2066D-E806-3EB4-AE62-3985825E6ED0}"/>
              </a:ext>
            </a:extLst>
          </p:cNvPr>
          <p:cNvCxnSpPr>
            <a:cxnSpLocks/>
          </p:cNvCxnSpPr>
          <p:nvPr/>
        </p:nvCxnSpPr>
        <p:spPr>
          <a:xfrm flipH="1">
            <a:off x="4109231" y="3718835"/>
            <a:ext cx="372961" cy="257175"/>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98582AD1-A832-FA1A-2544-84C26C61E229}"/>
              </a:ext>
            </a:extLst>
          </p:cNvPr>
          <p:cNvCxnSpPr>
            <a:cxnSpLocks/>
          </p:cNvCxnSpPr>
          <p:nvPr/>
        </p:nvCxnSpPr>
        <p:spPr>
          <a:xfrm>
            <a:off x="2877910" y="3816806"/>
            <a:ext cx="600075" cy="747032"/>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A2F142B-77A9-3493-F793-E73D003675AA}"/>
              </a:ext>
            </a:extLst>
          </p:cNvPr>
          <p:cNvCxnSpPr>
            <a:cxnSpLocks/>
          </p:cNvCxnSpPr>
          <p:nvPr/>
        </p:nvCxnSpPr>
        <p:spPr>
          <a:xfrm flipV="1">
            <a:off x="4761139" y="4951052"/>
            <a:ext cx="0" cy="570721"/>
          </a:xfrm>
          <a:prstGeom prst="straightConnector1">
            <a:avLst/>
          </a:prstGeom>
          <a:ln w="57150">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F8E703FF-0D5D-B04C-0A00-7DF536EA5C84}"/>
              </a:ext>
            </a:extLst>
          </p:cNvPr>
          <p:cNvCxnSpPr>
            <a:cxnSpLocks/>
          </p:cNvCxnSpPr>
          <p:nvPr/>
        </p:nvCxnSpPr>
        <p:spPr>
          <a:xfrm>
            <a:off x="8060496" y="3887563"/>
            <a:ext cx="600075" cy="747032"/>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FCAE1F1-2503-F373-EF45-A9C313228F0C}"/>
              </a:ext>
            </a:extLst>
          </p:cNvPr>
          <p:cNvCxnSpPr>
            <a:cxnSpLocks/>
            <a:stCxn id="20" idx="2"/>
          </p:cNvCxnSpPr>
          <p:nvPr/>
        </p:nvCxnSpPr>
        <p:spPr>
          <a:xfrm flipH="1">
            <a:off x="10205360" y="4119032"/>
            <a:ext cx="236175" cy="654183"/>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EE995B43-C0D8-0E33-2ADD-A2E3BBBA837A}"/>
              </a:ext>
            </a:extLst>
          </p:cNvPr>
          <p:cNvSpPr txBox="1"/>
          <p:nvPr/>
        </p:nvSpPr>
        <p:spPr>
          <a:xfrm>
            <a:off x="6821869" y="3570049"/>
            <a:ext cx="1289135" cy="369332"/>
          </a:xfrm>
          <a:prstGeom prst="rect">
            <a:avLst/>
          </a:prstGeom>
          <a:solidFill>
            <a:schemeClr val="bg1"/>
          </a:solidFill>
          <a:ln>
            <a:solidFill>
              <a:schemeClr val="tx1"/>
            </a:solidFill>
          </a:ln>
        </p:spPr>
        <p:txBody>
          <a:bodyPr wrap="none" rtlCol="0">
            <a:spAutoFit/>
          </a:bodyPr>
          <a:lstStyle/>
          <a:p>
            <a:pPr algn="ctr"/>
            <a:r>
              <a:rPr lang="en-US" dirty="0"/>
              <a:t>Plate: 200s</a:t>
            </a:r>
          </a:p>
        </p:txBody>
      </p:sp>
      <p:sp>
        <p:nvSpPr>
          <p:cNvPr id="20" name="TextBox 19">
            <a:extLst>
              <a:ext uri="{FF2B5EF4-FFF2-40B4-BE49-F238E27FC236}">
                <a16:creationId xmlns:a16="http://schemas.microsoft.com/office/drawing/2014/main" id="{A0009020-949C-2D4A-6BDF-4371871807AF}"/>
              </a:ext>
            </a:extLst>
          </p:cNvPr>
          <p:cNvSpPr txBox="1"/>
          <p:nvPr/>
        </p:nvSpPr>
        <p:spPr>
          <a:xfrm>
            <a:off x="9788952" y="3472701"/>
            <a:ext cx="1305165" cy="646331"/>
          </a:xfrm>
          <a:prstGeom prst="rect">
            <a:avLst/>
          </a:prstGeom>
          <a:solidFill>
            <a:schemeClr val="bg1"/>
          </a:solidFill>
          <a:ln>
            <a:solidFill>
              <a:schemeClr val="tx1"/>
            </a:solidFill>
          </a:ln>
        </p:spPr>
        <p:txBody>
          <a:bodyPr wrap="none" rtlCol="0">
            <a:spAutoFit/>
          </a:bodyPr>
          <a:lstStyle/>
          <a:p>
            <a:pPr algn="ctr"/>
            <a:r>
              <a:rPr lang="en-US" dirty="0"/>
              <a:t>Thin: 300s</a:t>
            </a:r>
          </a:p>
          <a:p>
            <a:pPr algn="ctr"/>
            <a:r>
              <a:rPr lang="en-US" dirty="0"/>
              <a:t>Thick: 400s</a:t>
            </a:r>
          </a:p>
        </p:txBody>
      </p:sp>
      <p:sp>
        <p:nvSpPr>
          <p:cNvPr id="4" name="TextBox 3">
            <a:extLst>
              <a:ext uri="{FF2B5EF4-FFF2-40B4-BE49-F238E27FC236}">
                <a16:creationId xmlns:a16="http://schemas.microsoft.com/office/drawing/2014/main" id="{C9A4A04A-0C4E-AB48-7135-03F45B6428D7}"/>
              </a:ext>
            </a:extLst>
          </p:cNvPr>
          <p:cNvSpPr txBox="1"/>
          <p:nvPr/>
        </p:nvSpPr>
        <p:spPr>
          <a:xfrm>
            <a:off x="4408713" y="3406959"/>
            <a:ext cx="1411669" cy="369332"/>
          </a:xfrm>
          <a:prstGeom prst="rect">
            <a:avLst/>
          </a:prstGeom>
          <a:solidFill>
            <a:schemeClr val="bg1"/>
          </a:solidFill>
          <a:ln>
            <a:solidFill>
              <a:schemeClr val="tx1"/>
            </a:solidFill>
          </a:ln>
        </p:spPr>
        <p:txBody>
          <a:bodyPr wrap="none" rtlCol="0">
            <a:spAutoFit/>
          </a:bodyPr>
          <a:lstStyle/>
          <a:p>
            <a:pPr algn="ctr"/>
            <a:r>
              <a:rPr lang="en-US" dirty="0"/>
              <a:t>Frame: 100s</a:t>
            </a:r>
          </a:p>
        </p:txBody>
      </p:sp>
      <p:sp>
        <p:nvSpPr>
          <p:cNvPr id="5" name="TextBox 4">
            <a:extLst>
              <a:ext uri="{FF2B5EF4-FFF2-40B4-BE49-F238E27FC236}">
                <a16:creationId xmlns:a16="http://schemas.microsoft.com/office/drawing/2014/main" id="{F984F211-D8AC-01C6-B1E3-BAEABAC4F55B}"/>
              </a:ext>
            </a:extLst>
          </p:cNvPr>
          <p:cNvSpPr txBox="1"/>
          <p:nvPr/>
        </p:nvSpPr>
        <p:spPr>
          <a:xfrm>
            <a:off x="1639283" y="3499292"/>
            <a:ext cx="1289135" cy="369332"/>
          </a:xfrm>
          <a:prstGeom prst="rect">
            <a:avLst/>
          </a:prstGeom>
          <a:solidFill>
            <a:schemeClr val="bg1"/>
          </a:solidFill>
        </p:spPr>
        <p:txBody>
          <a:bodyPr wrap="none" rtlCol="0">
            <a:spAutoFit/>
          </a:bodyPr>
          <a:lstStyle/>
          <a:p>
            <a:pPr algn="ctr"/>
            <a:r>
              <a:rPr lang="en-US" dirty="0"/>
              <a:t>Plate: 200s</a:t>
            </a:r>
          </a:p>
        </p:txBody>
      </p:sp>
      <p:sp>
        <p:nvSpPr>
          <p:cNvPr id="6" name="TextBox 5">
            <a:extLst>
              <a:ext uri="{FF2B5EF4-FFF2-40B4-BE49-F238E27FC236}">
                <a16:creationId xmlns:a16="http://schemas.microsoft.com/office/drawing/2014/main" id="{D975BC68-E18D-F53C-9443-7D89B50BFA0C}"/>
              </a:ext>
            </a:extLst>
          </p:cNvPr>
          <p:cNvSpPr txBox="1"/>
          <p:nvPr/>
        </p:nvSpPr>
        <p:spPr>
          <a:xfrm>
            <a:off x="4339551" y="5521773"/>
            <a:ext cx="1305165" cy="646331"/>
          </a:xfrm>
          <a:prstGeom prst="rect">
            <a:avLst/>
          </a:prstGeom>
          <a:solidFill>
            <a:schemeClr val="bg1"/>
          </a:solidFill>
        </p:spPr>
        <p:txBody>
          <a:bodyPr wrap="none" rtlCol="0">
            <a:spAutoFit/>
          </a:bodyPr>
          <a:lstStyle/>
          <a:p>
            <a:pPr algn="ctr"/>
            <a:r>
              <a:rPr lang="en-US" dirty="0"/>
              <a:t>Thin: 300s</a:t>
            </a:r>
          </a:p>
          <a:p>
            <a:pPr algn="ctr"/>
            <a:r>
              <a:rPr lang="en-US" dirty="0"/>
              <a:t>Thick: 400s</a:t>
            </a:r>
          </a:p>
        </p:txBody>
      </p:sp>
    </p:spTree>
    <p:extLst>
      <p:ext uri="{BB962C8B-B14F-4D97-AF65-F5344CB8AC3E}">
        <p14:creationId xmlns:p14="http://schemas.microsoft.com/office/powerpoint/2010/main" val="34568869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17353B5-2EB6-999B-142D-7933BE67DA52}"/>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6096000" y="3852107"/>
            <a:ext cx="5486411" cy="2743206"/>
          </a:xfrm>
          <a:prstGeom prst="rect">
            <a:avLst/>
          </a:prstGeom>
        </p:spPr>
      </p:pic>
      <p:graphicFrame>
        <p:nvGraphicFramePr>
          <p:cNvPr id="15" name="Table 14">
            <a:extLst>
              <a:ext uri="{FF2B5EF4-FFF2-40B4-BE49-F238E27FC236}">
                <a16:creationId xmlns:a16="http://schemas.microsoft.com/office/drawing/2014/main" id="{AC79D445-26D7-B433-B0E8-8CD4A41AB111}"/>
              </a:ext>
            </a:extLst>
          </p:cNvPr>
          <p:cNvGraphicFramePr>
            <a:graphicFrameLocks noGrp="1"/>
          </p:cNvGraphicFramePr>
          <p:nvPr>
            <p:extLst>
              <p:ext uri="{D42A27DB-BD31-4B8C-83A1-F6EECF244321}">
                <p14:modId xmlns:p14="http://schemas.microsoft.com/office/powerpoint/2010/main" val="1253903538"/>
              </p:ext>
            </p:extLst>
          </p:nvPr>
        </p:nvGraphicFramePr>
        <p:xfrm>
          <a:off x="624840" y="2197476"/>
          <a:ext cx="5246056" cy="3842449"/>
        </p:xfrm>
        <a:graphic>
          <a:graphicData uri="http://schemas.openxmlformats.org/drawingml/2006/table">
            <a:tbl>
              <a:tblPr firstRow="1" firstCol="1" bandRow="1">
                <a:tableStyleId>{5C22544A-7EE6-4342-B048-85BDC9FD1C3A}</a:tableStyleId>
              </a:tblPr>
              <a:tblGrid>
                <a:gridCol w="655757">
                  <a:extLst>
                    <a:ext uri="{9D8B030D-6E8A-4147-A177-3AD203B41FA5}">
                      <a16:colId xmlns:a16="http://schemas.microsoft.com/office/drawing/2014/main" val="3960139824"/>
                    </a:ext>
                  </a:extLst>
                </a:gridCol>
                <a:gridCol w="655757">
                  <a:extLst>
                    <a:ext uri="{9D8B030D-6E8A-4147-A177-3AD203B41FA5}">
                      <a16:colId xmlns:a16="http://schemas.microsoft.com/office/drawing/2014/main" val="992331722"/>
                    </a:ext>
                  </a:extLst>
                </a:gridCol>
                <a:gridCol w="655757">
                  <a:extLst>
                    <a:ext uri="{9D8B030D-6E8A-4147-A177-3AD203B41FA5}">
                      <a16:colId xmlns:a16="http://schemas.microsoft.com/office/drawing/2014/main" val="4008740349"/>
                    </a:ext>
                  </a:extLst>
                </a:gridCol>
                <a:gridCol w="655757">
                  <a:extLst>
                    <a:ext uri="{9D8B030D-6E8A-4147-A177-3AD203B41FA5}">
                      <a16:colId xmlns:a16="http://schemas.microsoft.com/office/drawing/2014/main" val="1513933499"/>
                    </a:ext>
                  </a:extLst>
                </a:gridCol>
                <a:gridCol w="655757">
                  <a:extLst>
                    <a:ext uri="{9D8B030D-6E8A-4147-A177-3AD203B41FA5}">
                      <a16:colId xmlns:a16="http://schemas.microsoft.com/office/drawing/2014/main" val="244609504"/>
                    </a:ext>
                  </a:extLst>
                </a:gridCol>
                <a:gridCol w="655757">
                  <a:extLst>
                    <a:ext uri="{9D8B030D-6E8A-4147-A177-3AD203B41FA5}">
                      <a16:colId xmlns:a16="http://schemas.microsoft.com/office/drawing/2014/main" val="1034054595"/>
                    </a:ext>
                  </a:extLst>
                </a:gridCol>
                <a:gridCol w="655757">
                  <a:extLst>
                    <a:ext uri="{9D8B030D-6E8A-4147-A177-3AD203B41FA5}">
                      <a16:colId xmlns:a16="http://schemas.microsoft.com/office/drawing/2014/main" val="2134070880"/>
                    </a:ext>
                  </a:extLst>
                </a:gridCol>
                <a:gridCol w="655757">
                  <a:extLst>
                    <a:ext uri="{9D8B030D-6E8A-4147-A177-3AD203B41FA5}">
                      <a16:colId xmlns:a16="http://schemas.microsoft.com/office/drawing/2014/main" val="3981333511"/>
                    </a:ext>
                  </a:extLst>
                </a:gridCol>
              </a:tblGrid>
              <a:tr h="295573">
                <a:tc>
                  <a:txBody>
                    <a:bodyPr/>
                    <a:lstStyle/>
                    <a:p>
                      <a:pPr algn="ctr" fontAlgn="b"/>
                      <a:r>
                        <a:rPr lang="en-US" sz="1100" u="none" strike="noStrike">
                          <a:effectLst/>
                        </a:rPr>
                        <a:t>Mode</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Truth wn</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CMS wn</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Truth zt</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CMS zt</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MAC</a:t>
                      </a:r>
                      <a:endParaRPr lang="en-US" sz="1100" b="1"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965683471"/>
                  </a:ext>
                </a:extLst>
              </a:tr>
              <a:tr h="295573">
                <a:tc>
                  <a:txBody>
                    <a:bodyPr/>
                    <a:lstStyle/>
                    <a:p>
                      <a:pPr algn="ctr" fontAlgn="b"/>
                      <a:r>
                        <a:rPr lang="en-US" sz="1100" u="none" strike="noStrike">
                          <a:effectLst/>
                        </a:rPr>
                        <a:t>1</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127.8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119.5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-6.49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dirty="0">
                          <a:effectLst/>
                        </a:rPr>
                        <a:t>0.23</a:t>
                      </a:r>
                      <a:endParaRPr lang="en-US" sz="1100" b="0" i="0" u="none" strike="noStrike" dirty="0">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0.28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23.5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793459765"/>
                  </a:ext>
                </a:extLst>
              </a:tr>
              <a:tr h="295573">
                <a:tc>
                  <a:txBody>
                    <a:bodyPr/>
                    <a:lstStyle/>
                    <a:p>
                      <a:pPr algn="ctr" fontAlgn="b"/>
                      <a:r>
                        <a:rPr lang="en-US" sz="1100" u="none" strike="noStrike">
                          <a:effectLst/>
                        </a:rPr>
                        <a:t>2</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236.2</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230.7</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-2.34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8.3</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0.97</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653001270"/>
                  </a:ext>
                </a:extLst>
              </a:tr>
              <a:tr h="295573">
                <a:tc>
                  <a:txBody>
                    <a:bodyPr/>
                    <a:lstStyle/>
                    <a:p>
                      <a:pPr algn="ctr" fontAlgn="b"/>
                      <a:r>
                        <a:rPr lang="en-US" sz="1100" u="none" strike="noStrike">
                          <a:effectLst/>
                        </a:rPr>
                        <a:t>3</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237.6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240.0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0.62</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dirty="0">
                          <a:effectLst/>
                        </a:rPr>
                        <a:t>-20.1</a:t>
                      </a:r>
                      <a:endParaRPr lang="en-US" sz="1100" b="0" i="0" u="none" strike="noStrike" dirty="0">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0.84</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758418075"/>
                  </a:ext>
                </a:extLst>
              </a:tr>
              <a:tr h="295573">
                <a:tc>
                  <a:txBody>
                    <a:bodyPr/>
                    <a:lstStyle/>
                    <a:p>
                      <a:pPr algn="ctr" fontAlgn="b"/>
                      <a:r>
                        <a:rPr lang="en-US" sz="1100" u="none" strike="noStrike">
                          <a:effectLst/>
                        </a:rPr>
                        <a:t>4</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dirty="0">
                          <a:effectLst/>
                        </a:rPr>
                        <a:t>356.1</a:t>
                      </a:r>
                      <a:endParaRPr lang="en-US" sz="1100" b="0" i="0" u="none" strike="noStrike" dirty="0">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343.4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-3.56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0.59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-14.8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0.92</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715413992"/>
                  </a:ext>
                </a:extLst>
              </a:tr>
              <a:tr h="295573">
                <a:tc>
                  <a:txBody>
                    <a:bodyPr/>
                    <a:lstStyle/>
                    <a:p>
                      <a:pPr algn="ctr" fontAlgn="b"/>
                      <a:r>
                        <a:rPr lang="en-US" sz="1100" u="none" strike="noStrike">
                          <a:effectLst/>
                        </a:rPr>
                        <a:t>5</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439.4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427.0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-2.81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0.51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0.21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-58.1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0.85</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870556763"/>
                  </a:ext>
                </a:extLst>
              </a:tr>
              <a:tr h="295573">
                <a:tc>
                  <a:txBody>
                    <a:bodyPr/>
                    <a:lstStyle/>
                    <a:p>
                      <a:pPr algn="ctr" fontAlgn="b"/>
                      <a:r>
                        <a:rPr lang="en-US" sz="1100" u="none" strike="noStrike">
                          <a:effectLst/>
                        </a:rPr>
                        <a:t>6</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454.6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427.0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-6.06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0.59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0.21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-63.9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0.52</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360064375"/>
                  </a:ext>
                </a:extLst>
              </a:tr>
              <a:tr h="295573">
                <a:tc>
                  <a:txBody>
                    <a:bodyPr/>
                    <a:lstStyle/>
                    <a:p>
                      <a:pPr algn="ctr" fontAlgn="b"/>
                      <a:r>
                        <a:rPr lang="en-US" sz="1100" u="none" strike="noStrike">
                          <a:effectLst/>
                        </a:rPr>
                        <a:t>7</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463.1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449.2</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-3.00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0.06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0.24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311.3</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2066204891"/>
                  </a:ext>
                </a:extLst>
              </a:tr>
              <a:tr h="295573">
                <a:tc>
                  <a:txBody>
                    <a:bodyPr/>
                    <a:lstStyle/>
                    <a:p>
                      <a:pPr algn="ctr" fontAlgn="b"/>
                      <a:r>
                        <a:rPr lang="en-US" sz="1100" u="none" strike="noStrike">
                          <a:effectLst/>
                        </a:rPr>
                        <a:t>8</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643.0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617.0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-4.04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0.49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-50.0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273630597"/>
                  </a:ext>
                </a:extLst>
              </a:tr>
              <a:tr h="295573">
                <a:tc>
                  <a:txBody>
                    <a:bodyPr/>
                    <a:lstStyle/>
                    <a:p>
                      <a:pPr algn="ctr" fontAlgn="b"/>
                      <a:r>
                        <a:rPr lang="en-US" sz="1100" u="none" strike="noStrike">
                          <a:effectLst/>
                        </a:rPr>
                        <a:t>9</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728.9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644.4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-11.59</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158.7</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0.83</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1126140233"/>
                  </a:ext>
                </a:extLst>
              </a:tr>
              <a:tr h="295573">
                <a:tc>
                  <a:txBody>
                    <a:bodyPr/>
                    <a:lstStyle/>
                    <a:p>
                      <a:pPr algn="ctr" fontAlgn="b"/>
                      <a:r>
                        <a:rPr lang="en-US" sz="1100" u="none" strike="noStrike">
                          <a:effectLst/>
                        </a:rPr>
                        <a:t>10</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733.5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728.1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-0.75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0.58</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-42.5</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3232158589"/>
                  </a:ext>
                </a:extLst>
              </a:tr>
              <a:tr h="295573">
                <a:tc>
                  <a:txBody>
                    <a:bodyPr/>
                    <a:lstStyle/>
                    <a:p>
                      <a:pPr algn="ctr" fontAlgn="b"/>
                      <a:r>
                        <a:rPr lang="en-US" sz="1100" u="none" strike="noStrike">
                          <a:effectLst/>
                        </a:rPr>
                        <a:t>11</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833.7</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831.1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-0.31</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0.13</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0.30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142.7</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3825020328"/>
                  </a:ext>
                </a:extLst>
              </a:tr>
              <a:tr h="295573">
                <a:tc>
                  <a:txBody>
                    <a:bodyPr/>
                    <a:lstStyle/>
                    <a:p>
                      <a:pPr algn="ctr" fontAlgn="b"/>
                      <a:r>
                        <a:rPr lang="en-US" sz="1100" u="none" strike="noStrike">
                          <a:effectLst/>
                        </a:rPr>
                        <a:t>12</a:t>
                      </a:r>
                      <a:endParaRPr lang="en-US" sz="1100" b="1"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910.2</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944.4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3.76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0.90</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0.46</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a:effectLst/>
                        </a:rPr>
                        <a:t>-48.4</a:t>
                      </a:r>
                      <a:endParaRPr lang="en-US" sz="1100" b="0" i="0" u="none" strike="noStrike">
                        <a:solidFill>
                          <a:srgbClr val="000000"/>
                        </a:solidFill>
                        <a:effectLst/>
                        <a:latin typeface="Aptos Narrow" panose="020B0004020202020204" pitchFamily="34" charset="0"/>
                      </a:endParaRPr>
                    </a:p>
                  </a:txBody>
                  <a:tcPr marL="4763" marR="4763" marT="4763" marB="0" anchor="ctr"/>
                </a:tc>
                <a:tc>
                  <a:txBody>
                    <a:bodyPr/>
                    <a:lstStyle/>
                    <a:p>
                      <a:pPr algn="ctr" fontAlgn="b"/>
                      <a:r>
                        <a:rPr lang="en-US" sz="1100" u="none" strike="noStrike" dirty="0">
                          <a:effectLst/>
                        </a:rPr>
                        <a:t>0.93</a:t>
                      </a:r>
                      <a:endParaRPr lang="en-US" sz="1100" b="0" i="0" u="none" strike="noStrike" dirty="0">
                        <a:solidFill>
                          <a:srgbClr val="000000"/>
                        </a:solidFill>
                        <a:effectLst/>
                        <a:latin typeface="Aptos Narrow" panose="020B0004020202020204" pitchFamily="34" charset="0"/>
                      </a:endParaRPr>
                    </a:p>
                  </a:txBody>
                  <a:tcPr marL="4763" marR="4763" marT="4763" marB="0" anchor="ctr"/>
                </a:tc>
                <a:extLst>
                  <a:ext uri="{0D108BD9-81ED-4DB2-BD59-A6C34878D82A}">
                    <a16:rowId xmlns:a16="http://schemas.microsoft.com/office/drawing/2014/main" val="4287778582"/>
                  </a:ext>
                </a:extLst>
              </a:tr>
            </a:tbl>
          </a:graphicData>
        </a:graphic>
      </p:graphicFrame>
      <p:sp>
        <p:nvSpPr>
          <p:cNvPr id="2" name="Title 1">
            <a:extLst>
              <a:ext uri="{FF2B5EF4-FFF2-40B4-BE49-F238E27FC236}">
                <a16:creationId xmlns:a16="http://schemas.microsoft.com/office/drawing/2014/main" id="{0D9BFF26-2709-750B-501F-EF99ABB32D09}"/>
              </a:ext>
            </a:extLst>
          </p:cNvPr>
          <p:cNvSpPr>
            <a:spLocks noGrp="1"/>
          </p:cNvSpPr>
          <p:nvPr>
            <p:ph type="title"/>
          </p:nvPr>
        </p:nvSpPr>
        <p:spPr>
          <a:xfrm>
            <a:off x="105032" y="136525"/>
            <a:ext cx="5990968" cy="662781"/>
          </a:xfrm>
        </p:spPr>
        <p:txBody>
          <a:bodyPr>
            <a:normAutofit fontScale="90000"/>
          </a:bodyPr>
          <a:lstStyle/>
          <a:p>
            <a:r>
              <a:rPr lang="en-US" dirty="0"/>
              <a:t>Linear CMS Results #1</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06B9B3-CF63-6055-B186-BC6E82A1E051}"/>
                  </a:ext>
                </a:extLst>
              </p:cNvPr>
              <p:cNvSpPr>
                <a:spLocks noGrp="1"/>
              </p:cNvSpPr>
              <p:nvPr>
                <p:ph idx="1"/>
              </p:nvPr>
            </p:nvSpPr>
            <p:spPr>
              <a:xfrm>
                <a:off x="428349" y="918903"/>
                <a:ext cx="5246056" cy="1210386"/>
              </a:xfrm>
            </p:spPr>
            <p:txBody>
              <a:bodyPr>
                <a:normAutofit/>
              </a:bodyPr>
              <a:lstStyle/>
              <a:p>
                <a:pPr marL="0" indent="0">
                  <a:buNone/>
                </a:pPr>
                <a:r>
                  <a:rPr lang="en-US" sz="2000" dirty="0"/>
                  <a:t>Modes: SS1=1:20 (857 Hz), SS2=1:14 (749 Hz), SS3=1:12 (951 Hz)</a:t>
                </a:r>
              </a:p>
              <a:p>
                <a:pPr marL="0" indent="0">
                  <a:buNone/>
                </a:pPr>
                <a:r>
                  <a:rPr lang="en-US" sz="2000" dirty="0"/>
                  <a:t>Constraints: DOF 200s, Constraint Softening: </a:t>
                </a:r>
                <a14:m>
                  <m:oMath xmlns:m="http://schemas.openxmlformats.org/officeDocument/2006/math">
                    <m:sSubSup>
                      <m:sSubSupPr>
                        <m:ctrlPr>
                          <a:rPr lang="en-US" sz="2000" i="1">
                            <a:latin typeface="Cambria Math" panose="02040503050406030204" pitchFamily="18" charset="0"/>
                          </a:rPr>
                        </m:ctrlPr>
                      </m:sSubSupPr>
                      <m:e>
                        <m:r>
                          <a:rPr lang="en-US" sz="2000" i="1">
                            <a:latin typeface="Cambria Math" panose="02040503050406030204" pitchFamily="18" charset="0"/>
                          </a:rPr>
                          <m:t>𝜙</m:t>
                        </m:r>
                      </m:e>
                      <m:sub>
                        <m:r>
                          <a:rPr lang="en-US" sz="2000" i="1">
                            <a:latin typeface="Cambria Math" panose="02040503050406030204" pitchFamily="18" charset="0"/>
                          </a:rPr>
                          <m:t>2</m:t>
                        </m:r>
                      </m:sub>
                      <m:sup>
                        <m:r>
                          <a:rPr lang="en-US" sz="2000" i="1">
                            <a:latin typeface="Cambria Math" panose="02040503050406030204" pitchFamily="18" charset="0"/>
                            <a:ea typeface="Cambria Math" panose="02040503050406030204" pitchFamily="18" charset="0"/>
                          </a:rPr>
                          <m:t>†</m:t>
                        </m:r>
                      </m:sup>
                    </m:sSubSup>
                  </m:oMath>
                </a14:m>
                <a:endParaRPr lang="en-US" sz="2000" dirty="0"/>
              </a:p>
            </p:txBody>
          </p:sp>
        </mc:Choice>
        <mc:Fallback xmlns="">
          <p:sp>
            <p:nvSpPr>
              <p:cNvPr id="3" name="Content Placeholder 2">
                <a:extLst>
                  <a:ext uri="{FF2B5EF4-FFF2-40B4-BE49-F238E27FC236}">
                    <a16:creationId xmlns:a16="http://schemas.microsoft.com/office/drawing/2014/main" id="{1E06B9B3-CF63-6055-B186-BC6E82A1E051}"/>
                  </a:ext>
                </a:extLst>
              </p:cNvPr>
              <p:cNvSpPr>
                <a:spLocks noGrp="1" noRot="1" noChangeAspect="1" noMove="1" noResize="1" noEditPoints="1" noAdjustHandles="1" noChangeArrowheads="1" noChangeShapeType="1" noTextEdit="1"/>
              </p:cNvSpPr>
              <p:nvPr>
                <p:ph idx="1"/>
              </p:nvPr>
            </p:nvSpPr>
            <p:spPr>
              <a:xfrm>
                <a:off x="428349" y="918903"/>
                <a:ext cx="5246056" cy="1210386"/>
              </a:xfrm>
              <a:blipFill>
                <a:blip r:embed="rId4"/>
                <a:stretch>
                  <a:fillRect l="-1161" t="-5051"/>
                </a:stretch>
              </a:blipFill>
            </p:spPr>
            <p:txBody>
              <a:bodyPr/>
              <a:lstStyle/>
              <a:p>
                <a:r>
                  <a:rPr lang="en-US">
                    <a:noFill/>
                  </a:rPr>
                  <a:t> </a:t>
                </a:r>
              </a:p>
            </p:txBody>
          </p:sp>
        </mc:Fallback>
      </mc:AlternateContent>
      <p:pic>
        <p:nvPicPr>
          <p:cNvPr id="17" name="Picture 16">
            <a:extLst>
              <a:ext uri="{FF2B5EF4-FFF2-40B4-BE49-F238E27FC236}">
                <a16:creationId xmlns:a16="http://schemas.microsoft.com/office/drawing/2014/main" id="{42DF18B2-4639-5DCB-E6D8-01C816593F13}"/>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6277240" y="194500"/>
            <a:ext cx="5486411" cy="3657607"/>
          </a:xfrm>
          <a:prstGeom prst="rect">
            <a:avLst/>
          </a:prstGeom>
        </p:spPr>
      </p:pic>
    </p:spTree>
    <p:extLst>
      <p:ext uri="{BB962C8B-B14F-4D97-AF65-F5344CB8AC3E}">
        <p14:creationId xmlns:p14="http://schemas.microsoft.com/office/powerpoint/2010/main" val="41529917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3B177F0-14FF-D48E-6653-543E5255A329}"/>
              </a:ext>
            </a:extLst>
          </p:cNvPr>
          <p:cNvGraphicFramePr>
            <a:graphicFrameLocks noGrp="1"/>
          </p:cNvGraphicFramePr>
          <p:nvPr>
            <p:extLst>
              <p:ext uri="{D42A27DB-BD31-4B8C-83A1-F6EECF244321}">
                <p14:modId xmlns:p14="http://schemas.microsoft.com/office/powerpoint/2010/main" val="3475372604"/>
              </p:ext>
            </p:extLst>
          </p:nvPr>
        </p:nvGraphicFramePr>
        <p:xfrm>
          <a:off x="504816" y="2077720"/>
          <a:ext cx="5366080" cy="4302744"/>
        </p:xfrm>
        <a:graphic>
          <a:graphicData uri="http://schemas.openxmlformats.org/drawingml/2006/table">
            <a:tbl>
              <a:tblPr firstRow="1" firstCol="1" bandRow="1">
                <a:tableStyleId>{5C22544A-7EE6-4342-B048-85BDC9FD1C3A}</a:tableStyleId>
              </a:tblPr>
              <a:tblGrid>
                <a:gridCol w="670760">
                  <a:extLst>
                    <a:ext uri="{9D8B030D-6E8A-4147-A177-3AD203B41FA5}">
                      <a16:colId xmlns:a16="http://schemas.microsoft.com/office/drawing/2014/main" val="1088085383"/>
                    </a:ext>
                  </a:extLst>
                </a:gridCol>
                <a:gridCol w="670760">
                  <a:extLst>
                    <a:ext uri="{9D8B030D-6E8A-4147-A177-3AD203B41FA5}">
                      <a16:colId xmlns:a16="http://schemas.microsoft.com/office/drawing/2014/main" val="1299060835"/>
                    </a:ext>
                  </a:extLst>
                </a:gridCol>
                <a:gridCol w="670760">
                  <a:extLst>
                    <a:ext uri="{9D8B030D-6E8A-4147-A177-3AD203B41FA5}">
                      <a16:colId xmlns:a16="http://schemas.microsoft.com/office/drawing/2014/main" val="3783232595"/>
                    </a:ext>
                  </a:extLst>
                </a:gridCol>
                <a:gridCol w="670760">
                  <a:extLst>
                    <a:ext uri="{9D8B030D-6E8A-4147-A177-3AD203B41FA5}">
                      <a16:colId xmlns:a16="http://schemas.microsoft.com/office/drawing/2014/main" val="1788176328"/>
                    </a:ext>
                  </a:extLst>
                </a:gridCol>
                <a:gridCol w="670760">
                  <a:extLst>
                    <a:ext uri="{9D8B030D-6E8A-4147-A177-3AD203B41FA5}">
                      <a16:colId xmlns:a16="http://schemas.microsoft.com/office/drawing/2014/main" val="556557645"/>
                    </a:ext>
                  </a:extLst>
                </a:gridCol>
                <a:gridCol w="670760">
                  <a:extLst>
                    <a:ext uri="{9D8B030D-6E8A-4147-A177-3AD203B41FA5}">
                      <a16:colId xmlns:a16="http://schemas.microsoft.com/office/drawing/2014/main" val="3599593696"/>
                    </a:ext>
                  </a:extLst>
                </a:gridCol>
                <a:gridCol w="670760">
                  <a:extLst>
                    <a:ext uri="{9D8B030D-6E8A-4147-A177-3AD203B41FA5}">
                      <a16:colId xmlns:a16="http://schemas.microsoft.com/office/drawing/2014/main" val="3716484006"/>
                    </a:ext>
                  </a:extLst>
                </a:gridCol>
                <a:gridCol w="670760">
                  <a:extLst>
                    <a:ext uri="{9D8B030D-6E8A-4147-A177-3AD203B41FA5}">
                      <a16:colId xmlns:a16="http://schemas.microsoft.com/office/drawing/2014/main" val="1456896496"/>
                    </a:ext>
                  </a:extLst>
                </a:gridCol>
              </a:tblGrid>
              <a:tr h="179281">
                <a:tc>
                  <a:txBody>
                    <a:bodyPr/>
                    <a:lstStyle/>
                    <a:p>
                      <a:pPr algn="ctr" fontAlgn="ctr"/>
                      <a:r>
                        <a:rPr lang="en-US" sz="1100" u="none" strike="noStrike" dirty="0">
                          <a:effectLst/>
                        </a:rPr>
                        <a:t>Mode</a:t>
                      </a:r>
                      <a:endParaRPr lang="en-US" sz="1100" b="1"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Truth wn</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CMS wn</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Truth zt</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CMS zt</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MAC</a:t>
                      </a:r>
                      <a:endParaRPr lang="en-US" sz="1100" b="1"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774830076"/>
                  </a:ext>
                </a:extLst>
              </a:tr>
              <a:tr h="179281">
                <a:tc>
                  <a:txBody>
                    <a:bodyPr/>
                    <a:lstStyle/>
                    <a:p>
                      <a:pPr algn="ctr" fontAlgn="ctr"/>
                      <a:r>
                        <a:rPr lang="en-US" sz="1100" u="none" strike="noStrike" dirty="0">
                          <a:effectLst/>
                        </a:rPr>
                        <a:t>1</a:t>
                      </a:r>
                      <a:endParaRPr lang="en-US" sz="1100" b="1"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127.7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-0.12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0.11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-52.7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1.00</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793807840"/>
                  </a:ext>
                </a:extLst>
              </a:tr>
              <a:tr h="179281">
                <a:tc>
                  <a:txBody>
                    <a:bodyPr/>
                    <a:lstStyle/>
                    <a:p>
                      <a:pPr algn="ctr" fontAlgn="ctr"/>
                      <a:r>
                        <a:rPr lang="en-US" sz="1100" u="none" strike="noStrike">
                          <a:effectLst/>
                        </a:rPr>
                        <a:t>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dirty="0">
                          <a:effectLst/>
                        </a:rPr>
                        <a:t>236.2</a:t>
                      </a:r>
                      <a:endParaRPr lang="en-US" sz="1100" b="0"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232.6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10.7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69908922"/>
                  </a:ext>
                </a:extLst>
              </a:tr>
              <a:tr h="179281">
                <a:tc>
                  <a:txBody>
                    <a:bodyPr/>
                    <a:lstStyle/>
                    <a:p>
                      <a:pPr algn="ctr" fontAlgn="ctr"/>
                      <a:r>
                        <a:rPr lang="en-US" sz="1100" u="none" strike="noStrike">
                          <a:effectLst/>
                        </a:rPr>
                        <a:t>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237.6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242.8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2.16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0.94</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258129268"/>
                  </a:ext>
                </a:extLst>
              </a:tr>
              <a:tr h="179281">
                <a:tc>
                  <a:txBody>
                    <a:bodyPr/>
                    <a:lstStyle/>
                    <a:p>
                      <a:pPr algn="ctr" fontAlgn="ctr"/>
                      <a:r>
                        <a:rPr lang="en-US" sz="1100" u="none" strike="noStrike">
                          <a:effectLst/>
                        </a:rPr>
                        <a:t>4</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356.1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356.4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0.09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-14.2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96595560"/>
                  </a:ext>
                </a:extLst>
              </a:tr>
              <a:tr h="179281">
                <a:tc>
                  <a:txBody>
                    <a:bodyPr/>
                    <a:lstStyle/>
                    <a:p>
                      <a:pPr algn="ctr" fontAlgn="ctr"/>
                      <a:r>
                        <a:rPr lang="en-US" sz="1100" u="none" strike="noStrike">
                          <a:effectLst/>
                        </a:rPr>
                        <a:t>5</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439.4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442.6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0.51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-33.2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0.85</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993007311"/>
                  </a:ext>
                </a:extLst>
              </a:tr>
              <a:tr h="179281">
                <a:tc>
                  <a:txBody>
                    <a:bodyPr/>
                    <a:lstStyle/>
                    <a:p>
                      <a:pPr algn="ctr" fontAlgn="ctr"/>
                      <a:r>
                        <a:rPr lang="en-US" sz="1100" u="none" strike="noStrike">
                          <a:effectLst/>
                        </a:rPr>
                        <a:t>6</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454.6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454.3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0.59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23.5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791891696"/>
                  </a:ext>
                </a:extLst>
              </a:tr>
              <a:tr h="179281">
                <a:tc>
                  <a:txBody>
                    <a:bodyPr/>
                    <a:lstStyle/>
                    <a:p>
                      <a:pPr algn="ctr" fontAlgn="ctr"/>
                      <a:r>
                        <a:rPr lang="en-US" sz="1100" u="none" strike="noStrike">
                          <a:effectLst/>
                        </a:rPr>
                        <a:t>7</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463.1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437.7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-5.48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0.19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231.8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0.92</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543044862"/>
                  </a:ext>
                </a:extLst>
              </a:tr>
              <a:tr h="179281">
                <a:tc>
                  <a:txBody>
                    <a:bodyPr/>
                    <a:lstStyle/>
                    <a:p>
                      <a:pPr algn="ctr" fontAlgn="ctr"/>
                      <a:r>
                        <a:rPr lang="en-US" sz="1100" u="none" strike="noStrike">
                          <a:effectLst/>
                        </a:rPr>
                        <a:t>8</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643.0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631.5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-1.79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0.41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-58.4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947898812"/>
                  </a:ext>
                </a:extLst>
              </a:tr>
              <a:tr h="179281">
                <a:tc>
                  <a:txBody>
                    <a:bodyPr/>
                    <a:lstStyle/>
                    <a:p>
                      <a:pPr algn="ctr" fontAlgn="ctr"/>
                      <a:r>
                        <a:rPr lang="en-US" sz="1100" u="none" strike="noStrike">
                          <a:effectLst/>
                        </a:rPr>
                        <a:t>9</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728.9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704.8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-3.31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132.3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4257753920"/>
                  </a:ext>
                </a:extLst>
              </a:tr>
              <a:tr h="179281">
                <a:tc>
                  <a:txBody>
                    <a:bodyPr/>
                    <a:lstStyle/>
                    <a:p>
                      <a:pPr algn="ctr" fontAlgn="ctr"/>
                      <a:r>
                        <a:rPr lang="en-US" sz="1100" u="none" strike="noStrike">
                          <a:effectLst/>
                        </a:rPr>
                        <a:t>10</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733.5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741.2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1.04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0.58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-50.7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29462882"/>
                  </a:ext>
                </a:extLst>
              </a:tr>
              <a:tr h="179281">
                <a:tc>
                  <a:txBody>
                    <a:bodyPr/>
                    <a:lstStyle/>
                    <a:p>
                      <a:pPr algn="ctr" fontAlgn="ctr"/>
                      <a:r>
                        <a:rPr lang="en-US" sz="1100" u="none" strike="noStrike">
                          <a:effectLst/>
                        </a:rPr>
                        <a:t>11</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833.7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831.6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0.13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146.0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243743725"/>
                  </a:ext>
                </a:extLst>
              </a:tr>
              <a:tr h="179281">
                <a:tc>
                  <a:txBody>
                    <a:bodyPr/>
                    <a:lstStyle/>
                    <a:p>
                      <a:pPr algn="ctr" fontAlgn="ctr"/>
                      <a:r>
                        <a:rPr lang="en-US" sz="1100" u="none" strike="noStrike">
                          <a:effectLst/>
                        </a:rPr>
                        <a:t>12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910.2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888.2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-2.42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-29.3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819255658"/>
                  </a:ext>
                </a:extLst>
              </a:tr>
              <a:tr h="179281">
                <a:tc>
                  <a:txBody>
                    <a:bodyPr/>
                    <a:lstStyle/>
                    <a:p>
                      <a:pPr algn="ctr" fontAlgn="ctr"/>
                      <a:r>
                        <a:rPr lang="en-US" sz="1100" u="none" strike="noStrike">
                          <a:effectLst/>
                        </a:rPr>
                        <a:t>13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995.2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959.5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-3.60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0.53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157700516"/>
                  </a:ext>
                </a:extLst>
              </a:tr>
              <a:tr h="179281">
                <a:tc>
                  <a:txBody>
                    <a:bodyPr/>
                    <a:lstStyle/>
                    <a:p>
                      <a:pPr algn="ctr" fontAlgn="ctr"/>
                      <a:r>
                        <a:rPr lang="en-US" sz="1100" u="none" strike="noStrike">
                          <a:effectLst/>
                        </a:rPr>
                        <a:t>14</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1235.5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1229.7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-0.47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1.36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-42.0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508774043"/>
                  </a:ext>
                </a:extLst>
              </a:tr>
              <a:tr h="179281">
                <a:tc>
                  <a:txBody>
                    <a:bodyPr/>
                    <a:lstStyle/>
                    <a:p>
                      <a:pPr algn="ctr" fontAlgn="ctr"/>
                      <a:r>
                        <a:rPr lang="en-US" sz="1100" u="none" strike="noStrike">
                          <a:effectLst/>
                        </a:rPr>
                        <a:t>15</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1329.9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1320.5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66.2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0.97</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918253799"/>
                  </a:ext>
                </a:extLst>
              </a:tr>
              <a:tr h="179281">
                <a:tc>
                  <a:txBody>
                    <a:bodyPr/>
                    <a:lstStyle/>
                    <a:p>
                      <a:pPr algn="ctr" fontAlgn="ctr"/>
                      <a:r>
                        <a:rPr lang="en-US" sz="1100" u="none" strike="noStrike">
                          <a:effectLst/>
                        </a:rPr>
                        <a:t>16</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1428.5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1438.4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0.88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875463865"/>
                  </a:ext>
                </a:extLst>
              </a:tr>
              <a:tr h="179281">
                <a:tc>
                  <a:txBody>
                    <a:bodyPr/>
                    <a:lstStyle/>
                    <a:p>
                      <a:pPr algn="ctr" fontAlgn="ctr"/>
                      <a:r>
                        <a:rPr lang="en-US" sz="1100" u="none" strike="noStrike">
                          <a:effectLst/>
                        </a:rPr>
                        <a:t>17</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1472.5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1509.5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2.51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-43.3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0.93</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660101648"/>
                  </a:ext>
                </a:extLst>
              </a:tr>
              <a:tr h="179281">
                <a:tc>
                  <a:txBody>
                    <a:bodyPr/>
                    <a:lstStyle/>
                    <a:p>
                      <a:pPr algn="ctr" fontAlgn="ctr"/>
                      <a:r>
                        <a:rPr lang="en-US" sz="1100" u="none" strike="noStrike">
                          <a:effectLst/>
                        </a:rPr>
                        <a:t>18</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1625.5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1608.5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-1.05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0.44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-41.3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063422908"/>
                  </a:ext>
                </a:extLst>
              </a:tr>
              <a:tr h="179281">
                <a:tc>
                  <a:txBody>
                    <a:bodyPr/>
                    <a:lstStyle/>
                    <a:p>
                      <a:pPr algn="ctr" fontAlgn="ctr"/>
                      <a:r>
                        <a:rPr lang="en-US" sz="1100" u="none" strike="noStrike">
                          <a:effectLst/>
                        </a:rPr>
                        <a:t>20</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1772.2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dirty="0">
                          <a:effectLst/>
                        </a:rPr>
                        <a:t>1833.2</a:t>
                      </a:r>
                      <a:endParaRPr lang="en-US" sz="1100" b="0"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3.45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-7.7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0.75</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400632012"/>
                  </a:ext>
                </a:extLst>
              </a:tr>
              <a:tr h="179281">
                <a:tc>
                  <a:txBody>
                    <a:bodyPr/>
                    <a:lstStyle/>
                    <a:p>
                      <a:pPr algn="ctr" fontAlgn="ctr"/>
                      <a:r>
                        <a:rPr lang="en-US" sz="1100" u="none" strike="noStrike">
                          <a:effectLst/>
                        </a:rPr>
                        <a:t>23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2112.5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2096.8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0.50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-31.9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0.93</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983935076"/>
                  </a:ext>
                </a:extLst>
              </a:tr>
              <a:tr h="179281">
                <a:tc>
                  <a:txBody>
                    <a:bodyPr/>
                    <a:lstStyle/>
                    <a:p>
                      <a:pPr algn="ctr" fontAlgn="ctr"/>
                      <a:r>
                        <a:rPr lang="en-US" sz="1100" u="none" strike="noStrike">
                          <a:effectLst/>
                        </a:rPr>
                        <a:t>29</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2767.5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2628.0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-5.04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-66.1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238188293"/>
                  </a:ext>
                </a:extLst>
              </a:tr>
              <a:tr h="179281">
                <a:tc>
                  <a:txBody>
                    <a:bodyPr/>
                    <a:lstStyle/>
                    <a:p>
                      <a:pPr algn="ctr" fontAlgn="ctr"/>
                      <a:r>
                        <a:rPr lang="en-US" sz="1100" u="none" strike="noStrike">
                          <a:effectLst/>
                        </a:rPr>
                        <a:t>31</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2900.8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2902.5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-1.2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634036703"/>
                  </a:ext>
                </a:extLst>
              </a:tr>
              <a:tr h="179281">
                <a:tc>
                  <a:txBody>
                    <a:bodyPr/>
                    <a:lstStyle/>
                    <a:p>
                      <a:pPr algn="ctr" fontAlgn="ctr"/>
                      <a:r>
                        <a:rPr lang="en-US" sz="1100" u="none" strike="noStrike">
                          <a:effectLst/>
                        </a:rPr>
                        <a:t>32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2910.8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2935.7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a:effectLst/>
                        </a:rPr>
                        <a:t>-2.0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ctr"/>
                      <a:r>
                        <a:rPr lang="en-US" sz="1100" u="none" strike="noStrike" dirty="0">
                          <a:effectLst/>
                        </a:rPr>
                        <a:t>0.98</a:t>
                      </a:r>
                      <a:endParaRPr lang="en-US" sz="1100" b="0" i="0" u="none" strike="noStrike" dirty="0">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279216907"/>
                  </a:ext>
                </a:extLst>
              </a:tr>
            </a:tbl>
          </a:graphicData>
        </a:graphic>
      </p:graphicFrame>
      <p:pic>
        <p:nvPicPr>
          <p:cNvPr id="12" name="Picture 11">
            <a:extLst>
              <a:ext uri="{FF2B5EF4-FFF2-40B4-BE49-F238E27FC236}">
                <a16:creationId xmlns:a16="http://schemas.microsoft.com/office/drawing/2014/main" id="{F7B8F5DB-29AE-809A-B39E-0032EB3CBB92}"/>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6096000" y="3844094"/>
            <a:ext cx="5486411" cy="2743206"/>
          </a:xfrm>
          <a:prstGeom prst="rect">
            <a:avLst/>
          </a:prstGeom>
        </p:spPr>
      </p:pic>
      <p:pic>
        <p:nvPicPr>
          <p:cNvPr id="7" name="Picture 6">
            <a:extLst>
              <a:ext uri="{FF2B5EF4-FFF2-40B4-BE49-F238E27FC236}">
                <a16:creationId xmlns:a16="http://schemas.microsoft.com/office/drawing/2014/main" id="{430FAD16-ABB4-791E-A66C-EEF1905732A2}"/>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6196780" y="224980"/>
            <a:ext cx="5486411" cy="3657607"/>
          </a:xfrm>
          <a:prstGeom prst="rect">
            <a:avLst/>
          </a:prstGeom>
        </p:spPr>
      </p:pic>
      <p:sp>
        <p:nvSpPr>
          <p:cNvPr id="2" name="Title 1">
            <a:extLst>
              <a:ext uri="{FF2B5EF4-FFF2-40B4-BE49-F238E27FC236}">
                <a16:creationId xmlns:a16="http://schemas.microsoft.com/office/drawing/2014/main" id="{0D9BFF26-2709-750B-501F-EF99ABB32D09}"/>
              </a:ext>
            </a:extLst>
          </p:cNvPr>
          <p:cNvSpPr>
            <a:spLocks noGrp="1"/>
          </p:cNvSpPr>
          <p:nvPr>
            <p:ph type="title"/>
          </p:nvPr>
        </p:nvSpPr>
        <p:spPr>
          <a:xfrm>
            <a:off x="105032" y="136525"/>
            <a:ext cx="5863968" cy="662781"/>
          </a:xfrm>
        </p:spPr>
        <p:txBody>
          <a:bodyPr>
            <a:normAutofit fontScale="90000"/>
          </a:bodyPr>
          <a:lstStyle/>
          <a:p>
            <a:r>
              <a:rPr lang="en-US" dirty="0"/>
              <a:t>Linear CMS Results #2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06B9B3-CF63-6055-B186-BC6E82A1E051}"/>
                  </a:ext>
                </a:extLst>
              </p:cNvPr>
              <p:cNvSpPr>
                <a:spLocks noGrp="1"/>
              </p:cNvSpPr>
              <p:nvPr>
                <p:ph idx="1"/>
              </p:nvPr>
            </p:nvSpPr>
            <p:spPr>
              <a:xfrm>
                <a:off x="184012" y="833320"/>
                <a:ext cx="5292180" cy="1210386"/>
              </a:xfrm>
            </p:spPr>
            <p:txBody>
              <a:bodyPr>
                <a:normAutofit fontScale="92500" lnSpcReduction="10000"/>
              </a:bodyPr>
              <a:lstStyle/>
              <a:p>
                <a:pPr marL="0" indent="0">
                  <a:buNone/>
                </a:pPr>
                <a:r>
                  <a:rPr lang="en-US" sz="2000" dirty="0"/>
                  <a:t>Modes: SS1=1:30 (1490 Hz), SS2=1:25 (1779 Hz), SS3=1:28 (3897 Hz)</a:t>
                </a:r>
                <a:br>
                  <a:rPr lang="en-US" sz="2000" dirty="0"/>
                </a:br>
                <a:r>
                  <a:rPr lang="en-US" sz="2000" b="1" dirty="0"/>
                  <a:t>Constraints: DOF 200s &amp; 300s</a:t>
                </a:r>
              </a:p>
              <a:p>
                <a:pPr marL="0" indent="0">
                  <a:buNone/>
                </a:pPr>
                <a:r>
                  <a:rPr lang="en-US" sz="2000" dirty="0"/>
                  <a:t>Constraint Softening: </a:t>
                </a:r>
                <a14:m>
                  <m:oMath xmlns:m="http://schemas.openxmlformats.org/officeDocument/2006/math">
                    <m:sSubSup>
                      <m:sSubSupPr>
                        <m:ctrlPr>
                          <a:rPr lang="en-US" sz="2000" i="1">
                            <a:latin typeface="Cambria Math" panose="02040503050406030204" pitchFamily="18" charset="0"/>
                          </a:rPr>
                        </m:ctrlPr>
                      </m:sSubSupPr>
                      <m:e>
                        <m:r>
                          <a:rPr lang="en-US" sz="2000" i="1">
                            <a:latin typeface="Cambria Math" panose="02040503050406030204" pitchFamily="18" charset="0"/>
                          </a:rPr>
                          <m:t>𝜙</m:t>
                        </m:r>
                      </m:e>
                      <m:sub>
                        <m:r>
                          <a:rPr lang="en-US" sz="2000" i="1">
                            <a:latin typeface="Cambria Math" panose="02040503050406030204" pitchFamily="18" charset="0"/>
                          </a:rPr>
                          <m:t>2</m:t>
                        </m:r>
                      </m:sub>
                      <m:sup>
                        <m:r>
                          <a:rPr lang="en-US" sz="2000" i="1">
                            <a:latin typeface="Cambria Math" panose="02040503050406030204" pitchFamily="18" charset="0"/>
                            <a:ea typeface="Cambria Math" panose="02040503050406030204" pitchFamily="18" charset="0"/>
                          </a:rPr>
                          <m:t>†</m:t>
                        </m:r>
                      </m:sup>
                    </m:sSubSup>
                  </m:oMath>
                </a14:m>
                <a:endParaRPr lang="en-US" sz="2000" dirty="0"/>
              </a:p>
            </p:txBody>
          </p:sp>
        </mc:Choice>
        <mc:Fallback xmlns="">
          <p:sp>
            <p:nvSpPr>
              <p:cNvPr id="3" name="Content Placeholder 2">
                <a:extLst>
                  <a:ext uri="{FF2B5EF4-FFF2-40B4-BE49-F238E27FC236}">
                    <a16:creationId xmlns:a16="http://schemas.microsoft.com/office/drawing/2014/main" id="{1E06B9B3-CF63-6055-B186-BC6E82A1E051}"/>
                  </a:ext>
                </a:extLst>
              </p:cNvPr>
              <p:cNvSpPr>
                <a:spLocks noGrp="1" noRot="1" noChangeAspect="1" noMove="1" noResize="1" noEditPoints="1" noAdjustHandles="1" noChangeArrowheads="1" noChangeShapeType="1" noTextEdit="1"/>
              </p:cNvSpPr>
              <p:nvPr>
                <p:ph idx="1"/>
              </p:nvPr>
            </p:nvSpPr>
            <p:spPr>
              <a:xfrm>
                <a:off x="184012" y="833320"/>
                <a:ext cx="5292180" cy="1210386"/>
              </a:xfrm>
              <a:blipFill>
                <a:blip r:embed="rId5"/>
                <a:stretch>
                  <a:fillRect l="-1037" t="-6566" b="-6566"/>
                </a:stretch>
              </a:blipFill>
            </p:spPr>
            <p:txBody>
              <a:bodyPr/>
              <a:lstStyle/>
              <a:p>
                <a:r>
                  <a:rPr lang="en-US">
                    <a:noFill/>
                  </a:rPr>
                  <a:t> </a:t>
                </a:r>
              </a:p>
            </p:txBody>
          </p:sp>
        </mc:Fallback>
      </mc:AlternateContent>
    </p:spTree>
    <p:extLst>
      <p:ext uri="{BB962C8B-B14F-4D97-AF65-F5344CB8AC3E}">
        <p14:creationId xmlns:p14="http://schemas.microsoft.com/office/powerpoint/2010/main" val="156435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221303A-D3F9-6B88-0FFA-54D3CFB2A48C}"/>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199184" y="318058"/>
            <a:ext cx="5486411" cy="3657607"/>
          </a:xfrm>
          <a:prstGeom prst="rect">
            <a:avLst/>
          </a:prstGeom>
        </p:spPr>
      </p:pic>
      <p:graphicFrame>
        <p:nvGraphicFramePr>
          <p:cNvPr id="4" name="Table 3">
            <a:extLst>
              <a:ext uri="{FF2B5EF4-FFF2-40B4-BE49-F238E27FC236}">
                <a16:creationId xmlns:a16="http://schemas.microsoft.com/office/drawing/2014/main" id="{D6100260-EE33-A17F-D775-EAC8BB0DEA70}"/>
              </a:ext>
            </a:extLst>
          </p:cNvPr>
          <p:cNvGraphicFramePr>
            <a:graphicFrameLocks noGrp="1"/>
          </p:cNvGraphicFramePr>
          <p:nvPr>
            <p:extLst>
              <p:ext uri="{D42A27DB-BD31-4B8C-83A1-F6EECF244321}">
                <p14:modId xmlns:p14="http://schemas.microsoft.com/office/powerpoint/2010/main" val="2262179436"/>
              </p:ext>
            </p:extLst>
          </p:nvPr>
        </p:nvGraphicFramePr>
        <p:xfrm>
          <a:off x="506405" y="2077720"/>
          <a:ext cx="5364488" cy="4282440"/>
        </p:xfrm>
        <a:graphic>
          <a:graphicData uri="http://schemas.openxmlformats.org/drawingml/2006/table">
            <a:tbl>
              <a:tblPr firstRow="1" firstCol="1" bandRow="1">
                <a:tableStyleId>{5C22544A-7EE6-4342-B048-85BDC9FD1C3A}</a:tableStyleId>
              </a:tblPr>
              <a:tblGrid>
                <a:gridCol w="670561">
                  <a:extLst>
                    <a:ext uri="{9D8B030D-6E8A-4147-A177-3AD203B41FA5}">
                      <a16:colId xmlns:a16="http://schemas.microsoft.com/office/drawing/2014/main" val="92702223"/>
                    </a:ext>
                  </a:extLst>
                </a:gridCol>
                <a:gridCol w="670561">
                  <a:extLst>
                    <a:ext uri="{9D8B030D-6E8A-4147-A177-3AD203B41FA5}">
                      <a16:colId xmlns:a16="http://schemas.microsoft.com/office/drawing/2014/main" val="4031048006"/>
                    </a:ext>
                  </a:extLst>
                </a:gridCol>
                <a:gridCol w="670561">
                  <a:extLst>
                    <a:ext uri="{9D8B030D-6E8A-4147-A177-3AD203B41FA5}">
                      <a16:colId xmlns:a16="http://schemas.microsoft.com/office/drawing/2014/main" val="3767244779"/>
                    </a:ext>
                  </a:extLst>
                </a:gridCol>
                <a:gridCol w="670561">
                  <a:extLst>
                    <a:ext uri="{9D8B030D-6E8A-4147-A177-3AD203B41FA5}">
                      <a16:colId xmlns:a16="http://schemas.microsoft.com/office/drawing/2014/main" val="3821276077"/>
                    </a:ext>
                  </a:extLst>
                </a:gridCol>
                <a:gridCol w="670561">
                  <a:extLst>
                    <a:ext uri="{9D8B030D-6E8A-4147-A177-3AD203B41FA5}">
                      <a16:colId xmlns:a16="http://schemas.microsoft.com/office/drawing/2014/main" val="1921130870"/>
                    </a:ext>
                  </a:extLst>
                </a:gridCol>
                <a:gridCol w="670561">
                  <a:extLst>
                    <a:ext uri="{9D8B030D-6E8A-4147-A177-3AD203B41FA5}">
                      <a16:colId xmlns:a16="http://schemas.microsoft.com/office/drawing/2014/main" val="1802221847"/>
                    </a:ext>
                  </a:extLst>
                </a:gridCol>
                <a:gridCol w="670561">
                  <a:extLst>
                    <a:ext uri="{9D8B030D-6E8A-4147-A177-3AD203B41FA5}">
                      <a16:colId xmlns:a16="http://schemas.microsoft.com/office/drawing/2014/main" val="193060008"/>
                    </a:ext>
                  </a:extLst>
                </a:gridCol>
                <a:gridCol w="670561">
                  <a:extLst>
                    <a:ext uri="{9D8B030D-6E8A-4147-A177-3AD203B41FA5}">
                      <a16:colId xmlns:a16="http://schemas.microsoft.com/office/drawing/2014/main" val="210476813"/>
                    </a:ext>
                  </a:extLst>
                </a:gridCol>
              </a:tblGrid>
              <a:tr h="178435">
                <a:tc>
                  <a:txBody>
                    <a:bodyPr/>
                    <a:lstStyle/>
                    <a:p>
                      <a:pPr algn="ctr" fontAlgn="b"/>
                      <a:r>
                        <a:rPr lang="en-US" sz="1100" u="none" strike="noStrike" dirty="0">
                          <a:effectLst/>
                        </a:rPr>
                        <a:t>Mode</a:t>
                      </a:r>
                      <a:endParaRPr lang="en-US" sz="1100" b="1"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Truth wn</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CMS wn</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Truth zt</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CMS zt</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Error %</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MAC</a:t>
                      </a:r>
                      <a:endParaRPr lang="en-US" sz="1100" b="1"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605959640"/>
                  </a:ext>
                </a:extLst>
              </a:tr>
              <a:tr h="178435">
                <a:tc>
                  <a:txBody>
                    <a:bodyPr/>
                    <a:lstStyle/>
                    <a:p>
                      <a:pPr algn="ctr" fontAlgn="b"/>
                      <a:r>
                        <a:rPr lang="en-US" sz="1100" u="none" strike="noStrike" dirty="0">
                          <a:effectLst/>
                        </a:rPr>
                        <a:t>1</a:t>
                      </a:r>
                      <a:endParaRPr lang="en-US" sz="1100" b="1"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127.8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125.0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-52.0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1.00</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009487346"/>
                  </a:ext>
                </a:extLst>
              </a:tr>
              <a:tr h="178435">
                <a:tc>
                  <a:txBody>
                    <a:bodyPr/>
                    <a:lstStyle/>
                    <a:p>
                      <a:pPr algn="ctr" fontAlgn="b"/>
                      <a:r>
                        <a:rPr lang="en-US" sz="1100" u="none" strike="noStrike">
                          <a:effectLst/>
                        </a:rPr>
                        <a:t>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236.2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232.6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12.8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825224612"/>
                  </a:ext>
                </a:extLst>
              </a:tr>
              <a:tr h="178435">
                <a:tc>
                  <a:txBody>
                    <a:bodyPr/>
                    <a:lstStyle/>
                    <a:p>
                      <a:pPr algn="ctr" fontAlgn="b"/>
                      <a:r>
                        <a:rPr lang="en-US" sz="1100" u="none" strike="noStrike">
                          <a:effectLst/>
                        </a:rPr>
                        <a:t>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237.6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242.4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2.01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dirty="0">
                          <a:effectLst/>
                        </a:rPr>
                        <a:t>0.78</a:t>
                      </a:r>
                      <a:endParaRPr lang="en-US" sz="1100" b="0"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-18.6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0.97</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182777627"/>
                  </a:ext>
                </a:extLst>
              </a:tr>
              <a:tr h="178435">
                <a:tc>
                  <a:txBody>
                    <a:bodyPr/>
                    <a:lstStyle/>
                    <a:p>
                      <a:pPr algn="ctr" fontAlgn="b"/>
                      <a:r>
                        <a:rPr lang="en-US" sz="1100" u="none" strike="noStrike">
                          <a:effectLst/>
                        </a:rPr>
                        <a:t>4</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356.1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356.4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0.09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-14.2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948442707"/>
                  </a:ext>
                </a:extLst>
              </a:tr>
              <a:tr h="178435">
                <a:tc>
                  <a:txBody>
                    <a:bodyPr/>
                    <a:lstStyle/>
                    <a:p>
                      <a:pPr algn="ctr" fontAlgn="b"/>
                      <a:r>
                        <a:rPr lang="en-US" sz="1100" u="none" strike="noStrike">
                          <a:effectLst/>
                        </a:rPr>
                        <a:t>5</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439.4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441.8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-30.0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625745821"/>
                  </a:ext>
                </a:extLst>
              </a:tr>
              <a:tr h="178435">
                <a:tc>
                  <a:txBody>
                    <a:bodyPr/>
                    <a:lstStyle/>
                    <a:p>
                      <a:pPr algn="ctr" fontAlgn="b"/>
                      <a:r>
                        <a:rPr lang="en-US" sz="1100" u="none" strike="noStrike">
                          <a:effectLst/>
                        </a:rPr>
                        <a:t>6</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454.6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453.9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22.1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728428870"/>
                  </a:ext>
                </a:extLst>
              </a:tr>
              <a:tr h="178435">
                <a:tc>
                  <a:txBody>
                    <a:bodyPr/>
                    <a:lstStyle/>
                    <a:p>
                      <a:pPr algn="ctr" fontAlgn="b"/>
                      <a:r>
                        <a:rPr lang="en-US" sz="1100" u="none" strike="noStrike">
                          <a:effectLst/>
                        </a:rPr>
                        <a:t>7</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463.1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446.0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228.2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0.95</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038569302"/>
                  </a:ext>
                </a:extLst>
              </a:tr>
              <a:tr h="178435">
                <a:tc>
                  <a:txBody>
                    <a:bodyPr/>
                    <a:lstStyle/>
                    <a:p>
                      <a:pPr algn="ctr" fontAlgn="b"/>
                      <a:r>
                        <a:rPr lang="en-US" sz="1100" u="none" strike="noStrike">
                          <a:effectLst/>
                        </a:rPr>
                        <a:t>8</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643.0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630.7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-1.91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0.41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-59.0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557040783"/>
                  </a:ext>
                </a:extLst>
              </a:tr>
              <a:tr h="178435">
                <a:tc>
                  <a:txBody>
                    <a:bodyPr/>
                    <a:lstStyle/>
                    <a:p>
                      <a:pPr algn="ctr" fontAlgn="b"/>
                      <a:r>
                        <a:rPr lang="en-US" sz="1100" u="none" strike="noStrike">
                          <a:effectLst/>
                        </a:rPr>
                        <a:t>9</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728.9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700.6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-3.89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132.0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0.98</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4206849079"/>
                  </a:ext>
                </a:extLst>
              </a:tr>
              <a:tr h="178435">
                <a:tc>
                  <a:txBody>
                    <a:bodyPr/>
                    <a:lstStyle/>
                    <a:p>
                      <a:pPr algn="ctr" fontAlgn="b"/>
                      <a:r>
                        <a:rPr lang="en-US" sz="1100" u="none" strike="noStrike">
                          <a:effectLst/>
                        </a:rPr>
                        <a:t>10</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733.5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738.5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-50.6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4051907645"/>
                  </a:ext>
                </a:extLst>
              </a:tr>
              <a:tr h="178435">
                <a:tc>
                  <a:txBody>
                    <a:bodyPr/>
                    <a:lstStyle/>
                    <a:p>
                      <a:pPr algn="ctr" fontAlgn="b"/>
                      <a:r>
                        <a:rPr lang="en-US" sz="1100" u="none" strike="noStrike">
                          <a:effectLst/>
                        </a:rPr>
                        <a:t>11</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833.7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831.8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144.5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0.96</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940473130"/>
                  </a:ext>
                </a:extLst>
              </a:tr>
              <a:tr h="178435">
                <a:tc>
                  <a:txBody>
                    <a:bodyPr/>
                    <a:lstStyle/>
                    <a:p>
                      <a:pPr algn="ctr" fontAlgn="b"/>
                      <a:r>
                        <a:rPr lang="en-US" sz="1100" u="none" strike="noStrike">
                          <a:effectLst/>
                        </a:rPr>
                        <a:t>12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910.2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888.2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-2.42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-28.7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122776889"/>
                  </a:ext>
                </a:extLst>
              </a:tr>
              <a:tr h="178435">
                <a:tc>
                  <a:txBody>
                    <a:bodyPr/>
                    <a:lstStyle/>
                    <a:p>
                      <a:pPr algn="ctr" fontAlgn="b"/>
                      <a:r>
                        <a:rPr lang="en-US" sz="1100" u="none" strike="noStrike">
                          <a:effectLst/>
                        </a:rPr>
                        <a:t>13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995.2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961.6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-11.3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0.97</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581944563"/>
                  </a:ext>
                </a:extLst>
              </a:tr>
              <a:tr h="178435">
                <a:tc>
                  <a:txBody>
                    <a:bodyPr/>
                    <a:lstStyle/>
                    <a:p>
                      <a:pPr algn="ctr" fontAlgn="b"/>
                      <a:r>
                        <a:rPr lang="en-US" sz="1100" u="none" strike="noStrike">
                          <a:effectLst/>
                        </a:rPr>
                        <a:t>14</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1235.5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1204.0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-2.56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1.36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0.82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-40.1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038249790"/>
                  </a:ext>
                </a:extLst>
              </a:tr>
              <a:tr h="178435">
                <a:tc>
                  <a:txBody>
                    <a:bodyPr/>
                    <a:lstStyle/>
                    <a:p>
                      <a:pPr algn="ctr" fontAlgn="b"/>
                      <a:r>
                        <a:rPr lang="en-US" sz="1100" u="none" strike="noStrike">
                          <a:effectLst/>
                        </a:rPr>
                        <a:t>15</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1329.9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1320.3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1.30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66.2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0.97</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658033116"/>
                  </a:ext>
                </a:extLst>
              </a:tr>
              <a:tr h="178435">
                <a:tc>
                  <a:txBody>
                    <a:bodyPr/>
                    <a:lstStyle/>
                    <a:p>
                      <a:pPr algn="ctr" fontAlgn="b"/>
                      <a:r>
                        <a:rPr lang="en-US" sz="1100" u="none" strike="noStrike">
                          <a:effectLst/>
                        </a:rPr>
                        <a:t>16</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1428.5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1445.5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1.19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0.89</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999938054"/>
                  </a:ext>
                </a:extLst>
              </a:tr>
              <a:tr h="178435">
                <a:tc>
                  <a:txBody>
                    <a:bodyPr/>
                    <a:lstStyle/>
                    <a:p>
                      <a:pPr algn="ctr" fontAlgn="b"/>
                      <a:r>
                        <a:rPr lang="en-US" sz="1100" u="none" strike="noStrike">
                          <a:effectLst/>
                        </a:rPr>
                        <a:t>17</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1472.5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1505.6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-44.9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0.92</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512521508"/>
                  </a:ext>
                </a:extLst>
              </a:tr>
              <a:tr h="178435">
                <a:tc>
                  <a:txBody>
                    <a:bodyPr/>
                    <a:lstStyle/>
                    <a:p>
                      <a:pPr algn="ctr" fontAlgn="b"/>
                      <a:r>
                        <a:rPr lang="en-US" sz="1100" u="none" strike="noStrike">
                          <a:effectLst/>
                        </a:rPr>
                        <a:t>18</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dirty="0">
                          <a:effectLst/>
                        </a:rPr>
                        <a:t>1625.5</a:t>
                      </a:r>
                      <a:endParaRPr lang="en-US" sz="1100" b="0"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1643.9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1.13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0.44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0.26</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-41.7</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0.93</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4038064810"/>
                  </a:ext>
                </a:extLst>
              </a:tr>
              <a:tr h="178435">
                <a:tc>
                  <a:txBody>
                    <a:bodyPr/>
                    <a:lstStyle/>
                    <a:p>
                      <a:pPr algn="ctr" fontAlgn="b"/>
                      <a:r>
                        <a:rPr lang="en-US" sz="1100" u="none" strike="noStrike">
                          <a:effectLst/>
                        </a:rPr>
                        <a:t>20</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1772.2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1833.8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3.48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0.64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-8.5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0.74</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6436115"/>
                  </a:ext>
                </a:extLst>
              </a:tr>
              <a:tr h="178435">
                <a:tc>
                  <a:txBody>
                    <a:bodyPr/>
                    <a:lstStyle/>
                    <a:p>
                      <a:pPr algn="ctr" fontAlgn="b"/>
                      <a:r>
                        <a:rPr lang="en-US" sz="1100" u="none" strike="noStrike">
                          <a:effectLst/>
                        </a:rPr>
                        <a:t>23</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2112.5</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2110.1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0.73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0.50</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-32.1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0.92</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2573396153"/>
                  </a:ext>
                </a:extLst>
              </a:tr>
              <a:tr h="178435">
                <a:tc>
                  <a:txBody>
                    <a:bodyPr/>
                    <a:lstStyle/>
                    <a:p>
                      <a:pPr algn="ctr" fontAlgn="b"/>
                      <a:r>
                        <a:rPr lang="en-US" sz="1100" u="none" strike="noStrike">
                          <a:effectLst/>
                        </a:rPr>
                        <a:t>30</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2828.2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dirty="0">
                          <a:effectLst/>
                        </a:rPr>
                        <a:t>2737.2</a:t>
                      </a:r>
                      <a:endParaRPr lang="en-US" sz="1100" b="0" i="0" u="none" strike="noStrike" dirty="0">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0.34</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-35.9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0.87</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3528492022"/>
                  </a:ext>
                </a:extLst>
              </a:tr>
              <a:tr h="178435">
                <a:tc>
                  <a:txBody>
                    <a:bodyPr/>
                    <a:lstStyle/>
                    <a:p>
                      <a:pPr algn="ctr" fontAlgn="b"/>
                      <a:r>
                        <a:rPr lang="en-US" sz="1100" u="none" strike="noStrike">
                          <a:effectLst/>
                        </a:rPr>
                        <a:t>31</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2900.8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2911.8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0.38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0.1</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0.95</a:t>
                      </a:r>
                      <a:endParaRPr lang="en-US" sz="1100" b="0" i="0" u="none" strike="noStrike">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1440615887"/>
                  </a:ext>
                </a:extLst>
              </a:tr>
              <a:tr h="178435">
                <a:tc>
                  <a:txBody>
                    <a:bodyPr/>
                    <a:lstStyle/>
                    <a:p>
                      <a:pPr algn="ctr" fontAlgn="b"/>
                      <a:r>
                        <a:rPr lang="en-US" sz="1100" u="none" strike="noStrike">
                          <a:effectLst/>
                        </a:rPr>
                        <a:t>32</a:t>
                      </a:r>
                      <a:endParaRPr lang="en-US" sz="1100" b="1"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2910.8</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2940.9</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1.03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0.22</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a:effectLst/>
                        </a:rPr>
                        <a:t>-2.3</a:t>
                      </a:r>
                      <a:endParaRPr lang="en-US" sz="1100" b="0" i="0" u="none" strike="noStrike">
                        <a:solidFill>
                          <a:srgbClr val="000000"/>
                        </a:solidFill>
                        <a:effectLst/>
                        <a:latin typeface="Aptos Narrow" panose="020B0004020202020204" pitchFamily="34" charset="0"/>
                      </a:endParaRPr>
                    </a:p>
                  </a:txBody>
                  <a:tcPr marL="4689" marR="4689" marT="4689" marB="0" anchor="ctr"/>
                </a:tc>
                <a:tc>
                  <a:txBody>
                    <a:bodyPr/>
                    <a:lstStyle/>
                    <a:p>
                      <a:pPr algn="ctr" fontAlgn="b"/>
                      <a:r>
                        <a:rPr lang="en-US" sz="1100" u="none" strike="noStrike" dirty="0">
                          <a:effectLst/>
                        </a:rPr>
                        <a:t>0.97</a:t>
                      </a:r>
                      <a:endParaRPr lang="en-US" sz="1100" b="0" i="0" u="none" strike="noStrike" dirty="0">
                        <a:solidFill>
                          <a:srgbClr val="000000"/>
                        </a:solidFill>
                        <a:effectLst/>
                        <a:latin typeface="Aptos Narrow" panose="020B0004020202020204" pitchFamily="34" charset="0"/>
                      </a:endParaRPr>
                    </a:p>
                  </a:txBody>
                  <a:tcPr marL="4689" marR="4689" marT="4689" marB="0" anchor="ctr"/>
                </a:tc>
                <a:extLst>
                  <a:ext uri="{0D108BD9-81ED-4DB2-BD59-A6C34878D82A}">
                    <a16:rowId xmlns:a16="http://schemas.microsoft.com/office/drawing/2014/main" val="4177929425"/>
                  </a:ext>
                </a:extLst>
              </a:tr>
            </a:tbl>
          </a:graphicData>
        </a:graphic>
      </p:graphicFrame>
      <p:sp>
        <p:nvSpPr>
          <p:cNvPr id="2" name="Title 1">
            <a:extLst>
              <a:ext uri="{FF2B5EF4-FFF2-40B4-BE49-F238E27FC236}">
                <a16:creationId xmlns:a16="http://schemas.microsoft.com/office/drawing/2014/main" id="{0D9BFF26-2709-750B-501F-EF99ABB32D09}"/>
              </a:ext>
            </a:extLst>
          </p:cNvPr>
          <p:cNvSpPr>
            <a:spLocks noGrp="1"/>
          </p:cNvSpPr>
          <p:nvPr>
            <p:ph type="title"/>
          </p:nvPr>
        </p:nvSpPr>
        <p:spPr>
          <a:xfrm>
            <a:off x="105032" y="136525"/>
            <a:ext cx="5863968" cy="662781"/>
          </a:xfrm>
        </p:spPr>
        <p:txBody>
          <a:bodyPr>
            <a:normAutofit fontScale="90000"/>
          </a:bodyPr>
          <a:lstStyle/>
          <a:p>
            <a:r>
              <a:rPr lang="en-US" dirty="0"/>
              <a:t>Linear CMS Results #3</a:t>
            </a:r>
          </a:p>
        </p:txBody>
      </p:sp>
      <p:sp>
        <p:nvSpPr>
          <p:cNvPr id="3" name="Content Placeholder 2">
            <a:extLst>
              <a:ext uri="{FF2B5EF4-FFF2-40B4-BE49-F238E27FC236}">
                <a16:creationId xmlns:a16="http://schemas.microsoft.com/office/drawing/2014/main" id="{1E06B9B3-CF63-6055-B186-BC6E82A1E051}"/>
              </a:ext>
            </a:extLst>
          </p:cNvPr>
          <p:cNvSpPr>
            <a:spLocks noGrp="1"/>
          </p:cNvSpPr>
          <p:nvPr>
            <p:ph idx="1"/>
          </p:nvPr>
        </p:nvSpPr>
        <p:spPr>
          <a:xfrm>
            <a:off x="178114" y="833320"/>
            <a:ext cx="5186681" cy="1210386"/>
          </a:xfrm>
        </p:spPr>
        <p:txBody>
          <a:bodyPr>
            <a:normAutofit fontScale="92500" lnSpcReduction="10000"/>
          </a:bodyPr>
          <a:lstStyle/>
          <a:p>
            <a:pPr marL="0" indent="0">
              <a:buNone/>
            </a:pPr>
            <a:r>
              <a:rPr lang="en-US" sz="2000" dirty="0"/>
              <a:t>Modes: SS1=1:30 (1489 Hz), SS2=1:23 (1560 Hz), SS3=1:26 (3649 Hz)</a:t>
            </a:r>
            <a:br>
              <a:rPr lang="en-US" sz="2000" dirty="0"/>
            </a:br>
            <a:r>
              <a:rPr lang="en-US" sz="2000" dirty="0"/>
              <a:t>Constraints: DOF 200s &amp; 300s</a:t>
            </a:r>
          </a:p>
          <a:p>
            <a:pPr marL="0" indent="0">
              <a:buNone/>
            </a:pPr>
            <a:r>
              <a:rPr lang="en-US" sz="2000" b="1" dirty="0"/>
              <a:t>Constraint Softening: SVD (10%,10%)</a:t>
            </a:r>
          </a:p>
        </p:txBody>
      </p:sp>
      <p:pic>
        <p:nvPicPr>
          <p:cNvPr id="15" name="Picture 14">
            <a:extLst>
              <a:ext uri="{FF2B5EF4-FFF2-40B4-BE49-F238E27FC236}">
                <a16:creationId xmlns:a16="http://schemas.microsoft.com/office/drawing/2014/main" id="{98A9528D-5D4D-306E-4D73-4EB94181282E}"/>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6096000" y="3852616"/>
            <a:ext cx="5486411" cy="2743206"/>
          </a:xfrm>
          <a:prstGeom prst="rect">
            <a:avLst/>
          </a:prstGeom>
        </p:spPr>
      </p:pic>
    </p:spTree>
    <p:extLst>
      <p:ext uri="{BB962C8B-B14F-4D97-AF65-F5344CB8AC3E}">
        <p14:creationId xmlns:p14="http://schemas.microsoft.com/office/powerpoint/2010/main" val="31409513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FC5D5-FCFF-8D0E-7FA5-CB4D09FECE5A}"/>
              </a:ext>
            </a:extLst>
          </p:cNvPr>
          <p:cNvSpPr>
            <a:spLocks noGrp="1"/>
          </p:cNvSpPr>
          <p:nvPr>
            <p:ph type="title"/>
          </p:nvPr>
        </p:nvSpPr>
        <p:spPr>
          <a:xfrm>
            <a:off x="409832" y="629386"/>
            <a:ext cx="10515600" cy="1662545"/>
          </a:xfrm>
        </p:spPr>
        <p:txBody>
          <a:bodyPr>
            <a:normAutofit/>
          </a:bodyPr>
          <a:lstStyle/>
          <a:p>
            <a:r>
              <a:rPr lang="en-US" dirty="0"/>
              <a:t>Another Example from the Wiki </a:t>
            </a:r>
            <a:br>
              <a:rPr lang="en-US" dirty="0"/>
            </a:br>
            <a:r>
              <a:rPr lang="en-US" dirty="0"/>
              <a:t>- Thin Wing to Swept Wing -</a:t>
            </a:r>
          </a:p>
        </p:txBody>
      </p:sp>
    </p:spTree>
    <p:extLst>
      <p:ext uri="{BB962C8B-B14F-4D97-AF65-F5344CB8AC3E}">
        <p14:creationId xmlns:p14="http://schemas.microsoft.com/office/powerpoint/2010/main" val="20377017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a:extLst>
              <a:ext uri="{FF2B5EF4-FFF2-40B4-BE49-F238E27FC236}">
                <a16:creationId xmlns:a16="http://schemas.microsoft.com/office/drawing/2014/main" id="{C5D20DEA-15A6-4C60-9A20-84805A367A14}"/>
              </a:ext>
            </a:extLst>
          </p:cNvPr>
          <p:cNvPicPr>
            <a:picLocks noChangeAspect="1"/>
          </p:cNvPicPr>
          <p:nvPr/>
        </p:nvPicPr>
        <p:blipFill>
          <a:blip r:embed="rId2"/>
          <a:stretch>
            <a:fillRect/>
          </a:stretch>
        </p:blipFill>
        <p:spPr>
          <a:xfrm>
            <a:off x="8558960" y="4053974"/>
            <a:ext cx="2770321" cy="1976140"/>
          </a:xfrm>
          <a:prstGeom prst="rect">
            <a:avLst/>
          </a:prstGeom>
        </p:spPr>
      </p:pic>
      <p:pic>
        <p:nvPicPr>
          <p:cNvPr id="46" name="Picture 45">
            <a:extLst>
              <a:ext uri="{FF2B5EF4-FFF2-40B4-BE49-F238E27FC236}">
                <a16:creationId xmlns:a16="http://schemas.microsoft.com/office/drawing/2014/main" id="{597955D4-B1B7-484C-97B2-F7000F9B3918}"/>
              </a:ext>
            </a:extLst>
          </p:cNvPr>
          <p:cNvPicPr>
            <a:picLocks noChangeAspect="1"/>
          </p:cNvPicPr>
          <p:nvPr/>
        </p:nvPicPr>
        <p:blipFill>
          <a:blip r:embed="rId2"/>
          <a:stretch>
            <a:fillRect/>
          </a:stretch>
        </p:blipFill>
        <p:spPr>
          <a:xfrm>
            <a:off x="4399200" y="4607677"/>
            <a:ext cx="3103939" cy="1976140"/>
          </a:xfrm>
          <a:prstGeom prst="rect">
            <a:avLst/>
          </a:prstGeom>
        </p:spPr>
      </p:pic>
      <p:sp>
        <p:nvSpPr>
          <p:cNvPr id="13" name="Rectangle 12">
            <a:extLst>
              <a:ext uri="{FF2B5EF4-FFF2-40B4-BE49-F238E27FC236}">
                <a16:creationId xmlns:a16="http://schemas.microsoft.com/office/drawing/2014/main" id="{F8213DD2-505F-4438-92A8-C7D418A0846B}"/>
              </a:ext>
            </a:extLst>
          </p:cNvPr>
          <p:cNvSpPr/>
          <p:nvPr/>
        </p:nvSpPr>
        <p:spPr>
          <a:xfrm>
            <a:off x="564044" y="3348861"/>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25" name="Rectangle 24">
            <a:extLst>
              <a:ext uri="{FF2B5EF4-FFF2-40B4-BE49-F238E27FC236}">
                <a16:creationId xmlns:a16="http://schemas.microsoft.com/office/drawing/2014/main" id="{B30DC50B-4994-4575-839E-6111C94EEDC0}"/>
              </a:ext>
            </a:extLst>
          </p:cNvPr>
          <p:cNvSpPr/>
          <p:nvPr/>
        </p:nvSpPr>
        <p:spPr>
          <a:xfrm>
            <a:off x="1643822" y="3348863"/>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Substructuring Diagram</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40854" y="799306"/>
            <a:ext cx="11337324" cy="4978829"/>
          </a:xfrm>
        </p:spPr>
        <p:txBody>
          <a:bodyPr>
            <a:normAutofit/>
          </a:bodyPr>
          <a:lstStyle/>
          <a:p>
            <a:pPr lvl="1"/>
            <a:r>
              <a:rPr lang="en-US" dirty="0"/>
              <a:t>The goal of this example is to take a frame, plate, and thin-wing assembly, and use experimental substructuring to remove the thin-wing and plate, then replace it with the swept wing</a:t>
            </a:r>
          </a:p>
          <a:p>
            <a:pPr lvl="1"/>
            <a:r>
              <a:rPr lang="en-US" dirty="0"/>
              <a:t>We wanted to perform this prediction blind without measuring truth and develop tools and habits for successful blind substructuring.</a:t>
            </a:r>
          </a:p>
          <a:p>
            <a:pPr marL="201159" lvl="1" indent="0">
              <a:buNone/>
            </a:pPr>
            <a:endParaRPr lang="en-US" b="1" dirty="0"/>
          </a:p>
        </p:txBody>
      </p:sp>
      <p:pic>
        <p:nvPicPr>
          <p:cNvPr id="6" name="Picture 5">
            <a:extLst>
              <a:ext uri="{FF2B5EF4-FFF2-40B4-BE49-F238E27FC236}">
                <a16:creationId xmlns:a16="http://schemas.microsoft.com/office/drawing/2014/main" id="{EB736EE4-327F-4071-81FB-62FDCA8BE839}"/>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609737" y="2742643"/>
            <a:ext cx="1070755" cy="2534753"/>
          </a:xfrm>
          <a:prstGeom prst="rect">
            <a:avLst/>
          </a:prstGeom>
        </p:spPr>
      </p:pic>
      <p:sp>
        <p:nvSpPr>
          <p:cNvPr id="28" name="Rectangle 27">
            <a:extLst>
              <a:ext uri="{FF2B5EF4-FFF2-40B4-BE49-F238E27FC236}">
                <a16:creationId xmlns:a16="http://schemas.microsoft.com/office/drawing/2014/main" id="{64027176-99CE-4DE2-A443-87AC19BB1D65}"/>
              </a:ext>
            </a:extLst>
          </p:cNvPr>
          <p:cNvSpPr/>
          <p:nvPr/>
        </p:nvSpPr>
        <p:spPr>
          <a:xfrm>
            <a:off x="4348400" y="3359105"/>
            <a:ext cx="3289728" cy="717873"/>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29" name="Rectangle 28">
            <a:extLst>
              <a:ext uri="{FF2B5EF4-FFF2-40B4-BE49-F238E27FC236}">
                <a16:creationId xmlns:a16="http://schemas.microsoft.com/office/drawing/2014/main" id="{0560A412-9F3C-400A-BCB3-9A1C093AE097}"/>
              </a:ext>
            </a:extLst>
          </p:cNvPr>
          <p:cNvSpPr/>
          <p:nvPr/>
        </p:nvSpPr>
        <p:spPr>
          <a:xfrm>
            <a:off x="5491971" y="3359105"/>
            <a:ext cx="1002586" cy="717872"/>
          </a:xfrm>
          <a:prstGeom prst="rect">
            <a:avLst/>
          </a:prstGeom>
          <a:solidFill>
            <a:schemeClr val="accent5">
              <a:alpha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pic>
        <p:nvPicPr>
          <p:cNvPr id="34" name="Picture 33">
            <a:extLst>
              <a:ext uri="{FF2B5EF4-FFF2-40B4-BE49-F238E27FC236}">
                <a16:creationId xmlns:a16="http://schemas.microsoft.com/office/drawing/2014/main" id="{5B744EB2-EAEB-477E-AB65-82925A7F201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9408742" y="3402881"/>
            <a:ext cx="1121894" cy="2655812"/>
          </a:xfrm>
          <a:prstGeom prst="rect">
            <a:avLst/>
          </a:prstGeom>
        </p:spPr>
      </p:pic>
      <p:sp>
        <p:nvSpPr>
          <p:cNvPr id="36" name="TextBox 35">
            <a:extLst>
              <a:ext uri="{FF2B5EF4-FFF2-40B4-BE49-F238E27FC236}">
                <a16:creationId xmlns:a16="http://schemas.microsoft.com/office/drawing/2014/main" id="{B0F7996E-EA80-4C82-AD70-E487D5CD0471}"/>
              </a:ext>
            </a:extLst>
          </p:cNvPr>
          <p:cNvSpPr txBox="1"/>
          <p:nvPr/>
        </p:nvSpPr>
        <p:spPr>
          <a:xfrm>
            <a:off x="3905932" y="3425653"/>
            <a:ext cx="390307" cy="58477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000000"/>
                </a:solidFill>
                <a:effectLst/>
                <a:uLnTx/>
                <a:uFillTx/>
                <a:latin typeface="Trebuchet MS" panose="020B0603020202020204"/>
                <a:ea typeface="+mn-ea"/>
                <a:cs typeface="+mn-cs"/>
              </a:rPr>
              <a:t>-</a:t>
            </a:r>
          </a:p>
        </p:txBody>
      </p:sp>
      <p:sp>
        <p:nvSpPr>
          <p:cNvPr id="37" name="TextBox 36">
            <a:extLst>
              <a:ext uri="{FF2B5EF4-FFF2-40B4-BE49-F238E27FC236}">
                <a16:creationId xmlns:a16="http://schemas.microsoft.com/office/drawing/2014/main" id="{238DFCFA-7D6A-4C8A-B212-19E9D772C06F}"/>
              </a:ext>
            </a:extLst>
          </p:cNvPr>
          <p:cNvSpPr txBox="1"/>
          <p:nvPr/>
        </p:nvSpPr>
        <p:spPr>
          <a:xfrm>
            <a:off x="8133128" y="4438399"/>
            <a:ext cx="390307" cy="58477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Trebuchet MS" panose="020B0603020202020204"/>
                <a:ea typeface="+mn-ea"/>
                <a:cs typeface="+mn-cs"/>
              </a:rPr>
              <a:t>=</a:t>
            </a:r>
          </a:p>
        </p:txBody>
      </p:sp>
      <p:sp>
        <p:nvSpPr>
          <p:cNvPr id="48" name="TextBox 47">
            <a:extLst>
              <a:ext uri="{FF2B5EF4-FFF2-40B4-BE49-F238E27FC236}">
                <a16:creationId xmlns:a16="http://schemas.microsoft.com/office/drawing/2014/main" id="{CF739804-C666-40A9-A571-E24432DFF9AC}"/>
              </a:ext>
            </a:extLst>
          </p:cNvPr>
          <p:cNvSpPr txBox="1"/>
          <p:nvPr/>
        </p:nvSpPr>
        <p:spPr>
          <a:xfrm>
            <a:off x="3905932" y="5010972"/>
            <a:ext cx="390307" cy="58477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00"/>
                </a:solidFill>
                <a:effectLst/>
                <a:uLnTx/>
                <a:uFillTx/>
                <a:latin typeface="Trebuchet MS" panose="020B0603020202020204"/>
                <a:ea typeface="+mn-ea"/>
                <a:cs typeface="+mn-cs"/>
              </a:rPr>
              <a:t>+</a:t>
            </a:r>
          </a:p>
        </p:txBody>
      </p:sp>
      <p:sp>
        <p:nvSpPr>
          <p:cNvPr id="17" name="TextBox 16">
            <a:extLst>
              <a:ext uri="{FF2B5EF4-FFF2-40B4-BE49-F238E27FC236}">
                <a16:creationId xmlns:a16="http://schemas.microsoft.com/office/drawing/2014/main" id="{933863BC-2500-40B0-8631-5D48E4366968}"/>
              </a:ext>
            </a:extLst>
          </p:cNvPr>
          <p:cNvSpPr txBox="1"/>
          <p:nvPr/>
        </p:nvSpPr>
        <p:spPr>
          <a:xfrm>
            <a:off x="5620003" y="4826306"/>
            <a:ext cx="703664" cy="369332"/>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rPr>
              <a:t>FEM</a:t>
            </a:r>
          </a:p>
        </p:txBody>
      </p:sp>
      <p:sp>
        <p:nvSpPr>
          <p:cNvPr id="18" name="TextBox 17">
            <a:extLst>
              <a:ext uri="{FF2B5EF4-FFF2-40B4-BE49-F238E27FC236}">
                <a16:creationId xmlns:a16="http://schemas.microsoft.com/office/drawing/2014/main" id="{152ED3B0-0201-44EC-9A40-F6F72DA11506}"/>
              </a:ext>
            </a:extLst>
          </p:cNvPr>
          <p:cNvSpPr txBox="1"/>
          <p:nvPr/>
        </p:nvSpPr>
        <p:spPr>
          <a:xfrm>
            <a:off x="5595598" y="3522980"/>
            <a:ext cx="752475" cy="369332"/>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rPr>
              <a:t>EXP</a:t>
            </a:r>
          </a:p>
        </p:txBody>
      </p:sp>
      <p:sp>
        <p:nvSpPr>
          <p:cNvPr id="19" name="TextBox 18">
            <a:extLst>
              <a:ext uri="{FF2B5EF4-FFF2-40B4-BE49-F238E27FC236}">
                <a16:creationId xmlns:a16="http://schemas.microsoft.com/office/drawing/2014/main" id="{0D4AC70A-C7DD-4878-BCAD-37B22CBEF697}"/>
              </a:ext>
            </a:extLst>
          </p:cNvPr>
          <p:cNvSpPr txBox="1"/>
          <p:nvPr/>
        </p:nvSpPr>
        <p:spPr>
          <a:xfrm>
            <a:off x="1536466" y="3510560"/>
            <a:ext cx="1217295" cy="369332"/>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Trebuchet MS" panose="020B0603020202020204"/>
                <a:ea typeface="+mn-ea"/>
                <a:cs typeface="+mn-cs"/>
              </a:rPr>
              <a:t>EXP</a:t>
            </a:r>
          </a:p>
        </p:txBody>
      </p:sp>
    </p:spTree>
    <p:extLst>
      <p:ext uri="{BB962C8B-B14F-4D97-AF65-F5344CB8AC3E}">
        <p14:creationId xmlns:p14="http://schemas.microsoft.com/office/powerpoint/2010/main" val="1831914185"/>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B92D-DBB0-4247-9F93-87E9535E4F38}"/>
              </a:ext>
            </a:extLst>
          </p:cNvPr>
          <p:cNvSpPr>
            <a:spLocks noGrp="1"/>
          </p:cNvSpPr>
          <p:nvPr>
            <p:ph type="title"/>
          </p:nvPr>
        </p:nvSpPr>
        <p:spPr>
          <a:xfrm>
            <a:off x="258058" y="242480"/>
            <a:ext cx="10515600" cy="662781"/>
          </a:xfrm>
        </p:spPr>
        <p:txBody>
          <a:bodyPr>
            <a:normAutofit fontScale="90000"/>
          </a:bodyPr>
          <a:lstStyle/>
          <a:p>
            <a:r>
              <a:rPr lang="en-US" dirty="0"/>
              <a:t>Swept Wing Model Generation</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31975" y="1114007"/>
            <a:ext cx="7625677" cy="4978829"/>
          </a:xfrm>
        </p:spPr>
        <p:txBody>
          <a:bodyPr>
            <a:normAutofit/>
          </a:bodyPr>
          <a:lstStyle/>
          <a:p>
            <a:pPr lvl="1"/>
            <a:r>
              <a:rPr lang="en-US" dirty="0"/>
              <a:t>Swept wing component testing was completed at </a:t>
            </a:r>
            <a:r>
              <a:rPr lang="en-US" dirty="0" err="1"/>
              <a:t>Linnæus</a:t>
            </a:r>
            <a:r>
              <a:rPr lang="en-US" dirty="0"/>
              <a:t> university in order to update a finite element model which would be sent to partners at Sandia</a:t>
            </a:r>
          </a:p>
          <a:p>
            <a:pPr lvl="1"/>
            <a:r>
              <a:rPr lang="en-US" b="1" dirty="0"/>
              <a:t>10 swept wings are available for Dynamic </a:t>
            </a:r>
            <a:r>
              <a:rPr lang="en-US" b="1" dirty="0" err="1"/>
              <a:t>Substructuring</a:t>
            </a:r>
            <a:r>
              <a:rPr lang="en-US" b="1" dirty="0"/>
              <a:t> Participants with ongoing measurements to understand their variability!</a:t>
            </a:r>
          </a:p>
          <a:p>
            <a:pPr lvl="1"/>
            <a:r>
              <a:rPr lang="en-US" dirty="0"/>
              <a:t>A finite element model was updated to best match Swept Wing test data and provided to SNL to make initial </a:t>
            </a:r>
            <a:r>
              <a:rPr lang="en-US" dirty="0" err="1"/>
              <a:t>substructuring</a:t>
            </a:r>
            <a:r>
              <a:rPr lang="en-US" dirty="0"/>
              <a:t> predictions</a:t>
            </a:r>
          </a:p>
        </p:txBody>
      </p:sp>
      <p:graphicFrame>
        <p:nvGraphicFramePr>
          <p:cNvPr id="8" name="Table 7">
            <a:extLst>
              <a:ext uri="{FF2B5EF4-FFF2-40B4-BE49-F238E27FC236}">
                <a16:creationId xmlns:a16="http://schemas.microsoft.com/office/drawing/2014/main" id="{554ABAB9-AB9E-444D-9B4D-B9E17810E35F}"/>
              </a:ext>
            </a:extLst>
          </p:cNvPr>
          <p:cNvGraphicFramePr>
            <a:graphicFrameLocks noGrp="1"/>
          </p:cNvGraphicFramePr>
          <p:nvPr/>
        </p:nvGraphicFramePr>
        <p:xfrm>
          <a:off x="5928851" y="4073952"/>
          <a:ext cx="5106695" cy="2292235"/>
        </p:xfrm>
        <a:graphic>
          <a:graphicData uri="http://schemas.openxmlformats.org/drawingml/2006/table">
            <a:tbl>
              <a:tblPr firstRow="1" firstCol="1" bandRow="1">
                <a:tableStyleId>{5C22544A-7EE6-4342-B048-85BDC9FD1C3A}</a:tableStyleId>
              </a:tblPr>
              <a:tblGrid>
                <a:gridCol w="1154215">
                  <a:extLst>
                    <a:ext uri="{9D8B030D-6E8A-4147-A177-3AD203B41FA5}">
                      <a16:colId xmlns:a16="http://schemas.microsoft.com/office/drawing/2014/main" val="3388020384"/>
                    </a:ext>
                  </a:extLst>
                </a:gridCol>
                <a:gridCol w="790496">
                  <a:extLst>
                    <a:ext uri="{9D8B030D-6E8A-4147-A177-3AD203B41FA5}">
                      <a16:colId xmlns:a16="http://schemas.microsoft.com/office/drawing/2014/main" val="2836181782"/>
                    </a:ext>
                  </a:extLst>
                </a:gridCol>
                <a:gridCol w="790496">
                  <a:extLst>
                    <a:ext uri="{9D8B030D-6E8A-4147-A177-3AD203B41FA5}">
                      <a16:colId xmlns:a16="http://schemas.microsoft.com/office/drawing/2014/main" val="1523580189"/>
                    </a:ext>
                  </a:extLst>
                </a:gridCol>
                <a:gridCol w="790496">
                  <a:extLst>
                    <a:ext uri="{9D8B030D-6E8A-4147-A177-3AD203B41FA5}">
                      <a16:colId xmlns:a16="http://schemas.microsoft.com/office/drawing/2014/main" val="2826288039"/>
                    </a:ext>
                  </a:extLst>
                </a:gridCol>
                <a:gridCol w="790496">
                  <a:extLst>
                    <a:ext uri="{9D8B030D-6E8A-4147-A177-3AD203B41FA5}">
                      <a16:colId xmlns:a16="http://schemas.microsoft.com/office/drawing/2014/main" val="3530099541"/>
                    </a:ext>
                  </a:extLst>
                </a:gridCol>
                <a:gridCol w="790496">
                  <a:extLst>
                    <a:ext uri="{9D8B030D-6E8A-4147-A177-3AD203B41FA5}">
                      <a16:colId xmlns:a16="http://schemas.microsoft.com/office/drawing/2014/main" val="3980957371"/>
                    </a:ext>
                  </a:extLst>
                </a:gridCol>
              </a:tblGrid>
              <a:tr h="208385">
                <a:tc>
                  <a:txBody>
                    <a:bodyPr/>
                    <a:lstStyle/>
                    <a:p>
                      <a:pPr marL="0" marR="0" algn="ctr">
                        <a:lnSpc>
                          <a:spcPts val="1375"/>
                        </a:lnSpc>
                        <a:spcBef>
                          <a:spcPts val="0"/>
                        </a:spcBef>
                        <a:spcAft>
                          <a:spcPts val="0"/>
                        </a:spcAft>
                      </a:pPr>
                      <a:r>
                        <a:rPr lang="en-US" sz="1100" dirty="0">
                          <a:effectLst/>
                        </a:rPr>
                        <a:t>Swept Wing No.</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Mass [g]</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t [mm]</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f1 [Hz]</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f2 [Hz]</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dirty="0">
                          <a:effectLst/>
                        </a:rPr>
                        <a:t>f3 [Hz]</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93302608"/>
                  </a:ext>
                </a:extLst>
              </a:tr>
              <a:tr h="208385">
                <a:tc>
                  <a:txBody>
                    <a:bodyPr/>
                    <a:lstStyle/>
                    <a:p>
                      <a:pPr marL="0" marR="0" algn="ctr">
                        <a:lnSpc>
                          <a:spcPts val="1375"/>
                        </a:lnSpc>
                        <a:spcBef>
                          <a:spcPts val="0"/>
                        </a:spcBef>
                        <a:spcAft>
                          <a:spcPts val="0"/>
                        </a:spcAft>
                      </a:pPr>
                      <a:r>
                        <a:rPr lang="en-US" sz="1100" dirty="0">
                          <a:effectLst/>
                        </a:rPr>
                        <a:t>1 (@ Sandia)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1169.1</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69.3</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105.7</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dirty="0">
                          <a:effectLst/>
                        </a:rPr>
                        <a:t>182.6</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3011632886"/>
                  </a:ext>
                </a:extLst>
              </a:tr>
              <a:tr h="208385">
                <a:tc>
                  <a:txBody>
                    <a:bodyPr/>
                    <a:lstStyle/>
                    <a:p>
                      <a:pPr marL="0" marR="0" algn="ctr">
                        <a:lnSpc>
                          <a:spcPts val="1375"/>
                        </a:lnSpc>
                        <a:spcBef>
                          <a:spcPts val="0"/>
                        </a:spcBef>
                        <a:spcAft>
                          <a:spcPts val="0"/>
                        </a:spcAft>
                      </a:pPr>
                      <a:r>
                        <a:rPr lang="en-US" sz="1100">
                          <a:effectLst/>
                        </a:rPr>
                        <a:t>2</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1164.0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69.1</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105.2</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dirty="0">
                          <a:effectLst/>
                        </a:rPr>
                        <a:t>181.9</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3016466145"/>
                  </a:ext>
                </a:extLst>
              </a:tr>
              <a:tr h="208385">
                <a:tc>
                  <a:txBody>
                    <a:bodyPr/>
                    <a:lstStyle/>
                    <a:p>
                      <a:pPr marL="0" marR="0" algn="ctr">
                        <a:lnSpc>
                          <a:spcPts val="1375"/>
                        </a:lnSpc>
                        <a:spcBef>
                          <a:spcPts val="0"/>
                        </a:spcBef>
                        <a:spcAft>
                          <a:spcPts val="0"/>
                        </a:spcAft>
                      </a:pPr>
                      <a:r>
                        <a:rPr lang="en-US" sz="1100" dirty="0">
                          <a:effectLst/>
                        </a:rPr>
                        <a:t>3</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1165.0</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3.0</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69.1</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105.4</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181.9</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1364965265"/>
                  </a:ext>
                </a:extLst>
              </a:tr>
              <a:tr h="208385">
                <a:tc>
                  <a:txBody>
                    <a:bodyPr/>
                    <a:lstStyle/>
                    <a:p>
                      <a:pPr marL="0" marR="0" algn="ctr">
                        <a:lnSpc>
                          <a:spcPts val="1375"/>
                        </a:lnSpc>
                        <a:spcBef>
                          <a:spcPts val="0"/>
                        </a:spcBef>
                        <a:spcAft>
                          <a:spcPts val="0"/>
                        </a:spcAft>
                      </a:pPr>
                      <a:r>
                        <a:rPr lang="en-US" sz="1100">
                          <a:effectLst/>
                        </a:rPr>
                        <a:t>4</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1169.1</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3.1</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69.2</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105.6</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182.6</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1751062614"/>
                  </a:ext>
                </a:extLst>
              </a:tr>
              <a:tr h="208385">
                <a:tc>
                  <a:txBody>
                    <a:bodyPr/>
                    <a:lstStyle/>
                    <a:p>
                      <a:pPr marL="0" marR="0" algn="ctr">
                        <a:lnSpc>
                          <a:spcPts val="1375"/>
                        </a:lnSpc>
                        <a:spcBef>
                          <a:spcPts val="0"/>
                        </a:spcBef>
                        <a:spcAft>
                          <a:spcPts val="0"/>
                        </a:spcAft>
                      </a:pPr>
                      <a:r>
                        <a:rPr lang="en-US" sz="1100">
                          <a:effectLst/>
                        </a:rPr>
                        <a:t>5</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1164.2</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3.0</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69.1</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105.3</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181.9</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1182855011"/>
                  </a:ext>
                </a:extLst>
              </a:tr>
              <a:tr h="208385">
                <a:tc>
                  <a:txBody>
                    <a:bodyPr/>
                    <a:lstStyle/>
                    <a:p>
                      <a:pPr marL="0" marR="0" algn="ctr">
                        <a:lnSpc>
                          <a:spcPts val="1375"/>
                        </a:lnSpc>
                        <a:spcBef>
                          <a:spcPts val="0"/>
                        </a:spcBef>
                        <a:spcAft>
                          <a:spcPts val="0"/>
                        </a:spcAft>
                      </a:pPr>
                      <a:r>
                        <a:rPr lang="en-US" sz="1100">
                          <a:effectLst/>
                        </a:rPr>
                        <a:t>6</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1164.4</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928726401"/>
                  </a:ext>
                </a:extLst>
              </a:tr>
              <a:tr h="208385">
                <a:tc>
                  <a:txBody>
                    <a:bodyPr/>
                    <a:lstStyle/>
                    <a:p>
                      <a:pPr marL="0" marR="0" algn="ctr">
                        <a:lnSpc>
                          <a:spcPts val="1375"/>
                        </a:lnSpc>
                        <a:spcBef>
                          <a:spcPts val="0"/>
                        </a:spcBef>
                        <a:spcAft>
                          <a:spcPts val="0"/>
                        </a:spcAft>
                      </a:pPr>
                      <a:r>
                        <a:rPr lang="en-US" sz="1100">
                          <a:effectLst/>
                        </a:rPr>
                        <a:t>7</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1169.9</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3100173482"/>
                  </a:ext>
                </a:extLst>
              </a:tr>
              <a:tr h="208385">
                <a:tc>
                  <a:txBody>
                    <a:bodyPr/>
                    <a:lstStyle/>
                    <a:p>
                      <a:pPr marL="0" marR="0" algn="ctr">
                        <a:lnSpc>
                          <a:spcPts val="1375"/>
                        </a:lnSpc>
                        <a:spcBef>
                          <a:spcPts val="0"/>
                        </a:spcBef>
                        <a:spcAft>
                          <a:spcPts val="0"/>
                        </a:spcAft>
                      </a:pPr>
                      <a:r>
                        <a:rPr lang="en-US" sz="1100">
                          <a:effectLst/>
                        </a:rPr>
                        <a:t>8</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1166.3</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NA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3170915727"/>
                  </a:ext>
                </a:extLst>
              </a:tr>
              <a:tr h="208385">
                <a:tc>
                  <a:txBody>
                    <a:bodyPr/>
                    <a:lstStyle/>
                    <a:p>
                      <a:pPr marL="0" marR="0" algn="ctr">
                        <a:lnSpc>
                          <a:spcPts val="1375"/>
                        </a:lnSpc>
                        <a:spcBef>
                          <a:spcPts val="0"/>
                        </a:spcBef>
                        <a:spcAft>
                          <a:spcPts val="0"/>
                        </a:spcAft>
                      </a:pPr>
                      <a:r>
                        <a:rPr lang="en-US" sz="1100">
                          <a:effectLst/>
                        </a:rPr>
                        <a:t>9</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1169.6</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3.0</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NA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a:effectLst/>
                        </a:rPr>
                        <a:t>NA</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956000718"/>
                  </a:ext>
                </a:extLst>
              </a:tr>
              <a:tr h="208385">
                <a:tc>
                  <a:txBody>
                    <a:bodyPr/>
                    <a:lstStyle/>
                    <a:p>
                      <a:pPr marL="0" marR="0" algn="ctr">
                        <a:lnSpc>
                          <a:spcPts val="1375"/>
                        </a:lnSpc>
                        <a:spcBef>
                          <a:spcPts val="0"/>
                        </a:spcBef>
                        <a:spcAft>
                          <a:spcPts val="0"/>
                        </a:spcAft>
                      </a:pPr>
                      <a:r>
                        <a:rPr lang="en-US" sz="1100">
                          <a:effectLst/>
                        </a:rPr>
                        <a:t>10</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1169.4</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a:effectLst/>
                        </a:rPr>
                        <a:t>3.1</a:t>
                      </a:r>
                      <a:endParaRPr lang="en-US" sz="1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NA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0"/>
                        </a:spcAft>
                      </a:pPr>
                      <a:r>
                        <a:rPr lang="en-US" sz="1100" dirty="0">
                          <a:effectLst/>
                        </a:rPr>
                        <a:t>NA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ts val="1375"/>
                        </a:lnSpc>
                        <a:spcBef>
                          <a:spcPts val="0"/>
                        </a:spcBef>
                        <a:spcAft>
                          <a:spcPts val="1375"/>
                        </a:spcAft>
                      </a:pPr>
                      <a:r>
                        <a:rPr lang="en-US" sz="1100" dirty="0">
                          <a:effectLst/>
                        </a:rPr>
                        <a:t>NA</a:t>
                      </a:r>
                      <a:endParaRPr lang="en-US" sz="1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802279247"/>
                  </a:ext>
                </a:extLst>
              </a:tr>
            </a:tbl>
          </a:graphicData>
        </a:graphic>
      </p:graphicFrame>
      <p:pic>
        <p:nvPicPr>
          <p:cNvPr id="10" name="Picture 9">
            <a:extLst>
              <a:ext uri="{FF2B5EF4-FFF2-40B4-BE49-F238E27FC236}">
                <a16:creationId xmlns:a16="http://schemas.microsoft.com/office/drawing/2014/main" id="{F620FBE1-B9D1-4C6D-B9D6-88545E53284D}"/>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7735548" y="977357"/>
            <a:ext cx="3939096" cy="2626064"/>
          </a:xfrm>
          <a:prstGeom prst="rect">
            <a:avLst/>
          </a:prstGeom>
        </p:spPr>
      </p:pic>
      <p:pic>
        <p:nvPicPr>
          <p:cNvPr id="11" name="elastic_mode_2_106Hz">
            <a:hlinkClick r:id="" action="ppaction://media"/>
            <a:extLst>
              <a:ext uri="{FF2B5EF4-FFF2-40B4-BE49-F238E27FC236}">
                <a16:creationId xmlns:a16="http://schemas.microsoft.com/office/drawing/2014/main" id="{DD8827BC-493E-41B0-8B45-58C960FF800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17834" y="4305670"/>
            <a:ext cx="2427817" cy="1828800"/>
          </a:xfrm>
          <a:prstGeom prst="rect">
            <a:avLst/>
          </a:prstGeom>
        </p:spPr>
      </p:pic>
      <p:pic>
        <p:nvPicPr>
          <p:cNvPr id="12" name="elastic_mode_1_69Hz">
            <a:hlinkClick r:id="" action="ppaction://media"/>
            <a:extLst>
              <a:ext uri="{FF2B5EF4-FFF2-40B4-BE49-F238E27FC236}">
                <a16:creationId xmlns:a16="http://schemas.microsoft.com/office/drawing/2014/main" id="{558A8148-C415-46E3-A8D6-7DBD77F7E7AA}"/>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3088041" y="4305670"/>
            <a:ext cx="2427817" cy="1828800"/>
          </a:xfrm>
          <a:prstGeom prst="rect">
            <a:avLst/>
          </a:prstGeom>
        </p:spPr>
      </p:pic>
    </p:spTree>
    <p:extLst>
      <p:ext uri="{BB962C8B-B14F-4D97-AF65-F5344CB8AC3E}">
        <p14:creationId xmlns:p14="http://schemas.microsoft.com/office/powerpoint/2010/main" val="1487693182"/>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999" fill="hold"/>
                                        <p:tgtEl>
                                          <p:spTgt spid="12"/>
                                        </p:tgtEl>
                                      </p:cBhvr>
                                    </p:cmd>
                                  </p:childTnLst>
                                </p:cTn>
                              </p:par>
                            </p:childTnLst>
                          </p:cTn>
                        </p:par>
                        <p:par>
                          <p:cTn id="7" fill="hold">
                            <p:stCondLst>
                              <p:cond delay="9999"/>
                            </p:stCondLst>
                            <p:childTnLst>
                              <p:par>
                                <p:cTn id="8" presetID="1" presetClass="mediacall" presetSubtype="0" fill="hold" nodeType="afterEffect">
                                  <p:stCondLst>
                                    <p:cond delay="0"/>
                                  </p:stCondLst>
                                  <p:childTnLst>
                                    <p:cmd type="call" cmd="playFrom(0.0)">
                                      <p:cBhvr>
                                        <p:cTn id="9" dur="999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0" repeatCount="indefinite" fill="hold" display="0">
                  <p:stCondLst>
                    <p:cond delay="indefinite"/>
                  </p:stCondLst>
                </p:cTn>
                <p:tgtEl>
                  <p:spTgt spid="12"/>
                </p:tgtEl>
              </p:cMediaNode>
            </p:video>
            <p:seq concurrent="1" nextAc="seek">
              <p:cTn id="11" restart="whenNotActive" fill="hold" evtFilter="cancelBubble" nodeType="interactiveSeq">
                <p:stCondLst>
                  <p:cond evt="onClick" delay="0">
                    <p:tgtEl>
                      <p:spTgt spid="12"/>
                    </p:tgtEl>
                  </p:cond>
                </p:stCondLst>
                <p:endSync evt="end" delay="0">
                  <p:rtn val="all"/>
                </p:endSync>
                <p:childTnLst>
                  <p:par>
                    <p:cTn id="12" fill="hold">
                      <p:stCondLst>
                        <p:cond delay="0"/>
                      </p:stCondLst>
                      <p:childTnLst>
                        <p:par>
                          <p:cTn id="13" fill="hold">
                            <p:stCondLst>
                              <p:cond delay="0"/>
                            </p:stCondLst>
                            <p:childTnLst>
                              <p:par>
                                <p:cTn id="14" presetID="2" presetClass="mediacall" presetSubtype="0" fill="hold" nodeType="clickEffect">
                                  <p:stCondLst>
                                    <p:cond delay="0"/>
                                  </p:stCondLst>
                                  <p:childTnLst>
                                    <p:cmd type="call" cmd="togglePause">
                                      <p:cBhvr>
                                        <p:cTn id="15" dur="1" fill="hold"/>
                                        <p:tgtEl>
                                          <p:spTgt spid="12"/>
                                        </p:tgtEl>
                                      </p:cBhvr>
                                    </p:cmd>
                                  </p:childTnLst>
                                </p:cTn>
                              </p:par>
                            </p:childTnLst>
                          </p:cTn>
                        </p:par>
                      </p:childTnLst>
                    </p:cTn>
                  </p:par>
                </p:childTnLst>
              </p:cTn>
              <p:nextCondLst>
                <p:cond evt="onClick" delay="0">
                  <p:tgtEl>
                    <p:spTgt spid="12"/>
                  </p:tgtEl>
                </p:cond>
              </p:nextCondLst>
            </p:seq>
            <p:video>
              <p:cMediaNode vol="80000">
                <p:cTn id="16" repeatCount="indefinite" fill="hold" display="0">
                  <p:stCondLst>
                    <p:cond delay="indefinite"/>
                  </p:stCondLst>
                </p:cTn>
                <p:tgtEl>
                  <p:spTgt spid="11"/>
                </p:tgtEl>
              </p:cMediaNode>
            </p:video>
            <p:seq concurrent="1" nextAc="seek">
              <p:cTn id="17" restart="whenNotActive" fill="hold" evtFilter="cancelBubble" nodeType="interactiveSeq">
                <p:stCondLst>
                  <p:cond evt="onClick" delay="0">
                    <p:tgtEl>
                      <p:spTgt spid="11"/>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Frame, Plate, and Thin-Wing Experiments</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2" y="939585"/>
            <a:ext cx="7682116" cy="4978829"/>
          </a:xfrm>
        </p:spPr>
        <p:txBody>
          <a:bodyPr>
            <a:normAutofit/>
          </a:bodyPr>
          <a:lstStyle/>
          <a:p>
            <a:pPr lvl="1"/>
            <a:r>
              <a:rPr lang="en-US" dirty="0"/>
              <a:t>Aluminum frame, plate, and thin-wing component assemblies were tested at Sandia.</a:t>
            </a:r>
          </a:p>
          <a:p>
            <a:pPr lvl="1"/>
            <a:r>
              <a:rPr lang="en-US" dirty="0"/>
              <a:t>Linear free responses were measured with accelerometers and curve fit with ATA </a:t>
            </a:r>
            <a:r>
              <a:rPr lang="en-US" dirty="0" err="1"/>
              <a:t>Opoly</a:t>
            </a:r>
            <a:r>
              <a:rPr lang="en-US" dirty="0"/>
              <a:t>.</a:t>
            </a:r>
          </a:p>
          <a:p>
            <a:pPr lvl="1"/>
            <a:r>
              <a:rPr lang="en-US" dirty="0"/>
              <a:t>Significant modes out to 1600 Hz were measured and fit to provide a rich modal basis for substructuring.</a:t>
            </a:r>
          </a:p>
          <a:p>
            <a:pPr lvl="1"/>
            <a:r>
              <a:rPr lang="en-US" dirty="0"/>
              <a:t>Data also used in companion project exploring incorporating nonlinear behavior into substructuring predictions that that will be presented later.</a:t>
            </a:r>
          </a:p>
        </p:txBody>
      </p:sp>
      <p:pic>
        <p:nvPicPr>
          <p:cNvPr id="10" name="Picture 9">
            <a:extLst>
              <a:ext uri="{FF2B5EF4-FFF2-40B4-BE49-F238E27FC236}">
                <a16:creationId xmlns:a16="http://schemas.microsoft.com/office/drawing/2014/main" id="{F5D3D50B-C789-4367-9773-384FD9F82DE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7603282" y="1086707"/>
            <a:ext cx="4200525" cy="3150394"/>
          </a:xfrm>
          <a:prstGeom prst="rect">
            <a:avLst/>
          </a:prstGeom>
        </p:spPr>
      </p:pic>
      <p:pic>
        <p:nvPicPr>
          <p:cNvPr id="12" name="Picture 11">
            <a:extLst>
              <a:ext uri="{FF2B5EF4-FFF2-40B4-BE49-F238E27FC236}">
                <a16:creationId xmlns:a16="http://schemas.microsoft.com/office/drawing/2014/main" id="{5711A561-4513-4472-B7DE-FE5043A2D58F}"/>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7572375" y="4305325"/>
            <a:ext cx="4200525" cy="1554480"/>
          </a:xfrm>
          <a:prstGeom prst="rect">
            <a:avLst/>
          </a:prstGeom>
        </p:spPr>
      </p:pic>
      <p:pic>
        <p:nvPicPr>
          <p:cNvPr id="13" name="Picture 12">
            <a:extLst>
              <a:ext uri="{FF2B5EF4-FFF2-40B4-BE49-F238E27FC236}">
                <a16:creationId xmlns:a16="http://schemas.microsoft.com/office/drawing/2014/main" id="{01988FC6-629D-4A63-BEB1-0EF375E8FABD}"/>
              </a:ext>
            </a:extLst>
          </p:cNvPr>
          <p:cNvPicPr>
            <a:picLocks noChangeAspect="1"/>
          </p:cNvPicPr>
          <p:nvPr/>
        </p:nvPicPr>
        <p:blipFill>
          <a:blip r:embed="rId4"/>
          <a:stretch>
            <a:fillRect/>
          </a:stretch>
        </p:blipFill>
        <p:spPr>
          <a:xfrm>
            <a:off x="347313" y="4237101"/>
            <a:ext cx="2438400" cy="1828800"/>
          </a:xfrm>
          <a:prstGeom prst="rect">
            <a:avLst/>
          </a:prstGeom>
        </p:spPr>
      </p:pic>
      <p:pic>
        <p:nvPicPr>
          <p:cNvPr id="14" name="Picture 13">
            <a:extLst>
              <a:ext uri="{FF2B5EF4-FFF2-40B4-BE49-F238E27FC236}">
                <a16:creationId xmlns:a16="http://schemas.microsoft.com/office/drawing/2014/main" id="{E8A5C033-8E19-49F7-ADC3-4481AC145C48}"/>
              </a:ext>
            </a:extLst>
          </p:cNvPr>
          <p:cNvPicPr>
            <a:picLocks noChangeAspect="1"/>
          </p:cNvPicPr>
          <p:nvPr/>
        </p:nvPicPr>
        <p:blipFill>
          <a:blip r:embed="rId5"/>
          <a:stretch>
            <a:fillRect/>
          </a:stretch>
        </p:blipFill>
        <p:spPr>
          <a:xfrm>
            <a:off x="2578085" y="4237101"/>
            <a:ext cx="2438400" cy="1828800"/>
          </a:xfrm>
          <a:prstGeom prst="rect">
            <a:avLst/>
          </a:prstGeom>
        </p:spPr>
      </p:pic>
      <p:pic>
        <p:nvPicPr>
          <p:cNvPr id="15" name="Picture 14">
            <a:extLst>
              <a:ext uri="{FF2B5EF4-FFF2-40B4-BE49-F238E27FC236}">
                <a16:creationId xmlns:a16="http://schemas.microsoft.com/office/drawing/2014/main" id="{6081FB8C-BA04-4257-B7FC-775A4F59ED07}"/>
              </a:ext>
            </a:extLst>
          </p:cNvPr>
          <p:cNvPicPr>
            <a:picLocks noChangeAspect="1"/>
          </p:cNvPicPr>
          <p:nvPr/>
        </p:nvPicPr>
        <p:blipFill>
          <a:blip r:embed="rId6"/>
          <a:stretch>
            <a:fillRect/>
          </a:stretch>
        </p:blipFill>
        <p:spPr>
          <a:xfrm>
            <a:off x="4722495" y="4237101"/>
            <a:ext cx="2438400" cy="1828800"/>
          </a:xfrm>
          <a:prstGeom prst="rect">
            <a:avLst/>
          </a:prstGeom>
        </p:spPr>
      </p:pic>
    </p:spTree>
    <p:extLst>
      <p:ext uri="{BB962C8B-B14F-4D97-AF65-F5344CB8AC3E}">
        <p14:creationId xmlns:p14="http://schemas.microsoft.com/office/powerpoint/2010/main" val="515625151"/>
      </p:ext>
    </p:extLst>
  </p:cSld>
  <p:clrMapOvr>
    <a:masterClrMapping/>
  </p:clrMapOvr>
  <mc:AlternateContent xmlns:mc="http://schemas.openxmlformats.org/markup-compatibility/2006" xmlns:p14="http://schemas.microsoft.com/office/powerpoint/2010/main">
    <mc:Choice Requires="p14">
      <p:transition spd="med" p14:dur="700" advTm="151078">
        <p:fade/>
      </p:transition>
    </mc:Choice>
    <mc:Fallback xmlns="">
      <p:transition spd="med" advTm="151078">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Substructuring Theory</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fontScale="70000" lnSpcReduction="20000"/>
              </a:bodyPr>
              <a:lstStyle/>
              <a:p>
                <a:pPr lvl="1">
                  <a:spcBef>
                    <a:spcPts val="600"/>
                  </a:spcBef>
                  <a:spcAft>
                    <a:spcPts val="1200"/>
                  </a:spcAft>
                </a:pPr>
                <a:r>
                  <a:rPr lang="en-US" dirty="0"/>
                  <a:t>To perform CMS substructuring, acquire modal information for each substructure and form EOM.</a:t>
                </a:r>
                <a:endParaRPr lang="en-US" baseline="30000" dirty="0"/>
              </a:p>
              <a:p>
                <a:pPr marL="201159" lvl="1" indent="0">
                  <a:spcBef>
                    <a:spcPts val="600"/>
                  </a:spcBef>
                  <a:spcAft>
                    <a:spcPts val="1200"/>
                  </a:spcAft>
                  <a:buNone/>
                </a:pPr>
                <a14:m>
                  <m:oMathPara xmlns:m="http://schemas.openxmlformats.org/officeDocument/2006/math">
                    <m:oMathParaPr>
                      <m:jc m:val="centerGroup"/>
                    </m:oMathParaPr>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b="0">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oMath>
                  </m:oMathPara>
                </a14:m>
                <a:endParaRPr lang="en-US" dirty="0"/>
              </a:p>
              <a:p>
                <a:pPr lvl="1">
                  <a:spcBef>
                    <a:spcPts val="600"/>
                  </a:spcBef>
                  <a:spcAft>
                    <a:spcPts val="1200"/>
                  </a:spcAft>
                </a:pPr>
                <a:r>
                  <a:rPr lang="en-US" dirty="0"/>
                  <a:t>Constraints are defined connecting both structures to the TS (Thin Wing and Plate) system.</a:t>
                </a:r>
              </a:p>
              <a:p>
                <a:pPr marL="201159" lvl="1" indent="0" algn="ctr">
                  <a:spcBef>
                    <a:spcPts val="600"/>
                  </a:spcBef>
                  <a:spcAft>
                    <a:spcPts val="1200"/>
                  </a:spcAft>
                  <a:buNone/>
                </a:pPr>
                <a14:m>
                  <m:oMathPara xmlns:m="http://schemas.openxmlformats.org/officeDocument/2006/math">
                    <m:oMathParaPr>
                      <m:jc m:val="centerGroup"/>
                    </m:oMathParaPr>
                    <m:oMath xmlns:m="http://schemas.openxmlformats.org/officeDocument/2006/math">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2"/>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mr>
                            <m:mr>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smtClean="0">
                                        <a:solidFill>
                                          <a:srgbClr val="000000"/>
                                        </a:solidFill>
                                        <a:latin typeface="Cambria Math" panose="02040503050406030204" pitchFamily="18" charset="0"/>
                                        <a:ea typeface="Cambria Math" panose="02040503050406030204" pitchFamily="18" charset="0"/>
                                        <a:cs typeface="Times New Roman" panose="02020603050405020304" pitchFamily="18" charset="0"/>
                                      </a:rPr>
                                      <m:t>†</m:t>
                                    </m:r>
                                  </m:sup>
                                </m:sSubSup>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r>
                              <m:e>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a:rPr lang="en-US"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0</m:t>
                      </m:r>
                    </m:oMath>
                  </m:oMathPara>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lvl="1">
                  <a:spcBef>
                    <a:spcPts val="600"/>
                  </a:spcBef>
                  <a:spcAft>
                    <a:spcPts val="1200"/>
                  </a:spcAft>
                </a:pPr>
                <a:r>
                  <a:rPr lang="en-US" dirty="0"/>
                  <a:t>The null space function is used to determine the synthetization matrix </a:t>
                </a:r>
                <a:r>
                  <a:rPr lang="en-US" dirty="0">
                    <a:solidFill>
                      <a:srgbClr val="000000"/>
                    </a:solidFill>
                    <a:latin typeface="Times New Roman" panose="02020603050405020304" pitchFamily="18" charset="0"/>
                    <a:cs typeface="Times New Roman" panose="02020603050405020304" pitchFamily="18" charset="0"/>
                  </a:rPr>
                  <a:t>L.</a:t>
                </a:r>
              </a:p>
              <a:p>
                <a:pPr marL="201159" lvl="1" indent="0" algn="ctr">
                  <a:spcBef>
                    <a:spcPts val="600"/>
                  </a:spcBef>
                  <a:spcAft>
                    <a:spcPts val="1200"/>
                  </a:spcAft>
                  <a:buNone/>
                </a:pPr>
                <a14:m>
                  <m:oMathPara xmlns:m="http://schemas.openxmlformats.org/officeDocument/2006/math">
                    <m:oMathParaPr>
                      <m:jc m:val="centerGroup"/>
                    </m:oMathParaPr>
                    <m:oMath xmlns:m="http://schemas.openxmlformats.org/officeDocument/2006/math">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r>
                        <a:rPr lang="en-US" b="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b="0" i="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null</m:t>
                      </m:r>
                      <m:r>
                        <a:rPr lang="en-US" b="0"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acc>
                        <m:accPr>
                          <m:chr m:val="̃"/>
                          <m:ctrlPr>
                            <a:rPr lang="en-US"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b="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m:t>
                      </m:r>
                    </m:oMath>
                  </m:oMathPara>
                </a14:m>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lvl="1">
                  <a:spcBef>
                    <a:spcPts val="600"/>
                  </a:spcBef>
                  <a:spcAft>
                    <a:spcPts val="1200"/>
                  </a:spcAft>
                </a:pPr>
                <a:r>
                  <a:rPr lang="en-US" dirty="0"/>
                  <a:t>L-matrix used to enforce constraints on equation of motion and predict system assembly response.</a:t>
                </a:r>
                <a:endPar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a:p>
                <a:pPr marL="201159" lvl="1" indent="0" algn="ctr">
                  <a:spcBef>
                    <a:spcPts val="600"/>
                  </a:spcBef>
                  <a:spcAft>
                    <a:spcPts val="1200"/>
                  </a:spcAft>
                  <a:buNone/>
                </a:pPr>
                <a:r>
                  <a:rPr lang="en-US"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𝐼</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Sub>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acc>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up>
                                              <m:r>
                                                <a:rPr lang="en-US" b="0"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0</m:t>
                              </m:r>
                            </m:e>
                            <m:e>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sPre>
                                        <m:sPre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PrePr>
                                        <m:sub>
                                          <m:r>
                                            <a:rPr lang="en-US" b="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 </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p>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𝜔</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p>
                                          </m:sSubSup>
                                        </m:e>
                                      </m:sPre>
                                    </m:e>
                                    <m:sub>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ub>
                                  </m:sSub>
                                </m:e>
                              </m:d>
                            </m:e>
                          </m:mr>
                        </m:m>
                      </m:e>
                    </m:d>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1</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𝑞</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r>
                      <a:rPr lang="en-US">
                        <a:solidFill>
                          <a:srgbClr val="000000"/>
                        </a:solidFill>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pPr>
                      <m:e>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𝐿</m:t>
                        </m:r>
                      </m:e>
                      <m:sup>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𝑇</m:t>
                        </m:r>
                      </m:sup>
                    </m:sSup>
                    <m:d>
                      <m:dPr>
                        <m:begChr m:val="{"/>
                        <m:endChr m:val="}"/>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1</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2</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2</m:t>
                                  </m:r>
                                </m:sub>
                              </m:sSub>
                            </m:e>
                          </m:mr>
                          <m:mr>
                            <m:e>
                              <m:sSubSup>
                                <m:sSubSup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𝜙</m:t>
                                  </m:r>
                                </m:e>
                                <m:sub>
                                  <m: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3</m:t>
                                  </m:r>
                                </m:sub>
                                <m:sup>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𝑇</m:t>
                                  </m:r>
                                </m:sup>
                              </m:sSubSup>
                              <m:sSub>
                                <m:sSubPr>
                                  <m:ctrlPr>
                                    <a:rPr lang="en-US"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𝐹</m:t>
                                  </m:r>
                                </m:e>
                                <m:sub>
                                  <m:r>
                                    <a:rPr lang="en-US" i="1">
                                      <a:solidFill>
                                        <a:srgbClr val="000000"/>
                                      </a:solidFill>
                                      <a:latin typeface="Cambria Math" panose="02040503050406030204" pitchFamily="18" charset="0"/>
                                      <a:ea typeface="Calibri" panose="020F0502020204030204" pitchFamily="34" charset="0"/>
                                      <a:cs typeface="Times New Roman" panose="02020603050405020304" pitchFamily="18" charset="0"/>
                                    </a:rPr>
                                    <m:t>3</m:t>
                                  </m:r>
                                </m:sub>
                              </m:sSub>
                            </m:e>
                          </m:mr>
                        </m:m>
                      </m:e>
                    </m:d>
                  </m:oMath>
                </a14:m>
                <a:endParaRPr lang="en-US" dirty="0"/>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blipFill>
                <a:blip r:embed="rId2"/>
                <a:stretch>
                  <a:fillRect t="-1591"/>
                </a:stretch>
              </a:blipFill>
            </p:spPr>
            <p:txBody>
              <a:bodyPr/>
              <a:lstStyle/>
              <a:p>
                <a:r>
                  <a:rPr lang="en-US">
                    <a:noFill/>
                  </a:rPr>
                  <a:t> </a:t>
                </a:r>
              </a:p>
            </p:txBody>
          </p:sp>
        </mc:Fallback>
      </mc:AlternateContent>
    </p:spTree>
    <p:extLst>
      <p:ext uri="{BB962C8B-B14F-4D97-AF65-F5344CB8AC3E}">
        <p14:creationId xmlns:p14="http://schemas.microsoft.com/office/powerpoint/2010/main" val="4168962044"/>
      </p:ext>
    </p:extLst>
  </p:cSld>
  <p:clrMapOvr>
    <a:masterClrMapping/>
  </p:clrMapOvr>
  <mc:AlternateContent xmlns:mc="http://schemas.openxmlformats.org/markup-compatibility/2006" xmlns:p14="http://schemas.microsoft.com/office/powerpoint/2010/main">
    <mc:Choice Requires="p14">
      <p:transition spd="med" p14:dur="700" advTm="53478">
        <p:fade/>
      </p:transition>
    </mc:Choice>
    <mc:Fallback xmlns="">
      <p:transition spd="med" advTm="53478">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35BA44D3-6E5E-4343-90D3-470208225B69}"/>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456521" y="2252717"/>
            <a:ext cx="2133600" cy="1600200"/>
          </a:xfrm>
          <a:prstGeom prst="rect">
            <a:avLst/>
          </a:prstGeom>
        </p:spPr>
      </p:pic>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Initial Substructuring Results</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2" y="939585"/>
                <a:ext cx="7583794" cy="4978829"/>
              </a:xfrm>
            </p:spPr>
            <p:txBody>
              <a:bodyPr>
                <a:normAutofit/>
              </a:bodyPr>
              <a:lstStyle/>
              <a:p>
                <a:pPr lvl="1"/>
                <a:r>
                  <a:rPr lang="en-US" dirty="0"/>
                  <a:t>We set our initial goal to predict modes blindly out to 500 Hz</a:t>
                </a:r>
              </a:p>
              <a:p>
                <a:pPr lvl="1"/>
                <a:r>
                  <a:rPr lang="en-US" dirty="0"/>
                  <a:t>Using previous heuristics we retained modes of each subassembly out to 1,000 Hz to ensure we included the proper modes</a:t>
                </a:r>
              </a:p>
              <a:p>
                <a:pPr lvl="1"/>
                <a:r>
                  <a:rPr lang="en-US" dirty="0" err="1"/>
                  <a:t>cond</a:t>
                </a:r>
                <a:r>
                  <a:rPr lang="en-US" dirty="0"/>
                  <a:t>(</a:t>
                </a:r>
                <a14:m>
                  <m:oMath xmlns:m="http://schemas.openxmlformats.org/officeDocument/2006/math">
                    <m:acc>
                      <m:accPr>
                        <m:chr m:val="̃"/>
                        <m:ctrlPr>
                          <a:rPr lang="en-US" sz="200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oMath>
                </a14:m>
                <a:r>
                  <a:rPr lang="en-US" dirty="0"/>
                  <a:t>) = 41.31</a:t>
                </a:r>
              </a:p>
              <a:p>
                <a:pPr lvl="1"/>
                <a:r>
                  <a:rPr lang="en-US" dirty="0"/>
                  <a:t>Frame, Plate, Wing: 23 modes</a:t>
                </a:r>
              </a:p>
              <a:p>
                <a:pPr lvl="1"/>
                <a:r>
                  <a:rPr lang="en-US" dirty="0"/>
                  <a:t>Plate and Wing: 16 modes</a:t>
                </a:r>
              </a:p>
              <a:p>
                <a:pPr lvl="1"/>
                <a:r>
                  <a:rPr lang="en-US" dirty="0"/>
                  <a:t>Plate and Swept Wing: 20 modes</a:t>
                </a:r>
              </a:p>
              <a:p>
                <a:pPr lvl="1"/>
                <a:endParaRPr lang="en-US" dirty="0"/>
              </a:p>
              <a:p>
                <a:pPr lvl="2"/>
                <a:endParaRPr lang="en-US" dirty="0"/>
              </a:p>
              <a:p>
                <a:pPr marL="201159" lvl="1" indent="0">
                  <a:buNone/>
                </a:pPr>
                <a:endParaRPr lang="en-US" b="1" dirty="0"/>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xfrm>
                <a:off x="105032" y="939585"/>
                <a:ext cx="7583794" cy="4978829"/>
              </a:xfrm>
              <a:blipFill>
                <a:blip r:embed="rId3"/>
                <a:stretch>
                  <a:fillRect t="-1591"/>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F8BE025F-014E-4827-BFCA-C29AA0501ACE}"/>
              </a:ext>
            </a:extLst>
          </p:cNvPr>
          <p:cNvGraphicFramePr>
            <a:graphicFrameLocks noGrp="1"/>
          </p:cNvGraphicFramePr>
          <p:nvPr/>
        </p:nvGraphicFramePr>
        <p:xfrm>
          <a:off x="8521189" y="646082"/>
          <a:ext cx="1758268" cy="5827470"/>
        </p:xfrm>
        <a:graphic>
          <a:graphicData uri="http://schemas.openxmlformats.org/drawingml/2006/table">
            <a:tbl>
              <a:tblPr firstRow="1" firstCol="1" bandRow="1"/>
              <a:tblGrid>
                <a:gridCol w="849830">
                  <a:extLst>
                    <a:ext uri="{9D8B030D-6E8A-4147-A177-3AD203B41FA5}">
                      <a16:colId xmlns:a16="http://schemas.microsoft.com/office/drawing/2014/main" val="2933048369"/>
                    </a:ext>
                  </a:extLst>
                </a:gridCol>
                <a:gridCol w="908438">
                  <a:extLst>
                    <a:ext uri="{9D8B030D-6E8A-4147-A177-3AD203B41FA5}">
                      <a16:colId xmlns:a16="http://schemas.microsoft.com/office/drawing/2014/main" val="4100554374"/>
                    </a:ext>
                  </a:extLst>
                </a:gridCol>
              </a:tblGrid>
              <a:tr h="184656">
                <a:tc gridSpan="2">
                  <a:txBody>
                    <a:bodyPr/>
                    <a:lstStyle/>
                    <a:p>
                      <a:pPr marL="0" marR="0" algn="ctr">
                        <a:spcBef>
                          <a:spcPts val="0"/>
                        </a:spcBef>
                        <a:spcAft>
                          <a:spcPts val="0"/>
                        </a:spcAft>
                      </a:pP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Prediction</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28575" cap="flat" cmpd="dbl" algn="ctr">
                      <a:solidFill>
                        <a:srgbClr val="3F3F3F"/>
                      </a:solidFill>
                      <a:prstDash val="solid"/>
                      <a:round/>
                      <a:headEnd type="none" w="med" len="med"/>
                      <a:tailEnd type="none" w="med" len="med"/>
                    </a:lnB>
                    <a:solidFill>
                      <a:srgbClr val="A5A5A5"/>
                    </a:solidFill>
                  </a:tcPr>
                </a:tc>
                <a:tc hMerge="1">
                  <a:txBody>
                    <a:bodyPr/>
                    <a:lstStyle/>
                    <a:p>
                      <a:endParaRPr lang="en-US"/>
                    </a:p>
                  </a:txBody>
                  <a:tcPr/>
                </a:tc>
                <a:extLst>
                  <a:ext uri="{0D108BD9-81ED-4DB2-BD59-A6C34878D82A}">
                    <a16:rowId xmlns:a16="http://schemas.microsoft.com/office/drawing/2014/main" val="2164694033"/>
                  </a:ext>
                </a:extLst>
              </a:tr>
              <a:tr h="184656">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fn</a:t>
                      </a: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 [Hz]</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zt</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extLst>
                  <a:ext uri="{0D108BD9-81ED-4DB2-BD59-A6C34878D82A}">
                    <a16:rowId xmlns:a16="http://schemas.microsoft.com/office/drawing/2014/main" val="2510769702"/>
                  </a:ext>
                </a:extLst>
              </a:tr>
              <a:tr h="303231">
                <a:tc>
                  <a:txBody>
                    <a:bodyPr/>
                    <a:lstStyle/>
                    <a:p>
                      <a:pPr algn="ctr" fontAlgn="b"/>
                      <a:r>
                        <a:rPr lang="en-US" sz="1100" b="0" i="0" u="none" strike="noStrike" dirty="0">
                          <a:solidFill>
                            <a:srgbClr val="000000"/>
                          </a:solidFill>
                          <a:effectLst/>
                          <a:latin typeface="Calibri" panose="020F0502020204030204" pitchFamily="34" charset="0"/>
                        </a:rPr>
                        <a:t>0.00</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29234973"/>
                  </a:ext>
                </a:extLst>
              </a:tr>
              <a:tr h="303231">
                <a:tc>
                  <a:txBody>
                    <a:bodyPr/>
                    <a:lstStyle/>
                    <a:p>
                      <a:pPr algn="ctr" fontAlgn="b"/>
                      <a:r>
                        <a:rPr lang="en-US" sz="1100" b="0" i="0" u="none" strike="noStrike" dirty="0">
                          <a:solidFill>
                            <a:srgbClr val="000000"/>
                          </a:solidFill>
                          <a:effectLst/>
                          <a:latin typeface="Calibri" panose="020F0502020204030204" pitchFamily="34" charset="0"/>
                        </a:rPr>
                        <a:t>0.03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53133201"/>
                  </a:ext>
                </a:extLst>
              </a:tr>
              <a:tr h="303231">
                <a:tc>
                  <a:txBody>
                    <a:bodyPr/>
                    <a:lstStyle/>
                    <a:p>
                      <a:pPr algn="ctr" fontAlgn="b"/>
                      <a:r>
                        <a:rPr lang="en-US" sz="1100" b="0" i="0" u="none" strike="noStrike" dirty="0">
                          <a:solidFill>
                            <a:srgbClr val="000000"/>
                          </a:solidFill>
                          <a:effectLst/>
                          <a:latin typeface="Calibri" panose="020F0502020204030204" pitchFamily="34" charset="0"/>
                        </a:rPr>
                        <a:t>0.05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7788754"/>
                  </a:ext>
                </a:extLst>
              </a:tr>
              <a:tr h="303231">
                <a:tc>
                  <a:txBody>
                    <a:bodyPr/>
                    <a:lstStyle/>
                    <a:p>
                      <a:pPr algn="ctr" fontAlgn="b"/>
                      <a:r>
                        <a:rPr lang="en-US" sz="1100" b="0" i="0" u="none" strike="noStrike" dirty="0">
                          <a:solidFill>
                            <a:srgbClr val="000000"/>
                          </a:solidFill>
                          <a:effectLst/>
                          <a:latin typeface="Calibri" panose="020F0502020204030204" pitchFamily="34" charset="0"/>
                        </a:rPr>
                        <a:t>0.06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55932601"/>
                  </a:ext>
                </a:extLst>
              </a:tr>
              <a:tr h="303231">
                <a:tc>
                  <a:txBody>
                    <a:bodyPr/>
                    <a:lstStyle/>
                    <a:p>
                      <a:pPr algn="ctr" fontAlgn="b"/>
                      <a:r>
                        <a:rPr lang="en-US" sz="1100" b="0" i="0" u="none" strike="noStrike" dirty="0">
                          <a:solidFill>
                            <a:srgbClr val="000000"/>
                          </a:solidFill>
                          <a:effectLst/>
                          <a:latin typeface="Calibri" panose="020F0502020204030204" pitchFamily="34" charset="0"/>
                        </a:rPr>
                        <a:t>0.06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0.13%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7838"/>
                  </a:ext>
                </a:extLst>
              </a:tr>
              <a:tr h="303231">
                <a:tc>
                  <a:txBody>
                    <a:bodyPr/>
                    <a:lstStyle/>
                    <a:p>
                      <a:pPr algn="ctr" fontAlgn="b"/>
                      <a:r>
                        <a:rPr lang="en-US" sz="1100" b="0" i="0" u="none" strike="noStrike" dirty="0">
                          <a:solidFill>
                            <a:srgbClr val="000000"/>
                          </a:solidFill>
                          <a:effectLst/>
                          <a:latin typeface="Calibri" panose="020F0502020204030204" pitchFamily="34" charset="0"/>
                        </a:rPr>
                        <a:t>0.08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0.26%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49961525"/>
                  </a:ext>
                </a:extLst>
              </a:tr>
              <a:tr h="303231">
                <a:tc>
                  <a:txBody>
                    <a:bodyPr/>
                    <a:lstStyle/>
                    <a:p>
                      <a:pPr algn="ctr" fontAlgn="b"/>
                      <a:r>
                        <a:rPr lang="en-US" sz="1100" b="0" i="0" u="none" strike="noStrike" dirty="0">
                          <a:solidFill>
                            <a:srgbClr val="000000"/>
                          </a:solidFill>
                          <a:effectLst/>
                          <a:latin typeface="Calibri" panose="020F0502020204030204" pitchFamily="34" charset="0"/>
                        </a:rPr>
                        <a:t>0.09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0.86%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88664520"/>
                  </a:ext>
                </a:extLst>
              </a:tr>
              <a:tr h="303231">
                <a:tc>
                  <a:txBody>
                    <a:bodyPr/>
                    <a:lstStyle/>
                    <a:p>
                      <a:pPr algn="ctr" fontAlgn="b"/>
                      <a:r>
                        <a:rPr lang="en-US" sz="1100" b="0" i="0" u="none" strike="noStrike" dirty="0">
                          <a:solidFill>
                            <a:srgbClr val="000000"/>
                          </a:solidFill>
                          <a:effectLst/>
                          <a:latin typeface="Calibri" panose="020F0502020204030204" pitchFamily="34" charset="0"/>
                        </a:rPr>
                        <a:t>53.26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40082159"/>
                  </a:ext>
                </a:extLst>
              </a:tr>
              <a:tr h="303231">
                <a:tc>
                  <a:txBody>
                    <a:bodyPr/>
                    <a:lstStyle/>
                    <a:p>
                      <a:pPr algn="ctr" fontAlgn="b"/>
                      <a:r>
                        <a:rPr lang="en-US" sz="1100" b="0" i="0" u="none" strike="noStrike">
                          <a:solidFill>
                            <a:srgbClr val="000000"/>
                          </a:solidFill>
                          <a:effectLst/>
                          <a:latin typeface="Calibri" panose="020F0502020204030204" pitchFamily="34" charset="0"/>
                        </a:rPr>
                        <a:t>67.63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4.72%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7686013"/>
                  </a:ext>
                </a:extLst>
              </a:tr>
              <a:tr h="303231">
                <a:tc>
                  <a:txBody>
                    <a:bodyPr/>
                    <a:lstStyle/>
                    <a:p>
                      <a:pPr algn="ctr" fontAlgn="b"/>
                      <a:r>
                        <a:rPr lang="en-US" sz="1100" b="0" i="0" u="none" strike="noStrike">
                          <a:solidFill>
                            <a:srgbClr val="000000"/>
                          </a:solidFill>
                          <a:effectLst/>
                          <a:latin typeface="Calibri" panose="020F0502020204030204" pitchFamily="34" charset="0"/>
                        </a:rPr>
                        <a:t>202.15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0.17%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5684066"/>
                  </a:ext>
                </a:extLst>
              </a:tr>
              <a:tr h="303231">
                <a:tc>
                  <a:txBody>
                    <a:bodyPr/>
                    <a:lstStyle/>
                    <a:p>
                      <a:pPr algn="ctr" fontAlgn="b"/>
                      <a:r>
                        <a:rPr lang="en-US" sz="1100" b="0" i="0" u="none" strike="noStrike">
                          <a:solidFill>
                            <a:srgbClr val="000000"/>
                          </a:solidFill>
                          <a:effectLst/>
                          <a:latin typeface="Calibri" panose="020F0502020204030204" pitchFamily="34" charset="0"/>
                        </a:rPr>
                        <a:t>235.34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-6.02%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981158"/>
                  </a:ext>
                </a:extLst>
              </a:tr>
              <a:tr h="303231">
                <a:tc>
                  <a:txBody>
                    <a:bodyPr/>
                    <a:lstStyle/>
                    <a:p>
                      <a:pPr algn="ctr" fontAlgn="b"/>
                      <a:r>
                        <a:rPr lang="en-US" sz="1100" b="0" i="0" u="none" strike="noStrike">
                          <a:solidFill>
                            <a:srgbClr val="000000"/>
                          </a:solidFill>
                          <a:effectLst/>
                          <a:latin typeface="Calibri" panose="020F0502020204030204" pitchFamily="34" charset="0"/>
                        </a:rPr>
                        <a:t>288.27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-6.02%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56665820"/>
                  </a:ext>
                </a:extLst>
              </a:tr>
              <a:tr h="303231">
                <a:tc>
                  <a:txBody>
                    <a:bodyPr/>
                    <a:lstStyle/>
                    <a:p>
                      <a:pPr algn="ctr" fontAlgn="b"/>
                      <a:r>
                        <a:rPr lang="en-US" sz="1100" b="0" i="0" u="none" strike="noStrike">
                          <a:solidFill>
                            <a:srgbClr val="000000"/>
                          </a:solidFill>
                          <a:effectLst/>
                          <a:latin typeface="Calibri" panose="020F0502020204030204" pitchFamily="34" charset="0"/>
                        </a:rPr>
                        <a:t>363.56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0.75%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9086232"/>
                  </a:ext>
                </a:extLst>
              </a:tr>
              <a:tr h="303231">
                <a:tc>
                  <a:txBody>
                    <a:bodyPr/>
                    <a:lstStyle/>
                    <a:p>
                      <a:pPr algn="ctr" fontAlgn="b"/>
                      <a:r>
                        <a:rPr lang="en-US" sz="1100" b="0" i="0" u="none" strike="noStrike">
                          <a:solidFill>
                            <a:srgbClr val="000000"/>
                          </a:solidFill>
                          <a:effectLst/>
                          <a:latin typeface="Calibri" panose="020F0502020204030204" pitchFamily="34" charset="0"/>
                        </a:rPr>
                        <a:t>402.58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0.77%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94077485"/>
                  </a:ext>
                </a:extLst>
              </a:tr>
              <a:tr h="303231">
                <a:tc>
                  <a:txBody>
                    <a:bodyPr/>
                    <a:lstStyle/>
                    <a:p>
                      <a:pPr algn="ctr" fontAlgn="b"/>
                      <a:r>
                        <a:rPr lang="en-US" sz="1100" b="0" i="0" u="none" strike="noStrike">
                          <a:solidFill>
                            <a:srgbClr val="000000"/>
                          </a:solidFill>
                          <a:effectLst/>
                          <a:latin typeface="Calibri" panose="020F0502020204030204" pitchFamily="34" charset="0"/>
                        </a:rPr>
                        <a:t>416.43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0.57%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54694586"/>
                  </a:ext>
                </a:extLst>
              </a:tr>
              <a:tr h="303231">
                <a:tc>
                  <a:txBody>
                    <a:bodyPr/>
                    <a:lstStyle/>
                    <a:p>
                      <a:pPr algn="ctr" fontAlgn="b"/>
                      <a:r>
                        <a:rPr lang="en-US" sz="1100" b="0" i="0" u="none" strike="noStrike">
                          <a:solidFill>
                            <a:srgbClr val="000000"/>
                          </a:solidFill>
                          <a:effectLst/>
                          <a:latin typeface="Calibri" panose="020F0502020204030204" pitchFamily="34" charset="0"/>
                        </a:rPr>
                        <a:t>416.43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0.57%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3892965"/>
                  </a:ext>
                </a:extLst>
              </a:tr>
              <a:tr h="303231">
                <a:tc>
                  <a:txBody>
                    <a:bodyPr/>
                    <a:lstStyle/>
                    <a:p>
                      <a:pPr algn="ctr" fontAlgn="b"/>
                      <a:r>
                        <a:rPr lang="en-US" sz="1100" b="0" i="0" u="none" strike="noStrike">
                          <a:solidFill>
                            <a:srgbClr val="000000"/>
                          </a:solidFill>
                          <a:effectLst/>
                          <a:latin typeface="Calibri" panose="020F0502020204030204" pitchFamily="34" charset="0"/>
                        </a:rPr>
                        <a:t>439.75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0.65%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0792099"/>
                  </a:ext>
                </a:extLst>
              </a:tr>
              <a:tr h="303231">
                <a:tc>
                  <a:txBody>
                    <a:bodyPr/>
                    <a:lstStyle/>
                    <a:p>
                      <a:pPr algn="ctr" fontAlgn="b"/>
                      <a:r>
                        <a:rPr lang="en-US" sz="1100" b="0" i="0" u="none" strike="noStrike" dirty="0">
                          <a:solidFill>
                            <a:srgbClr val="000000"/>
                          </a:solidFill>
                          <a:effectLst/>
                          <a:latin typeface="Calibri" panose="020F0502020204030204" pitchFamily="34" charset="0"/>
                        </a:rPr>
                        <a:t>448.39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1.36%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7937472"/>
                  </a:ext>
                </a:extLst>
              </a:tr>
            </a:tbl>
          </a:graphicData>
        </a:graphic>
      </p:graphicFrame>
      <p:pic>
        <p:nvPicPr>
          <p:cNvPr id="10" name="Picture 9">
            <a:extLst>
              <a:ext uri="{FF2B5EF4-FFF2-40B4-BE49-F238E27FC236}">
                <a16:creationId xmlns:a16="http://schemas.microsoft.com/office/drawing/2014/main" id="{A7051A0E-809A-48F7-8368-C12C59CFA5EA}"/>
              </a:ext>
            </a:extLst>
          </p:cNvPr>
          <p:cNvPicPr>
            <a:picLocks noChangeAspect="1"/>
          </p:cNvPicPr>
          <p:nvPr/>
        </p:nvPicPr>
        <p:blipFill>
          <a:blip r:embed="rId4"/>
          <a:stretch>
            <a:fillRect/>
          </a:stretch>
        </p:blipFill>
        <p:spPr>
          <a:xfrm>
            <a:off x="258623" y="3155319"/>
            <a:ext cx="4572000" cy="3429000"/>
          </a:xfrm>
          <a:prstGeom prst="rect">
            <a:avLst/>
          </a:prstGeom>
        </p:spPr>
      </p:pic>
      <p:sp>
        <p:nvSpPr>
          <p:cNvPr id="12" name="TextBox 11">
            <a:extLst>
              <a:ext uri="{FF2B5EF4-FFF2-40B4-BE49-F238E27FC236}">
                <a16:creationId xmlns:a16="http://schemas.microsoft.com/office/drawing/2014/main" id="{72DB004A-8215-4835-B795-E1D0550A89E7}"/>
              </a:ext>
            </a:extLst>
          </p:cNvPr>
          <p:cNvSpPr txBox="1"/>
          <p:nvPr/>
        </p:nvSpPr>
        <p:spPr>
          <a:xfrm>
            <a:off x="10279457" y="1412559"/>
            <a:ext cx="1687753" cy="830997"/>
          </a:xfrm>
          <a:prstGeom prst="rect">
            <a:avLst/>
          </a:prstGeom>
          <a:noFill/>
        </p:spPr>
        <p:txBody>
          <a:bodyPr wrap="square" rtlCol="0">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C00000"/>
                </a:solidFill>
                <a:effectLst/>
                <a:uLnTx/>
                <a:uFillTx/>
                <a:latin typeface="Trebuchet MS" panose="020B0603020202020204"/>
                <a:ea typeface="+mn-ea"/>
                <a:cs typeface="+mn-cs"/>
              </a:rPr>
              <a:t>Excess Rigid Modes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C00000"/>
                </a:solidFill>
                <a:effectLst/>
                <a:uLnTx/>
                <a:uFillTx/>
                <a:latin typeface="Trebuchet MS" panose="020B0603020202020204"/>
                <a:ea typeface="+mn-ea"/>
                <a:cs typeface="+mn-cs"/>
              </a:rPr>
              <a:t>Spurious Modes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C00000"/>
                </a:solidFill>
                <a:effectLst/>
                <a:uLnTx/>
                <a:uFillTx/>
                <a:latin typeface="Trebuchet MS" panose="020B0603020202020204"/>
                <a:ea typeface="+mn-ea"/>
                <a:cs typeface="+mn-cs"/>
              </a:rPr>
              <a:t>Imaginary Eigen Frequencies!</a:t>
            </a:r>
          </a:p>
        </p:txBody>
      </p:sp>
      <p:sp>
        <p:nvSpPr>
          <p:cNvPr id="13" name="TextBox 12">
            <a:extLst>
              <a:ext uri="{FF2B5EF4-FFF2-40B4-BE49-F238E27FC236}">
                <a16:creationId xmlns:a16="http://schemas.microsoft.com/office/drawing/2014/main" id="{B4E912AC-DE08-4DA3-84A6-CFE2D27B00D9}"/>
              </a:ext>
            </a:extLst>
          </p:cNvPr>
          <p:cNvSpPr txBox="1"/>
          <p:nvPr/>
        </p:nvSpPr>
        <p:spPr>
          <a:xfrm>
            <a:off x="10279457" y="4081554"/>
            <a:ext cx="1758268" cy="276999"/>
          </a:xfrm>
          <a:prstGeom prst="rect">
            <a:avLst/>
          </a:prstGeom>
          <a:noFill/>
        </p:spPr>
        <p:txBody>
          <a:bodyPr wrap="square" rtlCol="0">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C00000"/>
                </a:solidFill>
                <a:effectLst/>
                <a:uLnTx/>
                <a:uFillTx/>
                <a:latin typeface="Trebuchet MS" panose="020B0603020202020204"/>
                <a:ea typeface="+mn-ea"/>
                <a:cs typeface="+mn-cs"/>
              </a:rPr>
              <a:t>Negative Damping?</a:t>
            </a:r>
          </a:p>
        </p:txBody>
      </p:sp>
      <p:pic>
        <p:nvPicPr>
          <p:cNvPr id="19" name="Picture 18">
            <a:extLst>
              <a:ext uri="{FF2B5EF4-FFF2-40B4-BE49-F238E27FC236}">
                <a16:creationId xmlns:a16="http://schemas.microsoft.com/office/drawing/2014/main" id="{BD20B4AD-D4EC-4DE5-BD90-AC8A591C8192}"/>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4424918" y="4869819"/>
            <a:ext cx="2133600" cy="1600200"/>
          </a:xfrm>
          <a:prstGeom prst="rect">
            <a:avLst/>
          </a:prstGeom>
        </p:spPr>
      </p:pic>
      <p:pic>
        <p:nvPicPr>
          <p:cNvPr id="17" name="Picture 16">
            <a:extLst>
              <a:ext uri="{FF2B5EF4-FFF2-40B4-BE49-F238E27FC236}">
                <a16:creationId xmlns:a16="http://schemas.microsoft.com/office/drawing/2014/main" id="{00E2A6CD-983F-42BE-9C2A-19D2339D6AEB}"/>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5767232" y="3438988"/>
            <a:ext cx="2133600" cy="1600200"/>
          </a:xfrm>
          <a:prstGeom prst="rect">
            <a:avLst/>
          </a:prstGeom>
        </p:spPr>
      </p:pic>
      <p:cxnSp>
        <p:nvCxnSpPr>
          <p:cNvPr id="21" name="Straight Arrow Connector 20">
            <a:extLst>
              <a:ext uri="{FF2B5EF4-FFF2-40B4-BE49-F238E27FC236}">
                <a16:creationId xmlns:a16="http://schemas.microsoft.com/office/drawing/2014/main" id="{3E01687B-8DB8-473A-988D-2C3470F0C09C}"/>
              </a:ext>
            </a:extLst>
          </p:cNvPr>
          <p:cNvCxnSpPr>
            <a:cxnSpLocks/>
          </p:cNvCxnSpPr>
          <p:nvPr/>
        </p:nvCxnSpPr>
        <p:spPr>
          <a:xfrm flipV="1">
            <a:off x="6833436" y="1216241"/>
            <a:ext cx="1605377" cy="16002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B00C772-C91D-4E56-9714-0F5F1C56C682}"/>
              </a:ext>
            </a:extLst>
          </p:cNvPr>
          <p:cNvCxnSpPr>
            <a:cxnSpLocks/>
          </p:cNvCxnSpPr>
          <p:nvPr/>
        </p:nvCxnSpPr>
        <p:spPr>
          <a:xfrm flipV="1">
            <a:off x="7362852" y="3302493"/>
            <a:ext cx="1075961" cy="29627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33C83B5-0C40-4033-A2D1-ECDD648D4E7A}"/>
              </a:ext>
            </a:extLst>
          </p:cNvPr>
          <p:cNvCxnSpPr>
            <a:cxnSpLocks/>
          </p:cNvCxnSpPr>
          <p:nvPr/>
        </p:nvCxnSpPr>
        <p:spPr>
          <a:xfrm flipV="1">
            <a:off x="6691694" y="3631542"/>
            <a:ext cx="1747119" cy="188573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6784613"/>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Tricks and Checks 1: Rigid Check</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2" y="939585"/>
                <a:ext cx="8350710" cy="4978829"/>
              </a:xfrm>
            </p:spPr>
            <p:txBody>
              <a:bodyPr>
                <a:normAutofit/>
              </a:bodyPr>
              <a:lstStyle/>
              <a:p>
                <a:pPr lvl="1"/>
                <a:r>
                  <a:rPr lang="en-US" dirty="0"/>
                  <a:t>Attempt substructuring with </a:t>
                </a:r>
                <a:r>
                  <a:rPr lang="en-US" b="1" dirty="0"/>
                  <a:t>just rigid modes </a:t>
                </a:r>
                <a:r>
                  <a:rPr lang="en-US" dirty="0"/>
                  <a:t>to check if connections are incorrect and shape/geometry documentation are in line </a:t>
                </a:r>
              </a:p>
              <a:p>
                <a:pPr lvl="1"/>
                <a:r>
                  <a:rPr lang="en-US" dirty="0"/>
                  <a:t>cond(</a:t>
                </a:r>
                <a14:m>
                  <m:oMath xmlns:m="http://schemas.openxmlformats.org/officeDocument/2006/math">
                    <m:acc>
                      <m:accPr>
                        <m:chr m:val="̃"/>
                        <m:ctrlPr>
                          <a:rPr lang="en-US" sz="200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oMath>
                </a14:m>
                <a:r>
                  <a:rPr lang="en-US" dirty="0"/>
                  <a:t>) = 6.2</a:t>
                </a:r>
              </a:p>
              <a:p>
                <a:pPr lvl="1"/>
                <a:r>
                  <a:rPr lang="en-US" dirty="0"/>
                  <a:t>Frame, Plate, Wing: 6 modes</a:t>
                </a:r>
              </a:p>
              <a:p>
                <a:pPr lvl="1"/>
                <a:r>
                  <a:rPr lang="en-US" dirty="0"/>
                  <a:t>Plate and Wing: 6 modes</a:t>
                </a:r>
              </a:p>
              <a:p>
                <a:pPr lvl="1"/>
                <a:r>
                  <a:rPr lang="en-US" dirty="0"/>
                  <a:t>Plate and Swept Wing: 6 modes</a:t>
                </a:r>
              </a:p>
              <a:p>
                <a:pPr lvl="1"/>
                <a:endParaRPr lang="en-US" b="1" dirty="0"/>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xfrm>
                <a:off x="105032" y="939585"/>
                <a:ext cx="8350710" cy="4978829"/>
              </a:xfrm>
              <a:blipFill>
                <a:blip r:embed="rId2"/>
                <a:stretch>
                  <a:fillRect t="-15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7450B5E3-1760-4521-A775-F763ED3CB9F9}"/>
              </a:ext>
            </a:extLst>
          </p:cNvPr>
          <p:cNvPicPr>
            <a:picLocks noChangeAspect="1"/>
          </p:cNvPicPr>
          <p:nvPr/>
        </p:nvPicPr>
        <p:blipFill>
          <a:blip r:embed="rId3"/>
          <a:stretch>
            <a:fillRect/>
          </a:stretch>
        </p:blipFill>
        <p:spPr>
          <a:xfrm>
            <a:off x="1046886" y="3841788"/>
            <a:ext cx="3028699" cy="2271524"/>
          </a:xfrm>
          <a:prstGeom prst="rect">
            <a:avLst/>
          </a:prstGeom>
        </p:spPr>
      </p:pic>
      <p:graphicFrame>
        <p:nvGraphicFramePr>
          <p:cNvPr id="10" name="Table 9">
            <a:extLst>
              <a:ext uri="{FF2B5EF4-FFF2-40B4-BE49-F238E27FC236}">
                <a16:creationId xmlns:a16="http://schemas.microsoft.com/office/drawing/2014/main" id="{C913948D-B2CD-4D2E-97A3-3B727B9D057B}"/>
              </a:ext>
            </a:extLst>
          </p:cNvPr>
          <p:cNvGraphicFramePr>
            <a:graphicFrameLocks noGrp="1"/>
          </p:cNvGraphicFramePr>
          <p:nvPr/>
        </p:nvGraphicFramePr>
        <p:xfrm>
          <a:off x="9114698" y="594360"/>
          <a:ext cx="1758268" cy="2188698"/>
        </p:xfrm>
        <a:graphic>
          <a:graphicData uri="http://schemas.openxmlformats.org/drawingml/2006/table">
            <a:tbl>
              <a:tblPr firstRow="1" firstCol="1" bandRow="1"/>
              <a:tblGrid>
                <a:gridCol w="849830">
                  <a:extLst>
                    <a:ext uri="{9D8B030D-6E8A-4147-A177-3AD203B41FA5}">
                      <a16:colId xmlns:a16="http://schemas.microsoft.com/office/drawing/2014/main" val="2933048369"/>
                    </a:ext>
                  </a:extLst>
                </a:gridCol>
                <a:gridCol w="908438">
                  <a:extLst>
                    <a:ext uri="{9D8B030D-6E8A-4147-A177-3AD203B41FA5}">
                      <a16:colId xmlns:a16="http://schemas.microsoft.com/office/drawing/2014/main" val="4100554374"/>
                    </a:ext>
                  </a:extLst>
                </a:gridCol>
              </a:tblGrid>
              <a:tr h="184656">
                <a:tc gridSpan="2">
                  <a:txBody>
                    <a:bodyPr/>
                    <a:lstStyle/>
                    <a:p>
                      <a:pPr marL="0" marR="0" algn="ctr">
                        <a:spcBef>
                          <a:spcPts val="0"/>
                        </a:spcBef>
                        <a:spcAft>
                          <a:spcPts val="0"/>
                        </a:spcAft>
                      </a:pP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Prediction</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28575" cap="flat" cmpd="dbl" algn="ctr">
                      <a:solidFill>
                        <a:srgbClr val="3F3F3F"/>
                      </a:solidFill>
                      <a:prstDash val="solid"/>
                      <a:round/>
                      <a:headEnd type="none" w="med" len="med"/>
                      <a:tailEnd type="none" w="med" len="med"/>
                    </a:lnB>
                    <a:solidFill>
                      <a:srgbClr val="A5A5A5"/>
                    </a:solidFill>
                  </a:tcPr>
                </a:tc>
                <a:tc hMerge="1">
                  <a:txBody>
                    <a:bodyPr/>
                    <a:lstStyle/>
                    <a:p>
                      <a:endParaRPr lang="en-US"/>
                    </a:p>
                  </a:txBody>
                  <a:tcPr/>
                </a:tc>
                <a:extLst>
                  <a:ext uri="{0D108BD9-81ED-4DB2-BD59-A6C34878D82A}">
                    <a16:rowId xmlns:a16="http://schemas.microsoft.com/office/drawing/2014/main" val="2164694033"/>
                  </a:ext>
                </a:extLst>
              </a:tr>
              <a:tr h="184656">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fn</a:t>
                      </a: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 [Hz]</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zt</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extLst>
                  <a:ext uri="{0D108BD9-81ED-4DB2-BD59-A6C34878D82A}">
                    <a16:rowId xmlns:a16="http://schemas.microsoft.com/office/drawing/2014/main" val="2510769702"/>
                  </a:ext>
                </a:extLst>
              </a:tr>
              <a:tr h="303231">
                <a:tc>
                  <a:txBody>
                    <a:bodyPr/>
                    <a:lstStyle/>
                    <a:p>
                      <a:pPr algn="ctr" fontAlgn="b"/>
                      <a:r>
                        <a:rPr lang="en-US" sz="1100" u="none" strike="noStrike" dirty="0">
                          <a:effectLst/>
                        </a:rPr>
                        <a:t>0.026</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29234973"/>
                  </a:ext>
                </a:extLst>
              </a:tr>
              <a:tr h="303231">
                <a:tc>
                  <a:txBody>
                    <a:bodyPr/>
                    <a:lstStyle/>
                    <a:p>
                      <a:pPr algn="ctr" fontAlgn="b"/>
                      <a:r>
                        <a:rPr lang="en-US" sz="1100" u="none" strike="noStrike" dirty="0">
                          <a:effectLst/>
                        </a:rPr>
                        <a:t>0.053</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53133201"/>
                  </a:ext>
                </a:extLst>
              </a:tr>
              <a:tr h="303231">
                <a:tc>
                  <a:txBody>
                    <a:bodyPr/>
                    <a:lstStyle/>
                    <a:p>
                      <a:pPr algn="ctr" fontAlgn="b"/>
                      <a:r>
                        <a:rPr lang="en-US" sz="1100" u="none" strike="noStrike" dirty="0">
                          <a:effectLst/>
                        </a:rPr>
                        <a:t>0.054</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7788754"/>
                  </a:ext>
                </a:extLst>
              </a:tr>
              <a:tr h="303231">
                <a:tc>
                  <a:txBody>
                    <a:bodyPr/>
                    <a:lstStyle/>
                    <a:p>
                      <a:pPr algn="ctr" fontAlgn="b"/>
                      <a:r>
                        <a:rPr lang="en-US" sz="1100" u="none" strike="noStrike" dirty="0">
                          <a:effectLst/>
                        </a:rPr>
                        <a:t>0.057</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55932601"/>
                  </a:ext>
                </a:extLst>
              </a:tr>
              <a:tr h="303231">
                <a:tc>
                  <a:txBody>
                    <a:bodyPr/>
                    <a:lstStyle/>
                    <a:p>
                      <a:pPr algn="ctr" fontAlgn="b"/>
                      <a:r>
                        <a:rPr lang="en-US" sz="1100" u="none" strike="noStrike" dirty="0">
                          <a:effectLst/>
                        </a:rPr>
                        <a:t>0.075</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7838"/>
                  </a:ext>
                </a:extLst>
              </a:tr>
              <a:tr h="303231">
                <a:tc>
                  <a:txBody>
                    <a:bodyPr/>
                    <a:lstStyle/>
                    <a:p>
                      <a:pPr algn="ctr" fontAlgn="b"/>
                      <a:r>
                        <a:rPr lang="en-US" sz="1100" u="none" strike="noStrike" dirty="0">
                          <a:effectLst/>
                        </a:rPr>
                        <a:t>0.079</a:t>
                      </a:r>
                      <a:endParaRPr lang="en-US" sz="11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0.04%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49961525"/>
                  </a:ext>
                </a:extLst>
              </a:tr>
            </a:tbl>
          </a:graphicData>
        </a:graphic>
      </p:graphicFrame>
      <p:sp>
        <p:nvSpPr>
          <p:cNvPr id="13" name="Text Box 117">
            <a:extLst>
              <a:ext uri="{FF2B5EF4-FFF2-40B4-BE49-F238E27FC236}">
                <a16:creationId xmlns:a16="http://schemas.microsoft.com/office/drawing/2014/main" id="{5D5F3F4E-586E-407C-B9DA-DD6EC10FE33F}"/>
              </a:ext>
            </a:extLst>
          </p:cNvPr>
          <p:cNvSpPr txBox="1">
            <a:spLocks noChangeArrowheads="1"/>
          </p:cNvSpPr>
          <p:nvPr/>
        </p:nvSpPr>
        <p:spPr bwMode="auto">
          <a:xfrm>
            <a:off x="6096000" y="5962938"/>
            <a:ext cx="4160520" cy="369332"/>
          </a:xfrm>
          <a:prstGeom prst="rect">
            <a:avLst/>
          </a:prstGeom>
          <a:solidFill>
            <a:schemeClr val="tx2"/>
          </a:solidFill>
          <a:ln w="25400">
            <a:solidFill>
              <a:schemeClr val="tx2"/>
            </a:solidFill>
            <a:miter lim="800000"/>
            <a:headEnd/>
            <a:tailEnd/>
          </a:ln>
          <a:effectLst/>
        </p:spPr>
        <p:txBody>
          <a:bodyPr wrap="square">
            <a:spAutoFit/>
          </a:bodyPr>
          <a:lstStyle>
            <a:defPPr>
              <a:defRPr lang="en-US"/>
            </a:defPPr>
            <a:lvl1pPr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Calibri" panose="020F050202020403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Calibri" panose="020F0502020204030204" pitchFamily="34" charset="0"/>
                <a:ea typeface="+mn-ea"/>
                <a:cs typeface="Arial" panose="020B0604020202020204" pitchFamily="34" charset="0"/>
              </a:defRPr>
            </a:lvl9pPr>
          </a:lstStyle>
          <a:p>
            <a:pPr marL="0" marR="0" lvl="0" indent="0" algn="ctr" defTabSz="457200" rtl="0" eaLnBrk="1" fontAlgn="base" latinLnBrk="0" hangingPunct="1">
              <a:lnSpc>
                <a:spcPct val="100000"/>
              </a:lnSpc>
              <a:spcBef>
                <a:spcPct val="50000"/>
              </a:spcBef>
              <a:spcAft>
                <a:spcPct val="0"/>
              </a:spcAft>
              <a:buClrTx/>
              <a:buSzTx/>
              <a:buFontTx/>
              <a:buNone/>
              <a:tabLst/>
              <a:defRPr/>
            </a:pPr>
            <a:r>
              <a:rPr kumimoji="0" lang="en-US" altLang="en-US" sz="1800" b="1" i="0" u="none" strike="noStrike" kern="1200" cap="none" spc="0" normalizeH="0" baseline="0" noProof="0" dirty="0">
                <a:ln>
                  <a:noFill/>
                </a:ln>
                <a:solidFill>
                  <a:srgbClr val="FFFFFF"/>
                </a:solidFill>
                <a:effectLst/>
                <a:uLnTx/>
                <a:uFillTx/>
                <a:latin typeface="Calibri" panose="020F0502020204030204" pitchFamily="34" charset="0"/>
                <a:ea typeface="+mn-ea"/>
                <a:cs typeface="Arial" panose="020B0604020202020204" pitchFamily="34" charset="0"/>
              </a:rPr>
              <a:t>Rigid modes substructure as expected!</a:t>
            </a:r>
          </a:p>
        </p:txBody>
      </p:sp>
      <p:pic>
        <p:nvPicPr>
          <p:cNvPr id="15" name="Picture 14">
            <a:extLst>
              <a:ext uri="{FF2B5EF4-FFF2-40B4-BE49-F238E27FC236}">
                <a16:creationId xmlns:a16="http://schemas.microsoft.com/office/drawing/2014/main" id="{AE9A6727-8593-494C-9443-E1F0E77AB9E6}"/>
              </a:ext>
            </a:extLst>
          </p:cNvPr>
          <p:cNvPicPr>
            <a:picLocks noChangeAspect="1"/>
          </p:cNvPicPr>
          <p:nvPr/>
        </p:nvPicPr>
        <p:blipFill>
          <a:blip r:embed="rId4"/>
          <a:stretch>
            <a:fillRect/>
          </a:stretch>
        </p:blipFill>
        <p:spPr>
          <a:xfrm>
            <a:off x="5358384" y="2191083"/>
            <a:ext cx="2438400" cy="1828800"/>
          </a:xfrm>
          <a:prstGeom prst="rect">
            <a:avLst/>
          </a:prstGeom>
        </p:spPr>
      </p:pic>
      <p:pic>
        <p:nvPicPr>
          <p:cNvPr id="17" name="Picture 16">
            <a:extLst>
              <a:ext uri="{FF2B5EF4-FFF2-40B4-BE49-F238E27FC236}">
                <a16:creationId xmlns:a16="http://schemas.microsoft.com/office/drawing/2014/main" id="{D66F3351-6FD9-4002-88CC-FD64F00599FE}"/>
              </a:ext>
            </a:extLst>
          </p:cNvPr>
          <p:cNvPicPr>
            <a:picLocks noChangeAspect="1"/>
          </p:cNvPicPr>
          <p:nvPr/>
        </p:nvPicPr>
        <p:blipFill>
          <a:blip r:embed="rId5"/>
          <a:stretch>
            <a:fillRect/>
          </a:stretch>
        </p:blipFill>
        <p:spPr>
          <a:xfrm>
            <a:off x="4876800" y="4021113"/>
            <a:ext cx="2438400" cy="1828800"/>
          </a:xfrm>
          <a:prstGeom prst="rect">
            <a:avLst/>
          </a:prstGeom>
        </p:spPr>
      </p:pic>
      <p:pic>
        <p:nvPicPr>
          <p:cNvPr id="19" name="Picture 18">
            <a:extLst>
              <a:ext uri="{FF2B5EF4-FFF2-40B4-BE49-F238E27FC236}">
                <a16:creationId xmlns:a16="http://schemas.microsoft.com/office/drawing/2014/main" id="{19015954-9C77-4DD6-A2AB-892B864949ED}"/>
              </a:ext>
            </a:extLst>
          </p:cNvPr>
          <p:cNvPicPr>
            <a:picLocks noChangeAspect="1"/>
          </p:cNvPicPr>
          <p:nvPr/>
        </p:nvPicPr>
        <p:blipFill>
          <a:blip r:embed="rId6"/>
          <a:stretch>
            <a:fillRect/>
          </a:stretch>
        </p:blipFill>
        <p:spPr>
          <a:xfrm>
            <a:off x="8046138" y="3631233"/>
            <a:ext cx="2438400" cy="1828800"/>
          </a:xfrm>
          <a:prstGeom prst="rect">
            <a:avLst/>
          </a:prstGeom>
        </p:spPr>
      </p:pic>
    </p:spTree>
    <p:extLst>
      <p:ext uri="{BB962C8B-B14F-4D97-AF65-F5344CB8AC3E}">
        <p14:creationId xmlns:p14="http://schemas.microsoft.com/office/powerpoint/2010/main" val="810781406"/>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Tricks and Checks 2: Modal Space Check</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2" y="4450842"/>
            <a:ext cx="11337324" cy="1467572"/>
          </a:xfrm>
        </p:spPr>
        <p:txBody>
          <a:bodyPr>
            <a:normAutofit fontScale="77500" lnSpcReduction="20000"/>
          </a:bodyPr>
          <a:lstStyle/>
          <a:p>
            <a:pPr lvl="1"/>
            <a:r>
              <a:rPr lang="en-US" dirty="0"/>
              <a:t>Check to ensure modes when partitioned down to the connection degrees of freedom span the space for the structures included!</a:t>
            </a:r>
          </a:p>
          <a:p>
            <a:pPr lvl="1"/>
            <a:r>
              <a:rPr lang="en-US" dirty="0"/>
              <a:t>Here – we can see we don’t have the right information in the TS (Plate and Wing Subassembly) to describe the interface motion of the baseline assembly for mode 23!</a:t>
            </a:r>
          </a:p>
          <a:p>
            <a:pPr lvl="1"/>
            <a:r>
              <a:rPr lang="en-US" dirty="0"/>
              <a:t>Let’s truncate our baseline assembly down to 20 modes (and the </a:t>
            </a:r>
            <a:r>
              <a:rPr lang="en-US" dirty="0" err="1"/>
              <a:t>subpieces</a:t>
            </a:r>
            <a:r>
              <a:rPr lang="en-US" dirty="0"/>
              <a:t> down to 14) so we are only including modes we need to span the space</a:t>
            </a:r>
          </a:p>
          <a:p>
            <a:pPr lvl="2"/>
            <a:endParaRPr lang="en-US" dirty="0"/>
          </a:p>
          <a:p>
            <a:pPr marL="201159" lvl="1" indent="0">
              <a:buNone/>
            </a:pPr>
            <a:endParaRPr lang="en-US" b="1" dirty="0"/>
          </a:p>
        </p:txBody>
      </p:sp>
      <p:pic>
        <p:nvPicPr>
          <p:cNvPr id="4" name="Picture 3">
            <a:extLst>
              <a:ext uri="{FF2B5EF4-FFF2-40B4-BE49-F238E27FC236}">
                <a16:creationId xmlns:a16="http://schemas.microsoft.com/office/drawing/2014/main" id="{DD1F2CD6-378A-433D-B8BC-145F18E05E43}"/>
              </a:ext>
            </a:extLst>
          </p:cNvPr>
          <p:cNvPicPr>
            <a:picLocks noChangeAspect="1"/>
          </p:cNvPicPr>
          <p:nvPr/>
        </p:nvPicPr>
        <p:blipFill>
          <a:blip r:embed="rId2"/>
          <a:stretch>
            <a:fillRect/>
          </a:stretch>
        </p:blipFill>
        <p:spPr>
          <a:xfrm>
            <a:off x="720648" y="594360"/>
            <a:ext cx="5141976" cy="3856482"/>
          </a:xfrm>
          <a:prstGeom prst="rect">
            <a:avLst/>
          </a:prstGeom>
        </p:spPr>
      </p:pic>
      <p:pic>
        <p:nvPicPr>
          <p:cNvPr id="8" name="Picture 7">
            <a:extLst>
              <a:ext uri="{FF2B5EF4-FFF2-40B4-BE49-F238E27FC236}">
                <a16:creationId xmlns:a16="http://schemas.microsoft.com/office/drawing/2014/main" id="{D3748467-A1A6-4303-80AA-9F2D15C53A79}"/>
              </a:ext>
            </a:extLst>
          </p:cNvPr>
          <p:cNvPicPr>
            <a:picLocks noChangeAspect="1"/>
          </p:cNvPicPr>
          <p:nvPr/>
        </p:nvPicPr>
        <p:blipFill>
          <a:blip r:embed="rId2"/>
          <a:stretch>
            <a:fillRect/>
          </a:stretch>
        </p:blipFill>
        <p:spPr>
          <a:xfrm>
            <a:off x="5993688" y="497300"/>
            <a:ext cx="5141976" cy="3856482"/>
          </a:xfrm>
          <a:prstGeom prst="rect">
            <a:avLst/>
          </a:prstGeom>
        </p:spPr>
      </p:pic>
      <p:sp>
        <p:nvSpPr>
          <p:cNvPr id="5" name="Rectangle 4">
            <a:extLst>
              <a:ext uri="{FF2B5EF4-FFF2-40B4-BE49-F238E27FC236}">
                <a16:creationId xmlns:a16="http://schemas.microsoft.com/office/drawing/2014/main" id="{A741657D-F1C6-46A2-8D39-C202BCFCA06D}"/>
              </a:ext>
            </a:extLst>
          </p:cNvPr>
          <p:cNvSpPr/>
          <p:nvPr/>
        </p:nvSpPr>
        <p:spPr>
          <a:xfrm>
            <a:off x="6556248" y="1152144"/>
            <a:ext cx="3063240" cy="2798064"/>
          </a:xfrm>
          <a:prstGeom prst="rect">
            <a:avLst/>
          </a:prstGeom>
          <a:solidFill>
            <a:schemeClr val="accent2">
              <a:alpha val="50000"/>
            </a:schemeClr>
          </a:solidFill>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Tree>
    <p:extLst>
      <p:ext uri="{BB962C8B-B14F-4D97-AF65-F5344CB8AC3E}">
        <p14:creationId xmlns:p14="http://schemas.microsoft.com/office/powerpoint/2010/main" val="146205102"/>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Updated Substructuring Results</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a:xfrm>
                <a:off x="105032" y="939586"/>
                <a:ext cx="8222891" cy="2441250"/>
              </a:xfrm>
            </p:spPr>
            <p:txBody>
              <a:bodyPr>
                <a:normAutofit fontScale="92500" lnSpcReduction="10000"/>
              </a:bodyPr>
              <a:lstStyle/>
              <a:p>
                <a:pPr lvl="1"/>
                <a:r>
                  <a:rPr lang="en-US" dirty="0" err="1"/>
                  <a:t>cond</a:t>
                </a:r>
                <a:r>
                  <a:rPr lang="en-US" dirty="0"/>
                  <a:t>(</a:t>
                </a:r>
                <a14:m>
                  <m:oMath xmlns:m="http://schemas.openxmlformats.org/officeDocument/2006/math">
                    <m:acc>
                      <m:accPr>
                        <m:chr m:val="̃"/>
                        <m:ctrlPr>
                          <a:rPr lang="en-US" sz="2000" i="1" smtClean="0">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i="1">
                            <a:solidFill>
                              <a:srgbClr val="000000"/>
                            </a:solidFill>
                            <a:latin typeface="Cambria Math" panose="02040503050406030204" pitchFamily="18" charset="0"/>
                            <a:ea typeface="Times New Roman" panose="02020603050405020304" pitchFamily="18" charset="0"/>
                            <a:cs typeface="Times New Roman" panose="02020603050405020304" pitchFamily="18" charset="0"/>
                          </a:rPr>
                          <m:t>𝐵</m:t>
                        </m:r>
                      </m:e>
                    </m:acc>
                  </m:oMath>
                </a14:m>
                <a:r>
                  <a:rPr lang="en-US" dirty="0"/>
                  <a:t>) = 15.99</a:t>
                </a:r>
              </a:p>
              <a:p>
                <a:pPr lvl="1"/>
                <a:r>
                  <a:rPr lang="en-US" dirty="0"/>
                  <a:t>Frame, Plate, Wing: 20 modes</a:t>
                </a:r>
              </a:p>
              <a:p>
                <a:pPr lvl="1"/>
                <a:r>
                  <a:rPr lang="en-US" dirty="0"/>
                  <a:t>Plate and Wing: 14 modes</a:t>
                </a:r>
              </a:p>
              <a:p>
                <a:pPr lvl="1"/>
                <a:r>
                  <a:rPr lang="en-US" dirty="0"/>
                  <a:t>Plate and Swept Wing: 14 modes</a:t>
                </a:r>
              </a:p>
              <a:p>
                <a:pPr lvl="1"/>
                <a:r>
                  <a:rPr lang="en-US" dirty="0">
                    <a:solidFill>
                      <a:schemeClr val="accent2"/>
                    </a:solidFill>
                  </a:rPr>
                  <a:t>✔</a:t>
                </a:r>
                <a:r>
                  <a:rPr lang="en-US" dirty="0"/>
                  <a:t> Correct number of rigid modes</a:t>
                </a:r>
              </a:p>
              <a:p>
                <a:pPr lvl="1"/>
                <a:r>
                  <a:rPr lang="en-US" dirty="0">
                    <a:solidFill>
                      <a:schemeClr val="accent2"/>
                    </a:solidFill>
                  </a:rPr>
                  <a:t>✔ </a:t>
                </a:r>
                <a:r>
                  <a:rPr lang="en-US" dirty="0"/>
                  <a:t>No imaginary eigen values or damping issues</a:t>
                </a:r>
              </a:p>
              <a:p>
                <a:pPr lvl="1"/>
                <a:r>
                  <a:rPr lang="en-US" dirty="0"/>
                  <a:t>Better modal independence in self-MAC</a:t>
                </a:r>
              </a:p>
              <a:p>
                <a:pPr lvl="1"/>
                <a:endParaRPr lang="en-US" dirty="0"/>
              </a:p>
              <a:p>
                <a:pPr lvl="2"/>
                <a:endParaRPr lang="en-US" dirty="0"/>
              </a:p>
              <a:p>
                <a:pPr marL="201159" lvl="1" indent="0">
                  <a:buNone/>
                </a:pPr>
                <a:endParaRPr lang="en-US" b="1" dirty="0"/>
              </a:p>
            </p:txBody>
          </p:sp>
        </mc:Choice>
        <mc:Fallback xmlns="">
          <p:sp>
            <p:nvSpPr>
              <p:cNvPr id="7" name="Content Placeholder 2">
                <a:extLst>
                  <a:ext uri="{FF2B5EF4-FFF2-40B4-BE49-F238E27FC236}">
                    <a16:creationId xmlns:a16="http://schemas.microsoft.com/office/drawing/2014/main" id="{D2E1D076-FD1B-4DE3-8009-8C706F69A5AA}"/>
                  </a:ext>
                </a:extLst>
              </p:cNvPr>
              <p:cNvSpPr>
                <a:spLocks noGrp="1" noRot="1" noChangeAspect="1" noMove="1" noResize="1" noEditPoints="1" noAdjustHandles="1" noChangeArrowheads="1" noChangeShapeType="1" noTextEdit="1"/>
              </p:cNvSpPr>
              <p:nvPr>
                <p:ph idx="1"/>
              </p:nvPr>
            </p:nvSpPr>
            <p:spPr>
              <a:xfrm>
                <a:off x="105032" y="939586"/>
                <a:ext cx="8222891" cy="2441250"/>
              </a:xfrm>
              <a:blipFill>
                <a:blip r:embed="rId2"/>
                <a:stretch>
                  <a:fillRect t="-3990" b="-1995"/>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F8BE025F-014E-4827-BFCA-C29AA0501ACE}"/>
              </a:ext>
            </a:extLst>
          </p:cNvPr>
          <p:cNvGraphicFramePr>
            <a:graphicFrameLocks noGrp="1"/>
          </p:cNvGraphicFramePr>
          <p:nvPr/>
        </p:nvGraphicFramePr>
        <p:xfrm>
          <a:off x="9088117" y="425657"/>
          <a:ext cx="2131571" cy="6033789"/>
        </p:xfrm>
        <a:graphic>
          <a:graphicData uri="http://schemas.openxmlformats.org/drawingml/2006/table">
            <a:tbl>
              <a:tblPr firstRow="1" firstCol="1" bandRow="1"/>
              <a:tblGrid>
                <a:gridCol w="1030261">
                  <a:extLst>
                    <a:ext uri="{9D8B030D-6E8A-4147-A177-3AD203B41FA5}">
                      <a16:colId xmlns:a16="http://schemas.microsoft.com/office/drawing/2014/main" val="2933048369"/>
                    </a:ext>
                  </a:extLst>
                </a:gridCol>
                <a:gridCol w="1101310">
                  <a:extLst>
                    <a:ext uri="{9D8B030D-6E8A-4147-A177-3AD203B41FA5}">
                      <a16:colId xmlns:a16="http://schemas.microsoft.com/office/drawing/2014/main" val="4009814620"/>
                    </a:ext>
                  </a:extLst>
                </a:gridCol>
              </a:tblGrid>
              <a:tr h="184656">
                <a:tc>
                  <a:txBody>
                    <a:bodyPr/>
                    <a:lstStyle/>
                    <a:p>
                      <a:pPr marL="0" marR="0" algn="ctr">
                        <a:spcBef>
                          <a:spcPts val="0"/>
                        </a:spcBef>
                        <a:spcAft>
                          <a:spcPts val="0"/>
                        </a:spcAft>
                      </a:pP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Initial Prediction</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28575" cap="flat" cmpd="dbl" algn="ctr">
                      <a:solidFill>
                        <a:srgbClr val="3F3F3F"/>
                      </a:solidFill>
                      <a:prstDash val="solid"/>
                      <a:round/>
                      <a:headEnd type="none" w="med" len="med"/>
                      <a:tailEnd type="none" w="med" len="med"/>
                    </a:lnB>
                    <a:solidFill>
                      <a:srgbClr val="A5A5A5"/>
                    </a:solidFill>
                  </a:tcPr>
                </a:tc>
                <a:tc>
                  <a:txBody>
                    <a:bodyPr/>
                    <a:lstStyle/>
                    <a:p>
                      <a:pPr marL="0" marR="0" algn="ctr">
                        <a:spcBef>
                          <a:spcPts val="0"/>
                        </a:spcBef>
                        <a:spcAft>
                          <a:spcPts val="0"/>
                        </a:spcAft>
                      </a:pP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Updated Prediction</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28575" cap="flat" cmpd="dbl" algn="ctr">
                      <a:solidFill>
                        <a:srgbClr val="3F3F3F"/>
                      </a:solidFill>
                      <a:prstDash val="solid"/>
                      <a:round/>
                      <a:headEnd type="none" w="med" len="med"/>
                      <a:tailEnd type="none" w="med" len="med"/>
                    </a:lnB>
                    <a:solidFill>
                      <a:srgbClr val="A5A5A5"/>
                    </a:solidFill>
                  </a:tcPr>
                </a:tc>
                <a:extLst>
                  <a:ext uri="{0D108BD9-81ED-4DB2-BD59-A6C34878D82A}">
                    <a16:rowId xmlns:a16="http://schemas.microsoft.com/office/drawing/2014/main" val="2164694033"/>
                  </a:ext>
                </a:extLst>
              </a:tr>
              <a:tr h="211760">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fn</a:t>
                      </a: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 [Hz]</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tc>
                  <a:txBody>
                    <a:bodyPr/>
                    <a:lstStyle/>
                    <a:p>
                      <a:pPr marL="0" marR="0" algn="ctr">
                        <a:spcBef>
                          <a:spcPts val="0"/>
                        </a:spcBef>
                        <a:spcAft>
                          <a:spcPts val="0"/>
                        </a:spcAft>
                      </a:pPr>
                      <a:r>
                        <a:rPr lang="en-US" sz="1200" b="1" dirty="0" err="1">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fn</a:t>
                      </a:r>
                      <a:r>
                        <a:rPr lang="en-US" sz="1200" b="1" dirty="0">
                          <a:solidFill>
                            <a:srgbClr val="FFFFFF"/>
                          </a:solidFill>
                          <a:effectLst/>
                          <a:latin typeface="Calibri" panose="020F0502020204030204" pitchFamily="34" charset="0"/>
                          <a:ea typeface="Times New Roman" panose="02020603050405020304" pitchFamily="18" charset="0"/>
                          <a:cs typeface="Times New Roman" panose="02020603050405020304" pitchFamily="18" charset="0"/>
                        </a:rPr>
                        <a:t> [Hz]</a:t>
                      </a:r>
                      <a:endParaRPr lang="en-US" sz="1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4677" marR="54677" marT="0" marB="0" anchor="ctr">
                    <a:lnL w="28575" cap="flat" cmpd="dbl" algn="ctr">
                      <a:solidFill>
                        <a:srgbClr val="3F3F3F"/>
                      </a:solidFill>
                      <a:prstDash val="solid"/>
                      <a:round/>
                      <a:headEnd type="none" w="med" len="med"/>
                      <a:tailEnd type="none" w="med" len="med"/>
                    </a:lnL>
                    <a:lnR w="28575" cap="flat" cmpd="dbl" algn="ctr">
                      <a:solidFill>
                        <a:srgbClr val="3F3F3F"/>
                      </a:solidFill>
                      <a:prstDash val="solid"/>
                      <a:round/>
                      <a:headEnd type="none" w="med" len="med"/>
                      <a:tailEnd type="none" w="med" len="med"/>
                    </a:lnR>
                    <a:lnT w="28575" cap="flat" cmpd="dbl" algn="ctr">
                      <a:solidFill>
                        <a:srgbClr val="3F3F3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A5A5A5"/>
                    </a:solidFill>
                  </a:tcPr>
                </a:tc>
                <a:extLst>
                  <a:ext uri="{0D108BD9-81ED-4DB2-BD59-A6C34878D82A}">
                    <a16:rowId xmlns:a16="http://schemas.microsoft.com/office/drawing/2014/main" val="2510769702"/>
                  </a:ext>
                </a:extLst>
              </a:tr>
              <a:tr h="301342">
                <a:tc>
                  <a:txBody>
                    <a:bodyPr/>
                    <a:lstStyle/>
                    <a:p>
                      <a:pPr algn="ctr" fontAlgn="b"/>
                      <a:r>
                        <a:rPr lang="en-US" sz="1100" b="0" i="0" u="none" strike="noStrike" dirty="0">
                          <a:solidFill>
                            <a:srgbClr val="000000"/>
                          </a:solidFill>
                          <a:effectLst/>
                          <a:latin typeface="Calibri" panose="020F0502020204030204" pitchFamily="34" charset="0"/>
                        </a:rPr>
                        <a:t>0.00</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29234973"/>
                  </a:ext>
                </a:extLst>
              </a:tr>
              <a:tr h="303231">
                <a:tc>
                  <a:txBody>
                    <a:bodyPr/>
                    <a:lstStyle/>
                    <a:p>
                      <a:pPr algn="ctr" fontAlgn="b"/>
                      <a:r>
                        <a:rPr lang="en-US" sz="1100" b="0" i="0" u="none" strike="noStrike" dirty="0">
                          <a:solidFill>
                            <a:srgbClr val="000000"/>
                          </a:solidFill>
                          <a:effectLst/>
                          <a:latin typeface="Calibri" panose="020F0502020204030204" pitchFamily="34" charset="0"/>
                        </a:rPr>
                        <a:t>0.03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0.05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53133201"/>
                  </a:ext>
                </a:extLst>
              </a:tr>
              <a:tr h="303231">
                <a:tc>
                  <a:txBody>
                    <a:bodyPr/>
                    <a:lstStyle/>
                    <a:p>
                      <a:pPr algn="ctr" fontAlgn="b"/>
                      <a:r>
                        <a:rPr lang="en-US" sz="1100" b="0" i="0" u="none" strike="noStrike">
                          <a:solidFill>
                            <a:srgbClr val="000000"/>
                          </a:solidFill>
                          <a:effectLst/>
                          <a:latin typeface="Calibri" panose="020F0502020204030204" pitchFamily="34" charset="0"/>
                        </a:rPr>
                        <a:t>0.05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7788754"/>
                  </a:ext>
                </a:extLst>
              </a:tr>
              <a:tr h="303231">
                <a:tc>
                  <a:txBody>
                    <a:bodyPr/>
                    <a:lstStyle/>
                    <a:p>
                      <a:pPr algn="ctr" fontAlgn="b"/>
                      <a:r>
                        <a:rPr lang="en-US" sz="1100" b="0" i="0" u="none" strike="noStrike" dirty="0">
                          <a:solidFill>
                            <a:srgbClr val="000000"/>
                          </a:solidFill>
                          <a:effectLst/>
                          <a:latin typeface="Calibri" panose="020F0502020204030204" pitchFamily="34" charset="0"/>
                        </a:rPr>
                        <a:t>0.06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0.06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55932601"/>
                  </a:ext>
                </a:extLst>
              </a:tr>
              <a:tr h="303231">
                <a:tc>
                  <a:txBody>
                    <a:bodyPr/>
                    <a:lstStyle/>
                    <a:p>
                      <a:pPr algn="ctr" fontAlgn="b"/>
                      <a:r>
                        <a:rPr lang="en-US" sz="1100" b="0" i="0" u="none" strike="noStrike">
                          <a:solidFill>
                            <a:srgbClr val="000000"/>
                          </a:solidFill>
                          <a:effectLst/>
                          <a:latin typeface="Calibri" panose="020F0502020204030204" pitchFamily="34" charset="0"/>
                        </a:rPr>
                        <a:t>0.06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0.07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7838"/>
                  </a:ext>
                </a:extLst>
              </a:tr>
              <a:tr h="303231">
                <a:tc>
                  <a:txBody>
                    <a:bodyPr/>
                    <a:lstStyle/>
                    <a:p>
                      <a:pPr algn="ctr" fontAlgn="b"/>
                      <a:r>
                        <a:rPr lang="en-US" sz="1100" b="0" i="0" u="none" strike="noStrike">
                          <a:solidFill>
                            <a:srgbClr val="000000"/>
                          </a:solidFill>
                          <a:effectLst/>
                          <a:latin typeface="Calibri" panose="020F0502020204030204" pitchFamily="34" charset="0"/>
                        </a:rPr>
                        <a:t>0.08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0.08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49961525"/>
                  </a:ext>
                </a:extLst>
              </a:tr>
              <a:tr h="303231">
                <a:tc>
                  <a:txBody>
                    <a:bodyPr/>
                    <a:lstStyle/>
                    <a:p>
                      <a:pPr algn="ctr" fontAlgn="b"/>
                      <a:r>
                        <a:rPr lang="en-US" sz="1100" b="0" i="0" u="none" strike="noStrike">
                          <a:solidFill>
                            <a:srgbClr val="000000"/>
                          </a:solidFill>
                          <a:effectLst/>
                          <a:latin typeface="Calibri" panose="020F0502020204030204" pitchFamily="34" charset="0"/>
                        </a:rPr>
                        <a:t>0.09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42.69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88664520"/>
                  </a:ext>
                </a:extLst>
              </a:tr>
              <a:tr h="303231">
                <a:tc>
                  <a:txBody>
                    <a:bodyPr/>
                    <a:lstStyle/>
                    <a:p>
                      <a:pPr algn="ctr" fontAlgn="b"/>
                      <a:r>
                        <a:rPr lang="en-US" sz="1100" b="0" i="0" u="none" strike="noStrike">
                          <a:solidFill>
                            <a:srgbClr val="000000"/>
                          </a:solidFill>
                          <a:effectLst/>
                          <a:latin typeface="Calibri" panose="020F0502020204030204" pitchFamily="34" charset="0"/>
                        </a:rPr>
                        <a:t>53.26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65.88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40082159"/>
                  </a:ext>
                </a:extLst>
              </a:tr>
              <a:tr h="303231">
                <a:tc>
                  <a:txBody>
                    <a:bodyPr/>
                    <a:lstStyle/>
                    <a:p>
                      <a:pPr algn="ctr" fontAlgn="b"/>
                      <a:r>
                        <a:rPr lang="en-US" sz="1100" b="0" i="0" u="none" strike="noStrike">
                          <a:solidFill>
                            <a:srgbClr val="000000"/>
                          </a:solidFill>
                          <a:effectLst/>
                          <a:latin typeface="Calibri" panose="020F0502020204030204" pitchFamily="34" charset="0"/>
                        </a:rPr>
                        <a:t>67.63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173.93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7686013"/>
                  </a:ext>
                </a:extLst>
              </a:tr>
              <a:tr h="303231">
                <a:tc>
                  <a:txBody>
                    <a:bodyPr/>
                    <a:lstStyle/>
                    <a:p>
                      <a:pPr algn="ctr" fontAlgn="b"/>
                      <a:r>
                        <a:rPr lang="en-US" sz="1100" b="0" i="0" u="none" strike="noStrike">
                          <a:solidFill>
                            <a:srgbClr val="000000"/>
                          </a:solidFill>
                          <a:effectLst/>
                          <a:latin typeface="Calibri" panose="020F0502020204030204" pitchFamily="34" charset="0"/>
                        </a:rPr>
                        <a:t>202.15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223.33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5684066"/>
                  </a:ext>
                </a:extLst>
              </a:tr>
              <a:tr h="303231">
                <a:tc>
                  <a:txBody>
                    <a:bodyPr/>
                    <a:lstStyle/>
                    <a:p>
                      <a:pPr algn="ctr" fontAlgn="b"/>
                      <a:r>
                        <a:rPr lang="en-US" sz="1100" b="0" i="0" u="none" strike="noStrike">
                          <a:solidFill>
                            <a:srgbClr val="000000"/>
                          </a:solidFill>
                          <a:effectLst/>
                          <a:latin typeface="Calibri" panose="020F0502020204030204" pitchFamily="34" charset="0"/>
                        </a:rPr>
                        <a:t>235.34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260.63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981158"/>
                  </a:ext>
                </a:extLst>
              </a:tr>
              <a:tr h="303231">
                <a:tc>
                  <a:txBody>
                    <a:bodyPr/>
                    <a:lstStyle/>
                    <a:p>
                      <a:pPr algn="ctr" fontAlgn="b"/>
                      <a:r>
                        <a:rPr lang="en-US" sz="1100" b="0" i="0" u="none" strike="noStrike">
                          <a:solidFill>
                            <a:srgbClr val="000000"/>
                          </a:solidFill>
                          <a:effectLst/>
                          <a:latin typeface="Calibri" panose="020F0502020204030204" pitchFamily="34" charset="0"/>
                        </a:rPr>
                        <a:t>288.27</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325.94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56665820"/>
                  </a:ext>
                </a:extLst>
              </a:tr>
              <a:tr h="303231">
                <a:tc>
                  <a:txBody>
                    <a:bodyPr/>
                    <a:lstStyle/>
                    <a:p>
                      <a:pPr algn="ctr" fontAlgn="b"/>
                      <a:r>
                        <a:rPr lang="en-US" sz="1100" b="0" i="0" u="none" strike="noStrike">
                          <a:solidFill>
                            <a:srgbClr val="000000"/>
                          </a:solidFill>
                          <a:effectLst/>
                          <a:latin typeface="Calibri" panose="020F0502020204030204" pitchFamily="34" charset="0"/>
                        </a:rPr>
                        <a:t>363.56</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371.69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9086232"/>
                  </a:ext>
                </a:extLst>
              </a:tr>
              <a:tr h="303231">
                <a:tc>
                  <a:txBody>
                    <a:bodyPr/>
                    <a:lstStyle/>
                    <a:p>
                      <a:pPr algn="ctr" fontAlgn="b"/>
                      <a:r>
                        <a:rPr lang="en-US" sz="1100" b="0" i="0" u="none" strike="noStrike">
                          <a:solidFill>
                            <a:srgbClr val="000000"/>
                          </a:solidFill>
                          <a:effectLst/>
                          <a:latin typeface="Calibri" panose="020F0502020204030204" pitchFamily="34" charset="0"/>
                        </a:rPr>
                        <a:t>402.58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442.23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94077485"/>
                  </a:ext>
                </a:extLst>
              </a:tr>
              <a:tr h="303231">
                <a:tc>
                  <a:txBody>
                    <a:bodyPr/>
                    <a:lstStyle/>
                    <a:p>
                      <a:pPr algn="ctr" fontAlgn="b"/>
                      <a:r>
                        <a:rPr lang="en-US" sz="1100" b="0" i="0" u="none" strike="noStrike">
                          <a:solidFill>
                            <a:srgbClr val="000000"/>
                          </a:solidFill>
                          <a:effectLst/>
                          <a:latin typeface="Calibri" panose="020F0502020204030204" pitchFamily="34" charset="0"/>
                        </a:rPr>
                        <a:t>416.43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518.81</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54694586"/>
                  </a:ext>
                </a:extLst>
              </a:tr>
              <a:tr h="303231">
                <a:tc>
                  <a:txBody>
                    <a:bodyPr/>
                    <a:lstStyle/>
                    <a:p>
                      <a:pPr algn="ctr" fontAlgn="b"/>
                      <a:r>
                        <a:rPr lang="en-US" sz="1100" b="0" i="0" u="none" strike="noStrike">
                          <a:solidFill>
                            <a:srgbClr val="000000"/>
                          </a:solidFill>
                          <a:effectLst/>
                          <a:latin typeface="Calibri" panose="020F0502020204030204" pitchFamily="34" charset="0"/>
                        </a:rPr>
                        <a:t>416.43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603.64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3892965"/>
                  </a:ext>
                </a:extLst>
              </a:tr>
              <a:tr h="303231">
                <a:tc>
                  <a:txBody>
                    <a:bodyPr/>
                    <a:lstStyle/>
                    <a:p>
                      <a:pPr algn="ctr" fontAlgn="b"/>
                      <a:r>
                        <a:rPr lang="en-US" sz="1100" b="0" i="0" u="none" strike="noStrike">
                          <a:solidFill>
                            <a:srgbClr val="000000"/>
                          </a:solidFill>
                          <a:effectLst/>
                          <a:latin typeface="Calibri" panose="020F0502020204030204" pitchFamily="34" charset="0"/>
                        </a:rPr>
                        <a:t>439.75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631.52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0792099"/>
                  </a:ext>
                </a:extLst>
              </a:tr>
              <a:tr h="303231">
                <a:tc>
                  <a:txBody>
                    <a:bodyPr/>
                    <a:lstStyle/>
                    <a:p>
                      <a:pPr algn="ctr" fontAlgn="b"/>
                      <a:r>
                        <a:rPr lang="en-US" sz="1100" b="0" i="0" u="none" strike="noStrike" dirty="0">
                          <a:solidFill>
                            <a:srgbClr val="000000"/>
                          </a:solidFill>
                          <a:effectLst/>
                          <a:latin typeface="Calibri" panose="020F0502020204030204" pitchFamily="34" charset="0"/>
                        </a:rPr>
                        <a:t>448.39</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814.78</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7937472"/>
                  </a:ext>
                </a:extLst>
              </a:tr>
            </a:tbl>
          </a:graphicData>
        </a:graphic>
      </p:graphicFrame>
      <p:pic>
        <p:nvPicPr>
          <p:cNvPr id="10" name="Picture 9">
            <a:extLst>
              <a:ext uri="{FF2B5EF4-FFF2-40B4-BE49-F238E27FC236}">
                <a16:creationId xmlns:a16="http://schemas.microsoft.com/office/drawing/2014/main" id="{A7051A0E-809A-48F7-8368-C12C59CFA5EA}"/>
              </a:ext>
            </a:extLst>
          </p:cNvPr>
          <p:cNvPicPr>
            <a:picLocks noChangeAspect="1"/>
          </p:cNvPicPr>
          <p:nvPr/>
        </p:nvPicPr>
        <p:blipFill>
          <a:blip r:embed="rId3"/>
          <a:stretch>
            <a:fillRect/>
          </a:stretch>
        </p:blipFill>
        <p:spPr>
          <a:xfrm>
            <a:off x="635392" y="3477165"/>
            <a:ext cx="3657600" cy="2743200"/>
          </a:xfrm>
          <a:prstGeom prst="rect">
            <a:avLst/>
          </a:prstGeom>
        </p:spPr>
      </p:pic>
      <p:pic>
        <p:nvPicPr>
          <p:cNvPr id="4" name="Picture 3">
            <a:extLst>
              <a:ext uri="{FF2B5EF4-FFF2-40B4-BE49-F238E27FC236}">
                <a16:creationId xmlns:a16="http://schemas.microsoft.com/office/drawing/2014/main" id="{EFA9C50B-4544-4D35-A748-1CC973A7B4BE}"/>
              </a:ext>
            </a:extLst>
          </p:cNvPr>
          <p:cNvPicPr>
            <a:picLocks noChangeAspect="1"/>
          </p:cNvPicPr>
          <p:nvPr/>
        </p:nvPicPr>
        <p:blipFill>
          <a:blip r:embed="rId4"/>
          <a:stretch>
            <a:fillRect/>
          </a:stretch>
        </p:blipFill>
        <p:spPr>
          <a:xfrm>
            <a:off x="4558288" y="3477165"/>
            <a:ext cx="3657600" cy="2743200"/>
          </a:xfrm>
          <a:prstGeom prst="rect">
            <a:avLst/>
          </a:prstGeom>
        </p:spPr>
      </p:pic>
    </p:spTree>
    <p:extLst>
      <p:ext uri="{BB962C8B-B14F-4D97-AF65-F5344CB8AC3E}">
        <p14:creationId xmlns:p14="http://schemas.microsoft.com/office/powerpoint/2010/main" val="2477554805"/>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“Truth” Comparison</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a:bodyPr>
          <a:lstStyle/>
          <a:p>
            <a:pPr lvl="1"/>
            <a:r>
              <a:rPr lang="en-US" dirty="0"/>
              <a:t>Blind Prediction results concluded with fairly accurate estimate!</a:t>
            </a:r>
          </a:p>
          <a:p>
            <a:pPr lvl="2"/>
            <a:endParaRPr lang="en-US" dirty="0"/>
          </a:p>
          <a:p>
            <a:pPr marL="201159" lvl="1" indent="0">
              <a:buNone/>
            </a:pPr>
            <a:endParaRPr lang="en-US" b="1" dirty="0"/>
          </a:p>
        </p:txBody>
      </p:sp>
      <p:graphicFrame>
        <p:nvGraphicFramePr>
          <p:cNvPr id="3" name="Table 2">
            <a:extLst>
              <a:ext uri="{FF2B5EF4-FFF2-40B4-BE49-F238E27FC236}">
                <a16:creationId xmlns:a16="http://schemas.microsoft.com/office/drawing/2014/main" id="{A3AE2006-B14D-48BA-A339-2171ADF4B6F1}"/>
              </a:ext>
            </a:extLst>
          </p:cNvPr>
          <p:cNvGraphicFramePr>
            <a:graphicFrameLocks noGrp="1"/>
          </p:cNvGraphicFramePr>
          <p:nvPr/>
        </p:nvGraphicFramePr>
        <p:xfrm>
          <a:off x="6580315" y="1631220"/>
          <a:ext cx="4734445" cy="4210252"/>
        </p:xfrm>
        <a:graphic>
          <a:graphicData uri="http://schemas.openxmlformats.org/drawingml/2006/table">
            <a:tbl>
              <a:tblPr>
                <a:tableStyleId>{5C22544A-7EE6-4342-B048-85BDC9FD1C3A}</a:tableStyleId>
              </a:tblPr>
              <a:tblGrid>
                <a:gridCol w="946889">
                  <a:extLst>
                    <a:ext uri="{9D8B030D-6E8A-4147-A177-3AD203B41FA5}">
                      <a16:colId xmlns:a16="http://schemas.microsoft.com/office/drawing/2014/main" val="2417845844"/>
                    </a:ext>
                  </a:extLst>
                </a:gridCol>
                <a:gridCol w="946889">
                  <a:extLst>
                    <a:ext uri="{9D8B030D-6E8A-4147-A177-3AD203B41FA5}">
                      <a16:colId xmlns:a16="http://schemas.microsoft.com/office/drawing/2014/main" val="3427333267"/>
                    </a:ext>
                  </a:extLst>
                </a:gridCol>
                <a:gridCol w="946889">
                  <a:extLst>
                    <a:ext uri="{9D8B030D-6E8A-4147-A177-3AD203B41FA5}">
                      <a16:colId xmlns:a16="http://schemas.microsoft.com/office/drawing/2014/main" val="3791606202"/>
                    </a:ext>
                  </a:extLst>
                </a:gridCol>
                <a:gridCol w="946889">
                  <a:extLst>
                    <a:ext uri="{9D8B030D-6E8A-4147-A177-3AD203B41FA5}">
                      <a16:colId xmlns:a16="http://schemas.microsoft.com/office/drawing/2014/main" val="3725955492"/>
                    </a:ext>
                  </a:extLst>
                </a:gridCol>
                <a:gridCol w="946889">
                  <a:extLst>
                    <a:ext uri="{9D8B030D-6E8A-4147-A177-3AD203B41FA5}">
                      <a16:colId xmlns:a16="http://schemas.microsoft.com/office/drawing/2014/main" val="4056340970"/>
                    </a:ext>
                  </a:extLst>
                </a:gridCol>
              </a:tblGrid>
              <a:tr h="735176">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Prediction Modal Index</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Predicted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Truth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Error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MAC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1389885184"/>
                  </a:ext>
                </a:extLst>
              </a:tr>
              <a:tr h="315916">
                <a:tc>
                  <a:txBody>
                    <a:bodyPr/>
                    <a:lstStyle/>
                    <a:p>
                      <a:pPr algn="ctr" fontAlgn="b"/>
                      <a:r>
                        <a:rPr lang="en-US" sz="1200" b="0" i="0" u="none" strike="noStrike" dirty="0">
                          <a:solidFill>
                            <a:srgbClr val="000000"/>
                          </a:solidFill>
                          <a:effectLst/>
                          <a:latin typeface="Calibri" panose="020F0502020204030204" pitchFamily="34"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42.78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49.33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-13.3%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0.98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07005800"/>
                  </a:ext>
                </a:extLst>
              </a:tr>
              <a:tr h="315916">
                <a:tc>
                  <a:txBody>
                    <a:bodyPr/>
                    <a:lstStyle/>
                    <a:p>
                      <a:pPr algn="ctr" fontAlgn="b"/>
                      <a:r>
                        <a:rPr lang="en-US" sz="1200" b="0" i="0" u="none" strike="noStrike" dirty="0">
                          <a:solidFill>
                            <a:srgbClr val="000000"/>
                          </a:solidFill>
                          <a:effectLst/>
                          <a:latin typeface="Calibri" panose="020F0502020204030204" pitchFamily="34" charset="0"/>
                        </a:rPr>
                        <a:t>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65.99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66.25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0.99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18612061"/>
                  </a:ext>
                </a:extLst>
              </a:tr>
              <a:tr h="315916">
                <a:tc>
                  <a:txBody>
                    <a:bodyPr/>
                    <a:lstStyle/>
                    <a:p>
                      <a:pPr algn="ctr" fontAlgn="b"/>
                      <a:r>
                        <a:rPr lang="en-US" sz="1200" b="0" i="0" u="none" strike="noStrike" dirty="0">
                          <a:solidFill>
                            <a:srgbClr val="000000"/>
                          </a:solidFill>
                          <a:effectLst/>
                          <a:latin typeface="Calibri" panose="020F0502020204030204" pitchFamily="34" charset="0"/>
                        </a:rPr>
                        <a:t>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174.1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181.4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0.95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74712919"/>
                  </a:ext>
                </a:extLst>
              </a:tr>
              <a:tr h="315916">
                <a:tc>
                  <a:txBody>
                    <a:bodyPr/>
                    <a:lstStyle/>
                    <a:p>
                      <a:pPr algn="ctr" fontAlgn="b"/>
                      <a:r>
                        <a:rPr lang="en-US" sz="1200" b="0" i="0" u="none" strike="noStrike" dirty="0">
                          <a:solidFill>
                            <a:srgbClr val="000000"/>
                          </a:solidFill>
                          <a:effectLst/>
                          <a:latin typeface="Calibri" panose="020F0502020204030204" pitchFamily="34" charset="0"/>
                        </a:rPr>
                        <a:t>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223.9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226.8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0.96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40235023"/>
                  </a:ext>
                </a:extLst>
              </a:tr>
              <a:tr h="315916">
                <a:tc>
                  <a:txBody>
                    <a:bodyPr/>
                    <a:lstStyle/>
                    <a:p>
                      <a:pPr algn="ctr" fontAlgn="b"/>
                      <a:r>
                        <a:rPr lang="en-US" sz="1200" b="0" i="0" u="none" strike="noStrike" dirty="0">
                          <a:solidFill>
                            <a:srgbClr val="000000"/>
                          </a:solidFill>
                          <a:effectLst/>
                          <a:latin typeface="Calibri" panose="020F0502020204030204" pitchFamily="34" charset="0"/>
                        </a:rPr>
                        <a:t>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260.7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259.5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0.95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6218139"/>
                  </a:ext>
                </a:extLst>
              </a:tr>
              <a:tr h="315916">
                <a:tc>
                  <a:txBody>
                    <a:bodyPr/>
                    <a:lstStyle/>
                    <a:p>
                      <a:pPr algn="ctr" fontAlgn="b"/>
                      <a:r>
                        <a:rPr lang="en-US" sz="1200" b="0" i="0" u="none" strike="noStrike" dirty="0">
                          <a:solidFill>
                            <a:srgbClr val="000000"/>
                          </a:solidFill>
                          <a:effectLst/>
                          <a:latin typeface="Calibri" panose="020F0502020204030204" pitchFamily="34"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326.4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293.1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11.4%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0.89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99078456"/>
                  </a:ext>
                </a:extLst>
              </a:tr>
              <a:tr h="315916">
                <a:tc>
                  <a:txBody>
                    <a:bodyPr/>
                    <a:lstStyle/>
                    <a:p>
                      <a:pPr algn="ctr" fontAlgn="b"/>
                      <a:r>
                        <a:rPr lang="en-US" sz="1200" b="0" i="0" u="none" strike="noStrike" dirty="0">
                          <a:solidFill>
                            <a:srgbClr val="000000"/>
                          </a:solidFill>
                          <a:effectLst/>
                          <a:latin typeface="Calibri" panose="020F0502020204030204" pitchFamily="34" charset="0"/>
                        </a:rPr>
                        <a:t>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371.7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389.1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0.76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6205735"/>
                  </a:ext>
                </a:extLst>
              </a:tr>
              <a:tr h="315916">
                <a:tc>
                  <a:txBody>
                    <a:bodyPr/>
                    <a:lstStyle/>
                    <a:p>
                      <a:pPr algn="ctr" fontAlgn="b"/>
                      <a:r>
                        <a:rPr lang="en-US" sz="1200" b="0" i="0" u="none" strike="noStrike" dirty="0">
                          <a:solidFill>
                            <a:srgbClr val="000000"/>
                          </a:solidFill>
                          <a:effectLst/>
                          <a:latin typeface="Calibri" panose="020F0502020204030204" pitchFamily="34"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442.7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425.5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0.55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6458452"/>
                  </a:ext>
                </a:extLst>
              </a:tr>
              <a:tr h="315916">
                <a:tc>
                  <a:txBody>
                    <a:bodyPr/>
                    <a:lstStyle/>
                    <a:p>
                      <a:pPr algn="ctr" fontAlgn="b"/>
                      <a:r>
                        <a:rPr lang="en-US" sz="1200" b="0" i="0" u="none" strike="noStrike" dirty="0">
                          <a:solidFill>
                            <a:srgbClr val="000000"/>
                          </a:solidFill>
                          <a:effectLst/>
                          <a:latin typeface="Calibri" panose="020F0502020204030204" pitchFamily="34" charset="0"/>
                        </a:rPr>
                        <a:t>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520.2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487.6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0.71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67549208"/>
                  </a:ext>
                </a:extLst>
              </a:tr>
              <a:tr h="315916">
                <a:tc>
                  <a:txBody>
                    <a:bodyPr/>
                    <a:lstStyle/>
                    <a:p>
                      <a:pPr algn="ctr" fontAlgn="b"/>
                      <a:r>
                        <a:rPr lang="en-US" sz="1200" b="0" i="0" u="none" strike="noStrike" dirty="0">
                          <a:solidFill>
                            <a:srgbClr val="000000"/>
                          </a:solidFill>
                          <a:effectLst/>
                          <a:latin typeface="Calibri" panose="020F0502020204030204" pitchFamily="34" charset="0"/>
                        </a:rPr>
                        <a:t>10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603.9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414.1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45.8%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0.58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1517115"/>
                  </a:ext>
                </a:extLst>
              </a:tr>
              <a:tr h="315916">
                <a:tc>
                  <a:txBody>
                    <a:bodyPr/>
                    <a:lstStyle/>
                    <a:p>
                      <a:pPr algn="ctr" fontAlgn="b"/>
                      <a:r>
                        <a:rPr lang="en-US" sz="1200" b="0" i="0" u="none" strike="noStrike" dirty="0">
                          <a:solidFill>
                            <a:srgbClr val="000000"/>
                          </a:solidFill>
                          <a:effectLst/>
                          <a:latin typeface="Calibri" panose="020F0502020204030204" pitchFamily="34" charset="0"/>
                        </a:rPr>
                        <a:t>11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631.7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619.1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dirty="0">
                          <a:solidFill>
                            <a:srgbClr val="000000"/>
                          </a:solidFill>
                          <a:effectLst/>
                          <a:latin typeface="Calibri" panose="020F0502020204030204" pitchFamily="34" charset="0"/>
                        </a:rPr>
                        <a:t>0.52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90224301"/>
                  </a:ext>
                </a:extLst>
              </a:tr>
            </a:tbl>
          </a:graphicData>
        </a:graphic>
      </p:graphicFrame>
      <p:pic>
        <p:nvPicPr>
          <p:cNvPr id="5" name="Picture 4">
            <a:extLst>
              <a:ext uri="{FF2B5EF4-FFF2-40B4-BE49-F238E27FC236}">
                <a16:creationId xmlns:a16="http://schemas.microsoft.com/office/drawing/2014/main" id="{DDB92039-1392-41BB-A596-6B45D9924E8C}"/>
              </a:ext>
            </a:extLst>
          </p:cNvPr>
          <p:cNvPicPr>
            <a:picLocks noChangeAspect="1"/>
          </p:cNvPicPr>
          <p:nvPr/>
        </p:nvPicPr>
        <p:blipFill>
          <a:blip r:embed="rId2"/>
          <a:stretch>
            <a:fillRect/>
          </a:stretch>
        </p:blipFill>
        <p:spPr>
          <a:xfrm>
            <a:off x="179515" y="1678946"/>
            <a:ext cx="6400800" cy="4114800"/>
          </a:xfrm>
          <a:prstGeom prst="rect">
            <a:avLst/>
          </a:prstGeom>
        </p:spPr>
      </p:pic>
    </p:spTree>
    <p:extLst>
      <p:ext uri="{BB962C8B-B14F-4D97-AF65-F5344CB8AC3E}">
        <p14:creationId xmlns:p14="http://schemas.microsoft.com/office/powerpoint/2010/main" val="3974668322"/>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p:txBody>
          <a:bodyPr>
            <a:normAutofit fontScale="90000"/>
          </a:bodyPr>
          <a:lstStyle/>
          <a:p>
            <a:r>
              <a:rPr lang="en-US" dirty="0"/>
              <a:t>Linear Results Shape Plots</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a:bodyPr>
          <a:lstStyle/>
          <a:p>
            <a:pPr lvl="1"/>
            <a:r>
              <a:rPr lang="en-US" dirty="0"/>
              <a:t>Shapes of some of the significant modes</a:t>
            </a:r>
          </a:p>
          <a:p>
            <a:pPr lvl="2"/>
            <a:endParaRPr lang="en-US" dirty="0"/>
          </a:p>
          <a:p>
            <a:pPr marL="201159" lvl="1" indent="0">
              <a:buNone/>
            </a:pPr>
            <a:endParaRPr lang="en-US" b="1" dirty="0"/>
          </a:p>
        </p:txBody>
      </p:sp>
      <p:sp>
        <p:nvSpPr>
          <p:cNvPr id="17" name="Rectangle 16">
            <a:extLst>
              <a:ext uri="{FF2B5EF4-FFF2-40B4-BE49-F238E27FC236}">
                <a16:creationId xmlns:a16="http://schemas.microsoft.com/office/drawing/2014/main" id="{00F42E5F-959D-409D-8185-2109AF6BF949}"/>
              </a:ext>
            </a:extLst>
          </p:cNvPr>
          <p:cNvSpPr/>
          <p:nvPr/>
        </p:nvSpPr>
        <p:spPr>
          <a:xfrm>
            <a:off x="1295400" y="1633046"/>
            <a:ext cx="4381500" cy="3853354"/>
          </a:xfrm>
          <a:prstGeom prst="rect">
            <a:avLst/>
          </a:prstGeom>
          <a:noFill/>
          <a:ln w="476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36" name="Rectangle 35">
            <a:extLst>
              <a:ext uri="{FF2B5EF4-FFF2-40B4-BE49-F238E27FC236}">
                <a16:creationId xmlns:a16="http://schemas.microsoft.com/office/drawing/2014/main" id="{7B2D4DEE-117B-4C28-8272-EE23A4EF6E92}"/>
              </a:ext>
            </a:extLst>
          </p:cNvPr>
          <p:cNvSpPr/>
          <p:nvPr/>
        </p:nvSpPr>
        <p:spPr>
          <a:xfrm>
            <a:off x="6467043" y="1633046"/>
            <a:ext cx="4381500" cy="3853354"/>
          </a:xfrm>
          <a:prstGeom prst="rect">
            <a:avLst/>
          </a:prstGeom>
          <a:noFill/>
          <a:ln w="476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Trebuchet MS" panose="020B0603020202020204"/>
              <a:ea typeface="+mn-ea"/>
              <a:cs typeface="+mn-cs"/>
            </a:endParaRPr>
          </a:p>
        </p:txBody>
      </p:sp>
      <p:sp>
        <p:nvSpPr>
          <p:cNvPr id="37" name="TextBox 36">
            <a:extLst>
              <a:ext uri="{FF2B5EF4-FFF2-40B4-BE49-F238E27FC236}">
                <a16:creationId xmlns:a16="http://schemas.microsoft.com/office/drawing/2014/main" id="{AF0656FB-5E0A-4C1A-8863-0B2235AA7858}"/>
              </a:ext>
            </a:extLst>
          </p:cNvPr>
          <p:cNvSpPr txBox="1"/>
          <p:nvPr/>
        </p:nvSpPr>
        <p:spPr>
          <a:xfrm>
            <a:off x="7123589" y="1263714"/>
            <a:ext cx="44635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Prediction Elastic Modes 1-4</a:t>
            </a:r>
          </a:p>
        </p:txBody>
      </p:sp>
      <p:sp>
        <p:nvSpPr>
          <p:cNvPr id="38" name="TextBox 37">
            <a:extLst>
              <a:ext uri="{FF2B5EF4-FFF2-40B4-BE49-F238E27FC236}">
                <a16:creationId xmlns:a16="http://schemas.microsoft.com/office/drawing/2014/main" id="{2B74DA77-9E7F-451C-BD9F-572FF6BB43E8}"/>
              </a:ext>
            </a:extLst>
          </p:cNvPr>
          <p:cNvSpPr txBox="1"/>
          <p:nvPr/>
        </p:nvSpPr>
        <p:spPr>
          <a:xfrm>
            <a:off x="2106389" y="1241804"/>
            <a:ext cx="3907862"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Trebuchet MS" panose="020B0603020202020204"/>
                <a:ea typeface="+mn-ea"/>
                <a:cs typeface="+mn-cs"/>
              </a:rPr>
              <a:t>Truth Elastic Modes 1-4</a:t>
            </a:r>
          </a:p>
        </p:txBody>
      </p:sp>
      <p:pic>
        <p:nvPicPr>
          <p:cNvPr id="5" name="Picture 4">
            <a:extLst>
              <a:ext uri="{FF2B5EF4-FFF2-40B4-BE49-F238E27FC236}">
                <a16:creationId xmlns:a16="http://schemas.microsoft.com/office/drawing/2014/main" id="{FC87E454-746E-49BA-A359-2CE8AF7EA19C}"/>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6485194" y="1748346"/>
            <a:ext cx="2133600" cy="1600200"/>
          </a:xfrm>
          <a:prstGeom prst="rect">
            <a:avLst/>
          </a:prstGeom>
        </p:spPr>
      </p:pic>
      <p:pic>
        <p:nvPicPr>
          <p:cNvPr id="8" name="Picture 7">
            <a:extLst>
              <a:ext uri="{FF2B5EF4-FFF2-40B4-BE49-F238E27FC236}">
                <a16:creationId xmlns:a16="http://schemas.microsoft.com/office/drawing/2014/main" id="{E82A8556-ADD3-4BB3-BDB2-400592E7DFEC}"/>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538895" y="1789685"/>
            <a:ext cx="2133600" cy="1600200"/>
          </a:xfrm>
          <a:prstGeom prst="rect">
            <a:avLst/>
          </a:prstGeom>
        </p:spPr>
      </p:pic>
      <p:pic>
        <p:nvPicPr>
          <p:cNvPr id="13" name="Picture 12">
            <a:extLst>
              <a:ext uri="{FF2B5EF4-FFF2-40B4-BE49-F238E27FC236}">
                <a16:creationId xmlns:a16="http://schemas.microsoft.com/office/drawing/2014/main" id="{65CF1EEA-EF3A-41DB-9702-75F9A56D96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589475" y="3717878"/>
            <a:ext cx="2133600" cy="1600200"/>
          </a:xfrm>
          <a:prstGeom prst="rect">
            <a:avLst/>
          </a:prstGeom>
        </p:spPr>
      </p:pic>
      <p:pic>
        <p:nvPicPr>
          <p:cNvPr id="15" name="Picture 14">
            <a:extLst>
              <a:ext uri="{FF2B5EF4-FFF2-40B4-BE49-F238E27FC236}">
                <a16:creationId xmlns:a16="http://schemas.microsoft.com/office/drawing/2014/main" id="{4472906B-AA07-4A1B-B160-7ED2EA4F9CE2}"/>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8618794" y="3624754"/>
            <a:ext cx="2133600" cy="1600200"/>
          </a:xfrm>
          <a:prstGeom prst="rect">
            <a:avLst/>
          </a:prstGeom>
        </p:spPr>
      </p:pic>
      <p:pic>
        <p:nvPicPr>
          <p:cNvPr id="20" name="Picture 19">
            <a:extLst>
              <a:ext uri="{FF2B5EF4-FFF2-40B4-BE49-F238E27FC236}">
                <a16:creationId xmlns:a16="http://schemas.microsoft.com/office/drawing/2014/main" id="{9A5D4CDE-E2A1-4FB9-AE51-A524ED3FBC24}"/>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1366484" y="1789685"/>
            <a:ext cx="2133600" cy="1600200"/>
          </a:xfrm>
          <a:prstGeom prst="rect">
            <a:avLst/>
          </a:prstGeom>
        </p:spPr>
      </p:pic>
      <p:pic>
        <p:nvPicPr>
          <p:cNvPr id="24" name="Picture 23">
            <a:extLst>
              <a:ext uri="{FF2B5EF4-FFF2-40B4-BE49-F238E27FC236}">
                <a16:creationId xmlns:a16="http://schemas.microsoft.com/office/drawing/2014/main" id="{BC47D7AD-6B2A-425E-B948-40EBD744E077}"/>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3438336" y="1748346"/>
            <a:ext cx="2133600" cy="1600200"/>
          </a:xfrm>
          <a:prstGeom prst="rect">
            <a:avLst/>
          </a:prstGeom>
        </p:spPr>
      </p:pic>
      <p:pic>
        <p:nvPicPr>
          <p:cNvPr id="26" name="Picture 25">
            <a:extLst>
              <a:ext uri="{FF2B5EF4-FFF2-40B4-BE49-F238E27FC236}">
                <a16:creationId xmlns:a16="http://schemas.microsoft.com/office/drawing/2014/main" id="{FABDEA17-CE35-492F-97BF-0B9C675C3721}"/>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1366484" y="3496390"/>
            <a:ext cx="2133600" cy="1600200"/>
          </a:xfrm>
          <a:prstGeom prst="rect">
            <a:avLst/>
          </a:prstGeom>
        </p:spPr>
      </p:pic>
      <p:pic>
        <p:nvPicPr>
          <p:cNvPr id="28" name="Picture 27">
            <a:extLst>
              <a:ext uri="{FF2B5EF4-FFF2-40B4-BE49-F238E27FC236}">
                <a16:creationId xmlns:a16="http://schemas.microsoft.com/office/drawing/2014/main" id="{EE895D45-286A-4C67-9E0F-49EFCCDD20A7}"/>
              </a:ext>
            </a:extLst>
          </p:cNvPr>
          <p:cNvPicPr>
            <a:picLocks noChangeAspect="1"/>
          </p:cNvPicPr>
          <p:nvPr/>
        </p:nvPicPr>
        <p:blipFill>
          <a:blip r:embed="rId9" cstate="print">
            <a:extLst>
              <a:ext uri="{28A0092B-C50C-407E-A947-70E740481C1C}">
                <a14:useLocalDpi xmlns:a14="http://schemas.microsoft.com/office/drawing/2010/main"/>
              </a:ext>
            </a:extLst>
          </a:blip>
          <a:stretch>
            <a:fillRect/>
          </a:stretch>
        </p:blipFill>
        <p:spPr>
          <a:xfrm>
            <a:off x="3334702" y="3467828"/>
            <a:ext cx="2133600" cy="1600200"/>
          </a:xfrm>
          <a:prstGeom prst="rect">
            <a:avLst/>
          </a:prstGeom>
        </p:spPr>
      </p:pic>
    </p:spTree>
    <p:extLst>
      <p:ext uri="{BB962C8B-B14F-4D97-AF65-F5344CB8AC3E}">
        <p14:creationId xmlns:p14="http://schemas.microsoft.com/office/powerpoint/2010/main" val="2912498078"/>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E48E0-C619-480F-8F24-D983B7503DEE}"/>
              </a:ext>
            </a:extLst>
          </p:cNvPr>
          <p:cNvSpPr>
            <a:spLocks noGrp="1"/>
          </p:cNvSpPr>
          <p:nvPr>
            <p:ph type="title"/>
          </p:nvPr>
        </p:nvSpPr>
        <p:spPr>
          <a:xfrm>
            <a:off x="105032" y="136525"/>
            <a:ext cx="11667868" cy="662781"/>
          </a:xfrm>
        </p:spPr>
        <p:txBody>
          <a:bodyPr>
            <a:normAutofit fontScale="90000"/>
          </a:bodyPr>
          <a:lstStyle/>
          <a:p>
            <a:r>
              <a:rPr lang="en-US" dirty="0"/>
              <a:t>Results from Tuning Modal Basis</a:t>
            </a:r>
          </a:p>
        </p:txBody>
      </p:sp>
      <p:sp>
        <p:nvSpPr>
          <p:cNvPr id="7" name="Content Placeholder 2">
            <a:extLst>
              <a:ext uri="{FF2B5EF4-FFF2-40B4-BE49-F238E27FC236}">
                <a16:creationId xmlns:a16="http://schemas.microsoft.com/office/drawing/2014/main" id="{D2E1D076-FD1B-4DE3-8009-8C706F69A5AA}"/>
              </a:ext>
            </a:extLst>
          </p:cNvPr>
          <p:cNvSpPr>
            <a:spLocks noGrp="1"/>
          </p:cNvSpPr>
          <p:nvPr>
            <p:ph idx="1"/>
          </p:nvPr>
        </p:nvSpPr>
        <p:spPr/>
        <p:txBody>
          <a:bodyPr>
            <a:normAutofit/>
          </a:bodyPr>
          <a:lstStyle/>
          <a:p>
            <a:pPr lvl="1"/>
            <a:r>
              <a:rPr lang="en-US" dirty="0"/>
              <a:t>Informed Prediction yields better results</a:t>
            </a:r>
          </a:p>
          <a:p>
            <a:pPr lvl="2"/>
            <a:r>
              <a:rPr lang="en-US" sz="1400" dirty="0"/>
              <a:t>Frame, Plate, Wing: 62 modes</a:t>
            </a:r>
          </a:p>
          <a:p>
            <a:pPr lvl="2"/>
            <a:r>
              <a:rPr lang="en-US" sz="1400" dirty="0"/>
              <a:t>Plate and Wing: 22 modes</a:t>
            </a:r>
          </a:p>
          <a:p>
            <a:pPr lvl="2"/>
            <a:r>
              <a:rPr lang="en-US" sz="1400" dirty="0"/>
              <a:t>Plate and Swept Wing: 26 modes</a:t>
            </a:r>
          </a:p>
        </p:txBody>
      </p:sp>
      <p:graphicFrame>
        <p:nvGraphicFramePr>
          <p:cNvPr id="3" name="Table 2">
            <a:extLst>
              <a:ext uri="{FF2B5EF4-FFF2-40B4-BE49-F238E27FC236}">
                <a16:creationId xmlns:a16="http://schemas.microsoft.com/office/drawing/2014/main" id="{A3AE2006-B14D-48BA-A339-2171ADF4B6F1}"/>
              </a:ext>
            </a:extLst>
          </p:cNvPr>
          <p:cNvGraphicFramePr>
            <a:graphicFrameLocks noGrp="1"/>
          </p:cNvGraphicFramePr>
          <p:nvPr/>
        </p:nvGraphicFramePr>
        <p:xfrm>
          <a:off x="6525730" y="794245"/>
          <a:ext cx="4734445" cy="5269507"/>
        </p:xfrm>
        <a:graphic>
          <a:graphicData uri="http://schemas.openxmlformats.org/drawingml/2006/table">
            <a:tbl>
              <a:tblPr>
                <a:tableStyleId>{5C22544A-7EE6-4342-B048-85BDC9FD1C3A}</a:tableStyleId>
              </a:tblPr>
              <a:tblGrid>
                <a:gridCol w="946889">
                  <a:extLst>
                    <a:ext uri="{9D8B030D-6E8A-4147-A177-3AD203B41FA5}">
                      <a16:colId xmlns:a16="http://schemas.microsoft.com/office/drawing/2014/main" val="2417845844"/>
                    </a:ext>
                  </a:extLst>
                </a:gridCol>
                <a:gridCol w="946889">
                  <a:extLst>
                    <a:ext uri="{9D8B030D-6E8A-4147-A177-3AD203B41FA5}">
                      <a16:colId xmlns:a16="http://schemas.microsoft.com/office/drawing/2014/main" val="3427333267"/>
                    </a:ext>
                  </a:extLst>
                </a:gridCol>
                <a:gridCol w="946889">
                  <a:extLst>
                    <a:ext uri="{9D8B030D-6E8A-4147-A177-3AD203B41FA5}">
                      <a16:colId xmlns:a16="http://schemas.microsoft.com/office/drawing/2014/main" val="3791606202"/>
                    </a:ext>
                  </a:extLst>
                </a:gridCol>
                <a:gridCol w="946889">
                  <a:extLst>
                    <a:ext uri="{9D8B030D-6E8A-4147-A177-3AD203B41FA5}">
                      <a16:colId xmlns:a16="http://schemas.microsoft.com/office/drawing/2014/main" val="3725955492"/>
                    </a:ext>
                  </a:extLst>
                </a:gridCol>
                <a:gridCol w="946889">
                  <a:extLst>
                    <a:ext uri="{9D8B030D-6E8A-4147-A177-3AD203B41FA5}">
                      <a16:colId xmlns:a16="http://schemas.microsoft.com/office/drawing/2014/main" val="4056340970"/>
                    </a:ext>
                  </a:extLst>
                </a:gridCol>
              </a:tblGrid>
              <a:tr h="669107">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Prediction Modal Index</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Predicted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Truth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Error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0" marR="0" algn="ctr" defTabSz="914354" rtl="0" eaLnBrk="1" fontAlgn="b" latinLnBrk="0" hangingPunct="1">
                        <a:spcBef>
                          <a:spcPts val="0"/>
                        </a:spcBef>
                        <a:spcAft>
                          <a:spcPts val="0"/>
                        </a:spcAft>
                      </a:pPr>
                      <a:r>
                        <a:rPr lang="en-US" sz="1400" b="1" kern="1200" dirty="0">
                          <a:solidFill>
                            <a:schemeClr val="bg1"/>
                          </a:solidFill>
                          <a:effectLst/>
                          <a:latin typeface="Calibri" panose="020F0502020204030204" pitchFamily="34" charset="0"/>
                          <a:cs typeface="Times New Roman" panose="02020603050405020304" pitchFamily="18" charset="0"/>
                        </a:rPr>
                        <a:t>MAC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1389885184"/>
                  </a:ext>
                </a:extLst>
              </a:tr>
              <a:tr h="287525">
                <a:tc>
                  <a:txBody>
                    <a:bodyPr/>
                    <a:lstStyle/>
                    <a:p>
                      <a:pPr algn="ctr" fontAlgn="b"/>
                      <a:r>
                        <a:rPr lang="en-US" sz="1200" b="0" i="0" u="none" strike="noStrike" dirty="0">
                          <a:solidFill>
                            <a:srgbClr val="000000"/>
                          </a:solidFill>
                          <a:effectLst/>
                          <a:latin typeface="Calibri" panose="020F0502020204030204" pitchFamily="34"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50.93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49.33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07005800"/>
                  </a:ext>
                </a:extLst>
              </a:tr>
              <a:tr h="287525">
                <a:tc>
                  <a:txBody>
                    <a:bodyPr/>
                    <a:lstStyle/>
                    <a:p>
                      <a:pPr algn="ctr" fontAlgn="b"/>
                      <a:r>
                        <a:rPr lang="en-US" sz="1200" b="0" i="0" u="none" strike="noStrike" dirty="0">
                          <a:solidFill>
                            <a:srgbClr val="000000"/>
                          </a:solidFill>
                          <a:effectLst/>
                          <a:latin typeface="Calibri" panose="020F0502020204030204" pitchFamily="34" charset="0"/>
                        </a:rPr>
                        <a:t>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67.62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66.25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18612061"/>
                  </a:ext>
                </a:extLst>
              </a:tr>
              <a:tr h="287525">
                <a:tc>
                  <a:txBody>
                    <a:bodyPr/>
                    <a:lstStyle/>
                    <a:p>
                      <a:pPr algn="ctr" fontAlgn="b"/>
                      <a:r>
                        <a:rPr lang="en-US" sz="1200" b="0" i="0" u="none" strike="noStrike" dirty="0">
                          <a:solidFill>
                            <a:srgbClr val="000000"/>
                          </a:solidFill>
                          <a:effectLst/>
                          <a:latin typeface="Calibri" panose="020F0502020204030204" pitchFamily="34" charset="0"/>
                        </a:rPr>
                        <a:t>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191.9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181.4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74712919"/>
                  </a:ext>
                </a:extLst>
              </a:tr>
              <a:tr h="287525">
                <a:tc>
                  <a:txBody>
                    <a:bodyPr/>
                    <a:lstStyle/>
                    <a:p>
                      <a:pPr algn="ctr" fontAlgn="b"/>
                      <a:r>
                        <a:rPr lang="en-US" sz="1200" b="0" i="0" u="none" strike="noStrike" dirty="0">
                          <a:solidFill>
                            <a:srgbClr val="000000"/>
                          </a:solidFill>
                          <a:effectLst/>
                          <a:latin typeface="Calibri" panose="020F0502020204030204" pitchFamily="34" charset="0"/>
                        </a:rPr>
                        <a:t>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231.8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226.8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40235023"/>
                  </a:ext>
                </a:extLst>
              </a:tr>
              <a:tr h="287525">
                <a:tc>
                  <a:txBody>
                    <a:bodyPr/>
                    <a:lstStyle/>
                    <a:p>
                      <a:pPr algn="ctr" fontAlgn="b"/>
                      <a:r>
                        <a:rPr lang="en-US" sz="1200" b="0" i="0" u="none" strike="noStrike" dirty="0">
                          <a:solidFill>
                            <a:srgbClr val="000000"/>
                          </a:solidFill>
                          <a:effectLst/>
                          <a:latin typeface="Calibri" panose="020F0502020204030204" pitchFamily="34" charset="0"/>
                        </a:rPr>
                        <a:t>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269.8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259.5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6218139"/>
                  </a:ext>
                </a:extLst>
              </a:tr>
              <a:tr h="287525">
                <a:tc>
                  <a:txBody>
                    <a:bodyPr/>
                    <a:lstStyle/>
                    <a:p>
                      <a:pPr algn="ctr" fontAlgn="b"/>
                      <a:r>
                        <a:rPr lang="en-US" sz="1200" b="0" i="0" u="none" strike="noStrike" dirty="0">
                          <a:solidFill>
                            <a:srgbClr val="000000"/>
                          </a:solidFill>
                          <a:effectLst/>
                          <a:latin typeface="Calibri" panose="020F0502020204030204" pitchFamily="34"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348.0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293.1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18.7%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0.85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99078456"/>
                  </a:ext>
                </a:extLst>
              </a:tr>
              <a:tr h="287525">
                <a:tc>
                  <a:txBody>
                    <a:bodyPr/>
                    <a:lstStyle/>
                    <a:p>
                      <a:pPr algn="ctr" fontAlgn="b"/>
                      <a:r>
                        <a:rPr lang="en-US" sz="1200" b="0" i="0" u="none" strike="noStrike" dirty="0">
                          <a:solidFill>
                            <a:srgbClr val="000000"/>
                          </a:solidFill>
                          <a:effectLst/>
                          <a:latin typeface="Calibri" panose="020F0502020204030204" pitchFamily="34" charset="0"/>
                        </a:rPr>
                        <a:t>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389.6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389.1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6205735"/>
                  </a:ext>
                </a:extLst>
              </a:tr>
              <a:tr h="287525">
                <a:tc>
                  <a:txBody>
                    <a:bodyPr/>
                    <a:lstStyle/>
                    <a:p>
                      <a:pPr algn="ctr" fontAlgn="b"/>
                      <a:r>
                        <a:rPr lang="en-US" sz="1200" b="0" i="0" u="none" strike="noStrike" dirty="0">
                          <a:solidFill>
                            <a:srgbClr val="000000"/>
                          </a:solidFill>
                          <a:effectLst/>
                          <a:latin typeface="Calibri" panose="020F0502020204030204" pitchFamily="34"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420.2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414.1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0.89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6458452"/>
                  </a:ext>
                </a:extLst>
              </a:tr>
              <a:tr h="287525">
                <a:tc>
                  <a:txBody>
                    <a:bodyPr/>
                    <a:lstStyle/>
                    <a:p>
                      <a:pPr algn="ctr" fontAlgn="b"/>
                      <a:r>
                        <a:rPr lang="en-US" sz="1200" b="0" i="0" u="none" strike="noStrike" dirty="0">
                          <a:solidFill>
                            <a:srgbClr val="000000"/>
                          </a:solidFill>
                          <a:effectLst/>
                          <a:latin typeface="Calibri" panose="020F0502020204030204" pitchFamily="34" charset="0"/>
                        </a:rPr>
                        <a:t>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433.2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425.5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3856008"/>
                  </a:ext>
                </a:extLst>
              </a:tr>
              <a:tr h="287525">
                <a:tc>
                  <a:txBody>
                    <a:bodyPr/>
                    <a:lstStyle/>
                    <a:p>
                      <a:pPr algn="ctr" fontAlgn="b"/>
                      <a:r>
                        <a:rPr lang="en-US" sz="1200" b="0" i="0" u="none" strike="noStrike" dirty="0">
                          <a:solidFill>
                            <a:srgbClr val="000000"/>
                          </a:solidFill>
                          <a:effectLst/>
                          <a:latin typeface="Calibri" panose="020F0502020204030204" pitchFamily="34" charset="0"/>
                        </a:rPr>
                        <a:t>10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503.0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487.6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0.79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2880513"/>
                  </a:ext>
                </a:extLst>
              </a:tr>
              <a:tr h="287525">
                <a:tc>
                  <a:txBody>
                    <a:bodyPr/>
                    <a:lstStyle/>
                    <a:p>
                      <a:pPr algn="ctr" fontAlgn="b"/>
                      <a:r>
                        <a:rPr lang="en-US" sz="1200" b="0" i="0" u="none" strike="noStrike" dirty="0">
                          <a:solidFill>
                            <a:srgbClr val="000000"/>
                          </a:solidFill>
                          <a:effectLst/>
                          <a:latin typeface="Calibri" panose="020F0502020204030204" pitchFamily="34" charset="0"/>
                        </a:rPr>
                        <a:t>11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548.2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509.1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7.7%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0.87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8094348"/>
                  </a:ext>
                </a:extLst>
              </a:tr>
              <a:tr h="287525">
                <a:tc>
                  <a:txBody>
                    <a:bodyPr/>
                    <a:lstStyle/>
                    <a:p>
                      <a:pPr algn="ctr" fontAlgn="b"/>
                      <a:r>
                        <a:rPr lang="en-US" sz="1200" b="0" i="0" u="none" strike="noStrike" dirty="0">
                          <a:solidFill>
                            <a:srgbClr val="000000"/>
                          </a:solidFill>
                          <a:effectLst/>
                          <a:latin typeface="Calibri" panose="020F0502020204030204" pitchFamily="34" charset="0"/>
                        </a:rPr>
                        <a:t>12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639.5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619.1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3.3%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04356163"/>
                  </a:ext>
                </a:extLst>
              </a:tr>
              <a:tr h="287525">
                <a:tc>
                  <a:txBody>
                    <a:bodyPr/>
                    <a:lstStyle/>
                    <a:p>
                      <a:pPr algn="ctr" fontAlgn="b"/>
                      <a:r>
                        <a:rPr lang="en-US" sz="1200" b="0" i="0" u="none" strike="noStrike" dirty="0">
                          <a:solidFill>
                            <a:srgbClr val="000000"/>
                          </a:solidFill>
                          <a:effectLst/>
                          <a:latin typeface="Calibri" panose="020F0502020204030204" pitchFamily="34" charset="0"/>
                        </a:rPr>
                        <a:t>13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700.0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704.5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-0.6%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40353576"/>
                  </a:ext>
                </a:extLst>
              </a:tr>
              <a:tr h="287525">
                <a:tc>
                  <a:txBody>
                    <a:bodyPr/>
                    <a:lstStyle/>
                    <a:p>
                      <a:pPr algn="ctr" fontAlgn="b"/>
                      <a:r>
                        <a:rPr lang="en-US" sz="1200" b="0" i="0" u="none" strike="noStrike" dirty="0">
                          <a:solidFill>
                            <a:srgbClr val="000000"/>
                          </a:solidFill>
                          <a:effectLst/>
                          <a:latin typeface="Calibri" panose="020F0502020204030204" pitchFamily="34" charset="0"/>
                        </a:rPr>
                        <a:t>14</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738.6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669.7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10.3%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0.73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6144032"/>
                  </a:ext>
                </a:extLst>
              </a:tr>
              <a:tr h="287525">
                <a:tc>
                  <a:txBody>
                    <a:bodyPr/>
                    <a:lstStyle/>
                    <a:p>
                      <a:pPr algn="ctr" fontAlgn="b"/>
                      <a:r>
                        <a:rPr lang="en-US" sz="1200" b="0" i="0" u="none" strike="noStrike" dirty="0">
                          <a:solidFill>
                            <a:srgbClr val="000000"/>
                          </a:solidFill>
                          <a:effectLst/>
                          <a:latin typeface="Calibri" panose="020F0502020204030204" pitchFamily="34" charset="0"/>
                        </a:rPr>
                        <a:t>15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820.8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856.2</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-4.1%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0.96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49992907"/>
                  </a:ext>
                </a:extLst>
              </a:tr>
              <a:tr h="287525">
                <a:tc>
                  <a:txBody>
                    <a:bodyPr/>
                    <a:lstStyle/>
                    <a:p>
                      <a:pPr algn="ctr" fontAlgn="b"/>
                      <a:r>
                        <a:rPr lang="en-US" sz="1200" b="0" i="0" u="none" strike="noStrike" dirty="0">
                          <a:solidFill>
                            <a:srgbClr val="000000"/>
                          </a:solidFill>
                          <a:effectLst/>
                          <a:latin typeface="Calibri" panose="020F0502020204030204" pitchFamily="34" charset="0"/>
                        </a:rPr>
                        <a:t>16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930.1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911.0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200" b="0" i="0" u="none" strike="noStrike">
                          <a:solidFill>
                            <a:srgbClr val="000000"/>
                          </a:solidFill>
                          <a:effectLst/>
                          <a:latin typeface="Calibri" panose="020F0502020204030204" pitchFamily="34" charset="0"/>
                        </a:rPr>
                        <a:t>2.1%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0.39</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98004347"/>
                  </a:ext>
                </a:extLst>
              </a:tr>
            </a:tbl>
          </a:graphicData>
        </a:graphic>
      </p:graphicFrame>
      <p:pic>
        <p:nvPicPr>
          <p:cNvPr id="5" name="Picture 4">
            <a:extLst>
              <a:ext uri="{FF2B5EF4-FFF2-40B4-BE49-F238E27FC236}">
                <a16:creationId xmlns:a16="http://schemas.microsoft.com/office/drawing/2014/main" id="{AF2C414F-1006-48B4-BA90-F4A628C29806}"/>
              </a:ext>
            </a:extLst>
          </p:cNvPr>
          <p:cNvPicPr>
            <a:picLocks noChangeAspect="1"/>
          </p:cNvPicPr>
          <p:nvPr/>
        </p:nvPicPr>
        <p:blipFill rotWithShape="1">
          <a:blip r:embed="rId3"/>
          <a:srcRect r="16568"/>
          <a:stretch/>
        </p:blipFill>
        <p:spPr>
          <a:xfrm>
            <a:off x="645231" y="2414336"/>
            <a:ext cx="5340300" cy="4114800"/>
          </a:xfrm>
          <a:prstGeom prst="rect">
            <a:avLst/>
          </a:prstGeom>
        </p:spPr>
      </p:pic>
    </p:spTree>
    <p:extLst>
      <p:ext uri="{BB962C8B-B14F-4D97-AF65-F5344CB8AC3E}">
        <p14:creationId xmlns:p14="http://schemas.microsoft.com/office/powerpoint/2010/main" val="2840044665"/>
      </p:ext>
    </p:extLst>
  </p:cSld>
  <p:clrMapOvr>
    <a:masterClrMapping/>
  </p:clrMapOvr>
  <mc:AlternateContent xmlns:mc="http://schemas.openxmlformats.org/markup-compatibility/2006" xmlns:p14="http://schemas.microsoft.com/office/powerpoint/2010/main">
    <mc:Choice Requires="p14">
      <p:transition spd="med" p14:dur="700" advTm="26692">
        <p:fade/>
      </p:transition>
    </mc:Choice>
    <mc:Fallback xmlns="">
      <p:transition spd="med" advTm="26692">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B39835-F37B-5854-84DA-3D4E381D5D58}"/>
              </a:ext>
            </a:extLst>
          </p:cNvPr>
          <p:cNvSpPr>
            <a:spLocks noGrp="1"/>
          </p:cNvSpPr>
          <p:nvPr>
            <p:ph type="title"/>
          </p:nvPr>
        </p:nvSpPr>
        <p:spPr/>
        <p:txBody>
          <a:bodyPr>
            <a:normAutofit fontScale="90000"/>
          </a:bodyPr>
          <a:lstStyle/>
          <a:p>
            <a:r>
              <a:rPr lang="en-US" dirty="0"/>
              <a:t>Let’s take a break</a:t>
            </a:r>
          </a:p>
        </p:txBody>
      </p:sp>
    </p:spTree>
    <p:extLst>
      <p:ext uri="{BB962C8B-B14F-4D97-AF65-F5344CB8AC3E}">
        <p14:creationId xmlns:p14="http://schemas.microsoft.com/office/powerpoint/2010/main" val="27001581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1504</TotalTime>
  <Words>3817</Words>
  <Application>Microsoft Office PowerPoint</Application>
  <PresentationFormat>Widescreen</PresentationFormat>
  <Paragraphs>1053</Paragraphs>
  <Slides>33</Slides>
  <Notes>12</Notes>
  <HiddenSlides>0</HiddenSlides>
  <MMClips>2</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33</vt:i4>
      </vt:variant>
    </vt:vector>
  </HeadingPairs>
  <TitlesOfParts>
    <vt:vector size="42" baseType="lpstr">
      <vt:lpstr>Aptos</vt:lpstr>
      <vt:lpstr>Aptos Display</vt:lpstr>
      <vt:lpstr>Aptos Narrow</vt:lpstr>
      <vt:lpstr>Arial</vt:lpstr>
      <vt:lpstr>Calibri</vt:lpstr>
      <vt:lpstr>Cambria Math</vt:lpstr>
      <vt:lpstr>Times New Roman</vt:lpstr>
      <vt:lpstr>Trebuchet MS</vt:lpstr>
      <vt:lpstr>Office Theme</vt:lpstr>
      <vt:lpstr>Module 7: The Frame &amp; Wing Structure and Examples</vt:lpstr>
      <vt:lpstr>Background</vt:lpstr>
      <vt:lpstr>Round-Robin Challenge</vt:lpstr>
      <vt:lpstr>Experimental Substructure (Four-unit frame)</vt:lpstr>
      <vt:lpstr>What is the “truth” answer?</vt:lpstr>
      <vt:lpstr>Trial Run</vt:lpstr>
      <vt:lpstr>Trial Results</vt:lpstr>
      <vt:lpstr>Trial Results #2</vt:lpstr>
      <vt:lpstr>PowerPoint Presentation</vt:lpstr>
      <vt:lpstr>Substructuring Diagram</vt:lpstr>
      <vt:lpstr>Experimental Setup </vt:lpstr>
      <vt:lpstr>CSM Substructuring Theory – TSM</vt:lpstr>
      <vt:lpstr>CSM Substructuring Theory – TSM</vt:lpstr>
      <vt:lpstr>Choices for the Practitioner to Make</vt:lpstr>
      <vt:lpstr>Data &amp; Script Available → Lets Make Some Choices!</vt:lpstr>
      <vt:lpstr>Frame &amp; Wing Example Exercise</vt:lpstr>
      <vt:lpstr>Info On the Constraint Options</vt:lpstr>
      <vt:lpstr>Linear CMS Results #1</vt:lpstr>
      <vt:lpstr>Linear CMS Results #2</vt:lpstr>
      <vt:lpstr>Linear CMS Results #3</vt:lpstr>
      <vt:lpstr>Another Example from the Wiki  - Thin Wing to Swept Wing -</vt:lpstr>
      <vt:lpstr>Substructuring Diagram</vt:lpstr>
      <vt:lpstr>Swept Wing Model Generation</vt:lpstr>
      <vt:lpstr>Frame, Plate, and Thin-Wing Experiments</vt:lpstr>
      <vt:lpstr>Substructuring Theory</vt:lpstr>
      <vt:lpstr>Initial Substructuring Results</vt:lpstr>
      <vt:lpstr>Tricks and Checks 1: Rigid Check</vt:lpstr>
      <vt:lpstr>Tricks and Checks 2: Modal Space Check</vt:lpstr>
      <vt:lpstr>Updated Substructuring Results</vt:lpstr>
      <vt:lpstr>“Truth” Comparison</vt:lpstr>
      <vt:lpstr>Linear Results Shape Plots</vt:lpstr>
      <vt:lpstr>Results from Tuning Modal Basis</vt:lpstr>
      <vt:lpstr>Let’s take a break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Roettgen, Daniel Robert</dc:creator>
  <cp:lastModifiedBy>Dan Roettgen</cp:lastModifiedBy>
  <cp:revision>37</cp:revision>
  <dcterms:created xsi:type="dcterms:W3CDTF">2025-09-04T01:59:06Z</dcterms:created>
  <dcterms:modified xsi:type="dcterms:W3CDTF">2026-01-17T06:34:06Z</dcterms:modified>
</cp:coreProperties>
</file>