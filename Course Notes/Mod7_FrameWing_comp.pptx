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430" r:id="rId2"/>
    <p:sldId id="284" r:id="rId3"/>
    <p:sldId id="288" r:id="rId4"/>
    <p:sldId id="300" r:id="rId5"/>
    <p:sldId id="295" r:id="rId6"/>
    <p:sldId id="428" r:id="rId7"/>
    <p:sldId id="395" r:id="rId8"/>
    <p:sldId id="396" r:id="rId9"/>
    <p:sldId id="426" r:id="rId10"/>
    <p:sldId id="397" r:id="rId11"/>
    <p:sldId id="393" r:id="rId12"/>
    <p:sldId id="423" r:id="rId13"/>
    <p:sldId id="422" r:id="rId14"/>
    <p:sldId id="429" r:id="rId15"/>
    <p:sldId id="275" r:id="rId16"/>
    <p:sldId id="442" r:id="rId17"/>
    <p:sldId id="443" r:id="rId18"/>
    <p:sldId id="451" r:id="rId19"/>
    <p:sldId id="452" r:id="rId20"/>
    <p:sldId id="453" r:id="rId21"/>
    <p:sldId id="434" r:id="rId22"/>
    <p:sldId id="409" r:id="rId23"/>
    <p:sldId id="436" r:id="rId24"/>
    <p:sldId id="394" r:id="rId25"/>
    <p:sldId id="411" r:id="rId26"/>
    <p:sldId id="437" r:id="rId27"/>
    <p:sldId id="412" r:id="rId28"/>
    <p:sldId id="416" r:id="rId29"/>
    <p:sldId id="418" r:id="rId30"/>
    <p:sldId id="424" r:id="rId31"/>
    <p:sldId id="421" r:id="rId32"/>
    <p:sldId id="438" r:id="rId33"/>
    <p:sldId id="43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E74"/>
    <a:srgbClr val="C97195"/>
    <a:srgbClr val="F4B898"/>
    <a:srgbClr val="9AAC84"/>
    <a:srgbClr val="FFFFFF"/>
    <a:srgbClr val="0CB4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0011" autoAdjust="0"/>
  </p:normalViewPr>
  <p:slideViewPr>
    <p:cSldViewPr snapToGrid="0">
      <p:cViewPr varScale="1">
        <p:scale>
          <a:sx n="74" d="100"/>
          <a:sy n="74" d="100"/>
        </p:scale>
        <p:origin x="119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0AF16D-D6F6-468C-99B2-781C342322D4}"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ABE455-AB4D-4A2C-B598-513206699028}" type="slidenum">
              <a:rPr lang="en-US" smtClean="0"/>
              <a:t>‹#›</a:t>
            </a:fld>
            <a:endParaRPr lang="en-US"/>
          </a:p>
        </p:txBody>
      </p:sp>
    </p:spTree>
    <p:extLst>
      <p:ext uri="{BB962C8B-B14F-4D97-AF65-F5344CB8AC3E}">
        <p14:creationId xmlns:p14="http://schemas.microsoft.com/office/powerpoint/2010/main" val="153354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C724AB-BD9D-4E2C-8BF8-10D22BFA0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100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C724AB-BD9D-4E2C-8BF8-10D22BFA05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4990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motivation behind my project, was that last year, a lot of work was done practicing substructuring techniques on the test bed at low, linear response levels. But, since there is a bolted joint interface between the wing and frame, we can expect that some degree of nonlinear response will manifest at higher forcing levels. So what we did for this year was to screen the assembly for nonlinear behavior, and then form a nonlinear pseudo-modal model and try to project that nonlinearity through the linear substructuring prediction. </a:t>
            </a:r>
          </a:p>
        </p:txBody>
      </p:sp>
      <p:sp>
        <p:nvSpPr>
          <p:cNvPr id="4" name="Slide Number Placeholder 3"/>
          <p:cNvSpPr>
            <a:spLocks noGrp="1"/>
          </p:cNvSpPr>
          <p:nvPr>
            <p:ph type="sldNum" sz="quarter" idx="5"/>
          </p:nvPr>
        </p:nvSpPr>
        <p:spPr/>
        <p:txBody>
          <a:bodyPr/>
          <a:lstStyle/>
          <a:p>
            <a:fld id="{D602CC36-CD2E-49FA-A919-762571CB942F}" type="slidenum">
              <a:rPr lang="en-US" smtClean="0"/>
              <a:t>9</a:t>
            </a:fld>
            <a:endParaRPr lang="en-US"/>
          </a:p>
        </p:txBody>
      </p:sp>
    </p:spTree>
    <p:extLst>
      <p:ext uri="{BB962C8B-B14F-4D97-AF65-F5344CB8AC3E}">
        <p14:creationId xmlns:p14="http://schemas.microsoft.com/office/powerpoint/2010/main" val="483531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diagram to give you an idea of what we’re trying to do with substructuring. [NEXT] The goal is to start with an assembly of the frame, a transmission simulator plate, and the thin rectangular wing, [NEXT] decouple the dynamics of the plate and thin wing, [NEXT] and then replace it by coupling in the plate and thick wing. [NEXT] And then this will give us a prediction of the frame, plate, and thick wing assembly. So in addition to getting a linear prediction, we want to form a nonlinear pseudo-modal model of the original assembly, and project that through to get a prediction of the nonlinear response of the thick wing assembly. </a:t>
            </a:r>
          </a:p>
        </p:txBody>
      </p:sp>
      <p:sp>
        <p:nvSpPr>
          <p:cNvPr id="4" name="Slide Number Placeholder 3"/>
          <p:cNvSpPr>
            <a:spLocks noGrp="1"/>
          </p:cNvSpPr>
          <p:nvPr>
            <p:ph type="sldNum" sz="quarter" idx="5"/>
          </p:nvPr>
        </p:nvSpPr>
        <p:spPr/>
        <p:txBody>
          <a:bodyPr/>
          <a:lstStyle/>
          <a:p>
            <a:fld id="{D602CC36-CD2E-49FA-A919-762571CB942F}" type="slidenum">
              <a:rPr lang="en-US" smtClean="0"/>
              <a:t>10</a:t>
            </a:fld>
            <a:endParaRPr lang="en-US"/>
          </a:p>
        </p:txBody>
      </p:sp>
    </p:spTree>
    <p:extLst>
      <p:ext uri="{BB962C8B-B14F-4D97-AF65-F5344CB8AC3E}">
        <p14:creationId xmlns:p14="http://schemas.microsoft.com/office/powerpoint/2010/main" val="1546966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the experimental data I needed for each assembly, I did very standard linear modal testing, where the assemblies were suspended with bungee cords and then impacted with a modal hammer. I instrumented with a lot of accelerometers to try and get a good spatial resolution of the mode shapes out to at least 1600 Hz. I initially had washers between the components, but this made the system response too linear. Which is bad in this case since we need to see some sort of nonlinear behavior in order to model and project it. So for all data shown here, there are no washers in the interfaces. And each is held together by 4 steel bolts in the corners of the plate. </a:t>
            </a:r>
          </a:p>
        </p:txBody>
      </p:sp>
      <p:sp>
        <p:nvSpPr>
          <p:cNvPr id="4" name="Slide Number Placeholder 3"/>
          <p:cNvSpPr>
            <a:spLocks noGrp="1"/>
          </p:cNvSpPr>
          <p:nvPr>
            <p:ph type="sldNum" sz="quarter" idx="5"/>
          </p:nvPr>
        </p:nvSpPr>
        <p:spPr/>
        <p:txBody>
          <a:bodyPr/>
          <a:lstStyle/>
          <a:p>
            <a:fld id="{D602CC36-CD2E-49FA-A919-762571CB942F}" type="slidenum">
              <a:rPr lang="en-US" smtClean="0"/>
              <a:t>11</a:t>
            </a:fld>
            <a:endParaRPr lang="en-US"/>
          </a:p>
        </p:txBody>
      </p:sp>
    </p:spTree>
    <p:extLst>
      <p:ext uri="{BB962C8B-B14F-4D97-AF65-F5344CB8AC3E}">
        <p14:creationId xmlns:p14="http://schemas.microsoft.com/office/powerpoint/2010/main" val="1123719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substructure together each of those experimental subsystems, I used component mode synthesis. So we start with an equation of motion with each of the subsystems initially uncoupled. [NEXT] To tie them together, we define a set of constraints between the overlapping degrees of freedom in each. [NEXT] Usually these sorts of hard constraints lead to poor results, so what we can do is cast them to modal coordinates, and then soften the constraints by projecting them through a representative of the motion at the interface. Where that can be directly mode shapes or an SVD representation of them. </a:t>
            </a:r>
          </a:p>
        </p:txBody>
      </p:sp>
      <p:sp>
        <p:nvSpPr>
          <p:cNvPr id="4" name="Slide Number Placeholder 3"/>
          <p:cNvSpPr>
            <a:spLocks noGrp="1"/>
          </p:cNvSpPr>
          <p:nvPr>
            <p:ph type="sldNum" sz="quarter" idx="5"/>
          </p:nvPr>
        </p:nvSpPr>
        <p:spPr/>
        <p:txBody>
          <a:bodyPr/>
          <a:lstStyle/>
          <a:p>
            <a:fld id="{D602CC36-CD2E-49FA-A919-762571CB942F}" type="slidenum">
              <a:rPr lang="en-US" smtClean="0"/>
              <a:t>12</a:t>
            </a:fld>
            <a:endParaRPr lang="en-US"/>
          </a:p>
        </p:txBody>
      </p:sp>
    </p:spTree>
    <p:extLst>
      <p:ext uri="{BB962C8B-B14F-4D97-AF65-F5344CB8AC3E}">
        <p14:creationId xmlns:p14="http://schemas.microsoft.com/office/powerpoint/2010/main" val="293348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since were trying to constrain motion together and the equations equate to zero, we can solve for the coupling transformation matrix as the null space of that B matrix of constraints. So then we can use that to pre and post multiply the uncouple M and K, and then get the predicted mode shapes and frequencies from an </a:t>
            </a:r>
            <a:r>
              <a:rPr lang="en-US" dirty="0" err="1"/>
              <a:t>eigensolution</a:t>
            </a:r>
            <a:r>
              <a:rPr lang="en-US" dirty="0"/>
              <a:t> of the coupled M and K. </a:t>
            </a:r>
          </a:p>
        </p:txBody>
      </p:sp>
      <p:sp>
        <p:nvSpPr>
          <p:cNvPr id="4" name="Slide Number Placeholder 3"/>
          <p:cNvSpPr>
            <a:spLocks noGrp="1"/>
          </p:cNvSpPr>
          <p:nvPr>
            <p:ph type="sldNum" sz="quarter" idx="5"/>
          </p:nvPr>
        </p:nvSpPr>
        <p:spPr/>
        <p:txBody>
          <a:bodyPr/>
          <a:lstStyle/>
          <a:p>
            <a:fld id="{D602CC36-CD2E-49FA-A919-762571CB942F}" type="slidenum">
              <a:rPr lang="en-US" smtClean="0"/>
              <a:t>13</a:t>
            </a:fld>
            <a:endParaRPr lang="en-US"/>
          </a:p>
        </p:txBody>
      </p:sp>
    </p:spTree>
    <p:extLst>
      <p:ext uri="{BB962C8B-B14F-4D97-AF65-F5344CB8AC3E}">
        <p14:creationId xmlns:p14="http://schemas.microsoft.com/office/powerpoint/2010/main" val="1250621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substructure together each of those experimental subsystems, I used component mode synthesis. So we start with an equation of motion with each of the subsystems initially uncoupled. [NEXT] To tie them together, we define a set of constraints between the overlapping degrees of freedom in each. [NEXT] Usually these sorts of hard constraints lead to poor results, so what we can do is cast them to modal coordinates, and then soften the constraints by projecting them through a representative of the motion at the interface. Where that can be directly mode shapes or an SVD representation of them. </a:t>
            </a:r>
          </a:p>
        </p:txBody>
      </p:sp>
      <p:sp>
        <p:nvSpPr>
          <p:cNvPr id="4" name="Slide Number Placeholder 3"/>
          <p:cNvSpPr>
            <a:spLocks noGrp="1"/>
          </p:cNvSpPr>
          <p:nvPr>
            <p:ph type="sldNum" sz="quarter" idx="5"/>
          </p:nvPr>
        </p:nvSpPr>
        <p:spPr/>
        <p:txBody>
          <a:bodyPr/>
          <a:lstStyle/>
          <a:p>
            <a:fld id="{D602CC36-CD2E-49FA-A919-762571CB942F}" type="slidenum">
              <a:rPr lang="en-US" smtClean="0"/>
              <a:t>14</a:t>
            </a:fld>
            <a:endParaRPr lang="en-US"/>
          </a:p>
        </p:txBody>
      </p:sp>
    </p:spTree>
    <p:extLst>
      <p:ext uri="{BB962C8B-B14F-4D97-AF65-F5344CB8AC3E}">
        <p14:creationId xmlns:p14="http://schemas.microsoft.com/office/powerpoint/2010/main" val="435264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linear substructuring predictions, where I guess you could say it’s a cheated or informed answer, where I had the truth data and tuned the content in each subsystem to best match that. I think its justified here because the focus of this work is on the viability of the nonlinear projection, so having the best linear prediction helps in narrowing in on that result which ill show later. So, we have good results out to about 100 Hz, with mostly under 3 or 4 percent error. The damping is admittedly all over the place, but it was also the same when trying to measure it experimentally, where the nonlinearity in the joint kept causing the linear value to shift around and it didn’t really settle. And the MAC values are pretty good too.</a:t>
            </a:r>
          </a:p>
          <a:p>
            <a:endParaRPr lang="en-US" dirty="0"/>
          </a:p>
        </p:txBody>
      </p:sp>
      <p:sp>
        <p:nvSpPr>
          <p:cNvPr id="4" name="Slide Number Placeholder 3"/>
          <p:cNvSpPr>
            <a:spLocks noGrp="1"/>
          </p:cNvSpPr>
          <p:nvPr>
            <p:ph type="sldNum" sz="quarter" idx="5"/>
          </p:nvPr>
        </p:nvSpPr>
        <p:spPr/>
        <p:txBody>
          <a:bodyPr/>
          <a:lstStyle/>
          <a:p>
            <a:fld id="{70ABE455-AB4D-4A2C-B598-513206699028}" type="slidenum">
              <a:rPr lang="en-US" smtClean="0"/>
              <a:t>18</a:t>
            </a:fld>
            <a:endParaRPr lang="en-US"/>
          </a:p>
        </p:txBody>
      </p:sp>
    </p:spTree>
    <p:extLst>
      <p:ext uri="{BB962C8B-B14F-4D97-AF65-F5344CB8AC3E}">
        <p14:creationId xmlns:p14="http://schemas.microsoft.com/office/powerpoint/2010/main" val="3143431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BE455-AB4D-4A2C-B598-513206699028}" type="slidenum">
              <a:rPr lang="en-US" smtClean="0"/>
              <a:t>19</a:t>
            </a:fld>
            <a:endParaRPr lang="en-US"/>
          </a:p>
        </p:txBody>
      </p:sp>
    </p:spTree>
    <p:extLst>
      <p:ext uri="{BB962C8B-B14F-4D97-AF65-F5344CB8AC3E}">
        <p14:creationId xmlns:p14="http://schemas.microsoft.com/office/powerpoint/2010/main" val="4107344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BE455-AB4D-4A2C-B598-513206699028}" type="slidenum">
              <a:rPr lang="en-US" smtClean="0"/>
              <a:t>20</a:t>
            </a:fld>
            <a:endParaRPr lang="en-US"/>
          </a:p>
        </p:txBody>
      </p:sp>
    </p:spTree>
    <p:extLst>
      <p:ext uri="{BB962C8B-B14F-4D97-AF65-F5344CB8AC3E}">
        <p14:creationId xmlns:p14="http://schemas.microsoft.com/office/powerpoint/2010/main" val="3635701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if we use the truth values to tune in the modal basis </a:t>
            </a:r>
            <a:r>
              <a:rPr lang="en-US" dirty="0" err="1"/>
              <a:t>selctions</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02CC36-CD2E-49FA-A919-762571CB94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5400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dule Titl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DBEEFF38-9219-3402-6C1E-B326B8FB361A}"/>
              </a:ext>
            </a:extLst>
          </p:cNvPr>
          <p:cNvSpPr>
            <a:spLocks noGrp="1"/>
          </p:cNvSpPr>
          <p:nvPr>
            <p:ph type="dt" sz="half" idx="10"/>
          </p:nvPr>
        </p:nvSpPr>
        <p:spPr>
          <a:xfrm>
            <a:off x="105032" y="6356350"/>
            <a:ext cx="2743200" cy="365125"/>
          </a:xfrm>
          <a:prstGeom prst="rect">
            <a:avLst/>
          </a:prstGeom>
        </p:spPr>
        <p:txBody>
          <a:bodyPr/>
          <a:lstStyle>
            <a:lvl1pPr>
              <a:defRPr>
                <a:solidFill>
                  <a:schemeClr val="bg1"/>
                </a:solidFill>
              </a:defRPr>
            </a:lvl1pPr>
          </a:lstStyle>
          <a:p>
            <a:fld id="{32B7F7EA-D5FA-48A9-A388-858D3B14DD11}" type="datetimeFigureOut">
              <a:rPr lang="en-US" smtClean="0"/>
              <a:pPr/>
              <a:t>1/15/2026</a:t>
            </a:fld>
            <a:endParaRPr lang="en-US"/>
          </a:p>
        </p:txBody>
      </p:sp>
      <p:pic>
        <p:nvPicPr>
          <p:cNvPr id="1026" name="Picture 2" descr="lnu_wordmark_symbol_eng_rgb">
            <a:extLst>
              <a:ext uri="{FF2B5EF4-FFF2-40B4-BE49-F238E27FC236}">
                <a16:creationId xmlns:a16="http://schemas.microsoft.com/office/drawing/2014/main" id="{C8BBA26D-0448-C98D-A6E4-7D55251344C0}"/>
              </a:ext>
            </a:extLst>
          </p:cNvPr>
          <p:cNvPicPr>
            <a:picLocks noChangeAspect="1" noChangeArrowheads="1"/>
          </p:cNvPicPr>
          <p:nvPr userDrawn="1"/>
        </p:nvPicPr>
        <p:blipFill>
          <a:blip r:embed="rId3" cstate="print">
            <a:duotone>
              <a:prstClr val="black"/>
              <a:schemeClr val="bg1">
                <a:tint val="45000"/>
                <a:satMod val="400000"/>
              </a:schemeClr>
            </a:duotone>
            <a:extLst>
              <a:ext uri="{28A0092B-C50C-407E-A947-70E740481C1C}">
                <a14:useLocalDpi xmlns:a14="http://schemas.microsoft.com/office/drawing/2010/main"/>
              </a:ext>
            </a:extLst>
          </a:blip>
          <a:srcRect/>
          <a:stretch>
            <a:fillRect/>
          </a:stretch>
        </p:blipFill>
        <p:spPr bwMode="auto">
          <a:xfrm>
            <a:off x="7482361" y="5087024"/>
            <a:ext cx="4303240" cy="69759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1682C91-27D9-7A04-4E8D-33817B2D740C}"/>
              </a:ext>
            </a:extLst>
          </p:cNvPr>
          <p:cNvSpPr>
            <a:spLocks noGrp="1"/>
          </p:cNvSpPr>
          <p:nvPr>
            <p:ph type="ctrTitle" hasCustomPrompt="1"/>
          </p:nvPr>
        </p:nvSpPr>
        <p:spPr>
          <a:xfrm>
            <a:off x="213086" y="537502"/>
            <a:ext cx="6847472" cy="1976513"/>
          </a:xfrm>
          <a:prstGeom prst="rect">
            <a:avLst/>
          </a:prstGeom>
        </p:spPr>
        <p:txBody>
          <a:bodyPr anchor="b"/>
          <a:lstStyle>
            <a:lvl1pPr algn="l">
              <a:defRPr sz="6000">
                <a:solidFill>
                  <a:schemeClr val="bg1"/>
                </a:solidFill>
              </a:defRPr>
            </a:lvl1pPr>
          </a:lstStyle>
          <a:p>
            <a:r>
              <a:rPr lang="en-US" dirty="0"/>
              <a:t>Module #: Title</a:t>
            </a:r>
          </a:p>
        </p:txBody>
      </p:sp>
      <p:sp>
        <p:nvSpPr>
          <p:cNvPr id="16" name="TextBox 15">
            <a:extLst>
              <a:ext uri="{FF2B5EF4-FFF2-40B4-BE49-F238E27FC236}">
                <a16:creationId xmlns:a16="http://schemas.microsoft.com/office/drawing/2014/main" id="{84DD5900-7FFF-4234-2E19-03956DD10669}"/>
              </a:ext>
            </a:extLst>
          </p:cNvPr>
          <p:cNvSpPr txBox="1"/>
          <p:nvPr userDrawn="1"/>
        </p:nvSpPr>
        <p:spPr>
          <a:xfrm>
            <a:off x="213085" y="2570480"/>
            <a:ext cx="6695715" cy="3139321"/>
          </a:xfrm>
          <a:prstGeom prst="rect">
            <a:avLst/>
          </a:prstGeom>
          <a:noFill/>
        </p:spPr>
        <p:txBody>
          <a:bodyPr wrap="square" rtlCol="0">
            <a:spAutoFit/>
          </a:bodyPr>
          <a:lstStyle/>
          <a:p>
            <a:endParaRPr lang="en-US" dirty="0">
              <a:solidFill>
                <a:schemeClr val="bg1"/>
              </a:solidFill>
            </a:endParaRPr>
          </a:p>
          <a:p>
            <a:r>
              <a:rPr lang="en-US" b="1" dirty="0">
                <a:solidFill>
                  <a:schemeClr val="bg1"/>
                </a:solidFill>
              </a:rPr>
              <a:t>Andreas Linderholt</a:t>
            </a:r>
          </a:p>
          <a:p>
            <a:r>
              <a:rPr lang="en-US" b="0" i="1" dirty="0">
                <a:solidFill>
                  <a:schemeClr val="bg1"/>
                </a:solidFill>
              </a:rPr>
              <a:t>Linnaeus University </a:t>
            </a:r>
          </a:p>
          <a:p>
            <a:r>
              <a:rPr lang="en-US" b="0" i="1" dirty="0">
                <a:solidFill>
                  <a:schemeClr val="bg1"/>
                </a:solidFill>
              </a:rPr>
              <a:t>Department of Mechanical Engineering</a:t>
            </a:r>
          </a:p>
          <a:p>
            <a:endParaRPr lang="en-US" b="1"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bg1"/>
                </a:solidFill>
              </a:rPr>
              <a:t>Steven Carter</a:t>
            </a:r>
          </a:p>
          <a:p>
            <a:r>
              <a:rPr lang="en-US" b="1" dirty="0">
                <a:solidFill>
                  <a:schemeClr val="bg1"/>
                </a:solidFill>
              </a:rPr>
              <a:t>Benjamin Moldenhauer</a:t>
            </a:r>
          </a:p>
          <a:p>
            <a:r>
              <a:rPr lang="en-US" b="1" dirty="0">
                <a:solidFill>
                  <a:schemeClr val="bg1"/>
                </a:solidFill>
              </a:rPr>
              <a:t>Daniel Roettgen</a:t>
            </a:r>
          </a:p>
          <a:p>
            <a:r>
              <a:rPr lang="en-US" b="0" i="1" dirty="0">
                <a:solidFill>
                  <a:schemeClr val="bg1"/>
                </a:solidFill>
              </a:rPr>
              <a:t>Sandia National Laboratories</a:t>
            </a:r>
          </a:p>
          <a:p>
            <a:r>
              <a:rPr lang="en-US" b="0" i="1" dirty="0">
                <a:solidFill>
                  <a:schemeClr val="bg1"/>
                </a:solidFill>
              </a:rPr>
              <a:t>Experimental Structural Dynamics</a:t>
            </a:r>
          </a:p>
          <a:p>
            <a:endParaRPr lang="en-US" dirty="0"/>
          </a:p>
        </p:txBody>
      </p:sp>
      <p:sp>
        <p:nvSpPr>
          <p:cNvPr id="17" name="Picture Placeholder 8">
            <a:extLst>
              <a:ext uri="{FF2B5EF4-FFF2-40B4-BE49-F238E27FC236}">
                <a16:creationId xmlns:a16="http://schemas.microsoft.com/office/drawing/2014/main" id="{55A49339-AFD2-293D-5083-71E4E4D94B10}"/>
              </a:ext>
            </a:extLst>
          </p:cNvPr>
          <p:cNvSpPr>
            <a:spLocks noGrp="1"/>
          </p:cNvSpPr>
          <p:nvPr>
            <p:ph type="pic" sz="quarter" idx="13" hasCustomPrompt="1"/>
          </p:nvPr>
        </p:nvSpPr>
        <p:spPr>
          <a:xfrm>
            <a:off x="9522779" y="297608"/>
            <a:ext cx="2262822" cy="1463992"/>
          </a:xfrm>
          <a:prstGeom prst="rect">
            <a:avLst/>
          </a:prstGeom>
          <a:ln w="19050">
            <a:noFill/>
          </a:ln>
        </p:spPr>
        <p:txBody>
          <a:bodyPr/>
          <a:lstStyle>
            <a:lvl1pPr marL="0" indent="0">
              <a:buNone/>
              <a:defRPr/>
            </a:lvl1pPr>
          </a:lstStyle>
          <a:p>
            <a:r>
              <a:rPr lang="en-US" dirty="0"/>
              <a:t>Picture</a:t>
            </a:r>
          </a:p>
        </p:txBody>
      </p:sp>
      <p:sp>
        <p:nvSpPr>
          <p:cNvPr id="18" name="Picture Placeholder 8">
            <a:extLst>
              <a:ext uri="{FF2B5EF4-FFF2-40B4-BE49-F238E27FC236}">
                <a16:creationId xmlns:a16="http://schemas.microsoft.com/office/drawing/2014/main" id="{58CEA6CC-F9AC-D943-BDC1-48802068B7AC}"/>
              </a:ext>
            </a:extLst>
          </p:cNvPr>
          <p:cNvSpPr>
            <a:spLocks noGrp="1"/>
          </p:cNvSpPr>
          <p:nvPr>
            <p:ph type="pic" sz="quarter" idx="14" hasCustomPrompt="1"/>
          </p:nvPr>
        </p:nvSpPr>
        <p:spPr>
          <a:xfrm>
            <a:off x="9522779" y="1838484"/>
            <a:ext cx="2262822" cy="1463992"/>
          </a:xfrm>
          <a:prstGeom prst="rect">
            <a:avLst/>
          </a:prstGeom>
          <a:ln w="19050">
            <a:noFill/>
          </a:ln>
        </p:spPr>
        <p:txBody>
          <a:bodyPr/>
          <a:lstStyle>
            <a:lvl1pPr marL="0" indent="0">
              <a:buNone/>
              <a:defRPr/>
            </a:lvl1pPr>
          </a:lstStyle>
          <a:p>
            <a:r>
              <a:rPr lang="en-US" dirty="0"/>
              <a:t>Picture</a:t>
            </a:r>
          </a:p>
        </p:txBody>
      </p:sp>
      <p:pic>
        <p:nvPicPr>
          <p:cNvPr id="23" name="Picture 22">
            <a:extLst>
              <a:ext uri="{FF2B5EF4-FFF2-40B4-BE49-F238E27FC236}">
                <a16:creationId xmlns:a16="http://schemas.microsoft.com/office/drawing/2014/main" id="{4EAA5A42-DD64-4CDB-4EF6-E5FD7223D67D}"/>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5704659" y="5766266"/>
            <a:ext cx="6487341" cy="1091734"/>
          </a:xfrm>
          <a:prstGeom prst="rect">
            <a:avLst/>
          </a:prstGeom>
        </p:spPr>
      </p:pic>
      <p:pic>
        <p:nvPicPr>
          <p:cNvPr id="24" name="Picture 23">
            <a:extLst>
              <a:ext uri="{FF2B5EF4-FFF2-40B4-BE49-F238E27FC236}">
                <a16:creationId xmlns:a16="http://schemas.microsoft.com/office/drawing/2014/main" id="{0640B613-3A6D-056E-0592-B710A66DBB4A}"/>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390065" y="3358941"/>
            <a:ext cx="3151696" cy="1775351"/>
          </a:xfrm>
          <a:prstGeom prst="rect">
            <a:avLst/>
          </a:prstGeom>
        </p:spPr>
      </p:pic>
      <p:sp>
        <p:nvSpPr>
          <p:cNvPr id="26" name="TextBox 25">
            <a:extLst>
              <a:ext uri="{FF2B5EF4-FFF2-40B4-BE49-F238E27FC236}">
                <a16:creationId xmlns:a16="http://schemas.microsoft.com/office/drawing/2014/main" id="{E0AED2AD-3489-102B-FD4A-EF0FD9432851}"/>
              </a:ext>
            </a:extLst>
          </p:cNvPr>
          <p:cNvSpPr txBox="1"/>
          <p:nvPr userDrawn="1"/>
        </p:nvSpPr>
        <p:spPr>
          <a:xfrm>
            <a:off x="324845" y="5393103"/>
            <a:ext cx="4051642" cy="391517"/>
          </a:xfrm>
          <a:prstGeom prst="rect">
            <a:avLst/>
          </a:prstGeom>
          <a:noFill/>
        </p:spPr>
        <p:txBody>
          <a:bodyPr wrap="square" lIns="0" tIns="0" rIns="0" bIns="0" rtlCol="0">
            <a:noAutofit/>
          </a:bodyPr>
          <a:lstStyle/>
          <a:p>
            <a:pPr algn="l">
              <a:lnSpc>
                <a:spcPct val="110000"/>
              </a:lnSpc>
            </a:pPr>
            <a:r>
              <a:rPr lang="en-US" sz="800" b="0" i="0" u="none" strike="noStrike" dirty="0">
                <a:solidFill>
                  <a:schemeClr val="bg1"/>
                </a:solidFill>
                <a:effectLst/>
                <a:latin typeface="+mn-lt"/>
              </a:rPr>
              <a:t>Sandia National Laboratories is a </a:t>
            </a:r>
            <a:r>
              <a:rPr lang="en-US" sz="800" b="0" i="0" u="none" strike="noStrike" dirty="0" err="1">
                <a:solidFill>
                  <a:schemeClr val="bg1"/>
                </a:solidFill>
                <a:effectLst/>
                <a:latin typeface="+mn-lt"/>
              </a:rPr>
              <a:t>multimission</a:t>
            </a:r>
            <a:r>
              <a:rPr lang="en-US" sz="800" b="0" i="0" u="none" strike="noStrike" dirty="0">
                <a:solidFill>
                  <a:schemeClr val="bg1"/>
                </a:solidFill>
                <a:effectLst/>
                <a:latin typeface="+mn-lt"/>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800" b="0" i="0" dirty="0">
              <a:solidFill>
                <a:schemeClr val="bg1"/>
              </a:solidFill>
              <a:latin typeface="+mn-lt"/>
            </a:endParaRPr>
          </a:p>
        </p:txBody>
      </p:sp>
    </p:spTree>
    <p:extLst>
      <p:ext uri="{BB962C8B-B14F-4D97-AF65-F5344CB8AC3E}">
        <p14:creationId xmlns:p14="http://schemas.microsoft.com/office/powerpoint/2010/main" val="1982104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AEC8612-5184-DD49-1D2B-3D06982D3835}"/>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385383" y="5620835"/>
            <a:ext cx="869482" cy="1504260"/>
          </a:xfrm>
          <a:prstGeom prst="rect">
            <a:avLst/>
          </a:prstGeom>
        </p:spPr>
      </p:pic>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105032" y="136525"/>
            <a:ext cx="10515600" cy="662781"/>
          </a:xfrm>
          <a:prstGeom prst="rect">
            <a:avLst/>
          </a:prstGeom>
        </p:spPr>
        <p:txBody>
          <a:bodyPr/>
          <a:lstStyle>
            <a:lvl1pPr>
              <a:defRPr b="1">
                <a:solidFill>
                  <a:schemeClr val="accent1"/>
                </a:solidFill>
                <a:latin typeface="+mn-lt"/>
              </a:defRPr>
            </a:lvl1pPr>
          </a:lstStyle>
          <a:p>
            <a:r>
              <a:rPr lang="en-US" dirty="0"/>
              <a:t>Title</a:t>
            </a:r>
          </a:p>
        </p:txBody>
      </p:sp>
      <p:sp>
        <p:nvSpPr>
          <p:cNvPr id="3" name="Content Placeholder 2">
            <a:extLst>
              <a:ext uri="{FF2B5EF4-FFF2-40B4-BE49-F238E27FC236}">
                <a16:creationId xmlns:a16="http://schemas.microsoft.com/office/drawing/2014/main" id="{FCA49D2C-832F-6FF3-40A6-F5F2FE06B1DF}"/>
              </a:ext>
            </a:extLst>
          </p:cNvPr>
          <p:cNvSpPr>
            <a:spLocks noGrp="1"/>
          </p:cNvSpPr>
          <p:nvPr>
            <p:ph idx="1"/>
          </p:nvPr>
        </p:nvSpPr>
        <p:spPr>
          <a:xfrm>
            <a:off x="105032" y="939585"/>
            <a:ext cx="11337324" cy="4978829"/>
          </a:xfrm>
          <a:prstGeom prst="rect">
            <a:avLst/>
          </a:prstGeom>
        </p:spPr>
        <p:txBody>
          <a:bodyPr/>
          <a:lstStyle>
            <a:lvl1pPr>
              <a:defRPr>
                <a:solidFill>
                  <a:schemeClr val="accent1"/>
                </a:solidFill>
                <a:latin typeface="+mj-lt"/>
              </a:defRPr>
            </a:lvl1pPr>
            <a:lvl2pPr>
              <a:defRPr>
                <a:solidFill>
                  <a:schemeClr val="accent1"/>
                </a:solidFill>
                <a:latin typeface="+mj-lt"/>
              </a:defRPr>
            </a:lvl2pPr>
            <a:lvl3pPr>
              <a:defRPr>
                <a:solidFill>
                  <a:schemeClr val="accent1"/>
                </a:solidFill>
                <a:latin typeface="+mj-lt"/>
              </a:defRPr>
            </a:lvl3pPr>
            <a:lvl4pPr>
              <a:defRPr>
                <a:solidFill>
                  <a:schemeClr val="accent1"/>
                </a:solidFill>
                <a:latin typeface="+mj-lt"/>
              </a:defRPr>
            </a:lvl4pPr>
            <a:lvl5pPr>
              <a:defRPr>
                <a:solidFill>
                  <a:schemeClr val="accent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Picture 16">
            <a:extLst>
              <a:ext uri="{FF2B5EF4-FFF2-40B4-BE49-F238E27FC236}">
                <a16:creationId xmlns:a16="http://schemas.microsoft.com/office/drawing/2014/main" id="{13A23D71-51C1-E310-51CE-7DE5CD2D46C1}"/>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l="-7258"/>
          <a:stretch/>
        </p:blipFill>
        <p:spPr>
          <a:xfrm>
            <a:off x="-125729" y="5642823"/>
            <a:ext cx="1554480" cy="1504260"/>
          </a:xfrm>
          <a:prstGeom prst="rect">
            <a:avLst/>
          </a:prstGeom>
        </p:spPr>
      </p:pic>
      <p:sp>
        <p:nvSpPr>
          <p:cNvPr id="20" name="TextBox 19">
            <a:extLst>
              <a:ext uri="{FF2B5EF4-FFF2-40B4-BE49-F238E27FC236}">
                <a16:creationId xmlns:a16="http://schemas.microsoft.com/office/drawing/2014/main" id="{0E0252BF-FA0F-2F01-F0F1-01835876CA31}"/>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196188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105032" y="136525"/>
            <a:ext cx="10515600" cy="662781"/>
          </a:xfrm>
          <a:prstGeom prst="rect">
            <a:avLst/>
          </a:prstGeom>
        </p:spPr>
        <p:txBody>
          <a:bodyPr/>
          <a:lstStyle>
            <a:lvl1pPr>
              <a:defRPr b="1">
                <a:solidFill>
                  <a:schemeClr val="accent1"/>
                </a:solidFill>
                <a:latin typeface="+mn-lt"/>
              </a:defRPr>
            </a:lvl1pPr>
          </a:lstStyle>
          <a:p>
            <a:r>
              <a:rPr lang="en-US" dirty="0"/>
              <a:t>Title</a:t>
            </a:r>
          </a:p>
        </p:txBody>
      </p:sp>
      <p:sp>
        <p:nvSpPr>
          <p:cNvPr id="3" name="Content Placeholder 2">
            <a:extLst>
              <a:ext uri="{FF2B5EF4-FFF2-40B4-BE49-F238E27FC236}">
                <a16:creationId xmlns:a16="http://schemas.microsoft.com/office/drawing/2014/main" id="{FCA49D2C-832F-6FF3-40A6-F5F2FE06B1DF}"/>
              </a:ext>
            </a:extLst>
          </p:cNvPr>
          <p:cNvSpPr>
            <a:spLocks noGrp="1"/>
          </p:cNvSpPr>
          <p:nvPr>
            <p:ph idx="1"/>
          </p:nvPr>
        </p:nvSpPr>
        <p:spPr>
          <a:xfrm>
            <a:off x="105032" y="939585"/>
            <a:ext cx="8683368" cy="4978829"/>
          </a:xfrm>
          <a:prstGeom prst="rect">
            <a:avLst/>
          </a:prstGeom>
        </p:spPr>
        <p:txBody>
          <a:bodyPr/>
          <a:lstStyle>
            <a:lvl1pPr>
              <a:defRPr>
                <a:solidFill>
                  <a:schemeClr val="accent1"/>
                </a:solidFill>
                <a:latin typeface="+mj-lt"/>
              </a:defRPr>
            </a:lvl1pPr>
            <a:lvl2pPr>
              <a:defRPr>
                <a:solidFill>
                  <a:schemeClr val="accent1"/>
                </a:solidFill>
                <a:latin typeface="+mj-lt"/>
              </a:defRPr>
            </a:lvl2pPr>
            <a:lvl3pPr>
              <a:defRPr>
                <a:solidFill>
                  <a:schemeClr val="accent1"/>
                </a:solidFill>
                <a:latin typeface="+mj-lt"/>
              </a:defRPr>
            </a:lvl3pPr>
            <a:lvl4pPr>
              <a:defRPr>
                <a:solidFill>
                  <a:schemeClr val="accent1"/>
                </a:solidFill>
                <a:latin typeface="+mj-lt"/>
              </a:defRPr>
            </a:lvl4pPr>
            <a:lvl5pPr>
              <a:defRPr>
                <a:solidFill>
                  <a:schemeClr val="accent1"/>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463C00C0-AFE4-5CDB-792C-B1FF128BB46B}"/>
              </a:ext>
            </a:extLst>
          </p:cNvPr>
          <p:cNvSpPr>
            <a:spLocks noGrp="1"/>
          </p:cNvSpPr>
          <p:nvPr>
            <p:ph type="pic" sz="quarter" idx="10" hasCustomPrompt="1"/>
          </p:nvPr>
        </p:nvSpPr>
        <p:spPr>
          <a:xfrm>
            <a:off x="8918876" y="876197"/>
            <a:ext cx="3087687" cy="2366963"/>
          </a:xfrm>
          <a:ln>
            <a:solidFill>
              <a:schemeClr val="accent1"/>
            </a:solidFill>
          </a:ln>
        </p:spPr>
        <p:txBody>
          <a:bodyPr/>
          <a:lstStyle>
            <a:lvl1pPr marL="0" indent="0">
              <a:buNone/>
              <a:defRPr/>
            </a:lvl1pPr>
          </a:lstStyle>
          <a:p>
            <a:r>
              <a:rPr lang="en-US" dirty="0"/>
              <a:t>Picture here</a:t>
            </a:r>
          </a:p>
        </p:txBody>
      </p:sp>
      <p:sp>
        <p:nvSpPr>
          <p:cNvPr id="6" name="Picture Placeholder 4">
            <a:extLst>
              <a:ext uri="{FF2B5EF4-FFF2-40B4-BE49-F238E27FC236}">
                <a16:creationId xmlns:a16="http://schemas.microsoft.com/office/drawing/2014/main" id="{602C02E6-8B4E-746B-32D8-FBA12F839E67}"/>
              </a:ext>
            </a:extLst>
          </p:cNvPr>
          <p:cNvSpPr>
            <a:spLocks noGrp="1"/>
          </p:cNvSpPr>
          <p:nvPr>
            <p:ph type="pic" sz="quarter" idx="11" hasCustomPrompt="1"/>
          </p:nvPr>
        </p:nvSpPr>
        <p:spPr>
          <a:xfrm>
            <a:off x="8918875" y="3339996"/>
            <a:ext cx="3087687" cy="2366963"/>
          </a:xfrm>
          <a:ln>
            <a:solidFill>
              <a:schemeClr val="accent1"/>
            </a:solidFill>
          </a:ln>
        </p:spPr>
        <p:txBody>
          <a:bodyPr/>
          <a:lstStyle>
            <a:lvl1pPr marL="0" indent="0">
              <a:buNone/>
              <a:defRPr/>
            </a:lvl1pPr>
          </a:lstStyle>
          <a:p>
            <a:r>
              <a:rPr lang="en-US" dirty="0"/>
              <a:t>Picture here</a:t>
            </a:r>
          </a:p>
        </p:txBody>
      </p:sp>
      <p:pic>
        <p:nvPicPr>
          <p:cNvPr id="9" name="Picture 8">
            <a:extLst>
              <a:ext uri="{FF2B5EF4-FFF2-40B4-BE49-F238E27FC236}">
                <a16:creationId xmlns:a16="http://schemas.microsoft.com/office/drawing/2014/main" id="{4230CF3A-888A-B8BC-F56F-72E990F0AF6B}"/>
              </a:ext>
            </a:extLst>
          </p:cNvPr>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385383" y="5620835"/>
            <a:ext cx="869482" cy="1504260"/>
          </a:xfrm>
          <a:prstGeom prst="rect">
            <a:avLst/>
          </a:prstGeom>
        </p:spPr>
      </p:pic>
      <p:sp>
        <p:nvSpPr>
          <p:cNvPr id="10" name="TextBox 9">
            <a:extLst>
              <a:ext uri="{FF2B5EF4-FFF2-40B4-BE49-F238E27FC236}">
                <a16:creationId xmlns:a16="http://schemas.microsoft.com/office/drawing/2014/main" id="{BAC3CC7A-4227-B03B-A890-0B34C7C41C16}"/>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pic>
        <p:nvPicPr>
          <p:cNvPr id="11" name="Picture 10">
            <a:extLst>
              <a:ext uri="{FF2B5EF4-FFF2-40B4-BE49-F238E27FC236}">
                <a16:creationId xmlns:a16="http://schemas.microsoft.com/office/drawing/2014/main" id="{30157A07-85D3-76EC-2529-437C905C2B5C}"/>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l="-7258"/>
          <a:stretch/>
        </p:blipFill>
        <p:spPr>
          <a:xfrm>
            <a:off x="-125729" y="5642823"/>
            <a:ext cx="1554480" cy="1504260"/>
          </a:xfrm>
          <a:prstGeom prst="rect">
            <a:avLst/>
          </a:prstGeom>
        </p:spPr>
      </p:pic>
    </p:spTree>
    <p:extLst>
      <p:ext uri="{BB962C8B-B14F-4D97-AF65-F5344CB8AC3E}">
        <p14:creationId xmlns:p14="http://schemas.microsoft.com/office/powerpoint/2010/main" val="275570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 Brea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5B12-DA50-06BD-F47C-576C09DE646D}"/>
              </a:ext>
            </a:extLst>
          </p:cNvPr>
          <p:cNvSpPr>
            <a:spLocks noGrp="1"/>
          </p:cNvSpPr>
          <p:nvPr>
            <p:ph type="title" hasCustomPrompt="1"/>
          </p:nvPr>
        </p:nvSpPr>
        <p:spPr>
          <a:xfrm>
            <a:off x="409832" y="1409120"/>
            <a:ext cx="10515600" cy="662781"/>
          </a:xfrm>
          <a:prstGeom prst="rect">
            <a:avLst/>
          </a:prstGeom>
        </p:spPr>
        <p:txBody>
          <a:bodyPr/>
          <a:lstStyle>
            <a:lvl1pPr algn="ctr">
              <a:defRPr b="1">
                <a:solidFill>
                  <a:schemeClr val="accent1"/>
                </a:solidFill>
                <a:latin typeface="+mn-lt"/>
              </a:defRPr>
            </a:lvl1pPr>
          </a:lstStyle>
          <a:p>
            <a:r>
              <a:rPr lang="en-US" dirty="0"/>
              <a:t>Transition Title</a:t>
            </a:r>
          </a:p>
        </p:txBody>
      </p:sp>
      <p:pic>
        <p:nvPicPr>
          <p:cNvPr id="14" name="Picture 13">
            <a:extLst>
              <a:ext uri="{FF2B5EF4-FFF2-40B4-BE49-F238E27FC236}">
                <a16:creationId xmlns:a16="http://schemas.microsoft.com/office/drawing/2014/main" id="{6EE25C2B-00D8-B739-8A7C-9F78150F5A93}"/>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2225040" y="1841555"/>
            <a:ext cx="6675121" cy="3760097"/>
          </a:xfrm>
          <a:prstGeom prst="rect">
            <a:avLst/>
          </a:prstGeom>
        </p:spPr>
      </p:pic>
      <p:pic>
        <p:nvPicPr>
          <p:cNvPr id="15" name="Picture 14">
            <a:extLst>
              <a:ext uri="{FF2B5EF4-FFF2-40B4-BE49-F238E27FC236}">
                <a16:creationId xmlns:a16="http://schemas.microsoft.com/office/drawing/2014/main" id="{D1A11BA6-9A4D-41B0-FE13-D42E91F591C5}"/>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1385383" y="5620835"/>
            <a:ext cx="869482" cy="1504260"/>
          </a:xfrm>
          <a:prstGeom prst="rect">
            <a:avLst/>
          </a:prstGeom>
        </p:spPr>
      </p:pic>
      <p:pic>
        <p:nvPicPr>
          <p:cNvPr id="17" name="Picture 16">
            <a:extLst>
              <a:ext uri="{FF2B5EF4-FFF2-40B4-BE49-F238E27FC236}">
                <a16:creationId xmlns:a16="http://schemas.microsoft.com/office/drawing/2014/main" id="{C92307F5-1B86-EB7B-529A-B5AC3C3702FF}"/>
              </a:ext>
            </a:extLst>
          </p:cNvPr>
          <p:cNvPicPr>
            <a:picLocks noChangeAspect="1"/>
          </p:cNvPicPr>
          <p:nvPr userDrawn="1"/>
        </p:nvPicPr>
        <p:blipFill>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rcRect l="-7258"/>
          <a:stretch/>
        </p:blipFill>
        <p:spPr>
          <a:xfrm>
            <a:off x="-125729" y="5642823"/>
            <a:ext cx="1554480" cy="1504260"/>
          </a:xfrm>
          <a:prstGeom prst="rect">
            <a:avLst/>
          </a:prstGeom>
        </p:spPr>
      </p:pic>
      <p:sp>
        <p:nvSpPr>
          <p:cNvPr id="20" name="TextBox 19">
            <a:extLst>
              <a:ext uri="{FF2B5EF4-FFF2-40B4-BE49-F238E27FC236}">
                <a16:creationId xmlns:a16="http://schemas.microsoft.com/office/drawing/2014/main" id="{CEA77C6D-65EF-D438-A2B7-B79287A44518}"/>
              </a:ext>
            </a:extLst>
          </p:cNvPr>
          <p:cNvSpPr txBox="1"/>
          <p:nvPr userDrawn="1"/>
        </p:nvSpPr>
        <p:spPr>
          <a:xfrm>
            <a:off x="11687175" y="6231361"/>
            <a:ext cx="464927" cy="369332"/>
          </a:xfrm>
          <a:prstGeom prst="rect">
            <a:avLst/>
          </a:prstGeom>
          <a:noFill/>
        </p:spPr>
        <p:txBody>
          <a:bodyPr wrap="square" rtlCol="0">
            <a:spAutoFit/>
          </a:bodyPr>
          <a:lstStyle/>
          <a:p>
            <a:pPr algn="ctr"/>
            <a:fld id="{44A6E8EF-84EE-4D27-9E43-1F81D0E00356}" type="slidenum">
              <a:rPr lang="en-US" smtClean="0">
                <a:solidFill>
                  <a:schemeClr val="bg1"/>
                </a:solidFill>
              </a:rPr>
              <a:pPr algn="ctr"/>
              <a:t>‹#›</a:t>
            </a:fld>
            <a:endParaRPr lang="en-US" dirty="0">
              <a:solidFill>
                <a:schemeClr val="bg1"/>
              </a:solidFill>
            </a:endParaRPr>
          </a:p>
        </p:txBody>
      </p:sp>
    </p:spTree>
    <p:extLst>
      <p:ext uri="{BB962C8B-B14F-4D97-AF65-F5344CB8AC3E}">
        <p14:creationId xmlns:p14="http://schemas.microsoft.com/office/powerpoint/2010/main" val="213110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 and Content White">
    <p:spTree>
      <p:nvGrpSpPr>
        <p:cNvPr id="1" name=""/>
        <p:cNvGrpSpPr/>
        <p:nvPr/>
      </p:nvGrpSpPr>
      <p:grpSpPr>
        <a:xfrm>
          <a:off x="0" y="0"/>
          <a:ext cx="0" cy="0"/>
          <a:chOff x="0" y="0"/>
          <a:chExt cx="0" cy="0"/>
        </a:xfrm>
      </p:grpSpPr>
      <p:sp>
        <p:nvSpPr>
          <p:cNvPr id="17" name="Rectangle 16"/>
          <p:cNvSpPr/>
          <p:nvPr/>
        </p:nvSpPr>
        <p:spPr>
          <a:xfrm rot="5400000">
            <a:off x="196407" y="352887"/>
            <a:ext cx="772430" cy="66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Title Placeholder 1"/>
          <p:cNvSpPr>
            <a:spLocks noGrp="1"/>
          </p:cNvSpPr>
          <p:nvPr>
            <p:ph type="title" hasCustomPrompt="1"/>
          </p:nvPr>
        </p:nvSpPr>
        <p:spPr>
          <a:xfrm>
            <a:off x="720648" y="246888"/>
            <a:ext cx="10844784" cy="694944"/>
          </a:xfrm>
          <a:prstGeom prst="rect">
            <a:avLst/>
          </a:prstGeom>
        </p:spPr>
        <p:txBody>
          <a:bodyPr vert="horz" lIns="91440" tIns="45720" rIns="91440" bIns="45720" rtlCol="0" anchor="t" anchorCtr="0">
            <a:noAutofit/>
          </a:bodyPr>
          <a:lstStyle>
            <a:lvl1pPr>
              <a:defRPr>
                <a:solidFill>
                  <a:schemeClr val="bg2">
                    <a:lumMod val="25000"/>
                  </a:schemeClr>
                </a:solidFill>
              </a:defRPr>
            </a:lvl1pPr>
          </a:lstStyle>
          <a:p>
            <a:r>
              <a:rPr lang="en-US" dirty="0"/>
              <a:t>CLICK TO EDIT MASTER TITLE STYLE</a:t>
            </a:r>
          </a:p>
        </p:txBody>
      </p:sp>
      <p:sp>
        <p:nvSpPr>
          <p:cNvPr id="20" name="Date Placeholder 3"/>
          <p:cNvSpPr>
            <a:spLocks noGrp="1"/>
          </p:cNvSpPr>
          <p:nvPr>
            <p:ph type="dt" sz="half" idx="2"/>
          </p:nvPr>
        </p:nvSpPr>
        <p:spPr>
          <a:xfrm>
            <a:off x="64951" y="6492875"/>
            <a:ext cx="2472271" cy="365125"/>
          </a:xfrm>
          <a:prstGeom prst="rect">
            <a:avLst/>
          </a:prstGeom>
        </p:spPr>
        <p:txBody>
          <a:bodyPr vert="horz" lIns="91440" tIns="45720" rIns="91440" bIns="45720" rtlCol="0" anchor="ctr"/>
          <a:lstStyle>
            <a:lvl1pPr algn="l">
              <a:defRPr sz="1000">
                <a:solidFill>
                  <a:schemeClr val="bg1">
                    <a:lumMod val="50000"/>
                  </a:schemeClr>
                </a:solidFill>
              </a:defRPr>
            </a:lvl1pPr>
          </a:lstStyle>
          <a:p>
            <a:fld id="{42DBB2FB-2109-41DD-914D-DC4C4AB493CE}" type="datetime1">
              <a:rPr lang="en-US" smtClean="0"/>
              <a:t>1/15/2026</a:t>
            </a:fld>
            <a:endParaRPr lang="en-US" dirty="0"/>
          </a:p>
        </p:txBody>
      </p:sp>
      <p:sp>
        <p:nvSpPr>
          <p:cNvPr id="22" name="Slide Number Placeholder 5"/>
          <p:cNvSpPr>
            <a:spLocks noGrp="1"/>
          </p:cNvSpPr>
          <p:nvPr>
            <p:ph type="sldNum" sz="quarter" idx="4"/>
          </p:nvPr>
        </p:nvSpPr>
        <p:spPr>
          <a:xfrm>
            <a:off x="11674644" y="6492875"/>
            <a:ext cx="419397" cy="365125"/>
          </a:xfrm>
          <a:prstGeom prst="rect">
            <a:avLst/>
          </a:prstGeom>
        </p:spPr>
        <p:txBody>
          <a:bodyPr vert="horz" lIns="91440" tIns="45720" rIns="91440" bIns="45720" rtlCol="0" anchor="ctr"/>
          <a:lstStyle>
            <a:lvl1pPr algn="r">
              <a:defRPr sz="1000">
                <a:solidFill>
                  <a:srgbClr val="000000"/>
                </a:solidFill>
              </a:defRPr>
            </a:lvl1pPr>
          </a:lstStyle>
          <a:p>
            <a:fld id="{4FAB73BC-B049-4115-A692-8D63A059BFB8}" type="slidenum">
              <a:rPr lang="en-US" smtClean="0"/>
              <a:pPr/>
              <a:t>‹#›</a:t>
            </a:fld>
            <a:endParaRPr lang="en-US" dirty="0"/>
          </a:p>
        </p:txBody>
      </p:sp>
      <p:sp>
        <p:nvSpPr>
          <p:cNvPr id="4" name="Text Placeholder 3"/>
          <p:cNvSpPr>
            <a:spLocks noGrp="1"/>
          </p:cNvSpPr>
          <p:nvPr>
            <p:ph type="body" sz="quarter" idx="10"/>
          </p:nvPr>
        </p:nvSpPr>
        <p:spPr>
          <a:xfrm>
            <a:off x="720648" y="1124712"/>
            <a:ext cx="10844784" cy="5404104"/>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p:cNvSpPr/>
          <p:nvPr/>
        </p:nvSpPr>
        <p:spPr>
          <a:xfrm>
            <a:off x="11734800" y="408404"/>
            <a:ext cx="457199" cy="3683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1795760" y="475488"/>
            <a:ext cx="259675" cy="251610"/>
          </a:xfrm>
          <a:prstGeom prst="rect">
            <a:avLst/>
          </a:prstGeom>
        </p:spPr>
      </p:pic>
      <p:grpSp>
        <p:nvGrpSpPr>
          <p:cNvPr id="3" name="Group 2"/>
          <p:cNvGrpSpPr/>
          <p:nvPr/>
        </p:nvGrpSpPr>
        <p:grpSpPr>
          <a:xfrm>
            <a:off x="12125325" y="0"/>
            <a:ext cx="66679" cy="6857999"/>
            <a:chOff x="12125325" y="0"/>
            <a:chExt cx="66679" cy="6857999"/>
          </a:xfrm>
        </p:grpSpPr>
        <p:pic>
          <p:nvPicPr>
            <p:cNvPr id="13" name="Picture 12"/>
            <p:cNvPicPr>
              <a:picLocks/>
            </p:cNvPicPr>
            <p:nvPr/>
          </p:nvPicPr>
          <p:blipFill rotWithShape="1">
            <a:blip r:embed="rId3" cstate="print">
              <a:extLst>
                <a:ext uri="{28A0092B-C50C-407E-A947-70E740481C1C}">
                  <a14:useLocalDpi xmlns:a14="http://schemas.microsoft.com/office/drawing/2010/main"/>
                </a:ext>
              </a:extLst>
            </a:blip>
            <a:srcRect b="-3"/>
            <a:stretch/>
          </p:blipFill>
          <p:spPr>
            <a:xfrm rot="16200000">
              <a:off x="8773049" y="3439044"/>
              <a:ext cx="6771231" cy="66679"/>
            </a:xfrm>
            <a:prstGeom prst="rect">
              <a:avLst/>
            </a:prstGeom>
          </p:spPr>
        </p:pic>
        <p:sp>
          <p:nvSpPr>
            <p:cNvPr id="2" name="Rectangle 1"/>
            <p:cNvSpPr/>
            <p:nvPr/>
          </p:nvSpPr>
          <p:spPr>
            <a:xfrm>
              <a:off x="12125325" y="0"/>
              <a:ext cx="66675" cy="2825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6410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itle Placeholder 12">
            <a:extLst>
              <a:ext uri="{FF2B5EF4-FFF2-40B4-BE49-F238E27FC236}">
                <a16:creationId xmlns:a16="http://schemas.microsoft.com/office/drawing/2014/main" id="{AE4A825A-4063-94F5-2E60-E497DE3FD8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4" name="Text Placeholder 13">
            <a:extLst>
              <a:ext uri="{FF2B5EF4-FFF2-40B4-BE49-F238E27FC236}">
                <a16:creationId xmlns:a16="http://schemas.microsoft.com/office/drawing/2014/main" id="{4AC2EE41-D82D-F945-F481-EC0ADFBAC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4332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1" r:id="rId4"/>
    <p:sldLayoutId id="2147483654"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12.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2.png"/><Relationship Id="rId3" Type="http://schemas.microsoft.com/office/2007/relationships/media" Target="../media/media2.mp4"/><Relationship Id="rId7" Type="http://schemas.openxmlformats.org/officeDocument/2006/relationships/image" Target="../media/image5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0.jpe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2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 Id="rId6" Type="http://schemas.openxmlformats.org/officeDocument/2006/relationships/image" Target="../media/image57.gif"/><Relationship Id="rId5" Type="http://schemas.openxmlformats.org/officeDocument/2006/relationships/image" Target="../media/image56.gif"/><Relationship Id="rId4" Type="http://schemas.openxmlformats.org/officeDocument/2006/relationships/image" Target="../media/image55.gif"/></Relationships>
</file>

<file path=ppt/slides/_rels/slide25.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58.gif"/><Relationship Id="rId1" Type="http://schemas.openxmlformats.org/officeDocument/2006/relationships/slideLayout" Target="../slideLayouts/slideLayout2.xml"/><Relationship Id="rId6" Type="http://schemas.openxmlformats.org/officeDocument/2006/relationships/image" Target="../media/image61.gif"/><Relationship Id="rId5" Type="http://schemas.openxmlformats.org/officeDocument/2006/relationships/image" Target="../media/image60.gif"/><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65.gif"/><Relationship Id="rId5" Type="http://schemas.openxmlformats.org/officeDocument/2006/relationships/image" Target="../media/image64.gif"/><Relationship Id="rId4" Type="http://schemas.openxmlformats.org/officeDocument/2006/relationships/image" Target="../media/image63.gif"/></Relationships>
</file>

<file path=ppt/slides/_rels/slide28.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00.png"/><Relationship Id="rId1" Type="http://schemas.openxmlformats.org/officeDocument/2006/relationships/slideLayout" Target="../slideLayouts/slideLayout2.xml"/><Relationship Id="rId4" Type="http://schemas.openxmlformats.org/officeDocument/2006/relationships/image" Target="../media/image67.emf"/></Relationships>
</file>

<file path=ppt/slides/_rels/slide30.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75.gif"/><Relationship Id="rId3" Type="http://schemas.openxmlformats.org/officeDocument/2006/relationships/image" Target="../media/image70.gif"/><Relationship Id="rId7" Type="http://schemas.openxmlformats.org/officeDocument/2006/relationships/image" Target="../media/image74.gif"/><Relationship Id="rId2" Type="http://schemas.openxmlformats.org/officeDocument/2006/relationships/image" Target="../media/image69.gif"/><Relationship Id="rId1" Type="http://schemas.openxmlformats.org/officeDocument/2006/relationships/slideLayout" Target="../slideLayouts/slideLayout2.xml"/><Relationship Id="rId6" Type="http://schemas.openxmlformats.org/officeDocument/2006/relationships/image" Target="../media/image73.gif"/><Relationship Id="rId5" Type="http://schemas.openxmlformats.org/officeDocument/2006/relationships/image" Target="../media/image72.gif"/><Relationship Id="rId4" Type="http://schemas.openxmlformats.org/officeDocument/2006/relationships/image" Target="../media/image71.gif"/><Relationship Id="rId9" Type="http://schemas.openxmlformats.org/officeDocument/2006/relationships/image" Target="../media/image76.gif"/></Relationships>
</file>

<file path=ppt/slides/_rels/slide32.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AE1F67-28F7-715E-D2C3-C1E0D9C57DDF}"/>
              </a:ext>
            </a:extLst>
          </p:cNvPr>
          <p:cNvSpPr>
            <a:spLocks noGrp="1"/>
          </p:cNvSpPr>
          <p:nvPr>
            <p:ph type="ctrTitle"/>
          </p:nvPr>
        </p:nvSpPr>
        <p:spPr>
          <a:xfrm>
            <a:off x="213085" y="537502"/>
            <a:ext cx="8499115" cy="1976513"/>
          </a:xfrm>
        </p:spPr>
        <p:txBody>
          <a:bodyPr>
            <a:normAutofit fontScale="90000"/>
          </a:bodyPr>
          <a:lstStyle/>
          <a:p>
            <a:r>
              <a:rPr lang="en-US" dirty="0"/>
              <a:t>Module 7: The Frame &amp; Wing Structure and Examples</a:t>
            </a:r>
          </a:p>
        </p:txBody>
      </p:sp>
      <p:sp>
        <p:nvSpPr>
          <p:cNvPr id="5" name="Picture Placeholder 4">
            <a:extLst>
              <a:ext uri="{FF2B5EF4-FFF2-40B4-BE49-F238E27FC236}">
                <a16:creationId xmlns:a16="http://schemas.microsoft.com/office/drawing/2014/main" id="{85FE757D-58CA-604E-CDF5-F597A5453EA6}"/>
              </a:ext>
            </a:extLst>
          </p:cNvPr>
          <p:cNvSpPr>
            <a:spLocks noGrp="1"/>
          </p:cNvSpPr>
          <p:nvPr>
            <p:ph type="pic" sz="quarter" idx="13"/>
          </p:nvPr>
        </p:nvSpPr>
        <p:spPr/>
        <p:txBody>
          <a:bodyPr/>
          <a:lstStyle/>
          <a:p>
            <a:endParaRPr lang="en-US"/>
          </a:p>
        </p:txBody>
      </p:sp>
      <p:sp>
        <p:nvSpPr>
          <p:cNvPr id="6" name="Picture Placeholder 5">
            <a:extLst>
              <a:ext uri="{FF2B5EF4-FFF2-40B4-BE49-F238E27FC236}">
                <a16:creationId xmlns:a16="http://schemas.microsoft.com/office/drawing/2014/main" id="{0EDAB9D8-CD52-B5C4-F2FD-B1221C93CFA5}"/>
              </a:ext>
            </a:extLst>
          </p:cNvPr>
          <p:cNvSpPr>
            <a:spLocks noGrp="1"/>
          </p:cNvSpPr>
          <p:nvPr>
            <p:ph type="pic" sz="quarter" idx="14"/>
          </p:nvPr>
        </p:nvSpPr>
        <p:spPr/>
        <p:txBody>
          <a:bodyPr/>
          <a:lstStyle/>
          <a:p>
            <a:endParaRPr lang="en-US"/>
          </a:p>
        </p:txBody>
      </p:sp>
      <p:pic>
        <p:nvPicPr>
          <p:cNvPr id="7" name="Picture Placeholder 5">
            <a:extLst>
              <a:ext uri="{FF2B5EF4-FFF2-40B4-BE49-F238E27FC236}">
                <a16:creationId xmlns:a16="http://schemas.microsoft.com/office/drawing/2014/main" id="{A19FDC88-7C0D-1E97-68F2-24A04AFB73D1}"/>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9523413" y="296863"/>
            <a:ext cx="2262187" cy="1465262"/>
          </a:xfrm>
          <a:prstGeom prst="rect">
            <a:avLst/>
          </a:prstGeom>
          <a:ln w="19050">
            <a:noFill/>
          </a:ln>
        </p:spPr>
      </p:pic>
      <p:pic>
        <p:nvPicPr>
          <p:cNvPr id="8" name="Picture Placeholder 7">
            <a:extLst>
              <a:ext uri="{FF2B5EF4-FFF2-40B4-BE49-F238E27FC236}">
                <a16:creationId xmlns:a16="http://schemas.microsoft.com/office/drawing/2014/main" id="{7B785EB8-7A26-6026-0A30-97EB60EB31AA}"/>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9523413" y="1838325"/>
            <a:ext cx="2262187" cy="1463675"/>
          </a:xfrm>
          <a:prstGeom prst="rect">
            <a:avLst/>
          </a:prstGeom>
          <a:ln w="19050">
            <a:noFill/>
          </a:ln>
        </p:spPr>
      </p:pic>
    </p:spTree>
    <p:extLst>
      <p:ext uri="{BB962C8B-B14F-4D97-AF65-F5344CB8AC3E}">
        <p14:creationId xmlns:p14="http://schemas.microsoft.com/office/powerpoint/2010/main" val="1882771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vert="horz" lIns="91440" tIns="45720" rIns="91440" bIns="45720" rtlCol="0" anchor="t" anchorCtr="0">
            <a:noAutofit/>
          </a:bodyPr>
          <a:lstStyle/>
          <a:p>
            <a:r>
              <a:rPr lang="en-US" dirty="0"/>
              <a:t>Background</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05033" y="939585"/>
            <a:ext cx="7277902" cy="4978829"/>
          </a:xfrm>
        </p:spPr>
        <p:txBody>
          <a:bodyPr>
            <a:normAutofit/>
          </a:bodyPr>
          <a:lstStyle/>
          <a:p>
            <a:r>
              <a:rPr lang="en-US" sz="2000" dirty="0"/>
              <a:t>The substructuring community has a rich history which shares its roots with model reduction and structural modification</a:t>
            </a:r>
          </a:p>
          <a:p>
            <a:r>
              <a:rPr lang="en-US" sz="2000" dirty="0"/>
              <a:t>Each year we see 4-5 sessions on substructuring at IMAC with various topics including:</a:t>
            </a:r>
          </a:p>
          <a:p>
            <a:pPr lvl="1"/>
            <a:r>
              <a:rPr lang="en-US" sz="1800" dirty="0"/>
              <a:t>Component Mode Synthesis</a:t>
            </a:r>
          </a:p>
          <a:p>
            <a:pPr lvl="1"/>
            <a:r>
              <a:rPr lang="en-US" sz="1800" dirty="0"/>
              <a:t>Frequency Based Substructuring</a:t>
            </a:r>
          </a:p>
          <a:p>
            <a:pPr lvl="1"/>
            <a:r>
              <a:rPr lang="en-US" sz="1800" dirty="0"/>
              <a:t>Transfer Path Analysis</a:t>
            </a:r>
          </a:p>
          <a:p>
            <a:pPr lvl="1"/>
            <a:r>
              <a:rPr lang="en-US" sz="1800" dirty="0"/>
              <a:t>Model Reduction</a:t>
            </a:r>
          </a:p>
          <a:p>
            <a:pPr lvl="1"/>
            <a:r>
              <a:rPr lang="en-US" sz="1800" dirty="0"/>
              <a:t>Applications of Substructuring</a:t>
            </a:r>
          </a:p>
          <a:p>
            <a:pPr lvl="1"/>
            <a:r>
              <a:rPr lang="en-US" sz="1800" dirty="0"/>
              <a:t>Real-time Hybrid Substructuring and many more</a:t>
            </a:r>
          </a:p>
          <a:p>
            <a:r>
              <a:rPr lang="en-US" sz="2000" dirty="0"/>
              <a:t>In 2012 the </a:t>
            </a:r>
            <a:r>
              <a:rPr lang="en-US" sz="2000" dirty="0" err="1"/>
              <a:t>AmpAir</a:t>
            </a:r>
            <a:r>
              <a:rPr lang="en-US" sz="2000" dirty="0"/>
              <a:t> 600 Wind Turbine was selected as a round-robin substructuring example that many universities and research groups have studied</a:t>
            </a:r>
          </a:p>
          <a:p>
            <a:pPr>
              <a:buClr>
                <a:srgbClr val="002060"/>
              </a:buClr>
            </a:pPr>
            <a:r>
              <a:rPr lang="en-US" sz="2000" dirty="0"/>
              <a:t>The Dynamic Substructuring focus group continued organizing IMAC sessions and in 2018 it officially became a technical division.</a:t>
            </a:r>
          </a:p>
          <a:p>
            <a:endParaRPr lang="en-US" sz="2000" dirty="0"/>
          </a:p>
        </p:txBody>
      </p:sp>
      <p:pic>
        <p:nvPicPr>
          <p:cNvPr id="6" name="Picture 5">
            <a:extLst>
              <a:ext uri="{FF2B5EF4-FFF2-40B4-BE49-F238E27FC236}">
                <a16:creationId xmlns:a16="http://schemas.microsoft.com/office/drawing/2014/main" id="{96D3749E-A8F1-4E13-AD53-FA20CEF46F8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569331" y="3822700"/>
            <a:ext cx="2968812" cy="2829649"/>
          </a:xfrm>
          <a:prstGeom prst="rect">
            <a:avLst/>
          </a:prstGeom>
        </p:spPr>
      </p:pic>
      <p:pic>
        <p:nvPicPr>
          <p:cNvPr id="8" name="Picture 7">
            <a:extLst>
              <a:ext uri="{FF2B5EF4-FFF2-40B4-BE49-F238E27FC236}">
                <a16:creationId xmlns:a16="http://schemas.microsoft.com/office/drawing/2014/main" id="{E5761AE6-5D89-4BC1-ACC1-EA84F6A86D6B}"/>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7945131" y="370064"/>
            <a:ext cx="3958971" cy="2267023"/>
          </a:xfrm>
          <a:prstGeom prst="rect">
            <a:avLst/>
          </a:prstGeom>
        </p:spPr>
      </p:pic>
      <p:pic>
        <p:nvPicPr>
          <p:cNvPr id="10" name="Picture 9">
            <a:extLst>
              <a:ext uri="{FF2B5EF4-FFF2-40B4-BE49-F238E27FC236}">
                <a16:creationId xmlns:a16="http://schemas.microsoft.com/office/drawing/2014/main" id="{8F7DFD50-96D3-4457-AF5F-2CB20A31362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878856" y="2488279"/>
            <a:ext cx="3570355" cy="1334421"/>
          </a:xfrm>
          <a:prstGeom prst="rect">
            <a:avLst/>
          </a:prstGeom>
        </p:spPr>
      </p:pic>
    </p:spTree>
    <p:extLst>
      <p:ext uri="{BB962C8B-B14F-4D97-AF65-F5344CB8AC3E}">
        <p14:creationId xmlns:p14="http://schemas.microsoft.com/office/powerpoint/2010/main" val="4085721936"/>
      </p:ext>
    </p:extLst>
  </p:cSld>
  <p:clrMapOvr>
    <a:masterClrMapping/>
  </p:clrMapOvr>
  <mc:AlternateContent xmlns:mc="http://schemas.openxmlformats.org/markup-compatibility/2006" xmlns:p14="http://schemas.microsoft.com/office/powerpoint/2010/main">
    <mc:Choice Requires="p14">
      <p:transition spd="med" p14:dur="700" advTm="87278">
        <p:fade/>
      </p:transition>
    </mc:Choice>
    <mc:Fallback xmlns="">
      <p:transition spd="med" advTm="87278">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a:normAutofit fontScale="90000"/>
          </a:bodyPr>
          <a:lstStyle/>
          <a:p>
            <a:r>
              <a:rPr lang="en-US" dirty="0"/>
              <a:t>Round-Robin Challenge</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05032" y="1007533"/>
            <a:ext cx="11807568" cy="5105399"/>
          </a:xfrm>
        </p:spPr>
        <p:txBody>
          <a:bodyPr>
            <a:normAutofit lnSpcReduction="10000"/>
          </a:bodyPr>
          <a:lstStyle/>
          <a:p>
            <a:r>
              <a:rPr lang="en-US" sz="2600" dirty="0"/>
              <a:t>The Technical Division on Dynamic Substructuring has </a:t>
            </a:r>
            <a:br>
              <a:rPr lang="en-US" sz="2600" dirty="0"/>
            </a:br>
            <a:r>
              <a:rPr lang="en-US" sz="2600" dirty="0"/>
              <a:t>formed a team to begin creating a new round-robin challenge </a:t>
            </a:r>
            <a:br>
              <a:rPr lang="en-US" sz="2600" dirty="0"/>
            </a:br>
            <a:r>
              <a:rPr lang="en-US" sz="2600" dirty="0"/>
              <a:t>for researchers to utilize</a:t>
            </a:r>
          </a:p>
          <a:p>
            <a:r>
              <a:rPr lang="en-US" sz="2600" dirty="0"/>
              <a:t>To develop a structure that suits everyone’s needs the team </a:t>
            </a:r>
            <a:br>
              <a:rPr lang="en-US" sz="2600" dirty="0"/>
            </a:br>
            <a:r>
              <a:rPr lang="en-US" sz="2600" dirty="0"/>
              <a:t>assembled a list of desired qualities that the round-robin </a:t>
            </a:r>
            <a:br>
              <a:rPr lang="en-US" sz="2600" dirty="0"/>
            </a:br>
            <a:r>
              <a:rPr lang="en-US" sz="2600" dirty="0"/>
              <a:t>challenge structure should have:</a:t>
            </a:r>
          </a:p>
          <a:p>
            <a:pPr lvl="1"/>
            <a:r>
              <a:rPr lang="en-US" dirty="0"/>
              <a:t>Interfaces challenging and suited for both FBS and CMS techniques</a:t>
            </a:r>
          </a:p>
          <a:p>
            <a:pPr lvl="1"/>
            <a:r>
              <a:rPr lang="en-US" dirty="0"/>
              <a:t>Simpler system than the </a:t>
            </a:r>
            <a:r>
              <a:rPr lang="en-US" dirty="0" err="1"/>
              <a:t>Ampair</a:t>
            </a:r>
            <a:r>
              <a:rPr lang="en-US" dirty="0"/>
              <a:t> with more similar dynamics between substructures</a:t>
            </a:r>
          </a:p>
          <a:p>
            <a:pPr lvl="1"/>
            <a:r>
              <a:rPr lang="en-US" dirty="0"/>
              <a:t>Potential for future circular transfer paths</a:t>
            </a:r>
          </a:p>
          <a:p>
            <a:pPr lvl="1"/>
            <a:r>
              <a:rPr lang="en-US" dirty="0"/>
              <a:t>Repeatability designed into the interfaces</a:t>
            </a:r>
          </a:p>
          <a:p>
            <a:pPr lvl="1"/>
            <a:r>
              <a:rPr lang="en-US" dirty="0"/>
              <a:t>Nonlinear dynamics due to joints in the structure should be minimized</a:t>
            </a:r>
          </a:p>
          <a:p>
            <a:pPr lvl="1"/>
            <a:r>
              <a:rPr lang="en-US" dirty="0"/>
              <a:t>Something that is easy to manufacture and transport</a:t>
            </a:r>
          </a:p>
          <a:p>
            <a:pPr lvl="1"/>
            <a:r>
              <a:rPr lang="en-US" dirty="0"/>
              <a:t>Structure that is simple to test</a:t>
            </a:r>
          </a:p>
          <a:p>
            <a:pPr lvl="1"/>
            <a:endParaRPr lang="en-US" dirty="0"/>
          </a:p>
          <a:p>
            <a:pPr lvl="1"/>
            <a:endParaRPr lang="en-US" sz="1800" dirty="0"/>
          </a:p>
          <a:p>
            <a:endParaRPr lang="en-US" sz="1800" dirty="0"/>
          </a:p>
          <a:p>
            <a:pPr indent="0">
              <a:buNone/>
            </a:pPr>
            <a:endParaRPr lang="en-US" sz="1800" dirty="0"/>
          </a:p>
          <a:p>
            <a:endParaRPr lang="en-US" sz="1800" dirty="0"/>
          </a:p>
        </p:txBody>
      </p:sp>
      <p:pic>
        <p:nvPicPr>
          <p:cNvPr id="7" name="Picture 6">
            <a:extLst>
              <a:ext uri="{FF2B5EF4-FFF2-40B4-BE49-F238E27FC236}">
                <a16:creationId xmlns:a16="http://schemas.microsoft.com/office/drawing/2014/main" id="{7DDE8CDE-C902-4F6A-B2B1-65A0DCBC9DE8}"/>
              </a:ext>
            </a:extLst>
          </p:cNvPr>
          <p:cNvPicPr>
            <a:picLocks noChangeAspect="1"/>
          </p:cNvPicPr>
          <p:nvPr/>
        </p:nvPicPr>
        <p:blipFill>
          <a:blip r:embed="rId2"/>
          <a:stretch>
            <a:fillRect/>
          </a:stretch>
        </p:blipFill>
        <p:spPr>
          <a:xfrm>
            <a:off x="8542705" y="606671"/>
            <a:ext cx="3369895" cy="2246597"/>
          </a:xfrm>
          <a:prstGeom prst="rect">
            <a:avLst/>
          </a:prstGeom>
        </p:spPr>
      </p:pic>
    </p:spTree>
    <p:extLst>
      <p:ext uri="{BB962C8B-B14F-4D97-AF65-F5344CB8AC3E}">
        <p14:creationId xmlns:p14="http://schemas.microsoft.com/office/powerpoint/2010/main" val="184100027"/>
      </p:ext>
    </p:extLst>
  </p:cSld>
  <p:clrMapOvr>
    <a:masterClrMapping/>
  </p:clrMapOvr>
  <mc:AlternateContent xmlns:mc="http://schemas.openxmlformats.org/markup-compatibility/2006" xmlns:p14="http://schemas.microsoft.com/office/powerpoint/2010/main">
    <mc:Choice Requires="p14">
      <p:transition spd="med" p14:dur="700" advTm="90382">
        <p:fade/>
      </p:transition>
    </mc:Choice>
    <mc:Fallback xmlns="">
      <p:transition spd="med" advTm="90382">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BD4B9-A4CC-431A-8051-7FDDD145D1CF}"/>
              </a:ext>
            </a:extLst>
          </p:cNvPr>
          <p:cNvSpPr>
            <a:spLocks noGrp="1"/>
          </p:cNvSpPr>
          <p:nvPr>
            <p:ph type="title"/>
          </p:nvPr>
        </p:nvSpPr>
        <p:spPr/>
        <p:txBody>
          <a:bodyPr>
            <a:normAutofit fontScale="90000"/>
          </a:bodyPr>
          <a:lstStyle/>
          <a:p>
            <a:r>
              <a:rPr lang="en-US" dirty="0"/>
              <a:t>Experimental Substructure (Four-unit frame)</a:t>
            </a:r>
          </a:p>
        </p:txBody>
      </p:sp>
      <p:sp>
        <p:nvSpPr>
          <p:cNvPr id="3" name="Content Placeholder 2">
            <a:extLst>
              <a:ext uri="{FF2B5EF4-FFF2-40B4-BE49-F238E27FC236}">
                <a16:creationId xmlns:a16="http://schemas.microsoft.com/office/drawing/2014/main" id="{F6C53812-30BF-BA70-EE9B-E0C297934853}"/>
              </a:ext>
            </a:extLst>
          </p:cNvPr>
          <p:cNvSpPr>
            <a:spLocks noGrp="1"/>
          </p:cNvSpPr>
          <p:nvPr>
            <p:ph idx="1"/>
          </p:nvPr>
        </p:nvSpPr>
        <p:spPr>
          <a:xfrm>
            <a:off x="245709" y="1095432"/>
            <a:ext cx="8623124" cy="2154534"/>
          </a:xfrm>
        </p:spPr>
        <p:txBody>
          <a:bodyPr>
            <a:normAutofit fontScale="92500" lnSpcReduction="10000"/>
          </a:bodyPr>
          <a:lstStyle/>
          <a:p>
            <a:r>
              <a:rPr lang="en-US" sz="2800" dirty="0"/>
              <a:t>Team developed four unit frame with key features</a:t>
            </a:r>
          </a:p>
          <a:p>
            <a:pPr lvl="1"/>
            <a:r>
              <a:rPr lang="en-US" dirty="0"/>
              <a:t>Manufactured from one piece of metal of stock</a:t>
            </a:r>
          </a:p>
          <a:p>
            <a:pPr lvl="1"/>
            <a:r>
              <a:rPr lang="en-US" dirty="0"/>
              <a:t>Subcomponent and shaker attachment points machined into frame</a:t>
            </a:r>
          </a:p>
          <a:p>
            <a:pPr lvl="1"/>
            <a:r>
              <a:rPr lang="en-US" dirty="0"/>
              <a:t>Adaptable to many types of studies</a:t>
            </a:r>
          </a:p>
          <a:p>
            <a:pPr lvl="1"/>
            <a:r>
              <a:rPr lang="en-US" dirty="0"/>
              <a:t>Possible circular/recursive transfer path</a:t>
            </a:r>
          </a:p>
          <a:p>
            <a:pPr lvl="1"/>
            <a:r>
              <a:rPr lang="en-US" dirty="0"/>
              <a:t>Large enough to minimize error due to mass loading</a:t>
            </a:r>
          </a:p>
        </p:txBody>
      </p:sp>
      <p:pic>
        <p:nvPicPr>
          <p:cNvPr id="4" name="Picture 3">
            <a:extLst>
              <a:ext uri="{FF2B5EF4-FFF2-40B4-BE49-F238E27FC236}">
                <a16:creationId xmlns:a16="http://schemas.microsoft.com/office/drawing/2014/main" id="{4CC58232-E221-4167-858E-1A74C8C9395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726037" y="3181495"/>
            <a:ext cx="6352518" cy="3096853"/>
          </a:xfrm>
          <a:prstGeom prst="rect">
            <a:avLst/>
          </a:prstGeom>
        </p:spPr>
      </p:pic>
      <p:sp>
        <p:nvSpPr>
          <p:cNvPr id="115" name="TextBox 114">
            <a:extLst>
              <a:ext uri="{FF2B5EF4-FFF2-40B4-BE49-F238E27FC236}">
                <a16:creationId xmlns:a16="http://schemas.microsoft.com/office/drawing/2014/main" id="{682BE885-FDA9-4A5A-A0AE-D7C6215209D9}"/>
              </a:ext>
            </a:extLst>
          </p:cNvPr>
          <p:cNvSpPr txBox="1"/>
          <p:nvPr/>
        </p:nvSpPr>
        <p:spPr>
          <a:xfrm>
            <a:off x="2541554" y="6278349"/>
            <a:ext cx="47299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Shown is a 3-unit frame (final design has 4 units)</a:t>
            </a:r>
          </a:p>
        </p:txBody>
      </p:sp>
      <p:pic>
        <p:nvPicPr>
          <p:cNvPr id="7" name="Picture 6">
            <a:extLst>
              <a:ext uri="{FF2B5EF4-FFF2-40B4-BE49-F238E27FC236}">
                <a16:creationId xmlns:a16="http://schemas.microsoft.com/office/drawing/2014/main" id="{6ADB87AB-885C-1B26-B9D4-C5DA130BB51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6200000">
            <a:off x="7445355" y="2675545"/>
            <a:ext cx="5182917" cy="2022689"/>
          </a:xfrm>
          <a:prstGeom prst="rect">
            <a:avLst/>
          </a:prstGeom>
        </p:spPr>
      </p:pic>
    </p:spTree>
    <p:extLst>
      <p:ext uri="{BB962C8B-B14F-4D97-AF65-F5344CB8AC3E}">
        <p14:creationId xmlns:p14="http://schemas.microsoft.com/office/powerpoint/2010/main" val="1639199300"/>
      </p:ext>
    </p:extLst>
  </p:cSld>
  <p:clrMapOvr>
    <a:masterClrMapping/>
  </p:clrMapOvr>
  <mc:AlternateContent xmlns:mc="http://schemas.openxmlformats.org/markup-compatibility/2006" xmlns:p14="http://schemas.microsoft.com/office/powerpoint/2010/main">
    <mc:Choice Requires="p14">
      <p:transition spd="med" p14:dur="700" advTm="88857">
        <p:fade/>
      </p:transition>
    </mc:Choice>
    <mc:Fallback xmlns="">
      <p:transition spd="med" advTm="88857">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AF90-9985-450C-871B-E1FCBA3A588D}"/>
              </a:ext>
            </a:extLst>
          </p:cNvPr>
          <p:cNvSpPr>
            <a:spLocks noGrp="1"/>
          </p:cNvSpPr>
          <p:nvPr>
            <p:ph type="title"/>
          </p:nvPr>
        </p:nvSpPr>
        <p:spPr/>
        <p:txBody>
          <a:bodyPr>
            <a:normAutofit fontScale="90000"/>
          </a:bodyPr>
          <a:lstStyle/>
          <a:p>
            <a:r>
              <a:rPr lang="en-US" dirty="0"/>
              <a:t>What is the “truth” answer?</a:t>
            </a:r>
          </a:p>
        </p:txBody>
      </p:sp>
      <p:sp>
        <p:nvSpPr>
          <p:cNvPr id="3" name="Content Placeholder 2">
            <a:extLst>
              <a:ext uri="{FF2B5EF4-FFF2-40B4-BE49-F238E27FC236}">
                <a16:creationId xmlns:a16="http://schemas.microsoft.com/office/drawing/2014/main" id="{9AAFC752-158A-4E4C-9408-3AA810B98094}"/>
              </a:ext>
            </a:extLst>
          </p:cNvPr>
          <p:cNvSpPr>
            <a:spLocks noGrp="1"/>
          </p:cNvSpPr>
          <p:nvPr>
            <p:ph idx="1"/>
          </p:nvPr>
        </p:nvSpPr>
        <p:spPr>
          <a:xfrm>
            <a:off x="1" y="1120238"/>
            <a:ext cx="12191999" cy="4473040"/>
          </a:xfrm>
        </p:spPr>
        <p:txBody>
          <a:bodyPr>
            <a:normAutofit fontScale="92500"/>
          </a:bodyPr>
          <a:lstStyle/>
          <a:p>
            <a:r>
              <a:rPr lang="en-US" dirty="0"/>
              <a:t>Truth depends on a lot of factors:</a:t>
            </a:r>
          </a:p>
          <a:p>
            <a:pPr lvl="1"/>
            <a:r>
              <a:rPr lang="en-US" dirty="0"/>
              <a:t>Assembly procedure</a:t>
            </a:r>
          </a:p>
          <a:p>
            <a:pPr lvl="1"/>
            <a:r>
              <a:rPr lang="en-US" dirty="0"/>
              <a:t>Frequency range of interest</a:t>
            </a:r>
          </a:p>
          <a:p>
            <a:pPr lvl="1"/>
            <a:r>
              <a:rPr lang="en-US" dirty="0"/>
              <a:t>Linearity of joints</a:t>
            </a:r>
          </a:p>
          <a:p>
            <a:pPr lvl="1"/>
            <a:r>
              <a:rPr lang="en-US" dirty="0"/>
              <a:t>And other factors…</a:t>
            </a:r>
          </a:p>
          <a:p>
            <a:r>
              <a:rPr lang="en-US" dirty="0"/>
              <a:t>The goal of this round-robin isn’t to see which method is the closest to truth</a:t>
            </a:r>
          </a:p>
          <a:p>
            <a:r>
              <a:rPr lang="en-US" dirty="0"/>
              <a:t>Instead… Round-Robin goals include:</a:t>
            </a:r>
          </a:p>
          <a:p>
            <a:pPr lvl="1"/>
            <a:r>
              <a:rPr lang="en-US" dirty="0"/>
              <a:t>Fostering collaboration between universities and industrial researchers</a:t>
            </a:r>
          </a:p>
          <a:p>
            <a:pPr lvl="1"/>
            <a:r>
              <a:rPr lang="en-US" dirty="0"/>
              <a:t>Help researchers focus on how to best approach a substructuring problem when truth is unknown</a:t>
            </a:r>
          </a:p>
          <a:p>
            <a:pPr lvl="1"/>
            <a:r>
              <a:rPr lang="en-US" dirty="0"/>
              <a:t>Discuss different approaches taken and why some are more suited for specific connection interfaces</a:t>
            </a:r>
          </a:p>
          <a:p>
            <a:pPr lvl="1"/>
            <a:r>
              <a:rPr lang="en-US" dirty="0"/>
              <a:t>See range of blind predictions to understand the range of answer found using substructuring practices</a:t>
            </a:r>
          </a:p>
        </p:txBody>
      </p:sp>
      <p:sp>
        <p:nvSpPr>
          <p:cNvPr id="5" name="Text Box 117">
            <a:extLst>
              <a:ext uri="{FF2B5EF4-FFF2-40B4-BE49-F238E27FC236}">
                <a16:creationId xmlns:a16="http://schemas.microsoft.com/office/drawing/2014/main" id="{1B435E38-4F02-43C2-9935-3ADD81D4AC74}"/>
              </a:ext>
            </a:extLst>
          </p:cNvPr>
          <p:cNvSpPr txBox="1">
            <a:spLocks noChangeArrowheads="1"/>
          </p:cNvSpPr>
          <p:nvPr/>
        </p:nvSpPr>
        <p:spPr bwMode="auto">
          <a:xfrm>
            <a:off x="2132120" y="5661926"/>
            <a:ext cx="7927759" cy="369332"/>
          </a:xfrm>
          <a:prstGeom prst="rect">
            <a:avLst/>
          </a:prstGeom>
          <a:solidFill>
            <a:schemeClr val="tx2"/>
          </a:solidFill>
          <a:ln w="25400">
            <a:solidFill>
              <a:schemeClr val="tx2"/>
            </a:solidFill>
            <a:miter lim="800000"/>
            <a:headEnd/>
            <a:tailEnd/>
          </a:ln>
          <a:effectLst/>
        </p:spPr>
        <p:txBody>
          <a:bodyPr wrap="square">
            <a:spAutoFit/>
          </a:bodyPr>
          <a:ls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marL="0" marR="0" lvl="0" indent="0" algn="ctr" defTabSz="457200"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Arial" panose="020B0604020202020204" pitchFamily="34" charset="0"/>
              </a:rPr>
              <a:t>It depends… but we can learn a lot by comparing and collaborating on methods</a:t>
            </a:r>
          </a:p>
        </p:txBody>
      </p:sp>
      <p:pic>
        <p:nvPicPr>
          <p:cNvPr id="1028" name="Picture 4" descr="Image result for question mark screen bean">
            <a:extLst>
              <a:ext uri="{FF2B5EF4-FFF2-40B4-BE49-F238E27FC236}">
                <a16:creationId xmlns:a16="http://schemas.microsoft.com/office/drawing/2014/main" id="{87AF63B8-A732-4CF7-849B-C46A6BF102AE}"/>
              </a:ext>
            </a:extLst>
          </p:cNvPr>
          <p:cNvPicPr>
            <a:picLocks noChangeAspect="1" noChangeArrowheads="1"/>
          </p:cNvPicPr>
          <p:nvPr/>
        </p:nvPicPr>
        <p:blipFill>
          <a:blip r:embed="rId2">
            <a:clrChange>
              <a:clrFrom>
                <a:srgbClr val="F9F9F9"/>
              </a:clrFrom>
              <a:clrTo>
                <a:srgbClr val="F9F9F9">
                  <a:alpha val="0"/>
                </a:srgbClr>
              </a:clrTo>
            </a:clrChange>
            <a:extLst>
              <a:ext uri="{28A0092B-C50C-407E-A947-70E740481C1C}">
                <a14:useLocalDpi xmlns:a14="http://schemas.microsoft.com/office/drawing/2010/main"/>
              </a:ext>
            </a:extLst>
          </a:blip>
          <a:srcRect/>
          <a:stretch>
            <a:fillRect/>
          </a:stretch>
        </p:blipFill>
        <p:spPr bwMode="auto">
          <a:xfrm>
            <a:off x="9130036" y="352610"/>
            <a:ext cx="2513702" cy="2623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861524"/>
      </p:ext>
    </p:extLst>
  </p:cSld>
  <p:clrMapOvr>
    <a:masterClrMapping/>
  </p:clrMapOvr>
  <mc:AlternateContent xmlns:mc="http://schemas.openxmlformats.org/markup-compatibility/2006" xmlns:p14="http://schemas.microsoft.com/office/powerpoint/2010/main">
    <mc:Choice Requires="p14">
      <p:transition spd="med" p14:dur="700" advTm="99218">
        <p:fade/>
      </p:transition>
    </mc:Choice>
    <mc:Fallback xmlns="">
      <p:transition spd="med" advTm="9921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Trial Run</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1" y="939585"/>
            <a:ext cx="11701735" cy="1576621"/>
          </a:xfrm>
        </p:spPr>
        <p:txBody>
          <a:bodyPr>
            <a:normAutofit/>
          </a:bodyPr>
          <a:lstStyle/>
          <a:p>
            <a:r>
              <a:rPr lang="en-US" sz="2600" dirty="0"/>
              <a:t>SNL performed a trial run on the “original design” system </a:t>
            </a:r>
          </a:p>
          <a:p>
            <a:pPr lvl="1"/>
            <a:r>
              <a:rPr lang="en-US" sz="2200" dirty="0"/>
              <a:t>Initially presented results from a numerical study performed while designing the system.</a:t>
            </a:r>
          </a:p>
          <a:p>
            <a:pPr lvl="1"/>
            <a:r>
              <a:rPr lang="en-US" sz="2200" dirty="0"/>
              <a:t>Then performed experimental analytical hybrid substructuring using the transmission simulator method to connect the 4-unit frame with an analytical model of the rectangular wing.</a:t>
            </a:r>
            <a:endParaRPr lang="en-US" sz="2200" b="1" dirty="0"/>
          </a:p>
        </p:txBody>
      </p:sp>
      <p:sp>
        <p:nvSpPr>
          <p:cNvPr id="8" name="Rectangle 7">
            <a:extLst>
              <a:ext uri="{FF2B5EF4-FFF2-40B4-BE49-F238E27FC236}">
                <a16:creationId xmlns:a16="http://schemas.microsoft.com/office/drawing/2014/main" id="{CEAEB426-25F8-4701-AEBB-57C946E37CA0}"/>
              </a:ext>
            </a:extLst>
          </p:cNvPr>
          <p:cNvSpPr/>
          <p:nvPr/>
        </p:nvSpPr>
        <p:spPr>
          <a:xfrm>
            <a:off x="319367" y="3647173"/>
            <a:ext cx="3460735" cy="12783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2" name="Rectangle 11">
            <a:extLst>
              <a:ext uri="{FF2B5EF4-FFF2-40B4-BE49-F238E27FC236}">
                <a16:creationId xmlns:a16="http://schemas.microsoft.com/office/drawing/2014/main" id="{F905B209-BC43-488B-BDF7-959BFB92772A}"/>
              </a:ext>
            </a:extLst>
          </p:cNvPr>
          <p:cNvSpPr/>
          <p:nvPr/>
        </p:nvSpPr>
        <p:spPr>
          <a:xfrm>
            <a:off x="525033"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3" name="Rectangle 12">
            <a:extLst>
              <a:ext uri="{FF2B5EF4-FFF2-40B4-BE49-F238E27FC236}">
                <a16:creationId xmlns:a16="http://schemas.microsoft.com/office/drawing/2014/main" id="{76DAC38F-3E6D-4FEB-8316-DF095DF2B7AC}"/>
              </a:ext>
            </a:extLst>
          </p:cNvPr>
          <p:cNvSpPr/>
          <p:nvPr/>
        </p:nvSpPr>
        <p:spPr>
          <a:xfrm>
            <a:off x="1331344"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4" name="Rectangle 13">
            <a:extLst>
              <a:ext uri="{FF2B5EF4-FFF2-40B4-BE49-F238E27FC236}">
                <a16:creationId xmlns:a16="http://schemas.microsoft.com/office/drawing/2014/main" id="{F63554AF-DB04-42EC-B92F-0791F49AF713}"/>
              </a:ext>
            </a:extLst>
          </p:cNvPr>
          <p:cNvSpPr/>
          <p:nvPr/>
        </p:nvSpPr>
        <p:spPr>
          <a:xfrm>
            <a:off x="2151788"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5" name="Rectangle 14">
            <a:extLst>
              <a:ext uri="{FF2B5EF4-FFF2-40B4-BE49-F238E27FC236}">
                <a16:creationId xmlns:a16="http://schemas.microsoft.com/office/drawing/2014/main" id="{B01B38B9-CA40-49AF-92E3-C3FE9CB1A328}"/>
              </a:ext>
            </a:extLst>
          </p:cNvPr>
          <p:cNvSpPr/>
          <p:nvPr/>
        </p:nvSpPr>
        <p:spPr>
          <a:xfrm>
            <a:off x="2972232" y="3832864"/>
            <a:ext cx="600645" cy="9070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rebuchet MS" panose="020B0603020202020204"/>
              <a:ea typeface="+mn-ea"/>
              <a:cs typeface="+mn-cs"/>
            </a:endParaRPr>
          </a:p>
        </p:txBody>
      </p:sp>
      <p:sp>
        <p:nvSpPr>
          <p:cNvPr id="10" name="Rectangle 9">
            <a:extLst>
              <a:ext uri="{FF2B5EF4-FFF2-40B4-BE49-F238E27FC236}">
                <a16:creationId xmlns:a16="http://schemas.microsoft.com/office/drawing/2014/main" id="{AF6A79B0-DC4C-481D-8EBA-9A1944AD4AC2}"/>
              </a:ext>
            </a:extLst>
          </p:cNvPr>
          <p:cNvSpPr/>
          <p:nvPr/>
        </p:nvSpPr>
        <p:spPr>
          <a:xfrm>
            <a:off x="1931989" y="3647173"/>
            <a:ext cx="1040243" cy="127838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6" name="Rectangle 15">
            <a:extLst>
              <a:ext uri="{FF2B5EF4-FFF2-40B4-BE49-F238E27FC236}">
                <a16:creationId xmlns:a16="http://schemas.microsoft.com/office/drawing/2014/main" id="{19226DA3-6835-46BA-987E-9E971C59F845}"/>
              </a:ext>
            </a:extLst>
          </p:cNvPr>
          <p:cNvSpPr/>
          <p:nvPr/>
        </p:nvSpPr>
        <p:spPr>
          <a:xfrm>
            <a:off x="4935448" y="3642940"/>
            <a:ext cx="1040243" cy="127838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7" name="Rectangle 16">
            <a:extLst>
              <a:ext uri="{FF2B5EF4-FFF2-40B4-BE49-F238E27FC236}">
                <a16:creationId xmlns:a16="http://schemas.microsoft.com/office/drawing/2014/main" id="{DB006518-B526-41E8-A991-97A39F2661BD}"/>
              </a:ext>
            </a:extLst>
          </p:cNvPr>
          <p:cNvSpPr/>
          <p:nvPr/>
        </p:nvSpPr>
        <p:spPr>
          <a:xfrm>
            <a:off x="7179394" y="2528882"/>
            <a:ext cx="1040243" cy="35076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18" name="TextBox 17">
            <a:extLst>
              <a:ext uri="{FF2B5EF4-FFF2-40B4-BE49-F238E27FC236}">
                <a16:creationId xmlns:a16="http://schemas.microsoft.com/office/drawing/2014/main" id="{BA6D80FB-F804-4D89-9146-F44B1F7D11F2}"/>
              </a:ext>
            </a:extLst>
          </p:cNvPr>
          <p:cNvSpPr txBox="1"/>
          <p:nvPr/>
        </p:nvSpPr>
        <p:spPr>
          <a:xfrm>
            <a:off x="3778544" y="3929335"/>
            <a:ext cx="115690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
        <p:nvSpPr>
          <p:cNvPr id="19" name="TextBox 18">
            <a:extLst>
              <a:ext uri="{FF2B5EF4-FFF2-40B4-BE49-F238E27FC236}">
                <a16:creationId xmlns:a16="http://schemas.microsoft.com/office/drawing/2014/main" id="{7C2133CB-0482-49D8-8B54-257E42C28150}"/>
              </a:ext>
            </a:extLst>
          </p:cNvPr>
          <p:cNvSpPr txBox="1"/>
          <p:nvPr/>
        </p:nvSpPr>
        <p:spPr>
          <a:xfrm>
            <a:off x="5986121" y="3937801"/>
            <a:ext cx="118284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
        <p:nvSpPr>
          <p:cNvPr id="20" name="TextBox 19">
            <a:extLst>
              <a:ext uri="{FF2B5EF4-FFF2-40B4-BE49-F238E27FC236}">
                <a16:creationId xmlns:a16="http://schemas.microsoft.com/office/drawing/2014/main" id="{F6A1AD91-2B36-4EAD-9767-A18419CDA806}"/>
              </a:ext>
            </a:extLst>
          </p:cNvPr>
          <p:cNvSpPr txBox="1"/>
          <p:nvPr/>
        </p:nvSpPr>
        <p:spPr>
          <a:xfrm>
            <a:off x="317810" y="5099009"/>
            <a:ext cx="346073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Experiment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
        <p:nvSpPr>
          <p:cNvPr id="21" name="TextBox 20">
            <a:extLst>
              <a:ext uri="{FF2B5EF4-FFF2-40B4-BE49-F238E27FC236}">
                <a16:creationId xmlns:a16="http://schemas.microsoft.com/office/drawing/2014/main" id="{C793CEAD-3C2C-417F-9EE3-A5A8FCBA5171}"/>
              </a:ext>
            </a:extLst>
          </p:cNvPr>
          <p:cNvSpPr txBox="1"/>
          <p:nvPr/>
        </p:nvSpPr>
        <p:spPr>
          <a:xfrm>
            <a:off x="5061969" y="5538996"/>
            <a:ext cx="1287634"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FEM</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cxnSp>
        <p:nvCxnSpPr>
          <p:cNvPr id="24" name="Straight Arrow Connector 23">
            <a:extLst>
              <a:ext uri="{FF2B5EF4-FFF2-40B4-BE49-F238E27FC236}">
                <a16:creationId xmlns:a16="http://schemas.microsoft.com/office/drawing/2014/main" id="{B3BCC58C-6C16-414B-ADDA-281F25D99908}"/>
              </a:ext>
            </a:extLst>
          </p:cNvPr>
          <p:cNvCxnSpPr>
            <a:cxnSpLocks/>
            <a:stCxn id="21" idx="0"/>
          </p:cNvCxnSpPr>
          <p:nvPr/>
        </p:nvCxnSpPr>
        <p:spPr>
          <a:xfrm flipH="1" flipV="1">
            <a:off x="5519811" y="4986620"/>
            <a:ext cx="185975" cy="55237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3D32722-DA15-45C4-928B-A3BE4A807E09}"/>
              </a:ext>
            </a:extLst>
          </p:cNvPr>
          <p:cNvCxnSpPr>
            <a:cxnSpLocks/>
            <a:stCxn id="21" idx="3"/>
          </p:cNvCxnSpPr>
          <p:nvPr/>
        </p:nvCxnSpPr>
        <p:spPr>
          <a:xfrm flipV="1">
            <a:off x="6349603" y="5732344"/>
            <a:ext cx="709262" cy="12981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64613504-CF39-28F4-E2A7-1552F5E6776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rot="5400000">
            <a:off x="8809523" y="3211542"/>
            <a:ext cx="3070294" cy="2148720"/>
          </a:xfrm>
          <a:prstGeom prst="rect">
            <a:avLst/>
          </a:prstGeom>
        </p:spPr>
      </p:pic>
      <p:sp>
        <p:nvSpPr>
          <p:cNvPr id="4" name="TextBox 3">
            <a:extLst>
              <a:ext uri="{FF2B5EF4-FFF2-40B4-BE49-F238E27FC236}">
                <a16:creationId xmlns:a16="http://schemas.microsoft.com/office/drawing/2014/main" id="{72D58A5D-517C-76D2-5586-7CF535A3D68E}"/>
              </a:ext>
            </a:extLst>
          </p:cNvPr>
          <p:cNvSpPr txBox="1"/>
          <p:nvPr/>
        </p:nvSpPr>
        <p:spPr>
          <a:xfrm>
            <a:off x="8230067" y="3933567"/>
            <a:ext cx="1040243"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Trebuchet MS" panose="020B0603020202020204"/>
                <a:ea typeface="+mn-ea"/>
                <a:cs typeface="+mn-cs"/>
              </a:rPr>
              <a:t>=</a:t>
            </a:r>
            <a:endPar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125869183"/>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Trial Results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70399" y="799306"/>
            <a:ext cx="11337324" cy="4978829"/>
          </a:xfrm>
        </p:spPr>
        <p:txBody>
          <a:bodyPr>
            <a:normAutofit/>
          </a:bodyPr>
          <a:lstStyle/>
          <a:p>
            <a:pPr lvl="1"/>
            <a:r>
              <a:rPr lang="en-US" dirty="0"/>
              <a:t>Results were compared to an updated truth FEM model</a:t>
            </a:r>
          </a:p>
          <a:p>
            <a:pPr lvl="2"/>
            <a:endParaRPr lang="en-US" dirty="0"/>
          </a:p>
          <a:p>
            <a:pPr marL="201159" lvl="1" indent="0">
              <a:buNone/>
            </a:pPr>
            <a:endParaRPr lang="en-US" b="1" dirty="0"/>
          </a:p>
        </p:txBody>
      </p:sp>
      <p:pic>
        <p:nvPicPr>
          <p:cNvPr id="26" name="Picture 25">
            <a:extLst>
              <a:ext uri="{FF2B5EF4-FFF2-40B4-BE49-F238E27FC236}">
                <a16:creationId xmlns:a16="http://schemas.microsoft.com/office/drawing/2014/main" id="{165EB052-9D02-4CE7-A894-33DD3C176EF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25244" t="29444" r="26968" b="32222"/>
          <a:stretch/>
        </p:blipFill>
        <p:spPr>
          <a:xfrm>
            <a:off x="5781907" y="1521516"/>
            <a:ext cx="2876199" cy="1301362"/>
          </a:xfrm>
          <a:prstGeom prst="rect">
            <a:avLst/>
          </a:prstGeom>
        </p:spPr>
      </p:pic>
      <p:pic>
        <p:nvPicPr>
          <p:cNvPr id="27" name="Picture 26">
            <a:extLst>
              <a:ext uri="{FF2B5EF4-FFF2-40B4-BE49-F238E27FC236}">
                <a16:creationId xmlns:a16="http://schemas.microsoft.com/office/drawing/2014/main" id="{1F0A0F77-2373-42B7-9A37-5B66819ED79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834" t="28228" r="25244" b="29583"/>
          <a:stretch/>
        </p:blipFill>
        <p:spPr>
          <a:xfrm>
            <a:off x="5781907" y="2896258"/>
            <a:ext cx="3076576" cy="1437732"/>
          </a:xfrm>
          <a:prstGeom prst="rect">
            <a:avLst/>
          </a:prstGeom>
        </p:spPr>
      </p:pic>
      <p:pic>
        <p:nvPicPr>
          <p:cNvPr id="28" name="Picture 27">
            <a:extLst>
              <a:ext uri="{FF2B5EF4-FFF2-40B4-BE49-F238E27FC236}">
                <a16:creationId xmlns:a16="http://schemas.microsoft.com/office/drawing/2014/main" id="{0CC08F56-1A43-45FA-852D-70F5BC13DFD1}"/>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24303" t="26944" r="25872" b="29583"/>
          <a:stretch/>
        </p:blipFill>
        <p:spPr>
          <a:xfrm>
            <a:off x="8967652" y="1521516"/>
            <a:ext cx="3076577" cy="1514101"/>
          </a:xfrm>
          <a:prstGeom prst="rect">
            <a:avLst/>
          </a:prstGeom>
        </p:spPr>
      </p:pic>
      <p:pic>
        <p:nvPicPr>
          <p:cNvPr id="29" name="Picture 28">
            <a:extLst>
              <a:ext uri="{FF2B5EF4-FFF2-40B4-BE49-F238E27FC236}">
                <a16:creationId xmlns:a16="http://schemas.microsoft.com/office/drawing/2014/main" id="{23E7EAAB-35E6-4F76-835C-2166588883C3}"/>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27447" t="29444" r="29007" b="28055"/>
          <a:stretch/>
        </p:blipFill>
        <p:spPr>
          <a:xfrm>
            <a:off x="5982284" y="4583320"/>
            <a:ext cx="2876199" cy="1583380"/>
          </a:xfrm>
          <a:prstGeom prst="rect">
            <a:avLst/>
          </a:prstGeom>
        </p:spPr>
      </p:pic>
      <p:pic>
        <p:nvPicPr>
          <p:cNvPr id="30" name="Picture 29">
            <a:extLst>
              <a:ext uri="{FF2B5EF4-FFF2-40B4-BE49-F238E27FC236}">
                <a16:creationId xmlns:a16="http://schemas.microsoft.com/office/drawing/2014/main" id="{85C8C1E7-A33D-4CA2-AA27-0F3CB28D780E}"/>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27700" t="28228" r="28456" b="30695"/>
          <a:stretch/>
        </p:blipFill>
        <p:spPr>
          <a:xfrm>
            <a:off x="9067039" y="3036112"/>
            <a:ext cx="2742847" cy="1449472"/>
          </a:xfrm>
          <a:prstGeom prst="rect">
            <a:avLst/>
          </a:prstGeom>
        </p:spPr>
      </p:pic>
      <p:pic>
        <p:nvPicPr>
          <p:cNvPr id="31" name="Picture 30">
            <a:extLst>
              <a:ext uri="{FF2B5EF4-FFF2-40B4-BE49-F238E27FC236}">
                <a16:creationId xmlns:a16="http://schemas.microsoft.com/office/drawing/2014/main" id="{031B314B-7FFC-42FD-94E6-4C7E48288FED}"/>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l="27447" t="32266" r="29007" b="34861"/>
          <a:stretch/>
        </p:blipFill>
        <p:spPr>
          <a:xfrm>
            <a:off x="9344875" y="4861860"/>
            <a:ext cx="2742093" cy="1167601"/>
          </a:xfrm>
          <a:prstGeom prst="rect">
            <a:avLst/>
          </a:prstGeom>
        </p:spPr>
      </p:pic>
      <p:sp>
        <p:nvSpPr>
          <p:cNvPr id="32" name="TextBox 31">
            <a:extLst>
              <a:ext uri="{FF2B5EF4-FFF2-40B4-BE49-F238E27FC236}">
                <a16:creationId xmlns:a16="http://schemas.microsoft.com/office/drawing/2014/main" id="{DF3F36BC-B652-4611-AB9F-E12898CBB9CA}"/>
              </a:ext>
            </a:extLst>
          </p:cNvPr>
          <p:cNvSpPr txBox="1"/>
          <p:nvPr/>
        </p:nvSpPr>
        <p:spPr>
          <a:xfrm>
            <a:off x="5841675" y="1315786"/>
            <a:ext cx="881973"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64.0 Hz</a:t>
            </a:r>
          </a:p>
        </p:txBody>
      </p:sp>
      <p:sp>
        <p:nvSpPr>
          <p:cNvPr id="33" name="TextBox 32">
            <a:extLst>
              <a:ext uri="{FF2B5EF4-FFF2-40B4-BE49-F238E27FC236}">
                <a16:creationId xmlns:a16="http://schemas.microsoft.com/office/drawing/2014/main" id="{23E97919-4A4E-47F7-8837-39CD8DFDFD48}"/>
              </a:ext>
            </a:extLst>
          </p:cNvPr>
          <p:cNvSpPr txBox="1"/>
          <p:nvPr/>
        </p:nvSpPr>
        <p:spPr>
          <a:xfrm>
            <a:off x="9105299" y="4403702"/>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332 Hz</a:t>
            </a:r>
          </a:p>
        </p:txBody>
      </p:sp>
      <p:sp>
        <p:nvSpPr>
          <p:cNvPr id="34" name="TextBox 33">
            <a:extLst>
              <a:ext uri="{FF2B5EF4-FFF2-40B4-BE49-F238E27FC236}">
                <a16:creationId xmlns:a16="http://schemas.microsoft.com/office/drawing/2014/main" id="{B6285604-319F-4887-8F98-6A35A59D11B8}"/>
              </a:ext>
            </a:extLst>
          </p:cNvPr>
          <p:cNvSpPr txBox="1"/>
          <p:nvPr/>
        </p:nvSpPr>
        <p:spPr>
          <a:xfrm>
            <a:off x="9067039" y="1312325"/>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233 Hz</a:t>
            </a:r>
          </a:p>
        </p:txBody>
      </p:sp>
      <p:sp>
        <p:nvSpPr>
          <p:cNvPr id="35" name="TextBox 34">
            <a:extLst>
              <a:ext uri="{FF2B5EF4-FFF2-40B4-BE49-F238E27FC236}">
                <a16:creationId xmlns:a16="http://schemas.microsoft.com/office/drawing/2014/main" id="{79AD570E-EC40-4BEA-838D-8C1C851ED85B}"/>
              </a:ext>
            </a:extLst>
          </p:cNvPr>
          <p:cNvSpPr txBox="1"/>
          <p:nvPr/>
        </p:nvSpPr>
        <p:spPr>
          <a:xfrm>
            <a:off x="5781907" y="4376000"/>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238 Hz</a:t>
            </a:r>
          </a:p>
        </p:txBody>
      </p:sp>
      <p:sp>
        <p:nvSpPr>
          <p:cNvPr id="36" name="TextBox 35">
            <a:extLst>
              <a:ext uri="{FF2B5EF4-FFF2-40B4-BE49-F238E27FC236}">
                <a16:creationId xmlns:a16="http://schemas.microsoft.com/office/drawing/2014/main" id="{5B730597-B871-4102-A016-1F2093CEBF64}"/>
              </a:ext>
            </a:extLst>
          </p:cNvPr>
          <p:cNvSpPr txBox="1"/>
          <p:nvPr/>
        </p:nvSpPr>
        <p:spPr>
          <a:xfrm>
            <a:off x="9105299" y="2777943"/>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293 Hz</a:t>
            </a:r>
          </a:p>
        </p:txBody>
      </p:sp>
      <p:sp>
        <p:nvSpPr>
          <p:cNvPr id="37" name="TextBox 36">
            <a:extLst>
              <a:ext uri="{FF2B5EF4-FFF2-40B4-BE49-F238E27FC236}">
                <a16:creationId xmlns:a16="http://schemas.microsoft.com/office/drawing/2014/main" id="{5B02F555-E3F3-4233-970E-C4F62D262A4E}"/>
              </a:ext>
            </a:extLst>
          </p:cNvPr>
          <p:cNvSpPr txBox="1"/>
          <p:nvPr/>
        </p:nvSpPr>
        <p:spPr>
          <a:xfrm>
            <a:off x="5849967" y="2777943"/>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115 Hz</a:t>
            </a:r>
          </a:p>
        </p:txBody>
      </p:sp>
      <p:pic>
        <p:nvPicPr>
          <p:cNvPr id="38" name="Picture 37" descr="Diagram, engineering drawing&#10;&#10;Description automatically generated">
            <a:extLst>
              <a:ext uri="{FF2B5EF4-FFF2-40B4-BE49-F238E27FC236}">
                <a16:creationId xmlns:a16="http://schemas.microsoft.com/office/drawing/2014/main" id="{53A80536-D7CA-4884-A081-520ED5310D4F}"/>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47099" y="1372422"/>
            <a:ext cx="2514600" cy="1450456"/>
          </a:xfrm>
          <a:prstGeom prst="rect">
            <a:avLst/>
          </a:prstGeom>
        </p:spPr>
      </p:pic>
      <p:pic>
        <p:nvPicPr>
          <p:cNvPr id="39" name="Picture 38" descr="Diagram&#10;&#10;Description automatically generated">
            <a:extLst>
              <a:ext uri="{FF2B5EF4-FFF2-40B4-BE49-F238E27FC236}">
                <a16:creationId xmlns:a16="http://schemas.microsoft.com/office/drawing/2014/main" id="{4286945F-9792-4A21-AB2B-11CE5E83B2BD}"/>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247099" y="2874305"/>
            <a:ext cx="2514600" cy="1395763"/>
          </a:xfrm>
          <a:prstGeom prst="rect">
            <a:avLst/>
          </a:prstGeom>
        </p:spPr>
      </p:pic>
      <p:pic>
        <p:nvPicPr>
          <p:cNvPr id="40" name="Picture 39" descr="Chart&#10;&#10;Description automatically generated">
            <a:extLst>
              <a:ext uri="{FF2B5EF4-FFF2-40B4-BE49-F238E27FC236}">
                <a16:creationId xmlns:a16="http://schemas.microsoft.com/office/drawing/2014/main" id="{DB2CB02F-C200-4CB0-932B-AE8780D9B048}"/>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295844" y="4587776"/>
            <a:ext cx="2514600" cy="1326868"/>
          </a:xfrm>
          <a:prstGeom prst="rect">
            <a:avLst/>
          </a:prstGeom>
        </p:spPr>
      </p:pic>
      <p:pic>
        <p:nvPicPr>
          <p:cNvPr id="41" name="Picture 40" descr="A picture containing chart, diagram&#10;&#10;Description automatically generated">
            <a:extLst>
              <a:ext uri="{FF2B5EF4-FFF2-40B4-BE49-F238E27FC236}">
                <a16:creationId xmlns:a16="http://schemas.microsoft.com/office/drawing/2014/main" id="{6A960957-3768-4FBD-BFFC-3D0159DE9CB5}"/>
              </a:ext>
            </a:extLst>
          </p:cNvPr>
          <p:cNvPicPr>
            <a:picLocks noChangeAspect="1"/>
          </p:cNvPicPr>
          <p:nvPr/>
        </p:nvPicPr>
        <p:blipFill rotWithShape="1">
          <a:blip r:embed="rId11" cstate="print">
            <a:extLst>
              <a:ext uri="{28A0092B-C50C-407E-A947-70E740481C1C}">
                <a14:useLocalDpi xmlns:a14="http://schemas.microsoft.com/office/drawing/2010/main"/>
              </a:ext>
            </a:extLst>
          </a:blip>
          <a:srcRect/>
          <a:stretch/>
        </p:blipFill>
        <p:spPr>
          <a:xfrm>
            <a:off x="2978992" y="1582560"/>
            <a:ext cx="2514600" cy="1258557"/>
          </a:xfrm>
          <a:prstGeom prst="rect">
            <a:avLst/>
          </a:prstGeom>
        </p:spPr>
      </p:pic>
      <p:pic>
        <p:nvPicPr>
          <p:cNvPr id="42" name="Picture 41" descr="A picture containing diagram&#10;&#10;Description automatically generated">
            <a:extLst>
              <a:ext uri="{FF2B5EF4-FFF2-40B4-BE49-F238E27FC236}">
                <a16:creationId xmlns:a16="http://schemas.microsoft.com/office/drawing/2014/main" id="{D912025A-D68B-4017-9911-7660AC8B6075}"/>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2957761" y="2874299"/>
            <a:ext cx="2514600" cy="1452413"/>
          </a:xfrm>
          <a:prstGeom prst="rect">
            <a:avLst/>
          </a:prstGeom>
        </p:spPr>
      </p:pic>
      <p:pic>
        <p:nvPicPr>
          <p:cNvPr id="43" name="Picture 42" descr="A picture containing diagram&#10;&#10;Description automatically generated">
            <a:extLst>
              <a:ext uri="{FF2B5EF4-FFF2-40B4-BE49-F238E27FC236}">
                <a16:creationId xmlns:a16="http://schemas.microsoft.com/office/drawing/2014/main" id="{835FBAB3-DB34-426A-997B-A0E49B370DE0}"/>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3003223" y="4718602"/>
            <a:ext cx="2514600" cy="1312730"/>
          </a:xfrm>
          <a:prstGeom prst="rect">
            <a:avLst/>
          </a:prstGeom>
        </p:spPr>
      </p:pic>
      <p:sp>
        <p:nvSpPr>
          <p:cNvPr id="44" name="TextBox 43">
            <a:extLst>
              <a:ext uri="{FF2B5EF4-FFF2-40B4-BE49-F238E27FC236}">
                <a16:creationId xmlns:a16="http://schemas.microsoft.com/office/drawing/2014/main" id="{A91AA4A9-204D-4705-867B-F15B3685700D}"/>
              </a:ext>
            </a:extLst>
          </p:cNvPr>
          <p:cNvSpPr txBox="1"/>
          <p:nvPr/>
        </p:nvSpPr>
        <p:spPr>
          <a:xfrm>
            <a:off x="112182" y="1312325"/>
            <a:ext cx="881973"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58.8 Hz</a:t>
            </a:r>
          </a:p>
        </p:txBody>
      </p:sp>
      <p:sp>
        <p:nvSpPr>
          <p:cNvPr id="45" name="TextBox 44">
            <a:extLst>
              <a:ext uri="{FF2B5EF4-FFF2-40B4-BE49-F238E27FC236}">
                <a16:creationId xmlns:a16="http://schemas.microsoft.com/office/drawing/2014/main" id="{B801E5A0-3389-4B59-9B51-5EF50D943823}"/>
              </a:ext>
            </a:extLst>
          </p:cNvPr>
          <p:cNvSpPr txBox="1"/>
          <p:nvPr/>
        </p:nvSpPr>
        <p:spPr>
          <a:xfrm>
            <a:off x="120487" y="2775394"/>
            <a:ext cx="881973"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98.3 Hz</a:t>
            </a:r>
          </a:p>
        </p:txBody>
      </p:sp>
      <p:sp>
        <p:nvSpPr>
          <p:cNvPr id="46" name="TextBox 45">
            <a:extLst>
              <a:ext uri="{FF2B5EF4-FFF2-40B4-BE49-F238E27FC236}">
                <a16:creationId xmlns:a16="http://schemas.microsoft.com/office/drawing/2014/main" id="{83E1BB58-AB60-4852-9000-06605D31177E}"/>
              </a:ext>
            </a:extLst>
          </p:cNvPr>
          <p:cNvSpPr txBox="1"/>
          <p:nvPr/>
        </p:nvSpPr>
        <p:spPr>
          <a:xfrm>
            <a:off x="169232" y="4376000"/>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212 Hz</a:t>
            </a:r>
          </a:p>
        </p:txBody>
      </p:sp>
      <p:sp>
        <p:nvSpPr>
          <p:cNvPr id="47" name="TextBox 46">
            <a:extLst>
              <a:ext uri="{FF2B5EF4-FFF2-40B4-BE49-F238E27FC236}">
                <a16:creationId xmlns:a16="http://schemas.microsoft.com/office/drawing/2014/main" id="{609D024E-0E80-40F0-B6F5-0FCC3FBED74A}"/>
              </a:ext>
            </a:extLst>
          </p:cNvPr>
          <p:cNvSpPr txBox="1"/>
          <p:nvPr/>
        </p:nvSpPr>
        <p:spPr>
          <a:xfrm>
            <a:off x="2960723" y="1312325"/>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218 Hz</a:t>
            </a:r>
          </a:p>
        </p:txBody>
      </p:sp>
      <p:sp>
        <p:nvSpPr>
          <p:cNvPr id="48" name="TextBox 47">
            <a:extLst>
              <a:ext uri="{FF2B5EF4-FFF2-40B4-BE49-F238E27FC236}">
                <a16:creationId xmlns:a16="http://schemas.microsoft.com/office/drawing/2014/main" id="{67789D38-D705-47C1-BD86-36D30A8DFDE8}"/>
              </a:ext>
            </a:extLst>
          </p:cNvPr>
          <p:cNvSpPr txBox="1"/>
          <p:nvPr/>
        </p:nvSpPr>
        <p:spPr>
          <a:xfrm>
            <a:off x="2969029" y="2781494"/>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272 Hz</a:t>
            </a:r>
          </a:p>
        </p:txBody>
      </p:sp>
      <p:sp>
        <p:nvSpPr>
          <p:cNvPr id="49" name="TextBox 48">
            <a:extLst>
              <a:ext uri="{FF2B5EF4-FFF2-40B4-BE49-F238E27FC236}">
                <a16:creationId xmlns:a16="http://schemas.microsoft.com/office/drawing/2014/main" id="{51F26A3E-C793-4A80-A8A2-945F445E3019}"/>
              </a:ext>
            </a:extLst>
          </p:cNvPr>
          <p:cNvSpPr txBox="1"/>
          <p:nvPr/>
        </p:nvSpPr>
        <p:spPr>
          <a:xfrm>
            <a:off x="3080491" y="4385064"/>
            <a:ext cx="824265" cy="369332"/>
          </a:xfrm>
          <a:prstGeom prst="rect">
            <a:avLst/>
          </a:prstGeom>
          <a:solidFill>
            <a:schemeClr val="bg1"/>
          </a:solidFill>
          <a:ln w="19050">
            <a:solidFill>
              <a:schemeClr val="tx1"/>
            </a:solidFill>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293 Hz</a:t>
            </a:r>
          </a:p>
        </p:txBody>
      </p:sp>
    </p:spTree>
    <p:extLst>
      <p:ext uri="{BB962C8B-B14F-4D97-AF65-F5344CB8AC3E}">
        <p14:creationId xmlns:p14="http://schemas.microsoft.com/office/powerpoint/2010/main" val="4175155003"/>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2FE0D-4A8C-42E3-9B84-3A2AB8B8B492}"/>
              </a:ext>
            </a:extLst>
          </p:cNvPr>
          <p:cNvSpPr>
            <a:spLocks noGrp="1"/>
          </p:cNvSpPr>
          <p:nvPr>
            <p:ph type="title"/>
          </p:nvPr>
        </p:nvSpPr>
        <p:spPr/>
        <p:txBody>
          <a:bodyPr>
            <a:normAutofit fontScale="90000"/>
          </a:bodyPr>
          <a:lstStyle/>
          <a:p>
            <a:r>
              <a:rPr lang="en-US" dirty="0"/>
              <a:t>Trial Results #2</a:t>
            </a:r>
          </a:p>
        </p:txBody>
      </p:sp>
      <p:sp>
        <p:nvSpPr>
          <p:cNvPr id="10" name="Content Placeholder 2">
            <a:extLst>
              <a:ext uri="{FF2B5EF4-FFF2-40B4-BE49-F238E27FC236}">
                <a16:creationId xmlns:a16="http://schemas.microsoft.com/office/drawing/2014/main" id="{148553B1-3005-437A-9555-5FDA937C490D}"/>
              </a:ext>
            </a:extLst>
          </p:cNvPr>
          <p:cNvSpPr>
            <a:spLocks noGrp="1"/>
          </p:cNvSpPr>
          <p:nvPr>
            <p:ph idx="1"/>
          </p:nvPr>
        </p:nvSpPr>
        <p:spPr>
          <a:xfrm>
            <a:off x="105032" y="939586"/>
            <a:ext cx="11337324" cy="884982"/>
          </a:xfrm>
        </p:spPr>
        <p:txBody>
          <a:bodyPr>
            <a:normAutofit/>
          </a:bodyPr>
          <a:lstStyle/>
          <a:p>
            <a:pPr lvl="1"/>
            <a:r>
              <a:rPr lang="en-US" dirty="0"/>
              <a:t>Mode matching provided good predictions of mode shape and frequency with some spurious modes</a:t>
            </a:r>
          </a:p>
          <a:p>
            <a:pPr lvl="2"/>
            <a:endParaRPr lang="en-US" dirty="0"/>
          </a:p>
          <a:p>
            <a:pPr marL="201159" lvl="1" indent="0">
              <a:buNone/>
            </a:pPr>
            <a:endParaRPr lang="en-US" b="1" dirty="0"/>
          </a:p>
        </p:txBody>
      </p:sp>
      <p:pic>
        <p:nvPicPr>
          <p:cNvPr id="5" name="Picture 4">
            <a:extLst>
              <a:ext uri="{FF2B5EF4-FFF2-40B4-BE49-F238E27FC236}">
                <a16:creationId xmlns:a16="http://schemas.microsoft.com/office/drawing/2014/main" id="{58BC1F19-3F9C-49E9-B904-C9E2A4C82FF9}"/>
              </a:ext>
            </a:extLst>
          </p:cNvPr>
          <p:cNvPicPr>
            <a:picLocks noChangeAspect="1"/>
          </p:cNvPicPr>
          <p:nvPr/>
        </p:nvPicPr>
        <p:blipFill>
          <a:blip r:embed="rId2"/>
          <a:srcRect l="13553" r="22303"/>
          <a:stretch/>
        </p:blipFill>
        <p:spPr>
          <a:xfrm>
            <a:off x="6777034" y="1768690"/>
            <a:ext cx="5309934" cy="4149724"/>
          </a:xfrm>
          <a:prstGeom prst="rect">
            <a:avLst/>
          </a:prstGeom>
        </p:spPr>
      </p:pic>
      <p:pic>
        <p:nvPicPr>
          <p:cNvPr id="7" name="Picture 6">
            <a:extLst>
              <a:ext uri="{FF2B5EF4-FFF2-40B4-BE49-F238E27FC236}">
                <a16:creationId xmlns:a16="http://schemas.microsoft.com/office/drawing/2014/main" id="{BFBE132E-7378-4962-8567-9FF4E6B35282}"/>
              </a:ext>
            </a:extLst>
          </p:cNvPr>
          <p:cNvPicPr>
            <a:picLocks noChangeAspect="1"/>
          </p:cNvPicPr>
          <p:nvPr/>
        </p:nvPicPr>
        <p:blipFill>
          <a:blip r:embed="rId3"/>
          <a:srcRect r="6761"/>
          <a:stretch/>
        </p:blipFill>
        <p:spPr>
          <a:xfrm>
            <a:off x="1" y="1974175"/>
            <a:ext cx="6792488" cy="3651925"/>
          </a:xfrm>
          <a:prstGeom prst="rect">
            <a:avLst/>
          </a:prstGeom>
        </p:spPr>
      </p:pic>
      <p:sp>
        <p:nvSpPr>
          <p:cNvPr id="9" name="TextBox 8">
            <a:extLst>
              <a:ext uri="{FF2B5EF4-FFF2-40B4-BE49-F238E27FC236}">
                <a16:creationId xmlns:a16="http://schemas.microsoft.com/office/drawing/2014/main" id="{975D7CAB-6CF1-4629-9DB0-ED5D2D36708D}"/>
              </a:ext>
            </a:extLst>
          </p:cNvPr>
          <p:cNvSpPr txBox="1"/>
          <p:nvPr/>
        </p:nvSpPr>
        <p:spPr>
          <a:xfrm>
            <a:off x="1039297" y="2353106"/>
            <a:ext cx="2093369" cy="646331"/>
          </a:xfrm>
          <a:prstGeom prst="rect">
            <a:avLst/>
          </a:prstGeom>
          <a:solidFill>
            <a:schemeClr val="bg1"/>
          </a:solidFill>
          <a:ln>
            <a:solidFill>
              <a:schemeClr val="tx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040FF"/>
                </a:solidFill>
                <a:effectLst/>
                <a:uLnTx/>
                <a:uFillTx/>
                <a:latin typeface="Trebuchet MS" panose="020B0603020202020204"/>
                <a:ea typeface="+mn-ea"/>
                <a:cs typeface="+mn-cs"/>
              </a:rPr>
              <a:t>Hybrid Prediction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Trebuchet MS" panose="020B0603020202020204"/>
                <a:ea typeface="+mn-ea"/>
                <a:cs typeface="+mn-cs"/>
              </a:rPr>
              <a:t>FEM Result</a:t>
            </a:r>
          </a:p>
        </p:txBody>
      </p:sp>
    </p:spTree>
    <p:extLst>
      <p:ext uri="{BB962C8B-B14F-4D97-AF65-F5344CB8AC3E}">
        <p14:creationId xmlns:p14="http://schemas.microsoft.com/office/powerpoint/2010/main" val="916397320"/>
      </p:ext>
    </p:extLst>
  </p:cSld>
  <p:clrMapOvr>
    <a:masterClrMapping/>
  </p:clrMapOvr>
  <mc:AlternateContent xmlns:mc="http://schemas.openxmlformats.org/markup-compatibility/2006" xmlns:p14="http://schemas.microsoft.com/office/powerpoint/2010/main">
    <mc:Choice Requires="p14">
      <p:transition spd="med" p14:dur="700" advTm="20187">
        <p:fade/>
      </p:transition>
    </mc:Choice>
    <mc:Fallback xmlns="">
      <p:transition spd="med" advTm="20187">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F9B793D8-CF0D-49DF-821A-86EA64D0D21A}"/>
              </a:ext>
            </a:extLst>
          </p:cNvPr>
          <p:cNvSpPr>
            <a:spLocks noGrp="1"/>
          </p:cNvSpPr>
          <p:nvPr>
            <p:ph idx="1"/>
          </p:nvPr>
        </p:nvSpPr>
        <p:spPr>
          <a:xfrm>
            <a:off x="0" y="596899"/>
            <a:ext cx="12192000" cy="5795433"/>
          </a:xfrm>
        </p:spPr>
        <p:txBody>
          <a:bodyPr>
            <a:normAutofit/>
          </a:bodyPr>
          <a:lstStyle/>
          <a:p>
            <a:pPr marL="0" indent="0" algn="ctr">
              <a:spcBef>
                <a:spcPts val="1800"/>
              </a:spcBef>
              <a:spcAft>
                <a:spcPts val="600"/>
              </a:spcAft>
              <a:buNone/>
            </a:pPr>
            <a:r>
              <a:rPr lang="en-US" sz="4000" dirty="0"/>
              <a:t>Let’s put this mornings lectures to use!</a:t>
            </a:r>
          </a:p>
          <a:p>
            <a:pPr marL="0" indent="0" algn="ctr">
              <a:spcBef>
                <a:spcPts val="1800"/>
              </a:spcBef>
              <a:spcAft>
                <a:spcPts val="600"/>
              </a:spcAft>
              <a:buNone/>
            </a:pPr>
            <a:endParaRPr lang="en-US" sz="4000" dirty="0"/>
          </a:p>
          <a:p>
            <a:pPr marL="0" indent="0" algn="ctr">
              <a:spcBef>
                <a:spcPts val="1800"/>
              </a:spcBef>
              <a:spcAft>
                <a:spcPts val="600"/>
              </a:spcAft>
              <a:buNone/>
            </a:pPr>
            <a:endParaRPr lang="en-US" sz="4000" dirty="0"/>
          </a:p>
          <a:p>
            <a:pPr marL="0" indent="0" algn="ctr">
              <a:spcBef>
                <a:spcPts val="1800"/>
              </a:spcBef>
              <a:spcAft>
                <a:spcPts val="600"/>
              </a:spcAft>
              <a:buNone/>
            </a:pPr>
            <a:endParaRPr lang="en-US" sz="4000" dirty="0"/>
          </a:p>
          <a:p>
            <a:pPr marL="0" indent="0" algn="ctr">
              <a:spcBef>
                <a:spcPts val="1800"/>
              </a:spcBef>
              <a:spcAft>
                <a:spcPts val="600"/>
              </a:spcAft>
              <a:buNone/>
            </a:pPr>
            <a:endParaRPr lang="en-US" sz="4000" dirty="0"/>
          </a:p>
          <a:p>
            <a:pPr marL="0" indent="0" algn="ctr">
              <a:spcBef>
                <a:spcPts val="1800"/>
              </a:spcBef>
              <a:spcAft>
                <a:spcPts val="600"/>
              </a:spcAft>
              <a:buNone/>
            </a:pPr>
            <a:r>
              <a:rPr lang="en-US" sz="4000" dirty="0"/>
              <a:t>Through the rest of Module 7 we will attempt linear substructuring with real Frame &amp; Wing test data!</a:t>
            </a:r>
          </a:p>
        </p:txBody>
      </p:sp>
      <p:pic>
        <p:nvPicPr>
          <p:cNvPr id="39" name="Picture 38">
            <a:extLst>
              <a:ext uri="{FF2B5EF4-FFF2-40B4-BE49-F238E27FC236}">
                <a16:creationId xmlns:a16="http://schemas.microsoft.com/office/drawing/2014/main" id="{1A741731-D3AE-4940-A9E8-37C1C263023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889022" y="1346200"/>
            <a:ext cx="4413956" cy="3310467"/>
          </a:xfrm>
          <a:prstGeom prst="rect">
            <a:avLst/>
          </a:prstGeom>
        </p:spPr>
      </p:pic>
    </p:spTree>
    <p:extLst>
      <p:ext uri="{BB962C8B-B14F-4D97-AF65-F5344CB8AC3E}">
        <p14:creationId xmlns:p14="http://schemas.microsoft.com/office/powerpoint/2010/main" val="2953972397"/>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213DD2-505F-4438-92A8-C7D418A0846B}"/>
              </a:ext>
            </a:extLst>
          </p:cNvPr>
          <p:cNvSpPr/>
          <p:nvPr/>
        </p:nvSpPr>
        <p:spPr>
          <a:xfrm>
            <a:off x="909412" y="4564340"/>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B30DC50B-4994-4575-839E-6111C94EEDC0}"/>
              </a:ext>
            </a:extLst>
          </p:cNvPr>
          <p:cNvSpPr/>
          <p:nvPr/>
        </p:nvSpPr>
        <p:spPr>
          <a:xfrm>
            <a:off x="1989190" y="4564342"/>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Diagram</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33017" y="933753"/>
            <a:ext cx="5882530" cy="2937823"/>
          </a:xfrm>
        </p:spPr>
        <p:txBody>
          <a:bodyPr>
            <a:normAutofit/>
          </a:bodyPr>
          <a:lstStyle/>
          <a:p>
            <a:pPr lvl="1"/>
            <a:r>
              <a:rPr lang="en-US" sz="3200" dirty="0"/>
              <a:t>The goal of this example is to take a frame, plate, and thin-wing assembly, and use experimental substructuring to remove the thin-wing and replace it with the thick-wing. </a:t>
            </a:r>
          </a:p>
        </p:txBody>
      </p:sp>
      <p:sp>
        <p:nvSpPr>
          <p:cNvPr id="4" name="Rectangle 3">
            <a:extLst>
              <a:ext uri="{FF2B5EF4-FFF2-40B4-BE49-F238E27FC236}">
                <a16:creationId xmlns:a16="http://schemas.microsoft.com/office/drawing/2014/main" id="{5D68B286-5280-42C1-946B-DE2E206865F7}"/>
              </a:ext>
            </a:extLst>
          </p:cNvPr>
          <p:cNvSpPr/>
          <p:nvPr/>
        </p:nvSpPr>
        <p:spPr>
          <a:xfrm>
            <a:off x="6433202" y="625411"/>
            <a:ext cx="1358284" cy="3246165"/>
          </a:xfrm>
          <a:prstGeom prst="rect">
            <a:avLst/>
          </a:prstGeom>
          <a:solidFill>
            <a:srgbClr val="008E74"/>
          </a:solidFill>
          <a:ln>
            <a:solidFill>
              <a:srgbClr val="008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C48D6C7-D618-4512-A0FB-DF04B3695926}"/>
              </a:ext>
            </a:extLst>
          </p:cNvPr>
          <p:cNvSpPr/>
          <p:nvPr/>
        </p:nvSpPr>
        <p:spPr>
          <a:xfrm>
            <a:off x="6606317" y="806028"/>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097A3D-5B27-47E2-9BD1-9E6877C43B50}"/>
              </a:ext>
            </a:extLst>
          </p:cNvPr>
          <p:cNvSpPr/>
          <p:nvPr/>
        </p:nvSpPr>
        <p:spPr>
          <a:xfrm>
            <a:off x="6606317" y="1560630"/>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A060E58-5622-43D3-940D-8419273E5003}"/>
              </a:ext>
            </a:extLst>
          </p:cNvPr>
          <p:cNvSpPr/>
          <p:nvPr/>
        </p:nvSpPr>
        <p:spPr>
          <a:xfrm>
            <a:off x="6606317" y="2315232"/>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551A6E-AEC7-42E2-A091-BA700EB3E76A}"/>
              </a:ext>
            </a:extLst>
          </p:cNvPr>
          <p:cNvSpPr/>
          <p:nvPr/>
        </p:nvSpPr>
        <p:spPr>
          <a:xfrm>
            <a:off x="6606317" y="3069834"/>
            <a:ext cx="1012055" cy="588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605DA49-EC7F-4DA8-9507-CC0D4D7594B6}"/>
              </a:ext>
            </a:extLst>
          </p:cNvPr>
          <p:cNvSpPr/>
          <p:nvPr/>
        </p:nvSpPr>
        <p:spPr>
          <a:xfrm>
            <a:off x="9248991" y="545704"/>
            <a:ext cx="1358284" cy="902060"/>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A01B515-A86D-4CC2-A390-4B3E68714430}"/>
              </a:ext>
            </a:extLst>
          </p:cNvPr>
          <p:cNvSpPr/>
          <p:nvPr/>
        </p:nvSpPr>
        <p:spPr>
          <a:xfrm>
            <a:off x="8174046" y="2969516"/>
            <a:ext cx="3523348" cy="902060"/>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BB27F09-3965-483F-A37A-ED3C24B3451F}"/>
              </a:ext>
            </a:extLst>
          </p:cNvPr>
          <p:cNvSpPr txBox="1"/>
          <p:nvPr/>
        </p:nvSpPr>
        <p:spPr>
          <a:xfrm>
            <a:off x="6647376" y="1643999"/>
            <a:ext cx="929936" cy="369332"/>
          </a:xfrm>
          <a:prstGeom prst="rect">
            <a:avLst/>
          </a:prstGeom>
          <a:noFill/>
        </p:spPr>
        <p:txBody>
          <a:bodyPr wrap="square">
            <a:spAutoFit/>
          </a:bodyPr>
          <a:lstStyle/>
          <a:p>
            <a:pPr algn="ctr"/>
            <a:r>
              <a:rPr lang="en-US" dirty="0"/>
              <a:t>Frame</a:t>
            </a:r>
          </a:p>
        </p:txBody>
      </p:sp>
      <p:sp>
        <p:nvSpPr>
          <p:cNvPr id="16" name="TextBox 15">
            <a:extLst>
              <a:ext uri="{FF2B5EF4-FFF2-40B4-BE49-F238E27FC236}">
                <a16:creationId xmlns:a16="http://schemas.microsoft.com/office/drawing/2014/main" id="{A8094253-58F1-45E9-A4EC-A6289DBA0057}"/>
              </a:ext>
            </a:extLst>
          </p:cNvPr>
          <p:cNvSpPr txBox="1"/>
          <p:nvPr/>
        </p:nvSpPr>
        <p:spPr>
          <a:xfrm>
            <a:off x="9248991" y="765829"/>
            <a:ext cx="1358284" cy="369332"/>
          </a:xfrm>
          <a:prstGeom prst="rect">
            <a:avLst/>
          </a:prstGeom>
          <a:noFill/>
        </p:spPr>
        <p:txBody>
          <a:bodyPr wrap="square">
            <a:spAutoFit/>
          </a:bodyPr>
          <a:lstStyle/>
          <a:p>
            <a:pPr algn="ctr"/>
            <a:r>
              <a:rPr lang="en-US" dirty="0"/>
              <a:t>Plate</a:t>
            </a:r>
          </a:p>
        </p:txBody>
      </p:sp>
      <p:sp>
        <p:nvSpPr>
          <p:cNvPr id="18" name="TextBox 17">
            <a:extLst>
              <a:ext uri="{FF2B5EF4-FFF2-40B4-BE49-F238E27FC236}">
                <a16:creationId xmlns:a16="http://schemas.microsoft.com/office/drawing/2014/main" id="{5F65FD4C-B81D-420B-9F0D-101EEB80A4E4}"/>
              </a:ext>
            </a:extLst>
          </p:cNvPr>
          <p:cNvSpPr txBox="1"/>
          <p:nvPr/>
        </p:nvSpPr>
        <p:spPr>
          <a:xfrm>
            <a:off x="8939167" y="3179729"/>
            <a:ext cx="2216905" cy="369332"/>
          </a:xfrm>
          <a:prstGeom prst="rect">
            <a:avLst/>
          </a:prstGeom>
          <a:noFill/>
        </p:spPr>
        <p:txBody>
          <a:bodyPr wrap="square">
            <a:spAutoFit/>
          </a:bodyPr>
          <a:lstStyle/>
          <a:p>
            <a:r>
              <a:rPr lang="en-US" dirty="0"/>
              <a:t>Thick Wing, 1/4”</a:t>
            </a:r>
          </a:p>
        </p:txBody>
      </p:sp>
      <p:pic>
        <p:nvPicPr>
          <p:cNvPr id="6" name="Picture 5">
            <a:extLst>
              <a:ext uri="{FF2B5EF4-FFF2-40B4-BE49-F238E27FC236}">
                <a16:creationId xmlns:a16="http://schemas.microsoft.com/office/drawing/2014/main" id="{EB736EE4-327F-4071-81FB-62FDCA8BE83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955105" y="3958122"/>
            <a:ext cx="1070755" cy="2534753"/>
          </a:xfrm>
          <a:prstGeom prst="rect">
            <a:avLst/>
          </a:prstGeom>
        </p:spPr>
      </p:pic>
      <p:sp>
        <p:nvSpPr>
          <p:cNvPr id="26" name="Rectangle 25">
            <a:extLst>
              <a:ext uri="{FF2B5EF4-FFF2-40B4-BE49-F238E27FC236}">
                <a16:creationId xmlns:a16="http://schemas.microsoft.com/office/drawing/2014/main" id="{395AD8E9-227C-4AF8-9198-1F268AB885E5}"/>
              </a:ext>
            </a:extLst>
          </p:cNvPr>
          <p:cNvSpPr/>
          <p:nvPr/>
        </p:nvSpPr>
        <p:spPr>
          <a:xfrm>
            <a:off x="8174046" y="1641776"/>
            <a:ext cx="3523348" cy="902060"/>
          </a:xfrm>
          <a:prstGeom prst="rect">
            <a:avLst/>
          </a:prstGeom>
          <a:solidFill>
            <a:srgbClr val="F4B898"/>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4027176-99CE-4DE2-A443-87AC19BB1D65}"/>
              </a:ext>
            </a:extLst>
          </p:cNvPr>
          <p:cNvSpPr/>
          <p:nvPr/>
        </p:nvSpPr>
        <p:spPr>
          <a:xfrm>
            <a:off x="4633652" y="4562983"/>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560A412-9F3C-400A-BCB3-9A1C093AE097}"/>
              </a:ext>
            </a:extLst>
          </p:cNvPr>
          <p:cNvSpPr/>
          <p:nvPr/>
        </p:nvSpPr>
        <p:spPr>
          <a:xfrm>
            <a:off x="5777223" y="4562983"/>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29665AA-08B3-4D34-9D95-818063E8B5F8}"/>
              </a:ext>
            </a:extLst>
          </p:cNvPr>
          <p:cNvSpPr/>
          <p:nvPr/>
        </p:nvSpPr>
        <p:spPr>
          <a:xfrm>
            <a:off x="4633652" y="5788168"/>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8AD701B-D809-4F67-B76C-D457D1E1BB5B}"/>
              </a:ext>
            </a:extLst>
          </p:cNvPr>
          <p:cNvSpPr/>
          <p:nvPr/>
        </p:nvSpPr>
        <p:spPr>
          <a:xfrm>
            <a:off x="5777223" y="5788168"/>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15622D0-2561-4E04-B985-80F3F2AC6CB9}"/>
              </a:ext>
            </a:extLst>
          </p:cNvPr>
          <p:cNvSpPr/>
          <p:nvPr/>
        </p:nvSpPr>
        <p:spPr>
          <a:xfrm>
            <a:off x="8557946" y="4737253"/>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351163E-4CD4-4787-AE04-63C5C9FE818C}"/>
              </a:ext>
            </a:extLst>
          </p:cNvPr>
          <p:cNvSpPr/>
          <p:nvPr/>
        </p:nvSpPr>
        <p:spPr>
          <a:xfrm>
            <a:off x="9637724" y="4737255"/>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5B744EB2-EAEB-477E-AB65-82925A7F201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603639" y="4123316"/>
            <a:ext cx="1070755" cy="2534753"/>
          </a:xfrm>
          <a:prstGeom prst="rect">
            <a:avLst/>
          </a:prstGeom>
        </p:spPr>
      </p:pic>
      <p:sp>
        <p:nvSpPr>
          <p:cNvPr id="35" name="TextBox 34">
            <a:extLst>
              <a:ext uri="{FF2B5EF4-FFF2-40B4-BE49-F238E27FC236}">
                <a16:creationId xmlns:a16="http://schemas.microsoft.com/office/drawing/2014/main" id="{D45DE6FB-DFE4-4485-8241-A21F2E52F5A1}"/>
              </a:ext>
            </a:extLst>
          </p:cNvPr>
          <p:cNvSpPr txBox="1"/>
          <p:nvPr/>
        </p:nvSpPr>
        <p:spPr>
          <a:xfrm>
            <a:off x="4218136" y="4639721"/>
            <a:ext cx="390307" cy="584775"/>
          </a:xfrm>
          <a:prstGeom prst="rect">
            <a:avLst/>
          </a:prstGeom>
          <a:noFill/>
        </p:spPr>
        <p:txBody>
          <a:bodyPr wrap="square">
            <a:spAutoFit/>
          </a:bodyPr>
          <a:lstStyle/>
          <a:p>
            <a:pPr algn="ctr"/>
            <a:r>
              <a:rPr lang="en-US" sz="3200" dirty="0"/>
              <a:t>-</a:t>
            </a:r>
          </a:p>
        </p:txBody>
      </p:sp>
      <p:sp>
        <p:nvSpPr>
          <p:cNvPr id="36" name="TextBox 35">
            <a:extLst>
              <a:ext uri="{FF2B5EF4-FFF2-40B4-BE49-F238E27FC236}">
                <a16:creationId xmlns:a16="http://schemas.microsoft.com/office/drawing/2014/main" id="{B0F7996E-EA80-4C82-AD70-E487D5CD0471}"/>
              </a:ext>
            </a:extLst>
          </p:cNvPr>
          <p:cNvSpPr txBox="1"/>
          <p:nvPr/>
        </p:nvSpPr>
        <p:spPr>
          <a:xfrm>
            <a:off x="4169431" y="5812701"/>
            <a:ext cx="390307" cy="584775"/>
          </a:xfrm>
          <a:prstGeom prst="rect">
            <a:avLst/>
          </a:prstGeom>
          <a:noFill/>
        </p:spPr>
        <p:txBody>
          <a:bodyPr wrap="square">
            <a:spAutoFit/>
          </a:bodyPr>
          <a:lstStyle/>
          <a:p>
            <a:pPr algn="ctr"/>
            <a:r>
              <a:rPr lang="en-US" sz="3200" dirty="0"/>
              <a:t>+</a:t>
            </a:r>
          </a:p>
        </p:txBody>
      </p:sp>
      <p:sp>
        <p:nvSpPr>
          <p:cNvPr id="37" name="TextBox 36">
            <a:extLst>
              <a:ext uri="{FF2B5EF4-FFF2-40B4-BE49-F238E27FC236}">
                <a16:creationId xmlns:a16="http://schemas.microsoft.com/office/drawing/2014/main" id="{238DFCFA-7D6A-4C8A-B212-19E9D772C06F}"/>
              </a:ext>
            </a:extLst>
          </p:cNvPr>
          <p:cNvSpPr txBox="1"/>
          <p:nvPr/>
        </p:nvSpPr>
        <p:spPr>
          <a:xfrm>
            <a:off x="8117221" y="4805918"/>
            <a:ext cx="390307" cy="584775"/>
          </a:xfrm>
          <a:prstGeom prst="rect">
            <a:avLst/>
          </a:prstGeom>
          <a:noFill/>
        </p:spPr>
        <p:txBody>
          <a:bodyPr wrap="square">
            <a:spAutoFit/>
          </a:bodyPr>
          <a:lstStyle/>
          <a:p>
            <a:pPr algn="ctr"/>
            <a:r>
              <a:rPr lang="en-US" sz="3200" dirty="0"/>
              <a:t>=</a:t>
            </a:r>
          </a:p>
        </p:txBody>
      </p:sp>
      <p:sp>
        <p:nvSpPr>
          <p:cNvPr id="17" name="TextBox 16">
            <a:extLst>
              <a:ext uri="{FF2B5EF4-FFF2-40B4-BE49-F238E27FC236}">
                <a16:creationId xmlns:a16="http://schemas.microsoft.com/office/drawing/2014/main" id="{FDFD80E0-8004-479E-BC77-FA9A59E68773}"/>
              </a:ext>
            </a:extLst>
          </p:cNvPr>
          <p:cNvSpPr txBox="1"/>
          <p:nvPr/>
        </p:nvSpPr>
        <p:spPr>
          <a:xfrm>
            <a:off x="8911278" y="1888206"/>
            <a:ext cx="2048883" cy="369332"/>
          </a:xfrm>
          <a:prstGeom prst="rect">
            <a:avLst/>
          </a:prstGeom>
          <a:noFill/>
        </p:spPr>
        <p:txBody>
          <a:bodyPr wrap="square">
            <a:spAutoFit/>
          </a:bodyPr>
          <a:lstStyle/>
          <a:p>
            <a:r>
              <a:rPr lang="en-US" dirty="0"/>
              <a:t>Thin Wing, 1/8”</a:t>
            </a:r>
          </a:p>
        </p:txBody>
      </p:sp>
      <p:sp>
        <p:nvSpPr>
          <p:cNvPr id="3" name="TextBox 2">
            <a:extLst>
              <a:ext uri="{FF2B5EF4-FFF2-40B4-BE49-F238E27FC236}">
                <a16:creationId xmlns:a16="http://schemas.microsoft.com/office/drawing/2014/main" id="{7A99C15B-39FF-ABE0-4EE8-3C9B901D4FC9}"/>
              </a:ext>
            </a:extLst>
          </p:cNvPr>
          <p:cNvSpPr txBox="1"/>
          <p:nvPr/>
        </p:nvSpPr>
        <p:spPr>
          <a:xfrm>
            <a:off x="10666621" y="40546"/>
            <a:ext cx="1467774" cy="584775"/>
          </a:xfrm>
          <a:prstGeom prst="rect">
            <a:avLst/>
          </a:prstGeom>
          <a:noFill/>
        </p:spPr>
        <p:txBody>
          <a:bodyPr wrap="none" rtlCol="0">
            <a:spAutoFit/>
          </a:bodyPr>
          <a:lstStyle/>
          <a:p>
            <a:pPr algn="ctr"/>
            <a:r>
              <a:rPr lang="en-US" sz="1600" b="1" dirty="0"/>
              <a:t>Transmission </a:t>
            </a:r>
          </a:p>
          <a:p>
            <a:pPr algn="ctr"/>
            <a:r>
              <a:rPr lang="en-US" sz="1600" b="1" dirty="0"/>
              <a:t>Simulator!</a:t>
            </a:r>
          </a:p>
        </p:txBody>
      </p:sp>
      <p:cxnSp>
        <p:nvCxnSpPr>
          <p:cNvPr id="20" name="Straight Arrow Connector 19">
            <a:extLst>
              <a:ext uri="{FF2B5EF4-FFF2-40B4-BE49-F238E27FC236}">
                <a16:creationId xmlns:a16="http://schemas.microsoft.com/office/drawing/2014/main" id="{F2E64701-F321-935B-AD9A-36D37CA98430}"/>
              </a:ext>
            </a:extLst>
          </p:cNvPr>
          <p:cNvCxnSpPr>
            <a:cxnSpLocks/>
          </p:cNvCxnSpPr>
          <p:nvPr/>
        </p:nvCxnSpPr>
        <p:spPr>
          <a:xfrm flipH="1">
            <a:off x="10793747" y="707434"/>
            <a:ext cx="462686" cy="12810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81631731"/>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animBg="1"/>
      <p:bldP spid="28" grpId="0" animBg="1"/>
      <p:bldP spid="29" grpId="0" animBg="1"/>
      <p:bldP spid="30" grpId="0" animBg="1"/>
      <p:bldP spid="31" grpId="0" animBg="1"/>
      <p:bldP spid="32" grpId="0" animBg="1"/>
      <p:bldP spid="33" grpId="0" animBg="1"/>
      <p:bldP spid="35" grpId="0"/>
      <p:bldP spid="36"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Experimental Setup </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203199" y="799306"/>
            <a:ext cx="11637434" cy="1989928"/>
          </a:xfrm>
        </p:spPr>
        <p:txBody>
          <a:bodyPr>
            <a:normAutofit/>
          </a:bodyPr>
          <a:lstStyle/>
          <a:p>
            <a:r>
              <a:rPr lang="en-US" dirty="0"/>
              <a:t>Testing was performed on all three substructures and the truth assembly using hammer impacts and accelerometers – the structure was densely instrumented with accelerometers to characterize modes to at least 1600 Hz.</a:t>
            </a:r>
          </a:p>
          <a:p>
            <a:r>
              <a:rPr lang="en-US" dirty="0"/>
              <a:t>Lets use these experimental mode sets to complete dynamic </a:t>
            </a:r>
            <a:r>
              <a:rPr lang="en-US" dirty="0" err="1"/>
              <a:t>substructuring</a:t>
            </a:r>
            <a:r>
              <a:rPr lang="en-US" dirty="0"/>
              <a:t>.</a:t>
            </a:r>
            <a:endParaRPr lang="en-US" b="1" dirty="0"/>
          </a:p>
        </p:txBody>
      </p:sp>
      <p:pic>
        <p:nvPicPr>
          <p:cNvPr id="10" name="Picture 9">
            <a:extLst>
              <a:ext uri="{FF2B5EF4-FFF2-40B4-BE49-F238E27FC236}">
                <a16:creationId xmlns:a16="http://schemas.microsoft.com/office/drawing/2014/main" id="{456DC8D3-42C2-4360-8FED-DFCE860E2E38}"/>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866898" y="2724329"/>
            <a:ext cx="4111544" cy="3660401"/>
          </a:xfrm>
          <a:prstGeom prst="rect">
            <a:avLst/>
          </a:prstGeom>
        </p:spPr>
      </p:pic>
      <p:pic>
        <p:nvPicPr>
          <p:cNvPr id="6" name="Picture 5">
            <a:extLst>
              <a:ext uri="{FF2B5EF4-FFF2-40B4-BE49-F238E27FC236}">
                <a16:creationId xmlns:a16="http://schemas.microsoft.com/office/drawing/2014/main" id="{AD5C4932-8691-4E99-8B30-CF7561E50D9E}"/>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114483" y="2724329"/>
            <a:ext cx="4985313" cy="1747812"/>
          </a:xfrm>
          <a:prstGeom prst="rect">
            <a:avLst/>
          </a:prstGeom>
        </p:spPr>
      </p:pic>
      <p:pic>
        <p:nvPicPr>
          <p:cNvPr id="11" name="Picture 10">
            <a:extLst>
              <a:ext uri="{FF2B5EF4-FFF2-40B4-BE49-F238E27FC236}">
                <a16:creationId xmlns:a16="http://schemas.microsoft.com/office/drawing/2014/main" id="{938402DE-9F76-4290-9DCC-1C539323E873}"/>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6114484" y="4636918"/>
            <a:ext cx="4985312" cy="1747812"/>
          </a:xfrm>
          <a:prstGeom prst="rect">
            <a:avLst/>
          </a:prstGeom>
        </p:spPr>
      </p:pic>
    </p:spTree>
    <p:extLst>
      <p:ext uri="{BB962C8B-B14F-4D97-AF65-F5344CB8AC3E}">
        <p14:creationId xmlns:p14="http://schemas.microsoft.com/office/powerpoint/2010/main" val="680921103"/>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CSM Substructuring Theory – TSM</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85000" lnSpcReduction="20000"/>
              </a:bodyPr>
              <a:lstStyle/>
              <a:p>
                <a:pPr lvl="1">
                  <a:spcBef>
                    <a:spcPts val="600"/>
                  </a:spcBef>
                  <a:spcAft>
                    <a:spcPts val="1200"/>
                  </a:spcAft>
                </a:pPr>
                <a:r>
                  <a:rPr lang="en-US" dirty="0"/>
                  <a:t>To perform CMS substructuring, acquire modal information for each substructure and form EOM.</a:t>
                </a:r>
                <a:endParaRPr lang="en-US" baseline="30000" dirty="0"/>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m:oMathPara>
                </a14:m>
                <a:endParaRPr lang="en-US" dirty="0"/>
              </a:p>
              <a:p>
                <a:pPr lvl="1">
                  <a:spcBef>
                    <a:spcPts val="600"/>
                  </a:spcBef>
                  <a:spcAft>
                    <a:spcPts val="1200"/>
                  </a:spcAft>
                </a:pPr>
                <a:r>
                  <a:rPr lang="en-US" dirty="0"/>
                  <a:t>Physical constraints are defined connecting both structures to the Plate &amp; Thin-Wing subsystem.</a:t>
                </a: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oMath>
                  </m:oMathPara>
                </a14:m>
                <a:endParaRPr lang="en-US" b="0"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These constraints are cast to modal domain and softened by projecting each subsystems dynamics through the mode shapes of the Plate &amp; Thin-Wing (or a set of singular vectors).</a:t>
                </a:r>
                <a:endParaRPr lang="en-US"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2"/>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3"/>
                <a:stretch>
                  <a:fillRect t="-20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70D7D46-1F06-4723-9AA5-3B5077277A9E}"/>
              </a:ext>
            </a:extLst>
          </p:cNvPr>
          <p:cNvSpPr txBox="1"/>
          <p:nvPr/>
        </p:nvSpPr>
        <p:spPr>
          <a:xfrm>
            <a:off x="9618696" y="27028"/>
            <a:ext cx="2475345" cy="830997"/>
          </a:xfrm>
          <a:prstGeom prst="rect">
            <a:avLst/>
          </a:prstGeom>
          <a:noFill/>
        </p:spPr>
        <p:txBody>
          <a:bodyPr wrap="square" rtlCol="0">
            <a:spAutoFit/>
          </a:bodyPr>
          <a:lstStyle/>
          <a:p>
            <a:r>
              <a:rPr lang="en-US" sz="1600" dirty="0">
                <a:latin typeface="+mj-lt"/>
              </a:rPr>
              <a:t>1: Frame, Plate &amp; Thin-Wing</a:t>
            </a:r>
          </a:p>
          <a:p>
            <a:r>
              <a:rPr lang="en-US" sz="1600" dirty="0">
                <a:latin typeface="+mj-lt"/>
              </a:rPr>
              <a:t>2: Plate &amp; Thin-Wing</a:t>
            </a:r>
          </a:p>
          <a:p>
            <a:r>
              <a:rPr lang="en-US" sz="1600" dirty="0">
                <a:latin typeface="+mj-lt"/>
              </a:rPr>
              <a:t>3: Plate &amp; Thick-Wing</a:t>
            </a:r>
          </a:p>
        </p:txBody>
      </p:sp>
    </p:spTree>
    <p:extLst>
      <p:ext uri="{BB962C8B-B14F-4D97-AF65-F5344CB8AC3E}">
        <p14:creationId xmlns:p14="http://schemas.microsoft.com/office/powerpoint/2010/main" val="2969910709"/>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CSM Substructuring Theory – TSM</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85000" lnSpcReduction="10000"/>
              </a:bodyPr>
              <a:lstStyle/>
              <a:p>
                <a:pPr lvl="1">
                  <a:spcBef>
                    <a:spcPts val="600"/>
                  </a:spcBef>
                  <a:spcAft>
                    <a:spcPts val="1200"/>
                  </a:spcAft>
                </a:pPr>
                <a:r>
                  <a:rPr lang="en-US" dirty="0"/>
                  <a:t>The null space function is used to determine the localization matrix </a:t>
                </a:r>
                <a:r>
                  <a:rPr lang="en-US" dirty="0">
                    <a:solidFill>
                      <a:srgbClr val="000000"/>
                    </a:solidFill>
                    <a:latin typeface="Times New Roman" panose="02020603050405020304" pitchFamily="18" charset="0"/>
                    <a:cs typeface="Times New Roman" panose="02020603050405020304" pitchFamily="18" charset="0"/>
                  </a:rPr>
                  <a:t>L.</a:t>
                </a:r>
              </a:p>
              <a:p>
                <a:pPr marL="201159" lvl="1" indent="0" algn="ctr">
                  <a:spcBef>
                    <a:spcPts val="600"/>
                  </a:spcBef>
                  <a:spcAft>
                    <a:spcPts val="1200"/>
                  </a:spcAft>
                  <a:buNone/>
                </a:pPr>
                <a14:m>
                  <m:oMathPara xmlns:m="http://schemas.openxmlformats.org/officeDocument/2006/math">
                    <m:oMathParaPr>
                      <m:jc m:val="centerGroup"/>
                    </m:oMathParaPr>
                    <m:oMath xmlns:m="http://schemas.openxmlformats.org/officeDocument/2006/math">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null</m:t>
                      </m:r>
                      <m:r>
                        <a:rPr lang="en-US" b="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L-matrix is used to enforce constraints on equation of motion and predict system assembly response.</a:t>
                </a: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01159" lvl="1" indent="0" algn="ctr">
                  <a:spcBef>
                    <a:spcPts val="600"/>
                  </a:spcBef>
                  <a:spcAft>
                    <a:spcPts val="1200"/>
                  </a:spcAft>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a14:m>
                <a:endParaRPr lang="en-US" dirty="0"/>
              </a:p>
              <a:p>
                <a:pPr lvl="1">
                  <a:spcBef>
                    <a:spcPts val="600"/>
                  </a:spcBef>
                  <a:spcAft>
                    <a:spcPts val="1200"/>
                  </a:spcAft>
                </a:pPr>
                <a:r>
                  <a:rPr lang="en-US" dirty="0"/>
                  <a:t>An Eigen solution of the Transformed Mass and Stiffness Matrices yield the predicted Natural Frequencies and Mode shapes.</a:t>
                </a:r>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acc>
                        <m:accPr>
                          <m:chr m:val="̂"/>
                          <m:ctrlPr>
                            <a:rPr lang="en-US" b="0" i="1" smtClean="0">
                              <a:solidFill>
                                <a:srgbClr val="000000"/>
                              </a:solidFill>
                              <a:latin typeface="Cambria Math" panose="02040503050406030204" pitchFamily="18" charset="0"/>
                              <a:cs typeface="Times New Roman" panose="02020603050405020304" pitchFamily="18" charset="0"/>
                            </a:rPr>
                          </m:ctrlPr>
                        </m:accPr>
                        <m:e>
                          <m:r>
                            <m:rPr>
                              <m:sty m:val="p"/>
                            </m:rP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m:t>
                          </m:r>
                        </m:e>
                      </m:acc>
                      <m: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   </m:t>
                      </m:r>
                      <m:acc>
                        <m:accPr>
                          <m:chr m:val="̂"/>
                          <m:ctrlPr>
                            <a:rPr lang="en-US" b="0" i="1" smtClean="0">
                              <a:solidFill>
                                <a:srgbClr val="000000"/>
                              </a:solidFill>
                              <a:latin typeface="Cambria Math" panose="02040503050406030204" pitchFamily="18" charset="0"/>
                              <a:cs typeface="Times New Roman" panose="02020603050405020304" pitchFamily="18" charset="0"/>
                            </a:rPr>
                          </m:ctrlPr>
                        </m:accPr>
                        <m:e>
                          <m:r>
                            <m:rPr>
                              <m:sty m:val="p"/>
                            </m:rPr>
                            <a:rPr lang="en-US" i="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K</m:t>
                          </m:r>
                        </m:e>
                      </m:acc>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oMath>
                  </m:oMathPara>
                </a14:m>
                <a:endParaRPr lang="en-US" b="0" i="1" dirty="0">
                  <a:latin typeface="Cambria Math" panose="02040503050406030204" pitchFamily="18" charset="0"/>
                </a:endParaRPr>
              </a:p>
              <a:p>
                <a:pPr marL="201159" lvl="1" indent="0">
                  <a:spcBef>
                    <a:spcPts val="1200"/>
                  </a:spcBef>
                  <a:spcAft>
                    <a:spcPts val="1200"/>
                  </a:spcAft>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solidFill>
                          <a:latin typeface="Cambria Math" panose="02040503050406030204" pitchFamily="18" charset="0"/>
                        </a:rPr>
                        <m:t>eig</m:t>
                      </m:r>
                      <m:r>
                        <a:rPr lang="en-US" b="0" i="1" smtClean="0">
                          <a:solidFill>
                            <a:schemeClr val="tx1"/>
                          </a:solidFill>
                          <a:latin typeface="Cambria Math" panose="02040503050406030204" pitchFamily="18" charset="0"/>
                        </a:rPr>
                        <m:t>(</m:t>
                      </m:r>
                      <m:acc>
                        <m:accPr>
                          <m:chr m:val="̂"/>
                          <m:ctrlPr>
                            <a:rPr lang="en-US" i="1">
                              <a:solidFill>
                                <a:schemeClr val="tx1"/>
                              </a:solidFill>
                              <a:latin typeface="Cambria Math" panose="02040503050406030204" pitchFamily="18" charset="0"/>
                              <a:cs typeface="Times New Roman" panose="02020603050405020304" pitchFamily="18" charset="0"/>
                            </a:rPr>
                          </m:ctrlPr>
                        </m:accPr>
                        <m:e>
                          <m:r>
                            <m:rPr>
                              <m:sty m:val="p"/>
                            </m:rPr>
                            <a:rPr lang="en-US" i="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K</m:t>
                          </m:r>
                        </m:e>
                      </m:acc>
                      <m:r>
                        <a:rPr lang="en-US" b="0" i="1" smtClean="0">
                          <a:solidFill>
                            <a:schemeClr val="tx1"/>
                          </a:solidFill>
                          <a:latin typeface="Cambria Math" panose="02040503050406030204" pitchFamily="18" charset="0"/>
                        </a:rPr>
                        <m:t>,</m:t>
                      </m:r>
                      <m:acc>
                        <m:accPr>
                          <m:chr m:val="̂"/>
                          <m:ctrlPr>
                            <a:rPr lang="en-US" i="1">
                              <a:solidFill>
                                <a:schemeClr val="tx1"/>
                              </a:solidFill>
                              <a:latin typeface="Cambria Math" panose="02040503050406030204" pitchFamily="18" charset="0"/>
                              <a:cs typeface="Times New Roman" panose="02020603050405020304" pitchFamily="18" charset="0"/>
                            </a:rPr>
                          </m:ctrlPr>
                        </m:accPr>
                        <m:e>
                          <m:r>
                            <m:rPr>
                              <m:sty m:val="p"/>
                            </m:rPr>
                            <a:rPr lang="en-US">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m:t>
                          </m:r>
                        </m:e>
                      </m:acc>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𝜔</m:t>
                              </m:r>
                            </m:e>
                          </m:acc>
                        </m:e>
                        <m:sub>
                          <m:r>
                            <a:rPr lang="en-US" b="0" i="1" smtClean="0">
                              <a:solidFill>
                                <a:schemeClr val="tx1"/>
                              </a:solidFill>
                              <a:latin typeface="Cambria Math" panose="02040503050406030204" pitchFamily="18" charset="0"/>
                            </a:rPr>
                            <m:t>𝑛</m:t>
                          </m:r>
                        </m:sub>
                      </m:sSub>
                      <m:r>
                        <a:rPr lang="en-US" b="0" i="1" smtClean="0">
                          <a:solidFill>
                            <a:schemeClr val="tx1"/>
                          </a:solidFill>
                          <a:latin typeface="Cambria Math" panose="02040503050406030204" pitchFamily="18" charset="0"/>
                        </a:rPr>
                        <m:t>,</m:t>
                      </m:r>
                      <m:acc>
                        <m:accPr>
                          <m:chr m:val="̂"/>
                          <m:ctrlPr>
                            <a:rPr lang="en-US" b="0" i="1" smtClean="0">
                              <a:solidFill>
                                <a:schemeClr val="tx1"/>
                              </a:solidFill>
                              <a:latin typeface="Cambria Math" panose="02040503050406030204" pitchFamily="18" charset="0"/>
                            </a:rPr>
                          </m:ctrlPr>
                        </m:accPr>
                        <m:e>
                          <m:r>
                            <m:rPr>
                              <m:sty m:val="p"/>
                            </m:rPr>
                            <a:rPr lang="en-US">
                              <a:solidFill>
                                <a:schemeClr val="tx1"/>
                              </a:solidFill>
                              <a:latin typeface="Cambria Math" panose="02040503050406030204" pitchFamily="18" charset="0"/>
                            </a:rPr>
                            <m:t>Φ</m:t>
                          </m:r>
                        </m:e>
                      </m:acc>
                    </m:oMath>
                  </m:oMathPara>
                </a14:m>
                <a:endParaRPr lang="en-US" dirty="0">
                  <a:solidFill>
                    <a:schemeClr val="tx1"/>
                  </a:solidFill>
                </a:endParaRPr>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3"/>
                <a:stretch>
                  <a:fillRect t="-183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8949321-8807-42B3-BE31-843AB1B8AD90}"/>
              </a:ext>
            </a:extLst>
          </p:cNvPr>
          <p:cNvSpPr txBox="1"/>
          <p:nvPr/>
        </p:nvSpPr>
        <p:spPr>
          <a:xfrm>
            <a:off x="9618696" y="27028"/>
            <a:ext cx="2475345" cy="830997"/>
          </a:xfrm>
          <a:prstGeom prst="rect">
            <a:avLst/>
          </a:prstGeom>
          <a:noFill/>
        </p:spPr>
        <p:txBody>
          <a:bodyPr wrap="square" rtlCol="0">
            <a:spAutoFit/>
          </a:bodyPr>
          <a:lstStyle/>
          <a:p>
            <a:r>
              <a:rPr lang="en-US" sz="1600" dirty="0">
                <a:latin typeface="+mj-lt"/>
              </a:rPr>
              <a:t>1: Frame, Plate &amp; Thin-Wing</a:t>
            </a:r>
          </a:p>
          <a:p>
            <a:r>
              <a:rPr lang="en-US" sz="1600" dirty="0">
                <a:latin typeface="+mj-lt"/>
              </a:rPr>
              <a:t>2: Plate &amp; Thin-Wing</a:t>
            </a:r>
          </a:p>
          <a:p>
            <a:r>
              <a:rPr lang="en-US" sz="1600" dirty="0">
                <a:latin typeface="+mj-lt"/>
              </a:rPr>
              <a:t>3: Plate &amp; Thick-Wing</a:t>
            </a:r>
          </a:p>
        </p:txBody>
      </p:sp>
    </p:spTree>
    <p:extLst>
      <p:ext uri="{BB962C8B-B14F-4D97-AF65-F5344CB8AC3E}">
        <p14:creationId xmlns:p14="http://schemas.microsoft.com/office/powerpoint/2010/main" val="740081144"/>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a:xfrm>
            <a:off x="105032" y="136525"/>
            <a:ext cx="9170853" cy="662781"/>
          </a:xfrm>
        </p:spPr>
        <p:txBody>
          <a:bodyPr>
            <a:normAutofit fontScale="90000"/>
          </a:bodyPr>
          <a:lstStyle/>
          <a:p>
            <a:r>
              <a:rPr lang="en-US" dirty="0"/>
              <a:t>Choices for the Practitioner to Make</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85000" lnSpcReduction="20000"/>
              </a:bodyPr>
              <a:lstStyle/>
              <a:p>
                <a:pPr lvl="1">
                  <a:spcBef>
                    <a:spcPts val="600"/>
                  </a:spcBef>
                  <a:spcAft>
                    <a:spcPts val="1200"/>
                  </a:spcAft>
                </a:pPr>
                <a:r>
                  <a:rPr lang="en-US" dirty="0"/>
                  <a:t>To perform CMS substructuring, acquire modal information for each substructure and form EOM.</a:t>
                </a:r>
                <a:endParaRPr lang="en-US" baseline="30000" dirty="0"/>
              </a:p>
              <a:p>
                <a:pPr marL="201159" lvl="1" indent="0">
                  <a:spcBef>
                    <a:spcPts val="600"/>
                  </a:spcBef>
                  <a:spcAft>
                    <a:spcPts val="1200"/>
                  </a:spcAft>
                  <a:buNone/>
                </a:pPr>
                <a14:m>
                  <m:oMathPara xmlns:m="http://schemas.openxmlformats.org/officeDocument/2006/math">
                    <m:oMathParaPr>
                      <m:jc m:val="left"/>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b="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m:oMathPara>
                </a14:m>
                <a:endParaRPr lang="en-US" dirty="0"/>
              </a:p>
              <a:p>
                <a:pPr lvl="1">
                  <a:spcBef>
                    <a:spcPts val="600"/>
                  </a:spcBef>
                  <a:spcAft>
                    <a:spcPts val="1200"/>
                  </a:spcAft>
                </a:pPr>
                <a:r>
                  <a:rPr lang="en-US" dirty="0"/>
                  <a:t>Physical constraints are defined connecting both structures to the Plate &amp; Thin-Wing subsystem.</a:t>
                </a:r>
              </a:p>
              <a:p>
                <a:pPr marL="201159" lvl="1" indent="0">
                  <a:spcBef>
                    <a:spcPts val="600"/>
                  </a:spcBef>
                  <a:spcAft>
                    <a:spcPts val="1200"/>
                  </a:spcAft>
                  <a:buNone/>
                </a:pPr>
                <a:r>
                  <a:rPr lang="en-US" b="0" dirty="0">
                    <a:solidFill>
                      <a:srgbClr val="000000"/>
                    </a:solidFill>
                    <a:ea typeface="Times New Roman" panose="02020603050405020304" pitchFamily="18" charset="0"/>
                    <a:cs typeface="Times New Roman" panose="02020603050405020304" pitchFamily="18" charset="0"/>
                  </a:rPr>
                  <a:t>			</a:t>
                </a:r>
                <a14:m>
                  <m:oMath xmlns:m="http://schemas.openxmlformats.org/officeDocument/2006/math">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oMath>
                </a14:m>
                <a:endParaRPr lang="en-US" b="0"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r>
                  <a:rPr lang="en-US" dirty="0">
                    <a:solidFill>
                      <a:srgbClr val="000000"/>
                    </a:solidFill>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𝑥</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These constraints are cast to modal domain and softened by projecting each subsystems dynamics through the mode shapes of the Plate &amp; Thin-Wing.</a:t>
                </a:r>
                <a:endParaRPr lang="en-US" i="1" dirty="0">
                  <a:solidFill>
                    <a:srgbClr val="000000"/>
                  </a:solidFill>
                  <a:latin typeface="Cambria Math" panose="02040503050406030204" pitchFamily="18" charset="0"/>
                  <a:ea typeface="Times New Roman" panose="02020603050405020304" pitchFamily="18" charset="0"/>
                  <a:cs typeface="Times New Roman" panose="02020603050405020304" pitchFamily="18" charset="0"/>
                </a:endParaRPr>
              </a:p>
              <a:p>
                <a:pPr marL="201159" lvl="1" indent="0">
                  <a:spcBef>
                    <a:spcPts val="600"/>
                  </a:spcBef>
                  <a:spcAft>
                    <a:spcPts val="1200"/>
                  </a:spcAft>
                  <a:buNone/>
                </a:pPr>
                <a:r>
                  <a:rPr lang="en-US" dirty="0">
                    <a:solidFill>
                      <a:srgbClr val="000000"/>
                    </a:solidFill>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2"/>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𝑆</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𝐶</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,3→2</m:t>
                                  </m:r>
                                </m:sub>
                                <m:sup>
                                  <m:r>
                                    <a:rPr lang="en-US"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3"/>
                <a:stretch>
                  <a:fillRect t="-208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70D7D46-1F06-4723-9AA5-3B5077277A9E}"/>
              </a:ext>
            </a:extLst>
          </p:cNvPr>
          <p:cNvSpPr txBox="1"/>
          <p:nvPr/>
        </p:nvSpPr>
        <p:spPr>
          <a:xfrm>
            <a:off x="9740900" y="0"/>
            <a:ext cx="2451100" cy="830997"/>
          </a:xfrm>
          <a:prstGeom prst="rect">
            <a:avLst/>
          </a:prstGeom>
          <a:noFill/>
        </p:spPr>
        <p:txBody>
          <a:bodyPr wrap="square" rtlCol="0">
            <a:spAutoFit/>
          </a:bodyPr>
          <a:lstStyle/>
          <a:p>
            <a:r>
              <a:rPr lang="en-US" sz="1600" dirty="0">
                <a:latin typeface="+mj-lt"/>
              </a:rPr>
              <a:t>1: Frame, Plate &amp; Thin-Wing</a:t>
            </a:r>
          </a:p>
          <a:p>
            <a:r>
              <a:rPr lang="en-US" sz="1600" dirty="0">
                <a:latin typeface="+mj-lt"/>
              </a:rPr>
              <a:t>2: Plate &amp; Thin-Wing</a:t>
            </a:r>
          </a:p>
          <a:p>
            <a:r>
              <a:rPr lang="en-US" sz="1600" dirty="0">
                <a:latin typeface="+mj-lt"/>
              </a:rPr>
              <a:t>3: Plate &amp; Thick-Wing</a:t>
            </a:r>
          </a:p>
        </p:txBody>
      </p:sp>
      <p:sp>
        <p:nvSpPr>
          <p:cNvPr id="4" name="Rectangle 3">
            <a:extLst>
              <a:ext uri="{FF2B5EF4-FFF2-40B4-BE49-F238E27FC236}">
                <a16:creationId xmlns:a16="http://schemas.microsoft.com/office/drawing/2014/main" id="{8A1AE227-E738-88A7-01A4-D559578ED104}"/>
              </a:ext>
            </a:extLst>
          </p:cNvPr>
          <p:cNvSpPr/>
          <p:nvPr/>
        </p:nvSpPr>
        <p:spPr>
          <a:xfrm>
            <a:off x="7501466" y="3015762"/>
            <a:ext cx="3837021" cy="106386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Which DOFs should we constrain in our subtraction and addition steps?</a:t>
            </a:r>
          </a:p>
        </p:txBody>
      </p:sp>
      <p:sp>
        <p:nvSpPr>
          <p:cNvPr id="5" name="Rectangle 4">
            <a:extLst>
              <a:ext uri="{FF2B5EF4-FFF2-40B4-BE49-F238E27FC236}">
                <a16:creationId xmlns:a16="http://schemas.microsoft.com/office/drawing/2014/main" id="{478DE803-1A87-8911-2C10-16111470D091}"/>
              </a:ext>
            </a:extLst>
          </p:cNvPr>
          <p:cNvSpPr/>
          <p:nvPr/>
        </p:nvSpPr>
        <p:spPr>
          <a:xfrm>
            <a:off x="7873010" y="1334004"/>
            <a:ext cx="3465478" cy="106386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many modes should we include for each structure?</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6331907-36F4-8EAB-6D3D-A0CDD21B126A}"/>
                  </a:ext>
                </a:extLst>
              </p:cNvPr>
              <p:cNvSpPr/>
              <p:nvPr/>
            </p:nvSpPr>
            <p:spPr>
              <a:xfrm>
                <a:off x="7150100" y="4816448"/>
                <a:ext cx="4188388" cy="106386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Should we </a:t>
                </a:r>
                <a:r>
                  <a:rPr lang="en-US" dirty="0">
                    <a:solidFill>
                      <a:schemeClr val="bg1"/>
                    </a:solidFill>
                  </a:rPr>
                  <a:t>use </a:t>
                </a:r>
                <a14:m>
                  <m:oMath xmlns:m="http://schemas.openxmlformats.org/officeDocument/2006/math">
                    <m:sSub>
                      <m:sSubPr>
                        <m:ctrlPr>
                          <a:rPr lang="en-US"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b>
                    </m:sSub>
                  </m:oMath>
                </a14:m>
                <a:r>
                  <a:rPr lang="en-US" dirty="0">
                    <a:solidFill>
                      <a:schemeClr val="bg1"/>
                    </a:solidFill>
                  </a:rPr>
                  <a:t> for the constraint softening? Or try using singular vectors</a:t>
                </a:r>
                <a:r>
                  <a:rPr lang="en-US" dirty="0"/>
                  <a:t>?</a:t>
                </a:r>
              </a:p>
            </p:txBody>
          </p:sp>
        </mc:Choice>
        <mc:Fallback xmlns="">
          <p:sp>
            <p:nvSpPr>
              <p:cNvPr id="8" name="Rectangle 7">
                <a:extLst>
                  <a:ext uri="{FF2B5EF4-FFF2-40B4-BE49-F238E27FC236}">
                    <a16:creationId xmlns:a16="http://schemas.microsoft.com/office/drawing/2014/main" id="{D6331907-36F4-8EAB-6D3D-A0CDD21B126A}"/>
                  </a:ext>
                </a:extLst>
              </p:cNvPr>
              <p:cNvSpPr>
                <a:spLocks noRot="1" noChangeAspect="1" noMove="1" noResize="1" noEditPoints="1" noAdjustHandles="1" noChangeArrowheads="1" noChangeShapeType="1" noTextEdit="1"/>
              </p:cNvSpPr>
              <p:nvPr/>
            </p:nvSpPr>
            <p:spPr>
              <a:xfrm>
                <a:off x="7150100" y="4816448"/>
                <a:ext cx="4188388" cy="1063869"/>
              </a:xfrm>
              <a:prstGeom prst="rect">
                <a:avLst/>
              </a:prstGeom>
              <a:blipFill>
                <a:blip r:embed="rId4"/>
                <a:stretch>
                  <a:fillRect l="-145"/>
                </a:stretch>
              </a:blipFill>
            </p:spPr>
            <p:txBody>
              <a:bodyPr/>
              <a:lstStyle/>
              <a:p>
                <a:r>
                  <a:rPr lang="en-US">
                    <a:noFill/>
                  </a:rPr>
                  <a:t> </a:t>
                </a:r>
              </a:p>
            </p:txBody>
          </p:sp>
        </mc:Fallback>
      </mc:AlternateContent>
    </p:spTree>
    <p:extLst>
      <p:ext uri="{BB962C8B-B14F-4D97-AF65-F5344CB8AC3E}">
        <p14:creationId xmlns:p14="http://schemas.microsoft.com/office/powerpoint/2010/main" val="2776508994"/>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CB39835-F37B-5854-84DA-3D4E381D5D58}"/>
                  </a:ext>
                </a:extLst>
              </p:cNvPr>
              <p:cNvSpPr>
                <a:spLocks noGrp="1"/>
              </p:cNvSpPr>
              <p:nvPr>
                <p:ph type="title"/>
              </p:nvPr>
            </p:nvSpPr>
            <p:spPr>
              <a:xfrm>
                <a:off x="409832" y="694267"/>
                <a:ext cx="10515600" cy="1642533"/>
              </a:xfrm>
            </p:spPr>
            <p:txBody>
              <a:bodyPr>
                <a:normAutofit/>
              </a:bodyPr>
              <a:lstStyle/>
              <a:p>
                <a:r>
                  <a:rPr lang="en-US" dirty="0"/>
                  <a:t>Data &amp; Script Available</a:t>
                </a:r>
                <a:br>
                  <a:rPr lang="en-US" dirty="0"/>
                </a:br>
                <a14:m>
                  <m:oMath xmlns:m="http://schemas.openxmlformats.org/officeDocument/2006/math">
                    <m:r>
                      <a:rPr lang="en-US" b="1" i="1" smtClean="0">
                        <a:latin typeface="Cambria Math" panose="02040503050406030204" pitchFamily="18" charset="0"/>
                      </a:rPr>
                      <m:t>→</m:t>
                    </m:r>
                  </m:oMath>
                </a14:m>
                <a:r>
                  <a:rPr lang="en-US" dirty="0"/>
                  <a:t> Lets Make Some Choices!</a:t>
                </a:r>
              </a:p>
            </p:txBody>
          </p:sp>
        </mc:Choice>
        <mc:Fallback xmlns="">
          <p:sp>
            <p:nvSpPr>
              <p:cNvPr id="2" name="Title 1">
                <a:extLst>
                  <a:ext uri="{FF2B5EF4-FFF2-40B4-BE49-F238E27FC236}">
                    <a16:creationId xmlns:a16="http://schemas.microsoft.com/office/drawing/2014/main" id="{ACB39835-F37B-5854-84DA-3D4E381D5D58}"/>
                  </a:ext>
                </a:extLst>
              </p:cNvPr>
              <p:cNvSpPr>
                <a:spLocks noGrp="1" noRot="1" noChangeAspect="1" noMove="1" noResize="1" noEditPoints="1" noAdjustHandles="1" noChangeArrowheads="1" noChangeShapeType="1" noTextEdit="1"/>
              </p:cNvSpPr>
              <p:nvPr>
                <p:ph type="title"/>
              </p:nvPr>
            </p:nvSpPr>
            <p:spPr>
              <a:xfrm>
                <a:off x="409832" y="694267"/>
                <a:ext cx="10515600" cy="1642533"/>
              </a:xfrm>
              <a:blipFill>
                <a:blip r:embed="rId2"/>
                <a:stretch>
                  <a:fillRect t="-743" b="-7807"/>
                </a:stretch>
              </a:blipFill>
            </p:spPr>
            <p:txBody>
              <a:bodyPr/>
              <a:lstStyle/>
              <a:p>
                <a:r>
                  <a:rPr lang="en-US">
                    <a:noFill/>
                  </a:rPr>
                  <a:t> </a:t>
                </a:r>
              </a:p>
            </p:txBody>
          </p:sp>
        </mc:Fallback>
      </mc:AlternateContent>
    </p:spTree>
    <p:extLst>
      <p:ext uri="{BB962C8B-B14F-4D97-AF65-F5344CB8AC3E}">
        <p14:creationId xmlns:p14="http://schemas.microsoft.com/office/powerpoint/2010/main" val="1335978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D1D60-93F6-F824-1B56-CB584314AAAB}"/>
              </a:ext>
            </a:extLst>
          </p:cNvPr>
          <p:cNvSpPr>
            <a:spLocks noGrp="1"/>
          </p:cNvSpPr>
          <p:nvPr>
            <p:ph type="title"/>
          </p:nvPr>
        </p:nvSpPr>
        <p:spPr/>
        <p:txBody>
          <a:bodyPr>
            <a:normAutofit fontScale="90000"/>
          </a:bodyPr>
          <a:lstStyle/>
          <a:p>
            <a:r>
              <a:rPr lang="en-US" dirty="0"/>
              <a:t>Frame &amp; Wing Example Exercise</a:t>
            </a:r>
          </a:p>
        </p:txBody>
      </p:sp>
      <p:sp>
        <p:nvSpPr>
          <p:cNvPr id="3" name="Content Placeholder 2">
            <a:extLst>
              <a:ext uri="{FF2B5EF4-FFF2-40B4-BE49-F238E27FC236}">
                <a16:creationId xmlns:a16="http://schemas.microsoft.com/office/drawing/2014/main" id="{6E7843CE-F679-072A-8BF3-9253CE9960AD}"/>
              </a:ext>
            </a:extLst>
          </p:cNvPr>
          <p:cNvSpPr>
            <a:spLocks noGrp="1"/>
          </p:cNvSpPr>
          <p:nvPr>
            <p:ph idx="1"/>
          </p:nvPr>
        </p:nvSpPr>
        <p:spPr>
          <a:xfrm>
            <a:off x="105032" y="939586"/>
            <a:ext cx="11337324" cy="2784984"/>
          </a:xfrm>
        </p:spPr>
        <p:txBody>
          <a:bodyPr/>
          <a:lstStyle/>
          <a:p>
            <a:r>
              <a:rPr lang="en-US" dirty="0"/>
              <a:t>Test Data: </a:t>
            </a:r>
            <a:r>
              <a:rPr lang="en-US" dirty="0" err="1">
                <a:solidFill>
                  <a:schemeClr val="tx1"/>
                </a:solidFill>
              </a:rPr>
              <a:t>FrameWing_Data.mat</a:t>
            </a:r>
            <a:endParaRPr lang="en-US" dirty="0">
              <a:solidFill>
                <a:schemeClr val="tx1"/>
              </a:solidFill>
            </a:endParaRPr>
          </a:p>
          <a:p>
            <a:r>
              <a:rPr lang="en-US" dirty="0"/>
              <a:t>MATLAB Script: </a:t>
            </a:r>
            <a:r>
              <a:rPr lang="en-US" dirty="0">
                <a:solidFill>
                  <a:schemeClr val="tx1"/>
                </a:solidFill>
              </a:rPr>
              <a:t>Mod7_FrameWing_Example.m</a:t>
            </a:r>
          </a:p>
          <a:p>
            <a:pPr lvl="1"/>
            <a:r>
              <a:rPr lang="en-US" dirty="0"/>
              <a:t>Which modes should be used to define each subsystem?</a:t>
            </a:r>
          </a:p>
          <a:p>
            <a:pPr lvl="1"/>
            <a:r>
              <a:rPr lang="en-US" dirty="0"/>
              <a:t>Should constraints for adding the thick wing be just in the middle or also on the wings?</a:t>
            </a:r>
          </a:p>
          <a:p>
            <a:pPr lvl="1"/>
            <a:r>
              <a:rPr lang="en-US" dirty="0"/>
              <a:t>Is the constraint softening done with modes or singular vectors?</a:t>
            </a:r>
          </a:p>
          <a:p>
            <a:r>
              <a:rPr lang="en-US" dirty="0"/>
              <a:t>Try different inputs and check the MAC and FRF result plots that come up</a:t>
            </a:r>
          </a:p>
        </p:txBody>
      </p:sp>
      <p:sp>
        <p:nvSpPr>
          <p:cNvPr id="4" name="Rectangle 3">
            <a:extLst>
              <a:ext uri="{FF2B5EF4-FFF2-40B4-BE49-F238E27FC236}">
                <a16:creationId xmlns:a16="http://schemas.microsoft.com/office/drawing/2014/main" id="{A3B75DEA-935D-E404-FC6E-D1F404D528FF}"/>
              </a:ext>
            </a:extLst>
          </p:cNvPr>
          <p:cNvSpPr/>
          <p:nvPr/>
        </p:nvSpPr>
        <p:spPr>
          <a:xfrm>
            <a:off x="672345" y="4356908"/>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80C4387-0985-1E05-003F-E74B76E4E9BC}"/>
              </a:ext>
            </a:extLst>
          </p:cNvPr>
          <p:cNvSpPr/>
          <p:nvPr/>
        </p:nvSpPr>
        <p:spPr>
          <a:xfrm>
            <a:off x="1752123" y="4356910"/>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65E13A1-F5F6-1CD3-1F04-C2533D60C8A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718039" y="3744336"/>
            <a:ext cx="1081555" cy="2560320"/>
          </a:xfrm>
          <a:prstGeom prst="rect">
            <a:avLst/>
          </a:prstGeom>
        </p:spPr>
      </p:pic>
      <p:sp>
        <p:nvSpPr>
          <p:cNvPr id="7" name="Rectangle 6">
            <a:extLst>
              <a:ext uri="{FF2B5EF4-FFF2-40B4-BE49-F238E27FC236}">
                <a16:creationId xmlns:a16="http://schemas.microsoft.com/office/drawing/2014/main" id="{246C2277-E441-C49A-6ED4-FD942C9E2F83}"/>
              </a:ext>
            </a:extLst>
          </p:cNvPr>
          <p:cNvSpPr/>
          <p:nvPr/>
        </p:nvSpPr>
        <p:spPr>
          <a:xfrm>
            <a:off x="4396585" y="4355551"/>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B592FF3-119A-ACAD-4742-0288B3374DA9}"/>
              </a:ext>
            </a:extLst>
          </p:cNvPr>
          <p:cNvSpPr/>
          <p:nvPr/>
        </p:nvSpPr>
        <p:spPr>
          <a:xfrm>
            <a:off x="5540156" y="4355551"/>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1AE9029-62EB-EE32-049E-9FD341C6A108}"/>
              </a:ext>
            </a:extLst>
          </p:cNvPr>
          <p:cNvSpPr/>
          <p:nvPr/>
        </p:nvSpPr>
        <p:spPr>
          <a:xfrm>
            <a:off x="4396585" y="5580736"/>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1DB026-6EED-C13D-1A4E-850C7C29E47E}"/>
              </a:ext>
            </a:extLst>
          </p:cNvPr>
          <p:cNvSpPr/>
          <p:nvPr/>
        </p:nvSpPr>
        <p:spPr>
          <a:xfrm>
            <a:off x="5540156" y="5580736"/>
            <a:ext cx="1002586" cy="717872"/>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6A28EE-7A80-3285-3FF3-16B89C80F66D}"/>
              </a:ext>
            </a:extLst>
          </p:cNvPr>
          <p:cNvSpPr/>
          <p:nvPr/>
        </p:nvSpPr>
        <p:spPr>
          <a:xfrm>
            <a:off x="8320879" y="4526645"/>
            <a:ext cx="3289728" cy="717873"/>
          </a:xfrm>
          <a:prstGeom prst="rect">
            <a:avLst/>
          </a:prstGeom>
          <a:solidFill>
            <a:srgbClr val="9AAC84"/>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25F22BF-E89F-D906-FE33-CD04A6D1F56D}"/>
              </a:ext>
            </a:extLst>
          </p:cNvPr>
          <p:cNvSpPr/>
          <p:nvPr/>
        </p:nvSpPr>
        <p:spPr>
          <a:xfrm>
            <a:off x="9400657" y="4529823"/>
            <a:ext cx="1002586" cy="714695"/>
          </a:xfrm>
          <a:prstGeom prst="rect">
            <a:avLst/>
          </a:prstGeom>
          <a:solidFill>
            <a:srgbClr val="C97195"/>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1CB97D0-835B-10E4-0F7B-AEB08405484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390068" y="3915883"/>
            <a:ext cx="1081555" cy="2560320"/>
          </a:xfrm>
          <a:prstGeom prst="rect">
            <a:avLst/>
          </a:prstGeom>
        </p:spPr>
      </p:pic>
      <p:sp>
        <p:nvSpPr>
          <p:cNvPr id="14" name="TextBox 13">
            <a:extLst>
              <a:ext uri="{FF2B5EF4-FFF2-40B4-BE49-F238E27FC236}">
                <a16:creationId xmlns:a16="http://schemas.microsoft.com/office/drawing/2014/main" id="{85922254-49FE-CE6A-529D-EF6C7B4F5580}"/>
              </a:ext>
            </a:extLst>
          </p:cNvPr>
          <p:cNvSpPr txBox="1"/>
          <p:nvPr/>
        </p:nvSpPr>
        <p:spPr>
          <a:xfrm>
            <a:off x="3981069" y="4432289"/>
            <a:ext cx="390307" cy="584775"/>
          </a:xfrm>
          <a:prstGeom prst="rect">
            <a:avLst/>
          </a:prstGeom>
          <a:noFill/>
        </p:spPr>
        <p:txBody>
          <a:bodyPr wrap="square">
            <a:spAutoFit/>
          </a:bodyPr>
          <a:lstStyle/>
          <a:p>
            <a:pPr algn="ctr"/>
            <a:r>
              <a:rPr lang="en-US" sz="3200" dirty="0"/>
              <a:t>-</a:t>
            </a:r>
          </a:p>
        </p:txBody>
      </p:sp>
      <p:sp>
        <p:nvSpPr>
          <p:cNvPr id="15" name="TextBox 14">
            <a:extLst>
              <a:ext uri="{FF2B5EF4-FFF2-40B4-BE49-F238E27FC236}">
                <a16:creationId xmlns:a16="http://schemas.microsoft.com/office/drawing/2014/main" id="{3BD502E2-D7F5-1E9D-97FF-E149C10A599B}"/>
              </a:ext>
            </a:extLst>
          </p:cNvPr>
          <p:cNvSpPr txBox="1"/>
          <p:nvPr/>
        </p:nvSpPr>
        <p:spPr>
          <a:xfrm>
            <a:off x="3932364" y="5605269"/>
            <a:ext cx="390307" cy="584775"/>
          </a:xfrm>
          <a:prstGeom prst="rect">
            <a:avLst/>
          </a:prstGeom>
          <a:noFill/>
        </p:spPr>
        <p:txBody>
          <a:bodyPr wrap="square">
            <a:spAutoFit/>
          </a:bodyPr>
          <a:lstStyle/>
          <a:p>
            <a:pPr algn="ctr"/>
            <a:r>
              <a:rPr lang="en-US" sz="3200" dirty="0"/>
              <a:t>+</a:t>
            </a:r>
          </a:p>
        </p:txBody>
      </p:sp>
      <p:sp>
        <p:nvSpPr>
          <p:cNvPr id="16" name="TextBox 15">
            <a:extLst>
              <a:ext uri="{FF2B5EF4-FFF2-40B4-BE49-F238E27FC236}">
                <a16:creationId xmlns:a16="http://schemas.microsoft.com/office/drawing/2014/main" id="{5E81053D-5BCA-635A-6841-53B9C1B68512}"/>
              </a:ext>
            </a:extLst>
          </p:cNvPr>
          <p:cNvSpPr txBox="1"/>
          <p:nvPr/>
        </p:nvSpPr>
        <p:spPr>
          <a:xfrm>
            <a:off x="7880154" y="4598486"/>
            <a:ext cx="390307" cy="584775"/>
          </a:xfrm>
          <a:prstGeom prst="rect">
            <a:avLst/>
          </a:prstGeom>
          <a:noFill/>
        </p:spPr>
        <p:txBody>
          <a:bodyPr wrap="square">
            <a:spAutoFit/>
          </a:bodyPr>
          <a:lstStyle/>
          <a:p>
            <a:pPr algn="ctr"/>
            <a:r>
              <a:rPr lang="en-US" sz="3200" dirty="0"/>
              <a:t>=</a:t>
            </a:r>
          </a:p>
        </p:txBody>
      </p:sp>
      <p:sp>
        <p:nvSpPr>
          <p:cNvPr id="17" name="TextBox 16">
            <a:extLst>
              <a:ext uri="{FF2B5EF4-FFF2-40B4-BE49-F238E27FC236}">
                <a16:creationId xmlns:a16="http://schemas.microsoft.com/office/drawing/2014/main" id="{16194D13-CC11-782E-F66B-3A9E726B187A}"/>
              </a:ext>
            </a:extLst>
          </p:cNvPr>
          <p:cNvSpPr txBox="1"/>
          <p:nvPr/>
        </p:nvSpPr>
        <p:spPr>
          <a:xfrm>
            <a:off x="1866086" y="3936204"/>
            <a:ext cx="778119" cy="369332"/>
          </a:xfrm>
          <a:prstGeom prst="rect">
            <a:avLst/>
          </a:prstGeom>
          <a:noFill/>
        </p:spPr>
        <p:txBody>
          <a:bodyPr wrap="square">
            <a:spAutoFit/>
          </a:bodyPr>
          <a:lstStyle/>
          <a:p>
            <a:pPr algn="ctr"/>
            <a:r>
              <a:rPr lang="en-US" sz="1800" dirty="0">
                <a:solidFill>
                  <a:schemeClr val="tx1"/>
                </a:solidFill>
              </a:rPr>
              <a:t>SS1</a:t>
            </a:r>
            <a:endParaRPr lang="en-US" dirty="0"/>
          </a:p>
        </p:txBody>
      </p:sp>
      <p:sp>
        <p:nvSpPr>
          <p:cNvPr id="18" name="TextBox 17">
            <a:extLst>
              <a:ext uri="{FF2B5EF4-FFF2-40B4-BE49-F238E27FC236}">
                <a16:creationId xmlns:a16="http://schemas.microsoft.com/office/drawing/2014/main" id="{DFEC737B-D55D-FCE4-B8DA-03F2BB53224D}"/>
              </a:ext>
            </a:extLst>
          </p:cNvPr>
          <p:cNvSpPr txBox="1"/>
          <p:nvPr/>
        </p:nvSpPr>
        <p:spPr>
          <a:xfrm>
            <a:off x="9400657" y="0"/>
            <a:ext cx="2791343" cy="1077218"/>
          </a:xfrm>
          <a:prstGeom prst="rect">
            <a:avLst/>
          </a:prstGeom>
          <a:noFill/>
        </p:spPr>
        <p:txBody>
          <a:bodyPr wrap="square" rtlCol="0">
            <a:spAutoFit/>
          </a:bodyPr>
          <a:lstStyle/>
          <a:p>
            <a:r>
              <a:rPr lang="en-US" sz="1600" dirty="0">
                <a:latin typeface="+mj-lt"/>
              </a:rPr>
              <a:t>SS1: Frame, Plate &amp; Thin-Wing</a:t>
            </a:r>
          </a:p>
          <a:p>
            <a:r>
              <a:rPr lang="en-US" sz="1600" dirty="0">
                <a:latin typeface="+mj-lt"/>
              </a:rPr>
              <a:t>SS2: Plate &amp; Thin-Wing</a:t>
            </a:r>
          </a:p>
          <a:p>
            <a:r>
              <a:rPr lang="en-US" sz="1600" dirty="0">
                <a:latin typeface="+mj-lt"/>
              </a:rPr>
              <a:t>SS3: Plate &amp; Thick-Wing</a:t>
            </a:r>
          </a:p>
          <a:p>
            <a:r>
              <a:rPr lang="en-US" sz="1600" dirty="0">
                <a:latin typeface="+mj-lt"/>
              </a:rPr>
              <a:t>SS4: Frame, Plate &amp; Thick-Wing</a:t>
            </a:r>
          </a:p>
        </p:txBody>
      </p:sp>
      <p:sp>
        <p:nvSpPr>
          <p:cNvPr id="19" name="TextBox 18">
            <a:extLst>
              <a:ext uri="{FF2B5EF4-FFF2-40B4-BE49-F238E27FC236}">
                <a16:creationId xmlns:a16="http://schemas.microsoft.com/office/drawing/2014/main" id="{0131A4ED-EF2D-0AE0-84D9-CBBDBEB7DB6B}"/>
              </a:ext>
            </a:extLst>
          </p:cNvPr>
          <p:cNvSpPr txBox="1"/>
          <p:nvPr/>
        </p:nvSpPr>
        <p:spPr>
          <a:xfrm>
            <a:off x="5540156" y="3976862"/>
            <a:ext cx="1002585" cy="369332"/>
          </a:xfrm>
          <a:prstGeom prst="rect">
            <a:avLst/>
          </a:prstGeom>
          <a:noFill/>
        </p:spPr>
        <p:txBody>
          <a:bodyPr wrap="square">
            <a:spAutoFit/>
          </a:bodyPr>
          <a:lstStyle/>
          <a:p>
            <a:pPr algn="ctr"/>
            <a:r>
              <a:rPr lang="en-US" sz="1800" dirty="0">
                <a:solidFill>
                  <a:schemeClr val="tx1"/>
                </a:solidFill>
              </a:rPr>
              <a:t>SS2</a:t>
            </a:r>
            <a:endParaRPr lang="en-US" dirty="0"/>
          </a:p>
        </p:txBody>
      </p:sp>
      <p:sp>
        <p:nvSpPr>
          <p:cNvPr id="20" name="TextBox 19">
            <a:extLst>
              <a:ext uri="{FF2B5EF4-FFF2-40B4-BE49-F238E27FC236}">
                <a16:creationId xmlns:a16="http://schemas.microsoft.com/office/drawing/2014/main" id="{C45CEBE4-F58C-3E87-DDEE-6C7E0598D9F9}"/>
              </a:ext>
            </a:extLst>
          </p:cNvPr>
          <p:cNvSpPr txBox="1"/>
          <p:nvPr/>
        </p:nvSpPr>
        <p:spPr>
          <a:xfrm>
            <a:off x="5540156" y="5209955"/>
            <a:ext cx="1002585" cy="369332"/>
          </a:xfrm>
          <a:prstGeom prst="rect">
            <a:avLst/>
          </a:prstGeom>
          <a:noFill/>
        </p:spPr>
        <p:txBody>
          <a:bodyPr wrap="square">
            <a:spAutoFit/>
          </a:bodyPr>
          <a:lstStyle/>
          <a:p>
            <a:pPr algn="ctr"/>
            <a:r>
              <a:rPr lang="en-US" sz="1800" dirty="0">
                <a:solidFill>
                  <a:schemeClr val="tx1"/>
                </a:solidFill>
              </a:rPr>
              <a:t>SS3</a:t>
            </a:r>
            <a:endParaRPr lang="en-US" dirty="0"/>
          </a:p>
        </p:txBody>
      </p:sp>
      <p:sp>
        <p:nvSpPr>
          <p:cNvPr id="21" name="TextBox 20">
            <a:extLst>
              <a:ext uri="{FF2B5EF4-FFF2-40B4-BE49-F238E27FC236}">
                <a16:creationId xmlns:a16="http://schemas.microsoft.com/office/drawing/2014/main" id="{105B537F-285D-E61C-7724-7607435971E0}"/>
              </a:ext>
            </a:extLst>
          </p:cNvPr>
          <p:cNvSpPr txBox="1"/>
          <p:nvPr/>
        </p:nvSpPr>
        <p:spPr>
          <a:xfrm>
            <a:off x="9531350" y="4108815"/>
            <a:ext cx="794564" cy="369332"/>
          </a:xfrm>
          <a:prstGeom prst="rect">
            <a:avLst/>
          </a:prstGeom>
          <a:noFill/>
        </p:spPr>
        <p:txBody>
          <a:bodyPr wrap="square">
            <a:spAutoFit/>
          </a:bodyPr>
          <a:lstStyle/>
          <a:p>
            <a:pPr algn="ctr"/>
            <a:r>
              <a:rPr lang="en-US" sz="1800" dirty="0">
                <a:solidFill>
                  <a:schemeClr val="tx1"/>
                </a:solidFill>
              </a:rPr>
              <a:t>SS4</a:t>
            </a:r>
            <a:endParaRPr lang="en-US" dirty="0"/>
          </a:p>
        </p:txBody>
      </p:sp>
    </p:spTree>
    <p:extLst>
      <p:ext uri="{BB962C8B-B14F-4D97-AF65-F5344CB8AC3E}">
        <p14:creationId xmlns:p14="http://schemas.microsoft.com/office/powerpoint/2010/main" val="27810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AC731-4765-3E0C-F517-12A8E938269A}"/>
              </a:ext>
            </a:extLst>
          </p:cNvPr>
          <p:cNvSpPr>
            <a:spLocks noGrp="1"/>
          </p:cNvSpPr>
          <p:nvPr>
            <p:ph type="title"/>
          </p:nvPr>
        </p:nvSpPr>
        <p:spPr/>
        <p:txBody>
          <a:bodyPr>
            <a:normAutofit fontScale="90000"/>
          </a:bodyPr>
          <a:lstStyle/>
          <a:p>
            <a:r>
              <a:rPr lang="en-US" dirty="0"/>
              <a:t>Info On the Constraint Options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B3312A-DD29-E091-9023-D8241581E422}"/>
                  </a:ext>
                </a:extLst>
              </p:cNvPr>
              <p:cNvSpPr>
                <a:spLocks noGrp="1"/>
              </p:cNvSpPr>
              <p:nvPr>
                <p:ph idx="1"/>
              </p:nvPr>
            </p:nvSpPr>
            <p:spPr>
              <a:xfrm>
                <a:off x="105032" y="939585"/>
                <a:ext cx="11651540" cy="2273733"/>
              </a:xfrm>
            </p:spPr>
            <p:txBody>
              <a:bodyPr>
                <a:normAutofit fontScale="92500" lnSpcReduction="10000"/>
              </a:bodyPr>
              <a:lstStyle/>
              <a:p>
                <a:r>
                  <a:rPr lang="en-US" dirty="0"/>
                  <a:t>DOF labels </a:t>
                </a:r>
                <a14:m>
                  <m:oMath xmlns:m="http://schemas.openxmlformats.org/officeDocument/2006/math">
                    <m:r>
                      <a:rPr lang="en-US" i="1">
                        <a:latin typeface="Cambria Math" panose="02040503050406030204" pitchFamily="18" charset="0"/>
                      </a:rPr>
                      <m:t>→</m:t>
                    </m:r>
                  </m:oMath>
                </a14:m>
                <a:r>
                  <a:rPr lang="en-US" dirty="0"/>
                  <a:t> </a:t>
                </a:r>
                <a:r>
                  <a:rPr lang="en-US" b="1" dirty="0">
                    <a:solidFill>
                      <a:schemeClr val="tx1"/>
                    </a:solidFill>
                  </a:rPr>
                  <a:t>100s: Frame </a:t>
                </a:r>
                <a:r>
                  <a:rPr lang="en-US" dirty="0">
                    <a:solidFill>
                      <a:schemeClr val="tx1"/>
                    </a:solidFill>
                  </a:rPr>
                  <a:t>| </a:t>
                </a:r>
                <a:r>
                  <a:rPr lang="en-US" b="1" dirty="0">
                    <a:solidFill>
                      <a:schemeClr val="tx1"/>
                    </a:solidFill>
                  </a:rPr>
                  <a:t>200s: Plate </a:t>
                </a:r>
                <a:r>
                  <a:rPr lang="en-US" dirty="0">
                    <a:solidFill>
                      <a:schemeClr val="tx1"/>
                    </a:solidFill>
                  </a:rPr>
                  <a:t>| </a:t>
                </a:r>
                <a:r>
                  <a:rPr lang="en-US" b="1" dirty="0">
                    <a:solidFill>
                      <a:schemeClr val="tx1"/>
                    </a:solidFill>
                  </a:rPr>
                  <a:t>300s:Thin Wing </a:t>
                </a:r>
                <a:r>
                  <a:rPr lang="en-US" dirty="0">
                    <a:solidFill>
                      <a:schemeClr val="tx1"/>
                    </a:solidFill>
                  </a:rPr>
                  <a:t>| </a:t>
                </a:r>
                <a:r>
                  <a:rPr lang="en-US" b="1" dirty="0">
                    <a:solidFill>
                      <a:schemeClr val="tx1"/>
                    </a:solidFill>
                  </a:rPr>
                  <a:t>400s: Thick Wing</a:t>
                </a:r>
              </a:p>
              <a:p>
                <a:r>
                  <a:rPr lang="en-US" dirty="0"/>
                  <a:t>When decoupling the plate and thin wing, we’ll define constraints at all of the 200s and 300s since those are obviously the same in SS1 and SS2</a:t>
                </a:r>
              </a:p>
              <a:p>
                <a:r>
                  <a:rPr lang="en-US" dirty="0"/>
                  <a:t>To couple in the plate and thick wing, the plate is the same so we can use the 200s. In this scenario, the </a:t>
                </a:r>
                <a:r>
                  <a:rPr lang="en-US" dirty="0" err="1"/>
                  <a:t>accels</a:t>
                </a:r>
                <a:r>
                  <a:rPr lang="en-US" dirty="0"/>
                  <a:t> are in the same position on the thin and thick wing, so we can define constraints between the wings as well </a:t>
                </a:r>
                <a14:m>
                  <m:oMath xmlns:m="http://schemas.openxmlformats.org/officeDocument/2006/math">
                    <m:r>
                      <a:rPr lang="en-US" b="0" i="1" smtClean="0">
                        <a:latin typeface="Cambria Math" panose="02040503050406030204" pitchFamily="18" charset="0"/>
                      </a:rPr>
                      <m:t>→</m:t>
                    </m:r>
                  </m:oMath>
                </a14:m>
                <a:r>
                  <a:rPr lang="en-US" dirty="0"/>
                  <a:t> 300s to 400s</a:t>
                </a:r>
              </a:p>
            </p:txBody>
          </p:sp>
        </mc:Choice>
        <mc:Fallback xmlns="">
          <p:sp>
            <p:nvSpPr>
              <p:cNvPr id="3" name="Content Placeholder 2">
                <a:extLst>
                  <a:ext uri="{FF2B5EF4-FFF2-40B4-BE49-F238E27FC236}">
                    <a16:creationId xmlns:a16="http://schemas.microsoft.com/office/drawing/2014/main" id="{DFB3312A-DD29-E091-9023-D8241581E422}"/>
                  </a:ext>
                </a:extLst>
              </p:cNvPr>
              <p:cNvSpPr>
                <a:spLocks noGrp="1" noRot="1" noChangeAspect="1" noMove="1" noResize="1" noEditPoints="1" noAdjustHandles="1" noChangeArrowheads="1" noChangeShapeType="1" noTextEdit="1"/>
              </p:cNvSpPr>
              <p:nvPr>
                <p:ph idx="1"/>
              </p:nvPr>
            </p:nvSpPr>
            <p:spPr>
              <a:xfrm>
                <a:off x="105032" y="939585"/>
                <a:ext cx="11651540" cy="2273733"/>
              </a:xfrm>
              <a:blipFill>
                <a:blip r:embed="rId2"/>
                <a:stretch>
                  <a:fillRect l="-785" t="-5362" r="-1255" b="-6434"/>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499FF902-DE0C-B992-AB6A-C0BBD6A2FC6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600648" y="3310620"/>
            <a:ext cx="4276277" cy="3280864"/>
          </a:xfrm>
          <a:prstGeom prst="rect">
            <a:avLst/>
          </a:prstGeom>
        </p:spPr>
      </p:pic>
      <p:pic>
        <p:nvPicPr>
          <p:cNvPr id="23" name="Picture 22">
            <a:extLst>
              <a:ext uri="{FF2B5EF4-FFF2-40B4-BE49-F238E27FC236}">
                <a16:creationId xmlns:a16="http://schemas.microsoft.com/office/drawing/2014/main" id="{9A7B3972-BFA2-DB1D-57DC-A79AD5D8F307}"/>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279532" y="4057296"/>
            <a:ext cx="5098924" cy="1787643"/>
          </a:xfrm>
          <a:prstGeom prst="rect">
            <a:avLst/>
          </a:prstGeom>
        </p:spPr>
      </p:pic>
      <p:cxnSp>
        <p:nvCxnSpPr>
          <p:cNvPr id="9" name="Straight Arrow Connector 8">
            <a:extLst>
              <a:ext uri="{FF2B5EF4-FFF2-40B4-BE49-F238E27FC236}">
                <a16:creationId xmlns:a16="http://schemas.microsoft.com/office/drawing/2014/main" id="{7EA2066D-E806-3EB4-AE62-3985825E6ED0}"/>
              </a:ext>
            </a:extLst>
          </p:cNvPr>
          <p:cNvCxnSpPr>
            <a:cxnSpLocks/>
          </p:cNvCxnSpPr>
          <p:nvPr/>
        </p:nvCxnSpPr>
        <p:spPr>
          <a:xfrm flipH="1">
            <a:off x="4109231" y="3718835"/>
            <a:ext cx="372961" cy="25717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8582AD1-A832-FA1A-2544-84C26C61E229}"/>
              </a:ext>
            </a:extLst>
          </p:cNvPr>
          <p:cNvCxnSpPr>
            <a:cxnSpLocks/>
          </p:cNvCxnSpPr>
          <p:nvPr/>
        </p:nvCxnSpPr>
        <p:spPr>
          <a:xfrm>
            <a:off x="2877910" y="3816806"/>
            <a:ext cx="600075" cy="74703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A2F142B-77A9-3493-F793-E73D003675AA}"/>
              </a:ext>
            </a:extLst>
          </p:cNvPr>
          <p:cNvCxnSpPr>
            <a:cxnSpLocks/>
          </p:cNvCxnSpPr>
          <p:nvPr/>
        </p:nvCxnSpPr>
        <p:spPr>
          <a:xfrm flipV="1">
            <a:off x="4761139" y="4951052"/>
            <a:ext cx="0" cy="57072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8E703FF-0D5D-B04C-0A00-7DF536EA5C84}"/>
              </a:ext>
            </a:extLst>
          </p:cNvPr>
          <p:cNvCxnSpPr>
            <a:cxnSpLocks/>
          </p:cNvCxnSpPr>
          <p:nvPr/>
        </p:nvCxnSpPr>
        <p:spPr>
          <a:xfrm>
            <a:off x="8060496" y="3887563"/>
            <a:ext cx="600075" cy="74703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FCAE1F1-2503-F373-EF45-A9C313228F0C}"/>
              </a:ext>
            </a:extLst>
          </p:cNvPr>
          <p:cNvCxnSpPr>
            <a:cxnSpLocks/>
            <a:stCxn id="20" idx="2"/>
          </p:cNvCxnSpPr>
          <p:nvPr/>
        </p:nvCxnSpPr>
        <p:spPr>
          <a:xfrm flipH="1">
            <a:off x="10205360" y="4119032"/>
            <a:ext cx="236175" cy="65418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E995B43-C0D8-0E33-2ADD-A2E3BBBA837A}"/>
              </a:ext>
            </a:extLst>
          </p:cNvPr>
          <p:cNvSpPr txBox="1"/>
          <p:nvPr/>
        </p:nvSpPr>
        <p:spPr>
          <a:xfrm>
            <a:off x="6821869" y="3570049"/>
            <a:ext cx="1289135" cy="369332"/>
          </a:xfrm>
          <a:prstGeom prst="rect">
            <a:avLst/>
          </a:prstGeom>
          <a:solidFill>
            <a:schemeClr val="bg1"/>
          </a:solidFill>
          <a:ln>
            <a:solidFill>
              <a:schemeClr val="tx1"/>
            </a:solidFill>
          </a:ln>
        </p:spPr>
        <p:txBody>
          <a:bodyPr wrap="none" rtlCol="0">
            <a:spAutoFit/>
          </a:bodyPr>
          <a:lstStyle/>
          <a:p>
            <a:pPr algn="ctr"/>
            <a:r>
              <a:rPr lang="en-US" dirty="0"/>
              <a:t>Plate: 200s</a:t>
            </a:r>
          </a:p>
        </p:txBody>
      </p:sp>
      <p:sp>
        <p:nvSpPr>
          <p:cNvPr id="20" name="TextBox 19">
            <a:extLst>
              <a:ext uri="{FF2B5EF4-FFF2-40B4-BE49-F238E27FC236}">
                <a16:creationId xmlns:a16="http://schemas.microsoft.com/office/drawing/2014/main" id="{A0009020-949C-2D4A-6BDF-4371871807AF}"/>
              </a:ext>
            </a:extLst>
          </p:cNvPr>
          <p:cNvSpPr txBox="1"/>
          <p:nvPr/>
        </p:nvSpPr>
        <p:spPr>
          <a:xfrm>
            <a:off x="9788952" y="3472701"/>
            <a:ext cx="1305165" cy="646331"/>
          </a:xfrm>
          <a:prstGeom prst="rect">
            <a:avLst/>
          </a:prstGeom>
          <a:solidFill>
            <a:schemeClr val="bg1"/>
          </a:solidFill>
          <a:ln>
            <a:solidFill>
              <a:schemeClr val="tx1"/>
            </a:solidFill>
          </a:ln>
        </p:spPr>
        <p:txBody>
          <a:bodyPr wrap="none" rtlCol="0">
            <a:spAutoFit/>
          </a:bodyPr>
          <a:lstStyle/>
          <a:p>
            <a:pPr algn="ctr"/>
            <a:r>
              <a:rPr lang="en-US" dirty="0"/>
              <a:t>Thin: 300s</a:t>
            </a:r>
          </a:p>
          <a:p>
            <a:pPr algn="ctr"/>
            <a:r>
              <a:rPr lang="en-US" dirty="0"/>
              <a:t>Thick: 400s</a:t>
            </a:r>
          </a:p>
        </p:txBody>
      </p:sp>
      <p:sp>
        <p:nvSpPr>
          <p:cNvPr id="4" name="TextBox 3">
            <a:extLst>
              <a:ext uri="{FF2B5EF4-FFF2-40B4-BE49-F238E27FC236}">
                <a16:creationId xmlns:a16="http://schemas.microsoft.com/office/drawing/2014/main" id="{C9A4A04A-0C4E-AB48-7135-03F45B6428D7}"/>
              </a:ext>
            </a:extLst>
          </p:cNvPr>
          <p:cNvSpPr txBox="1"/>
          <p:nvPr/>
        </p:nvSpPr>
        <p:spPr>
          <a:xfrm>
            <a:off x="4408713" y="3406959"/>
            <a:ext cx="1411669" cy="369332"/>
          </a:xfrm>
          <a:prstGeom prst="rect">
            <a:avLst/>
          </a:prstGeom>
          <a:solidFill>
            <a:schemeClr val="bg1"/>
          </a:solidFill>
          <a:ln>
            <a:solidFill>
              <a:schemeClr val="tx1"/>
            </a:solidFill>
          </a:ln>
        </p:spPr>
        <p:txBody>
          <a:bodyPr wrap="none" rtlCol="0">
            <a:spAutoFit/>
          </a:bodyPr>
          <a:lstStyle/>
          <a:p>
            <a:pPr algn="ctr"/>
            <a:r>
              <a:rPr lang="en-US" dirty="0"/>
              <a:t>Frame: 100s</a:t>
            </a:r>
          </a:p>
        </p:txBody>
      </p:sp>
      <p:sp>
        <p:nvSpPr>
          <p:cNvPr id="5" name="TextBox 4">
            <a:extLst>
              <a:ext uri="{FF2B5EF4-FFF2-40B4-BE49-F238E27FC236}">
                <a16:creationId xmlns:a16="http://schemas.microsoft.com/office/drawing/2014/main" id="{F984F211-D8AC-01C6-B1E3-BAEABAC4F55B}"/>
              </a:ext>
            </a:extLst>
          </p:cNvPr>
          <p:cNvSpPr txBox="1"/>
          <p:nvPr/>
        </p:nvSpPr>
        <p:spPr>
          <a:xfrm>
            <a:off x="1639283" y="3499292"/>
            <a:ext cx="1289135" cy="369332"/>
          </a:xfrm>
          <a:prstGeom prst="rect">
            <a:avLst/>
          </a:prstGeom>
          <a:solidFill>
            <a:schemeClr val="bg1"/>
          </a:solidFill>
        </p:spPr>
        <p:txBody>
          <a:bodyPr wrap="none" rtlCol="0">
            <a:spAutoFit/>
          </a:bodyPr>
          <a:lstStyle/>
          <a:p>
            <a:pPr algn="ctr"/>
            <a:r>
              <a:rPr lang="en-US" dirty="0"/>
              <a:t>Plate: 200s</a:t>
            </a:r>
          </a:p>
        </p:txBody>
      </p:sp>
      <p:sp>
        <p:nvSpPr>
          <p:cNvPr id="6" name="TextBox 5">
            <a:extLst>
              <a:ext uri="{FF2B5EF4-FFF2-40B4-BE49-F238E27FC236}">
                <a16:creationId xmlns:a16="http://schemas.microsoft.com/office/drawing/2014/main" id="{D975BC68-E18D-F53C-9443-7D89B50BFA0C}"/>
              </a:ext>
            </a:extLst>
          </p:cNvPr>
          <p:cNvSpPr txBox="1"/>
          <p:nvPr/>
        </p:nvSpPr>
        <p:spPr>
          <a:xfrm>
            <a:off x="4339551" y="5521773"/>
            <a:ext cx="1305165" cy="646331"/>
          </a:xfrm>
          <a:prstGeom prst="rect">
            <a:avLst/>
          </a:prstGeom>
          <a:solidFill>
            <a:schemeClr val="bg1"/>
          </a:solidFill>
        </p:spPr>
        <p:txBody>
          <a:bodyPr wrap="none" rtlCol="0">
            <a:spAutoFit/>
          </a:bodyPr>
          <a:lstStyle/>
          <a:p>
            <a:pPr algn="ctr"/>
            <a:r>
              <a:rPr lang="en-US" dirty="0"/>
              <a:t>Thin: 300s</a:t>
            </a:r>
          </a:p>
          <a:p>
            <a:pPr algn="ctr"/>
            <a:r>
              <a:rPr lang="en-US" dirty="0"/>
              <a:t>Thick: 400s</a:t>
            </a:r>
          </a:p>
        </p:txBody>
      </p:sp>
    </p:spTree>
    <p:extLst>
      <p:ext uri="{BB962C8B-B14F-4D97-AF65-F5344CB8AC3E}">
        <p14:creationId xmlns:p14="http://schemas.microsoft.com/office/powerpoint/2010/main" val="3456886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17353B5-2EB6-999B-142D-7933BE67DA52}"/>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096000" y="3852107"/>
            <a:ext cx="5486411" cy="2743206"/>
          </a:xfrm>
          <a:prstGeom prst="rect">
            <a:avLst/>
          </a:prstGeom>
        </p:spPr>
      </p:pic>
      <p:graphicFrame>
        <p:nvGraphicFramePr>
          <p:cNvPr id="15" name="Table 14">
            <a:extLst>
              <a:ext uri="{FF2B5EF4-FFF2-40B4-BE49-F238E27FC236}">
                <a16:creationId xmlns:a16="http://schemas.microsoft.com/office/drawing/2014/main" id="{AC79D445-26D7-B433-B0E8-8CD4A41AB111}"/>
              </a:ext>
            </a:extLst>
          </p:cNvPr>
          <p:cNvGraphicFramePr>
            <a:graphicFrameLocks noGrp="1"/>
          </p:cNvGraphicFramePr>
          <p:nvPr>
            <p:extLst>
              <p:ext uri="{D42A27DB-BD31-4B8C-83A1-F6EECF244321}">
                <p14:modId xmlns:p14="http://schemas.microsoft.com/office/powerpoint/2010/main" val="1253903538"/>
              </p:ext>
            </p:extLst>
          </p:nvPr>
        </p:nvGraphicFramePr>
        <p:xfrm>
          <a:off x="624840" y="2197476"/>
          <a:ext cx="5246056" cy="3842449"/>
        </p:xfrm>
        <a:graphic>
          <a:graphicData uri="http://schemas.openxmlformats.org/drawingml/2006/table">
            <a:tbl>
              <a:tblPr firstRow="1" firstCol="1" bandRow="1">
                <a:tableStyleId>{5C22544A-7EE6-4342-B048-85BDC9FD1C3A}</a:tableStyleId>
              </a:tblPr>
              <a:tblGrid>
                <a:gridCol w="655757">
                  <a:extLst>
                    <a:ext uri="{9D8B030D-6E8A-4147-A177-3AD203B41FA5}">
                      <a16:colId xmlns:a16="http://schemas.microsoft.com/office/drawing/2014/main" val="3960139824"/>
                    </a:ext>
                  </a:extLst>
                </a:gridCol>
                <a:gridCol w="655757">
                  <a:extLst>
                    <a:ext uri="{9D8B030D-6E8A-4147-A177-3AD203B41FA5}">
                      <a16:colId xmlns:a16="http://schemas.microsoft.com/office/drawing/2014/main" val="992331722"/>
                    </a:ext>
                  </a:extLst>
                </a:gridCol>
                <a:gridCol w="655757">
                  <a:extLst>
                    <a:ext uri="{9D8B030D-6E8A-4147-A177-3AD203B41FA5}">
                      <a16:colId xmlns:a16="http://schemas.microsoft.com/office/drawing/2014/main" val="4008740349"/>
                    </a:ext>
                  </a:extLst>
                </a:gridCol>
                <a:gridCol w="655757">
                  <a:extLst>
                    <a:ext uri="{9D8B030D-6E8A-4147-A177-3AD203B41FA5}">
                      <a16:colId xmlns:a16="http://schemas.microsoft.com/office/drawing/2014/main" val="1513933499"/>
                    </a:ext>
                  </a:extLst>
                </a:gridCol>
                <a:gridCol w="655757">
                  <a:extLst>
                    <a:ext uri="{9D8B030D-6E8A-4147-A177-3AD203B41FA5}">
                      <a16:colId xmlns:a16="http://schemas.microsoft.com/office/drawing/2014/main" val="244609504"/>
                    </a:ext>
                  </a:extLst>
                </a:gridCol>
                <a:gridCol w="655757">
                  <a:extLst>
                    <a:ext uri="{9D8B030D-6E8A-4147-A177-3AD203B41FA5}">
                      <a16:colId xmlns:a16="http://schemas.microsoft.com/office/drawing/2014/main" val="1034054595"/>
                    </a:ext>
                  </a:extLst>
                </a:gridCol>
                <a:gridCol w="655757">
                  <a:extLst>
                    <a:ext uri="{9D8B030D-6E8A-4147-A177-3AD203B41FA5}">
                      <a16:colId xmlns:a16="http://schemas.microsoft.com/office/drawing/2014/main" val="2134070880"/>
                    </a:ext>
                  </a:extLst>
                </a:gridCol>
                <a:gridCol w="655757">
                  <a:extLst>
                    <a:ext uri="{9D8B030D-6E8A-4147-A177-3AD203B41FA5}">
                      <a16:colId xmlns:a16="http://schemas.microsoft.com/office/drawing/2014/main" val="3981333511"/>
                    </a:ext>
                  </a:extLst>
                </a:gridCol>
              </a:tblGrid>
              <a:tr h="295573">
                <a:tc>
                  <a:txBody>
                    <a:bodyPr/>
                    <a:lstStyle/>
                    <a:p>
                      <a:pPr algn="ctr" fontAlgn="b"/>
                      <a:r>
                        <a:rPr lang="en-US" sz="1100" u="none" strike="noStrike">
                          <a:effectLst/>
                        </a:rPr>
                        <a:t>Mode</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Truth wn</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CMS wn</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Error %</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Truth zt</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CMS zt</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Error %</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MAC</a:t>
                      </a:r>
                      <a:endParaRPr lang="en-US" sz="1100" b="1"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965683471"/>
                  </a:ext>
                </a:extLst>
              </a:tr>
              <a:tr h="295573">
                <a:tc>
                  <a:txBody>
                    <a:bodyPr/>
                    <a:lstStyle/>
                    <a:p>
                      <a:pPr algn="ctr" fontAlgn="b"/>
                      <a:r>
                        <a:rPr lang="en-US" sz="1100" u="none" strike="noStrike">
                          <a:effectLst/>
                        </a:rPr>
                        <a:t>1</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127.8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119.5</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-6.49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dirty="0">
                          <a:effectLst/>
                        </a:rPr>
                        <a:t>0.23</a:t>
                      </a:r>
                      <a:endParaRPr lang="en-US" sz="1100" b="0" i="0" u="none" strike="noStrike" dirty="0">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0.28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23.5</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1793459765"/>
                  </a:ext>
                </a:extLst>
              </a:tr>
              <a:tr h="295573">
                <a:tc>
                  <a:txBody>
                    <a:bodyPr/>
                    <a:lstStyle/>
                    <a:p>
                      <a:pPr algn="ctr" fontAlgn="b"/>
                      <a:r>
                        <a:rPr lang="en-US" sz="1100" u="none" strike="noStrike">
                          <a:effectLst/>
                        </a:rPr>
                        <a:t>2</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236.2</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230.7</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-2.34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0.35</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0.38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8.3</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1653001270"/>
                  </a:ext>
                </a:extLst>
              </a:tr>
              <a:tr h="295573">
                <a:tc>
                  <a:txBody>
                    <a:bodyPr/>
                    <a:lstStyle/>
                    <a:p>
                      <a:pPr algn="ctr" fontAlgn="b"/>
                      <a:r>
                        <a:rPr lang="en-US" sz="1100" u="none" strike="noStrike">
                          <a:effectLst/>
                        </a:rPr>
                        <a:t>3</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237.6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240.0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0.78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0.62</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dirty="0">
                          <a:effectLst/>
                        </a:rPr>
                        <a:t>-20.1</a:t>
                      </a:r>
                      <a:endParaRPr lang="en-US" sz="1100" b="0" i="0" u="none" strike="noStrike" dirty="0">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0.84</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758418075"/>
                  </a:ext>
                </a:extLst>
              </a:tr>
              <a:tr h="295573">
                <a:tc>
                  <a:txBody>
                    <a:bodyPr/>
                    <a:lstStyle/>
                    <a:p>
                      <a:pPr algn="ctr" fontAlgn="b"/>
                      <a:r>
                        <a:rPr lang="en-US" sz="1100" u="none" strike="noStrike">
                          <a:effectLst/>
                        </a:rPr>
                        <a:t>4</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dirty="0">
                          <a:effectLst/>
                        </a:rPr>
                        <a:t>356.1</a:t>
                      </a:r>
                      <a:endParaRPr lang="en-US" sz="1100" b="0" i="0" u="none" strike="noStrike" dirty="0">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343.4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-3.56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0.59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-14.8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1715413992"/>
                  </a:ext>
                </a:extLst>
              </a:tr>
              <a:tr h="295573">
                <a:tc>
                  <a:txBody>
                    <a:bodyPr/>
                    <a:lstStyle/>
                    <a:p>
                      <a:pPr algn="ctr" fontAlgn="b"/>
                      <a:r>
                        <a:rPr lang="en-US" sz="1100" u="none" strike="noStrike">
                          <a:effectLst/>
                        </a:rPr>
                        <a:t>5</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439.4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427.0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-2.81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0.51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0.21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-58.1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0.85</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1870556763"/>
                  </a:ext>
                </a:extLst>
              </a:tr>
              <a:tr h="295573">
                <a:tc>
                  <a:txBody>
                    <a:bodyPr/>
                    <a:lstStyle/>
                    <a:p>
                      <a:pPr algn="ctr" fontAlgn="b"/>
                      <a:r>
                        <a:rPr lang="en-US" sz="1100" u="none" strike="noStrike">
                          <a:effectLst/>
                        </a:rPr>
                        <a:t>6</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454.6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427.0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-6.06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0.59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0.21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-63.9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0.52</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360064375"/>
                  </a:ext>
                </a:extLst>
              </a:tr>
              <a:tr h="295573">
                <a:tc>
                  <a:txBody>
                    <a:bodyPr/>
                    <a:lstStyle/>
                    <a:p>
                      <a:pPr algn="ctr" fontAlgn="b"/>
                      <a:r>
                        <a:rPr lang="en-US" sz="1100" u="none" strike="noStrike">
                          <a:effectLst/>
                        </a:rPr>
                        <a:t>7</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463.1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449.2</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-3.00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0.06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0.24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311.3</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2066204891"/>
                  </a:ext>
                </a:extLst>
              </a:tr>
              <a:tr h="295573">
                <a:tc>
                  <a:txBody>
                    <a:bodyPr/>
                    <a:lstStyle/>
                    <a:p>
                      <a:pPr algn="ctr" fontAlgn="b"/>
                      <a:r>
                        <a:rPr lang="en-US" sz="1100" u="none" strike="noStrike">
                          <a:effectLst/>
                        </a:rPr>
                        <a:t>8</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643.0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617.0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-4.04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0.49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-50.0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1273630597"/>
                  </a:ext>
                </a:extLst>
              </a:tr>
              <a:tr h="295573">
                <a:tc>
                  <a:txBody>
                    <a:bodyPr/>
                    <a:lstStyle/>
                    <a:p>
                      <a:pPr algn="ctr" fontAlgn="b"/>
                      <a:r>
                        <a:rPr lang="en-US" sz="1100" u="none" strike="noStrike">
                          <a:effectLst/>
                        </a:rPr>
                        <a:t>9</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728.9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644.4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-11.59</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0.30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0.78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158.7</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0.83</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1126140233"/>
                  </a:ext>
                </a:extLst>
              </a:tr>
              <a:tr h="295573">
                <a:tc>
                  <a:txBody>
                    <a:bodyPr/>
                    <a:lstStyle/>
                    <a:p>
                      <a:pPr algn="ctr" fontAlgn="b"/>
                      <a:r>
                        <a:rPr lang="en-US" sz="1100" u="none" strike="noStrike">
                          <a:effectLst/>
                        </a:rPr>
                        <a:t>10</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733.5</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728.1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-0.75</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0.58</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0.34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-42.5</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3232158589"/>
                  </a:ext>
                </a:extLst>
              </a:tr>
              <a:tr h="295573">
                <a:tc>
                  <a:txBody>
                    <a:bodyPr/>
                    <a:lstStyle/>
                    <a:p>
                      <a:pPr algn="ctr" fontAlgn="b"/>
                      <a:r>
                        <a:rPr lang="en-US" sz="1100" u="none" strike="noStrike">
                          <a:effectLst/>
                        </a:rPr>
                        <a:t>11</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833.7</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831.1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-0.31</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0.13</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0.30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142.7</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3825020328"/>
                  </a:ext>
                </a:extLst>
              </a:tr>
              <a:tr h="295573">
                <a:tc>
                  <a:txBody>
                    <a:bodyPr/>
                    <a:lstStyle/>
                    <a:p>
                      <a:pPr algn="ctr" fontAlgn="b"/>
                      <a:r>
                        <a:rPr lang="en-US" sz="1100" u="none" strike="noStrike">
                          <a:effectLst/>
                        </a:rPr>
                        <a:t>12</a:t>
                      </a:r>
                      <a:endParaRPr lang="en-US" sz="1100" b="1"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910.2</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944.4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3.76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0.90</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0.46</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a:effectLst/>
                        </a:rPr>
                        <a:t>-48.4</a:t>
                      </a:r>
                      <a:endParaRPr lang="en-US" sz="1100" b="0" i="0" u="none" strike="noStrike">
                        <a:solidFill>
                          <a:srgbClr val="000000"/>
                        </a:solidFill>
                        <a:effectLst/>
                        <a:latin typeface="Aptos Narrow" panose="020B0004020202020204" pitchFamily="34" charset="0"/>
                      </a:endParaRPr>
                    </a:p>
                  </a:txBody>
                  <a:tcPr marL="4763" marR="4763" marT="4763" marB="0" anchor="ctr"/>
                </a:tc>
                <a:tc>
                  <a:txBody>
                    <a:bodyPr/>
                    <a:lstStyle/>
                    <a:p>
                      <a:pPr algn="ctr" fontAlgn="b"/>
                      <a:r>
                        <a:rPr lang="en-US" sz="1100" u="none" strike="noStrike" dirty="0">
                          <a:effectLst/>
                        </a:rPr>
                        <a:t>0.93</a:t>
                      </a:r>
                      <a:endParaRPr lang="en-US" sz="1100" b="0" i="0" u="none" strike="noStrike" dirty="0">
                        <a:solidFill>
                          <a:srgbClr val="000000"/>
                        </a:solidFill>
                        <a:effectLst/>
                        <a:latin typeface="Aptos Narrow" panose="020B0004020202020204" pitchFamily="34" charset="0"/>
                      </a:endParaRPr>
                    </a:p>
                  </a:txBody>
                  <a:tcPr marL="4763" marR="4763" marT="4763" marB="0" anchor="ctr"/>
                </a:tc>
                <a:extLst>
                  <a:ext uri="{0D108BD9-81ED-4DB2-BD59-A6C34878D82A}">
                    <a16:rowId xmlns:a16="http://schemas.microsoft.com/office/drawing/2014/main" val="4287778582"/>
                  </a:ext>
                </a:extLst>
              </a:tr>
            </a:tbl>
          </a:graphicData>
        </a:graphic>
      </p:graphicFrame>
      <p:sp>
        <p:nvSpPr>
          <p:cNvPr id="2" name="Title 1">
            <a:extLst>
              <a:ext uri="{FF2B5EF4-FFF2-40B4-BE49-F238E27FC236}">
                <a16:creationId xmlns:a16="http://schemas.microsoft.com/office/drawing/2014/main" id="{0D9BFF26-2709-750B-501F-EF99ABB32D09}"/>
              </a:ext>
            </a:extLst>
          </p:cNvPr>
          <p:cNvSpPr>
            <a:spLocks noGrp="1"/>
          </p:cNvSpPr>
          <p:nvPr>
            <p:ph type="title"/>
          </p:nvPr>
        </p:nvSpPr>
        <p:spPr>
          <a:xfrm>
            <a:off x="105032" y="136525"/>
            <a:ext cx="5990968" cy="662781"/>
          </a:xfrm>
        </p:spPr>
        <p:txBody>
          <a:bodyPr>
            <a:normAutofit fontScale="90000"/>
          </a:bodyPr>
          <a:lstStyle/>
          <a:p>
            <a:r>
              <a:rPr lang="en-US" dirty="0"/>
              <a:t>Linear CMS Results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06B9B3-CF63-6055-B186-BC6E82A1E051}"/>
                  </a:ext>
                </a:extLst>
              </p:cNvPr>
              <p:cNvSpPr>
                <a:spLocks noGrp="1"/>
              </p:cNvSpPr>
              <p:nvPr>
                <p:ph idx="1"/>
              </p:nvPr>
            </p:nvSpPr>
            <p:spPr>
              <a:xfrm>
                <a:off x="428349" y="918903"/>
                <a:ext cx="5246056" cy="1210386"/>
              </a:xfrm>
            </p:spPr>
            <p:txBody>
              <a:bodyPr>
                <a:normAutofit/>
              </a:bodyPr>
              <a:lstStyle/>
              <a:p>
                <a:pPr marL="0" indent="0">
                  <a:buNone/>
                </a:pPr>
                <a:r>
                  <a:rPr lang="en-US" sz="2000" dirty="0"/>
                  <a:t>Modes: SS1=1:20 (857 Hz), SS2=1:14 (749 Hz), SS3=1:12 (951 Hz)</a:t>
                </a:r>
              </a:p>
              <a:p>
                <a:pPr marL="0" indent="0">
                  <a:buNone/>
                </a:pPr>
                <a:r>
                  <a:rPr lang="en-US" sz="2000" dirty="0"/>
                  <a:t>Constraints: DOF 200s, Constraint Softening: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𝜙</m:t>
                        </m:r>
                      </m:e>
                      <m:sub>
                        <m:r>
                          <a:rPr lang="en-US" sz="2000" i="1">
                            <a:latin typeface="Cambria Math" panose="02040503050406030204" pitchFamily="18" charset="0"/>
                          </a:rPr>
                          <m:t>2</m:t>
                        </m:r>
                      </m:sub>
                      <m:sup>
                        <m:r>
                          <a:rPr lang="en-US" sz="2000" i="1">
                            <a:latin typeface="Cambria Math" panose="02040503050406030204" pitchFamily="18" charset="0"/>
                            <a:ea typeface="Cambria Math" panose="02040503050406030204" pitchFamily="18" charset="0"/>
                          </a:rPr>
                          <m:t>†</m:t>
                        </m:r>
                      </m:sup>
                    </m:sSubSup>
                  </m:oMath>
                </a14:m>
                <a:endParaRPr lang="en-US" sz="2000" dirty="0"/>
              </a:p>
            </p:txBody>
          </p:sp>
        </mc:Choice>
        <mc:Fallback xmlns="">
          <p:sp>
            <p:nvSpPr>
              <p:cNvPr id="3" name="Content Placeholder 2">
                <a:extLst>
                  <a:ext uri="{FF2B5EF4-FFF2-40B4-BE49-F238E27FC236}">
                    <a16:creationId xmlns:a16="http://schemas.microsoft.com/office/drawing/2014/main" id="{1E06B9B3-CF63-6055-B186-BC6E82A1E051}"/>
                  </a:ext>
                </a:extLst>
              </p:cNvPr>
              <p:cNvSpPr>
                <a:spLocks noGrp="1" noRot="1" noChangeAspect="1" noMove="1" noResize="1" noEditPoints="1" noAdjustHandles="1" noChangeArrowheads="1" noChangeShapeType="1" noTextEdit="1"/>
              </p:cNvSpPr>
              <p:nvPr>
                <p:ph idx="1"/>
              </p:nvPr>
            </p:nvSpPr>
            <p:spPr>
              <a:xfrm>
                <a:off x="428349" y="918903"/>
                <a:ext cx="5246056" cy="1210386"/>
              </a:xfrm>
              <a:blipFill>
                <a:blip r:embed="rId4"/>
                <a:stretch>
                  <a:fillRect l="-1161" t="-5051"/>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42DF18B2-4639-5DCB-E6D8-01C816593F13}"/>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277240" y="194500"/>
            <a:ext cx="5486411" cy="3657607"/>
          </a:xfrm>
          <a:prstGeom prst="rect">
            <a:avLst/>
          </a:prstGeom>
        </p:spPr>
      </p:pic>
    </p:spTree>
    <p:extLst>
      <p:ext uri="{BB962C8B-B14F-4D97-AF65-F5344CB8AC3E}">
        <p14:creationId xmlns:p14="http://schemas.microsoft.com/office/powerpoint/2010/main" val="4152991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3B177F0-14FF-D48E-6653-543E5255A329}"/>
              </a:ext>
            </a:extLst>
          </p:cNvPr>
          <p:cNvGraphicFramePr>
            <a:graphicFrameLocks noGrp="1"/>
          </p:cNvGraphicFramePr>
          <p:nvPr>
            <p:extLst>
              <p:ext uri="{D42A27DB-BD31-4B8C-83A1-F6EECF244321}">
                <p14:modId xmlns:p14="http://schemas.microsoft.com/office/powerpoint/2010/main" val="3475372604"/>
              </p:ext>
            </p:extLst>
          </p:nvPr>
        </p:nvGraphicFramePr>
        <p:xfrm>
          <a:off x="504816" y="2077720"/>
          <a:ext cx="5366080" cy="4302744"/>
        </p:xfrm>
        <a:graphic>
          <a:graphicData uri="http://schemas.openxmlformats.org/drawingml/2006/table">
            <a:tbl>
              <a:tblPr firstRow="1" firstCol="1" bandRow="1">
                <a:tableStyleId>{5C22544A-7EE6-4342-B048-85BDC9FD1C3A}</a:tableStyleId>
              </a:tblPr>
              <a:tblGrid>
                <a:gridCol w="670760">
                  <a:extLst>
                    <a:ext uri="{9D8B030D-6E8A-4147-A177-3AD203B41FA5}">
                      <a16:colId xmlns:a16="http://schemas.microsoft.com/office/drawing/2014/main" val="1088085383"/>
                    </a:ext>
                  </a:extLst>
                </a:gridCol>
                <a:gridCol w="670760">
                  <a:extLst>
                    <a:ext uri="{9D8B030D-6E8A-4147-A177-3AD203B41FA5}">
                      <a16:colId xmlns:a16="http://schemas.microsoft.com/office/drawing/2014/main" val="1299060835"/>
                    </a:ext>
                  </a:extLst>
                </a:gridCol>
                <a:gridCol w="670760">
                  <a:extLst>
                    <a:ext uri="{9D8B030D-6E8A-4147-A177-3AD203B41FA5}">
                      <a16:colId xmlns:a16="http://schemas.microsoft.com/office/drawing/2014/main" val="3783232595"/>
                    </a:ext>
                  </a:extLst>
                </a:gridCol>
                <a:gridCol w="670760">
                  <a:extLst>
                    <a:ext uri="{9D8B030D-6E8A-4147-A177-3AD203B41FA5}">
                      <a16:colId xmlns:a16="http://schemas.microsoft.com/office/drawing/2014/main" val="1788176328"/>
                    </a:ext>
                  </a:extLst>
                </a:gridCol>
                <a:gridCol w="670760">
                  <a:extLst>
                    <a:ext uri="{9D8B030D-6E8A-4147-A177-3AD203B41FA5}">
                      <a16:colId xmlns:a16="http://schemas.microsoft.com/office/drawing/2014/main" val="556557645"/>
                    </a:ext>
                  </a:extLst>
                </a:gridCol>
                <a:gridCol w="670760">
                  <a:extLst>
                    <a:ext uri="{9D8B030D-6E8A-4147-A177-3AD203B41FA5}">
                      <a16:colId xmlns:a16="http://schemas.microsoft.com/office/drawing/2014/main" val="3599593696"/>
                    </a:ext>
                  </a:extLst>
                </a:gridCol>
                <a:gridCol w="670760">
                  <a:extLst>
                    <a:ext uri="{9D8B030D-6E8A-4147-A177-3AD203B41FA5}">
                      <a16:colId xmlns:a16="http://schemas.microsoft.com/office/drawing/2014/main" val="3716484006"/>
                    </a:ext>
                  </a:extLst>
                </a:gridCol>
                <a:gridCol w="670760">
                  <a:extLst>
                    <a:ext uri="{9D8B030D-6E8A-4147-A177-3AD203B41FA5}">
                      <a16:colId xmlns:a16="http://schemas.microsoft.com/office/drawing/2014/main" val="1456896496"/>
                    </a:ext>
                  </a:extLst>
                </a:gridCol>
              </a:tblGrid>
              <a:tr h="179281">
                <a:tc>
                  <a:txBody>
                    <a:bodyPr/>
                    <a:lstStyle/>
                    <a:p>
                      <a:pPr algn="ctr" fontAlgn="ctr"/>
                      <a:r>
                        <a:rPr lang="en-US" sz="1100" u="none" strike="noStrike" dirty="0">
                          <a:effectLst/>
                        </a:rPr>
                        <a:t>Mode</a:t>
                      </a:r>
                      <a:endParaRPr lang="en-US" sz="1100" b="1"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Truth wn</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CMS wn</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Error %</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Truth zt</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CMS zt</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Error %</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MAC</a:t>
                      </a:r>
                      <a:endParaRPr lang="en-US" sz="1100" b="1"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774830076"/>
                  </a:ext>
                </a:extLst>
              </a:tr>
              <a:tr h="179281">
                <a:tc>
                  <a:txBody>
                    <a:bodyPr/>
                    <a:lstStyle/>
                    <a:p>
                      <a:pPr algn="ctr" fontAlgn="ctr"/>
                      <a:r>
                        <a:rPr lang="en-US" sz="1100" u="none" strike="noStrike" dirty="0">
                          <a:effectLst/>
                        </a:rPr>
                        <a:t>1</a:t>
                      </a:r>
                      <a:endParaRPr lang="en-US" sz="1100" b="1"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127.8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127.7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-0.12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0.11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-52.7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1.00</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793807840"/>
                  </a:ext>
                </a:extLst>
              </a:tr>
              <a:tr h="179281">
                <a:tc>
                  <a:txBody>
                    <a:bodyPr/>
                    <a:lstStyle/>
                    <a:p>
                      <a:pPr algn="ctr" fontAlgn="ctr"/>
                      <a:r>
                        <a:rPr lang="en-US" sz="1100" u="none" strike="noStrike">
                          <a:effectLst/>
                        </a:rPr>
                        <a:t>2</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dirty="0">
                          <a:effectLst/>
                        </a:rPr>
                        <a:t>236.2</a:t>
                      </a:r>
                      <a:endParaRPr lang="en-US" sz="1100" b="0"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232.6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10.7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69908922"/>
                  </a:ext>
                </a:extLst>
              </a:tr>
              <a:tr h="179281">
                <a:tc>
                  <a:txBody>
                    <a:bodyPr/>
                    <a:lstStyle/>
                    <a:p>
                      <a:pPr algn="ctr" fontAlgn="ctr"/>
                      <a:r>
                        <a:rPr lang="en-US" sz="1100" u="none" strike="noStrike">
                          <a:effectLst/>
                        </a:rPr>
                        <a:t>3</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237.6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242.8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2.16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-17.8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0.94</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258129268"/>
                  </a:ext>
                </a:extLst>
              </a:tr>
              <a:tr h="179281">
                <a:tc>
                  <a:txBody>
                    <a:bodyPr/>
                    <a:lstStyle/>
                    <a:p>
                      <a:pPr algn="ctr" fontAlgn="ctr"/>
                      <a:r>
                        <a:rPr lang="en-US" sz="1100" u="none" strike="noStrike">
                          <a:effectLst/>
                        </a:rPr>
                        <a:t>4</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356.1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356.4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0.09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-14.2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96595560"/>
                  </a:ext>
                </a:extLst>
              </a:tr>
              <a:tr h="179281">
                <a:tc>
                  <a:txBody>
                    <a:bodyPr/>
                    <a:lstStyle/>
                    <a:p>
                      <a:pPr algn="ctr" fontAlgn="ctr"/>
                      <a:r>
                        <a:rPr lang="en-US" sz="1100" u="none" strike="noStrike">
                          <a:effectLst/>
                        </a:rPr>
                        <a:t>5</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439.4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442.6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0.51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-33.2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0.85</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993007311"/>
                  </a:ext>
                </a:extLst>
              </a:tr>
              <a:tr h="179281">
                <a:tc>
                  <a:txBody>
                    <a:bodyPr/>
                    <a:lstStyle/>
                    <a:p>
                      <a:pPr algn="ctr" fontAlgn="ctr"/>
                      <a:r>
                        <a:rPr lang="en-US" sz="1100" u="none" strike="noStrike">
                          <a:effectLst/>
                        </a:rPr>
                        <a:t>6</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454.6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454.3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-0.06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0.59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23.5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0.68</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791891696"/>
                  </a:ext>
                </a:extLst>
              </a:tr>
              <a:tr h="179281">
                <a:tc>
                  <a:txBody>
                    <a:bodyPr/>
                    <a:lstStyle/>
                    <a:p>
                      <a:pPr algn="ctr" fontAlgn="ctr"/>
                      <a:r>
                        <a:rPr lang="en-US" sz="1100" u="none" strike="noStrike">
                          <a:effectLst/>
                        </a:rPr>
                        <a:t>7</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463.1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437.7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-5.48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0.06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0.19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231.8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543044862"/>
                  </a:ext>
                </a:extLst>
              </a:tr>
              <a:tr h="179281">
                <a:tc>
                  <a:txBody>
                    <a:bodyPr/>
                    <a:lstStyle/>
                    <a:p>
                      <a:pPr algn="ctr" fontAlgn="ctr"/>
                      <a:r>
                        <a:rPr lang="en-US" sz="1100" u="none" strike="noStrike">
                          <a:effectLst/>
                        </a:rPr>
                        <a:t>8</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643.0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631.5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-1.79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0.41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-58.4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947898812"/>
                  </a:ext>
                </a:extLst>
              </a:tr>
              <a:tr h="179281">
                <a:tc>
                  <a:txBody>
                    <a:bodyPr/>
                    <a:lstStyle/>
                    <a:p>
                      <a:pPr algn="ctr" fontAlgn="ctr"/>
                      <a:r>
                        <a:rPr lang="en-US" sz="1100" u="none" strike="noStrike">
                          <a:effectLst/>
                        </a:rPr>
                        <a:t>9</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728.9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704.8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-3.31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132.3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4257753920"/>
                  </a:ext>
                </a:extLst>
              </a:tr>
              <a:tr h="179281">
                <a:tc>
                  <a:txBody>
                    <a:bodyPr/>
                    <a:lstStyle/>
                    <a:p>
                      <a:pPr algn="ctr" fontAlgn="ctr"/>
                      <a:r>
                        <a:rPr lang="en-US" sz="1100" u="none" strike="noStrike">
                          <a:effectLst/>
                        </a:rPr>
                        <a:t>10</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733.5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741.2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1.04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0.58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-50.7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29462882"/>
                  </a:ext>
                </a:extLst>
              </a:tr>
              <a:tr h="179281">
                <a:tc>
                  <a:txBody>
                    <a:bodyPr/>
                    <a:lstStyle/>
                    <a:p>
                      <a:pPr algn="ctr" fontAlgn="ctr"/>
                      <a:r>
                        <a:rPr lang="en-US" sz="1100" u="none" strike="noStrike">
                          <a:effectLst/>
                        </a:rPr>
                        <a:t>11</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833.7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831.6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0.13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146.0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243743725"/>
                  </a:ext>
                </a:extLst>
              </a:tr>
              <a:tr h="179281">
                <a:tc>
                  <a:txBody>
                    <a:bodyPr/>
                    <a:lstStyle/>
                    <a:p>
                      <a:pPr algn="ctr" fontAlgn="ctr"/>
                      <a:r>
                        <a:rPr lang="en-US" sz="1100" u="none" strike="noStrike">
                          <a:effectLst/>
                        </a:rPr>
                        <a:t>12</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910.2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888.2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-2.42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-29.3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819255658"/>
                  </a:ext>
                </a:extLst>
              </a:tr>
              <a:tr h="179281">
                <a:tc>
                  <a:txBody>
                    <a:bodyPr/>
                    <a:lstStyle/>
                    <a:p>
                      <a:pPr algn="ctr" fontAlgn="ctr"/>
                      <a:r>
                        <a:rPr lang="en-US" sz="1100" u="none" strike="noStrike">
                          <a:effectLst/>
                        </a:rPr>
                        <a:t>13</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995.2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959.5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-3.60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0.53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157700516"/>
                  </a:ext>
                </a:extLst>
              </a:tr>
              <a:tr h="179281">
                <a:tc>
                  <a:txBody>
                    <a:bodyPr/>
                    <a:lstStyle/>
                    <a:p>
                      <a:pPr algn="ctr" fontAlgn="ctr"/>
                      <a:r>
                        <a:rPr lang="en-US" sz="1100" u="none" strike="noStrike">
                          <a:effectLst/>
                        </a:rPr>
                        <a:t>14</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1235.5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1229.7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-0.47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1.36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-42.0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508774043"/>
                  </a:ext>
                </a:extLst>
              </a:tr>
              <a:tr h="179281">
                <a:tc>
                  <a:txBody>
                    <a:bodyPr/>
                    <a:lstStyle/>
                    <a:p>
                      <a:pPr algn="ctr" fontAlgn="ctr"/>
                      <a:r>
                        <a:rPr lang="en-US" sz="1100" u="none" strike="noStrike">
                          <a:effectLst/>
                        </a:rPr>
                        <a:t>15</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1329.9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1320.5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1.30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66.2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918253799"/>
                  </a:ext>
                </a:extLst>
              </a:tr>
              <a:tr h="179281">
                <a:tc>
                  <a:txBody>
                    <a:bodyPr/>
                    <a:lstStyle/>
                    <a:p>
                      <a:pPr algn="ctr" fontAlgn="ctr"/>
                      <a:r>
                        <a:rPr lang="en-US" sz="1100" u="none" strike="noStrike">
                          <a:effectLst/>
                        </a:rPr>
                        <a:t>16</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1428.5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1438.4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0.88</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875463865"/>
                  </a:ext>
                </a:extLst>
              </a:tr>
              <a:tr h="179281">
                <a:tc>
                  <a:txBody>
                    <a:bodyPr/>
                    <a:lstStyle/>
                    <a:p>
                      <a:pPr algn="ctr" fontAlgn="ctr"/>
                      <a:r>
                        <a:rPr lang="en-US" sz="1100" u="none" strike="noStrike">
                          <a:effectLst/>
                        </a:rPr>
                        <a:t>17</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1472.5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1509.5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2.51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0.39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-43.3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0.93</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660101648"/>
                  </a:ext>
                </a:extLst>
              </a:tr>
              <a:tr h="179281">
                <a:tc>
                  <a:txBody>
                    <a:bodyPr/>
                    <a:lstStyle/>
                    <a:p>
                      <a:pPr algn="ctr" fontAlgn="ctr"/>
                      <a:r>
                        <a:rPr lang="en-US" sz="1100" u="none" strike="noStrike">
                          <a:effectLst/>
                        </a:rPr>
                        <a:t>18</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1625.5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1608.5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-1.05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0.44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-41.3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0.89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063422908"/>
                  </a:ext>
                </a:extLst>
              </a:tr>
              <a:tr h="179281">
                <a:tc>
                  <a:txBody>
                    <a:bodyPr/>
                    <a:lstStyle/>
                    <a:p>
                      <a:pPr algn="ctr" fontAlgn="ctr"/>
                      <a:r>
                        <a:rPr lang="en-US" sz="1100" u="none" strike="noStrike">
                          <a:effectLst/>
                        </a:rPr>
                        <a:t>20</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1772.2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dirty="0">
                          <a:effectLst/>
                        </a:rPr>
                        <a:t>1833.2</a:t>
                      </a:r>
                      <a:endParaRPr lang="en-US" sz="1100" b="0"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3.45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-7.7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0.75</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400632012"/>
                  </a:ext>
                </a:extLst>
              </a:tr>
              <a:tr h="179281">
                <a:tc>
                  <a:txBody>
                    <a:bodyPr/>
                    <a:lstStyle/>
                    <a:p>
                      <a:pPr algn="ctr" fontAlgn="ctr"/>
                      <a:r>
                        <a:rPr lang="en-US" sz="1100" u="none" strike="noStrike">
                          <a:effectLst/>
                        </a:rPr>
                        <a:t>23</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2112.5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2096.8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0.50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-31.9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0.93</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983935076"/>
                  </a:ext>
                </a:extLst>
              </a:tr>
              <a:tr h="179281">
                <a:tc>
                  <a:txBody>
                    <a:bodyPr/>
                    <a:lstStyle/>
                    <a:p>
                      <a:pPr algn="ctr" fontAlgn="ctr"/>
                      <a:r>
                        <a:rPr lang="en-US" sz="1100" u="none" strike="noStrike">
                          <a:effectLst/>
                        </a:rPr>
                        <a:t>29</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2767.5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2628.0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-5.04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0.74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-66.1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0.63</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238188293"/>
                  </a:ext>
                </a:extLst>
              </a:tr>
              <a:tr h="179281">
                <a:tc>
                  <a:txBody>
                    <a:bodyPr/>
                    <a:lstStyle/>
                    <a:p>
                      <a:pPr algn="ctr" fontAlgn="ctr"/>
                      <a:r>
                        <a:rPr lang="en-US" sz="1100" u="none" strike="noStrike">
                          <a:effectLst/>
                        </a:rPr>
                        <a:t>31</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2900.8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2902.5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0.06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-1.2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634036703"/>
                  </a:ext>
                </a:extLst>
              </a:tr>
              <a:tr h="179281">
                <a:tc>
                  <a:txBody>
                    <a:bodyPr/>
                    <a:lstStyle/>
                    <a:p>
                      <a:pPr algn="ctr" fontAlgn="ctr"/>
                      <a:r>
                        <a:rPr lang="en-US" sz="1100" u="none" strike="noStrike">
                          <a:effectLst/>
                        </a:rPr>
                        <a:t>32</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2910.8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2935.7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0.85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0.22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a:effectLst/>
                        </a:rPr>
                        <a:t>-2.0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ctr"/>
                      <a:r>
                        <a:rPr lang="en-US" sz="1100" u="none" strike="noStrike" dirty="0">
                          <a:effectLst/>
                        </a:rPr>
                        <a:t>0.98</a:t>
                      </a:r>
                      <a:endParaRPr lang="en-US" sz="1100" b="0" i="0" u="none" strike="noStrike" dirty="0">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279216907"/>
                  </a:ext>
                </a:extLst>
              </a:tr>
            </a:tbl>
          </a:graphicData>
        </a:graphic>
      </p:graphicFrame>
      <p:pic>
        <p:nvPicPr>
          <p:cNvPr id="12" name="Picture 11">
            <a:extLst>
              <a:ext uri="{FF2B5EF4-FFF2-40B4-BE49-F238E27FC236}">
                <a16:creationId xmlns:a16="http://schemas.microsoft.com/office/drawing/2014/main" id="{F7B8F5DB-29AE-809A-B39E-0032EB3CBB92}"/>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096000" y="3844094"/>
            <a:ext cx="5486411" cy="2743206"/>
          </a:xfrm>
          <a:prstGeom prst="rect">
            <a:avLst/>
          </a:prstGeom>
        </p:spPr>
      </p:pic>
      <p:pic>
        <p:nvPicPr>
          <p:cNvPr id="7" name="Picture 6">
            <a:extLst>
              <a:ext uri="{FF2B5EF4-FFF2-40B4-BE49-F238E27FC236}">
                <a16:creationId xmlns:a16="http://schemas.microsoft.com/office/drawing/2014/main" id="{430FAD16-ABB4-791E-A66C-EEF1905732A2}"/>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196780" y="224980"/>
            <a:ext cx="5486411" cy="3657607"/>
          </a:xfrm>
          <a:prstGeom prst="rect">
            <a:avLst/>
          </a:prstGeom>
        </p:spPr>
      </p:pic>
      <p:sp>
        <p:nvSpPr>
          <p:cNvPr id="2" name="Title 1">
            <a:extLst>
              <a:ext uri="{FF2B5EF4-FFF2-40B4-BE49-F238E27FC236}">
                <a16:creationId xmlns:a16="http://schemas.microsoft.com/office/drawing/2014/main" id="{0D9BFF26-2709-750B-501F-EF99ABB32D09}"/>
              </a:ext>
            </a:extLst>
          </p:cNvPr>
          <p:cNvSpPr>
            <a:spLocks noGrp="1"/>
          </p:cNvSpPr>
          <p:nvPr>
            <p:ph type="title"/>
          </p:nvPr>
        </p:nvSpPr>
        <p:spPr>
          <a:xfrm>
            <a:off x="105032" y="136525"/>
            <a:ext cx="5863968" cy="662781"/>
          </a:xfrm>
        </p:spPr>
        <p:txBody>
          <a:bodyPr>
            <a:normAutofit fontScale="90000"/>
          </a:bodyPr>
          <a:lstStyle/>
          <a:p>
            <a:r>
              <a:rPr lang="en-US" dirty="0"/>
              <a:t>Linear CMS Results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06B9B3-CF63-6055-B186-BC6E82A1E051}"/>
                  </a:ext>
                </a:extLst>
              </p:cNvPr>
              <p:cNvSpPr>
                <a:spLocks noGrp="1"/>
              </p:cNvSpPr>
              <p:nvPr>
                <p:ph idx="1"/>
              </p:nvPr>
            </p:nvSpPr>
            <p:spPr>
              <a:xfrm>
                <a:off x="184012" y="833320"/>
                <a:ext cx="5292180" cy="1210386"/>
              </a:xfrm>
            </p:spPr>
            <p:txBody>
              <a:bodyPr>
                <a:normAutofit fontScale="92500" lnSpcReduction="10000"/>
              </a:bodyPr>
              <a:lstStyle/>
              <a:p>
                <a:pPr marL="0" indent="0">
                  <a:buNone/>
                </a:pPr>
                <a:r>
                  <a:rPr lang="en-US" sz="2000" dirty="0"/>
                  <a:t>Modes: SS1=1:30 (1490 Hz), SS2=1:25 (1779 Hz), SS3=1:28 (3897 Hz)</a:t>
                </a:r>
                <a:br>
                  <a:rPr lang="en-US" sz="2000" dirty="0"/>
                </a:br>
                <a:r>
                  <a:rPr lang="en-US" sz="2000" b="1" dirty="0"/>
                  <a:t>Constraints: DOF 200s &amp; 300s</a:t>
                </a:r>
              </a:p>
              <a:p>
                <a:pPr marL="0" indent="0">
                  <a:buNone/>
                </a:pPr>
                <a:r>
                  <a:rPr lang="en-US" sz="2000" dirty="0"/>
                  <a:t>Constraint Softening: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𝜙</m:t>
                        </m:r>
                      </m:e>
                      <m:sub>
                        <m:r>
                          <a:rPr lang="en-US" sz="2000" i="1">
                            <a:latin typeface="Cambria Math" panose="02040503050406030204" pitchFamily="18" charset="0"/>
                          </a:rPr>
                          <m:t>2</m:t>
                        </m:r>
                      </m:sub>
                      <m:sup>
                        <m:r>
                          <a:rPr lang="en-US" sz="2000" i="1">
                            <a:latin typeface="Cambria Math" panose="02040503050406030204" pitchFamily="18" charset="0"/>
                            <a:ea typeface="Cambria Math" panose="02040503050406030204" pitchFamily="18" charset="0"/>
                          </a:rPr>
                          <m:t>†</m:t>
                        </m:r>
                      </m:sup>
                    </m:sSubSup>
                  </m:oMath>
                </a14:m>
                <a:endParaRPr lang="en-US" sz="2000" dirty="0"/>
              </a:p>
            </p:txBody>
          </p:sp>
        </mc:Choice>
        <mc:Fallback xmlns="">
          <p:sp>
            <p:nvSpPr>
              <p:cNvPr id="3" name="Content Placeholder 2">
                <a:extLst>
                  <a:ext uri="{FF2B5EF4-FFF2-40B4-BE49-F238E27FC236}">
                    <a16:creationId xmlns:a16="http://schemas.microsoft.com/office/drawing/2014/main" id="{1E06B9B3-CF63-6055-B186-BC6E82A1E051}"/>
                  </a:ext>
                </a:extLst>
              </p:cNvPr>
              <p:cNvSpPr>
                <a:spLocks noGrp="1" noRot="1" noChangeAspect="1" noMove="1" noResize="1" noEditPoints="1" noAdjustHandles="1" noChangeArrowheads="1" noChangeShapeType="1" noTextEdit="1"/>
              </p:cNvSpPr>
              <p:nvPr>
                <p:ph idx="1"/>
              </p:nvPr>
            </p:nvSpPr>
            <p:spPr>
              <a:xfrm>
                <a:off x="184012" y="833320"/>
                <a:ext cx="5292180" cy="1210386"/>
              </a:xfrm>
              <a:blipFill>
                <a:blip r:embed="rId5"/>
                <a:stretch>
                  <a:fillRect l="-1037" t="-6566" b="-6566"/>
                </a:stretch>
              </a:blipFill>
            </p:spPr>
            <p:txBody>
              <a:bodyPr/>
              <a:lstStyle/>
              <a:p>
                <a:r>
                  <a:rPr lang="en-US">
                    <a:noFill/>
                  </a:rPr>
                  <a:t> </a:t>
                </a:r>
              </a:p>
            </p:txBody>
          </p:sp>
        </mc:Fallback>
      </mc:AlternateContent>
    </p:spTree>
    <p:extLst>
      <p:ext uri="{BB962C8B-B14F-4D97-AF65-F5344CB8AC3E}">
        <p14:creationId xmlns:p14="http://schemas.microsoft.com/office/powerpoint/2010/main" val="156435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221303A-D3F9-6B88-0FFA-54D3CFB2A48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99184" y="318058"/>
            <a:ext cx="5486411" cy="3657607"/>
          </a:xfrm>
          <a:prstGeom prst="rect">
            <a:avLst/>
          </a:prstGeom>
        </p:spPr>
      </p:pic>
      <p:graphicFrame>
        <p:nvGraphicFramePr>
          <p:cNvPr id="4" name="Table 3">
            <a:extLst>
              <a:ext uri="{FF2B5EF4-FFF2-40B4-BE49-F238E27FC236}">
                <a16:creationId xmlns:a16="http://schemas.microsoft.com/office/drawing/2014/main" id="{D6100260-EE33-A17F-D775-EAC8BB0DEA70}"/>
              </a:ext>
            </a:extLst>
          </p:cNvPr>
          <p:cNvGraphicFramePr>
            <a:graphicFrameLocks noGrp="1"/>
          </p:cNvGraphicFramePr>
          <p:nvPr>
            <p:extLst>
              <p:ext uri="{D42A27DB-BD31-4B8C-83A1-F6EECF244321}">
                <p14:modId xmlns:p14="http://schemas.microsoft.com/office/powerpoint/2010/main" val="2262179436"/>
              </p:ext>
            </p:extLst>
          </p:nvPr>
        </p:nvGraphicFramePr>
        <p:xfrm>
          <a:off x="506405" y="2077720"/>
          <a:ext cx="5364488" cy="4282440"/>
        </p:xfrm>
        <a:graphic>
          <a:graphicData uri="http://schemas.openxmlformats.org/drawingml/2006/table">
            <a:tbl>
              <a:tblPr firstRow="1" firstCol="1" bandRow="1">
                <a:tableStyleId>{5C22544A-7EE6-4342-B048-85BDC9FD1C3A}</a:tableStyleId>
              </a:tblPr>
              <a:tblGrid>
                <a:gridCol w="670561">
                  <a:extLst>
                    <a:ext uri="{9D8B030D-6E8A-4147-A177-3AD203B41FA5}">
                      <a16:colId xmlns:a16="http://schemas.microsoft.com/office/drawing/2014/main" val="92702223"/>
                    </a:ext>
                  </a:extLst>
                </a:gridCol>
                <a:gridCol w="670561">
                  <a:extLst>
                    <a:ext uri="{9D8B030D-6E8A-4147-A177-3AD203B41FA5}">
                      <a16:colId xmlns:a16="http://schemas.microsoft.com/office/drawing/2014/main" val="4031048006"/>
                    </a:ext>
                  </a:extLst>
                </a:gridCol>
                <a:gridCol w="670561">
                  <a:extLst>
                    <a:ext uri="{9D8B030D-6E8A-4147-A177-3AD203B41FA5}">
                      <a16:colId xmlns:a16="http://schemas.microsoft.com/office/drawing/2014/main" val="3767244779"/>
                    </a:ext>
                  </a:extLst>
                </a:gridCol>
                <a:gridCol w="670561">
                  <a:extLst>
                    <a:ext uri="{9D8B030D-6E8A-4147-A177-3AD203B41FA5}">
                      <a16:colId xmlns:a16="http://schemas.microsoft.com/office/drawing/2014/main" val="3821276077"/>
                    </a:ext>
                  </a:extLst>
                </a:gridCol>
                <a:gridCol w="670561">
                  <a:extLst>
                    <a:ext uri="{9D8B030D-6E8A-4147-A177-3AD203B41FA5}">
                      <a16:colId xmlns:a16="http://schemas.microsoft.com/office/drawing/2014/main" val="1921130870"/>
                    </a:ext>
                  </a:extLst>
                </a:gridCol>
                <a:gridCol w="670561">
                  <a:extLst>
                    <a:ext uri="{9D8B030D-6E8A-4147-A177-3AD203B41FA5}">
                      <a16:colId xmlns:a16="http://schemas.microsoft.com/office/drawing/2014/main" val="1802221847"/>
                    </a:ext>
                  </a:extLst>
                </a:gridCol>
                <a:gridCol w="670561">
                  <a:extLst>
                    <a:ext uri="{9D8B030D-6E8A-4147-A177-3AD203B41FA5}">
                      <a16:colId xmlns:a16="http://schemas.microsoft.com/office/drawing/2014/main" val="193060008"/>
                    </a:ext>
                  </a:extLst>
                </a:gridCol>
                <a:gridCol w="670561">
                  <a:extLst>
                    <a:ext uri="{9D8B030D-6E8A-4147-A177-3AD203B41FA5}">
                      <a16:colId xmlns:a16="http://schemas.microsoft.com/office/drawing/2014/main" val="210476813"/>
                    </a:ext>
                  </a:extLst>
                </a:gridCol>
              </a:tblGrid>
              <a:tr h="178435">
                <a:tc>
                  <a:txBody>
                    <a:bodyPr/>
                    <a:lstStyle/>
                    <a:p>
                      <a:pPr algn="ctr" fontAlgn="b"/>
                      <a:r>
                        <a:rPr lang="en-US" sz="1100" u="none" strike="noStrike" dirty="0">
                          <a:effectLst/>
                        </a:rPr>
                        <a:t>Mode</a:t>
                      </a:r>
                      <a:endParaRPr lang="en-US" sz="1100" b="1"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Truth wn</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CMS wn</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Error %</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Truth zt</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CMS zt</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Error %</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MAC</a:t>
                      </a:r>
                      <a:endParaRPr lang="en-US" sz="1100" b="1"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605959640"/>
                  </a:ext>
                </a:extLst>
              </a:tr>
              <a:tr h="178435">
                <a:tc>
                  <a:txBody>
                    <a:bodyPr/>
                    <a:lstStyle/>
                    <a:p>
                      <a:pPr algn="ctr" fontAlgn="b"/>
                      <a:r>
                        <a:rPr lang="en-US" sz="1100" u="none" strike="noStrike" dirty="0">
                          <a:effectLst/>
                        </a:rPr>
                        <a:t>1</a:t>
                      </a:r>
                      <a:endParaRPr lang="en-US" sz="1100" b="1"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127.8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125.0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0.11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-52.0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1.00</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009487346"/>
                  </a:ext>
                </a:extLst>
              </a:tr>
              <a:tr h="178435">
                <a:tc>
                  <a:txBody>
                    <a:bodyPr/>
                    <a:lstStyle/>
                    <a:p>
                      <a:pPr algn="ctr" fontAlgn="b"/>
                      <a:r>
                        <a:rPr lang="en-US" sz="1100" u="none" strike="noStrike">
                          <a:effectLst/>
                        </a:rPr>
                        <a:t>2</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236.2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232.6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12.8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825224612"/>
                  </a:ext>
                </a:extLst>
              </a:tr>
              <a:tr h="178435">
                <a:tc>
                  <a:txBody>
                    <a:bodyPr/>
                    <a:lstStyle/>
                    <a:p>
                      <a:pPr algn="ctr" fontAlgn="b"/>
                      <a:r>
                        <a:rPr lang="en-US" sz="1100" u="none" strike="noStrike">
                          <a:effectLst/>
                        </a:rPr>
                        <a:t>3</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237.6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242.4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2.01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dirty="0">
                          <a:effectLst/>
                        </a:rPr>
                        <a:t>0.78</a:t>
                      </a:r>
                      <a:endParaRPr lang="en-US" sz="1100" b="0"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-18.6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182777627"/>
                  </a:ext>
                </a:extLst>
              </a:tr>
              <a:tr h="178435">
                <a:tc>
                  <a:txBody>
                    <a:bodyPr/>
                    <a:lstStyle/>
                    <a:p>
                      <a:pPr algn="ctr" fontAlgn="b"/>
                      <a:r>
                        <a:rPr lang="en-US" sz="1100" u="none" strike="noStrike">
                          <a:effectLst/>
                        </a:rPr>
                        <a:t>4</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356.1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356.4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0.09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-14.2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948442707"/>
                  </a:ext>
                </a:extLst>
              </a:tr>
              <a:tr h="178435">
                <a:tc>
                  <a:txBody>
                    <a:bodyPr/>
                    <a:lstStyle/>
                    <a:p>
                      <a:pPr algn="ctr" fontAlgn="b"/>
                      <a:r>
                        <a:rPr lang="en-US" sz="1100" u="none" strike="noStrike">
                          <a:effectLst/>
                        </a:rPr>
                        <a:t>5</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439.4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441.8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0.51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-30.0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0.89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625745821"/>
                  </a:ext>
                </a:extLst>
              </a:tr>
              <a:tr h="178435">
                <a:tc>
                  <a:txBody>
                    <a:bodyPr/>
                    <a:lstStyle/>
                    <a:p>
                      <a:pPr algn="ctr" fontAlgn="b"/>
                      <a:r>
                        <a:rPr lang="en-US" sz="1100" u="none" strike="noStrike">
                          <a:effectLst/>
                        </a:rPr>
                        <a:t>6</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454.6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453.9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-0.16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0.59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22.1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0.73</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728428870"/>
                  </a:ext>
                </a:extLst>
              </a:tr>
              <a:tr h="178435">
                <a:tc>
                  <a:txBody>
                    <a:bodyPr/>
                    <a:lstStyle/>
                    <a:p>
                      <a:pPr algn="ctr" fontAlgn="b"/>
                      <a:r>
                        <a:rPr lang="en-US" sz="1100" u="none" strike="noStrike">
                          <a:effectLst/>
                        </a:rPr>
                        <a:t>7</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463.1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446.0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0.06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0.19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228.2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038569302"/>
                  </a:ext>
                </a:extLst>
              </a:tr>
              <a:tr h="178435">
                <a:tc>
                  <a:txBody>
                    <a:bodyPr/>
                    <a:lstStyle/>
                    <a:p>
                      <a:pPr algn="ctr" fontAlgn="b"/>
                      <a:r>
                        <a:rPr lang="en-US" sz="1100" u="none" strike="noStrike">
                          <a:effectLst/>
                        </a:rPr>
                        <a:t>8</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643.0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630.7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-1.91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0.41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-59.0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557040783"/>
                  </a:ext>
                </a:extLst>
              </a:tr>
              <a:tr h="178435">
                <a:tc>
                  <a:txBody>
                    <a:bodyPr/>
                    <a:lstStyle/>
                    <a:p>
                      <a:pPr algn="ctr" fontAlgn="b"/>
                      <a:r>
                        <a:rPr lang="en-US" sz="1100" u="none" strike="noStrike">
                          <a:effectLst/>
                        </a:rPr>
                        <a:t>9</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728.9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700.6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-3.89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132.0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4206849079"/>
                  </a:ext>
                </a:extLst>
              </a:tr>
              <a:tr h="178435">
                <a:tc>
                  <a:txBody>
                    <a:bodyPr/>
                    <a:lstStyle/>
                    <a:p>
                      <a:pPr algn="ctr" fontAlgn="b"/>
                      <a:r>
                        <a:rPr lang="en-US" sz="1100" u="none" strike="noStrike">
                          <a:effectLst/>
                        </a:rPr>
                        <a:t>10</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733.5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738.5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0.58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-50.6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4051907645"/>
                  </a:ext>
                </a:extLst>
              </a:tr>
              <a:tr h="178435">
                <a:tc>
                  <a:txBody>
                    <a:bodyPr/>
                    <a:lstStyle/>
                    <a:p>
                      <a:pPr algn="ctr" fontAlgn="b"/>
                      <a:r>
                        <a:rPr lang="en-US" sz="1100" u="none" strike="noStrike">
                          <a:effectLst/>
                        </a:rPr>
                        <a:t>11</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833.7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831.8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0.13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144.5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940473130"/>
                  </a:ext>
                </a:extLst>
              </a:tr>
              <a:tr h="178435">
                <a:tc>
                  <a:txBody>
                    <a:bodyPr/>
                    <a:lstStyle/>
                    <a:p>
                      <a:pPr algn="ctr" fontAlgn="b"/>
                      <a:r>
                        <a:rPr lang="en-US" sz="1100" u="none" strike="noStrike">
                          <a:effectLst/>
                        </a:rPr>
                        <a:t>12</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910.2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888.2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-2.42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-28.7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122776889"/>
                  </a:ext>
                </a:extLst>
              </a:tr>
              <a:tr h="178435">
                <a:tc>
                  <a:txBody>
                    <a:bodyPr/>
                    <a:lstStyle/>
                    <a:p>
                      <a:pPr algn="ctr" fontAlgn="b"/>
                      <a:r>
                        <a:rPr lang="en-US" sz="1100" u="none" strike="noStrike">
                          <a:effectLst/>
                        </a:rPr>
                        <a:t>13</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995.2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961.6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-3.39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0.54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-11.3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581944563"/>
                  </a:ext>
                </a:extLst>
              </a:tr>
              <a:tr h="178435">
                <a:tc>
                  <a:txBody>
                    <a:bodyPr/>
                    <a:lstStyle/>
                    <a:p>
                      <a:pPr algn="ctr" fontAlgn="b"/>
                      <a:r>
                        <a:rPr lang="en-US" sz="1100" u="none" strike="noStrike">
                          <a:effectLst/>
                        </a:rPr>
                        <a:t>14</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1235.5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1204.0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-2.56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1.36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0.82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-40.1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038249790"/>
                  </a:ext>
                </a:extLst>
              </a:tr>
              <a:tr h="178435">
                <a:tc>
                  <a:txBody>
                    <a:bodyPr/>
                    <a:lstStyle/>
                    <a:p>
                      <a:pPr algn="ctr" fontAlgn="b"/>
                      <a:r>
                        <a:rPr lang="en-US" sz="1100" u="none" strike="noStrike">
                          <a:effectLst/>
                        </a:rPr>
                        <a:t>15</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1329.9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1320.3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1.30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66.2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658033116"/>
                  </a:ext>
                </a:extLst>
              </a:tr>
              <a:tr h="178435">
                <a:tc>
                  <a:txBody>
                    <a:bodyPr/>
                    <a:lstStyle/>
                    <a:p>
                      <a:pPr algn="ctr" fontAlgn="b"/>
                      <a:r>
                        <a:rPr lang="en-US" sz="1100" u="none" strike="noStrike">
                          <a:effectLst/>
                        </a:rPr>
                        <a:t>16</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1428.5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1445.5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1.19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0.89</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999938054"/>
                  </a:ext>
                </a:extLst>
              </a:tr>
              <a:tr h="178435">
                <a:tc>
                  <a:txBody>
                    <a:bodyPr/>
                    <a:lstStyle/>
                    <a:p>
                      <a:pPr algn="ctr" fontAlgn="b"/>
                      <a:r>
                        <a:rPr lang="en-US" sz="1100" u="none" strike="noStrike">
                          <a:effectLst/>
                        </a:rPr>
                        <a:t>17</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1472.5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1505.6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-44.9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512521508"/>
                  </a:ext>
                </a:extLst>
              </a:tr>
              <a:tr h="178435">
                <a:tc>
                  <a:txBody>
                    <a:bodyPr/>
                    <a:lstStyle/>
                    <a:p>
                      <a:pPr algn="ctr" fontAlgn="b"/>
                      <a:r>
                        <a:rPr lang="en-US" sz="1100" u="none" strike="noStrike">
                          <a:effectLst/>
                        </a:rPr>
                        <a:t>18</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dirty="0">
                          <a:effectLst/>
                        </a:rPr>
                        <a:t>1625.5</a:t>
                      </a:r>
                      <a:endParaRPr lang="en-US" sz="1100" b="0"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1643.9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1.13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0.44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0.26</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-41.7</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0.93</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4038064810"/>
                  </a:ext>
                </a:extLst>
              </a:tr>
              <a:tr h="178435">
                <a:tc>
                  <a:txBody>
                    <a:bodyPr/>
                    <a:lstStyle/>
                    <a:p>
                      <a:pPr algn="ctr" fontAlgn="b"/>
                      <a:r>
                        <a:rPr lang="en-US" sz="1100" u="none" strike="noStrike">
                          <a:effectLst/>
                        </a:rPr>
                        <a:t>20</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1772.2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1833.8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3.48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0.64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-8.5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0.74</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6436115"/>
                  </a:ext>
                </a:extLst>
              </a:tr>
              <a:tr h="178435">
                <a:tc>
                  <a:txBody>
                    <a:bodyPr/>
                    <a:lstStyle/>
                    <a:p>
                      <a:pPr algn="ctr" fontAlgn="b"/>
                      <a:r>
                        <a:rPr lang="en-US" sz="1100" u="none" strike="noStrike">
                          <a:effectLst/>
                        </a:rPr>
                        <a:t>23</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2112.5</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2110.1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-0.11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0.73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0.50</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-32.1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2573396153"/>
                  </a:ext>
                </a:extLst>
              </a:tr>
              <a:tr h="178435">
                <a:tc>
                  <a:txBody>
                    <a:bodyPr/>
                    <a:lstStyle/>
                    <a:p>
                      <a:pPr algn="ctr" fontAlgn="b"/>
                      <a:r>
                        <a:rPr lang="en-US" sz="1100" u="none" strike="noStrike">
                          <a:effectLst/>
                        </a:rPr>
                        <a:t>30</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2828.2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dirty="0">
                          <a:effectLst/>
                        </a:rPr>
                        <a:t>2737.2</a:t>
                      </a:r>
                      <a:endParaRPr lang="en-US" sz="1100" b="0" i="0" u="none" strike="noStrike" dirty="0">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0.34</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-35.9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0.87</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3528492022"/>
                  </a:ext>
                </a:extLst>
              </a:tr>
              <a:tr h="178435">
                <a:tc>
                  <a:txBody>
                    <a:bodyPr/>
                    <a:lstStyle/>
                    <a:p>
                      <a:pPr algn="ctr" fontAlgn="b"/>
                      <a:r>
                        <a:rPr lang="en-US" sz="1100" u="none" strike="noStrike">
                          <a:effectLst/>
                        </a:rPr>
                        <a:t>31</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2900.8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2911.8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0.38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0.1</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1440615887"/>
                  </a:ext>
                </a:extLst>
              </a:tr>
              <a:tr h="178435">
                <a:tc>
                  <a:txBody>
                    <a:bodyPr/>
                    <a:lstStyle/>
                    <a:p>
                      <a:pPr algn="ctr" fontAlgn="b"/>
                      <a:r>
                        <a:rPr lang="en-US" sz="1100" u="none" strike="noStrike">
                          <a:effectLst/>
                        </a:rPr>
                        <a:t>32</a:t>
                      </a:r>
                      <a:endParaRPr lang="en-US" sz="1100" b="1"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2910.8</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2940.9</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1.03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0.22</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a:effectLst/>
                        </a:rPr>
                        <a:t>-2.3</a:t>
                      </a:r>
                      <a:endParaRPr lang="en-US" sz="1100" b="0" i="0" u="none" strike="noStrike">
                        <a:solidFill>
                          <a:srgbClr val="000000"/>
                        </a:solidFill>
                        <a:effectLst/>
                        <a:latin typeface="Aptos Narrow" panose="020B0004020202020204" pitchFamily="34" charset="0"/>
                      </a:endParaRPr>
                    </a:p>
                  </a:txBody>
                  <a:tcPr marL="4689" marR="4689" marT="4689" marB="0" anchor="ctr"/>
                </a:tc>
                <a:tc>
                  <a:txBody>
                    <a:bodyPr/>
                    <a:lstStyle/>
                    <a:p>
                      <a:pPr algn="ctr" fontAlgn="b"/>
                      <a:r>
                        <a:rPr lang="en-US" sz="1100" u="none" strike="noStrike" dirty="0">
                          <a:effectLst/>
                        </a:rPr>
                        <a:t>0.97</a:t>
                      </a:r>
                      <a:endParaRPr lang="en-US" sz="1100" b="0" i="0" u="none" strike="noStrike" dirty="0">
                        <a:solidFill>
                          <a:srgbClr val="000000"/>
                        </a:solidFill>
                        <a:effectLst/>
                        <a:latin typeface="Aptos Narrow" panose="020B0004020202020204" pitchFamily="34" charset="0"/>
                      </a:endParaRPr>
                    </a:p>
                  </a:txBody>
                  <a:tcPr marL="4689" marR="4689" marT="4689" marB="0" anchor="ctr"/>
                </a:tc>
                <a:extLst>
                  <a:ext uri="{0D108BD9-81ED-4DB2-BD59-A6C34878D82A}">
                    <a16:rowId xmlns:a16="http://schemas.microsoft.com/office/drawing/2014/main" val="4177929425"/>
                  </a:ext>
                </a:extLst>
              </a:tr>
            </a:tbl>
          </a:graphicData>
        </a:graphic>
      </p:graphicFrame>
      <p:sp>
        <p:nvSpPr>
          <p:cNvPr id="2" name="Title 1">
            <a:extLst>
              <a:ext uri="{FF2B5EF4-FFF2-40B4-BE49-F238E27FC236}">
                <a16:creationId xmlns:a16="http://schemas.microsoft.com/office/drawing/2014/main" id="{0D9BFF26-2709-750B-501F-EF99ABB32D09}"/>
              </a:ext>
            </a:extLst>
          </p:cNvPr>
          <p:cNvSpPr>
            <a:spLocks noGrp="1"/>
          </p:cNvSpPr>
          <p:nvPr>
            <p:ph type="title"/>
          </p:nvPr>
        </p:nvSpPr>
        <p:spPr>
          <a:xfrm>
            <a:off x="105032" y="136525"/>
            <a:ext cx="5863968" cy="662781"/>
          </a:xfrm>
        </p:spPr>
        <p:txBody>
          <a:bodyPr>
            <a:normAutofit fontScale="90000"/>
          </a:bodyPr>
          <a:lstStyle/>
          <a:p>
            <a:r>
              <a:rPr lang="en-US" dirty="0"/>
              <a:t>Linear CMS Results #3</a:t>
            </a:r>
          </a:p>
        </p:txBody>
      </p:sp>
      <p:sp>
        <p:nvSpPr>
          <p:cNvPr id="3" name="Content Placeholder 2">
            <a:extLst>
              <a:ext uri="{FF2B5EF4-FFF2-40B4-BE49-F238E27FC236}">
                <a16:creationId xmlns:a16="http://schemas.microsoft.com/office/drawing/2014/main" id="{1E06B9B3-CF63-6055-B186-BC6E82A1E051}"/>
              </a:ext>
            </a:extLst>
          </p:cNvPr>
          <p:cNvSpPr>
            <a:spLocks noGrp="1"/>
          </p:cNvSpPr>
          <p:nvPr>
            <p:ph idx="1"/>
          </p:nvPr>
        </p:nvSpPr>
        <p:spPr>
          <a:xfrm>
            <a:off x="178114" y="833320"/>
            <a:ext cx="5186681" cy="1210386"/>
          </a:xfrm>
        </p:spPr>
        <p:txBody>
          <a:bodyPr>
            <a:normAutofit fontScale="92500" lnSpcReduction="10000"/>
          </a:bodyPr>
          <a:lstStyle/>
          <a:p>
            <a:pPr marL="0" indent="0">
              <a:buNone/>
            </a:pPr>
            <a:r>
              <a:rPr lang="en-US" sz="2000" dirty="0"/>
              <a:t>Modes: SS1=1:30 (1489 Hz), SS2=1:23 (1560 Hz), SS3=1:26 (3649 Hz)</a:t>
            </a:r>
            <a:br>
              <a:rPr lang="en-US" sz="2000" dirty="0"/>
            </a:br>
            <a:r>
              <a:rPr lang="en-US" sz="2000" dirty="0"/>
              <a:t>Constraints: DOF 200s &amp; 300s</a:t>
            </a:r>
          </a:p>
          <a:p>
            <a:pPr marL="0" indent="0">
              <a:buNone/>
            </a:pPr>
            <a:r>
              <a:rPr lang="en-US" sz="2000" b="1" dirty="0"/>
              <a:t>Constraint Softening: SVD (10%,10%)</a:t>
            </a:r>
          </a:p>
        </p:txBody>
      </p:sp>
      <p:pic>
        <p:nvPicPr>
          <p:cNvPr id="15" name="Picture 14">
            <a:extLst>
              <a:ext uri="{FF2B5EF4-FFF2-40B4-BE49-F238E27FC236}">
                <a16:creationId xmlns:a16="http://schemas.microsoft.com/office/drawing/2014/main" id="{98A9528D-5D4D-306E-4D73-4EB94181282E}"/>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6096000" y="3852616"/>
            <a:ext cx="5486411" cy="2743206"/>
          </a:xfrm>
          <a:prstGeom prst="rect">
            <a:avLst/>
          </a:prstGeom>
        </p:spPr>
      </p:pic>
    </p:spTree>
    <p:extLst>
      <p:ext uri="{BB962C8B-B14F-4D97-AF65-F5344CB8AC3E}">
        <p14:creationId xmlns:p14="http://schemas.microsoft.com/office/powerpoint/2010/main" val="3140951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C5D5-FCFF-8D0E-7FA5-CB4D09FECE5A}"/>
              </a:ext>
            </a:extLst>
          </p:cNvPr>
          <p:cNvSpPr>
            <a:spLocks noGrp="1"/>
          </p:cNvSpPr>
          <p:nvPr>
            <p:ph type="title"/>
          </p:nvPr>
        </p:nvSpPr>
        <p:spPr>
          <a:xfrm>
            <a:off x="409832" y="629386"/>
            <a:ext cx="10515600" cy="1662545"/>
          </a:xfrm>
        </p:spPr>
        <p:txBody>
          <a:bodyPr>
            <a:normAutofit/>
          </a:bodyPr>
          <a:lstStyle/>
          <a:p>
            <a:r>
              <a:rPr lang="en-US" dirty="0"/>
              <a:t>Another Example from the Wiki </a:t>
            </a:r>
            <a:br>
              <a:rPr lang="en-US" dirty="0"/>
            </a:br>
            <a:r>
              <a:rPr lang="en-US" dirty="0"/>
              <a:t>- Thin Wing to Swept Wing -</a:t>
            </a:r>
          </a:p>
        </p:txBody>
      </p:sp>
    </p:spTree>
    <p:extLst>
      <p:ext uri="{BB962C8B-B14F-4D97-AF65-F5344CB8AC3E}">
        <p14:creationId xmlns:p14="http://schemas.microsoft.com/office/powerpoint/2010/main" val="2037701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C5D20DEA-15A6-4C60-9A20-84805A367A14}"/>
              </a:ext>
            </a:extLst>
          </p:cNvPr>
          <p:cNvPicPr>
            <a:picLocks noChangeAspect="1"/>
          </p:cNvPicPr>
          <p:nvPr/>
        </p:nvPicPr>
        <p:blipFill>
          <a:blip r:embed="rId2"/>
          <a:stretch>
            <a:fillRect/>
          </a:stretch>
        </p:blipFill>
        <p:spPr>
          <a:xfrm>
            <a:off x="8558960" y="4053974"/>
            <a:ext cx="2770321" cy="1976140"/>
          </a:xfrm>
          <a:prstGeom prst="rect">
            <a:avLst/>
          </a:prstGeom>
        </p:spPr>
      </p:pic>
      <p:pic>
        <p:nvPicPr>
          <p:cNvPr id="46" name="Picture 45">
            <a:extLst>
              <a:ext uri="{FF2B5EF4-FFF2-40B4-BE49-F238E27FC236}">
                <a16:creationId xmlns:a16="http://schemas.microsoft.com/office/drawing/2014/main" id="{597955D4-B1B7-484C-97B2-F7000F9B3918}"/>
              </a:ext>
            </a:extLst>
          </p:cNvPr>
          <p:cNvPicPr>
            <a:picLocks noChangeAspect="1"/>
          </p:cNvPicPr>
          <p:nvPr/>
        </p:nvPicPr>
        <p:blipFill>
          <a:blip r:embed="rId2"/>
          <a:stretch>
            <a:fillRect/>
          </a:stretch>
        </p:blipFill>
        <p:spPr>
          <a:xfrm>
            <a:off x="4399200" y="4607677"/>
            <a:ext cx="3103939" cy="1976140"/>
          </a:xfrm>
          <a:prstGeom prst="rect">
            <a:avLst/>
          </a:prstGeom>
        </p:spPr>
      </p:pic>
      <p:sp>
        <p:nvSpPr>
          <p:cNvPr id="13" name="Rectangle 12">
            <a:extLst>
              <a:ext uri="{FF2B5EF4-FFF2-40B4-BE49-F238E27FC236}">
                <a16:creationId xmlns:a16="http://schemas.microsoft.com/office/drawing/2014/main" id="{F8213DD2-505F-4438-92A8-C7D418A0846B}"/>
              </a:ext>
            </a:extLst>
          </p:cNvPr>
          <p:cNvSpPr/>
          <p:nvPr/>
        </p:nvSpPr>
        <p:spPr>
          <a:xfrm>
            <a:off x="564044" y="3348861"/>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25" name="Rectangle 24">
            <a:extLst>
              <a:ext uri="{FF2B5EF4-FFF2-40B4-BE49-F238E27FC236}">
                <a16:creationId xmlns:a16="http://schemas.microsoft.com/office/drawing/2014/main" id="{B30DC50B-4994-4575-839E-6111C94EEDC0}"/>
              </a:ext>
            </a:extLst>
          </p:cNvPr>
          <p:cNvSpPr/>
          <p:nvPr/>
        </p:nvSpPr>
        <p:spPr>
          <a:xfrm>
            <a:off x="1643822" y="3348863"/>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Diagram</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40854" y="799306"/>
            <a:ext cx="11337324" cy="4978829"/>
          </a:xfrm>
        </p:spPr>
        <p:txBody>
          <a:bodyPr>
            <a:normAutofit/>
          </a:bodyPr>
          <a:lstStyle/>
          <a:p>
            <a:pPr lvl="1"/>
            <a:r>
              <a:rPr lang="en-US" dirty="0"/>
              <a:t>The goal of this example is to take a frame, plate, and thin-wing assembly, and use experimental substructuring to remove the thin-wing and plate, then replace it with the swept wing</a:t>
            </a:r>
          </a:p>
          <a:p>
            <a:pPr lvl="1"/>
            <a:r>
              <a:rPr lang="en-US" dirty="0"/>
              <a:t>We wanted to perform this prediction blind without measuring truth and develop tools and habits for successful blind substructuring.</a:t>
            </a:r>
          </a:p>
          <a:p>
            <a:pPr marL="201159" lvl="1" indent="0">
              <a:buNone/>
            </a:pPr>
            <a:endParaRPr lang="en-US" b="1" dirty="0"/>
          </a:p>
        </p:txBody>
      </p:sp>
      <p:pic>
        <p:nvPicPr>
          <p:cNvPr id="6" name="Picture 5">
            <a:extLst>
              <a:ext uri="{FF2B5EF4-FFF2-40B4-BE49-F238E27FC236}">
                <a16:creationId xmlns:a16="http://schemas.microsoft.com/office/drawing/2014/main" id="{EB736EE4-327F-4071-81FB-62FDCA8BE83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609737" y="2742643"/>
            <a:ext cx="1070755" cy="2534753"/>
          </a:xfrm>
          <a:prstGeom prst="rect">
            <a:avLst/>
          </a:prstGeom>
        </p:spPr>
      </p:pic>
      <p:sp>
        <p:nvSpPr>
          <p:cNvPr id="28" name="Rectangle 27">
            <a:extLst>
              <a:ext uri="{FF2B5EF4-FFF2-40B4-BE49-F238E27FC236}">
                <a16:creationId xmlns:a16="http://schemas.microsoft.com/office/drawing/2014/main" id="{64027176-99CE-4DE2-A443-87AC19BB1D65}"/>
              </a:ext>
            </a:extLst>
          </p:cNvPr>
          <p:cNvSpPr/>
          <p:nvPr/>
        </p:nvSpPr>
        <p:spPr>
          <a:xfrm>
            <a:off x="4348400" y="3359105"/>
            <a:ext cx="3289728" cy="717873"/>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29" name="Rectangle 28">
            <a:extLst>
              <a:ext uri="{FF2B5EF4-FFF2-40B4-BE49-F238E27FC236}">
                <a16:creationId xmlns:a16="http://schemas.microsoft.com/office/drawing/2014/main" id="{0560A412-9F3C-400A-BCB3-9A1C093AE097}"/>
              </a:ext>
            </a:extLst>
          </p:cNvPr>
          <p:cNvSpPr/>
          <p:nvPr/>
        </p:nvSpPr>
        <p:spPr>
          <a:xfrm>
            <a:off x="5491971" y="3359105"/>
            <a:ext cx="1002586" cy="717872"/>
          </a:xfrm>
          <a:prstGeom prst="rect">
            <a:avLst/>
          </a:prstGeom>
          <a:solidFill>
            <a:schemeClr val="accent5">
              <a:alpha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pic>
        <p:nvPicPr>
          <p:cNvPr id="34" name="Picture 33">
            <a:extLst>
              <a:ext uri="{FF2B5EF4-FFF2-40B4-BE49-F238E27FC236}">
                <a16:creationId xmlns:a16="http://schemas.microsoft.com/office/drawing/2014/main" id="{5B744EB2-EAEB-477E-AB65-82925A7F201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408742" y="3402881"/>
            <a:ext cx="1121894" cy="2655812"/>
          </a:xfrm>
          <a:prstGeom prst="rect">
            <a:avLst/>
          </a:prstGeom>
        </p:spPr>
      </p:pic>
      <p:sp>
        <p:nvSpPr>
          <p:cNvPr id="36" name="TextBox 35">
            <a:extLst>
              <a:ext uri="{FF2B5EF4-FFF2-40B4-BE49-F238E27FC236}">
                <a16:creationId xmlns:a16="http://schemas.microsoft.com/office/drawing/2014/main" id="{B0F7996E-EA80-4C82-AD70-E487D5CD0471}"/>
              </a:ext>
            </a:extLst>
          </p:cNvPr>
          <p:cNvSpPr txBox="1"/>
          <p:nvPr/>
        </p:nvSpPr>
        <p:spPr>
          <a:xfrm>
            <a:off x="3905932" y="3425653"/>
            <a:ext cx="390307"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rebuchet MS" panose="020B0603020202020204"/>
                <a:ea typeface="+mn-ea"/>
                <a:cs typeface="+mn-cs"/>
              </a:rPr>
              <a:t>-</a:t>
            </a:r>
          </a:p>
        </p:txBody>
      </p:sp>
      <p:sp>
        <p:nvSpPr>
          <p:cNvPr id="37" name="TextBox 36">
            <a:extLst>
              <a:ext uri="{FF2B5EF4-FFF2-40B4-BE49-F238E27FC236}">
                <a16:creationId xmlns:a16="http://schemas.microsoft.com/office/drawing/2014/main" id="{238DFCFA-7D6A-4C8A-B212-19E9D772C06F}"/>
              </a:ext>
            </a:extLst>
          </p:cNvPr>
          <p:cNvSpPr txBox="1"/>
          <p:nvPr/>
        </p:nvSpPr>
        <p:spPr>
          <a:xfrm>
            <a:off x="8133128" y="4438399"/>
            <a:ext cx="390307"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rebuchet MS" panose="020B0603020202020204"/>
                <a:ea typeface="+mn-ea"/>
                <a:cs typeface="+mn-cs"/>
              </a:rPr>
              <a:t>=</a:t>
            </a:r>
          </a:p>
        </p:txBody>
      </p:sp>
      <p:sp>
        <p:nvSpPr>
          <p:cNvPr id="48" name="TextBox 47">
            <a:extLst>
              <a:ext uri="{FF2B5EF4-FFF2-40B4-BE49-F238E27FC236}">
                <a16:creationId xmlns:a16="http://schemas.microsoft.com/office/drawing/2014/main" id="{CF739804-C666-40A9-A571-E24432DFF9AC}"/>
              </a:ext>
            </a:extLst>
          </p:cNvPr>
          <p:cNvSpPr txBox="1"/>
          <p:nvPr/>
        </p:nvSpPr>
        <p:spPr>
          <a:xfrm>
            <a:off x="3905932" y="5010972"/>
            <a:ext cx="390307"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rebuchet MS" panose="020B0603020202020204"/>
                <a:ea typeface="+mn-ea"/>
                <a:cs typeface="+mn-cs"/>
              </a:rPr>
              <a:t>+</a:t>
            </a:r>
          </a:p>
        </p:txBody>
      </p:sp>
      <p:sp>
        <p:nvSpPr>
          <p:cNvPr id="17" name="TextBox 16">
            <a:extLst>
              <a:ext uri="{FF2B5EF4-FFF2-40B4-BE49-F238E27FC236}">
                <a16:creationId xmlns:a16="http://schemas.microsoft.com/office/drawing/2014/main" id="{933863BC-2500-40B0-8631-5D48E4366968}"/>
              </a:ext>
            </a:extLst>
          </p:cNvPr>
          <p:cNvSpPr txBox="1"/>
          <p:nvPr/>
        </p:nvSpPr>
        <p:spPr>
          <a:xfrm>
            <a:off x="5620003" y="4826306"/>
            <a:ext cx="703664"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rPr>
              <a:t>FEM</a:t>
            </a:r>
          </a:p>
        </p:txBody>
      </p:sp>
      <p:sp>
        <p:nvSpPr>
          <p:cNvPr id="18" name="TextBox 17">
            <a:extLst>
              <a:ext uri="{FF2B5EF4-FFF2-40B4-BE49-F238E27FC236}">
                <a16:creationId xmlns:a16="http://schemas.microsoft.com/office/drawing/2014/main" id="{152ED3B0-0201-44EC-9A40-F6F72DA11506}"/>
              </a:ext>
            </a:extLst>
          </p:cNvPr>
          <p:cNvSpPr txBox="1"/>
          <p:nvPr/>
        </p:nvSpPr>
        <p:spPr>
          <a:xfrm>
            <a:off x="5595598" y="3522980"/>
            <a:ext cx="752475"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rPr>
              <a:t>EXP</a:t>
            </a:r>
          </a:p>
        </p:txBody>
      </p:sp>
      <p:sp>
        <p:nvSpPr>
          <p:cNvPr id="19" name="TextBox 18">
            <a:extLst>
              <a:ext uri="{FF2B5EF4-FFF2-40B4-BE49-F238E27FC236}">
                <a16:creationId xmlns:a16="http://schemas.microsoft.com/office/drawing/2014/main" id="{0D4AC70A-C7DD-4878-BCAD-37B22CBEF697}"/>
              </a:ext>
            </a:extLst>
          </p:cNvPr>
          <p:cNvSpPr txBox="1"/>
          <p:nvPr/>
        </p:nvSpPr>
        <p:spPr>
          <a:xfrm>
            <a:off x="1536466" y="3510560"/>
            <a:ext cx="1217295"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rebuchet MS" panose="020B0603020202020204"/>
                <a:ea typeface="+mn-ea"/>
                <a:cs typeface="+mn-cs"/>
              </a:rPr>
              <a:t>EXP</a:t>
            </a:r>
          </a:p>
        </p:txBody>
      </p:sp>
    </p:spTree>
    <p:extLst>
      <p:ext uri="{BB962C8B-B14F-4D97-AF65-F5344CB8AC3E}">
        <p14:creationId xmlns:p14="http://schemas.microsoft.com/office/powerpoint/2010/main" val="1831914185"/>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B92D-DBB0-4247-9F93-87E9535E4F38}"/>
              </a:ext>
            </a:extLst>
          </p:cNvPr>
          <p:cNvSpPr>
            <a:spLocks noGrp="1"/>
          </p:cNvSpPr>
          <p:nvPr>
            <p:ph type="title"/>
          </p:nvPr>
        </p:nvSpPr>
        <p:spPr>
          <a:xfrm>
            <a:off x="258058" y="242480"/>
            <a:ext cx="10515600" cy="662781"/>
          </a:xfrm>
        </p:spPr>
        <p:txBody>
          <a:bodyPr>
            <a:normAutofit fontScale="90000"/>
          </a:bodyPr>
          <a:lstStyle/>
          <a:p>
            <a:r>
              <a:rPr lang="en-US" dirty="0"/>
              <a:t>Swept Wing Model Generation</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31975" y="1114007"/>
            <a:ext cx="7625677" cy="4978829"/>
          </a:xfrm>
        </p:spPr>
        <p:txBody>
          <a:bodyPr>
            <a:normAutofit/>
          </a:bodyPr>
          <a:lstStyle/>
          <a:p>
            <a:pPr lvl="1"/>
            <a:r>
              <a:rPr lang="en-US" dirty="0"/>
              <a:t>Swept wing component testing was completed at </a:t>
            </a:r>
            <a:r>
              <a:rPr lang="en-US" dirty="0" err="1"/>
              <a:t>Linnæus</a:t>
            </a:r>
            <a:r>
              <a:rPr lang="en-US" dirty="0"/>
              <a:t> university in order to update a finite element model which would be sent to partners at Sandia</a:t>
            </a:r>
          </a:p>
          <a:p>
            <a:pPr lvl="1"/>
            <a:r>
              <a:rPr lang="en-US" b="1" dirty="0"/>
              <a:t>10 swept wings are available for Dynamic </a:t>
            </a:r>
            <a:r>
              <a:rPr lang="en-US" b="1" dirty="0" err="1"/>
              <a:t>Substructuring</a:t>
            </a:r>
            <a:r>
              <a:rPr lang="en-US" b="1" dirty="0"/>
              <a:t> Participants with ongoing measurements to understand their variability!</a:t>
            </a:r>
          </a:p>
          <a:p>
            <a:pPr lvl="1"/>
            <a:r>
              <a:rPr lang="en-US" dirty="0"/>
              <a:t>A finite element model was updated to best match Swept Wing test data and provided to SNL to make initial </a:t>
            </a:r>
            <a:r>
              <a:rPr lang="en-US" dirty="0" err="1"/>
              <a:t>substructuring</a:t>
            </a:r>
            <a:r>
              <a:rPr lang="en-US" dirty="0"/>
              <a:t> predictions</a:t>
            </a:r>
          </a:p>
        </p:txBody>
      </p:sp>
      <p:graphicFrame>
        <p:nvGraphicFramePr>
          <p:cNvPr id="8" name="Table 7">
            <a:extLst>
              <a:ext uri="{FF2B5EF4-FFF2-40B4-BE49-F238E27FC236}">
                <a16:creationId xmlns:a16="http://schemas.microsoft.com/office/drawing/2014/main" id="{554ABAB9-AB9E-444D-9B4D-B9E17810E35F}"/>
              </a:ext>
            </a:extLst>
          </p:cNvPr>
          <p:cNvGraphicFramePr>
            <a:graphicFrameLocks noGrp="1"/>
          </p:cNvGraphicFramePr>
          <p:nvPr/>
        </p:nvGraphicFramePr>
        <p:xfrm>
          <a:off x="5928851" y="4073952"/>
          <a:ext cx="5106695" cy="2292235"/>
        </p:xfrm>
        <a:graphic>
          <a:graphicData uri="http://schemas.openxmlformats.org/drawingml/2006/table">
            <a:tbl>
              <a:tblPr firstRow="1" firstCol="1" bandRow="1">
                <a:tableStyleId>{5C22544A-7EE6-4342-B048-85BDC9FD1C3A}</a:tableStyleId>
              </a:tblPr>
              <a:tblGrid>
                <a:gridCol w="1154215">
                  <a:extLst>
                    <a:ext uri="{9D8B030D-6E8A-4147-A177-3AD203B41FA5}">
                      <a16:colId xmlns:a16="http://schemas.microsoft.com/office/drawing/2014/main" val="3388020384"/>
                    </a:ext>
                  </a:extLst>
                </a:gridCol>
                <a:gridCol w="790496">
                  <a:extLst>
                    <a:ext uri="{9D8B030D-6E8A-4147-A177-3AD203B41FA5}">
                      <a16:colId xmlns:a16="http://schemas.microsoft.com/office/drawing/2014/main" val="2836181782"/>
                    </a:ext>
                  </a:extLst>
                </a:gridCol>
                <a:gridCol w="790496">
                  <a:extLst>
                    <a:ext uri="{9D8B030D-6E8A-4147-A177-3AD203B41FA5}">
                      <a16:colId xmlns:a16="http://schemas.microsoft.com/office/drawing/2014/main" val="1523580189"/>
                    </a:ext>
                  </a:extLst>
                </a:gridCol>
                <a:gridCol w="790496">
                  <a:extLst>
                    <a:ext uri="{9D8B030D-6E8A-4147-A177-3AD203B41FA5}">
                      <a16:colId xmlns:a16="http://schemas.microsoft.com/office/drawing/2014/main" val="2826288039"/>
                    </a:ext>
                  </a:extLst>
                </a:gridCol>
                <a:gridCol w="790496">
                  <a:extLst>
                    <a:ext uri="{9D8B030D-6E8A-4147-A177-3AD203B41FA5}">
                      <a16:colId xmlns:a16="http://schemas.microsoft.com/office/drawing/2014/main" val="3530099541"/>
                    </a:ext>
                  </a:extLst>
                </a:gridCol>
                <a:gridCol w="790496">
                  <a:extLst>
                    <a:ext uri="{9D8B030D-6E8A-4147-A177-3AD203B41FA5}">
                      <a16:colId xmlns:a16="http://schemas.microsoft.com/office/drawing/2014/main" val="3980957371"/>
                    </a:ext>
                  </a:extLst>
                </a:gridCol>
              </a:tblGrid>
              <a:tr h="208385">
                <a:tc>
                  <a:txBody>
                    <a:bodyPr/>
                    <a:lstStyle/>
                    <a:p>
                      <a:pPr marL="0" marR="0" algn="ctr">
                        <a:lnSpc>
                          <a:spcPts val="1375"/>
                        </a:lnSpc>
                        <a:spcBef>
                          <a:spcPts val="0"/>
                        </a:spcBef>
                        <a:spcAft>
                          <a:spcPts val="0"/>
                        </a:spcAft>
                      </a:pPr>
                      <a:r>
                        <a:rPr lang="en-US" sz="1100" dirty="0">
                          <a:effectLst/>
                        </a:rPr>
                        <a:t>Swept Wing No.</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Mass [g]</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t [mm]</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f1 [Hz]</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f2 [Hz]</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f3 [Hz]</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302608"/>
                  </a:ext>
                </a:extLst>
              </a:tr>
              <a:tr h="208385">
                <a:tc>
                  <a:txBody>
                    <a:bodyPr/>
                    <a:lstStyle/>
                    <a:p>
                      <a:pPr marL="0" marR="0" algn="ctr">
                        <a:lnSpc>
                          <a:spcPts val="1375"/>
                        </a:lnSpc>
                        <a:spcBef>
                          <a:spcPts val="0"/>
                        </a:spcBef>
                        <a:spcAft>
                          <a:spcPts val="0"/>
                        </a:spcAft>
                      </a:pPr>
                      <a:r>
                        <a:rPr lang="en-US" sz="1100" dirty="0">
                          <a:effectLst/>
                        </a:rPr>
                        <a:t>1 (@ Sandia)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69.3</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105.7</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182.6</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1632886"/>
                  </a:ext>
                </a:extLst>
              </a:tr>
              <a:tr h="208385">
                <a:tc>
                  <a:txBody>
                    <a:bodyPr/>
                    <a:lstStyle/>
                    <a:p>
                      <a:pPr marL="0" marR="0" algn="ctr">
                        <a:lnSpc>
                          <a:spcPts val="1375"/>
                        </a:lnSpc>
                        <a:spcBef>
                          <a:spcPts val="0"/>
                        </a:spcBef>
                        <a:spcAft>
                          <a:spcPts val="0"/>
                        </a:spcAft>
                      </a:pPr>
                      <a:r>
                        <a:rPr lang="en-US" sz="1100">
                          <a:effectLst/>
                        </a:rPr>
                        <a:t>2</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1164.0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105.2</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181.9</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16466145"/>
                  </a:ext>
                </a:extLst>
              </a:tr>
              <a:tr h="208385">
                <a:tc>
                  <a:txBody>
                    <a:bodyPr/>
                    <a:lstStyle/>
                    <a:p>
                      <a:pPr marL="0" marR="0" algn="ctr">
                        <a:lnSpc>
                          <a:spcPts val="1375"/>
                        </a:lnSpc>
                        <a:spcBef>
                          <a:spcPts val="0"/>
                        </a:spcBef>
                        <a:spcAft>
                          <a:spcPts val="0"/>
                        </a:spcAft>
                      </a:pPr>
                      <a:r>
                        <a:rPr lang="en-US" sz="1100" dirty="0">
                          <a:effectLst/>
                        </a:rPr>
                        <a:t>3</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1165.0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105.4</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181.9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64965265"/>
                  </a:ext>
                </a:extLst>
              </a:tr>
              <a:tr h="208385">
                <a:tc>
                  <a:txBody>
                    <a:bodyPr/>
                    <a:lstStyle/>
                    <a:p>
                      <a:pPr marL="0" marR="0" algn="ctr">
                        <a:lnSpc>
                          <a:spcPts val="1375"/>
                        </a:lnSpc>
                        <a:spcBef>
                          <a:spcPts val="0"/>
                        </a:spcBef>
                        <a:spcAft>
                          <a:spcPts val="0"/>
                        </a:spcAft>
                      </a:pPr>
                      <a:r>
                        <a:rPr lang="en-US" sz="1100">
                          <a:effectLst/>
                        </a:rPr>
                        <a:t>4</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1169.1</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3.1</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69.2</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105.6</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182.6</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51062614"/>
                  </a:ext>
                </a:extLst>
              </a:tr>
              <a:tr h="208385">
                <a:tc>
                  <a:txBody>
                    <a:bodyPr/>
                    <a:lstStyle/>
                    <a:p>
                      <a:pPr marL="0" marR="0" algn="ctr">
                        <a:lnSpc>
                          <a:spcPts val="1375"/>
                        </a:lnSpc>
                        <a:spcBef>
                          <a:spcPts val="0"/>
                        </a:spcBef>
                        <a:spcAft>
                          <a:spcPts val="0"/>
                        </a:spcAft>
                      </a:pPr>
                      <a:r>
                        <a:rPr lang="en-US" sz="1100">
                          <a:effectLst/>
                        </a:rPr>
                        <a:t>5</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1164.2</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69.1</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105.3</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181.9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82855011"/>
                  </a:ext>
                </a:extLst>
              </a:tr>
              <a:tr h="208385">
                <a:tc>
                  <a:txBody>
                    <a:bodyPr/>
                    <a:lstStyle/>
                    <a:p>
                      <a:pPr marL="0" marR="0" algn="ctr">
                        <a:lnSpc>
                          <a:spcPts val="1375"/>
                        </a:lnSpc>
                        <a:spcBef>
                          <a:spcPts val="0"/>
                        </a:spcBef>
                        <a:spcAft>
                          <a:spcPts val="0"/>
                        </a:spcAft>
                      </a:pPr>
                      <a:r>
                        <a:rPr lang="en-US" sz="1100">
                          <a:effectLst/>
                        </a:rPr>
                        <a:t>6</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1164.4</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8726401"/>
                  </a:ext>
                </a:extLst>
              </a:tr>
              <a:tr h="208385">
                <a:tc>
                  <a:txBody>
                    <a:bodyPr/>
                    <a:lstStyle/>
                    <a:p>
                      <a:pPr marL="0" marR="0" algn="ctr">
                        <a:lnSpc>
                          <a:spcPts val="1375"/>
                        </a:lnSpc>
                        <a:spcBef>
                          <a:spcPts val="0"/>
                        </a:spcBef>
                        <a:spcAft>
                          <a:spcPts val="0"/>
                        </a:spcAft>
                      </a:pPr>
                      <a:r>
                        <a:rPr lang="en-US" sz="1100">
                          <a:effectLst/>
                        </a:rPr>
                        <a:t>7</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1169.9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00173482"/>
                  </a:ext>
                </a:extLst>
              </a:tr>
              <a:tr h="208385">
                <a:tc>
                  <a:txBody>
                    <a:bodyPr/>
                    <a:lstStyle/>
                    <a:p>
                      <a:pPr marL="0" marR="0" algn="ctr">
                        <a:lnSpc>
                          <a:spcPts val="1375"/>
                        </a:lnSpc>
                        <a:spcBef>
                          <a:spcPts val="0"/>
                        </a:spcBef>
                        <a:spcAft>
                          <a:spcPts val="0"/>
                        </a:spcAft>
                      </a:pPr>
                      <a:r>
                        <a:rPr lang="en-US" sz="1100">
                          <a:effectLst/>
                        </a:rPr>
                        <a:t>8</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1166.3</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70915727"/>
                  </a:ext>
                </a:extLst>
              </a:tr>
              <a:tr h="208385">
                <a:tc>
                  <a:txBody>
                    <a:bodyPr/>
                    <a:lstStyle/>
                    <a:p>
                      <a:pPr marL="0" marR="0" algn="ctr">
                        <a:lnSpc>
                          <a:spcPts val="1375"/>
                        </a:lnSpc>
                        <a:spcBef>
                          <a:spcPts val="0"/>
                        </a:spcBef>
                        <a:spcAft>
                          <a:spcPts val="0"/>
                        </a:spcAft>
                      </a:pPr>
                      <a:r>
                        <a:rPr lang="en-US" sz="1100">
                          <a:effectLst/>
                        </a:rPr>
                        <a:t>9</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1169.6</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3.0</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a:effectLst/>
                        </a:rPr>
                        <a:t>NA</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56000718"/>
                  </a:ext>
                </a:extLst>
              </a:tr>
              <a:tr h="208385">
                <a:tc>
                  <a:txBody>
                    <a:bodyPr/>
                    <a:lstStyle/>
                    <a:p>
                      <a:pPr marL="0" marR="0" algn="ctr">
                        <a:lnSpc>
                          <a:spcPts val="1375"/>
                        </a:lnSpc>
                        <a:spcBef>
                          <a:spcPts val="0"/>
                        </a:spcBef>
                        <a:spcAft>
                          <a:spcPts val="0"/>
                        </a:spcAft>
                      </a:pPr>
                      <a:r>
                        <a:rPr lang="en-US" sz="1100">
                          <a:effectLst/>
                        </a:rPr>
                        <a:t>10</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1169.4</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a:effectLst/>
                        </a:rPr>
                        <a:t>3.1</a:t>
                      </a:r>
                      <a:endParaRPr lang="en-US"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0"/>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ts val="1375"/>
                        </a:lnSpc>
                        <a:spcBef>
                          <a:spcPts val="0"/>
                        </a:spcBef>
                        <a:spcAft>
                          <a:spcPts val="1375"/>
                        </a:spcAft>
                      </a:pPr>
                      <a:r>
                        <a:rPr lang="en-US" sz="1100" dirty="0">
                          <a:effectLst/>
                        </a:rPr>
                        <a:t>NA</a:t>
                      </a:r>
                      <a:endParaRPr lang="en-US"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02279247"/>
                  </a:ext>
                </a:extLst>
              </a:tr>
            </a:tbl>
          </a:graphicData>
        </a:graphic>
      </p:graphicFrame>
      <p:pic>
        <p:nvPicPr>
          <p:cNvPr id="10" name="Picture 9">
            <a:extLst>
              <a:ext uri="{FF2B5EF4-FFF2-40B4-BE49-F238E27FC236}">
                <a16:creationId xmlns:a16="http://schemas.microsoft.com/office/drawing/2014/main" id="{F620FBE1-B9D1-4C6D-B9D6-88545E53284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735548" y="977357"/>
            <a:ext cx="3939096" cy="2626064"/>
          </a:xfrm>
          <a:prstGeom prst="rect">
            <a:avLst/>
          </a:prstGeom>
        </p:spPr>
      </p:pic>
      <p:pic>
        <p:nvPicPr>
          <p:cNvPr id="11" name="elastic_mode_2_106Hz">
            <a:hlinkClick r:id="" action="ppaction://media"/>
            <a:extLst>
              <a:ext uri="{FF2B5EF4-FFF2-40B4-BE49-F238E27FC236}">
                <a16:creationId xmlns:a16="http://schemas.microsoft.com/office/drawing/2014/main" id="{DD8827BC-493E-41B0-8B45-58C960FF800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17834" y="4305670"/>
            <a:ext cx="2427817" cy="1828800"/>
          </a:xfrm>
          <a:prstGeom prst="rect">
            <a:avLst/>
          </a:prstGeom>
        </p:spPr>
      </p:pic>
      <p:pic>
        <p:nvPicPr>
          <p:cNvPr id="12" name="elastic_mode_1_69Hz">
            <a:hlinkClick r:id="" action="ppaction://media"/>
            <a:extLst>
              <a:ext uri="{FF2B5EF4-FFF2-40B4-BE49-F238E27FC236}">
                <a16:creationId xmlns:a16="http://schemas.microsoft.com/office/drawing/2014/main" id="{558A8148-C415-46E3-A8D6-7DBD77F7E7A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3088041" y="4305670"/>
            <a:ext cx="2427817" cy="1828800"/>
          </a:xfrm>
          <a:prstGeom prst="rect">
            <a:avLst/>
          </a:prstGeom>
        </p:spPr>
      </p:pic>
    </p:spTree>
    <p:extLst>
      <p:ext uri="{BB962C8B-B14F-4D97-AF65-F5344CB8AC3E}">
        <p14:creationId xmlns:p14="http://schemas.microsoft.com/office/powerpoint/2010/main" val="1487693182"/>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99" fill="hold"/>
                                        <p:tgtEl>
                                          <p:spTgt spid="12"/>
                                        </p:tgtEl>
                                      </p:cBhvr>
                                    </p:cmd>
                                  </p:childTnLst>
                                </p:cTn>
                              </p:par>
                            </p:childTnLst>
                          </p:cTn>
                        </p:par>
                        <p:par>
                          <p:cTn id="7" fill="hold">
                            <p:stCondLst>
                              <p:cond delay="9999"/>
                            </p:stCondLst>
                            <p:childTnLst>
                              <p:par>
                                <p:cTn id="8" presetID="1" presetClass="mediacall" presetSubtype="0" fill="hold" nodeType="afterEffect">
                                  <p:stCondLst>
                                    <p:cond delay="0"/>
                                  </p:stCondLst>
                                  <p:childTnLst>
                                    <p:cmd type="call" cmd="playFrom(0.0)">
                                      <p:cBhvr>
                                        <p:cTn id="9" dur="999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12"/>
                </p:tgtEl>
              </p:cMediaNode>
            </p:video>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2"/>
                                        </p:tgtEl>
                                      </p:cBhvr>
                                    </p:cmd>
                                  </p:childTnLst>
                                </p:cTn>
                              </p:par>
                            </p:childTnLst>
                          </p:cTn>
                        </p:par>
                      </p:childTnLst>
                    </p:cTn>
                  </p:par>
                </p:childTnLst>
              </p:cTn>
              <p:nextCondLst>
                <p:cond evt="onClick" delay="0">
                  <p:tgtEl>
                    <p:spTgt spid="12"/>
                  </p:tgtEl>
                </p:cond>
              </p:nextCondLst>
            </p:seq>
            <p:video>
              <p:cMediaNode vol="80000">
                <p:cTn id="16" repeatCount="indefinite" fill="hold" display="0">
                  <p:stCondLst>
                    <p:cond delay="indefinite"/>
                  </p:stCondLst>
                </p:cTn>
                <p:tgtEl>
                  <p:spTgt spid="11"/>
                </p:tgtEl>
              </p:cMediaNode>
            </p:video>
            <p:seq concurrent="1" nextAc="seek">
              <p:cTn id="17" restart="whenNotActive" fill="hold" evtFilter="cancelBubble" nodeType="interactiveSeq">
                <p:stCondLst>
                  <p:cond evt="onClick" delay="0">
                    <p:tgtEl>
                      <p:spTgt spid="11"/>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Frame, Plate, and Thin-Wing Experiments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5"/>
            <a:ext cx="7682116" cy="4978829"/>
          </a:xfrm>
        </p:spPr>
        <p:txBody>
          <a:bodyPr>
            <a:normAutofit/>
          </a:bodyPr>
          <a:lstStyle/>
          <a:p>
            <a:pPr lvl="1"/>
            <a:r>
              <a:rPr lang="en-US" dirty="0"/>
              <a:t>Aluminum frame, plate, and thin-wing component assemblies were tested at Sandia.</a:t>
            </a:r>
          </a:p>
          <a:p>
            <a:pPr lvl="1"/>
            <a:r>
              <a:rPr lang="en-US" dirty="0"/>
              <a:t>Linear free responses were measured with accelerometers and curve fit with ATA </a:t>
            </a:r>
            <a:r>
              <a:rPr lang="en-US" dirty="0" err="1"/>
              <a:t>Opoly</a:t>
            </a:r>
            <a:r>
              <a:rPr lang="en-US" dirty="0"/>
              <a:t>.</a:t>
            </a:r>
          </a:p>
          <a:p>
            <a:pPr lvl="1"/>
            <a:r>
              <a:rPr lang="en-US" dirty="0"/>
              <a:t>Significant modes out to 1600 Hz were measured and fit to provide a rich modal basis for substructuring.</a:t>
            </a:r>
          </a:p>
          <a:p>
            <a:pPr lvl="1"/>
            <a:r>
              <a:rPr lang="en-US" dirty="0"/>
              <a:t>Data also used in companion project exploring incorporating nonlinear behavior into substructuring predictions that that will be presented later.</a:t>
            </a:r>
          </a:p>
        </p:txBody>
      </p:sp>
      <p:pic>
        <p:nvPicPr>
          <p:cNvPr id="10" name="Picture 9">
            <a:extLst>
              <a:ext uri="{FF2B5EF4-FFF2-40B4-BE49-F238E27FC236}">
                <a16:creationId xmlns:a16="http://schemas.microsoft.com/office/drawing/2014/main" id="{F5D3D50B-C789-4367-9773-384FD9F82DE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603282" y="1086707"/>
            <a:ext cx="4200525" cy="3150394"/>
          </a:xfrm>
          <a:prstGeom prst="rect">
            <a:avLst/>
          </a:prstGeom>
        </p:spPr>
      </p:pic>
      <p:pic>
        <p:nvPicPr>
          <p:cNvPr id="12" name="Picture 11">
            <a:extLst>
              <a:ext uri="{FF2B5EF4-FFF2-40B4-BE49-F238E27FC236}">
                <a16:creationId xmlns:a16="http://schemas.microsoft.com/office/drawing/2014/main" id="{5711A561-4513-4472-B7DE-FE5043A2D58F}"/>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7572375" y="4305325"/>
            <a:ext cx="4200525" cy="1554480"/>
          </a:xfrm>
          <a:prstGeom prst="rect">
            <a:avLst/>
          </a:prstGeom>
        </p:spPr>
      </p:pic>
      <p:pic>
        <p:nvPicPr>
          <p:cNvPr id="13" name="Picture 12">
            <a:extLst>
              <a:ext uri="{FF2B5EF4-FFF2-40B4-BE49-F238E27FC236}">
                <a16:creationId xmlns:a16="http://schemas.microsoft.com/office/drawing/2014/main" id="{01988FC6-629D-4A63-BEB1-0EF375E8FABD}"/>
              </a:ext>
            </a:extLst>
          </p:cNvPr>
          <p:cNvPicPr>
            <a:picLocks noChangeAspect="1"/>
          </p:cNvPicPr>
          <p:nvPr/>
        </p:nvPicPr>
        <p:blipFill>
          <a:blip r:embed="rId4"/>
          <a:stretch>
            <a:fillRect/>
          </a:stretch>
        </p:blipFill>
        <p:spPr>
          <a:xfrm>
            <a:off x="347313" y="4237101"/>
            <a:ext cx="2438400" cy="1828800"/>
          </a:xfrm>
          <a:prstGeom prst="rect">
            <a:avLst/>
          </a:prstGeom>
        </p:spPr>
      </p:pic>
      <p:pic>
        <p:nvPicPr>
          <p:cNvPr id="14" name="Picture 13">
            <a:extLst>
              <a:ext uri="{FF2B5EF4-FFF2-40B4-BE49-F238E27FC236}">
                <a16:creationId xmlns:a16="http://schemas.microsoft.com/office/drawing/2014/main" id="{E8A5C033-8E19-49F7-ADC3-4481AC145C48}"/>
              </a:ext>
            </a:extLst>
          </p:cNvPr>
          <p:cNvPicPr>
            <a:picLocks noChangeAspect="1"/>
          </p:cNvPicPr>
          <p:nvPr/>
        </p:nvPicPr>
        <p:blipFill>
          <a:blip r:embed="rId5"/>
          <a:stretch>
            <a:fillRect/>
          </a:stretch>
        </p:blipFill>
        <p:spPr>
          <a:xfrm>
            <a:off x="2578085" y="4237101"/>
            <a:ext cx="2438400" cy="1828800"/>
          </a:xfrm>
          <a:prstGeom prst="rect">
            <a:avLst/>
          </a:prstGeom>
        </p:spPr>
      </p:pic>
      <p:pic>
        <p:nvPicPr>
          <p:cNvPr id="15" name="Picture 14">
            <a:extLst>
              <a:ext uri="{FF2B5EF4-FFF2-40B4-BE49-F238E27FC236}">
                <a16:creationId xmlns:a16="http://schemas.microsoft.com/office/drawing/2014/main" id="{6081FB8C-BA04-4257-B7FC-775A4F59ED07}"/>
              </a:ext>
            </a:extLst>
          </p:cNvPr>
          <p:cNvPicPr>
            <a:picLocks noChangeAspect="1"/>
          </p:cNvPicPr>
          <p:nvPr/>
        </p:nvPicPr>
        <p:blipFill>
          <a:blip r:embed="rId6"/>
          <a:stretch>
            <a:fillRect/>
          </a:stretch>
        </p:blipFill>
        <p:spPr>
          <a:xfrm>
            <a:off x="4722495" y="4237101"/>
            <a:ext cx="2438400" cy="1828800"/>
          </a:xfrm>
          <a:prstGeom prst="rect">
            <a:avLst/>
          </a:prstGeom>
        </p:spPr>
      </p:pic>
    </p:spTree>
    <p:extLst>
      <p:ext uri="{BB962C8B-B14F-4D97-AF65-F5344CB8AC3E}">
        <p14:creationId xmlns:p14="http://schemas.microsoft.com/office/powerpoint/2010/main" val="515625151"/>
      </p:ext>
    </p:extLst>
  </p:cSld>
  <p:clrMapOvr>
    <a:masterClrMapping/>
  </p:clrMapOvr>
  <mc:AlternateContent xmlns:mc="http://schemas.openxmlformats.org/markup-compatibility/2006" xmlns:p14="http://schemas.microsoft.com/office/powerpoint/2010/main">
    <mc:Choice Requires="p14">
      <p:transition spd="med" p14:dur="700" advTm="151078">
        <p:fade/>
      </p:transition>
    </mc:Choice>
    <mc:Fallback xmlns="">
      <p:transition spd="med" advTm="151078">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Substructuring Theory</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fontScale="70000" lnSpcReduction="20000"/>
              </a:bodyPr>
              <a:lstStyle/>
              <a:p>
                <a:pPr lvl="1">
                  <a:spcBef>
                    <a:spcPts val="600"/>
                  </a:spcBef>
                  <a:spcAft>
                    <a:spcPts val="1200"/>
                  </a:spcAft>
                </a:pPr>
                <a:r>
                  <a:rPr lang="en-US" dirty="0"/>
                  <a:t>To perform CMS substructuring, acquire modal information for each substructure and form EOM.</a:t>
                </a:r>
                <a:endParaRPr lang="en-US" baseline="30000" dirty="0"/>
              </a:p>
              <a:p>
                <a:pPr marL="201159" lvl="1" indent="0">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b="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m:oMathPara>
                </a14:m>
                <a:endParaRPr lang="en-US" dirty="0"/>
              </a:p>
              <a:p>
                <a:pPr lvl="1">
                  <a:spcBef>
                    <a:spcPts val="600"/>
                  </a:spcBef>
                  <a:spcAft>
                    <a:spcPts val="1200"/>
                  </a:spcAft>
                </a:pPr>
                <a:r>
                  <a:rPr lang="en-US" dirty="0"/>
                  <a:t>Constraints are defined connecting both structures to the TS (Thin Wing and Plate) system.</a:t>
                </a:r>
              </a:p>
              <a:p>
                <a:pPr marL="201159" lvl="1" indent="0" algn="ctr">
                  <a:spcBef>
                    <a:spcPts val="600"/>
                  </a:spcBef>
                  <a:spcAft>
                    <a:spcPts val="1200"/>
                  </a:spcAft>
                  <a:buNone/>
                </a:pPr>
                <a14:m>
                  <m:oMathPara xmlns:m="http://schemas.openxmlformats.org/officeDocument/2006/math">
                    <m:oMathParaPr>
                      <m:jc m:val="centerGroup"/>
                    </m:oMathParaPr>
                    <m:oMath xmlns:m="http://schemas.openxmlformats.org/officeDocument/2006/math">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2"/>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up>
                                </m:sSubSup>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r>
                              <m:e>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n-US"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The null space function is used to determine the synthetization matrix </a:t>
                </a:r>
                <a:r>
                  <a:rPr lang="en-US" dirty="0">
                    <a:solidFill>
                      <a:srgbClr val="000000"/>
                    </a:solidFill>
                    <a:latin typeface="Times New Roman" panose="02020603050405020304" pitchFamily="18" charset="0"/>
                    <a:cs typeface="Times New Roman" panose="02020603050405020304" pitchFamily="18" charset="0"/>
                  </a:rPr>
                  <a:t>L.</a:t>
                </a:r>
              </a:p>
              <a:p>
                <a:pPr marL="201159" lvl="1" indent="0" algn="ctr">
                  <a:spcBef>
                    <a:spcPts val="600"/>
                  </a:spcBef>
                  <a:spcAft>
                    <a:spcPts val="1200"/>
                  </a:spcAft>
                  <a:buNone/>
                </a:pPr>
                <a14:m>
                  <m:oMathPara xmlns:m="http://schemas.openxmlformats.org/officeDocument/2006/math">
                    <m:oMathParaPr>
                      <m:jc m:val="centerGroup"/>
                    </m:oMathParaPr>
                    <m:oMath xmlns:m="http://schemas.openxmlformats.org/officeDocument/2006/math">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r>
                        <a:rPr lang="en-US" b="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b="0" i="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null</m:t>
                      </m:r>
                      <m:r>
                        <a:rPr lang="en-US" b="0"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US"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b="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1">
                  <a:spcBef>
                    <a:spcPts val="600"/>
                  </a:spcBef>
                  <a:spcAft>
                    <a:spcPts val="1200"/>
                  </a:spcAft>
                </a:pPr>
                <a:r>
                  <a:rPr lang="en-US" dirty="0"/>
                  <a:t>L-matrix used to enforce constraints on equation of motion and predict system assembly response.</a:t>
                </a: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01159" lvl="1" indent="0" algn="ctr">
                  <a:spcBef>
                    <a:spcPts val="600"/>
                  </a:spcBef>
                  <a:spcAft>
                    <a:spcPts val="1200"/>
                  </a:spcAft>
                  <a:buNone/>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Sub>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acc>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3"/>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up>
                                              <m:r>
                                                <a:rPr lang="en-US" b="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mr>
                          <m:m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e>
                            <m:e>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sPre>
                                        <m:sPre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PrePr>
                                        <m:sub>
                                          <m:r>
                                            <a:rPr lang="en-US"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 </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sPre>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b>
                                  </m:sSub>
                                </m:e>
                              </m:d>
                            </m:e>
                          </m:mr>
                        </m:m>
                      </m:e>
                    </m:d>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𝑞</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𝐿</m:t>
                        </m:r>
                      </m:e>
                      <m:sup>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𝑇</m:t>
                        </m:r>
                      </m:sup>
                    </m:sSup>
                    <m:d>
                      <m:dPr>
                        <m:begChr m:val="{"/>
                        <m:endChr m:val="}"/>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dPr>
                      <m:e>
                        <m:m>
                          <m:mPr>
                            <m:plcHide m:val="on"/>
                            <m:mcs>
                              <m:mc>
                                <m:mcPr>
                                  <m:count m:val="1"/>
                                  <m:mcJc m:val="center"/>
                                </m:mcPr>
                              </m:mc>
                            </m:mcs>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mP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e>
                          </m:mr>
                          <m:mr>
                            <m:e>
                              <m:sSubSup>
                                <m:sSubSup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3</m:t>
                                  </m:r>
                                </m:sub>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bSup>
                              <m:sSub>
                                <m:sSubPr>
                                  <m:ctrlPr>
                                    <a:rPr lang="en-US"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e>
                          </m:mr>
                        </m:m>
                      </m:e>
                    </m:d>
                  </m:oMath>
                </a14:m>
                <a:endParaRPr lang="en-US"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blipFill>
                <a:blip r:embed="rId2"/>
                <a:stretch>
                  <a:fillRect t="-1591"/>
                </a:stretch>
              </a:blipFill>
            </p:spPr>
            <p:txBody>
              <a:bodyPr/>
              <a:lstStyle/>
              <a:p>
                <a:r>
                  <a:rPr lang="en-US">
                    <a:noFill/>
                  </a:rPr>
                  <a:t> </a:t>
                </a:r>
              </a:p>
            </p:txBody>
          </p:sp>
        </mc:Fallback>
      </mc:AlternateContent>
    </p:spTree>
    <p:extLst>
      <p:ext uri="{BB962C8B-B14F-4D97-AF65-F5344CB8AC3E}">
        <p14:creationId xmlns:p14="http://schemas.microsoft.com/office/powerpoint/2010/main" val="4168962044"/>
      </p:ext>
    </p:extLst>
  </p:cSld>
  <p:clrMapOvr>
    <a:masterClrMapping/>
  </p:clrMapOvr>
  <mc:AlternateContent xmlns:mc="http://schemas.openxmlformats.org/markup-compatibility/2006" xmlns:p14="http://schemas.microsoft.com/office/powerpoint/2010/main">
    <mc:Choice Requires="p14">
      <p:transition spd="med" p14:dur="700" advTm="53478">
        <p:fade/>
      </p:transition>
    </mc:Choice>
    <mc:Fallback xmlns="">
      <p:transition spd="med" advTm="53478">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5BA44D3-6E5E-4343-90D3-470208225B6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56521" y="2252717"/>
            <a:ext cx="2133600" cy="1600200"/>
          </a:xfrm>
          <a:prstGeom prst="rect">
            <a:avLst/>
          </a:prstGeom>
        </p:spPr>
      </p:pic>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Initial Substructuring Results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5"/>
                <a:ext cx="7583794" cy="4978829"/>
              </a:xfrm>
            </p:spPr>
            <p:txBody>
              <a:bodyPr>
                <a:normAutofit/>
              </a:bodyPr>
              <a:lstStyle/>
              <a:p>
                <a:pPr lvl="1"/>
                <a:r>
                  <a:rPr lang="en-US" dirty="0"/>
                  <a:t>We set our initial goal to predict modes blindly out to 500 Hz</a:t>
                </a:r>
              </a:p>
              <a:p>
                <a:pPr lvl="1"/>
                <a:r>
                  <a:rPr lang="en-US" dirty="0"/>
                  <a:t>Using previous heuristics we retained modes of each subassembly out to 1,000 Hz to ensure we included the proper modes</a:t>
                </a:r>
              </a:p>
              <a:p>
                <a:pPr lvl="1"/>
                <a:r>
                  <a:rPr lang="en-US" dirty="0" err="1"/>
                  <a:t>cond</a:t>
                </a:r>
                <a:r>
                  <a:rPr lang="en-US" dirty="0"/>
                  <a:t>(</a:t>
                </a:r>
                <a14:m>
                  <m:oMath xmlns:m="http://schemas.openxmlformats.org/officeDocument/2006/math">
                    <m:acc>
                      <m:accPr>
                        <m:chr m:val="̃"/>
                        <m:ctrlPr>
                          <a:rPr lang="en-US" sz="20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oMath>
                </a14:m>
                <a:r>
                  <a:rPr lang="en-US" dirty="0"/>
                  <a:t>) = 41.31</a:t>
                </a:r>
              </a:p>
              <a:p>
                <a:pPr lvl="1"/>
                <a:r>
                  <a:rPr lang="en-US" dirty="0"/>
                  <a:t>Frame, Plate, Wing: 23 modes</a:t>
                </a:r>
              </a:p>
              <a:p>
                <a:pPr lvl="1"/>
                <a:r>
                  <a:rPr lang="en-US" dirty="0"/>
                  <a:t>Plate and Wing: 16 modes</a:t>
                </a:r>
              </a:p>
              <a:p>
                <a:pPr lvl="1"/>
                <a:r>
                  <a:rPr lang="en-US" dirty="0"/>
                  <a:t>Plate and Swept Wing: 20 modes</a:t>
                </a:r>
              </a:p>
              <a:p>
                <a:pPr lvl="1"/>
                <a:endParaRPr lang="en-US" dirty="0"/>
              </a:p>
              <a:p>
                <a:pPr lvl="2"/>
                <a:endParaRPr lang="en-US" dirty="0"/>
              </a:p>
              <a:p>
                <a:pPr marL="201159" lvl="1" indent="0">
                  <a:buNone/>
                </a:pPr>
                <a:endParaRPr lang="en-US" b="1"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xfrm>
                <a:off x="105032" y="939585"/>
                <a:ext cx="7583794" cy="4978829"/>
              </a:xfrm>
              <a:blipFill>
                <a:blip r:embed="rId3"/>
                <a:stretch>
                  <a:fillRect t="-1591"/>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F8BE025F-014E-4827-BFCA-C29AA0501ACE}"/>
              </a:ext>
            </a:extLst>
          </p:cNvPr>
          <p:cNvGraphicFramePr>
            <a:graphicFrameLocks noGrp="1"/>
          </p:cNvGraphicFramePr>
          <p:nvPr/>
        </p:nvGraphicFramePr>
        <p:xfrm>
          <a:off x="8521189" y="646082"/>
          <a:ext cx="1758268" cy="5827470"/>
        </p:xfrm>
        <a:graphic>
          <a:graphicData uri="http://schemas.openxmlformats.org/drawingml/2006/table">
            <a:tbl>
              <a:tblPr firstRow="1" firstCol="1" bandRow="1"/>
              <a:tblGrid>
                <a:gridCol w="849830">
                  <a:extLst>
                    <a:ext uri="{9D8B030D-6E8A-4147-A177-3AD203B41FA5}">
                      <a16:colId xmlns:a16="http://schemas.microsoft.com/office/drawing/2014/main" val="2933048369"/>
                    </a:ext>
                  </a:extLst>
                </a:gridCol>
                <a:gridCol w="908438">
                  <a:extLst>
                    <a:ext uri="{9D8B030D-6E8A-4147-A177-3AD203B41FA5}">
                      <a16:colId xmlns:a16="http://schemas.microsoft.com/office/drawing/2014/main" val="4100554374"/>
                    </a:ext>
                  </a:extLst>
                </a:gridCol>
              </a:tblGrid>
              <a:tr h="184656">
                <a:tc gridSpan="2">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extLst>
                  <a:ext uri="{0D108BD9-81ED-4DB2-BD59-A6C34878D82A}">
                    <a16:rowId xmlns:a16="http://schemas.microsoft.com/office/drawing/2014/main" val="2164694033"/>
                  </a:ext>
                </a:extLst>
              </a:tr>
              <a:tr h="184656">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3231">
                <a:tc>
                  <a:txBody>
                    <a:bodyPr/>
                    <a:lstStyle/>
                    <a:p>
                      <a:pPr algn="ctr" fontAlgn="b"/>
                      <a:r>
                        <a:rPr lang="en-US" sz="1100" b="0" i="0" u="none" strike="noStrike" dirty="0">
                          <a:solidFill>
                            <a:srgbClr val="000000"/>
                          </a:solidFill>
                          <a:effectLst/>
                          <a:latin typeface="Calibri" panose="020F0502020204030204" pitchFamily="34" charset="0"/>
                        </a:rPr>
                        <a:t>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234973"/>
                  </a:ext>
                </a:extLst>
              </a:tr>
              <a:tr h="303231">
                <a:tc>
                  <a:txBody>
                    <a:bodyPr/>
                    <a:lstStyle/>
                    <a:p>
                      <a:pPr algn="ctr" fontAlgn="b"/>
                      <a:r>
                        <a:rPr lang="en-US" sz="1100" b="0" i="0" u="none" strike="noStrike" dirty="0">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3201"/>
                  </a:ext>
                </a:extLst>
              </a:tr>
              <a:tr h="303231">
                <a:tc>
                  <a:txBody>
                    <a:bodyPr/>
                    <a:lstStyle/>
                    <a:p>
                      <a:pPr algn="ctr" fontAlgn="b"/>
                      <a:r>
                        <a:rPr lang="en-US" sz="1100" b="0" i="0" u="none" strike="noStrike" dirty="0">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788754"/>
                  </a:ext>
                </a:extLst>
              </a:tr>
              <a:tr h="303231">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5932601"/>
                  </a:ext>
                </a:extLst>
              </a:tr>
              <a:tr h="303231">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838"/>
                  </a:ext>
                </a:extLst>
              </a:tr>
              <a:tr h="303231">
                <a:tc>
                  <a:txBody>
                    <a:bodyPr/>
                    <a:lstStyle/>
                    <a:p>
                      <a:pPr algn="ctr" fontAlgn="b"/>
                      <a:r>
                        <a:rPr lang="en-US" sz="1100" b="0" i="0" u="none" strike="noStrike" dirty="0">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961525"/>
                  </a:ext>
                </a:extLst>
              </a:tr>
              <a:tr h="303231">
                <a:tc>
                  <a:txBody>
                    <a:bodyPr/>
                    <a:lstStyle/>
                    <a:p>
                      <a:pPr algn="ctr" fontAlgn="b"/>
                      <a:r>
                        <a:rPr lang="en-US" sz="1100" b="0" i="0" u="none" strike="noStrike" dirty="0">
                          <a:solidFill>
                            <a:srgbClr val="000000"/>
                          </a:solidFill>
                          <a:effectLst/>
                          <a:latin typeface="Calibri" panose="020F0502020204030204" pitchFamily="34" charset="0"/>
                        </a:rPr>
                        <a:t>0.09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0.86%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8664520"/>
                  </a:ext>
                </a:extLst>
              </a:tr>
              <a:tr h="303231">
                <a:tc>
                  <a:txBody>
                    <a:bodyPr/>
                    <a:lstStyle/>
                    <a:p>
                      <a:pPr algn="ctr" fontAlgn="b"/>
                      <a:r>
                        <a:rPr lang="en-US" sz="1100" b="0" i="0" u="none" strike="noStrike" dirty="0">
                          <a:solidFill>
                            <a:srgbClr val="000000"/>
                          </a:solidFill>
                          <a:effectLst/>
                          <a:latin typeface="Calibri" panose="020F0502020204030204" pitchFamily="34" charset="0"/>
                        </a:rPr>
                        <a:t>53.26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082159"/>
                  </a:ext>
                </a:extLst>
              </a:tr>
              <a:tr h="303231">
                <a:tc>
                  <a:txBody>
                    <a:bodyPr/>
                    <a:lstStyle/>
                    <a:p>
                      <a:pPr algn="ctr" fontAlgn="b"/>
                      <a:r>
                        <a:rPr lang="en-US" sz="1100" b="0" i="0" u="none" strike="noStrike">
                          <a:solidFill>
                            <a:srgbClr val="000000"/>
                          </a:solidFill>
                          <a:effectLst/>
                          <a:latin typeface="Calibri" panose="020F0502020204030204" pitchFamily="34" charset="0"/>
                        </a:rPr>
                        <a:t>67.63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4.72%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686013"/>
                  </a:ext>
                </a:extLst>
              </a:tr>
              <a:tr h="303231">
                <a:tc>
                  <a:txBody>
                    <a:bodyPr/>
                    <a:lstStyle/>
                    <a:p>
                      <a:pPr algn="ctr" fontAlgn="b"/>
                      <a:r>
                        <a:rPr lang="en-US" sz="1100" b="0" i="0" u="none" strike="noStrike">
                          <a:solidFill>
                            <a:srgbClr val="000000"/>
                          </a:solidFill>
                          <a:effectLst/>
                          <a:latin typeface="Calibri" panose="020F0502020204030204" pitchFamily="34" charset="0"/>
                        </a:rPr>
                        <a:t>202.15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5684066"/>
                  </a:ext>
                </a:extLst>
              </a:tr>
              <a:tr h="303231">
                <a:tc>
                  <a:txBody>
                    <a:bodyPr/>
                    <a:lstStyle/>
                    <a:p>
                      <a:pPr algn="ctr" fontAlgn="b"/>
                      <a:r>
                        <a:rPr lang="en-US" sz="1100" b="0" i="0" u="none" strike="noStrike">
                          <a:solidFill>
                            <a:srgbClr val="000000"/>
                          </a:solidFill>
                          <a:effectLst/>
                          <a:latin typeface="Calibri" panose="020F0502020204030204" pitchFamily="34" charset="0"/>
                        </a:rPr>
                        <a:t>235.34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981158"/>
                  </a:ext>
                </a:extLst>
              </a:tr>
              <a:tr h="303231">
                <a:tc>
                  <a:txBody>
                    <a:bodyPr/>
                    <a:lstStyle/>
                    <a:p>
                      <a:pPr algn="ctr" fontAlgn="b"/>
                      <a:r>
                        <a:rPr lang="en-US" sz="1100" b="0" i="0" u="none" strike="noStrike">
                          <a:solidFill>
                            <a:srgbClr val="000000"/>
                          </a:solidFill>
                          <a:effectLst/>
                          <a:latin typeface="Calibri" panose="020F0502020204030204" pitchFamily="34" charset="0"/>
                        </a:rPr>
                        <a:t>288.27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-6.02%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6665820"/>
                  </a:ext>
                </a:extLst>
              </a:tr>
              <a:tr h="303231">
                <a:tc>
                  <a:txBody>
                    <a:bodyPr/>
                    <a:lstStyle/>
                    <a:p>
                      <a:pPr algn="ctr" fontAlgn="b"/>
                      <a:r>
                        <a:rPr lang="en-US" sz="1100" b="0" i="0" u="none" strike="noStrike">
                          <a:solidFill>
                            <a:srgbClr val="000000"/>
                          </a:solidFill>
                          <a:effectLst/>
                          <a:latin typeface="Calibri" panose="020F0502020204030204" pitchFamily="34" charset="0"/>
                        </a:rPr>
                        <a:t>363.56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9086232"/>
                  </a:ext>
                </a:extLst>
              </a:tr>
              <a:tr h="303231">
                <a:tc>
                  <a:txBody>
                    <a:bodyPr/>
                    <a:lstStyle/>
                    <a:p>
                      <a:pPr algn="ctr" fontAlgn="b"/>
                      <a:r>
                        <a:rPr lang="en-US" sz="1100" b="0" i="0" u="none" strike="noStrike">
                          <a:solidFill>
                            <a:srgbClr val="000000"/>
                          </a:solidFill>
                          <a:effectLst/>
                          <a:latin typeface="Calibri" panose="020F0502020204030204" pitchFamily="34" charset="0"/>
                        </a:rPr>
                        <a:t>402.58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0.77%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4077485"/>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0.57%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4694586"/>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0.57%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892965"/>
                  </a:ext>
                </a:extLst>
              </a:tr>
              <a:tr h="303231">
                <a:tc>
                  <a:txBody>
                    <a:bodyPr/>
                    <a:lstStyle/>
                    <a:p>
                      <a:pPr algn="ctr" fontAlgn="b"/>
                      <a:r>
                        <a:rPr lang="en-US" sz="1100" b="0" i="0" u="none" strike="noStrike">
                          <a:solidFill>
                            <a:srgbClr val="000000"/>
                          </a:solidFill>
                          <a:effectLst/>
                          <a:latin typeface="Calibri" panose="020F0502020204030204" pitchFamily="34" charset="0"/>
                        </a:rPr>
                        <a:t>439.75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0.65%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0792099"/>
                  </a:ext>
                </a:extLst>
              </a:tr>
              <a:tr h="303231">
                <a:tc>
                  <a:txBody>
                    <a:bodyPr/>
                    <a:lstStyle/>
                    <a:p>
                      <a:pPr algn="ctr" fontAlgn="b"/>
                      <a:r>
                        <a:rPr lang="en-US" sz="1100" b="0" i="0" u="none" strike="noStrike" dirty="0">
                          <a:solidFill>
                            <a:srgbClr val="000000"/>
                          </a:solidFill>
                          <a:effectLst/>
                          <a:latin typeface="Calibri" panose="020F0502020204030204" pitchFamily="34" charset="0"/>
                        </a:rPr>
                        <a:t>448.39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1.36%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937472"/>
                  </a:ext>
                </a:extLst>
              </a:tr>
            </a:tbl>
          </a:graphicData>
        </a:graphic>
      </p:graphicFrame>
      <p:pic>
        <p:nvPicPr>
          <p:cNvPr id="10" name="Picture 9">
            <a:extLst>
              <a:ext uri="{FF2B5EF4-FFF2-40B4-BE49-F238E27FC236}">
                <a16:creationId xmlns:a16="http://schemas.microsoft.com/office/drawing/2014/main" id="{A7051A0E-809A-48F7-8368-C12C59CFA5EA}"/>
              </a:ext>
            </a:extLst>
          </p:cNvPr>
          <p:cNvPicPr>
            <a:picLocks noChangeAspect="1"/>
          </p:cNvPicPr>
          <p:nvPr/>
        </p:nvPicPr>
        <p:blipFill>
          <a:blip r:embed="rId4"/>
          <a:stretch>
            <a:fillRect/>
          </a:stretch>
        </p:blipFill>
        <p:spPr>
          <a:xfrm>
            <a:off x="258623" y="3155319"/>
            <a:ext cx="4572000" cy="3429000"/>
          </a:xfrm>
          <a:prstGeom prst="rect">
            <a:avLst/>
          </a:prstGeom>
        </p:spPr>
      </p:pic>
      <p:sp>
        <p:nvSpPr>
          <p:cNvPr id="12" name="TextBox 11">
            <a:extLst>
              <a:ext uri="{FF2B5EF4-FFF2-40B4-BE49-F238E27FC236}">
                <a16:creationId xmlns:a16="http://schemas.microsoft.com/office/drawing/2014/main" id="{72DB004A-8215-4835-B795-E1D0550A89E7}"/>
              </a:ext>
            </a:extLst>
          </p:cNvPr>
          <p:cNvSpPr txBox="1"/>
          <p:nvPr/>
        </p:nvSpPr>
        <p:spPr>
          <a:xfrm>
            <a:off x="10279457" y="1412559"/>
            <a:ext cx="1687753" cy="830997"/>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Excess Rigid Modes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Spurious Modes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Imaginary Eigen Frequencies!</a:t>
            </a:r>
          </a:p>
        </p:txBody>
      </p:sp>
      <p:sp>
        <p:nvSpPr>
          <p:cNvPr id="13" name="TextBox 12">
            <a:extLst>
              <a:ext uri="{FF2B5EF4-FFF2-40B4-BE49-F238E27FC236}">
                <a16:creationId xmlns:a16="http://schemas.microsoft.com/office/drawing/2014/main" id="{B4E912AC-DE08-4DA3-84A6-CFE2D27B00D9}"/>
              </a:ext>
            </a:extLst>
          </p:cNvPr>
          <p:cNvSpPr txBox="1"/>
          <p:nvPr/>
        </p:nvSpPr>
        <p:spPr>
          <a:xfrm>
            <a:off x="10279457" y="4081554"/>
            <a:ext cx="1758268" cy="276999"/>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C00000"/>
                </a:solidFill>
                <a:effectLst/>
                <a:uLnTx/>
                <a:uFillTx/>
                <a:latin typeface="Trebuchet MS" panose="020B0603020202020204"/>
                <a:ea typeface="+mn-ea"/>
                <a:cs typeface="+mn-cs"/>
              </a:rPr>
              <a:t>Negative Damping?</a:t>
            </a:r>
          </a:p>
        </p:txBody>
      </p:sp>
      <p:pic>
        <p:nvPicPr>
          <p:cNvPr id="19" name="Picture 18">
            <a:extLst>
              <a:ext uri="{FF2B5EF4-FFF2-40B4-BE49-F238E27FC236}">
                <a16:creationId xmlns:a16="http://schemas.microsoft.com/office/drawing/2014/main" id="{BD20B4AD-D4EC-4DE5-BD90-AC8A591C819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424918" y="4869819"/>
            <a:ext cx="2133600" cy="1600200"/>
          </a:xfrm>
          <a:prstGeom prst="rect">
            <a:avLst/>
          </a:prstGeom>
        </p:spPr>
      </p:pic>
      <p:pic>
        <p:nvPicPr>
          <p:cNvPr id="17" name="Picture 16">
            <a:extLst>
              <a:ext uri="{FF2B5EF4-FFF2-40B4-BE49-F238E27FC236}">
                <a16:creationId xmlns:a16="http://schemas.microsoft.com/office/drawing/2014/main" id="{00E2A6CD-983F-42BE-9C2A-19D2339D6AE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5767232" y="3438988"/>
            <a:ext cx="2133600" cy="1600200"/>
          </a:xfrm>
          <a:prstGeom prst="rect">
            <a:avLst/>
          </a:prstGeom>
        </p:spPr>
      </p:pic>
      <p:cxnSp>
        <p:nvCxnSpPr>
          <p:cNvPr id="21" name="Straight Arrow Connector 20">
            <a:extLst>
              <a:ext uri="{FF2B5EF4-FFF2-40B4-BE49-F238E27FC236}">
                <a16:creationId xmlns:a16="http://schemas.microsoft.com/office/drawing/2014/main" id="{3E01687B-8DB8-473A-988D-2C3470F0C09C}"/>
              </a:ext>
            </a:extLst>
          </p:cNvPr>
          <p:cNvCxnSpPr>
            <a:cxnSpLocks/>
          </p:cNvCxnSpPr>
          <p:nvPr/>
        </p:nvCxnSpPr>
        <p:spPr>
          <a:xfrm flipV="1">
            <a:off x="6833436" y="1216241"/>
            <a:ext cx="1605377" cy="16002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B00C772-C91D-4E56-9714-0F5F1C56C682}"/>
              </a:ext>
            </a:extLst>
          </p:cNvPr>
          <p:cNvCxnSpPr>
            <a:cxnSpLocks/>
          </p:cNvCxnSpPr>
          <p:nvPr/>
        </p:nvCxnSpPr>
        <p:spPr>
          <a:xfrm flipV="1">
            <a:off x="7362852" y="3302493"/>
            <a:ext cx="1075961" cy="29627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3C83B5-0C40-4033-A2D1-ECDD648D4E7A}"/>
              </a:ext>
            </a:extLst>
          </p:cNvPr>
          <p:cNvCxnSpPr>
            <a:cxnSpLocks/>
          </p:cNvCxnSpPr>
          <p:nvPr/>
        </p:nvCxnSpPr>
        <p:spPr>
          <a:xfrm flipV="1">
            <a:off x="6691694" y="3631542"/>
            <a:ext cx="1747119" cy="18857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784613"/>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Tricks and Checks 1: Rigid Check</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5"/>
                <a:ext cx="8350710" cy="4978829"/>
              </a:xfrm>
            </p:spPr>
            <p:txBody>
              <a:bodyPr>
                <a:normAutofit/>
              </a:bodyPr>
              <a:lstStyle/>
              <a:p>
                <a:pPr lvl="1"/>
                <a:r>
                  <a:rPr lang="en-US" dirty="0"/>
                  <a:t>Attempt substructuring with </a:t>
                </a:r>
                <a:r>
                  <a:rPr lang="en-US" b="1" dirty="0"/>
                  <a:t>just rigid modes </a:t>
                </a:r>
                <a:r>
                  <a:rPr lang="en-US" dirty="0"/>
                  <a:t>to check if connections are incorrect and shape/geometry documentation are in line </a:t>
                </a:r>
              </a:p>
              <a:p>
                <a:pPr lvl="1"/>
                <a:r>
                  <a:rPr lang="en-US" dirty="0"/>
                  <a:t>cond(</a:t>
                </a:r>
                <a14:m>
                  <m:oMath xmlns:m="http://schemas.openxmlformats.org/officeDocument/2006/math">
                    <m:acc>
                      <m:accPr>
                        <m:chr m:val="̃"/>
                        <m:ctrlPr>
                          <a:rPr lang="en-US" sz="20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oMath>
                </a14:m>
                <a:r>
                  <a:rPr lang="en-US" dirty="0"/>
                  <a:t>) = 6.2</a:t>
                </a:r>
              </a:p>
              <a:p>
                <a:pPr lvl="1"/>
                <a:r>
                  <a:rPr lang="en-US" dirty="0"/>
                  <a:t>Frame, Plate, Wing: 6 modes</a:t>
                </a:r>
              </a:p>
              <a:p>
                <a:pPr lvl="1"/>
                <a:r>
                  <a:rPr lang="en-US" dirty="0"/>
                  <a:t>Plate and Wing: 6 modes</a:t>
                </a:r>
              </a:p>
              <a:p>
                <a:pPr lvl="1"/>
                <a:r>
                  <a:rPr lang="en-US" dirty="0"/>
                  <a:t>Plate and Swept Wing: 6 modes</a:t>
                </a:r>
              </a:p>
              <a:p>
                <a:pPr lvl="1"/>
                <a:endParaRPr lang="en-US" b="1"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xfrm>
                <a:off x="105032" y="939585"/>
                <a:ext cx="8350710" cy="4978829"/>
              </a:xfrm>
              <a:blipFill>
                <a:blip r:embed="rId2"/>
                <a:stretch>
                  <a:fillRect t="-159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450B5E3-1760-4521-A775-F763ED3CB9F9}"/>
              </a:ext>
            </a:extLst>
          </p:cNvPr>
          <p:cNvPicPr>
            <a:picLocks noChangeAspect="1"/>
          </p:cNvPicPr>
          <p:nvPr/>
        </p:nvPicPr>
        <p:blipFill>
          <a:blip r:embed="rId3"/>
          <a:stretch>
            <a:fillRect/>
          </a:stretch>
        </p:blipFill>
        <p:spPr>
          <a:xfrm>
            <a:off x="1046886" y="3841788"/>
            <a:ext cx="3028699" cy="2271524"/>
          </a:xfrm>
          <a:prstGeom prst="rect">
            <a:avLst/>
          </a:prstGeom>
        </p:spPr>
      </p:pic>
      <p:graphicFrame>
        <p:nvGraphicFramePr>
          <p:cNvPr id="10" name="Table 9">
            <a:extLst>
              <a:ext uri="{FF2B5EF4-FFF2-40B4-BE49-F238E27FC236}">
                <a16:creationId xmlns:a16="http://schemas.microsoft.com/office/drawing/2014/main" id="{C913948D-B2CD-4D2E-97A3-3B727B9D057B}"/>
              </a:ext>
            </a:extLst>
          </p:cNvPr>
          <p:cNvGraphicFramePr>
            <a:graphicFrameLocks noGrp="1"/>
          </p:cNvGraphicFramePr>
          <p:nvPr/>
        </p:nvGraphicFramePr>
        <p:xfrm>
          <a:off x="9114698" y="594360"/>
          <a:ext cx="1758268" cy="2188698"/>
        </p:xfrm>
        <a:graphic>
          <a:graphicData uri="http://schemas.openxmlformats.org/drawingml/2006/table">
            <a:tbl>
              <a:tblPr firstRow="1" firstCol="1" bandRow="1"/>
              <a:tblGrid>
                <a:gridCol w="849830">
                  <a:extLst>
                    <a:ext uri="{9D8B030D-6E8A-4147-A177-3AD203B41FA5}">
                      <a16:colId xmlns:a16="http://schemas.microsoft.com/office/drawing/2014/main" val="2933048369"/>
                    </a:ext>
                  </a:extLst>
                </a:gridCol>
                <a:gridCol w="908438">
                  <a:extLst>
                    <a:ext uri="{9D8B030D-6E8A-4147-A177-3AD203B41FA5}">
                      <a16:colId xmlns:a16="http://schemas.microsoft.com/office/drawing/2014/main" val="4100554374"/>
                    </a:ext>
                  </a:extLst>
                </a:gridCol>
              </a:tblGrid>
              <a:tr h="184656">
                <a:tc gridSpan="2">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hMerge="1">
                  <a:txBody>
                    <a:bodyPr/>
                    <a:lstStyle/>
                    <a:p>
                      <a:endParaRPr lang="en-US"/>
                    </a:p>
                  </a:txBody>
                  <a:tcPr/>
                </a:tc>
                <a:extLst>
                  <a:ext uri="{0D108BD9-81ED-4DB2-BD59-A6C34878D82A}">
                    <a16:rowId xmlns:a16="http://schemas.microsoft.com/office/drawing/2014/main" val="2164694033"/>
                  </a:ext>
                </a:extLst>
              </a:tr>
              <a:tr h="184656">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zt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3231">
                <a:tc>
                  <a:txBody>
                    <a:bodyPr/>
                    <a:lstStyle/>
                    <a:p>
                      <a:pPr algn="ctr" fontAlgn="b"/>
                      <a:r>
                        <a:rPr lang="en-US" sz="1100" u="none" strike="noStrike" dirty="0">
                          <a:effectLst/>
                        </a:rPr>
                        <a:t>0.026</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234973"/>
                  </a:ext>
                </a:extLst>
              </a:tr>
              <a:tr h="303231">
                <a:tc>
                  <a:txBody>
                    <a:bodyPr/>
                    <a:lstStyle/>
                    <a:p>
                      <a:pPr algn="ctr" fontAlgn="b"/>
                      <a:r>
                        <a:rPr lang="en-US" sz="1100" u="none" strike="noStrike" dirty="0">
                          <a:effectLst/>
                        </a:rPr>
                        <a:t>0.053</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3201"/>
                  </a:ext>
                </a:extLst>
              </a:tr>
              <a:tr h="303231">
                <a:tc>
                  <a:txBody>
                    <a:bodyPr/>
                    <a:lstStyle/>
                    <a:p>
                      <a:pPr algn="ctr" fontAlgn="b"/>
                      <a:r>
                        <a:rPr lang="en-US" sz="1100" u="none" strike="noStrike" dirty="0">
                          <a:effectLst/>
                        </a:rPr>
                        <a:t>0.054</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788754"/>
                  </a:ext>
                </a:extLst>
              </a:tr>
              <a:tr h="303231">
                <a:tc>
                  <a:txBody>
                    <a:bodyPr/>
                    <a:lstStyle/>
                    <a:p>
                      <a:pPr algn="ctr" fontAlgn="b"/>
                      <a:r>
                        <a:rPr lang="en-US" sz="1100" u="none" strike="noStrike" dirty="0">
                          <a:effectLst/>
                        </a:rPr>
                        <a:t>0.057</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5932601"/>
                  </a:ext>
                </a:extLst>
              </a:tr>
              <a:tr h="303231">
                <a:tc>
                  <a:txBody>
                    <a:bodyPr/>
                    <a:lstStyle/>
                    <a:p>
                      <a:pPr algn="ctr" fontAlgn="b"/>
                      <a:r>
                        <a:rPr lang="en-US" sz="1100" u="none" strike="noStrike" dirty="0">
                          <a:effectLst/>
                        </a:rPr>
                        <a:t>0.075</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838"/>
                  </a:ext>
                </a:extLst>
              </a:tr>
              <a:tr h="303231">
                <a:tc>
                  <a:txBody>
                    <a:bodyPr/>
                    <a:lstStyle/>
                    <a:p>
                      <a:pPr algn="ctr" fontAlgn="b"/>
                      <a:r>
                        <a:rPr lang="en-US" sz="1100" u="none" strike="noStrike" dirty="0">
                          <a:effectLst/>
                        </a:rPr>
                        <a:t>0.079</a:t>
                      </a:r>
                      <a:endParaRPr lang="en-US" sz="11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961525"/>
                  </a:ext>
                </a:extLst>
              </a:tr>
            </a:tbl>
          </a:graphicData>
        </a:graphic>
      </p:graphicFrame>
      <p:sp>
        <p:nvSpPr>
          <p:cNvPr id="13" name="Text Box 117">
            <a:extLst>
              <a:ext uri="{FF2B5EF4-FFF2-40B4-BE49-F238E27FC236}">
                <a16:creationId xmlns:a16="http://schemas.microsoft.com/office/drawing/2014/main" id="{5D5F3F4E-586E-407C-B9DA-DD6EC10FE33F}"/>
              </a:ext>
            </a:extLst>
          </p:cNvPr>
          <p:cNvSpPr txBox="1">
            <a:spLocks noChangeArrowheads="1"/>
          </p:cNvSpPr>
          <p:nvPr/>
        </p:nvSpPr>
        <p:spPr bwMode="auto">
          <a:xfrm>
            <a:off x="6096000" y="5962938"/>
            <a:ext cx="4160520" cy="369332"/>
          </a:xfrm>
          <a:prstGeom prst="rect">
            <a:avLst/>
          </a:prstGeom>
          <a:solidFill>
            <a:schemeClr val="tx2"/>
          </a:solidFill>
          <a:ln w="25400">
            <a:solidFill>
              <a:schemeClr val="tx2"/>
            </a:solidFill>
            <a:miter lim="800000"/>
            <a:headEnd/>
            <a:tailEnd/>
          </a:ln>
          <a:effectLst/>
        </p:spPr>
        <p:txBody>
          <a:bodyPr wrap="square">
            <a:spAutoFit/>
          </a:bodyPr>
          <a:ls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marL="0" marR="0" lvl="0" indent="0" algn="ctr" defTabSz="457200"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Arial" panose="020B0604020202020204" pitchFamily="34" charset="0"/>
              </a:rPr>
              <a:t>Rigid modes substructure as expected!</a:t>
            </a:r>
          </a:p>
        </p:txBody>
      </p:sp>
      <p:pic>
        <p:nvPicPr>
          <p:cNvPr id="15" name="Picture 14">
            <a:extLst>
              <a:ext uri="{FF2B5EF4-FFF2-40B4-BE49-F238E27FC236}">
                <a16:creationId xmlns:a16="http://schemas.microsoft.com/office/drawing/2014/main" id="{AE9A6727-8593-494C-9443-E1F0E77AB9E6}"/>
              </a:ext>
            </a:extLst>
          </p:cNvPr>
          <p:cNvPicPr>
            <a:picLocks noChangeAspect="1"/>
          </p:cNvPicPr>
          <p:nvPr/>
        </p:nvPicPr>
        <p:blipFill>
          <a:blip r:embed="rId4"/>
          <a:stretch>
            <a:fillRect/>
          </a:stretch>
        </p:blipFill>
        <p:spPr>
          <a:xfrm>
            <a:off x="5358384" y="2191083"/>
            <a:ext cx="2438400" cy="1828800"/>
          </a:xfrm>
          <a:prstGeom prst="rect">
            <a:avLst/>
          </a:prstGeom>
        </p:spPr>
      </p:pic>
      <p:pic>
        <p:nvPicPr>
          <p:cNvPr id="17" name="Picture 16">
            <a:extLst>
              <a:ext uri="{FF2B5EF4-FFF2-40B4-BE49-F238E27FC236}">
                <a16:creationId xmlns:a16="http://schemas.microsoft.com/office/drawing/2014/main" id="{D66F3351-6FD9-4002-88CC-FD64F00599FE}"/>
              </a:ext>
            </a:extLst>
          </p:cNvPr>
          <p:cNvPicPr>
            <a:picLocks noChangeAspect="1"/>
          </p:cNvPicPr>
          <p:nvPr/>
        </p:nvPicPr>
        <p:blipFill>
          <a:blip r:embed="rId5"/>
          <a:stretch>
            <a:fillRect/>
          </a:stretch>
        </p:blipFill>
        <p:spPr>
          <a:xfrm>
            <a:off x="4876800" y="4021113"/>
            <a:ext cx="2438400" cy="1828800"/>
          </a:xfrm>
          <a:prstGeom prst="rect">
            <a:avLst/>
          </a:prstGeom>
        </p:spPr>
      </p:pic>
      <p:pic>
        <p:nvPicPr>
          <p:cNvPr id="19" name="Picture 18">
            <a:extLst>
              <a:ext uri="{FF2B5EF4-FFF2-40B4-BE49-F238E27FC236}">
                <a16:creationId xmlns:a16="http://schemas.microsoft.com/office/drawing/2014/main" id="{19015954-9C77-4DD6-A2AB-892B864949ED}"/>
              </a:ext>
            </a:extLst>
          </p:cNvPr>
          <p:cNvPicPr>
            <a:picLocks noChangeAspect="1"/>
          </p:cNvPicPr>
          <p:nvPr/>
        </p:nvPicPr>
        <p:blipFill>
          <a:blip r:embed="rId6"/>
          <a:stretch>
            <a:fillRect/>
          </a:stretch>
        </p:blipFill>
        <p:spPr>
          <a:xfrm>
            <a:off x="8046138" y="3631233"/>
            <a:ext cx="2438400" cy="1828800"/>
          </a:xfrm>
          <a:prstGeom prst="rect">
            <a:avLst/>
          </a:prstGeom>
        </p:spPr>
      </p:pic>
    </p:spTree>
    <p:extLst>
      <p:ext uri="{BB962C8B-B14F-4D97-AF65-F5344CB8AC3E}">
        <p14:creationId xmlns:p14="http://schemas.microsoft.com/office/powerpoint/2010/main" val="810781406"/>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Tricks and Checks 2: Modal Space Check</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4450842"/>
            <a:ext cx="11337324" cy="1467572"/>
          </a:xfrm>
        </p:spPr>
        <p:txBody>
          <a:bodyPr>
            <a:normAutofit fontScale="77500" lnSpcReduction="20000"/>
          </a:bodyPr>
          <a:lstStyle/>
          <a:p>
            <a:pPr lvl="1"/>
            <a:r>
              <a:rPr lang="en-US" dirty="0"/>
              <a:t>Check to ensure modes when partitioned down to the connection degrees of freedom span the space for the structures included!</a:t>
            </a:r>
          </a:p>
          <a:p>
            <a:pPr lvl="1"/>
            <a:r>
              <a:rPr lang="en-US" dirty="0"/>
              <a:t>Here – we can see we don’t have the right information in the TS (Plate and Wing Subassembly) to describe the interface motion of the baseline assembly for mode 23!</a:t>
            </a:r>
          </a:p>
          <a:p>
            <a:pPr lvl="1"/>
            <a:r>
              <a:rPr lang="en-US" dirty="0"/>
              <a:t>Let’s truncate our baseline assembly down to 20 modes (and the </a:t>
            </a:r>
            <a:r>
              <a:rPr lang="en-US" dirty="0" err="1"/>
              <a:t>subpieces</a:t>
            </a:r>
            <a:r>
              <a:rPr lang="en-US" dirty="0"/>
              <a:t> down to 14) so we are only including modes we need to span the space</a:t>
            </a:r>
          </a:p>
          <a:p>
            <a:pPr lvl="2"/>
            <a:endParaRPr lang="en-US" dirty="0"/>
          </a:p>
          <a:p>
            <a:pPr marL="201159" lvl="1" indent="0">
              <a:buNone/>
            </a:pPr>
            <a:endParaRPr lang="en-US" b="1" dirty="0"/>
          </a:p>
        </p:txBody>
      </p:sp>
      <p:pic>
        <p:nvPicPr>
          <p:cNvPr id="4" name="Picture 3">
            <a:extLst>
              <a:ext uri="{FF2B5EF4-FFF2-40B4-BE49-F238E27FC236}">
                <a16:creationId xmlns:a16="http://schemas.microsoft.com/office/drawing/2014/main" id="{DD1F2CD6-378A-433D-B8BC-145F18E05E43}"/>
              </a:ext>
            </a:extLst>
          </p:cNvPr>
          <p:cNvPicPr>
            <a:picLocks noChangeAspect="1"/>
          </p:cNvPicPr>
          <p:nvPr/>
        </p:nvPicPr>
        <p:blipFill>
          <a:blip r:embed="rId2"/>
          <a:stretch>
            <a:fillRect/>
          </a:stretch>
        </p:blipFill>
        <p:spPr>
          <a:xfrm>
            <a:off x="720648" y="594360"/>
            <a:ext cx="5141976" cy="3856482"/>
          </a:xfrm>
          <a:prstGeom prst="rect">
            <a:avLst/>
          </a:prstGeom>
        </p:spPr>
      </p:pic>
      <p:pic>
        <p:nvPicPr>
          <p:cNvPr id="8" name="Picture 7">
            <a:extLst>
              <a:ext uri="{FF2B5EF4-FFF2-40B4-BE49-F238E27FC236}">
                <a16:creationId xmlns:a16="http://schemas.microsoft.com/office/drawing/2014/main" id="{D3748467-A1A6-4303-80AA-9F2D15C53A79}"/>
              </a:ext>
            </a:extLst>
          </p:cNvPr>
          <p:cNvPicPr>
            <a:picLocks noChangeAspect="1"/>
          </p:cNvPicPr>
          <p:nvPr/>
        </p:nvPicPr>
        <p:blipFill>
          <a:blip r:embed="rId2"/>
          <a:stretch>
            <a:fillRect/>
          </a:stretch>
        </p:blipFill>
        <p:spPr>
          <a:xfrm>
            <a:off x="5993688" y="497300"/>
            <a:ext cx="5141976" cy="3856482"/>
          </a:xfrm>
          <a:prstGeom prst="rect">
            <a:avLst/>
          </a:prstGeom>
        </p:spPr>
      </p:pic>
      <p:sp>
        <p:nvSpPr>
          <p:cNvPr id="5" name="Rectangle 4">
            <a:extLst>
              <a:ext uri="{FF2B5EF4-FFF2-40B4-BE49-F238E27FC236}">
                <a16:creationId xmlns:a16="http://schemas.microsoft.com/office/drawing/2014/main" id="{A741657D-F1C6-46A2-8D39-C202BCFCA06D}"/>
              </a:ext>
            </a:extLst>
          </p:cNvPr>
          <p:cNvSpPr/>
          <p:nvPr/>
        </p:nvSpPr>
        <p:spPr>
          <a:xfrm>
            <a:off x="6556248" y="1152144"/>
            <a:ext cx="3063240" cy="2798064"/>
          </a:xfrm>
          <a:prstGeom prst="rect">
            <a:avLst/>
          </a:prstGeom>
          <a:solidFill>
            <a:schemeClr val="accent2">
              <a:alpha val="5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46205102"/>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Updated Substructuring Results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a:xfrm>
                <a:off x="105032" y="939586"/>
                <a:ext cx="8222891" cy="2441250"/>
              </a:xfrm>
            </p:spPr>
            <p:txBody>
              <a:bodyPr>
                <a:normAutofit fontScale="92500" lnSpcReduction="10000"/>
              </a:bodyPr>
              <a:lstStyle/>
              <a:p>
                <a:pPr lvl="1"/>
                <a:r>
                  <a:rPr lang="en-US" dirty="0" err="1"/>
                  <a:t>cond</a:t>
                </a:r>
                <a:r>
                  <a:rPr lang="en-US" dirty="0"/>
                  <a:t>(</a:t>
                </a:r>
                <a14:m>
                  <m:oMath xmlns:m="http://schemas.openxmlformats.org/officeDocument/2006/math">
                    <m:acc>
                      <m:accPr>
                        <m:chr m:val="̃"/>
                        <m:ctrlPr>
                          <a:rPr lang="en-US" sz="200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𝐵</m:t>
                        </m:r>
                      </m:e>
                    </m:acc>
                  </m:oMath>
                </a14:m>
                <a:r>
                  <a:rPr lang="en-US" dirty="0"/>
                  <a:t>) = 15.99</a:t>
                </a:r>
              </a:p>
              <a:p>
                <a:pPr lvl="1"/>
                <a:r>
                  <a:rPr lang="en-US" dirty="0"/>
                  <a:t>Frame, Plate, Wing: 20 modes</a:t>
                </a:r>
              </a:p>
              <a:p>
                <a:pPr lvl="1"/>
                <a:r>
                  <a:rPr lang="en-US" dirty="0"/>
                  <a:t>Plate and Wing: 14 modes</a:t>
                </a:r>
              </a:p>
              <a:p>
                <a:pPr lvl="1"/>
                <a:r>
                  <a:rPr lang="en-US" dirty="0"/>
                  <a:t>Plate and Swept Wing: 14 modes</a:t>
                </a:r>
              </a:p>
              <a:p>
                <a:pPr lvl="1"/>
                <a:r>
                  <a:rPr lang="en-US" dirty="0">
                    <a:solidFill>
                      <a:schemeClr val="accent2"/>
                    </a:solidFill>
                  </a:rPr>
                  <a:t>✔</a:t>
                </a:r>
                <a:r>
                  <a:rPr lang="en-US" dirty="0"/>
                  <a:t> Correct number of rigid modes</a:t>
                </a:r>
              </a:p>
              <a:p>
                <a:pPr lvl="1"/>
                <a:r>
                  <a:rPr lang="en-US" dirty="0">
                    <a:solidFill>
                      <a:schemeClr val="accent2"/>
                    </a:solidFill>
                  </a:rPr>
                  <a:t>✔ </a:t>
                </a:r>
                <a:r>
                  <a:rPr lang="en-US" dirty="0"/>
                  <a:t>No imaginary eigen values or damping issues</a:t>
                </a:r>
              </a:p>
              <a:p>
                <a:pPr lvl="1"/>
                <a:r>
                  <a:rPr lang="en-US" dirty="0"/>
                  <a:t>Better modal independence in self-MAC</a:t>
                </a:r>
              </a:p>
              <a:p>
                <a:pPr lvl="1"/>
                <a:endParaRPr lang="en-US" dirty="0"/>
              </a:p>
              <a:p>
                <a:pPr lvl="2"/>
                <a:endParaRPr lang="en-US" dirty="0"/>
              </a:p>
              <a:p>
                <a:pPr marL="201159" lvl="1" indent="0">
                  <a:buNone/>
                </a:pPr>
                <a:endParaRPr lang="en-US" b="1" dirty="0"/>
              </a:p>
            </p:txBody>
          </p:sp>
        </mc:Choice>
        <mc:Fallback xmlns="">
          <p:sp>
            <p:nvSpPr>
              <p:cNvPr id="7" name="Content Placeholder 2">
                <a:extLst>
                  <a:ext uri="{FF2B5EF4-FFF2-40B4-BE49-F238E27FC236}">
                    <a16:creationId xmlns:a16="http://schemas.microsoft.com/office/drawing/2014/main" id="{D2E1D076-FD1B-4DE3-8009-8C706F69A5AA}"/>
                  </a:ext>
                </a:extLst>
              </p:cNvPr>
              <p:cNvSpPr>
                <a:spLocks noGrp="1" noRot="1" noChangeAspect="1" noMove="1" noResize="1" noEditPoints="1" noAdjustHandles="1" noChangeArrowheads="1" noChangeShapeType="1" noTextEdit="1"/>
              </p:cNvSpPr>
              <p:nvPr>
                <p:ph idx="1"/>
              </p:nvPr>
            </p:nvSpPr>
            <p:spPr>
              <a:xfrm>
                <a:off x="105032" y="939586"/>
                <a:ext cx="8222891" cy="2441250"/>
              </a:xfrm>
              <a:blipFill>
                <a:blip r:embed="rId2"/>
                <a:stretch>
                  <a:fillRect t="-3990" b="-1995"/>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F8BE025F-014E-4827-BFCA-C29AA0501ACE}"/>
              </a:ext>
            </a:extLst>
          </p:cNvPr>
          <p:cNvGraphicFramePr>
            <a:graphicFrameLocks noGrp="1"/>
          </p:cNvGraphicFramePr>
          <p:nvPr/>
        </p:nvGraphicFramePr>
        <p:xfrm>
          <a:off x="9088117" y="425657"/>
          <a:ext cx="2131571" cy="6033789"/>
        </p:xfrm>
        <a:graphic>
          <a:graphicData uri="http://schemas.openxmlformats.org/drawingml/2006/table">
            <a:tbl>
              <a:tblPr firstRow="1" firstCol="1" bandRow="1"/>
              <a:tblGrid>
                <a:gridCol w="1030261">
                  <a:extLst>
                    <a:ext uri="{9D8B030D-6E8A-4147-A177-3AD203B41FA5}">
                      <a16:colId xmlns:a16="http://schemas.microsoft.com/office/drawing/2014/main" val="2933048369"/>
                    </a:ext>
                  </a:extLst>
                </a:gridCol>
                <a:gridCol w="1101310">
                  <a:extLst>
                    <a:ext uri="{9D8B030D-6E8A-4147-A177-3AD203B41FA5}">
                      <a16:colId xmlns:a16="http://schemas.microsoft.com/office/drawing/2014/main" val="4009814620"/>
                    </a:ext>
                  </a:extLst>
                </a:gridCol>
              </a:tblGrid>
              <a:tr h="184656">
                <a:tc>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Initial 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Updated Prediction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28575" cap="flat" cmpd="dbl" algn="ctr">
                      <a:solidFill>
                        <a:srgbClr val="3F3F3F"/>
                      </a:solidFill>
                      <a:prstDash val="solid"/>
                      <a:round/>
                      <a:headEnd type="none" w="med" len="med"/>
                      <a:tailEnd type="none" w="med" len="med"/>
                    </a:lnB>
                    <a:solidFill>
                      <a:srgbClr val="A5A5A5"/>
                    </a:solidFill>
                  </a:tcPr>
                </a:tc>
                <a:extLst>
                  <a:ext uri="{0D108BD9-81ED-4DB2-BD59-A6C34878D82A}">
                    <a16:rowId xmlns:a16="http://schemas.microsoft.com/office/drawing/2014/main" val="2164694033"/>
                  </a:ext>
                </a:extLst>
              </a:tr>
              <a:tr h="211760">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a:txBody>
                    <a:bodyPr/>
                    <a:lstStyle/>
                    <a:p>
                      <a:pPr marL="0" marR="0" algn="ctr">
                        <a:spcBef>
                          <a:spcPts val="0"/>
                        </a:spcBef>
                        <a:spcAft>
                          <a:spcPts val="0"/>
                        </a:spcAft>
                      </a:pPr>
                      <a:r>
                        <a:rPr lang="en-US" sz="1200" b="1" dirty="0" err="1">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fn</a:t>
                      </a:r>
                      <a:r>
                        <a:rPr lang="en-US" sz="1200" b="1" dirty="0">
                          <a:solidFill>
                            <a:srgbClr val="FFFFFF"/>
                          </a:solidFill>
                          <a:effectLst/>
                          <a:latin typeface="Calibri" panose="020F0502020204030204" pitchFamily="34" charset="0"/>
                          <a:ea typeface="Times New Roman" panose="02020603050405020304" pitchFamily="18" charset="0"/>
                          <a:cs typeface="Times New Roman" panose="02020603050405020304" pitchFamily="18" charset="0"/>
                        </a:rPr>
                        <a:t> [Hz]</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4677" marR="54677" marT="0" marB="0" anchor="ctr">
                    <a:lnL w="28575" cap="flat" cmpd="dbl" algn="ctr">
                      <a:solidFill>
                        <a:srgbClr val="3F3F3F"/>
                      </a:solidFill>
                      <a:prstDash val="solid"/>
                      <a:round/>
                      <a:headEnd type="none" w="med" len="med"/>
                      <a:tailEnd type="none" w="med" len="med"/>
                    </a:lnL>
                    <a:lnR w="28575" cap="flat" cmpd="dbl" algn="ctr">
                      <a:solidFill>
                        <a:srgbClr val="3F3F3F"/>
                      </a:solidFill>
                      <a:prstDash val="solid"/>
                      <a:round/>
                      <a:headEnd type="none" w="med" len="med"/>
                      <a:tailEnd type="none" w="med" len="med"/>
                    </a:lnR>
                    <a:lnT w="28575" cap="flat" cmpd="dbl" algn="ctr">
                      <a:solidFill>
                        <a:srgbClr val="3F3F3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2510769702"/>
                  </a:ext>
                </a:extLst>
              </a:tr>
              <a:tr h="301342">
                <a:tc>
                  <a:txBody>
                    <a:bodyPr/>
                    <a:lstStyle/>
                    <a:p>
                      <a:pPr algn="ctr" fontAlgn="b"/>
                      <a:r>
                        <a:rPr lang="en-US" sz="1100" b="0" i="0" u="none" strike="noStrike" dirty="0">
                          <a:solidFill>
                            <a:srgbClr val="000000"/>
                          </a:solidFill>
                          <a:effectLst/>
                          <a:latin typeface="Calibri" panose="020F0502020204030204" pitchFamily="34" charset="0"/>
                        </a:rPr>
                        <a:t>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9234973"/>
                  </a:ext>
                </a:extLst>
              </a:tr>
              <a:tr h="303231">
                <a:tc>
                  <a:txBody>
                    <a:bodyPr/>
                    <a:lstStyle/>
                    <a:p>
                      <a:pPr algn="ctr" fontAlgn="b"/>
                      <a:r>
                        <a:rPr lang="en-US" sz="1100" b="0" i="0" u="none" strike="noStrike" dirty="0">
                          <a:solidFill>
                            <a:srgbClr val="000000"/>
                          </a:solidFill>
                          <a:effectLst/>
                          <a:latin typeface="Calibri" panose="020F0502020204030204" pitchFamily="34" charset="0"/>
                        </a:rPr>
                        <a:t>0.03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3201"/>
                  </a:ext>
                </a:extLst>
              </a:tr>
              <a:tr h="303231">
                <a:tc>
                  <a:txBody>
                    <a:bodyPr/>
                    <a:lstStyle/>
                    <a:p>
                      <a:pPr algn="ctr" fontAlgn="b"/>
                      <a:r>
                        <a:rPr lang="en-US" sz="1100" b="0" i="0" u="none" strike="noStrike">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7788754"/>
                  </a:ext>
                </a:extLst>
              </a:tr>
              <a:tr h="303231">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5932601"/>
                  </a:ext>
                </a:extLst>
              </a:tr>
              <a:tr h="303231">
                <a:tc>
                  <a:txBody>
                    <a:bodyPr/>
                    <a:lstStyle/>
                    <a:p>
                      <a:pPr algn="ctr" fontAlgn="b"/>
                      <a:r>
                        <a:rPr lang="en-US" sz="1100" b="0" i="0" u="none" strike="noStrike">
                          <a:solidFill>
                            <a:srgbClr val="000000"/>
                          </a:solidFill>
                          <a:effectLst/>
                          <a:latin typeface="Calibri" panose="020F0502020204030204" pitchFamily="34" charset="0"/>
                        </a:rPr>
                        <a:t>0.06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0.07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838"/>
                  </a:ext>
                </a:extLst>
              </a:tr>
              <a:tr h="303231">
                <a:tc>
                  <a:txBody>
                    <a:bodyPr/>
                    <a:lstStyle/>
                    <a:p>
                      <a:pPr algn="ctr" fontAlgn="b"/>
                      <a:r>
                        <a:rPr lang="en-US" sz="1100" b="0" i="0" u="none" strike="noStrike">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961525"/>
                  </a:ext>
                </a:extLst>
              </a:tr>
              <a:tr h="303231">
                <a:tc>
                  <a:txBody>
                    <a:bodyPr/>
                    <a:lstStyle/>
                    <a:p>
                      <a:pPr algn="ctr" fontAlgn="b"/>
                      <a:r>
                        <a:rPr lang="en-US" sz="1100" b="0" i="0" u="none" strike="noStrike">
                          <a:solidFill>
                            <a:srgbClr val="000000"/>
                          </a:solidFill>
                          <a:effectLst/>
                          <a:latin typeface="Calibri" panose="020F0502020204030204" pitchFamily="34" charset="0"/>
                        </a:rPr>
                        <a:t>0.09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42.69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8664520"/>
                  </a:ext>
                </a:extLst>
              </a:tr>
              <a:tr h="303231">
                <a:tc>
                  <a:txBody>
                    <a:bodyPr/>
                    <a:lstStyle/>
                    <a:p>
                      <a:pPr algn="ctr" fontAlgn="b"/>
                      <a:r>
                        <a:rPr lang="en-US" sz="1100" b="0" i="0" u="none" strike="noStrike">
                          <a:solidFill>
                            <a:srgbClr val="000000"/>
                          </a:solidFill>
                          <a:effectLst/>
                          <a:latin typeface="Calibri" panose="020F0502020204030204" pitchFamily="34" charset="0"/>
                        </a:rPr>
                        <a:t>53.26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65.88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082159"/>
                  </a:ext>
                </a:extLst>
              </a:tr>
              <a:tr h="303231">
                <a:tc>
                  <a:txBody>
                    <a:bodyPr/>
                    <a:lstStyle/>
                    <a:p>
                      <a:pPr algn="ctr" fontAlgn="b"/>
                      <a:r>
                        <a:rPr lang="en-US" sz="1100" b="0" i="0" u="none" strike="noStrike">
                          <a:solidFill>
                            <a:srgbClr val="000000"/>
                          </a:solidFill>
                          <a:effectLst/>
                          <a:latin typeface="Calibri" panose="020F0502020204030204" pitchFamily="34" charset="0"/>
                        </a:rPr>
                        <a:t>67.63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173.93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686013"/>
                  </a:ext>
                </a:extLst>
              </a:tr>
              <a:tr h="303231">
                <a:tc>
                  <a:txBody>
                    <a:bodyPr/>
                    <a:lstStyle/>
                    <a:p>
                      <a:pPr algn="ctr" fontAlgn="b"/>
                      <a:r>
                        <a:rPr lang="en-US" sz="1100" b="0" i="0" u="none" strike="noStrike">
                          <a:solidFill>
                            <a:srgbClr val="000000"/>
                          </a:solidFill>
                          <a:effectLst/>
                          <a:latin typeface="Calibri" panose="020F0502020204030204" pitchFamily="34" charset="0"/>
                        </a:rPr>
                        <a:t>202.15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223.33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5684066"/>
                  </a:ext>
                </a:extLst>
              </a:tr>
              <a:tr h="303231">
                <a:tc>
                  <a:txBody>
                    <a:bodyPr/>
                    <a:lstStyle/>
                    <a:p>
                      <a:pPr algn="ctr" fontAlgn="b"/>
                      <a:r>
                        <a:rPr lang="en-US" sz="1100" b="0" i="0" u="none" strike="noStrike">
                          <a:solidFill>
                            <a:srgbClr val="000000"/>
                          </a:solidFill>
                          <a:effectLst/>
                          <a:latin typeface="Calibri" panose="020F0502020204030204" pitchFamily="34" charset="0"/>
                        </a:rPr>
                        <a:t>235.34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260.63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981158"/>
                  </a:ext>
                </a:extLst>
              </a:tr>
              <a:tr h="303231">
                <a:tc>
                  <a:txBody>
                    <a:bodyPr/>
                    <a:lstStyle/>
                    <a:p>
                      <a:pPr algn="ctr" fontAlgn="b"/>
                      <a:r>
                        <a:rPr lang="en-US" sz="1100" b="0" i="0" u="none" strike="noStrike">
                          <a:solidFill>
                            <a:srgbClr val="000000"/>
                          </a:solidFill>
                          <a:effectLst/>
                          <a:latin typeface="Calibri" panose="020F0502020204030204" pitchFamily="34" charset="0"/>
                        </a:rPr>
                        <a:t>288.27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325.94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6665820"/>
                  </a:ext>
                </a:extLst>
              </a:tr>
              <a:tr h="303231">
                <a:tc>
                  <a:txBody>
                    <a:bodyPr/>
                    <a:lstStyle/>
                    <a:p>
                      <a:pPr algn="ctr" fontAlgn="b"/>
                      <a:r>
                        <a:rPr lang="en-US" sz="1100" b="0" i="0" u="none" strike="noStrike">
                          <a:solidFill>
                            <a:srgbClr val="000000"/>
                          </a:solidFill>
                          <a:effectLst/>
                          <a:latin typeface="Calibri" panose="020F0502020204030204" pitchFamily="34" charset="0"/>
                        </a:rPr>
                        <a:t>363.56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371.69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9086232"/>
                  </a:ext>
                </a:extLst>
              </a:tr>
              <a:tr h="303231">
                <a:tc>
                  <a:txBody>
                    <a:bodyPr/>
                    <a:lstStyle/>
                    <a:p>
                      <a:pPr algn="ctr" fontAlgn="b"/>
                      <a:r>
                        <a:rPr lang="en-US" sz="1100" b="0" i="0" u="none" strike="noStrike">
                          <a:solidFill>
                            <a:srgbClr val="000000"/>
                          </a:solidFill>
                          <a:effectLst/>
                          <a:latin typeface="Calibri" panose="020F0502020204030204" pitchFamily="34" charset="0"/>
                        </a:rPr>
                        <a:t>402.58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442.23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4077485"/>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518.81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4694586"/>
                  </a:ext>
                </a:extLst>
              </a:tr>
              <a:tr h="303231">
                <a:tc>
                  <a:txBody>
                    <a:bodyPr/>
                    <a:lstStyle/>
                    <a:p>
                      <a:pPr algn="ctr" fontAlgn="b"/>
                      <a:r>
                        <a:rPr lang="en-US" sz="1100" b="0" i="0" u="none" strike="noStrike">
                          <a:solidFill>
                            <a:srgbClr val="000000"/>
                          </a:solidFill>
                          <a:effectLst/>
                          <a:latin typeface="Calibri" panose="020F0502020204030204" pitchFamily="34" charset="0"/>
                        </a:rPr>
                        <a:t>416.43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603.64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892965"/>
                  </a:ext>
                </a:extLst>
              </a:tr>
              <a:tr h="303231">
                <a:tc>
                  <a:txBody>
                    <a:bodyPr/>
                    <a:lstStyle/>
                    <a:p>
                      <a:pPr algn="ctr" fontAlgn="b"/>
                      <a:r>
                        <a:rPr lang="en-US" sz="1100" b="0" i="0" u="none" strike="noStrike">
                          <a:solidFill>
                            <a:srgbClr val="000000"/>
                          </a:solidFill>
                          <a:effectLst/>
                          <a:latin typeface="Calibri" panose="020F0502020204030204" pitchFamily="34" charset="0"/>
                        </a:rPr>
                        <a:t>439.75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631.52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0792099"/>
                  </a:ext>
                </a:extLst>
              </a:tr>
              <a:tr h="303231">
                <a:tc>
                  <a:txBody>
                    <a:bodyPr/>
                    <a:lstStyle/>
                    <a:p>
                      <a:pPr algn="ctr" fontAlgn="b"/>
                      <a:r>
                        <a:rPr lang="en-US" sz="1100" b="0" i="0" u="none" strike="noStrike" dirty="0">
                          <a:solidFill>
                            <a:srgbClr val="000000"/>
                          </a:solidFill>
                          <a:effectLst/>
                          <a:latin typeface="Calibri" panose="020F0502020204030204" pitchFamily="34" charset="0"/>
                        </a:rPr>
                        <a:t>448.39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814.78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937472"/>
                  </a:ext>
                </a:extLst>
              </a:tr>
            </a:tbl>
          </a:graphicData>
        </a:graphic>
      </p:graphicFrame>
      <p:pic>
        <p:nvPicPr>
          <p:cNvPr id="10" name="Picture 9">
            <a:extLst>
              <a:ext uri="{FF2B5EF4-FFF2-40B4-BE49-F238E27FC236}">
                <a16:creationId xmlns:a16="http://schemas.microsoft.com/office/drawing/2014/main" id="{A7051A0E-809A-48F7-8368-C12C59CFA5EA}"/>
              </a:ext>
            </a:extLst>
          </p:cNvPr>
          <p:cNvPicPr>
            <a:picLocks noChangeAspect="1"/>
          </p:cNvPicPr>
          <p:nvPr/>
        </p:nvPicPr>
        <p:blipFill>
          <a:blip r:embed="rId3"/>
          <a:stretch>
            <a:fillRect/>
          </a:stretch>
        </p:blipFill>
        <p:spPr>
          <a:xfrm>
            <a:off x="635392" y="3477165"/>
            <a:ext cx="3657600" cy="2743200"/>
          </a:xfrm>
          <a:prstGeom prst="rect">
            <a:avLst/>
          </a:prstGeom>
        </p:spPr>
      </p:pic>
      <p:pic>
        <p:nvPicPr>
          <p:cNvPr id="4" name="Picture 3">
            <a:extLst>
              <a:ext uri="{FF2B5EF4-FFF2-40B4-BE49-F238E27FC236}">
                <a16:creationId xmlns:a16="http://schemas.microsoft.com/office/drawing/2014/main" id="{EFA9C50B-4544-4D35-A748-1CC973A7B4BE}"/>
              </a:ext>
            </a:extLst>
          </p:cNvPr>
          <p:cNvPicPr>
            <a:picLocks noChangeAspect="1"/>
          </p:cNvPicPr>
          <p:nvPr/>
        </p:nvPicPr>
        <p:blipFill>
          <a:blip r:embed="rId4"/>
          <a:stretch>
            <a:fillRect/>
          </a:stretch>
        </p:blipFill>
        <p:spPr>
          <a:xfrm>
            <a:off x="4558288" y="3477165"/>
            <a:ext cx="3657600" cy="2743200"/>
          </a:xfrm>
          <a:prstGeom prst="rect">
            <a:avLst/>
          </a:prstGeom>
        </p:spPr>
      </p:pic>
    </p:spTree>
    <p:extLst>
      <p:ext uri="{BB962C8B-B14F-4D97-AF65-F5344CB8AC3E}">
        <p14:creationId xmlns:p14="http://schemas.microsoft.com/office/powerpoint/2010/main" val="2477554805"/>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“Truth” Comparison</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Blind Prediction results concluded with fairly accurate estimate!</a:t>
            </a:r>
          </a:p>
          <a:p>
            <a:pPr lvl="2"/>
            <a:endParaRPr lang="en-US" dirty="0"/>
          </a:p>
          <a:p>
            <a:pPr marL="201159" lvl="1" indent="0">
              <a:buNone/>
            </a:pPr>
            <a:endParaRPr lang="en-US" b="1" dirty="0"/>
          </a:p>
        </p:txBody>
      </p:sp>
      <p:graphicFrame>
        <p:nvGraphicFramePr>
          <p:cNvPr id="3" name="Table 2">
            <a:extLst>
              <a:ext uri="{FF2B5EF4-FFF2-40B4-BE49-F238E27FC236}">
                <a16:creationId xmlns:a16="http://schemas.microsoft.com/office/drawing/2014/main" id="{A3AE2006-B14D-48BA-A339-2171ADF4B6F1}"/>
              </a:ext>
            </a:extLst>
          </p:cNvPr>
          <p:cNvGraphicFramePr>
            <a:graphicFrameLocks noGrp="1"/>
          </p:cNvGraphicFramePr>
          <p:nvPr/>
        </p:nvGraphicFramePr>
        <p:xfrm>
          <a:off x="6580315" y="1631220"/>
          <a:ext cx="4734445" cy="4210252"/>
        </p:xfrm>
        <a:graphic>
          <a:graphicData uri="http://schemas.openxmlformats.org/drawingml/2006/table">
            <a:tbl>
              <a:tblPr>
                <a:tableStyleId>{5C22544A-7EE6-4342-B048-85BDC9FD1C3A}</a:tableStyleId>
              </a:tblPr>
              <a:tblGrid>
                <a:gridCol w="946889">
                  <a:extLst>
                    <a:ext uri="{9D8B030D-6E8A-4147-A177-3AD203B41FA5}">
                      <a16:colId xmlns:a16="http://schemas.microsoft.com/office/drawing/2014/main" val="2417845844"/>
                    </a:ext>
                  </a:extLst>
                </a:gridCol>
                <a:gridCol w="946889">
                  <a:extLst>
                    <a:ext uri="{9D8B030D-6E8A-4147-A177-3AD203B41FA5}">
                      <a16:colId xmlns:a16="http://schemas.microsoft.com/office/drawing/2014/main" val="3427333267"/>
                    </a:ext>
                  </a:extLst>
                </a:gridCol>
                <a:gridCol w="946889">
                  <a:extLst>
                    <a:ext uri="{9D8B030D-6E8A-4147-A177-3AD203B41FA5}">
                      <a16:colId xmlns:a16="http://schemas.microsoft.com/office/drawing/2014/main" val="3791606202"/>
                    </a:ext>
                  </a:extLst>
                </a:gridCol>
                <a:gridCol w="946889">
                  <a:extLst>
                    <a:ext uri="{9D8B030D-6E8A-4147-A177-3AD203B41FA5}">
                      <a16:colId xmlns:a16="http://schemas.microsoft.com/office/drawing/2014/main" val="3725955492"/>
                    </a:ext>
                  </a:extLst>
                </a:gridCol>
                <a:gridCol w="946889">
                  <a:extLst>
                    <a:ext uri="{9D8B030D-6E8A-4147-A177-3AD203B41FA5}">
                      <a16:colId xmlns:a16="http://schemas.microsoft.com/office/drawing/2014/main" val="4056340970"/>
                    </a:ext>
                  </a:extLst>
                </a:gridCol>
              </a:tblGrid>
              <a:tr h="735176">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Prediction Modal Index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Truth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Error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MAC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389885184"/>
                  </a:ext>
                </a:extLst>
              </a:tr>
              <a:tr h="315916">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49.33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7005800"/>
                  </a:ext>
                </a:extLst>
              </a:tr>
              <a:tr h="315916">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65.99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8612061"/>
                  </a:ext>
                </a:extLst>
              </a:tr>
              <a:tr h="315916">
                <a:tc>
                  <a:txBody>
                    <a:bodyPr/>
                    <a:lstStyle/>
                    <a:p>
                      <a:pPr algn="ctr" fontAlgn="b"/>
                      <a:r>
                        <a:rPr lang="en-US" sz="1200" b="0" i="0" u="none" strike="noStrike" dirty="0">
                          <a:solidFill>
                            <a:srgbClr val="000000"/>
                          </a:solidFill>
                          <a:effectLst/>
                          <a:latin typeface="Calibri" panose="020F0502020204030204" pitchFamily="3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174.1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4712919"/>
                  </a:ext>
                </a:extLst>
              </a:tr>
              <a:tr h="315916">
                <a:tc>
                  <a:txBody>
                    <a:bodyPr/>
                    <a:lstStyle/>
                    <a:p>
                      <a:pPr algn="ctr" fontAlgn="b"/>
                      <a:r>
                        <a:rPr lang="en-US" sz="1200" b="0" i="0" u="none" strike="noStrike" dirty="0">
                          <a:solidFill>
                            <a:srgbClr val="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0235023"/>
                  </a:ext>
                </a:extLst>
              </a:tr>
              <a:tr h="315916">
                <a:tc>
                  <a:txBody>
                    <a:bodyPr/>
                    <a:lstStyle/>
                    <a:p>
                      <a:pPr algn="ctr" fontAlgn="b"/>
                      <a:r>
                        <a:rPr lang="en-US" sz="1200" b="0" i="0" u="none" strike="noStrike" dirty="0">
                          <a:solidFill>
                            <a:srgbClr val="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260.7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259.5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218139"/>
                  </a:ext>
                </a:extLst>
              </a:tr>
              <a:tr h="315916">
                <a:tc>
                  <a:txBody>
                    <a:bodyPr/>
                    <a:lstStyle/>
                    <a:p>
                      <a:pPr algn="ctr" fontAlgn="b"/>
                      <a:r>
                        <a:rPr lang="en-US" sz="1200" b="0"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293.1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9078456"/>
                  </a:ext>
                </a:extLst>
              </a:tr>
              <a:tr h="315916">
                <a:tc>
                  <a:txBody>
                    <a:bodyPr/>
                    <a:lstStyle/>
                    <a:p>
                      <a:pPr algn="ctr" fontAlgn="b"/>
                      <a:r>
                        <a:rPr lang="en-US" sz="1200" b="0" i="0" u="none" strike="noStrike" dirty="0">
                          <a:solidFill>
                            <a:srgbClr val="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371.7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389.1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6205735"/>
                  </a:ext>
                </a:extLst>
              </a:tr>
              <a:tr h="315916">
                <a:tc>
                  <a:txBody>
                    <a:bodyPr/>
                    <a:lstStyle/>
                    <a:p>
                      <a:pPr algn="ctr" fontAlgn="b"/>
                      <a:r>
                        <a:rPr lang="en-US" sz="1200" b="0" i="0" u="none" strike="noStrike" dirty="0">
                          <a:solidFill>
                            <a:srgbClr val="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442.7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6458452"/>
                  </a:ext>
                </a:extLst>
              </a:tr>
              <a:tr h="315916">
                <a:tc>
                  <a:txBody>
                    <a:bodyPr/>
                    <a:lstStyle/>
                    <a:p>
                      <a:pPr algn="ctr" fontAlgn="b"/>
                      <a:r>
                        <a:rPr lang="en-US" sz="1200" b="0" i="0" u="none" strike="noStrike" dirty="0">
                          <a:solidFill>
                            <a:srgbClr val="000000"/>
                          </a:solidFill>
                          <a:effectLst/>
                          <a:latin typeface="Calibri" panose="020F0502020204030204" pitchFamily="34"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487.6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7549208"/>
                  </a:ext>
                </a:extLst>
              </a:tr>
              <a:tr h="315916">
                <a:tc>
                  <a:txBody>
                    <a:bodyPr/>
                    <a:lstStyle/>
                    <a:p>
                      <a:pPr algn="ctr" fontAlgn="b"/>
                      <a:r>
                        <a:rPr lang="en-US" sz="1200" b="0" i="0" u="none" strike="noStrike" dirty="0">
                          <a:solidFill>
                            <a:srgbClr val="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603.9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1517115"/>
                  </a:ext>
                </a:extLst>
              </a:tr>
              <a:tr h="315916">
                <a:tc>
                  <a:txBody>
                    <a:bodyPr/>
                    <a:lstStyle/>
                    <a:p>
                      <a:pPr algn="ctr" fontAlgn="b"/>
                      <a:r>
                        <a:rPr lang="en-US" sz="1200" b="0" i="0" u="none" strike="noStrike" dirty="0">
                          <a:solidFill>
                            <a:srgbClr val="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631.7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dirty="0">
                          <a:solidFill>
                            <a:srgbClr val="000000"/>
                          </a:solidFill>
                          <a:effectLst/>
                          <a:latin typeface="Calibri" panose="020F0502020204030204" pitchFamily="34" charset="0"/>
                        </a:rPr>
                        <a:t>0.52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0224301"/>
                  </a:ext>
                </a:extLst>
              </a:tr>
            </a:tbl>
          </a:graphicData>
        </a:graphic>
      </p:graphicFrame>
      <p:pic>
        <p:nvPicPr>
          <p:cNvPr id="5" name="Picture 4">
            <a:extLst>
              <a:ext uri="{FF2B5EF4-FFF2-40B4-BE49-F238E27FC236}">
                <a16:creationId xmlns:a16="http://schemas.microsoft.com/office/drawing/2014/main" id="{DDB92039-1392-41BB-A596-6B45D9924E8C}"/>
              </a:ext>
            </a:extLst>
          </p:cNvPr>
          <p:cNvPicPr>
            <a:picLocks noChangeAspect="1"/>
          </p:cNvPicPr>
          <p:nvPr/>
        </p:nvPicPr>
        <p:blipFill>
          <a:blip r:embed="rId2"/>
          <a:stretch>
            <a:fillRect/>
          </a:stretch>
        </p:blipFill>
        <p:spPr>
          <a:xfrm>
            <a:off x="179515" y="1678946"/>
            <a:ext cx="6400800" cy="4114800"/>
          </a:xfrm>
          <a:prstGeom prst="rect">
            <a:avLst/>
          </a:prstGeom>
        </p:spPr>
      </p:pic>
    </p:spTree>
    <p:extLst>
      <p:ext uri="{BB962C8B-B14F-4D97-AF65-F5344CB8AC3E}">
        <p14:creationId xmlns:p14="http://schemas.microsoft.com/office/powerpoint/2010/main" val="3974668322"/>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p:txBody>
          <a:bodyPr>
            <a:normAutofit fontScale="90000"/>
          </a:bodyPr>
          <a:lstStyle/>
          <a:p>
            <a:r>
              <a:rPr lang="en-US" dirty="0"/>
              <a:t>Linear Results Shape Plots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Shapes of some of the significant modes</a:t>
            </a:r>
          </a:p>
          <a:p>
            <a:pPr lvl="2"/>
            <a:endParaRPr lang="en-US" dirty="0"/>
          </a:p>
          <a:p>
            <a:pPr marL="201159" lvl="1" indent="0">
              <a:buNone/>
            </a:pPr>
            <a:endParaRPr lang="en-US" b="1" dirty="0"/>
          </a:p>
        </p:txBody>
      </p:sp>
      <p:sp>
        <p:nvSpPr>
          <p:cNvPr id="17" name="Rectangle 16">
            <a:extLst>
              <a:ext uri="{FF2B5EF4-FFF2-40B4-BE49-F238E27FC236}">
                <a16:creationId xmlns:a16="http://schemas.microsoft.com/office/drawing/2014/main" id="{00F42E5F-959D-409D-8185-2109AF6BF949}"/>
              </a:ext>
            </a:extLst>
          </p:cNvPr>
          <p:cNvSpPr/>
          <p:nvPr/>
        </p:nvSpPr>
        <p:spPr>
          <a:xfrm>
            <a:off x="1295400" y="1633046"/>
            <a:ext cx="4381500" cy="3853354"/>
          </a:xfrm>
          <a:prstGeom prst="rect">
            <a:avLst/>
          </a:prstGeom>
          <a:noFill/>
          <a:ln w="476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36" name="Rectangle 35">
            <a:extLst>
              <a:ext uri="{FF2B5EF4-FFF2-40B4-BE49-F238E27FC236}">
                <a16:creationId xmlns:a16="http://schemas.microsoft.com/office/drawing/2014/main" id="{7B2D4DEE-117B-4C28-8272-EE23A4EF6E92}"/>
              </a:ext>
            </a:extLst>
          </p:cNvPr>
          <p:cNvSpPr/>
          <p:nvPr/>
        </p:nvSpPr>
        <p:spPr>
          <a:xfrm>
            <a:off x="6467043" y="1633046"/>
            <a:ext cx="4381500" cy="3853354"/>
          </a:xfrm>
          <a:prstGeom prst="rect">
            <a:avLst/>
          </a:prstGeom>
          <a:noFill/>
          <a:ln w="476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panose="020B0603020202020204"/>
              <a:ea typeface="+mn-ea"/>
              <a:cs typeface="+mn-cs"/>
            </a:endParaRPr>
          </a:p>
        </p:txBody>
      </p:sp>
      <p:sp>
        <p:nvSpPr>
          <p:cNvPr id="37" name="TextBox 36">
            <a:extLst>
              <a:ext uri="{FF2B5EF4-FFF2-40B4-BE49-F238E27FC236}">
                <a16:creationId xmlns:a16="http://schemas.microsoft.com/office/drawing/2014/main" id="{AF0656FB-5E0A-4C1A-8863-0B2235AA7858}"/>
              </a:ext>
            </a:extLst>
          </p:cNvPr>
          <p:cNvSpPr txBox="1"/>
          <p:nvPr/>
        </p:nvSpPr>
        <p:spPr>
          <a:xfrm>
            <a:off x="7123589" y="1263714"/>
            <a:ext cx="44635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Prediction Elastic Modes 1-4</a:t>
            </a:r>
          </a:p>
        </p:txBody>
      </p:sp>
      <p:sp>
        <p:nvSpPr>
          <p:cNvPr id="38" name="TextBox 37">
            <a:extLst>
              <a:ext uri="{FF2B5EF4-FFF2-40B4-BE49-F238E27FC236}">
                <a16:creationId xmlns:a16="http://schemas.microsoft.com/office/drawing/2014/main" id="{2B74DA77-9E7F-451C-BD9F-572FF6BB43E8}"/>
              </a:ext>
            </a:extLst>
          </p:cNvPr>
          <p:cNvSpPr txBox="1"/>
          <p:nvPr/>
        </p:nvSpPr>
        <p:spPr>
          <a:xfrm>
            <a:off x="2106389" y="1241804"/>
            <a:ext cx="3907862"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rebuchet MS" panose="020B0603020202020204"/>
                <a:ea typeface="+mn-ea"/>
                <a:cs typeface="+mn-cs"/>
              </a:rPr>
              <a:t>Truth Elastic Modes 1-4</a:t>
            </a:r>
          </a:p>
        </p:txBody>
      </p:sp>
      <p:pic>
        <p:nvPicPr>
          <p:cNvPr id="5" name="Picture 4">
            <a:extLst>
              <a:ext uri="{FF2B5EF4-FFF2-40B4-BE49-F238E27FC236}">
                <a16:creationId xmlns:a16="http://schemas.microsoft.com/office/drawing/2014/main" id="{FC87E454-746E-49BA-A359-2CE8AF7EA19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485194" y="1748346"/>
            <a:ext cx="2133600" cy="1600200"/>
          </a:xfrm>
          <a:prstGeom prst="rect">
            <a:avLst/>
          </a:prstGeom>
        </p:spPr>
      </p:pic>
      <p:pic>
        <p:nvPicPr>
          <p:cNvPr id="8" name="Picture 7">
            <a:extLst>
              <a:ext uri="{FF2B5EF4-FFF2-40B4-BE49-F238E27FC236}">
                <a16:creationId xmlns:a16="http://schemas.microsoft.com/office/drawing/2014/main" id="{E82A8556-ADD3-4BB3-BDB2-400592E7DFE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538895" y="1789685"/>
            <a:ext cx="2133600" cy="1600200"/>
          </a:xfrm>
          <a:prstGeom prst="rect">
            <a:avLst/>
          </a:prstGeom>
        </p:spPr>
      </p:pic>
      <p:pic>
        <p:nvPicPr>
          <p:cNvPr id="13" name="Picture 12">
            <a:extLst>
              <a:ext uri="{FF2B5EF4-FFF2-40B4-BE49-F238E27FC236}">
                <a16:creationId xmlns:a16="http://schemas.microsoft.com/office/drawing/2014/main" id="{65CF1EEA-EF3A-41DB-9702-75F9A56D96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589475" y="3717878"/>
            <a:ext cx="2133600" cy="1600200"/>
          </a:xfrm>
          <a:prstGeom prst="rect">
            <a:avLst/>
          </a:prstGeom>
        </p:spPr>
      </p:pic>
      <p:pic>
        <p:nvPicPr>
          <p:cNvPr id="15" name="Picture 14">
            <a:extLst>
              <a:ext uri="{FF2B5EF4-FFF2-40B4-BE49-F238E27FC236}">
                <a16:creationId xmlns:a16="http://schemas.microsoft.com/office/drawing/2014/main" id="{4472906B-AA07-4A1B-B160-7ED2EA4F9CE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618794" y="3624754"/>
            <a:ext cx="2133600" cy="1600200"/>
          </a:xfrm>
          <a:prstGeom prst="rect">
            <a:avLst/>
          </a:prstGeom>
        </p:spPr>
      </p:pic>
      <p:pic>
        <p:nvPicPr>
          <p:cNvPr id="20" name="Picture 19">
            <a:extLst>
              <a:ext uri="{FF2B5EF4-FFF2-40B4-BE49-F238E27FC236}">
                <a16:creationId xmlns:a16="http://schemas.microsoft.com/office/drawing/2014/main" id="{9A5D4CDE-E2A1-4FB9-AE51-A524ED3FBC24}"/>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6484" y="1789685"/>
            <a:ext cx="2133600" cy="1600200"/>
          </a:xfrm>
          <a:prstGeom prst="rect">
            <a:avLst/>
          </a:prstGeom>
        </p:spPr>
      </p:pic>
      <p:pic>
        <p:nvPicPr>
          <p:cNvPr id="24" name="Picture 23">
            <a:extLst>
              <a:ext uri="{FF2B5EF4-FFF2-40B4-BE49-F238E27FC236}">
                <a16:creationId xmlns:a16="http://schemas.microsoft.com/office/drawing/2014/main" id="{BC47D7AD-6B2A-425E-B948-40EBD744E077}"/>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438336" y="1748346"/>
            <a:ext cx="2133600" cy="1600200"/>
          </a:xfrm>
          <a:prstGeom prst="rect">
            <a:avLst/>
          </a:prstGeom>
        </p:spPr>
      </p:pic>
      <p:pic>
        <p:nvPicPr>
          <p:cNvPr id="26" name="Picture 25">
            <a:extLst>
              <a:ext uri="{FF2B5EF4-FFF2-40B4-BE49-F238E27FC236}">
                <a16:creationId xmlns:a16="http://schemas.microsoft.com/office/drawing/2014/main" id="{FABDEA17-CE35-492F-97BF-0B9C675C3721}"/>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366484" y="3496390"/>
            <a:ext cx="2133600" cy="1600200"/>
          </a:xfrm>
          <a:prstGeom prst="rect">
            <a:avLst/>
          </a:prstGeom>
        </p:spPr>
      </p:pic>
      <p:pic>
        <p:nvPicPr>
          <p:cNvPr id="28" name="Picture 27">
            <a:extLst>
              <a:ext uri="{FF2B5EF4-FFF2-40B4-BE49-F238E27FC236}">
                <a16:creationId xmlns:a16="http://schemas.microsoft.com/office/drawing/2014/main" id="{EE895D45-286A-4C67-9E0F-49EFCCDD20A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334702" y="3467828"/>
            <a:ext cx="2133600" cy="1600200"/>
          </a:xfrm>
          <a:prstGeom prst="rect">
            <a:avLst/>
          </a:prstGeom>
        </p:spPr>
      </p:pic>
    </p:spTree>
    <p:extLst>
      <p:ext uri="{BB962C8B-B14F-4D97-AF65-F5344CB8AC3E}">
        <p14:creationId xmlns:p14="http://schemas.microsoft.com/office/powerpoint/2010/main" val="2912498078"/>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8E0-C619-480F-8F24-D983B7503DEE}"/>
              </a:ext>
            </a:extLst>
          </p:cNvPr>
          <p:cNvSpPr>
            <a:spLocks noGrp="1"/>
          </p:cNvSpPr>
          <p:nvPr>
            <p:ph type="title"/>
          </p:nvPr>
        </p:nvSpPr>
        <p:spPr>
          <a:xfrm>
            <a:off x="105032" y="136525"/>
            <a:ext cx="11667868" cy="662781"/>
          </a:xfrm>
        </p:spPr>
        <p:txBody>
          <a:bodyPr>
            <a:normAutofit fontScale="90000"/>
          </a:bodyPr>
          <a:lstStyle/>
          <a:p>
            <a:r>
              <a:rPr lang="en-US" dirty="0"/>
              <a:t>Results from Tuning Modal Basis</a:t>
            </a:r>
          </a:p>
        </p:txBody>
      </p:sp>
      <p:sp>
        <p:nvSpPr>
          <p:cNvPr id="7" name="Content Placeholder 2">
            <a:extLst>
              <a:ext uri="{FF2B5EF4-FFF2-40B4-BE49-F238E27FC236}">
                <a16:creationId xmlns:a16="http://schemas.microsoft.com/office/drawing/2014/main" id="{D2E1D076-FD1B-4DE3-8009-8C706F69A5AA}"/>
              </a:ext>
            </a:extLst>
          </p:cNvPr>
          <p:cNvSpPr>
            <a:spLocks noGrp="1"/>
          </p:cNvSpPr>
          <p:nvPr>
            <p:ph idx="1"/>
          </p:nvPr>
        </p:nvSpPr>
        <p:spPr/>
        <p:txBody>
          <a:bodyPr>
            <a:normAutofit/>
          </a:bodyPr>
          <a:lstStyle/>
          <a:p>
            <a:pPr lvl="1"/>
            <a:r>
              <a:rPr lang="en-US" dirty="0"/>
              <a:t>Informed Prediction yields better results</a:t>
            </a:r>
          </a:p>
          <a:p>
            <a:pPr lvl="2"/>
            <a:r>
              <a:rPr lang="en-US" sz="1400" dirty="0"/>
              <a:t>Frame, Plate, Wing: 62 modes</a:t>
            </a:r>
          </a:p>
          <a:p>
            <a:pPr lvl="2"/>
            <a:r>
              <a:rPr lang="en-US" sz="1400" dirty="0"/>
              <a:t>Plate and Wing: 22 modes</a:t>
            </a:r>
          </a:p>
          <a:p>
            <a:pPr lvl="2"/>
            <a:r>
              <a:rPr lang="en-US" sz="1400" dirty="0"/>
              <a:t>Plate and Swept Wing: 26 modes</a:t>
            </a:r>
          </a:p>
        </p:txBody>
      </p:sp>
      <p:graphicFrame>
        <p:nvGraphicFramePr>
          <p:cNvPr id="3" name="Table 2">
            <a:extLst>
              <a:ext uri="{FF2B5EF4-FFF2-40B4-BE49-F238E27FC236}">
                <a16:creationId xmlns:a16="http://schemas.microsoft.com/office/drawing/2014/main" id="{A3AE2006-B14D-48BA-A339-2171ADF4B6F1}"/>
              </a:ext>
            </a:extLst>
          </p:cNvPr>
          <p:cNvGraphicFramePr>
            <a:graphicFrameLocks noGrp="1"/>
          </p:cNvGraphicFramePr>
          <p:nvPr/>
        </p:nvGraphicFramePr>
        <p:xfrm>
          <a:off x="6525730" y="794245"/>
          <a:ext cx="4734445" cy="5269507"/>
        </p:xfrm>
        <a:graphic>
          <a:graphicData uri="http://schemas.openxmlformats.org/drawingml/2006/table">
            <a:tbl>
              <a:tblPr>
                <a:tableStyleId>{5C22544A-7EE6-4342-B048-85BDC9FD1C3A}</a:tableStyleId>
              </a:tblPr>
              <a:tblGrid>
                <a:gridCol w="946889">
                  <a:extLst>
                    <a:ext uri="{9D8B030D-6E8A-4147-A177-3AD203B41FA5}">
                      <a16:colId xmlns:a16="http://schemas.microsoft.com/office/drawing/2014/main" val="2417845844"/>
                    </a:ext>
                  </a:extLst>
                </a:gridCol>
                <a:gridCol w="946889">
                  <a:extLst>
                    <a:ext uri="{9D8B030D-6E8A-4147-A177-3AD203B41FA5}">
                      <a16:colId xmlns:a16="http://schemas.microsoft.com/office/drawing/2014/main" val="3427333267"/>
                    </a:ext>
                  </a:extLst>
                </a:gridCol>
                <a:gridCol w="946889">
                  <a:extLst>
                    <a:ext uri="{9D8B030D-6E8A-4147-A177-3AD203B41FA5}">
                      <a16:colId xmlns:a16="http://schemas.microsoft.com/office/drawing/2014/main" val="3791606202"/>
                    </a:ext>
                  </a:extLst>
                </a:gridCol>
                <a:gridCol w="946889">
                  <a:extLst>
                    <a:ext uri="{9D8B030D-6E8A-4147-A177-3AD203B41FA5}">
                      <a16:colId xmlns:a16="http://schemas.microsoft.com/office/drawing/2014/main" val="3725955492"/>
                    </a:ext>
                  </a:extLst>
                </a:gridCol>
                <a:gridCol w="946889">
                  <a:extLst>
                    <a:ext uri="{9D8B030D-6E8A-4147-A177-3AD203B41FA5}">
                      <a16:colId xmlns:a16="http://schemas.microsoft.com/office/drawing/2014/main" val="4056340970"/>
                    </a:ext>
                  </a:extLst>
                </a:gridCol>
              </a:tblGrid>
              <a:tr h="669107">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Prediction Modal Index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Predicted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Truth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Error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algn="ctr" defTabSz="914354" rtl="0" eaLnBrk="1" fontAlgn="b" latinLnBrk="0" hangingPunct="1">
                        <a:spcBef>
                          <a:spcPts val="0"/>
                        </a:spcBef>
                        <a:spcAft>
                          <a:spcPts val="0"/>
                        </a:spcAft>
                      </a:pPr>
                      <a:r>
                        <a:rPr lang="en-US" sz="1400" b="1" kern="1200" dirty="0">
                          <a:solidFill>
                            <a:schemeClr val="bg1"/>
                          </a:solidFill>
                          <a:effectLst/>
                          <a:latin typeface="Calibri" panose="020F0502020204030204" pitchFamily="34" charset="0"/>
                          <a:cs typeface="Times New Roman" panose="02020603050405020304" pitchFamily="18" charset="0"/>
                        </a:rPr>
                        <a:t>MAC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389885184"/>
                  </a:ext>
                </a:extLst>
              </a:tr>
              <a:tr h="287525">
                <a:tc>
                  <a:txBody>
                    <a:bodyPr/>
                    <a:lstStyle/>
                    <a:p>
                      <a:pPr algn="ctr" fontAlgn="b"/>
                      <a:r>
                        <a:rPr lang="en-US" sz="12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50.93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49.33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7005800"/>
                  </a:ext>
                </a:extLst>
              </a:tr>
              <a:tr h="287525">
                <a:tc>
                  <a:txBody>
                    <a:bodyPr/>
                    <a:lstStyle/>
                    <a:p>
                      <a:pPr algn="ctr" fontAlgn="b"/>
                      <a:r>
                        <a:rPr lang="en-US" sz="1200" b="0" i="0" u="none" strike="noStrike" dirty="0">
                          <a:solidFill>
                            <a:srgbClr val="000000"/>
                          </a:solidFill>
                          <a:effectLst/>
                          <a:latin typeface="Calibri" panose="020F0502020204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67.62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8612061"/>
                  </a:ext>
                </a:extLst>
              </a:tr>
              <a:tr h="287525">
                <a:tc>
                  <a:txBody>
                    <a:bodyPr/>
                    <a:lstStyle/>
                    <a:p>
                      <a:pPr algn="ctr" fontAlgn="b"/>
                      <a:r>
                        <a:rPr lang="en-US" sz="1200" b="0" i="0" u="none" strike="noStrike" dirty="0">
                          <a:solidFill>
                            <a:srgbClr val="000000"/>
                          </a:solidFill>
                          <a:effectLst/>
                          <a:latin typeface="Calibri" panose="020F0502020204030204" pitchFamily="3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191.9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4712919"/>
                  </a:ext>
                </a:extLst>
              </a:tr>
              <a:tr h="287525">
                <a:tc>
                  <a:txBody>
                    <a:bodyPr/>
                    <a:lstStyle/>
                    <a:p>
                      <a:pPr algn="ctr" fontAlgn="b"/>
                      <a:r>
                        <a:rPr lang="en-US" sz="1200" b="0" i="0" u="none" strike="noStrike" dirty="0">
                          <a:solidFill>
                            <a:srgbClr val="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0235023"/>
                  </a:ext>
                </a:extLst>
              </a:tr>
              <a:tr h="287525">
                <a:tc>
                  <a:txBody>
                    <a:bodyPr/>
                    <a:lstStyle/>
                    <a:p>
                      <a:pPr algn="ctr" fontAlgn="b"/>
                      <a:r>
                        <a:rPr lang="en-US" sz="1200" b="0" i="0" u="none" strike="noStrike" dirty="0">
                          <a:solidFill>
                            <a:srgbClr val="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269.8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259.5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6218139"/>
                  </a:ext>
                </a:extLst>
              </a:tr>
              <a:tr h="287525">
                <a:tc>
                  <a:txBody>
                    <a:bodyPr/>
                    <a:lstStyle/>
                    <a:p>
                      <a:pPr algn="ctr" fontAlgn="b"/>
                      <a:r>
                        <a:rPr lang="en-US" sz="1200" b="0"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348.0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293.1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9078456"/>
                  </a:ext>
                </a:extLst>
              </a:tr>
              <a:tr h="287525">
                <a:tc>
                  <a:txBody>
                    <a:bodyPr/>
                    <a:lstStyle/>
                    <a:p>
                      <a:pPr algn="ctr" fontAlgn="b"/>
                      <a:r>
                        <a:rPr lang="en-US" sz="1200" b="0" i="0" u="none" strike="noStrike" dirty="0">
                          <a:solidFill>
                            <a:srgbClr val="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389.6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389.1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6205735"/>
                  </a:ext>
                </a:extLst>
              </a:tr>
              <a:tr h="287525">
                <a:tc>
                  <a:txBody>
                    <a:bodyPr/>
                    <a:lstStyle/>
                    <a:p>
                      <a:pPr algn="ctr" fontAlgn="b"/>
                      <a:r>
                        <a:rPr lang="en-US" sz="1200" b="0" i="0" u="none" strike="noStrike" dirty="0">
                          <a:solidFill>
                            <a:srgbClr val="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6458452"/>
                  </a:ext>
                </a:extLst>
              </a:tr>
              <a:tr h="287525">
                <a:tc>
                  <a:txBody>
                    <a:bodyPr/>
                    <a:lstStyle/>
                    <a:p>
                      <a:pPr algn="ctr" fontAlgn="b"/>
                      <a:r>
                        <a:rPr lang="en-US" sz="1200" b="0" i="0" u="none" strike="noStrike" dirty="0">
                          <a:solidFill>
                            <a:srgbClr val="000000"/>
                          </a:solidFill>
                          <a:effectLst/>
                          <a:latin typeface="Calibri" panose="020F0502020204030204" pitchFamily="34"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433.2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425.5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3856008"/>
                  </a:ext>
                </a:extLst>
              </a:tr>
              <a:tr h="287525">
                <a:tc>
                  <a:txBody>
                    <a:bodyPr/>
                    <a:lstStyle/>
                    <a:p>
                      <a:pPr algn="ctr" fontAlgn="b"/>
                      <a:r>
                        <a:rPr lang="en-US" sz="1200" b="0" i="0" u="none" strike="noStrike" dirty="0">
                          <a:solidFill>
                            <a:srgbClr val="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503.0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487.6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2880513"/>
                  </a:ext>
                </a:extLst>
              </a:tr>
              <a:tr h="287525">
                <a:tc>
                  <a:txBody>
                    <a:bodyPr/>
                    <a:lstStyle/>
                    <a:p>
                      <a:pPr algn="ctr" fontAlgn="b"/>
                      <a:r>
                        <a:rPr lang="en-US" sz="1200" b="0" i="0" u="none" strike="noStrike" dirty="0">
                          <a:solidFill>
                            <a:srgbClr val="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548.2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509.1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8094348"/>
                  </a:ext>
                </a:extLst>
              </a:tr>
              <a:tr h="287525">
                <a:tc>
                  <a:txBody>
                    <a:bodyPr/>
                    <a:lstStyle/>
                    <a:p>
                      <a:pPr algn="ctr" fontAlgn="b"/>
                      <a:r>
                        <a:rPr lang="en-US" sz="1200" b="0" i="0" u="none" strike="noStrike" dirty="0">
                          <a:solidFill>
                            <a:srgbClr val="000000"/>
                          </a:solidFill>
                          <a:effectLst/>
                          <a:latin typeface="Calibri" panose="020F0502020204030204" pitchFamily="34" charset="0"/>
                        </a:rPr>
                        <a:t>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639.5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4356163"/>
                  </a:ext>
                </a:extLst>
              </a:tr>
              <a:tr h="287525">
                <a:tc>
                  <a:txBody>
                    <a:bodyPr/>
                    <a:lstStyle/>
                    <a:p>
                      <a:pPr algn="ctr" fontAlgn="b"/>
                      <a:r>
                        <a:rPr lang="en-US" sz="1200" b="0" i="0" u="none" strike="noStrike" dirty="0">
                          <a:solidFill>
                            <a:srgbClr val="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704.5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0353576"/>
                  </a:ext>
                </a:extLst>
              </a:tr>
              <a:tr h="287525">
                <a:tc>
                  <a:txBody>
                    <a:bodyPr/>
                    <a:lstStyle/>
                    <a:p>
                      <a:pPr algn="ctr" fontAlgn="b"/>
                      <a:r>
                        <a:rPr lang="en-US" sz="1200" b="0" i="0" u="none" strike="noStrike" dirty="0">
                          <a:solidFill>
                            <a:srgbClr val="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738.6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669.7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6144032"/>
                  </a:ext>
                </a:extLst>
              </a:tr>
              <a:tr h="287525">
                <a:tc>
                  <a:txBody>
                    <a:bodyPr/>
                    <a:lstStyle/>
                    <a:p>
                      <a:pPr algn="ctr" fontAlgn="b"/>
                      <a:r>
                        <a:rPr lang="en-US" sz="1200" b="0" i="0" u="none" strike="noStrike" dirty="0">
                          <a:solidFill>
                            <a:srgbClr val="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820.8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856.2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a:solidFill>
                            <a:srgbClr val="000000"/>
                          </a:solidFill>
                          <a:effectLst/>
                          <a:latin typeface="Calibri" panose="020F0502020204030204" pitchFamily="34" charset="0"/>
                        </a:rPr>
                        <a:t>0.96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9992907"/>
                  </a:ext>
                </a:extLst>
              </a:tr>
              <a:tr h="287525">
                <a:tc>
                  <a:txBody>
                    <a:bodyPr/>
                    <a:lstStyle/>
                    <a:p>
                      <a:pPr algn="ctr" fontAlgn="b"/>
                      <a:r>
                        <a:rPr lang="en-US" sz="1200" b="0" i="0" u="none" strike="noStrike" dirty="0">
                          <a:solidFill>
                            <a:srgbClr val="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930.1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911.0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200" b="0" i="0" u="none" strike="noStrike">
                          <a:solidFill>
                            <a:srgbClr val="000000"/>
                          </a:solidFill>
                          <a:effectLst/>
                          <a:latin typeface="Calibri" panose="020F0502020204030204" pitchFamily="34" charset="0"/>
                        </a:rPr>
                        <a:t>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0" i="0" u="none" strike="noStrike" dirty="0">
                          <a:solidFill>
                            <a:srgbClr val="000000"/>
                          </a:solidFill>
                          <a:effectLst/>
                          <a:latin typeface="Calibri" panose="020F0502020204030204" pitchFamily="34" charset="0"/>
                        </a:rPr>
                        <a:t>0.39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8004347"/>
                  </a:ext>
                </a:extLst>
              </a:tr>
            </a:tbl>
          </a:graphicData>
        </a:graphic>
      </p:graphicFrame>
      <p:pic>
        <p:nvPicPr>
          <p:cNvPr id="5" name="Picture 4">
            <a:extLst>
              <a:ext uri="{FF2B5EF4-FFF2-40B4-BE49-F238E27FC236}">
                <a16:creationId xmlns:a16="http://schemas.microsoft.com/office/drawing/2014/main" id="{AF2C414F-1006-48B4-BA90-F4A628C29806}"/>
              </a:ext>
            </a:extLst>
          </p:cNvPr>
          <p:cNvPicPr>
            <a:picLocks noChangeAspect="1"/>
          </p:cNvPicPr>
          <p:nvPr/>
        </p:nvPicPr>
        <p:blipFill rotWithShape="1">
          <a:blip r:embed="rId3"/>
          <a:srcRect r="16568"/>
          <a:stretch/>
        </p:blipFill>
        <p:spPr>
          <a:xfrm>
            <a:off x="645231" y="2414336"/>
            <a:ext cx="5340300" cy="4114800"/>
          </a:xfrm>
          <a:prstGeom prst="rect">
            <a:avLst/>
          </a:prstGeom>
        </p:spPr>
      </p:pic>
    </p:spTree>
    <p:extLst>
      <p:ext uri="{BB962C8B-B14F-4D97-AF65-F5344CB8AC3E}">
        <p14:creationId xmlns:p14="http://schemas.microsoft.com/office/powerpoint/2010/main" val="2840044665"/>
      </p:ext>
    </p:extLst>
  </p:cSld>
  <p:clrMapOvr>
    <a:masterClrMapping/>
  </p:clrMapOvr>
  <mc:AlternateContent xmlns:mc="http://schemas.openxmlformats.org/markup-compatibility/2006" xmlns:p14="http://schemas.microsoft.com/office/powerpoint/2010/main">
    <mc:Choice Requires="p14">
      <p:transition spd="med" p14:dur="700" advTm="26692">
        <p:fade/>
      </p:transition>
    </mc:Choice>
    <mc:Fallback xmlns="">
      <p:transition spd="med" advTm="26692">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39835-F37B-5854-84DA-3D4E381D5D58}"/>
              </a:ext>
            </a:extLst>
          </p:cNvPr>
          <p:cNvSpPr>
            <a:spLocks noGrp="1"/>
          </p:cNvSpPr>
          <p:nvPr>
            <p:ph type="title"/>
          </p:nvPr>
        </p:nvSpPr>
        <p:spPr/>
        <p:txBody>
          <a:bodyPr>
            <a:normAutofit fontScale="90000"/>
          </a:bodyPr>
          <a:lstStyle/>
          <a:p>
            <a:r>
              <a:rPr lang="en-US" dirty="0"/>
              <a:t>Let’s take a break</a:t>
            </a:r>
          </a:p>
        </p:txBody>
      </p:sp>
    </p:spTree>
    <p:extLst>
      <p:ext uri="{BB962C8B-B14F-4D97-AF65-F5344CB8AC3E}">
        <p14:creationId xmlns:p14="http://schemas.microsoft.com/office/powerpoint/2010/main" val="2700158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1502</TotalTime>
  <Words>3817</Words>
  <Application>Microsoft Office PowerPoint</Application>
  <PresentationFormat>Widescreen</PresentationFormat>
  <Paragraphs>1053</Paragraphs>
  <Slides>33</Slides>
  <Notes>12</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Aptos</vt:lpstr>
      <vt:lpstr>Aptos Display</vt:lpstr>
      <vt:lpstr>Aptos Narrow</vt:lpstr>
      <vt:lpstr>Arial</vt:lpstr>
      <vt:lpstr>Calibri</vt:lpstr>
      <vt:lpstr>Cambria Math</vt:lpstr>
      <vt:lpstr>Times New Roman</vt:lpstr>
      <vt:lpstr>Trebuchet MS</vt:lpstr>
      <vt:lpstr>Office Theme</vt:lpstr>
      <vt:lpstr>Module 7: The Frame &amp; Wing Structure and Examples</vt:lpstr>
      <vt:lpstr>Background</vt:lpstr>
      <vt:lpstr>Round-Robin Challenge</vt:lpstr>
      <vt:lpstr>Experimental Substructure (Four-unit frame)</vt:lpstr>
      <vt:lpstr>What is the “truth” answer?</vt:lpstr>
      <vt:lpstr>Trial Run</vt:lpstr>
      <vt:lpstr>Trial Results</vt:lpstr>
      <vt:lpstr>Trial Results #2</vt:lpstr>
      <vt:lpstr>PowerPoint Presentation</vt:lpstr>
      <vt:lpstr>Substructuring Diagram</vt:lpstr>
      <vt:lpstr>Experimental Setup </vt:lpstr>
      <vt:lpstr>CSM Substructuring Theory – TSM</vt:lpstr>
      <vt:lpstr>CSM Substructuring Theory – TSM</vt:lpstr>
      <vt:lpstr>Choices for the Practitioner to Make</vt:lpstr>
      <vt:lpstr>Data &amp; Script Available → Lets Make Some Choices!</vt:lpstr>
      <vt:lpstr>Frame &amp; Wing Example Exercise</vt:lpstr>
      <vt:lpstr>Info On the Constraint Options</vt:lpstr>
      <vt:lpstr>Linear CMS Results #1</vt:lpstr>
      <vt:lpstr>Linear CMS Results #2</vt:lpstr>
      <vt:lpstr>Linear CMS Results #3</vt:lpstr>
      <vt:lpstr>Another Example from the Wiki  - Thin Wing to Swept Wing -</vt:lpstr>
      <vt:lpstr>Substructuring Diagram</vt:lpstr>
      <vt:lpstr>Swept Wing Model Generation</vt:lpstr>
      <vt:lpstr>Frame, Plate, and Thin-Wing Experiments</vt:lpstr>
      <vt:lpstr>Substructuring Theory</vt:lpstr>
      <vt:lpstr>Initial Substructuring Results</vt:lpstr>
      <vt:lpstr>Tricks and Checks 1: Rigid Check</vt:lpstr>
      <vt:lpstr>Tricks and Checks 2: Modal Space Check</vt:lpstr>
      <vt:lpstr>Updated Substructuring Results</vt:lpstr>
      <vt:lpstr>“Truth” Comparison</vt:lpstr>
      <vt:lpstr>Linear Results Shape Plots</vt:lpstr>
      <vt:lpstr>Results from Tuning Modal Basis</vt:lpstr>
      <vt:lpstr>Let’s take a break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Roettgen, Daniel Robert</dc:creator>
  <cp:lastModifiedBy>Dan Roettgen</cp:lastModifiedBy>
  <cp:revision>36</cp:revision>
  <dcterms:created xsi:type="dcterms:W3CDTF">2025-09-04T01:59:06Z</dcterms:created>
  <dcterms:modified xsi:type="dcterms:W3CDTF">2026-01-15T19:05:56Z</dcterms:modified>
</cp:coreProperties>
</file>