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wmv" ContentType="video/x-ms-wm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302" r:id="rId3"/>
    <p:sldId id="305" r:id="rId4"/>
    <p:sldId id="306" r:id="rId5"/>
    <p:sldId id="748" r:id="rId6"/>
    <p:sldId id="329" r:id="rId7"/>
    <p:sldId id="308" r:id="rId8"/>
    <p:sldId id="310" r:id="rId9"/>
    <p:sldId id="313" r:id="rId10"/>
    <p:sldId id="314" r:id="rId11"/>
    <p:sldId id="330" r:id="rId12"/>
    <p:sldId id="328" r:id="rId13"/>
    <p:sldId id="781" r:id="rId14"/>
    <p:sldId id="782" r:id="rId15"/>
    <p:sldId id="332" r:id="rId16"/>
    <p:sldId id="325" r:id="rId17"/>
    <p:sldId id="337" r:id="rId18"/>
    <p:sldId id="316" r:id="rId19"/>
    <p:sldId id="317" r:id="rId20"/>
    <p:sldId id="339" r:id="rId21"/>
    <p:sldId id="303" r:id="rId22"/>
    <p:sldId id="771" r:id="rId23"/>
    <p:sldId id="774" r:id="rId24"/>
    <p:sldId id="783" r:id="rId25"/>
    <p:sldId id="778" r:id="rId26"/>
    <p:sldId id="784" r:id="rId27"/>
    <p:sldId id="787" r:id="rId28"/>
    <p:sldId id="792" r:id="rId29"/>
    <p:sldId id="788" r:id="rId30"/>
    <p:sldId id="789" r:id="rId31"/>
    <p:sldId id="790" r:id="rId32"/>
    <p:sldId id="791" r:id="rId33"/>
    <p:sldId id="793" r:id="rId34"/>
    <p:sldId id="786" r:id="rId35"/>
    <p:sldId id="795" r:id="rId36"/>
    <p:sldId id="772" r:id="rId37"/>
    <p:sldId id="758" r:id="rId38"/>
    <p:sldId id="755" r:id="rId39"/>
    <p:sldId id="756" r:id="rId40"/>
    <p:sldId id="764" r:id="rId41"/>
    <p:sldId id="287" r:id="rId42"/>
    <p:sldId id="288" r:id="rId43"/>
    <p:sldId id="267"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67" autoAdjust="0"/>
    <p:restoredTop sz="96184" autoAdjust="0"/>
  </p:normalViewPr>
  <p:slideViewPr>
    <p:cSldViewPr snapToGrid="0">
      <p:cViewPr varScale="1">
        <p:scale>
          <a:sx n="87" d="100"/>
          <a:sy n="87" d="100"/>
        </p:scale>
        <p:origin x="389"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8B8A40-10D3-4093-9EA1-966D4E6ACDE8}" type="datetimeFigureOut">
              <a:rPr lang="en-US" smtClean="0"/>
              <a:t>1/14/2026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0B6FD7-1034-4CD4-AA5D-20CAB68B78BF}" type="slidenum">
              <a:rPr lang="en-US" smtClean="0"/>
              <a:t>‹#›</a:t>
            </a:fld>
            <a:endParaRPr lang="en-US"/>
          </a:p>
        </p:txBody>
      </p:sp>
    </p:spTree>
    <p:extLst>
      <p:ext uri="{BB962C8B-B14F-4D97-AF65-F5344CB8AC3E}">
        <p14:creationId xmlns:p14="http://schemas.microsoft.com/office/powerpoint/2010/main" val="4008060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a disclaimer that I personally am more familiar with experimental work for CMS, not FBS. There is a lot of overlap in what you have to keep in mind for both, but how I think of these things is going to be from a more CMS point of view. Steve and Andreas are more familiar with doing testing from the FBS side, so they can chime in if there are any question that I’m ill equipped to handle.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is probably unnecessary </a:t>
            </a:r>
          </a:p>
          <a:p>
            <a:endParaRPr lang="en-US" dirty="0"/>
          </a:p>
        </p:txBody>
      </p:sp>
      <p:sp>
        <p:nvSpPr>
          <p:cNvPr id="4" name="Slide Number Placeholder 3"/>
          <p:cNvSpPr>
            <a:spLocks noGrp="1"/>
          </p:cNvSpPr>
          <p:nvPr>
            <p:ph type="sldNum" sz="quarter" idx="5"/>
          </p:nvPr>
        </p:nvSpPr>
        <p:spPr/>
        <p:txBody>
          <a:bodyPr/>
          <a:lstStyle/>
          <a:p>
            <a:fld id="{A10B6FD7-1034-4CD4-AA5D-20CAB68B78BF}" type="slidenum">
              <a:rPr lang="en-US" smtClean="0"/>
              <a:t>2</a:t>
            </a:fld>
            <a:endParaRPr lang="en-US"/>
          </a:p>
        </p:txBody>
      </p:sp>
    </p:spTree>
    <p:extLst>
      <p:ext uri="{BB962C8B-B14F-4D97-AF65-F5344CB8AC3E}">
        <p14:creationId xmlns:p14="http://schemas.microsoft.com/office/powerpoint/2010/main" val="17341007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200" dirty="0"/>
              <a:t>A Few Things to Keep In Mind: </a:t>
            </a:r>
          </a:p>
          <a:p>
            <a:pPr algn="l"/>
            <a:r>
              <a:rPr lang="en-US" sz="1200" dirty="0"/>
              <a:t>Sensor Selection, Sensor Bookkeeping, Test Setup &amp; Post-Processing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These are important in regular modal testing, but especially so when characterizing a subsystem experimentally for substructuring</a:t>
            </a:r>
          </a:p>
        </p:txBody>
      </p:sp>
      <p:sp>
        <p:nvSpPr>
          <p:cNvPr id="4" name="Slide Number Placeholder 3"/>
          <p:cNvSpPr>
            <a:spLocks noGrp="1"/>
          </p:cNvSpPr>
          <p:nvPr>
            <p:ph type="sldNum" sz="quarter" idx="5"/>
          </p:nvPr>
        </p:nvSpPr>
        <p:spPr/>
        <p:txBody>
          <a:bodyPr/>
          <a:lstStyle/>
          <a:p>
            <a:fld id="{A10B6FD7-1034-4CD4-AA5D-20CAB68B78BF}" type="slidenum">
              <a:rPr lang="en-US" smtClean="0"/>
              <a:t>6</a:t>
            </a:fld>
            <a:endParaRPr lang="en-US"/>
          </a:p>
        </p:txBody>
      </p:sp>
    </p:spTree>
    <p:extLst>
      <p:ext uri="{BB962C8B-B14F-4D97-AF65-F5344CB8AC3E}">
        <p14:creationId xmlns:p14="http://schemas.microsoft.com/office/powerpoint/2010/main" val="2234157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Could alternatively use Sandia images of a test of something big, and that image we have of the small spring on a penny </a:t>
            </a:r>
          </a:p>
        </p:txBody>
      </p:sp>
      <p:sp>
        <p:nvSpPr>
          <p:cNvPr id="4" name="Slide Number Placeholder 3"/>
          <p:cNvSpPr>
            <a:spLocks noGrp="1"/>
          </p:cNvSpPr>
          <p:nvPr>
            <p:ph type="sldNum" sz="quarter" idx="5"/>
          </p:nvPr>
        </p:nvSpPr>
        <p:spPr/>
        <p:txBody>
          <a:bodyPr/>
          <a:lstStyle/>
          <a:p>
            <a:fld id="{A10B6FD7-1034-4CD4-AA5D-20CAB68B78BF}" type="slidenum">
              <a:rPr lang="en-US" smtClean="0"/>
              <a:t>7</a:t>
            </a:fld>
            <a:endParaRPr lang="en-US"/>
          </a:p>
        </p:txBody>
      </p:sp>
    </p:spTree>
    <p:extLst>
      <p:ext uri="{BB962C8B-B14F-4D97-AF65-F5344CB8AC3E}">
        <p14:creationId xmlns:p14="http://schemas.microsoft.com/office/powerpoint/2010/main" val="20306938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0B6FD7-1034-4CD4-AA5D-20CAB68B78BF}" type="slidenum">
              <a:rPr lang="en-US" smtClean="0"/>
              <a:t>9</a:t>
            </a:fld>
            <a:endParaRPr lang="en-US"/>
          </a:p>
        </p:txBody>
      </p:sp>
    </p:spTree>
    <p:extLst>
      <p:ext uri="{BB962C8B-B14F-4D97-AF65-F5344CB8AC3E}">
        <p14:creationId xmlns:p14="http://schemas.microsoft.com/office/powerpoint/2010/main" val="34793772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with a better plot</a:t>
            </a:r>
          </a:p>
        </p:txBody>
      </p:sp>
      <p:sp>
        <p:nvSpPr>
          <p:cNvPr id="4" name="Slide Number Placeholder 3"/>
          <p:cNvSpPr>
            <a:spLocks noGrp="1"/>
          </p:cNvSpPr>
          <p:nvPr>
            <p:ph type="sldNum" sz="quarter" idx="5"/>
          </p:nvPr>
        </p:nvSpPr>
        <p:spPr/>
        <p:txBody>
          <a:bodyPr/>
          <a:lstStyle/>
          <a:p>
            <a:fld id="{A10B6FD7-1034-4CD4-AA5D-20CAB68B78BF}" type="slidenum">
              <a:rPr lang="en-US" smtClean="0"/>
              <a:t>10</a:t>
            </a:fld>
            <a:endParaRPr lang="en-US"/>
          </a:p>
        </p:txBody>
      </p:sp>
    </p:spTree>
    <p:extLst>
      <p:ext uri="{BB962C8B-B14F-4D97-AF65-F5344CB8AC3E}">
        <p14:creationId xmlns:p14="http://schemas.microsoft.com/office/powerpoint/2010/main" val="2187924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FBS: effects mass lines. CMS: effects mass normalization of mode shapes.</a:t>
            </a:r>
          </a:p>
        </p:txBody>
      </p:sp>
      <p:sp>
        <p:nvSpPr>
          <p:cNvPr id="4" name="Slide Number Placeholder 3"/>
          <p:cNvSpPr>
            <a:spLocks noGrp="1"/>
          </p:cNvSpPr>
          <p:nvPr>
            <p:ph type="sldNum" sz="quarter" idx="5"/>
          </p:nvPr>
        </p:nvSpPr>
        <p:spPr/>
        <p:txBody>
          <a:bodyPr/>
          <a:lstStyle/>
          <a:p>
            <a:fld id="{A10B6FD7-1034-4CD4-AA5D-20CAB68B78BF}" type="slidenum">
              <a:rPr lang="en-US" smtClean="0"/>
              <a:t>12</a:t>
            </a:fld>
            <a:endParaRPr lang="en-US"/>
          </a:p>
        </p:txBody>
      </p:sp>
    </p:spTree>
    <p:extLst>
      <p:ext uri="{BB962C8B-B14F-4D97-AF65-F5344CB8AC3E}">
        <p14:creationId xmlns:p14="http://schemas.microsoft.com/office/powerpoint/2010/main" val="22407972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photos of hammer and shaker? </a:t>
            </a:r>
          </a:p>
        </p:txBody>
      </p:sp>
      <p:sp>
        <p:nvSpPr>
          <p:cNvPr id="4" name="Slide Number Placeholder 3"/>
          <p:cNvSpPr>
            <a:spLocks noGrp="1"/>
          </p:cNvSpPr>
          <p:nvPr>
            <p:ph type="sldNum" sz="quarter" idx="5"/>
          </p:nvPr>
        </p:nvSpPr>
        <p:spPr/>
        <p:txBody>
          <a:bodyPr/>
          <a:lstStyle/>
          <a:p>
            <a:fld id="{A10B6FD7-1034-4CD4-AA5D-20CAB68B78BF}" type="slidenum">
              <a:rPr lang="en-US" smtClean="0"/>
              <a:t>13</a:t>
            </a:fld>
            <a:endParaRPr lang="en-US"/>
          </a:p>
        </p:txBody>
      </p:sp>
    </p:spTree>
    <p:extLst>
      <p:ext uri="{BB962C8B-B14F-4D97-AF65-F5344CB8AC3E}">
        <p14:creationId xmlns:p14="http://schemas.microsoft.com/office/powerpoint/2010/main" val="16026366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photos of hammer and shaker? </a:t>
            </a:r>
          </a:p>
        </p:txBody>
      </p:sp>
      <p:sp>
        <p:nvSpPr>
          <p:cNvPr id="4" name="Slide Number Placeholder 3"/>
          <p:cNvSpPr>
            <a:spLocks noGrp="1"/>
          </p:cNvSpPr>
          <p:nvPr>
            <p:ph type="sldNum" sz="quarter" idx="5"/>
          </p:nvPr>
        </p:nvSpPr>
        <p:spPr/>
        <p:txBody>
          <a:bodyPr/>
          <a:lstStyle/>
          <a:p>
            <a:fld id="{A10B6FD7-1034-4CD4-AA5D-20CAB68B78BF}" type="slidenum">
              <a:rPr lang="en-US" smtClean="0"/>
              <a:t>14</a:t>
            </a:fld>
            <a:endParaRPr lang="en-US"/>
          </a:p>
        </p:txBody>
      </p:sp>
    </p:spTree>
    <p:extLst>
      <p:ext uri="{BB962C8B-B14F-4D97-AF65-F5344CB8AC3E}">
        <p14:creationId xmlns:p14="http://schemas.microsoft.com/office/powerpoint/2010/main" val="19133680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0B6FD7-1034-4CD4-AA5D-20CAB68B78BF}" type="slidenum">
              <a:rPr lang="en-US" smtClean="0"/>
              <a:t>16</a:t>
            </a:fld>
            <a:endParaRPr lang="en-US"/>
          </a:p>
        </p:txBody>
      </p:sp>
    </p:spTree>
    <p:extLst>
      <p:ext uri="{BB962C8B-B14F-4D97-AF65-F5344CB8AC3E}">
        <p14:creationId xmlns:p14="http://schemas.microsoft.com/office/powerpoint/2010/main" val="15264367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noise vs clean FRFs, Steve examples page 50-60</a:t>
            </a:r>
          </a:p>
          <a:p>
            <a:endParaRPr lang="en-US" dirty="0"/>
          </a:p>
        </p:txBody>
      </p:sp>
      <p:sp>
        <p:nvSpPr>
          <p:cNvPr id="4" name="Slide Number Placeholder 3"/>
          <p:cNvSpPr>
            <a:spLocks noGrp="1"/>
          </p:cNvSpPr>
          <p:nvPr>
            <p:ph type="sldNum" sz="quarter" idx="5"/>
          </p:nvPr>
        </p:nvSpPr>
        <p:spPr/>
        <p:txBody>
          <a:bodyPr/>
          <a:lstStyle/>
          <a:p>
            <a:fld id="{A10B6FD7-1034-4CD4-AA5D-20CAB68B78BF}" type="slidenum">
              <a:rPr lang="en-US" smtClean="0"/>
              <a:t>17</a:t>
            </a:fld>
            <a:endParaRPr lang="en-US"/>
          </a:p>
        </p:txBody>
      </p:sp>
    </p:spTree>
    <p:extLst>
      <p:ext uri="{BB962C8B-B14F-4D97-AF65-F5344CB8AC3E}">
        <p14:creationId xmlns:p14="http://schemas.microsoft.com/office/powerpoint/2010/main" val="3415155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0B6FD7-1034-4CD4-AA5D-20CAB68B78BF}" type="slidenum">
              <a:rPr lang="en-US" smtClean="0"/>
              <a:t>18</a:t>
            </a:fld>
            <a:endParaRPr lang="en-US"/>
          </a:p>
        </p:txBody>
      </p:sp>
    </p:spTree>
    <p:extLst>
      <p:ext uri="{BB962C8B-B14F-4D97-AF65-F5344CB8AC3E}">
        <p14:creationId xmlns:p14="http://schemas.microsoft.com/office/powerpoint/2010/main" val="82372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Some approaches include calculating a pseudoinverse of mode shapes at the connection points, so constraint shapes must be independent at those DOF.</a:t>
            </a:r>
          </a:p>
          <a:p>
            <a:endParaRPr lang="en-US" dirty="0"/>
          </a:p>
        </p:txBody>
      </p:sp>
      <p:sp>
        <p:nvSpPr>
          <p:cNvPr id="4" name="Slide Number Placeholder 3"/>
          <p:cNvSpPr>
            <a:spLocks noGrp="1"/>
          </p:cNvSpPr>
          <p:nvPr>
            <p:ph type="sldNum" sz="quarter" idx="5"/>
          </p:nvPr>
        </p:nvSpPr>
        <p:spPr/>
        <p:txBody>
          <a:bodyPr/>
          <a:lstStyle/>
          <a:p>
            <a:fld id="{A10B6FD7-1034-4CD4-AA5D-20CAB68B78BF}" type="slidenum">
              <a:rPr lang="en-US" smtClean="0"/>
              <a:t>19</a:t>
            </a:fld>
            <a:endParaRPr lang="en-US"/>
          </a:p>
        </p:txBody>
      </p:sp>
    </p:spTree>
    <p:extLst>
      <p:ext uri="{BB962C8B-B14F-4D97-AF65-F5344CB8AC3E}">
        <p14:creationId xmlns:p14="http://schemas.microsoft.com/office/powerpoint/2010/main" val="19480124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fixed interface modes (</a:t>
            </a:r>
            <a:r>
              <a:rPr lang="en-US" dirty="0" err="1"/>
              <a:t>Hurty</a:t>
            </a:r>
            <a:r>
              <a:rPr lang="en-US" dirty="0"/>
              <a:t>/Craig-Bampton) and free interface modes (McNeal-Rubin) ? Craig-Chang, Craig-Mayes,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Can we mass-load the interfaces to improve the modal basis?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A10B6FD7-1034-4CD4-AA5D-20CAB68B78BF}" type="slidenum">
              <a:rPr lang="en-US" smtClean="0"/>
              <a:t>20</a:t>
            </a:fld>
            <a:endParaRPr lang="en-US"/>
          </a:p>
        </p:txBody>
      </p:sp>
    </p:spTree>
    <p:extLst>
      <p:ext uri="{BB962C8B-B14F-4D97-AF65-F5344CB8AC3E}">
        <p14:creationId xmlns:p14="http://schemas.microsoft.com/office/powerpoint/2010/main" val="37655362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0B6FD7-1034-4CD4-AA5D-20CAB68B78BF}" type="slidenum">
              <a:rPr lang="en-US" smtClean="0"/>
              <a:t>23</a:t>
            </a:fld>
            <a:endParaRPr lang="en-US"/>
          </a:p>
        </p:txBody>
      </p:sp>
    </p:spTree>
    <p:extLst>
      <p:ext uri="{BB962C8B-B14F-4D97-AF65-F5344CB8AC3E}">
        <p14:creationId xmlns:p14="http://schemas.microsoft.com/office/powerpoint/2010/main" val="33561773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0B6FD7-1034-4CD4-AA5D-20CAB68B78BF}" type="slidenum">
              <a:rPr lang="en-US" smtClean="0"/>
              <a:t>24</a:t>
            </a:fld>
            <a:endParaRPr lang="en-US"/>
          </a:p>
        </p:txBody>
      </p:sp>
    </p:spTree>
    <p:extLst>
      <p:ext uri="{BB962C8B-B14F-4D97-AF65-F5344CB8AC3E}">
        <p14:creationId xmlns:p14="http://schemas.microsoft.com/office/powerpoint/2010/main" val="8462859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0B6FD7-1034-4CD4-AA5D-20CAB68B78BF}" type="slidenum">
              <a:rPr lang="en-US" smtClean="0"/>
              <a:t>25</a:t>
            </a:fld>
            <a:endParaRPr lang="en-US"/>
          </a:p>
        </p:txBody>
      </p:sp>
    </p:spTree>
    <p:extLst>
      <p:ext uri="{BB962C8B-B14F-4D97-AF65-F5344CB8AC3E}">
        <p14:creationId xmlns:p14="http://schemas.microsoft.com/office/powerpoint/2010/main" val="21902659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Beams are aluminum with 2cm width and height and are 1m long in full. Here the split is at 65%, so A is 65cm and B is 35cm. The TS is steel and is 3 elements long and is x15 in both dimensions, so 30cm width and height while being 3cm long. So the dimensions are a bit silly, but at least its with physically reasonable material properties. </a:t>
            </a:r>
          </a:p>
        </p:txBody>
      </p:sp>
      <p:sp>
        <p:nvSpPr>
          <p:cNvPr id="4" name="Slide Number Placeholder 3"/>
          <p:cNvSpPr>
            <a:spLocks noGrp="1"/>
          </p:cNvSpPr>
          <p:nvPr>
            <p:ph type="sldNum" sz="quarter" idx="5"/>
          </p:nvPr>
        </p:nvSpPr>
        <p:spPr/>
        <p:txBody>
          <a:bodyPr/>
          <a:lstStyle/>
          <a:p>
            <a:fld id="{A10B6FD7-1034-4CD4-AA5D-20CAB68B78BF}" type="slidenum">
              <a:rPr lang="en-US" smtClean="0"/>
              <a:t>26</a:t>
            </a:fld>
            <a:endParaRPr lang="en-US"/>
          </a:p>
        </p:txBody>
      </p:sp>
    </p:spTree>
    <p:extLst>
      <p:ext uri="{BB962C8B-B14F-4D97-AF65-F5344CB8AC3E}">
        <p14:creationId xmlns:p14="http://schemas.microsoft.com/office/powerpoint/2010/main" val="33025509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fixture might just be a chopped off version of the other substructure which precisely mimics the mass and stiffness near the connection interface. </a:t>
            </a:r>
          </a:p>
          <a:p>
            <a:endParaRPr lang="en-US" dirty="0"/>
          </a:p>
        </p:txBody>
      </p:sp>
      <p:sp>
        <p:nvSpPr>
          <p:cNvPr id="4" name="Slide Number Placeholder 3"/>
          <p:cNvSpPr>
            <a:spLocks noGrp="1"/>
          </p:cNvSpPr>
          <p:nvPr>
            <p:ph type="sldNum" sz="quarter" idx="5"/>
          </p:nvPr>
        </p:nvSpPr>
        <p:spPr/>
        <p:txBody>
          <a:bodyPr/>
          <a:lstStyle/>
          <a:p>
            <a:fld id="{A10B6FD7-1034-4CD4-AA5D-20CAB68B78BF}" type="slidenum">
              <a:rPr lang="en-US" smtClean="0"/>
              <a:t>40</a:t>
            </a:fld>
            <a:endParaRPr lang="en-US"/>
          </a:p>
        </p:txBody>
      </p:sp>
    </p:spTree>
    <p:extLst>
      <p:ext uri="{BB962C8B-B14F-4D97-AF65-F5344CB8AC3E}">
        <p14:creationId xmlns:p14="http://schemas.microsoft.com/office/powerpoint/2010/main" val="329321740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odule Title">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DBEEFF38-9219-3402-6C1E-B326B8FB361A}"/>
              </a:ext>
            </a:extLst>
          </p:cNvPr>
          <p:cNvSpPr>
            <a:spLocks noGrp="1"/>
          </p:cNvSpPr>
          <p:nvPr>
            <p:ph type="dt" sz="half" idx="10"/>
          </p:nvPr>
        </p:nvSpPr>
        <p:spPr>
          <a:xfrm>
            <a:off x="105032" y="6356350"/>
            <a:ext cx="2743200" cy="365125"/>
          </a:xfrm>
          <a:prstGeom prst="rect">
            <a:avLst/>
          </a:prstGeom>
        </p:spPr>
        <p:txBody>
          <a:bodyPr/>
          <a:lstStyle>
            <a:lvl1pPr>
              <a:defRPr>
                <a:solidFill>
                  <a:schemeClr val="bg1"/>
                </a:solidFill>
              </a:defRPr>
            </a:lvl1pPr>
          </a:lstStyle>
          <a:p>
            <a:fld id="{32B7F7EA-D5FA-48A9-A388-858D3B14DD11}" type="datetimeFigureOut">
              <a:rPr lang="en-US" smtClean="0"/>
              <a:pPr/>
              <a:t>1/14/2026</a:t>
            </a:fld>
            <a:endParaRPr lang="en-US"/>
          </a:p>
        </p:txBody>
      </p:sp>
      <p:pic>
        <p:nvPicPr>
          <p:cNvPr id="1026" name="Picture 2" descr="lnu_wordmark_symbol_eng_rgb">
            <a:extLst>
              <a:ext uri="{FF2B5EF4-FFF2-40B4-BE49-F238E27FC236}">
                <a16:creationId xmlns:a16="http://schemas.microsoft.com/office/drawing/2014/main" id="{C8BBA26D-0448-C98D-A6E4-7D55251344C0}"/>
              </a:ext>
            </a:extLst>
          </p:cNvPr>
          <p:cNvPicPr>
            <a:picLocks noChangeAspect="1" noChangeArrowheads="1"/>
          </p:cNvPicPr>
          <p:nvPr userDrawn="1"/>
        </p:nvPicPr>
        <p:blipFill>
          <a:blip r:embed="rId3">
            <a:duotone>
              <a:prstClr val="black"/>
              <a:schemeClr val="bg1">
                <a:tint val="45000"/>
                <a:satMod val="400000"/>
              </a:schemeClr>
            </a:duotone>
            <a:extLst>
              <a:ext uri="{28A0092B-C50C-407E-A947-70E740481C1C}">
                <a14:useLocalDpi xmlns:a14="http://schemas.microsoft.com/office/drawing/2010/main" val="0"/>
              </a:ext>
            </a:extLst>
          </a:blip>
          <a:srcRect/>
          <a:stretch>
            <a:fillRect/>
          </a:stretch>
        </p:blipFill>
        <p:spPr bwMode="auto">
          <a:xfrm>
            <a:off x="7482361" y="5087024"/>
            <a:ext cx="4303240" cy="69759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1682C91-27D9-7A04-4E8D-33817B2D740C}"/>
              </a:ext>
            </a:extLst>
          </p:cNvPr>
          <p:cNvSpPr>
            <a:spLocks noGrp="1"/>
          </p:cNvSpPr>
          <p:nvPr>
            <p:ph type="ctrTitle" hasCustomPrompt="1"/>
          </p:nvPr>
        </p:nvSpPr>
        <p:spPr>
          <a:xfrm>
            <a:off x="213086" y="537502"/>
            <a:ext cx="6847472" cy="1976513"/>
          </a:xfrm>
          <a:prstGeom prst="rect">
            <a:avLst/>
          </a:prstGeom>
        </p:spPr>
        <p:txBody>
          <a:bodyPr anchor="b"/>
          <a:lstStyle>
            <a:lvl1pPr algn="l">
              <a:defRPr sz="6000">
                <a:solidFill>
                  <a:schemeClr val="bg1"/>
                </a:solidFill>
              </a:defRPr>
            </a:lvl1pPr>
          </a:lstStyle>
          <a:p>
            <a:r>
              <a:rPr lang="en-US" dirty="0"/>
              <a:t>Module #: Title</a:t>
            </a:r>
          </a:p>
        </p:txBody>
      </p:sp>
      <p:sp>
        <p:nvSpPr>
          <p:cNvPr id="16" name="TextBox 15">
            <a:extLst>
              <a:ext uri="{FF2B5EF4-FFF2-40B4-BE49-F238E27FC236}">
                <a16:creationId xmlns:a16="http://schemas.microsoft.com/office/drawing/2014/main" id="{84DD5900-7FFF-4234-2E19-03956DD10669}"/>
              </a:ext>
            </a:extLst>
          </p:cNvPr>
          <p:cNvSpPr txBox="1"/>
          <p:nvPr userDrawn="1"/>
        </p:nvSpPr>
        <p:spPr>
          <a:xfrm>
            <a:off x="213085" y="2570480"/>
            <a:ext cx="6695715" cy="3139321"/>
          </a:xfrm>
          <a:prstGeom prst="rect">
            <a:avLst/>
          </a:prstGeom>
          <a:noFill/>
        </p:spPr>
        <p:txBody>
          <a:bodyPr wrap="square" rtlCol="0">
            <a:spAutoFit/>
          </a:bodyPr>
          <a:lstStyle/>
          <a:p>
            <a:endParaRPr lang="en-US" dirty="0">
              <a:solidFill>
                <a:schemeClr val="bg1"/>
              </a:solidFill>
            </a:endParaRPr>
          </a:p>
          <a:p>
            <a:r>
              <a:rPr lang="en-US" b="1" dirty="0">
                <a:solidFill>
                  <a:schemeClr val="bg1"/>
                </a:solidFill>
              </a:rPr>
              <a:t>Andreas Linderholt</a:t>
            </a:r>
          </a:p>
          <a:p>
            <a:r>
              <a:rPr lang="en-US" b="0" i="1" dirty="0">
                <a:solidFill>
                  <a:schemeClr val="bg1"/>
                </a:solidFill>
              </a:rPr>
              <a:t>Linnaeus University </a:t>
            </a:r>
          </a:p>
          <a:p>
            <a:r>
              <a:rPr lang="en-US" b="0" i="1" dirty="0">
                <a:solidFill>
                  <a:schemeClr val="bg1"/>
                </a:solidFill>
              </a:rPr>
              <a:t>Department of Mechanical Engineering</a:t>
            </a:r>
          </a:p>
          <a:p>
            <a:endParaRPr lang="en-US" b="1"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bg1"/>
                </a:solidFill>
              </a:rPr>
              <a:t>Steven Carter</a:t>
            </a:r>
          </a:p>
          <a:p>
            <a:r>
              <a:rPr lang="en-US" b="1" dirty="0">
                <a:solidFill>
                  <a:schemeClr val="bg1"/>
                </a:solidFill>
              </a:rPr>
              <a:t>Benjamin Moldenhauer</a:t>
            </a:r>
          </a:p>
          <a:p>
            <a:r>
              <a:rPr lang="en-US" b="1" dirty="0">
                <a:solidFill>
                  <a:schemeClr val="bg1"/>
                </a:solidFill>
              </a:rPr>
              <a:t>Daniel Roettgen</a:t>
            </a:r>
          </a:p>
          <a:p>
            <a:r>
              <a:rPr lang="en-US" b="0" i="1" dirty="0">
                <a:solidFill>
                  <a:schemeClr val="bg1"/>
                </a:solidFill>
              </a:rPr>
              <a:t>Sandia National Laboratories</a:t>
            </a:r>
          </a:p>
          <a:p>
            <a:r>
              <a:rPr lang="en-US" b="0" i="1" dirty="0">
                <a:solidFill>
                  <a:schemeClr val="bg1"/>
                </a:solidFill>
              </a:rPr>
              <a:t>Experimental Structural Dynamics</a:t>
            </a:r>
          </a:p>
          <a:p>
            <a:endParaRPr lang="en-US" dirty="0"/>
          </a:p>
        </p:txBody>
      </p:sp>
      <p:sp>
        <p:nvSpPr>
          <p:cNvPr id="17" name="Picture Placeholder 8">
            <a:extLst>
              <a:ext uri="{FF2B5EF4-FFF2-40B4-BE49-F238E27FC236}">
                <a16:creationId xmlns:a16="http://schemas.microsoft.com/office/drawing/2014/main" id="{55A49339-AFD2-293D-5083-71E4E4D94B10}"/>
              </a:ext>
            </a:extLst>
          </p:cNvPr>
          <p:cNvSpPr>
            <a:spLocks noGrp="1"/>
          </p:cNvSpPr>
          <p:nvPr>
            <p:ph type="pic" sz="quarter" idx="13" hasCustomPrompt="1"/>
          </p:nvPr>
        </p:nvSpPr>
        <p:spPr>
          <a:xfrm>
            <a:off x="9522779" y="297608"/>
            <a:ext cx="2262822" cy="1463992"/>
          </a:xfrm>
          <a:prstGeom prst="rect">
            <a:avLst/>
          </a:prstGeom>
          <a:ln w="19050">
            <a:noFill/>
          </a:ln>
        </p:spPr>
        <p:txBody>
          <a:bodyPr/>
          <a:lstStyle>
            <a:lvl1pPr marL="0" indent="0">
              <a:buNone/>
              <a:defRPr/>
            </a:lvl1pPr>
          </a:lstStyle>
          <a:p>
            <a:r>
              <a:rPr lang="en-US" dirty="0"/>
              <a:t>Picture</a:t>
            </a:r>
          </a:p>
        </p:txBody>
      </p:sp>
      <p:sp>
        <p:nvSpPr>
          <p:cNvPr id="18" name="Picture Placeholder 8">
            <a:extLst>
              <a:ext uri="{FF2B5EF4-FFF2-40B4-BE49-F238E27FC236}">
                <a16:creationId xmlns:a16="http://schemas.microsoft.com/office/drawing/2014/main" id="{58CEA6CC-F9AC-D943-BDC1-48802068B7AC}"/>
              </a:ext>
            </a:extLst>
          </p:cNvPr>
          <p:cNvSpPr>
            <a:spLocks noGrp="1"/>
          </p:cNvSpPr>
          <p:nvPr>
            <p:ph type="pic" sz="quarter" idx="14" hasCustomPrompt="1"/>
          </p:nvPr>
        </p:nvSpPr>
        <p:spPr>
          <a:xfrm>
            <a:off x="9522779" y="1838484"/>
            <a:ext cx="2262822" cy="1463992"/>
          </a:xfrm>
          <a:prstGeom prst="rect">
            <a:avLst/>
          </a:prstGeom>
          <a:ln w="19050">
            <a:noFill/>
          </a:ln>
        </p:spPr>
        <p:txBody>
          <a:bodyPr/>
          <a:lstStyle>
            <a:lvl1pPr marL="0" indent="0">
              <a:buNone/>
              <a:defRPr/>
            </a:lvl1pPr>
          </a:lstStyle>
          <a:p>
            <a:r>
              <a:rPr lang="en-US" dirty="0"/>
              <a:t>Picture</a:t>
            </a:r>
          </a:p>
        </p:txBody>
      </p:sp>
      <p:pic>
        <p:nvPicPr>
          <p:cNvPr id="23" name="Picture 22">
            <a:extLst>
              <a:ext uri="{FF2B5EF4-FFF2-40B4-BE49-F238E27FC236}">
                <a16:creationId xmlns:a16="http://schemas.microsoft.com/office/drawing/2014/main" id="{4EAA5A42-DD64-4CDB-4EF6-E5FD7223D67D}"/>
              </a:ext>
            </a:extLst>
          </p:cNvPr>
          <p:cNvPicPr>
            <a:picLocks noChangeAspect="1"/>
          </p:cNvPicPr>
          <p:nvPr userDrawn="1"/>
        </p:nvPicPr>
        <p:blipFill>
          <a:blip r:embed="rId4">
            <a:extLst>
              <a:ext uri="{28A0092B-C50C-407E-A947-70E740481C1C}">
                <a14:useLocalDpi xmlns:a14="http://schemas.microsoft.com/office/drawing/2010/main" val="0"/>
              </a:ext>
            </a:extLst>
          </a:blip>
          <a:srcRect t="18740" b="18728"/>
          <a:stretch/>
        </p:blipFill>
        <p:spPr>
          <a:xfrm>
            <a:off x="5704659" y="5766266"/>
            <a:ext cx="6487341" cy="1091734"/>
          </a:xfrm>
          <a:prstGeom prst="rect">
            <a:avLst/>
          </a:prstGeom>
        </p:spPr>
      </p:pic>
      <p:pic>
        <p:nvPicPr>
          <p:cNvPr id="24" name="Picture 23">
            <a:extLst>
              <a:ext uri="{FF2B5EF4-FFF2-40B4-BE49-F238E27FC236}">
                <a16:creationId xmlns:a16="http://schemas.microsoft.com/office/drawing/2014/main" id="{0640B613-3A6D-056E-0592-B710A66DBB4A}"/>
              </a:ext>
            </a:extLst>
          </p:cNvPr>
          <p:cNvPicPr>
            <a:picLocks noChangeAspect="1"/>
          </p:cNvPicPr>
          <p:nvPr userDrawn="1"/>
        </p:nvPicPr>
        <p:blipFill>
          <a:blip r:embed="rId5">
            <a:clrChange>
              <a:clrFrom>
                <a:srgbClr val="FFFFFF"/>
              </a:clrFrom>
              <a:clrTo>
                <a:srgbClr val="FFFFFF">
                  <a:alpha val="0"/>
                </a:srgbClr>
              </a:clrTo>
            </a:clrChange>
          </a:blip>
          <a:stretch>
            <a:fillRect/>
          </a:stretch>
        </p:blipFill>
        <p:spPr>
          <a:xfrm>
            <a:off x="8390065" y="3358941"/>
            <a:ext cx="3151696" cy="1775351"/>
          </a:xfrm>
          <a:prstGeom prst="rect">
            <a:avLst/>
          </a:prstGeom>
        </p:spPr>
      </p:pic>
      <p:sp>
        <p:nvSpPr>
          <p:cNvPr id="26" name="TextBox 25">
            <a:extLst>
              <a:ext uri="{FF2B5EF4-FFF2-40B4-BE49-F238E27FC236}">
                <a16:creationId xmlns:a16="http://schemas.microsoft.com/office/drawing/2014/main" id="{E0AED2AD-3489-102B-FD4A-EF0FD9432851}"/>
              </a:ext>
            </a:extLst>
          </p:cNvPr>
          <p:cNvSpPr txBox="1"/>
          <p:nvPr userDrawn="1"/>
        </p:nvSpPr>
        <p:spPr>
          <a:xfrm>
            <a:off x="324845" y="5393103"/>
            <a:ext cx="4051642" cy="391517"/>
          </a:xfrm>
          <a:prstGeom prst="rect">
            <a:avLst/>
          </a:prstGeom>
          <a:noFill/>
        </p:spPr>
        <p:txBody>
          <a:bodyPr wrap="square" lIns="0" tIns="0" rIns="0" bIns="0" rtlCol="0">
            <a:noAutofit/>
          </a:bodyPr>
          <a:lstStyle/>
          <a:p>
            <a:pPr algn="l">
              <a:lnSpc>
                <a:spcPct val="110000"/>
              </a:lnSpc>
            </a:pPr>
            <a:r>
              <a:rPr lang="en-US" sz="800" b="0" i="0" u="none" strike="noStrike" dirty="0">
                <a:solidFill>
                  <a:schemeClr val="bg1"/>
                </a:solidFill>
                <a:effectLst/>
                <a:latin typeface="+mn-lt"/>
              </a:rPr>
              <a:t>Sandia National Laboratories is a </a:t>
            </a:r>
            <a:r>
              <a:rPr lang="en-US" sz="800" b="0" i="0" u="none" strike="noStrike" dirty="0" err="1">
                <a:solidFill>
                  <a:schemeClr val="bg1"/>
                </a:solidFill>
                <a:effectLst/>
                <a:latin typeface="+mn-lt"/>
              </a:rPr>
              <a:t>multimission</a:t>
            </a:r>
            <a:r>
              <a:rPr lang="en-US" sz="800" b="0" i="0" u="none" strike="noStrike" dirty="0">
                <a:solidFill>
                  <a:schemeClr val="bg1"/>
                </a:solidFill>
                <a:effectLst/>
                <a:latin typeface="+mn-lt"/>
              </a:rPr>
              <a:t> laboratory managed and operated by National Technology and Engineering Solutions of Sandia, LLC, a wholly owned subsidiary of Honeywell International Inc., for the U.S. Department of Energy’s National Nuclear Security Administration under contract DE-NA0003525</a:t>
            </a:r>
            <a:endParaRPr lang="en-US" sz="800" b="0" i="0" dirty="0">
              <a:solidFill>
                <a:schemeClr val="bg1"/>
              </a:solidFill>
              <a:latin typeface="+mn-lt"/>
            </a:endParaRPr>
          </a:p>
        </p:txBody>
      </p:sp>
    </p:spTree>
    <p:extLst>
      <p:ext uri="{BB962C8B-B14F-4D97-AF65-F5344CB8AC3E}">
        <p14:creationId xmlns:p14="http://schemas.microsoft.com/office/powerpoint/2010/main" val="19821042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Slide">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AEC8612-5184-DD49-1D2B-3D06982D3835}"/>
              </a:ext>
            </a:extLst>
          </p:cNvPr>
          <p:cNvPicPr>
            <a:picLocks noChangeAspect="1"/>
          </p:cNvPicPr>
          <p:nvPr userDrawn="1"/>
        </p:nvPicPr>
        <p:blipFill>
          <a:blip r:embed="rId2">
            <a:clrChange>
              <a:clrFrom>
                <a:srgbClr val="FFFFFF"/>
              </a:clrFrom>
              <a:clrTo>
                <a:srgbClr val="FFFFFF">
                  <a:alpha val="0"/>
                </a:srgbClr>
              </a:clrTo>
            </a:clrChange>
          </a:blip>
          <a:srcRect l="67440"/>
          <a:stretch/>
        </p:blipFill>
        <p:spPr>
          <a:xfrm>
            <a:off x="11385383" y="5620835"/>
            <a:ext cx="869482" cy="1504260"/>
          </a:xfrm>
          <a:prstGeom prst="rect">
            <a:avLst/>
          </a:prstGeom>
        </p:spPr>
      </p:pic>
      <p:sp>
        <p:nvSpPr>
          <p:cNvPr id="2" name="Title 1">
            <a:extLst>
              <a:ext uri="{FF2B5EF4-FFF2-40B4-BE49-F238E27FC236}">
                <a16:creationId xmlns:a16="http://schemas.microsoft.com/office/drawing/2014/main" id="{C95B5B12-DA50-06BD-F47C-576C09DE646D}"/>
              </a:ext>
            </a:extLst>
          </p:cNvPr>
          <p:cNvSpPr>
            <a:spLocks noGrp="1"/>
          </p:cNvSpPr>
          <p:nvPr>
            <p:ph type="title" hasCustomPrompt="1"/>
          </p:nvPr>
        </p:nvSpPr>
        <p:spPr>
          <a:xfrm>
            <a:off x="105032" y="136525"/>
            <a:ext cx="10515600" cy="662781"/>
          </a:xfrm>
          <a:prstGeom prst="rect">
            <a:avLst/>
          </a:prstGeom>
        </p:spPr>
        <p:txBody>
          <a:bodyPr/>
          <a:lstStyle>
            <a:lvl1pPr>
              <a:defRPr b="1">
                <a:solidFill>
                  <a:schemeClr val="accent1"/>
                </a:solidFill>
                <a:latin typeface="+mn-lt"/>
              </a:defRPr>
            </a:lvl1pPr>
          </a:lstStyle>
          <a:p>
            <a:r>
              <a:rPr lang="en-US" dirty="0"/>
              <a:t>Title</a:t>
            </a:r>
          </a:p>
        </p:txBody>
      </p:sp>
      <p:sp>
        <p:nvSpPr>
          <p:cNvPr id="3" name="Content Placeholder 2">
            <a:extLst>
              <a:ext uri="{FF2B5EF4-FFF2-40B4-BE49-F238E27FC236}">
                <a16:creationId xmlns:a16="http://schemas.microsoft.com/office/drawing/2014/main" id="{FCA49D2C-832F-6FF3-40A6-F5F2FE06B1DF}"/>
              </a:ext>
            </a:extLst>
          </p:cNvPr>
          <p:cNvSpPr>
            <a:spLocks noGrp="1"/>
          </p:cNvSpPr>
          <p:nvPr>
            <p:ph idx="1"/>
          </p:nvPr>
        </p:nvSpPr>
        <p:spPr>
          <a:xfrm>
            <a:off x="105032" y="939585"/>
            <a:ext cx="11337324" cy="4978829"/>
          </a:xfrm>
          <a:prstGeom prst="rect">
            <a:avLst/>
          </a:prstGeom>
        </p:spPr>
        <p:txBody>
          <a:bodyPr/>
          <a:lstStyle>
            <a:lvl1pPr>
              <a:defRPr>
                <a:solidFill>
                  <a:schemeClr val="accent1"/>
                </a:solidFill>
                <a:latin typeface="+mj-lt"/>
              </a:defRPr>
            </a:lvl1pPr>
            <a:lvl2pPr>
              <a:defRPr>
                <a:solidFill>
                  <a:schemeClr val="accent1"/>
                </a:solidFill>
                <a:latin typeface="+mj-lt"/>
              </a:defRPr>
            </a:lvl2pPr>
            <a:lvl3pPr>
              <a:defRPr>
                <a:solidFill>
                  <a:schemeClr val="accent1"/>
                </a:solidFill>
                <a:latin typeface="+mj-lt"/>
              </a:defRPr>
            </a:lvl3pPr>
            <a:lvl4pPr>
              <a:defRPr>
                <a:solidFill>
                  <a:schemeClr val="accent1"/>
                </a:solidFill>
                <a:latin typeface="+mj-lt"/>
              </a:defRPr>
            </a:lvl4pPr>
            <a:lvl5pPr>
              <a:defRPr>
                <a:solidFill>
                  <a:schemeClr val="accent1"/>
                </a:solidFill>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7" name="Picture 16">
            <a:extLst>
              <a:ext uri="{FF2B5EF4-FFF2-40B4-BE49-F238E27FC236}">
                <a16:creationId xmlns:a16="http://schemas.microsoft.com/office/drawing/2014/main" id="{13A23D71-51C1-E310-51CE-7DE5CD2D46C1}"/>
              </a:ext>
            </a:extLst>
          </p:cNvPr>
          <p:cNvPicPr>
            <a:picLocks noChangeAspect="1"/>
          </p:cNvPicPr>
          <p:nvPr userDrawn="1"/>
        </p:nvPicPr>
        <p:blipFill>
          <a:blip r:embed="rId2">
            <a:clrChange>
              <a:clrFrom>
                <a:srgbClr val="FFFFFF"/>
              </a:clrFrom>
              <a:clrTo>
                <a:srgbClr val="FFFFFF">
                  <a:alpha val="0"/>
                </a:srgbClr>
              </a:clrTo>
            </a:clrChange>
          </a:blip>
          <a:srcRect l="-3939" r="45728"/>
          <a:stretch/>
        </p:blipFill>
        <p:spPr>
          <a:xfrm>
            <a:off x="-125729" y="5642823"/>
            <a:ext cx="1554480" cy="1504260"/>
          </a:xfrm>
          <a:prstGeom prst="rect">
            <a:avLst/>
          </a:prstGeom>
        </p:spPr>
      </p:pic>
      <p:sp>
        <p:nvSpPr>
          <p:cNvPr id="20" name="TextBox 19">
            <a:extLst>
              <a:ext uri="{FF2B5EF4-FFF2-40B4-BE49-F238E27FC236}">
                <a16:creationId xmlns:a16="http://schemas.microsoft.com/office/drawing/2014/main" id="{0E0252BF-FA0F-2F01-F0F1-01835876CA31}"/>
              </a:ext>
            </a:extLst>
          </p:cNvPr>
          <p:cNvSpPr txBox="1"/>
          <p:nvPr userDrawn="1"/>
        </p:nvSpPr>
        <p:spPr>
          <a:xfrm>
            <a:off x="11687175" y="6231361"/>
            <a:ext cx="464927" cy="369332"/>
          </a:xfrm>
          <a:prstGeom prst="rect">
            <a:avLst/>
          </a:prstGeom>
          <a:noFill/>
        </p:spPr>
        <p:txBody>
          <a:bodyPr wrap="square" rtlCol="0">
            <a:spAutoFit/>
          </a:bodyPr>
          <a:lstStyle/>
          <a:p>
            <a:pPr algn="ctr"/>
            <a:fld id="{44A6E8EF-84EE-4D27-9E43-1F81D0E00356}" type="slidenum">
              <a:rPr lang="en-US" smtClean="0">
                <a:solidFill>
                  <a:schemeClr val="bg1"/>
                </a:solidFill>
              </a:rPr>
              <a:pPr algn="ctr"/>
              <a:t>‹#›</a:t>
            </a:fld>
            <a:endParaRPr lang="en-US" dirty="0">
              <a:solidFill>
                <a:schemeClr val="bg1"/>
              </a:solidFill>
            </a:endParaRPr>
          </a:p>
        </p:txBody>
      </p:sp>
    </p:spTree>
    <p:extLst>
      <p:ext uri="{BB962C8B-B14F-4D97-AF65-F5344CB8AC3E}">
        <p14:creationId xmlns:p14="http://schemas.microsoft.com/office/powerpoint/2010/main" val="1961887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with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B5B12-DA50-06BD-F47C-576C09DE646D}"/>
              </a:ext>
            </a:extLst>
          </p:cNvPr>
          <p:cNvSpPr>
            <a:spLocks noGrp="1"/>
          </p:cNvSpPr>
          <p:nvPr>
            <p:ph type="title" hasCustomPrompt="1"/>
          </p:nvPr>
        </p:nvSpPr>
        <p:spPr>
          <a:xfrm>
            <a:off x="105032" y="136525"/>
            <a:ext cx="10515600" cy="662781"/>
          </a:xfrm>
          <a:prstGeom prst="rect">
            <a:avLst/>
          </a:prstGeom>
        </p:spPr>
        <p:txBody>
          <a:bodyPr/>
          <a:lstStyle>
            <a:lvl1pPr>
              <a:defRPr b="1">
                <a:solidFill>
                  <a:schemeClr val="accent1"/>
                </a:solidFill>
                <a:latin typeface="+mn-lt"/>
              </a:defRPr>
            </a:lvl1pPr>
          </a:lstStyle>
          <a:p>
            <a:r>
              <a:rPr lang="en-US" dirty="0"/>
              <a:t>Title</a:t>
            </a:r>
          </a:p>
        </p:txBody>
      </p:sp>
      <p:sp>
        <p:nvSpPr>
          <p:cNvPr id="3" name="Content Placeholder 2">
            <a:extLst>
              <a:ext uri="{FF2B5EF4-FFF2-40B4-BE49-F238E27FC236}">
                <a16:creationId xmlns:a16="http://schemas.microsoft.com/office/drawing/2014/main" id="{FCA49D2C-832F-6FF3-40A6-F5F2FE06B1DF}"/>
              </a:ext>
            </a:extLst>
          </p:cNvPr>
          <p:cNvSpPr>
            <a:spLocks noGrp="1"/>
          </p:cNvSpPr>
          <p:nvPr>
            <p:ph idx="1"/>
          </p:nvPr>
        </p:nvSpPr>
        <p:spPr>
          <a:xfrm>
            <a:off x="105032" y="939585"/>
            <a:ext cx="8683368" cy="4978829"/>
          </a:xfrm>
          <a:prstGeom prst="rect">
            <a:avLst/>
          </a:prstGeom>
        </p:spPr>
        <p:txBody>
          <a:bodyPr/>
          <a:lstStyle>
            <a:lvl1pPr>
              <a:defRPr>
                <a:solidFill>
                  <a:schemeClr val="accent1"/>
                </a:solidFill>
                <a:latin typeface="+mj-lt"/>
              </a:defRPr>
            </a:lvl1pPr>
            <a:lvl2pPr>
              <a:defRPr>
                <a:solidFill>
                  <a:schemeClr val="accent1"/>
                </a:solidFill>
                <a:latin typeface="+mj-lt"/>
              </a:defRPr>
            </a:lvl2pPr>
            <a:lvl3pPr>
              <a:defRPr>
                <a:solidFill>
                  <a:schemeClr val="accent1"/>
                </a:solidFill>
                <a:latin typeface="+mj-lt"/>
              </a:defRPr>
            </a:lvl3pPr>
            <a:lvl4pPr>
              <a:defRPr>
                <a:solidFill>
                  <a:schemeClr val="accent1"/>
                </a:solidFill>
                <a:latin typeface="+mj-lt"/>
              </a:defRPr>
            </a:lvl4pPr>
            <a:lvl5pPr>
              <a:defRPr>
                <a:solidFill>
                  <a:schemeClr val="accent1"/>
                </a:solidFill>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a:extLst>
              <a:ext uri="{FF2B5EF4-FFF2-40B4-BE49-F238E27FC236}">
                <a16:creationId xmlns:a16="http://schemas.microsoft.com/office/drawing/2014/main" id="{463C00C0-AFE4-5CDB-792C-B1FF128BB46B}"/>
              </a:ext>
            </a:extLst>
          </p:cNvPr>
          <p:cNvSpPr>
            <a:spLocks noGrp="1"/>
          </p:cNvSpPr>
          <p:nvPr>
            <p:ph type="pic" sz="quarter" idx="10" hasCustomPrompt="1"/>
          </p:nvPr>
        </p:nvSpPr>
        <p:spPr>
          <a:xfrm>
            <a:off x="8918876" y="876197"/>
            <a:ext cx="3087687" cy="2366963"/>
          </a:xfrm>
          <a:ln>
            <a:solidFill>
              <a:schemeClr val="accent1"/>
            </a:solidFill>
          </a:ln>
        </p:spPr>
        <p:txBody>
          <a:bodyPr/>
          <a:lstStyle>
            <a:lvl1pPr marL="0" indent="0">
              <a:buNone/>
              <a:defRPr/>
            </a:lvl1pPr>
          </a:lstStyle>
          <a:p>
            <a:r>
              <a:rPr lang="en-US" dirty="0"/>
              <a:t>Picture here</a:t>
            </a:r>
          </a:p>
        </p:txBody>
      </p:sp>
      <p:sp>
        <p:nvSpPr>
          <p:cNvPr id="6" name="Picture Placeholder 4">
            <a:extLst>
              <a:ext uri="{FF2B5EF4-FFF2-40B4-BE49-F238E27FC236}">
                <a16:creationId xmlns:a16="http://schemas.microsoft.com/office/drawing/2014/main" id="{602C02E6-8B4E-746B-32D8-FBA12F839E67}"/>
              </a:ext>
            </a:extLst>
          </p:cNvPr>
          <p:cNvSpPr>
            <a:spLocks noGrp="1"/>
          </p:cNvSpPr>
          <p:nvPr>
            <p:ph type="pic" sz="quarter" idx="11" hasCustomPrompt="1"/>
          </p:nvPr>
        </p:nvSpPr>
        <p:spPr>
          <a:xfrm>
            <a:off x="8918875" y="3339996"/>
            <a:ext cx="3087687" cy="2366963"/>
          </a:xfrm>
          <a:ln>
            <a:solidFill>
              <a:schemeClr val="accent1"/>
            </a:solidFill>
          </a:ln>
        </p:spPr>
        <p:txBody>
          <a:bodyPr/>
          <a:lstStyle>
            <a:lvl1pPr marL="0" indent="0">
              <a:buNone/>
              <a:defRPr/>
            </a:lvl1pPr>
          </a:lstStyle>
          <a:p>
            <a:r>
              <a:rPr lang="en-US" dirty="0"/>
              <a:t>Picture here</a:t>
            </a:r>
          </a:p>
        </p:txBody>
      </p:sp>
      <p:pic>
        <p:nvPicPr>
          <p:cNvPr id="9" name="Picture 8">
            <a:extLst>
              <a:ext uri="{FF2B5EF4-FFF2-40B4-BE49-F238E27FC236}">
                <a16:creationId xmlns:a16="http://schemas.microsoft.com/office/drawing/2014/main" id="{4230CF3A-888A-B8BC-F56F-72E990F0AF6B}"/>
              </a:ext>
            </a:extLst>
          </p:cNvPr>
          <p:cNvPicPr>
            <a:picLocks noChangeAspect="1"/>
          </p:cNvPicPr>
          <p:nvPr userDrawn="1"/>
        </p:nvPicPr>
        <p:blipFill>
          <a:blip r:embed="rId2">
            <a:clrChange>
              <a:clrFrom>
                <a:srgbClr val="FFFFFF"/>
              </a:clrFrom>
              <a:clrTo>
                <a:srgbClr val="FFFFFF">
                  <a:alpha val="0"/>
                </a:srgbClr>
              </a:clrTo>
            </a:clrChange>
          </a:blip>
          <a:srcRect l="67440"/>
          <a:stretch/>
        </p:blipFill>
        <p:spPr>
          <a:xfrm>
            <a:off x="11385383" y="5620835"/>
            <a:ext cx="869482" cy="1504260"/>
          </a:xfrm>
          <a:prstGeom prst="rect">
            <a:avLst/>
          </a:prstGeom>
        </p:spPr>
      </p:pic>
      <p:sp>
        <p:nvSpPr>
          <p:cNvPr id="10" name="TextBox 9">
            <a:extLst>
              <a:ext uri="{FF2B5EF4-FFF2-40B4-BE49-F238E27FC236}">
                <a16:creationId xmlns:a16="http://schemas.microsoft.com/office/drawing/2014/main" id="{BAC3CC7A-4227-B03B-A890-0B34C7C41C16}"/>
              </a:ext>
            </a:extLst>
          </p:cNvPr>
          <p:cNvSpPr txBox="1"/>
          <p:nvPr userDrawn="1"/>
        </p:nvSpPr>
        <p:spPr>
          <a:xfrm>
            <a:off x="11687175" y="6231361"/>
            <a:ext cx="464927" cy="369332"/>
          </a:xfrm>
          <a:prstGeom prst="rect">
            <a:avLst/>
          </a:prstGeom>
          <a:noFill/>
        </p:spPr>
        <p:txBody>
          <a:bodyPr wrap="square" rtlCol="0">
            <a:spAutoFit/>
          </a:bodyPr>
          <a:lstStyle/>
          <a:p>
            <a:pPr algn="ctr"/>
            <a:fld id="{44A6E8EF-84EE-4D27-9E43-1F81D0E00356}" type="slidenum">
              <a:rPr lang="en-US" smtClean="0">
                <a:solidFill>
                  <a:schemeClr val="bg1"/>
                </a:solidFill>
              </a:rPr>
              <a:pPr algn="ctr"/>
              <a:t>‹#›</a:t>
            </a:fld>
            <a:endParaRPr lang="en-US" dirty="0">
              <a:solidFill>
                <a:schemeClr val="bg1"/>
              </a:solidFill>
            </a:endParaRPr>
          </a:p>
        </p:txBody>
      </p:sp>
      <p:pic>
        <p:nvPicPr>
          <p:cNvPr id="11" name="Picture 10">
            <a:extLst>
              <a:ext uri="{FF2B5EF4-FFF2-40B4-BE49-F238E27FC236}">
                <a16:creationId xmlns:a16="http://schemas.microsoft.com/office/drawing/2014/main" id="{30157A07-85D3-76EC-2529-437C905C2B5C}"/>
              </a:ext>
            </a:extLst>
          </p:cNvPr>
          <p:cNvPicPr>
            <a:picLocks noChangeAspect="1"/>
          </p:cNvPicPr>
          <p:nvPr userDrawn="1"/>
        </p:nvPicPr>
        <p:blipFill>
          <a:blip r:embed="rId2">
            <a:clrChange>
              <a:clrFrom>
                <a:srgbClr val="FFFFFF"/>
              </a:clrFrom>
              <a:clrTo>
                <a:srgbClr val="FFFFFF">
                  <a:alpha val="0"/>
                </a:srgbClr>
              </a:clrTo>
            </a:clrChange>
          </a:blip>
          <a:srcRect l="-3939" r="45728"/>
          <a:stretch/>
        </p:blipFill>
        <p:spPr>
          <a:xfrm>
            <a:off x="-125729" y="5642823"/>
            <a:ext cx="1554480" cy="1504260"/>
          </a:xfrm>
          <a:prstGeom prst="rect">
            <a:avLst/>
          </a:prstGeom>
        </p:spPr>
      </p:pic>
    </p:spTree>
    <p:extLst>
      <p:ext uri="{BB962C8B-B14F-4D97-AF65-F5344CB8AC3E}">
        <p14:creationId xmlns:p14="http://schemas.microsoft.com/office/powerpoint/2010/main" val="2755703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ansition / Break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B5B12-DA50-06BD-F47C-576C09DE646D}"/>
              </a:ext>
            </a:extLst>
          </p:cNvPr>
          <p:cNvSpPr>
            <a:spLocks noGrp="1"/>
          </p:cNvSpPr>
          <p:nvPr>
            <p:ph type="title" hasCustomPrompt="1"/>
          </p:nvPr>
        </p:nvSpPr>
        <p:spPr>
          <a:xfrm>
            <a:off x="409832" y="1409120"/>
            <a:ext cx="10515600" cy="662781"/>
          </a:xfrm>
          <a:prstGeom prst="rect">
            <a:avLst/>
          </a:prstGeom>
        </p:spPr>
        <p:txBody>
          <a:bodyPr/>
          <a:lstStyle>
            <a:lvl1pPr algn="ctr">
              <a:defRPr b="1">
                <a:solidFill>
                  <a:schemeClr val="accent1"/>
                </a:solidFill>
                <a:latin typeface="+mn-lt"/>
              </a:defRPr>
            </a:lvl1pPr>
          </a:lstStyle>
          <a:p>
            <a:r>
              <a:rPr lang="en-US" dirty="0"/>
              <a:t>Transition Title</a:t>
            </a:r>
          </a:p>
        </p:txBody>
      </p:sp>
      <p:pic>
        <p:nvPicPr>
          <p:cNvPr id="14" name="Picture 13">
            <a:extLst>
              <a:ext uri="{FF2B5EF4-FFF2-40B4-BE49-F238E27FC236}">
                <a16:creationId xmlns:a16="http://schemas.microsoft.com/office/drawing/2014/main" id="{6EE25C2B-00D8-B739-8A7C-9F78150F5A93}"/>
              </a:ext>
            </a:extLst>
          </p:cNvPr>
          <p:cNvPicPr>
            <a:picLocks noChangeAspect="1"/>
          </p:cNvPicPr>
          <p:nvPr userDrawn="1"/>
        </p:nvPicPr>
        <p:blipFill>
          <a:blip r:embed="rId2">
            <a:clrChange>
              <a:clrFrom>
                <a:srgbClr val="FFFFFF"/>
              </a:clrFrom>
              <a:clrTo>
                <a:srgbClr val="FFFFFF">
                  <a:alpha val="0"/>
                </a:srgbClr>
              </a:clrTo>
            </a:clrChange>
          </a:blip>
          <a:stretch>
            <a:fillRect/>
          </a:stretch>
        </p:blipFill>
        <p:spPr>
          <a:xfrm>
            <a:off x="2225040" y="1841555"/>
            <a:ext cx="6675121" cy="3760097"/>
          </a:xfrm>
          <a:prstGeom prst="rect">
            <a:avLst/>
          </a:prstGeom>
        </p:spPr>
      </p:pic>
      <p:pic>
        <p:nvPicPr>
          <p:cNvPr id="15" name="Picture 14">
            <a:extLst>
              <a:ext uri="{FF2B5EF4-FFF2-40B4-BE49-F238E27FC236}">
                <a16:creationId xmlns:a16="http://schemas.microsoft.com/office/drawing/2014/main" id="{D1A11BA6-9A4D-41B0-FE13-D42E91F591C5}"/>
              </a:ext>
            </a:extLst>
          </p:cNvPr>
          <p:cNvPicPr>
            <a:picLocks noChangeAspect="1"/>
          </p:cNvPicPr>
          <p:nvPr userDrawn="1"/>
        </p:nvPicPr>
        <p:blipFill>
          <a:blip r:embed="rId2">
            <a:clrChange>
              <a:clrFrom>
                <a:srgbClr val="FFFFFF"/>
              </a:clrFrom>
              <a:clrTo>
                <a:srgbClr val="FFFFFF">
                  <a:alpha val="0"/>
                </a:srgbClr>
              </a:clrTo>
            </a:clrChange>
          </a:blip>
          <a:srcRect l="67440"/>
          <a:stretch/>
        </p:blipFill>
        <p:spPr>
          <a:xfrm>
            <a:off x="11385383" y="5620835"/>
            <a:ext cx="869482" cy="1504260"/>
          </a:xfrm>
          <a:prstGeom prst="rect">
            <a:avLst/>
          </a:prstGeom>
        </p:spPr>
      </p:pic>
      <p:pic>
        <p:nvPicPr>
          <p:cNvPr id="17" name="Picture 16">
            <a:extLst>
              <a:ext uri="{FF2B5EF4-FFF2-40B4-BE49-F238E27FC236}">
                <a16:creationId xmlns:a16="http://schemas.microsoft.com/office/drawing/2014/main" id="{C92307F5-1B86-EB7B-529A-B5AC3C3702FF}"/>
              </a:ext>
            </a:extLst>
          </p:cNvPr>
          <p:cNvPicPr>
            <a:picLocks noChangeAspect="1"/>
          </p:cNvPicPr>
          <p:nvPr userDrawn="1"/>
        </p:nvPicPr>
        <p:blipFill>
          <a:blip r:embed="rId2">
            <a:clrChange>
              <a:clrFrom>
                <a:srgbClr val="FFFFFF"/>
              </a:clrFrom>
              <a:clrTo>
                <a:srgbClr val="FFFFFF">
                  <a:alpha val="0"/>
                </a:srgbClr>
              </a:clrTo>
            </a:clrChange>
          </a:blip>
          <a:srcRect l="-3939" r="45728"/>
          <a:stretch/>
        </p:blipFill>
        <p:spPr>
          <a:xfrm>
            <a:off x="-125729" y="5642823"/>
            <a:ext cx="1554480" cy="1504260"/>
          </a:xfrm>
          <a:prstGeom prst="rect">
            <a:avLst/>
          </a:prstGeom>
        </p:spPr>
      </p:pic>
      <p:sp>
        <p:nvSpPr>
          <p:cNvPr id="20" name="TextBox 19">
            <a:extLst>
              <a:ext uri="{FF2B5EF4-FFF2-40B4-BE49-F238E27FC236}">
                <a16:creationId xmlns:a16="http://schemas.microsoft.com/office/drawing/2014/main" id="{CEA77C6D-65EF-D438-A2B7-B79287A44518}"/>
              </a:ext>
            </a:extLst>
          </p:cNvPr>
          <p:cNvSpPr txBox="1"/>
          <p:nvPr userDrawn="1"/>
        </p:nvSpPr>
        <p:spPr>
          <a:xfrm>
            <a:off x="11687175" y="6231361"/>
            <a:ext cx="464927" cy="369332"/>
          </a:xfrm>
          <a:prstGeom prst="rect">
            <a:avLst/>
          </a:prstGeom>
          <a:noFill/>
        </p:spPr>
        <p:txBody>
          <a:bodyPr wrap="square" rtlCol="0">
            <a:spAutoFit/>
          </a:bodyPr>
          <a:lstStyle/>
          <a:p>
            <a:pPr algn="ctr"/>
            <a:fld id="{44A6E8EF-84EE-4D27-9E43-1F81D0E00356}" type="slidenum">
              <a:rPr lang="en-US" smtClean="0">
                <a:solidFill>
                  <a:schemeClr val="bg1"/>
                </a:solidFill>
              </a:rPr>
              <a:pPr algn="ctr"/>
              <a:t>‹#›</a:t>
            </a:fld>
            <a:endParaRPr lang="en-US" dirty="0">
              <a:solidFill>
                <a:schemeClr val="bg1"/>
              </a:solidFill>
            </a:endParaRPr>
          </a:p>
        </p:txBody>
      </p:sp>
    </p:spTree>
    <p:extLst>
      <p:ext uri="{BB962C8B-B14F-4D97-AF65-F5344CB8AC3E}">
        <p14:creationId xmlns:p14="http://schemas.microsoft.com/office/powerpoint/2010/main" val="213110761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itle Placeholder 12">
            <a:extLst>
              <a:ext uri="{FF2B5EF4-FFF2-40B4-BE49-F238E27FC236}">
                <a16:creationId xmlns:a16="http://schemas.microsoft.com/office/drawing/2014/main" id="{AE4A825A-4063-94F5-2E60-E497DE3FD8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14" name="Text Placeholder 13">
            <a:extLst>
              <a:ext uri="{FF2B5EF4-FFF2-40B4-BE49-F238E27FC236}">
                <a16:creationId xmlns:a16="http://schemas.microsoft.com/office/drawing/2014/main" id="{4AC2EE41-D82D-F945-F481-EC0ADFBAC9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043324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3" r:id="rId3"/>
    <p:sldLayoutId id="2147483651"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hyperlink" Target="https://github.com/sandialabs/sdynpy" TargetMode="External"/><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hyperlink" Target="https://pyfbs.readthedocs.io/en/master/"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s://www.pcb.com/products?model=086c03" TargetMode="External"/><Relationship Id="rId3" Type="http://schemas.openxmlformats.org/officeDocument/2006/relationships/image" Target="../media/image19.png"/><Relationship Id="rId7" Type="http://schemas.openxmlformats.org/officeDocument/2006/relationships/hyperlink" Target="https://pwmi.lv/vibration-test-shaker-modal-shop-2075e/"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jpeg"/><Relationship Id="rId9" Type="http://schemas.openxmlformats.org/officeDocument/2006/relationships/hyperlink" Target="https://www.pcb.com/products?m=086e8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sv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 Id="rId9" Type="http://schemas.openxmlformats.org/officeDocument/2006/relationships/image" Target="../media/image36.svg"/></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hyperlink" Target="https://doi.org/10.1016/j.ymssp.2021.108109" TargetMode="External"/><Relationship Id="rId3" Type="http://schemas.openxmlformats.org/officeDocument/2006/relationships/image" Target="../media/image41.png"/><Relationship Id="rId7" Type="http://schemas.openxmlformats.org/officeDocument/2006/relationships/image" Target="../media/image46.png"/><Relationship Id="rId12" Type="http://schemas.openxmlformats.org/officeDocument/2006/relationships/image" Target="../media/image5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26.xml.rels><?xml version="1.0" encoding="UTF-8" standalone="yes"?>
<Relationships xmlns="http://schemas.openxmlformats.org/package/2006/relationships"><Relationship Id="rId8" Type="http://schemas.openxmlformats.org/officeDocument/2006/relationships/image" Target="../media/image46.emf"/><Relationship Id="rId3" Type="http://schemas.openxmlformats.org/officeDocument/2006/relationships/image" Target="../media/image41.emf"/><Relationship Id="rId7" Type="http://schemas.openxmlformats.org/officeDocument/2006/relationships/image" Target="../media/image45.emf"/><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4.emf"/><Relationship Id="rId5" Type="http://schemas.openxmlformats.org/officeDocument/2006/relationships/image" Target="../media/image43.emf"/><Relationship Id="rId4" Type="http://schemas.openxmlformats.org/officeDocument/2006/relationships/image" Target="../media/image42.emf"/><Relationship Id="rId9" Type="http://schemas.openxmlformats.org/officeDocument/2006/relationships/image" Target="../media/image58.png"/></Relationships>
</file>

<file path=ppt/slides/_rels/slide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47.emf"/><Relationship Id="rId1" Type="http://schemas.openxmlformats.org/officeDocument/2006/relationships/slideLayout" Target="../slideLayouts/slideLayout2.xml"/><Relationship Id="rId5" Type="http://schemas.openxmlformats.org/officeDocument/2006/relationships/image" Target="../media/image49.emf"/><Relationship Id="rId4" Type="http://schemas.openxmlformats.org/officeDocument/2006/relationships/image" Target="../media/image48.emf"/></Relationships>
</file>

<file path=ppt/slides/_rels/slide28.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50.emf"/><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29.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51.emf"/><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30.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52.emf"/><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31.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53.emf"/><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32.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54.emf"/><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33.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55.emf"/><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34.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56.emf"/><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35.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3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8.wmf"/><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wmv"/><Relationship Id="rId1" Type="http://schemas.microsoft.com/office/2007/relationships/media" Target="../media/media1.wmv"/><Relationship Id="rId4" Type="http://schemas.openxmlformats.org/officeDocument/2006/relationships/image" Target="../media/image59.png"/></Relationships>
</file>

<file path=ppt/slides/_rels/slide3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doi.org/10.1016/j.ymssp.2021.108109"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27616-A4B2-51B4-6A7C-6CC82304D794}"/>
              </a:ext>
            </a:extLst>
          </p:cNvPr>
          <p:cNvSpPr>
            <a:spLocks noGrp="1"/>
          </p:cNvSpPr>
          <p:nvPr>
            <p:ph type="ctrTitle"/>
          </p:nvPr>
        </p:nvSpPr>
        <p:spPr>
          <a:xfrm>
            <a:off x="213086" y="537502"/>
            <a:ext cx="8052140" cy="1976513"/>
          </a:xfrm>
        </p:spPr>
        <p:txBody>
          <a:bodyPr>
            <a:normAutofit/>
          </a:bodyPr>
          <a:lstStyle/>
          <a:p>
            <a:r>
              <a:rPr lang="en-US" dirty="0"/>
              <a:t>Module #6: Experimental Considerations</a:t>
            </a:r>
          </a:p>
        </p:txBody>
      </p:sp>
      <p:sp>
        <p:nvSpPr>
          <p:cNvPr id="3" name="Picture Placeholder 2">
            <a:extLst>
              <a:ext uri="{FF2B5EF4-FFF2-40B4-BE49-F238E27FC236}">
                <a16:creationId xmlns:a16="http://schemas.microsoft.com/office/drawing/2014/main" id="{8226D44A-C018-0E6F-20C2-3A945BDF396F}"/>
              </a:ext>
            </a:extLst>
          </p:cNvPr>
          <p:cNvSpPr>
            <a:spLocks noGrp="1"/>
          </p:cNvSpPr>
          <p:nvPr>
            <p:ph type="pic" sz="quarter" idx="13"/>
          </p:nvPr>
        </p:nvSpPr>
        <p:spPr/>
        <p:txBody>
          <a:bodyPr/>
          <a:lstStyle/>
          <a:p>
            <a:endParaRPr lang="en-US"/>
          </a:p>
        </p:txBody>
      </p:sp>
      <p:sp>
        <p:nvSpPr>
          <p:cNvPr id="4" name="Picture Placeholder 3">
            <a:extLst>
              <a:ext uri="{FF2B5EF4-FFF2-40B4-BE49-F238E27FC236}">
                <a16:creationId xmlns:a16="http://schemas.microsoft.com/office/drawing/2014/main" id="{DC6B8D1A-23C5-ACFC-ED38-9CA45829D829}"/>
              </a:ext>
            </a:extLst>
          </p:cNvPr>
          <p:cNvSpPr>
            <a:spLocks noGrp="1"/>
          </p:cNvSpPr>
          <p:nvPr>
            <p:ph type="pic" sz="quarter" idx="14"/>
          </p:nvPr>
        </p:nvSpPr>
        <p:spPr/>
        <p:txBody>
          <a:bodyPr/>
          <a:lstStyle/>
          <a:p>
            <a:endParaRPr lang="en-US"/>
          </a:p>
        </p:txBody>
      </p:sp>
    </p:spTree>
    <p:extLst>
      <p:ext uri="{BB962C8B-B14F-4D97-AF65-F5344CB8AC3E}">
        <p14:creationId xmlns:p14="http://schemas.microsoft.com/office/powerpoint/2010/main" val="717176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9F682-135B-AB95-F9FA-03E455C6C070}"/>
              </a:ext>
            </a:extLst>
          </p:cNvPr>
          <p:cNvSpPr>
            <a:spLocks noGrp="1"/>
          </p:cNvSpPr>
          <p:nvPr>
            <p:ph type="title"/>
          </p:nvPr>
        </p:nvSpPr>
        <p:spPr>
          <a:xfrm>
            <a:off x="0" y="136525"/>
            <a:ext cx="12192000" cy="662781"/>
          </a:xfrm>
        </p:spPr>
        <p:txBody>
          <a:bodyPr>
            <a:normAutofit fontScale="90000"/>
          </a:bodyPr>
          <a:lstStyle/>
          <a:p>
            <a:pPr algn="ctr"/>
            <a:r>
              <a:rPr lang="en-US" dirty="0"/>
              <a:t>Topics</a:t>
            </a:r>
          </a:p>
        </p:txBody>
      </p:sp>
      <p:sp>
        <p:nvSpPr>
          <p:cNvPr id="3" name="Content Placeholder 2">
            <a:extLst>
              <a:ext uri="{FF2B5EF4-FFF2-40B4-BE49-F238E27FC236}">
                <a16:creationId xmlns:a16="http://schemas.microsoft.com/office/drawing/2014/main" id="{CFD52031-57B0-A349-A4F4-F349CF04F058}"/>
              </a:ext>
            </a:extLst>
          </p:cNvPr>
          <p:cNvSpPr>
            <a:spLocks noGrp="1"/>
          </p:cNvSpPr>
          <p:nvPr>
            <p:ph idx="1"/>
          </p:nvPr>
        </p:nvSpPr>
        <p:spPr/>
        <p:txBody>
          <a:bodyPr/>
          <a:lstStyle/>
          <a:p>
            <a:r>
              <a:rPr lang="en-US" dirty="0"/>
              <a:t>Data Requirements for Experimental/Analytical Substructuring</a:t>
            </a:r>
          </a:p>
          <a:p>
            <a:pPr lvl="1"/>
            <a:r>
              <a:rPr lang="en-US" dirty="0"/>
              <a:t>Which approach can you use? </a:t>
            </a:r>
          </a:p>
          <a:p>
            <a:pPr lvl="1"/>
            <a:r>
              <a:rPr lang="en-US" dirty="0"/>
              <a:t>Its like regular modal testing, but harder</a:t>
            </a:r>
          </a:p>
          <a:p>
            <a:pPr lvl="1"/>
            <a:r>
              <a:rPr lang="en-US" dirty="0"/>
              <a:t>Some specific considerations for FBS and CMS</a:t>
            </a:r>
          </a:p>
          <a:p>
            <a:r>
              <a:rPr lang="en-US" dirty="0"/>
              <a:t>Transmission Simulator Method</a:t>
            </a:r>
          </a:p>
          <a:p>
            <a:pPr lvl="1"/>
            <a:r>
              <a:rPr lang="en-US" dirty="0"/>
              <a:t>Technique for creating experimental models that addresses several common issues encountered in experimental dynamic substructuring</a:t>
            </a:r>
          </a:p>
        </p:txBody>
      </p:sp>
    </p:spTree>
    <p:extLst>
      <p:ext uri="{BB962C8B-B14F-4D97-AF65-F5344CB8AC3E}">
        <p14:creationId xmlns:p14="http://schemas.microsoft.com/office/powerpoint/2010/main" val="2851023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213D4C-A9B0-196F-4C9B-7AE6DA373080}"/>
              </a:ext>
            </a:extLst>
          </p:cNvPr>
          <p:cNvSpPr>
            <a:spLocks noGrp="1"/>
          </p:cNvSpPr>
          <p:nvPr>
            <p:ph type="title"/>
          </p:nvPr>
        </p:nvSpPr>
        <p:spPr>
          <a:xfrm>
            <a:off x="0" y="579966"/>
            <a:ext cx="12192000" cy="1553633"/>
          </a:xfrm>
        </p:spPr>
        <p:txBody>
          <a:bodyPr>
            <a:normAutofit/>
          </a:bodyPr>
          <a:lstStyle/>
          <a:p>
            <a:r>
              <a:rPr lang="en-US" dirty="0"/>
              <a:t>Data Requirements for </a:t>
            </a:r>
            <a:br>
              <a:rPr lang="en-US" dirty="0"/>
            </a:br>
            <a:r>
              <a:rPr lang="en-US" dirty="0"/>
              <a:t>Experimental/Analytical Substructuring</a:t>
            </a:r>
          </a:p>
        </p:txBody>
      </p:sp>
    </p:spTree>
    <p:extLst>
      <p:ext uri="{BB962C8B-B14F-4D97-AF65-F5344CB8AC3E}">
        <p14:creationId xmlns:p14="http://schemas.microsoft.com/office/powerpoint/2010/main" val="313446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36562-856B-7257-592E-7618250087FF}"/>
              </a:ext>
            </a:extLst>
          </p:cNvPr>
          <p:cNvSpPr>
            <a:spLocks noGrp="1"/>
          </p:cNvSpPr>
          <p:nvPr>
            <p:ph type="title"/>
          </p:nvPr>
        </p:nvSpPr>
        <p:spPr>
          <a:xfrm>
            <a:off x="0" y="136525"/>
            <a:ext cx="12192000" cy="662781"/>
          </a:xfrm>
        </p:spPr>
        <p:txBody>
          <a:bodyPr>
            <a:normAutofit fontScale="90000"/>
          </a:bodyPr>
          <a:lstStyle/>
          <a:p>
            <a:pPr algn="ctr"/>
            <a:r>
              <a:rPr lang="en-US" dirty="0"/>
              <a:t>Which Approach Can We Use?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03A3F5-8D93-444D-5AAE-0C26E13EB287}"/>
                  </a:ext>
                </a:extLst>
              </p:cNvPr>
              <p:cNvSpPr>
                <a:spLocks noGrp="1"/>
              </p:cNvSpPr>
              <p:nvPr>
                <p:ph idx="1"/>
              </p:nvPr>
            </p:nvSpPr>
            <p:spPr>
              <a:xfrm>
                <a:off x="105032" y="939585"/>
                <a:ext cx="11337324" cy="4970148"/>
              </a:xfrm>
            </p:spPr>
            <p:txBody>
              <a:bodyPr>
                <a:normAutofit/>
              </a:bodyPr>
              <a:lstStyle/>
              <a:p>
                <a:r>
                  <a:rPr lang="en-US" dirty="0"/>
                  <a:t>Physical Substructuring</a:t>
                </a:r>
              </a:p>
              <a:p>
                <a:pPr lvl="1"/>
                <a:r>
                  <a:rPr lang="en-US" dirty="0"/>
                  <a:t>Operates directly on Mass, Damping &amp; Stiffness matrices from the equation of motion, so straightforward to use with numerical systems</a:t>
                </a:r>
              </a:p>
              <a:p>
                <a:pPr lvl="1"/>
                <a:r>
                  <a:rPr lang="en-US" dirty="0"/>
                  <a:t>However, forming experimental representations of M, C &amp; K is normally impractical</a:t>
                </a:r>
              </a:p>
              <a:p>
                <a:r>
                  <a:rPr lang="en-US" dirty="0"/>
                  <a:t>Frequency-based Substructuring (FBS)</a:t>
                </a:r>
              </a:p>
              <a:p>
                <a:pPr lvl="1"/>
                <a:r>
                  <a:rPr lang="en-US" dirty="0"/>
                  <a:t>Utilizes Frequency Response Functions (FRFs)</a:t>
                </a:r>
              </a:p>
              <a:p>
                <a:pPr lvl="1"/>
                <a:r>
                  <a:rPr lang="en-US" dirty="0"/>
                  <a:t>FRFs are conveniently measured via typical modal testing </a:t>
                </a:r>
              </a:p>
              <a:p>
                <a:pPr lvl="1"/>
                <a:r>
                  <a:rPr lang="en-US" dirty="0"/>
                  <a:t>But, these FRFs are unlikely to be directly usable without proper test planning </a:t>
                </a:r>
              </a:p>
              <a:p>
                <a:r>
                  <a:rPr lang="en-US" dirty="0"/>
                  <a:t>Component Mode Synthesis (CMS)</a:t>
                </a:r>
              </a:p>
              <a:p>
                <a:pPr lvl="1"/>
                <a:r>
                  <a:rPr lang="en-US" dirty="0"/>
                  <a:t>Only requires regular modal parameters </a:t>
                </a:r>
                <a14:m>
                  <m:oMath xmlns:m="http://schemas.openxmlformats.org/officeDocument/2006/math">
                    <m:r>
                      <a:rPr lang="en-US" b="0" i="1" smtClean="0">
                        <a:latin typeface="Cambria Math" panose="02040503050406030204" pitchFamily="18" charset="0"/>
                      </a:rPr>
                      <m:t>→</m:t>
                    </m:r>
                  </m:oMath>
                </a14:m>
                <a:r>
                  <a:rPr lang="en-US" dirty="0"/>
                  <a:t> mass-normalized mode shapes, damping ratios, and natural frequencies</a:t>
                </a:r>
              </a:p>
              <a:p>
                <a:pPr lvl="1"/>
                <a:r>
                  <a:rPr lang="en-US" dirty="0"/>
                  <a:t>Also available from modal testing, but through nontrivial post-processing of FRFs</a:t>
                </a:r>
              </a:p>
            </p:txBody>
          </p:sp>
        </mc:Choice>
        <mc:Fallback xmlns="">
          <p:sp>
            <p:nvSpPr>
              <p:cNvPr id="3" name="Content Placeholder 2">
                <a:extLst>
                  <a:ext uri="{FF2B5EF4-FFF2-40B4-BE49-F238E27FC236}">
                    <a16:creationId xmlns:a16="http://schemas.microsoft.com/office/drawing/2014/main" id="{AB03A3F5-8D93-444D-5AAE-0C26E13EB287}"/>
                  </a:ext>
                </a:extLst>
              </p:cNvPr>
              <p:cNvSpPr>
                <a:spLocks noGrp="1" noRot="1" noChangeAspect="1" noMove="1" noResize="1" noEditPoints="1" noAdjustHandles="1" noChangeArrowheads="1" noChangeShapeType="1" noTextEdit="1"/>
              </p:cNvSpPr>
              <p:nvPr>
                <p:ph idx="1"/>
              </p:nvPr>
            </p:nvSpPr>
            <p:spPr>
              <a:xfrm>
                <a:off x="105032" y="939585"/>
                <a:ext cx="11337324" cy="4970148"/>
              </a:xfrm>
              <a:blipFill>
                <a:blip r:embed="rId2"/>
                <a:stretch>
                  <a:fillRect l="-968" t="-2086" b="-1595"/>
                </a:stretch>
              </a:blipFill>
            </p:spPr>
            <p:txBody>
              <a:bodyPr/>
              <a:lstStyle/>
              <a:p>
                <a:r>
                  <a:rPr lang="en-US">
                    <a:noFill/>
                  </a:rPr>
                  <a:t> </a:t>
                </a:r>
              </a:p>
            </p:txBody>
          </p:sp>
        </mc:Fallback>
      </mc:AlternateContent>
    </p:spTree>
    <p:extLst>
      <p:ext uri="{BB962C8B-B14F-4D97-AF65-F5344CB8AC3E}">
        <p14:creationId xmlns:p14="http://schemas.microsoft.com/office/powerpoint/2010/main" val="2166561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3F3C90D-C591-7421-1C9D-6414F6905B0E}"/>
              </a:ext>
            </a:extLst>
          </p:cNvPr>
          <p:cNvPicPr>
            <a:picLocks noChangeAspect="1"/>
          </p:cNvPicPr>
          <p:nvPr/>
        </p:nvPicPr>
        <p:blipFill>
          <a:blip r:embed="rId2">
            <a:clrChange>
              <a:clrFrom>
                <a:srgbClr val="FFFFFF"/>
              </a:clrFrom>
              <a:clrTo>
                <a:srgbClr val="FFFFFF">
                  <a:alpha val="0"/>
                </a:srgbClr>
              </a:clrTo>
            </a:clrChange>
          </a:blip>
          <a:srcRect r="44557"/>
          <a:stretch/>
        </p:blipFill>
        <p:spPr>
          <a:xfrm rot="3391203">
            <a:off x="6576389" y="4828827"/>
            <a:ext cx="2113449" cy="1601146"/>
          </a:xfrm>
          <a:prstGeom prst="rect">
            <a:avLst/>
          </a:prstGeom>
        </p:spPr>
      </p:pic>
      <p:pic>
        <p:nvPicPr>
          <p:cNvPr id="10" name="Picture 9">
            <a:extLst>
              <a:ext uri="{FF2B5EF4-FFF2-40B4-BE49-F238E27FC236}">
                <a16:creationId xmlns:a16="http://schemas.microsoft.com/office/drawing/2014/main" id="{552DF48D-9860-A3F9-B7FA-FB5784B221D0}"/>
              </a:ext>
            </a:extLst>
          </p:cNvPr>
          <p:cNvPicPr>
            <a:picLocks noChangeAspect="1"/>
          </p:cNvPicPr>
          <p:nvPr/>
        </p:nvPicPr>
        <p:blipFill>
          <a:blip r:embed="rId2">
            <a:clrChange>
              <a:clrFrom>
                <a:srgbClr val="FFFFFF"/>
              </a:clrFrom>
              <a:clrTo>
                <a:srgbClr val="FFFFFF">
                  <a:alpha val="0"/>
                </a:srgbClr>
              </a:clrTo>
            </a:clrChange>
          </a:blip>
          <a:srcRect l="70950" b="1995"/>
          <a:stretch/>
        </p:blipFill>
        <p:spPr>
          <a:xfrm rot="1551773">
            <a:off x="7659294" y="4491733"/>
            <a:ext cx="1158725" cy="1641985"/>
          </a:xfrm>
          <a:prstGeom prst="rect">
            <a:avLst/>
          </a:prstGeom>
        </p:spPr>
      </p:pic>
      <p:pic>
        <p:nvPicPr>
          <p:cNvPr id="113" name="Picture 112">
            <a:extLst>
              <a:ext uri="{FF2B5EF4-FFF2-40B4-BE49-F238E27FC236}">
                <a16:creationId xmlns:a16="http://schemas.microsoft.com/office/drawing/2014/main" id="{8BA43209-981E-7A23-2016-FCD332937652}"/>
              </a:ext>
            </a:extLst>
          </p:cNvPr>
          <p:cNvPicPr>
            <a:picLocks noChangeAspect="1"/>
          </p:cNvPicPr>
          <p:nvPr/>
        </p:nvPicPr>
        <p:blipFill>
          <a:blip r:embed="rId2">
            <a:clrChange>
              <a:clrFrom>
                <a:srgbClr val="FFFFFF"/>
              </a:clrFrom>
              <a:clrTo>
                <a:srgbClr val="FFFFFF">
                  <a:alpha val="0"/>
                </a:srgbClr>
              </a:clrTo>
            </a:clrChange>
          </a:blip>
          <a:srcRect l="70950"/>
          <a:stretch/>
        </p:blipFill>
        <p:spPr>
          <a:xfrm>
            <a:off x="4315847" y="4587909"/>
            <a:ext cx="1158725" cy="1675406"/>
          </a:xfrm>
          <a:prstGeom prst="rect">
            <a:avLst/>
          </a:prstGeom>
        </p:spPr>
      </p:pic>
      <p:pic>
        <p:nvPicPr>
          <p:cNvPr id="112" name="Picture 111">
            <a:extLst>
              <a:ext uri="{FF2B5EF4-FFF2-40B4-BE49-F238E27FC236}">
                <a16:creationId xmlns:a16="http://schemas.microsoft.com/office/drawing/2014/main" id="{2260A606-8BB4-B07F-087D-21564DB9B3FB}"/>
              </a:ext>
            </a:extLst>
          </p:cNvPr>
          <p:cNvPicPr>
            <a:picLocks noChangeAspect="1"/>
          </p:cNvPicPr>
          <p:nvPr/>
        </p:nvPicPr>
        <p:blipFill>
          <a:blip r:embed="rId2">
            <a:clrChange>
              <a:clrFrom>
                <a:srgbClr val="FFFFFF"/>
              </a:clrFrom>
              <a:clrTo>
                <a:srgbClr val="FFFFFF">
                  <a:alpha val="0"/>
                </a:srgbClr>
              </a:clrTo>
            </a:clrChange>
          </a:blip>
          <a:srcRect r="44557"/>
          <a:stretch/>
        </p:blipFill>
        <p:spPr>
          <a:xfrm rot="5400000">
            <a:off x="2135865" y="4807690"/>
            <a:ext cx="2113449" cy="1601146"/>
          </a:xfrm>
          <a:prstGeom prst="rect">
            <a:avLst/>
          </a:prstGeom>
        </p:spPr>
      </p:pic>
      <p:pic>
        <p:nvPicPr>
          <p:cNvPr id="114" name="Picture 113">
            <a:extLst>
              <a:ext uri="{FF2B5EF4-FFF2-40B4-BE49-F238E27FC236}">
                <a16:creationId xmlns:a16="http://schemas.microsoft.com/office/drawing/2014/main" id="{7BDC604A-77F1-DB1A-C30D-386D45DCAAAC}"/>
              </a:ext>
            </a:extLst>
          </p:cNvPr>
          <p:cNvPicPr>
            <a:picLocks noChangeAspect="1"/>
          </p:cNvPicPr>
          <p:nvPr/>
        </p:nvPicPr>
        <p:blipFill>
          <a:blip r:embed="rId2">
            <a:clrChange>
              <a:clrFrom>
                <a:srgbClr val="FFFFFF"/>
              </a:clrFrom>
              <a:clrTo>
                <a:srgbClr val="FFFFFF">
                  <a:alpha val="0"/>
                </a:srgbClr>
              </a:clrTo>
            </a:clrChange>
          </a:blip>
          <a:srcRect l="55193" r="29397"/>
          <a:stretch/>
        </p:blipFill>
        <p:spPr>
          <a:xfrm>
            <a:off x="3680977" y="4587909"/>
            <a:ext cx="605370" cy="1650146"/>
          </a:xfrm>
          <a:prstGeom prst="rect">
            <a:avLst/>
          </a:prstGeom>
        </p:spPr>
      </p:pic>
      <p:sp>
        <p:nvSpPr>
          <p:cNvPr id="2" name="Title 1">
            <a:extLst>
              <a:ext uri="{FF2B5EF4-FFF2-40B4-BE49-F238E27FC236}">
                <a16:creationId xmlns:a16="http://schemas.microsoft.com/office/drawing/2014/main" id="{4BBCD54A-EA2E-390D-CBD9-D4C4E3E4AEFD}"/>
              </a:ext>
            </a:extLst>
          </p:cNvPr>
          <p:cNvSpPr>
            <a:spLocks noGrp="1"/>
          </p:cNvSpPr>
          <p:nvPr>
            <p:ph type="title"/>
          </p:nvPr>
        </p:nvSpPr>
        <p:spPr>
          <a:xfrm>
            <a:off x="0" y="136525"/>
            <a:ext cx="12191999" cy="662781"/>
          </a:xfrm>
        </p:spPr>
        <p:txBody>
          <a:bodyPr>
            <a:normAutofit fontScale="90000"/>
          </a:bodyPr>
          <a:lstStyle/>
          <a:p>
            <a:pPr algn="ctr"/>
            <a:r>
              <a:rPr lang="en-US" dirty="0"/>
              <a:t>Substructuring Requires Meticulous Modal Testing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278C41E-60B5-B1DB-415B-08E00FF25D6C}"/>
                  </a:ext>
                </a:extLst>
              </p:cNvPr>
              <p:cNvSpPr>
                <a:spLocks noGrp="1"/>
              </p:cNvSpPr>
              <p:nvPr>
                <p:ph idx="1"/>
              </p:nvPr>
            </p:nvSpPr>
            <p:spPr>
              <a:xfrm>
                <a:off x="105031" y="939584"/>
                <a:ext cx="11549336" cy="3710417"/>
              </a:xfrm>
            </p:spPr>
            <p:txBody>
              <a:bodyPr>
                <a:normAutofit/>
              </a:bodyPr>
              <a:lstStyle/>
              <a:p>
                <a:r>
                  <a:rPr lang="en-US" dirty="0"/>
                  <a:t>Experimental/Analytical Substructuring relies on very high quality modal data</a:t>
                </a:r>
              </a:p>
              <a:p>
                <a:r>
                  <a:rPr lang="en-US" dirty="0"/>
                  <a:t>One misstep in the process leads to unreliable results</a:t>
                </a:r>
              </a:p>
              <a:p>
                <a:r>
                  <a:rPr lang="en-US" dirty="0"/>
                  <a:t>The test specifications and accuracy requirements are greater than standard modal testing for model calibration or validation.</a:t>
                </a:r>
              </a:p>
              <a:p>
                <a:pPr lvl="1"/>
                <a:r>
                  <a:rPr lang="en-US" dirty="0"/>
                  <a:t>A ‘standard’ modal test just needs reasonably accurate observability on a set of relevant modes, so there can be flexibility in exact sensor placement and excitation.</a:t>
                </a:r>
              </a:p>
              <a:p>
                <a:r>
                  <a:rPr lang="en-US" dirty="0"/>
                  <a:t>The entire experimental process should be designed and performed with substructuring in mind </a:t>
                </a:r>
                <a14:m>
                  <m:oMath xmlns:m="http://schemas.openxmlformats.org/officeDocument/2006/math">
                    <m:r>
                      <a:rPr lang="en-US" i="1" smtClean="0">
                        <a:latin typeface="Cambria Math" panose="02040503050406030204" pitchFamily="18" charset="0"/>
                      </a:rPr>
                      <m:t>→</m:t>
                    </m:r>
                  </m:oMath>
                </a14:m>
                <a:r>
                  <a:rPr lang="en-US" dirty="0"/>
                  <a:t> It’s a meticulous modal test with extra requirements</a:t>
                </a:r>
              </a:p>
            </p:txBody>
          </p:sp>
        </mc:Choice>
        <mc:Fallback xmlns="">
          <p:sp>
            <p:nvSpPr>
              <p:cNvPr id="3" name="Content Placeholder 2">
                <a:extLst>
                  <a:ext uri="{FF2B5EF4-FFF2-40B4-BE49-F238E27FC236}">
                    <a16:creationId xmlns:a16="http://schemas.microsoft.com/office/drawing/2014/main" id="{9278C41E-60B5-B1DB-415B-08E00FF25D6C}"/>
                  </a:ext>
                </a:extLst>
              </p:cNvPr>
              <p:cNvSpPr>
                <a:spLocks noGrp="1" noRot="1" noChangeAspect="1" noMove="1" noResize="1" noEditPoints="1" noAdjustHandles="1" noChangeArrowheads="1" noChangeShapeType="1" noTextEdit="1"/>
              </p:cNvSpPr>
              <p:nvPr>
                <p:ph idx="1"/>
              </p:nvPr>
            </p:nvSpPr>
            <p:spPr>
              <a:xfrm>
                <a:off x="105031" y="939584"/>
                <a:ext cx="11549336" cy="3710417"/>
              </a:xfrm>
              <a:blipFill>
                <a:blip r:embed="rId3"/>
                <a:stretch>
                  <a:fillRect l="-950" t="-2791"/>
                </a:stretch>
              </a:blipFill>
            </p:spPr>
            <p:txBody>
              <a:bodyPr/>
              <a:lstStyle/>
              <a:p>
                <a:r>
                  <a:rPr lang="en-US">
                    <a:noFill/>
                  </a:rPr>
                  <a:t> </a:t>
                </a:r>
              </a:p>
            </p:txBody>
          </p:sp>
        </mc:Fallback>
      </mc:AlternateContent>
      <p:sp>
        <p:nvSpPr>
          <p:cNvPr id="6" name="Arrow: Right 5">
            <a:extLst>
              <a:ext uri="{FF2B5EF4-FFF2-40B4-BE49-F238E27FC236}">
                <a16:creationId xmlns:a16="http://schemas.microsoft.com/office/drawing/2014/main" id="{28143DE4-2F3E-6303-23A3-96B8FE855F78}"/>
              </a:ext>
            </a:extLst>
          </p:cNvPr>
          <p:cNvSpPr/>
          <p:nvPr/>
        </p:nvSpPr>
        <p:spPr>
          <a:xfrm>
            <a:off x="5813611" y="5396264"/>
            <a:ext cx="565436" cy="423998"/>
          </a:xfrm>
          <a:prstGeom prst="rightArrow">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920CC47A-5C95-31AF-0275-4726D86794D6}"/>
              </a:ext>
            </a:extLst>
          </p:cNvPr>
          <p:cNvSpPr/>
          <p:nvPr/>
        </p:nvSpPr>
        <p:spPr>
          <a:xfrm>
            <a:off x="3497059" y="5233786"/>
            <a:ext cx="91440" cy="91440"/>
          </a:xfrm>
          <a:prstGeom prst="ellipse">
            <a:avLst/>
          </a:prstGeom>
          <a:solidFill>
            <a:srgbClr val="FF0000"/>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Arrow Connector 43">
            <a:extLst>
              <a:ext uri="{FF2B5EF4-FFF2-40B4-BE49-F238E27FC236}">
                <a16:creationId xmlns:a16="http://schemas.microsoft.com/office/drawing/2014/main" id="{B74A30BB-4A62-59D1-B0AA-5E6BB10B8314}"/>
              </a:ext>
            </a:extLst>
          </p:cNvPr>
          <p:cNvCxnSpPr>
            <a:cxnSpLocks/>
          </p:cNvCxnSpPr>
          <p:nvPr/>
        </p:nvCxnSpPr>
        <p:spPr>
          <a:xfrm flipV="1">
            <a:off x="3552284" y="5087206"/>
            <a:ext cx="34647" cy="145690"/>
          </a:xfrm>
          <a:prstGeom prst="straightConnector1">
            <a:avLst/>
          </a:prstGeom>
          <a:ln w="1905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7A163CC6-A450-9412-7E26-D2E30CDFA941}"/>
              </a:ext>
            </a:extLst>
          </p:cNvPr>
          <p:cNvCxnSpPr>
            <a:cxnSpLocks/>
          </p:cNvCxnSpPr>
          <p:nvPr/>
        </p:nvCxnSpPr>
        <p:spPr>
          <a:xfrm flipH="1" flipV="1">
            <a:off x="3357680" y="5214197"/>
            <a:ext cx="139379" cy="50453"/>
          </a:xfrm>
          <a:prstGeom prst="straightConnector1">
            <a:avLst/>
          </a:prstGeom>
          <a:ln w="1905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1" name="Oval 60">
            <a:extLst>
              <a:ext uri="{FF2B5EF4-FFF2-40B4-BE49-F238E27FC236}">
                <a16:creationId xmlns:a16="http://schemas.microsoft.com/office/drawing/2014/main" id="{B342B915-0A9F-BC1C-D75A-0B2246B11CD4}"/>
              </a:ext>
            </a:extLst>
          </p:cNvPr>
          <p:cNvSpPr/>
          <p:nvPr/>
        </p:nvSpPr>
        <p:spPr>
          <a:xfrm>
            <a:off x="3154540" y="5722105"/>
            <a:ext cx="91440" cy="91440"/>
          </a:xfrm>
          <a:prstGeom prst="ellipse">
            <a:avLst/>
          </a:prstGeom>
          <a:solidFill>
            <a:srgbClr val="FF0000"/>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Arrow Connector 61">
            <a:extLst>
              <a:ext uri="{FF2B5EF4-FFF2-40B4-BE49-F238E27FC236}">
                <a16:creationId xmlns:a16="http://schemas.microsoft.com/office/drawing/2014/main" id="{23ED0FBF-3DB5-C03E-3986-6A5B8210ECF5}"/>
              </a:ext>
            </a:extLst>
          </p:cNvPr>
          <p:cNvCxnSpPr>
            <a:cxnSpLocks/>
            <a:stCxn id="61" idx="2"/>
          </p:cNvCxnSpPr>
          <p:nvPr/>
        </p:nvCxnSpPr>
        <p:spPr>
          <a:xfrm flipH="1">
            <a:off x="3004183" y="5767825"/>
            <a:ext cx="150357" cy="0"/>
          </a:xfrm>
          <a:prstGeom prst="straightConnector1">
            <a:avLst/>
          </a:prstGeom>
          <a:ln w="1905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6A061F17-9FBC-C51C-76D2-C6D79496E0A4}"/>
              </a:ext>
            </a:extLst>
          </p:cNvPr>
          <p:cNvCxnSpPr>
            <a:cxnSpLocks/>
          </p:cNvCxnSpPr>
          <p:nvPr/>
        </p:nvCxnSpPr>
        <p:spPr>
          <a:xfrm>
            <a:off x="3200720" y="5813420"/>
            <a:ext cx="8648" cy="152300"/>
          </a:xfrm>
          <a:prstGeom prst="straightConnector1">
            <a:avLst/>
          </a:prstGeom>
          <a:ln w="1905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4" name="Oval 63">
            <a:extLst>
              <a:ext uri="{FF2B5EF4-FFF2-40B4-BE49-F238E27FC236}">
                <a16:creationId xmlns:a16="http://schemas.microsoft.com/office/drawing/2014/main" id="{37D6B442-4F2F-AF9B-AB65-6C30187DA600}"/>
              </a:ext>
            </a:extLst>
          </p:cNvPr>
          <p:cNvSpPr/>
          <p:nvPr/>
        </p:nvSpPr>
        <p:spPr>
          <a:xfrm>
            <a:off x="2989059" y="6400484"/>
            <a:ext cx="91440" cy="91440"/>
          </a:xfrm>
          <a:prstGeom prst="ellipse">
            <a:avLst/>
          </a:prstGeom>
          <a:solidFill>
            <a:srgbClr val="FF0000"/>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5" name="Straight Arrow Connector 64">
            <a:extLst>
              <a:ext uri="{FF2B5EF4-FFF2-40B4-BE49-F238E27FC236}">
                <a16:creationId xmlns:a16="http://schemas.microsoft.com/office/drawing/2014/main" id="{15F7CCBB-00D9-15FE-6168-B09B718E9D39}"/>
              </a:ext>
            </a:extLst>
          </p:cNvPr>
          <p:cNvCxnSpPr>
            <a:cxnSpLocks/>
          </p:cNvCxnSpPr>
          <p:nvPr/>
        </p:nvCxnSpPr>
        <p:spPr>
          <a:xfrm flipH="1">
            <a:off x="2842034" y="6468979"/>
            <a:ext cx="150049" cy="109886"/>
          </a:xfrm>
          <a:prstGeom prst="straightConnector1">
            <a:avLst/>
          </a:prstGeom>
          <a:ln w="1905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5283D2E2-CE01-3563-7B2C-666D31DDB906}"/>
              </a:ext>
            </a:extLst>
          </p:cNvPr>
          <p:cNvCxnSpPr>
            <a:cxnSpLocks/>
          </p:cNvCxnSpPr>
          <p:nvPr/>
        </p:nvCxnSpPr>
        <p:spPr>
          <a:xfrm>
            <a:off x="3067108" y="6471329"/>
            <a:ext cx="129778" cy="107536"/>
          </a:xfrm>
          <a:prstGeom prst="straightConnector1">
            <a:avLst/>
          </a:prstGeom>
          <a:ln w="1905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74" name="Oval 73">
            <a:extLst>
              <a:ext uri="{FF2B5EF4-FFF2-40B4-BE49-F238E27FC236}">
                <a16:creationId xmlns:a16="http://schemas.microsoft.com/office/drawing/2014/main" id="{91984580-9BB8-AFE8-D3D1-23A5D87913DF}"/>
              </a:ext>
            </a:extLst>
          </p:cNvPr>
          <p:cNvSpPr/>
          <p:nvPr/>
        </p:nvSpPr>
        <p:spPr>
          <a:xfrm>
            <a:off x="4697391" y="5472657"/>
            <a:ext cx="91440" cy="91440"/>
          </a:xfrm>
          <a:prstGeom prst="ellipse">
            <a:avLst/>
          </a:prstGeom>
          <a:solidFill>
            <a:srgbClr val="00B050"/>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Arrow Connector 74">
            <a:extLst>
              <a:ext uri="{FF2B5EF4-FFF2-40B4-BE49-F238E27FC236}">
                <a16:creationId xmlns:a16="http://schemas.microsoft.com/office/drawing/2014/main" id="{1F61D906-D961-4449-27B7-456DD6E47122}"/>
              </a:ext>
            </a:extLst>
          </p:cNvPr>
          <p:cNvCxnSpPr>
            <a:cxnSpLocks/>
          </p:cNvCxnSpPr>
          <p:nvPr/>
        </p:nvCxnSpPr>
        <p:spPr>
          <a:xfrm flipV="1">
            <a:off x="4454993" y="4883906"/>
            <a:ext cx="141549" cy="81354"/>
          </a:xfrm>
          <a:prstGeom prst="straightConnector1">
            <a:avLst/>
          </a:prstGeom>
          <a:ln w="1905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98F34DA6-C439-E060-3DBB-4A38A08EA0CE}"/>
              </a:ext>
            </a:extLst>
          </p:cNvPr>
          <p:cNvCxnSpPr>
            <a:cxnSpLocks/>
          </p:cNvCxnSpPr>
          <p:nvPr/>
        </p:nvCxnSpPr>
        <p:spPr>
          <a:xfrm flipH="1" flipV="1">
            <a:off x="4266319" y="4876926"/>
            <a:ext cx="112617" cy="103275"/>
          </a:xfrm>
          <a:prstGeom prst="straightConnector1">
            <a:avLst/>
          </a:prstGeom>
          <a:ln w="1905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77" name="Oval 76">
            <a:extLst>
              <a:ext uri="{FF2B5EF4-FFF2-40B4-BE49-F238E27FC236}">
                <a16:creationId xmlns:a16="http://schemas.microsoft.com/office/drawing/2014/main" id="{D2700A64-8FA8-71E8-F548-A76647DAD8F8}"/>
              </a:ext>
            </a:extLst>
          </p:cNvPr>
          <p:cNvSpPr/>
          <p:nvPr/>
        </p:nvSpPr>
        <p:spPr>
          <a:xfrm>
            <a:off x="4327025" y="6148727"/>
            <a:ext cx="91440" cy="91440"/>
          </a:xfrm>
          <a:prstGeom prst="ellipse">
            <a:avLst/>
          </a:prstGeom>
          <a:solidFill>
            <a:srgbClr val="00B050"/>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Straight Arrow Connector 77">
            <a:extLst>
              <a:ext uri="{FF2B5EF4-FFF2-40B4-BE49-F238E27FC236}">
                <a16:creationId xmlns:a16="http://schemas.microsoft.com/office/drawing/2014/main" id="{4C264599-07C8-BFF6-CA9E-9C682998AC65}"/>
              </a:ext>
            </a:extLst>
          </p:cNvPr>
          <p:cNvCxnSpPr>
            <a:cxnSpLocks/>
            <a:stCxn id="77" idx="2"/>
          </p:cNvCxnSpPr>
          <p:nvPr/>
        </p:nvCxnSpPr>
        <p:spPr>
          <a:xfrm flipH="1" flipV="1">
            <a:off x="4179531" y="6148727"/>
            <a:ext cx="147494" cy="45720"/>
          </a:xfrm>
          <a:prstGeom prst="straightConnector1">
            <a:avLst/>
          </a:prstGeom>
          <a:ln w="1905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79" name="Straight Arrow Connector 78">
            <a:extLst>
              <a:ext uri="{FF2B5EF4-FFF2-40B4-BE49-F238E27FC236}">
                <a16:creationId xmlns:a16="http://schemas.microsoft.com/office/drawing/2014/main" id="{60CE6B71-7E90-9838-60E5-17505FDD1DFF}"/>
              </a:ext>
            </a:extLst>
          </p:cNvPr>
          <p:cNvCxnSpPr>
            <a:cxnSpLocks/>
          </p:cNvCxnSpPr>
          <p:nvPr/>
        </p:nvCxnSpPr>
        <p:spPr>
          <a:xfrm flipH="1">
            <a:off x="4354642" y="6240042"/>
            <a:ext cx="18563" cy="160442"/>
          </a:xfrm>
          <a:prstGeom prst="straightConnector1">
            <a:avLst/>
          </a:prstGeom>
          <a:ln w="1905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0" name="Oval 79">
            <a:extLst>
              <a:ext uri="{FF2B5EF4-FFF2-40B4-BE49-F238E27FC236}">
                <a16:creationId xmlns:a16="http://schemas.microsoft.com/office/drawing/2014/main" id="{1159A158-238B-040E-7263-6E33CFF2C6F8}"/>
              </a:ext>
            </a:extLst>
          </p:cNvPr>
          <p:cNvSpPr/>
          <p:nvPr/>
        </p:nvSpPr>
        <p:spPr>
          <a:xfrm>
            <a:off x="4377201" y="4956088"/>
            <a:ext cx="91440" cy="91440"/>
          </a:xfrm>
          <a:prstGeom prst="ellipse">
            <a:avLst/>
          </a:prstGeom>
          <a:solidFill>
            <a:srgbClr val="00B050"/>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Arrow Connector 80">
            <a:extLst>
              <a:ext uri="{FF2B5EF4-FFF2-40B4-BE49-F238E27FC236}">
                <a16:creationId xmlns:a16="http://schemas.microsoft.com/office/drawing/2014/main" id="{6890EF22-C335-323D-A512-BCFC694AFDC4}"/>
              </a:ext>
            </a:extLst>
          </p:cNvPr>
          <p:cNvCxnSpPr>
            <a:cxnSpLocks/>
          </p:cNvCxnSpPr>
          <p:nvPr/>
        </p:nvCxnSpPr>
        <p:spPr>
          <a:xfrm flipH="1">
            <a:off x="4547342" y="5536502"/>
            <a:ext cx="150049" cy="109886"/>
          </a:xfrm>
          <a:prstGeom prst="straightConnector1">
            <a:avLst/>
          </a:prstGeom>
          <a:ln w="1905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2" name="Straight Arrow Connector 81">
            <a:extLst>
              <a:ext uri="{FF2B5EF4-FFF2-40B4-BE49-F238E27FC236}">
                <a16:creationId xmlns:a16="http://schemas.microsoft.com/office/drawing/2014/main" id="{14FA78F6-A065-9037-3E84-89F763198467}"/>
              </a:ext>
            </a:extLst>
          </p:cNvPr>
          <p:cNvCxnSpPr>
            <a:cxnSpLocks/>
          </p:cNvCxnSpPr>
          <p:nvPr/>
        </p:nvCxnSpPr>
        <p:spPr>
          <a:xfrm>
            <a:off x="4777101" y="5539026"/>
            <a:ext cx="129778" cy="107536"/>
          </a:xfrm>
          <a:prstGeom prst="straightConnector1">
            <a:avLst/>
          </a:prstGeom>
          <a:ln w="1905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00B6A2C6-73F2-8617-EFCD-137CC0705DE7}"/>
              </a:ext>
            </a:extLst>
          </p:cNvPr>
          <p:cNvCxnSpPr>
            <a:cxnSpLocks/>
          </p:cNvCxnSpPr>
          <p:nvPr/>
        </p:nvCxnSpPr>
        <p:spPr>
          <a:xfrm flipV="1">
            <a:off x="8010184" y="4679285"/>
            <a:ext cx="174737" cy="36697"/>
          </a:xfrm>
          <a:prstGeom prst="straightConnector1">
            <a:avLst/>
          </a:prstGeom>
          <a:ln w="1905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D515358F-8C32-B3C6-CFC0-09742797AC3C}"/>
              </a:ext>
            </a:extLst>
          </p:cNvPr>
          <p:cNvCxnSpPr>
            <a:cxnSpLocks/>
          </p:cNvCxnSpPr>
          <p:nvPr/>
        </p:nvCxnSpPr>
        <p:spPr>
          <a:xfrm flipH="1" flipV="1">
            <a:off x="7890213" y="4551538"/>
            <a:ext cx="60344" cy="149439"/>
          </a:xfrm>
          <a:prstGeom prst="straightConnector1">
            <a:avLst/>
          </a:prstGeom>
          <a:ln w="1905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9" name="Oval 88">
            <a:extLst>
              <a:ext uri="{FF2B5EF4-FFF2-40B4-BE49-F238E27FC236}">
                <a16:creationId xmlns:a16="http://schemas.microsoft.com/office/drawing/2014/main" id="{0FCACA6C-C319-5F21-B3ED-688B549F81A1}"/>
              </a:ext>
            </a:extLst>
          </p:cNvPr>
          <p:cNvSpPr/>
          <p:nvPr/>
        </p:nvSpPr>
        <p:spPr>
          <a:xfrm>
            <a:off x="7924331" y="4695928"/>
            <a:ext cx="91440" cy="91440"/>
          </a:xfrm>
          <a:prstGeom prst="ellipse">
            <a:avLst/>
          </a:prstGeom>
          <a:solidFill>
            <a:srgbClr val="00B050"/>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4099C5A7-B755-B008-A9F8-E8C27D8F817B}"/>
              </a:ext>
            </a:extLst>
          </p:cNvPr>
          <p:cNvSpPr/>
          <p:nvPr/>
        </p:nvSpPr>
        <p:spPr>
          <a:xfrm>
            <a:off x="8017888" y="5284242"/>
            <a:ext cx="91440" cy="91440"/>
          </a:xfrm>
          <a:prstGeom prst="ellipse">
            <a:avLst/>
          </a:prstGeom>
          <a:solidFill>
            <a:srgbClr val="00B050"/>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1" name="Straight Arrow Connector 90">
            <a:extLst>
              <a:ext uri="{FF2B5EF4-FFF2-40B4-BE49-F238E27FC236}">
                <a16:creationId xmlns:a16="http://schemas.microsoft.com/office/drawing/2014/main" id="{F692AD0F-96C1-A8BB-7425-E325742161AE}"/>
              </a:ext>
            </a:extLst>
          </p:cNvPr>
          <p:cNvCxnSpPr>
            <a:cxnSpLocks/>
          </p:cNvCxnSpPr>
          <p:nvPr/>
        </p:nvCxnSpPr>
        <p:spPr>
          <a:xfrm flipH="1">
            <a:off x="7847046" y="5341351"/>
            <a:ext cx="168206" cy="61450"/>
          </a:xfrm>
          <a:prstGeom prst="straightConnector1">
            <a:avLst/>
          </a:prstGeom>
          <a:ln w="1905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D8B92EBF-6134-B75B-7413-C3129C213303}"/>
              </a:ext>
            </a:extLst>
          </p:cNvPr>
          <p:cNvCxnSpPr>
            <a:cxnSpLocks/>
          </p:cNvCxnSpPr>
          <p:nvPr/>
        </p:nvCxnSpPr>
        <p:spPr>
          <a:xfrm>
            <a:off x="8080549" y="5366057"/>
            <a:ext cx="79952" cy="149181"/>
          </a:xfrm>
          <a:prstGeom prst="straightConnector1">
            <a:avLst/>
          </a:prstGeom>
          <a:ln w="1905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93" name="Oval 92">
            <a:extLst>
              <a:ext uri="{FF2B5EF4-FFF2-40B4-BE49-F238E27FC236}">
                <a16:creationId xmlns:a16="http://schemas.microsoft.com/office/drawing/2014/main" id="{15A7FCE7-AB15-81AD-8FAE-8006A78328FA}"/>
              </a:ext>
            </a:extLst>
          </p:cNvPr>
          <p:cNvSpPr/>
          <p:nvPr/>
        </p:nvSpPr>
        <p:spPr>
          <a:xfrm>
            <a:off x="7702343" y="5146660"/>
            <a:ext cx="91440" cy="91440"/>
          </a:xfrm>
          <a:prstGeom prst="ellipse">
            <a:avLst/>
          </a:prstGeom>
          <a:solidFill>
            <a:srgbClr val="FF0000"/>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4" name="Straight Arrow Connector 93">
            <a:extLst>
              <a:ext uri="{FF2B5EF4-FFF2-40B4-BE49-F238E27FC236}">
                <a16:creationId xmlns:a16="http://schemas.microsoft.com/office/drawing/2014/main" id="{B4BE7A65-AA28-76EC-2F5F-93DE6BD8013F}"/>
              </a:ext>
            </a:extLst>
          </p:cNvPr>
          <p:cNvCxnSpPr>
            <a:cxnSpLocks/>
          </p:cNvCxnSpPr>
          <p:nvPr/>
        </p:nvCxnSpPr>
        <p:spPr>
          <a:xfrm flipH="1" flipV="1">
            <a:off x="7683290" y="4995144"/>
            <a:ext cx="45300" cy="148948"/>
          </a:xfrm>
          <a:prstGeom prst="straightConnector1">
            <a:avLst/>
          </a:prstGeom>
          <a:ln w="1905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5" name="Straight Arrow Connector 94">
            <a:extLst>
              <a:ext uri="{FF2B5EF4-FFF2-40B4-BE49-F238E27FC236}">
                <a16:creationId xmlns:a16="http://schemas.microsoft.com/office/drawing/2014/main" id="{AE7864CD-0D21-5A9E-529F-5DCD99D42D9E}"/>
              </a:ext>
            </a:extLst>
          </p:cNvPr>
          <p:cNvCxnSpPr>
            <a:cxnSpLocks/>
          </p:cNvCxnSpPr>
          <p:nvPr/>
        </p:nvCxnSpPr>
        <p:spPr>
          <a:xfrm flipH="1">
            <a:off x="7563888" y="5177524"/>
            <a:ext cx="138455" cy="0"/>
          </a:xfrm>
          <a:prstGeom prst="straightConnector1">
            <a:avLst/>
          </a:prstGeom>
          <a:ln w="1905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96" name="Oval 95">
            <a:extLst>
              <a:ext uri="{FF2B5EF4-FFF2-40B4-BE49-F238E27FC236}">
                <a16:creationId xmlns:a16="http://schemas.microsoft.com/office/drawing/2014/main" id="{B6BA1C55-8C21-30A0-47BD-88C8B9B96F99}"/>
              </a:ext>
            </a:extLst>
          </p:cNvPr>
          <p:cNvSpPr/>
          <p:nvPr/>
        </p:nvSpPr>
        <p:spPr>
          <a:xfrm>
            <a:off x="7919863" y="6375262"/>
            <a:ext cx="91440" cy="91440"/>
          </a:xfrm>
          <a:prstGeom prst="ellipse">
            <a:avLst/>
          </a:prstGeom>
          <a:solidFill>
            <a:srgbClr val="FF0000"/>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7" name="Straight Arrow Connector 96">
            <a:extLst>
              <a:ext uri="{FF2B5EF4-FFF2-40B4-BE49-F238E27FC236}">
                <a16:creationId xmlns:a16="http://schemas.microsoft.com/office/drawing/2014/main" id="{5CA6AD3F-D7C4-692C-B5CD-A09DDF0EB008}"/>
              </a:ext>
            </a:extLst>
          </p:cNvPr>
          <p:cNvCxnSpPr>
            <a:cxnSpLocks/>
          </p:cNvCxnSpPr>
          <p:nvPr/>
        </p:nvCxnSpPr>
        <p:spPr>
          <a:xfrm flipH="1">
            <a:off x="7867650" y="6460709"/>
            <a:ext cx="75024" cy="156150"/>
          </a:xfrm>
          <a:prstGeom prst="straightConnector1">
            <a:avLst/>
          </a:prstGeom>
          <a:ln w="1905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8" name="Straight Arrow Connector 97">
            <a:extLst>
              <a:ext uri="{FF2B5EF4-FFF2-40B4-BE49-F238E27FC236}">
                <a16:creationId xmlns:a16="http://schemas.microsoft.com/office/drawing/2014/main" id="{CCFA02ED-CDCC-334E-9C05-AE2412FE28D4}"/>
              </a:ext>
            </a:extLst>
          </p:cNvPr>
          <p:cNvCxnSpPr>
            <a:cxnSpLocks/>
          </p:cNvCxnSpPr>
          <p:nvPr/>
        </p:nvCxnSpPr>
        <p:spPr>
          <a:xfrm>
            <a:off x="8010574" y="6433294"/>
            <a:ext cx="143653" cy="102001"/>
          </a:xfrm>
          <a:prstGeom prst="straightConnector1">
            <a:avLst/>
          </a:prstGeom>
          <a:ln w="1905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9" name="Explosion: 14 Points 8">
            <a:extLst>
              <a:ext uri="{FF2B5EF4-FFF2-40B4-BE49-F238E27FC236}">
                <a16:creationId xmlns:a16="http://schemas.microsoft.com/office/drawing/2014/main" id="{2B0DF42C-EABD-8DAA-9275-0EEC44C8957A}"/>
              </a:ext>
            </a:extLst>
          </p:cNvPr>
          <p:cNvSpPr/>
          <p:nvPr/>
        </p:nvSpPr>
        <p:spPr>
          <a:xfrm rot="532710">
            <a:off x="7209355" y="5168454"/>
            <a:ext cx="842478" cy="810448"/>
          </a:xfrm>
          <a:prstGeom prst="irregularSeal2">
            <a:avLst/>
          </a:prstGeom>
          <a:solidFill>
            <a:srgbClr val="FF0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9205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51C287D-6A46-8F1D-48D0-A0FFF948F8C8}"/>
              </a:ext>
            </a:extLst>
          </p:cNvPr>
          <p:cNvSpPr>
            <a:spLocks noGrp="1"/>
          </p:cNvSpPr>
          <p:nvPr>
            <p:ph type="title"/>
          </p:nvPr>
        </p:nvSpPr>
        <p:spPr>
          <a:xfrm>
            <a:off x="0" y="1112787"/>
            <a:ext cx="12192000" cy="662781"/>
          </a:xfrm>
        </p:spPr>
        <p:txBody>
          <a:bodyPr>
            <a:normAutofit fontScale="90000"/>
          </a:bodyPr>
          <a:lstStyle/>
          <a:p>
            <a:r>
              <a:rPr lang="en-US" dirty="0"/>
              <a:t>General Modal Testing Pitfalls</a:t>
            </a:r>
          </a:p>
        </p:txBody>
      </p:sp>
    </p:spTree>
    <p:extLst>
      <p:ext uri="{BB962C8B-B14F-4D97-AF65-F5344CB8AC3E}">
        <p14:creationId xmlns:p14="http://schemas.microsoft.com/office/powerpoint/2010/main" val="40172808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0F47B-C577-529C-B6C9-1D51DCCF5CA5}"/>
              </a:ext>
            </a:extLst>
          </p:cNvPr>
          <p:cNvSpPr>
            <a:spLocks noGrp="1"/>
          </p:cNvSpPr>
          <p:nvPr>
            <p:ph type="title"/>
          </p:nvPr>
        </p:nvSpPr>
        <p:spPr>
          <a:xfrm>
            <a:off x="0" y="136525"/>
            <a:ext cx="12192000" cy="662781"/>
          </a:xfrm>
        </p:spPr>
        <p:txBody>
          <a:bodyPr>
            <a:normAutofit fontScale="90000"/>
          </a:bodyPr>
          <a:lstStyle/>
          <a:p>
            <a:pPr algn="ctr"/>
            <a:r>
              <a:rPr lang="en-US" dirty="0"/>
              <a:t>General Modal Testing Pitfalls</a:t>
            </a:r>
          </a:p>
        </p:txBody>
      </p:sp>
      <p:sp>
        <p:nvSpPr>
          <p:cNvPr id="3" name="Content Placeholder 2">
            <a:extLst>
              <a:ext uri="{FF2B5EF4-FFF2-40B4-BE49-F238E27FC236}">
                <a16:creationId xmlns:a16="http://schemas.microsoft.com/office/drawing/2014/main" id="{EA8647B2-F948-C49A-9A44-6A35DD255441}"/>
              </a:ext>
            </a:extLst>
          </p:cNvPr>
          <p:cNvSpPr>
            <a:spLocks noGrp="1"/>
          </p:cNvSpPr>
          <p:nvPr>
            <p:ph idx="1"/>
          </p:nvPr>
        </p:nvSpPr>
        <p:spPr>
          <a:xfrm>
            <a:off x="105032" y="939586"/>
            <a:ext cx="11337324" cy="2133814"/>
          </a:xfrm>
        </p:spPr>
        <p:txBody>
          <a:bodyPr>
            <a:normAutofit/>
          </a:bodyPr>
          <a:lstStyle/>
          <a:p>
            <a:r>
              <a:rPr lang="en-US" dirty="0"/>
              <a:t>Sensor Selection: </a:t>
            </a:r>
          </a:p>
          <a:p>
            <a:pPr lvl="1"/>
            <a:r>
              <a:rPr lang="en-US" dirty="0"/>
              <a:t>What is an appropriate sensitivity for measuring the test article response? </a:t>
            </a:r>
          </a:p>
          <a:p>
            <a:pPr lvl="1"/>
            <a:r>
              <a:rPr lang="en-US" dirty="0"/>
              <a:t>Are mass loading effects from the sensor or cabling a concern? Do you need a noncontact measurement instead? </a:t>
            </a:r>
          </a:p>
          <a:p>
            <a:pPr lvl="1"/>
            <a:r>
              <a:rPr lang="en-US" dirty="0"/>
              <a:t>For force input, impact hammer or modal shaker? Something else?</a:t>
            </a:r>
          </a:p>
        </p:txBody>
      </p:sp>
      <p:pic>
        <p:nvPicPr>
          <p:cNvPr id="1026" name="Picture 2">
            <a:extLst>
              <a:ext uri="{FF2B5EF4-FFF2-40B4-BE49-F238E27FC236}">
                <a16:creationId xmlns:a16="http://schemas.microsoft.com/office/drawing/2014/main" id="{08CCB779-2076-9F34-4C31-4C0CE913B9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372" y="3078294"/>
            <a:ext cx="4335119" cy="259105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CD8ED04-7A3B-446D-AA5E-FFD56FBC8F90}"/>
              </a:ext>
            </a:extLst>
          </p:cNvPr>
          <p:cNvSpPr txBox="1"/>
          <p:nvPr/>
        </p:nvSpPr>
        <p:spPr>
          <a:xfrm>
            <a:off x="1512359" y="6536952"/>
            <a:ext cx="6191250" cy="246221"/>
          </a:xfrm>
          <a:prstGeom prst="rect">
            <a:avLst/>
          </a:prstGeom>
          <a:noFill/>
        </p:spPr>
        <p:txBody>
          <a:bodyPr wrap="square">
            <a:spAutoFit/>
          </a:bodyPr>
          <a:lstStyle/>
          <a:p>
            <a:r>
              <a:rPr lang="en-US" sz="1000" dirty="0"/>
              <a:t>https://www.vicoter.it/index.php/modal-analysis-of-a-20-meters-long-wind-turbine-blade/?lang=en</a:t>
            </a:r>
          </a:p>
        </p:txBody>
      </p:sp>
      <p:pic>
        <p:nvPicPr>
          <p:cNvPr id="7" name="Picture 6">
            <a:extLst>
              <a:ext uri="{FF2B5EF4-FFF2-40B4-BE49-F238E27FC236}">
                <a16:creationId xmlns:a16="http://schemas.microsoft.com/office/drawing/2014/main" id="{E803C14B-6683-4679-3E85-FB19BDFDC9DC}"/>
              </a:ext>
            </a:extLst>
          </p:cNvPr>
          <p:cNvPicPr>
            <a:picLocks noChangeAspect="1"/>
          </p:cNvPicPr>
          <p:nvPr/>
        </p:nvPicPr>
        <p:blipFill>
          <a:blip r:embed="rId4"/>
          <a:stretch>
            <a:fillRect/>
          </a:stretch>
        </p:blipFill>
        <p:spPr>
          <a:xfrm>
            <a:off x="5773694" y="3078295"/>
            <a:ext cx="5702934" cy="2591052"/>
          </a:xfrm>
          <a:prstGeom prst="rect">
            <a:avLst/>
          </a:prstGeom>
        </p:spPr>
      </p:pic>
      <p:sp>
        <p:nvSpPr>
          <p:cNvPr id="9" name="TextBox 8">
            <a:extLst>
              <a:ext uri="{FF2B5EF4-FFF2-40B4-BE49-F238E27FC236}">
                <a16:creationId xmlns:a16="http://schemas.microsoft.com/office/drawing/2014/main" id="{DBDA836E-1A9D-9BB0-576A-9D8307ACCCFD}"/>
              </a:ext>
            </a:extLst>
          </p:cNvPr>
          <p:cNvSpPr txBox="1"/>
          <p:nvPr/>
        </p:nvSpPr>
        <p:spPr>
          <a:xfrm>
            <a:off x="7636932" y="6536952"/>
            <a:ext cx="3489326" cy="253916"/>
          </a:xfrm>
          <a:prstGeom prst="rect">
            <a:avLst/>
          </a:prstGeom>
          <a:noFill/>
        </p:spPr>
        <p:txBody>
          <a:bodyPr wrap="square">
            <a:spAutoFit/>
          </a:bodyPr>
          <a:lstStyle/>
          <a:p>
            <a:r>
              <a:rPr lang="en-US" sz="1000" dirty="0"/>
              <a:t>https://www.nature.com/articles/s41598-025-90976-3</a:t>
            </a:r>
          </a:p>
        </p:txBody>
      </p:sp>
      <p:sp>
        <p:nvSpPr>
          <p:cNvPr id="10" name="TextBox 9">
            <a:extLst>
              <a:ext uri="{FF2B5EF4-FFF2-40B4-BE49-F238E27FC236}">
                <a16:creationId xmlns:a16="http://schemas.microsoft.com/office/drawing/2014/main" id="{8CE0E5C4-46FA-D883-55D4-3D824E067787}"/>
              </a:ext>
            </a:extLst>
          </p:cNvPr>
          <p:cNvSpPr txBox="1"/>
          <p:nvPr/>
        </p:nvSpPr>
        <p:spPr>
          <a:xfrm>
            <a:off x="624385" y="5672193"/>
            <a:ext cx="4517091" cy="246221"/>
          </a:xfrm>
          <a:prstGeom prst="rect">
            <a:avLst/>
          </a:prstGeom>
          <a:noFill/>
        </p:spPr>
        <p:txBody>
          <a:bodyPr wrap="square">
            <a:spAutoFit/>
          </a:bodyPr>
          <a:lstStyle/>
          <a:p>
            <a:pPr algn="ctr"/>
            <a:r>
              <a:rPr lang="en-US" sz="1000" dirty="0"/>
              <a:t>Massive test setup of a wind turbine blade with all relevant modes under 25 Hz</a:t>
            </a:r>
          </a:p>
        </p:txBody>
      </p:sp>
      <p:sp>
        <p:nvSpPr>
          <p:cNvPr id="11" name="TextBox 10">
            <a:extLst>
              <a:ext uri="{FF2B5EF4-FFF2-40B4-BE49-F238E27FC236}">
                <a16:creationId xmlns:a16="http://schemas.microsoft.com/office/drawing/2014/main" id="{131C8E5E-65DD-893C-334B-B69C5F7EE594}"/>
              </a:ext>
            </a:extLst>
          </p:cNvPr>
          <p:cNvSpPr txBox="1"/>
          <p:nvPr/>
        </p:nvSpPr>
        <p:spPr>
          <a:xfrm>
            <a:off x="6578600" y="5672193"/>
            <a:ext cx="4385733" cy="246221"/>
          </a:xfrm>
          <a:prstGeom prst="rect">
            <a:avLst/>
          </a:prstGeom>
          <a:noFill/>
        </p:spPr>
        <p:txBody>
          <a:bodyPr wrap="square">
            <a:spAutoFit/>
          </a:bodyPr>
          <a:lstStyle/>
          <a:p>
            <a:pPr algn="ctr"/>
            <a:r>
              <a:rPr lang="en-US" sz="1000" dirty="0"/>
              <a:t>Micro scale MEMS silicon cantilever resonator with a 52kHz first mode</a:t>
            </a:r>
          </a:p>
        </p:txBody>
      </p:sp>
    </p:spTree>
    <p:extLst>
      <p:ext uri="{BB962C8B-B14F-4D97-AF65-F5344CB8AC3E}">
        <p14:creationId xmlns:p14="http://schemas.microsoft.com/office/powerpoint/2010/main" val="1977821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0F47B-C577-529C-B6C9-1D51DCCF5CA5}"/>
              </a:ext>
            </a:extLst>
          </p:cNvPr>
          <p:cNvSpPr>
            <a:spLocks noGrp="1"/>
          </p:cNvSpPr>
          <p:nvPr>
            <p:ph type="title"/>
          </p:nvPr>
        </p:nvSpPr>
        <p:spPr>
          <a:xfrm>
            <a:off x="0" y="136525"/>
            <a:ext cx="12192000" cy="662781"/>
          </a:xfrm>
        </p:spPr>
        <p:txBody>
          <a:bodyPr>
            <a:normAutofit fontScale="90000"/>
          </a:bodyPr>
          <a:lstStyle/>
          <a:p>
            <a:pPr algn="ctr"/>
            <a:r>
              <a:rPr lang="en-US" dirty="0"/>
              <a:t>General Modal Testing Pitfalls</a:t>
            </a:r>
          </a:p>
        </p:txBody>
      </p:sp>
      <p:sp>
        <p:nvSpPr>
          <p:cNvPr id="3" name="Content Placeholder 2">
            <a:extLst>
              <a:ext uri="{FF2B5EF4-FFF2-40B4-BE49-F238E27FC236}">
                <a16:creationId xmlns:a16="http://schemas.microsoft.com/office/drawing/2014/main" id="{EA8647B2-F948-C49A-9A44-6A35DD255441}"/>
              </a:ext>
            </a:extLst>
          </p:cNvPr>
          <p:cNvSpPr>
            <a:spLocks noGrp="1"/>
          </p:cNvSpPr>
          <p:nvPr>
            <p:ph idx="1"/>
          </p:nvPr>
        </p:nvSpPr>
        <p:spPr>
          <a:xfrm>
            <a:off x="105031" y="939585"/>
            <a:ext cx="11710201" cy="5088682"/>
          </a:xfrm>
        </p:spPr>
        <p:txBody>
          <a:bodyPr>
            <a:normAutofit/>
          </a:bodyPr>
          <a:lstStyle/>
          <a:p>
            <a:r>
              <a:rPr lang="en-US" dirty="0"/>
              <a:t>Sensor Bookkeeping:</a:t>
            </a:r>
          </a:p>
          <a:p>
            <a:pPr lvl="1"/>
            <a:r>
              <a:rPr lang="en-US" dirty="0"/>
              <a:t>How accurately do you know the sensor locations and orientation?</a:t>
            </a:r>
          </a:p>
          <a:p>
            <a:pPr lvl="1"/>
            <a:r>
              <a:rPr lang="en-US" dirty="0"/>
              <a:t>Keep a comprehensive record of sensor DOF numbering, direction and sign</a:t>
            </a:r>
          </a:p>
          <a:p>
            <a:pPr lvl="1"/>
            <a:r>
              <a:rPr lang="en-US" dirty="0"/>
              <a:t>Ensure sensor sensitivity values are correct and accurate</a:t>
            </a:r>
          </a:p>
        </p:txBody>
      </p:sp>
      <p:pic>
        <p:nvPicPr>
          <p:cNvPr id="8" name="Picture 29" descr="ESRF_3">
            <a:extLst>
              <a:ext uri="{FF2B5EF4-FFF2-40B4-BE49-F238E27FC236}">
                <a16:creationId xmlns:a16="http://schemas.microsoft.com/office/drawing/2014/main" id="{F271BAA0-9E8A-C2EE-69A1-0E2E569937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8975" y="2732005"/>
            <a:ext cx="8342312" cy="324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38572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0F47B-C577-529C-B6C9-1D51DCCF5CA5}"/>
              </a:ext>
            </a:extLst>
          </p:cNvPr>
          <p:cNvSpPr>
            <a:spLocks noGrp="1"/>
          </p:cNvSpPr>
          <p:nvPr>
            <p:ph type="title"/>
          </p:nvPr>
        </p:nvSpPr>
        <p:spPr>
          <a:xfrm>
            <a:off x="0" y="136525"/>
            <a:ext cx="12192000" cy="662781"/>
          </a:xfrm>
        </p:spPr>
        <p:txBody>
          <a:bodyPr>
            <a:normAutofit fontScale="90000"/>
          </a:bodyPr>
          <a:lstStyle/>
          <a:p>
            <a:pPr algn="ctr"/>
            <a:r>
              <a:rPr lang="en-US" dirty="0"/>
              <a:t>General Modal Testing Pitfalls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A8647B2-F948-C49A-9A44-6A35DD255441}"/>
                  </a:ext>
                </a:extLst>
              </p:cNvPr>
              <p:cNvSpPr>
                <a:spLocks noGrp="1"/>
              </p:cNvSpPr>
              <p:nvPr>
                <p:ph idx="1"/>
              </p:nvPr>
            </p:nvSpPr>
            <p:spPr>
              <a:xfrm>
                <a:off x="105031" y="939585"/>
                <a:ext cx="11710201" cy="2527515"/>
              </a:xfrm>
            </p:spPr>
            <p:txBody>
              <a:bodyPr>
                <a:normAutofit/>
              </a:bodyPr>
              <a:lstStyle/>
              <a:p>
                <a:r>
                  <a:rPr lang="en-US" dirty="0"/>
                  <a:t>Test Setup: </a:t>
                </a:r>
              </a:p>
              <a:p>
                <a:pPr lvl="1"/>
                <a:r>
                  <a:rPr lang="en-US" dirty="0"/>
                  <a:t>Human Error </a:t>
                </a:r>
                <a14:m>
                  <m:oMath xmlns:m="http://schemas.openxmlformats.org/officeDocument/2006/math">
                    <m:r>
                      <a:rPr lang="en-US" b="0" i="1" smtClean="0">
                        <a:latin typeface="Cambria Math" panose="02040503050406030204" pitchFamily="18" charset="0"/>
                      </a:rPr>
                      <m:t>→</m:t>
                    </m:r>
                  </m:oMath>
                </a14:m>
                <a:r>
                  <a:rPr lang="en-US" dirty="0"/>
                  <a:t> Inaccurate sensor placement and orientation, wires incorrectly attached to measurement frontend, poor calibration of noncontact equipment (LDV &amp; DIC)</a:t>
                </a:r>
              </a:p>
              <a:p>
                <a:pPr lvl="1"/>
                <a:r>
                  <a:rPr lang="en-US" dirty="0"/>
                  <a:t>Poor boundary conditions can influence test article response</a:t>
                </a:r>
              </a:p>
              <a:p>
                <a:pPr lvl="1"/>
                <a:r>
                  <a:rPr lang="en-US" dirty="0"/>
                  <a:t>Set appropriate sample rate &amp; duration to avoid leakage and aliasing</a:t>
                </a:r>
              </a:p>
              <a:p>
                <a:pPr lvl="1"/>
                <a:r>
                  <a:rPr lang="en-US" dirty="0"/>
                  <a:t>Supply proper excitation - no double hits with hammer, minimize shaker boundary effects</a:t>
                </a:r>
              </a:p>
            </p:txBody>
          </p:sp>
        </mc:Choice>
        <mc:Fallback xmlns="">
          <p:sp>
            <p:nvSpPr>
              <p:cNvPr id="3" name="Content Placeholder 2">
                <a:extLst>
                  <a:ext uri="{FF2B5EF4-FFF2-40B4-BE49-F238E27FC236}">
                    <a16:creationId xmlns:a16="http://schemas.microsoft.com/office/drawing/2014/main" id="{EA8647B2-F948-C49A-9A44-6A35DD255441}"/>
                  </a:ext>
                </a:extLst>
              </p:cNvPr>
              <p:cNvSpPr>
                <a:spLocks noGrp="1" noRot="1" noChangeAspect="1" noMove="1" noResize="1" noEditPoints="1" noAdjustHandles="1" noChangeArrowheads="1" noChangeShapeType="1" noTextEdit="1"/>
              </p:cNvSpPr>
              <p:nvPr>
                <p:ph idx="1"/>
              </p:nvPr>
            </p:nvSpPr>
            <p:spPr>
              <a:xfrm>
                <a:off x="105031" y="939585"/>
                <a:ext cx="11710201" cy="2527515"/>
              </a:xfrm>
              <a:blipFill>
                <a:blip r:embed="rId3"/>
                <a:stretch>
                  <a:fillRect l="-937" t="-4096" r="-781"/>
                </a:stretch>
              </a:blipFill>
            </p:spPr>
            <p:txBody>
              <a:bodyPr/>
              <a:lstStyle/>
              <a:p>
                <a:r>
                  <a:rPr lang="en-US">
                    <a:noFill/>
                  </a:rPr>
                  <a:t> </a:t>
                </a:r>
              </a:p>
            </p:txBody>
          </p:sp>
        </mc:Fallback>
      </mc:AlternateContent>
      <p:pic>
        <p:nvPicPr>
          <p:cNvPr id="2050" name="Picture 2">
            <a:extLst>
              <a:ext uri="{FF2B5EF4-FFF2-40B4-BE49-F238E27FC236}">
                <a16:creationId xmlns:a16="http://schemas.microsoft.com/office/drawing/2014/main" id="{C29817A5-8752-F92C-AA06-9029288424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19875" y="3538106"/>
            <a:ext cx="3913461" cy="262488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895A763-50A9-7C3A-0D3D-4F9AF974D6C6}"/>
              </a:ext>
            </a:extLst>
          </p:cNvPr>
          <p:cNvSpPr txBox="1"/>
          <p:nvPr/>
        </p:nvSpPr>
        <p:spPr>
          <a:xfrm>
            <a:off x="6002866" y="6553779"/>
            <a:ext cx="5383742" cy="246221"/>
          </a:xfrm>
          <a:prstGeom prst="rect">
            <a:avLst/>
          </a:prstGeom>
          <a:noFill/>
        </p:spPr>
        <p:txBody>
          <a:bodyPr wrap="square">
            <a:spAutoFit/>
          </a:bodyPr>
          <a:lstStyle/>
          <a:p>
            <a:pPr algn="ctr"/>
            <a:r>
              <a:rPr lang="en-US" sz="1000" dirty="0"/>
              <a:t>https://www.crystalinstruments.com/modal-shaker-testing-using-periodic-random-excitation</a:t>
            </a:r>
          </a:p>
        </p:txBody>
      </p:sp>
      <p:pic>
        <p:nvPicPr>
          <p:cNvPr id="4" name="Picture 5">
            <a:extLst>
              <a:ext uri="{FF2B5EF4-FFF2-40B4-BE49-F238E27FC236}">
                <a16:creationId xmlns:a16="http://schemas.microsoft.com/office/drawing/2014/main" id="{2205E3DB-387B-2DC4-6542-3CBED5DD830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5684" y="3532135"/>
            <a:ext cx="3913461" cy="2618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82629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0F47B-C577-529C-B6C9-1D51DCCF5CA5}"/>
              </a:ext>
            </a:extLst>
          </p:cNvPr>
          <p:cNvSpPr>
            <a:spLocks noGrp="1"/>
          </p:cNvSpPr>
          <p:nvPr>
            <p:ph type="title"/>
          </p:nvPr>
        </p:nvSpPr>
        <p:spPr>
          <a:xfrm>
            <a:off x="0" y="136525"/>
            <a:ext cx="12192000" cy="662781"/>
          </a:xfrm>
        </p:spPr>
        <p:txBody>
          <a:bodyPr>
            <a:normAutofit fontScale="90000"/>
          </a:bodyPr>
          <a:lstStyle/>
          <a:p>
            <a:pPr algn="ctr"/>
            <a:r>
              <a:rPr lang="en-US" dirty="0"/>
              <a:t>General Modal Testing Pitfalls</a:t>
            </a:r>
          </a:p>
        </p:txBody>
      </p:sp>
      <p:sp>
        <p:nvSpPr>
          <p:cNvPr id="3" name="Content Placeholder 2">
            <a:extLst>
              <a:ext uri="{FF2B5EF4-FFF2-40B4-BE49-F238E27FC236}">
                <a16:creationId xmlns:a16="http://schemas.microsoft.com/office/drawing/2014/main" id="{EA8647B2-F948-C49A-9A44-6A35DD255441}"/>
              </a:ext>
            </a:extLst>
          </p:cNvPr>
          <p:cNvSpPr>
            <a:spLocks noGrp="1"/>
          </p:cNvSpPr>
          <p:nvPr>
            <p:ph idx="1"/>
          </p:nvPr>
        </p:nvSpPr>
        <p:spPr>
          <a:xfrm>
            <a:off x="105031" y="939585"/>
            <a:ext cx="11710201" cy="1473415"/>
          </a:xfrm>
        </p:spPr>
        <p:txBody>
          <a:bodyPr>
            <a:normAutofit/>
          </a:bodyPr>
          <a:lstStyle/>
          <a:p>
            <a:r>
              <a:rPr lang="en-US" dirty="0"/>
              <a:t>Post Processing: </a:t>
            </a:r>
          </a:p>
          <a:p>
            <a:pPr lvl="1"/>
            <a:r>
              <a:rPr lang="en-US" dirty="0"/>
              <a:t>Ensure accurate local coordinate system conversions, if needed</a:t>
            </a:r>
          </a:p>
          <a:p>
            <a:pPr lvl="1"/>
            <a:r>
              <a:rPr lang="en-US" dirty="0"/>
              <a:t>Take care when inferring data from FRFs via curve fitting, VPT or expansion.</a:t>
            </a:r>
          </a:p>
        </p:txBody>
      </p:sp>
      <p:pic>
        <p:nvPicPr>
          <p:cNvPr id="9" name="Picture 8">
            <a:extLst>
              <a:ext uri="{FF2B5EF4-FFF2-40B4-BE49-F238E27FC236}">
                <a16:creationId xmlns:a16="http://schemas.microsoft.com/office/drawing/2014/main" id="{25BDDD09-F6CC-4B81-011F-BDE7358CB0B9}"/>
              </a:ext>
            </a:extLst>
          </p:cNvPr>
          <p:cNvPicPr>
            <a:picLocks noChangeAspect="1"/>
          </p:cNvPicPr>
          <p:nvPr/>
        </p:nvPicPr>
        <p:blipFill>
          <a:blip r:embed="rId3">
            <a:clrChange>
              <a:clrFrom>
                <a:srgbClr val="D6D6D6"/>
              </a:clrFrom>
              <a:clrTo>
                <a:srgbClr val="D6D6D6">
                  <a:alpha val="0"/>
                </a:srgbClr>
              </a:clrTo>
            </a:clrChange>
          </a:blip>
          <a:stretch>
            <a:fillRect/>
          </a:stretch>
        </p:blipFill>
        <p:spPr>
          <a:xfrm>
            <a:off x="1806899" y="2233470"/>
            <a:ext cx="8578201" cy="4423062"/>
          </a:xfrm>
          <a:prstGeom prst="rect">
            <a:avLst/>
          </a:prstGeom>
        </p:spPr>
      </p:pic>
    </p:spTree>
    <p:extLst>
      <p:ext uri="{BB962C8B-B14F-4D97-AF65-F5344CB8AC3E}">
        <p14:creationId xmlns:p14="http://schemas.microsoft.com/office/powerpoint/2010/main" val="4102964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51C287D-6A46-8F1D-48D0-A0FFF948F8C8}"/>
              </a:ext>
            </a:extLst>
          </p:cNvPr>
          <p:cNvSpPr>
            <a:spLocks noGrp="1"/>
          </p:cNvSpPr>
          <p:nvPr>
            <p:ph type="title"/>
          </p:nvPr>
        </p:nvSpPr>
        <p:spPr>
          <a:xfrm>
            <a:off x="0" y="1104900"/>
            <a:ext cx="12192000" cy="855133"/>
          </a:xfrm>
        </p:spPr>
        <p:txBody>
          <a:bodyPr>
            <a:normAutofit fontScale="90000"/>
          </a:bodyPr>
          <a:lstStyle/>
          <a:p>
            <a:r>
              <a:rPr lang="en-US" dirty="0"/>
              <a:t>Testing Guidelines Specifically for Substructuring</a:t>
            </a:r>
          </a:p>
        </p:txBody>
      </p:sp>
    </p:spTree>
    <p:extLst>
      <p:ext uri="{BB962C8B-B14F-4D97-AF65-F5344CB8AC3E}">
        <p14:creationId xmlns:p14="http://schemas.microsoft.com/office/powerpoint/2010/main" val="2770107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D3F6C84-58B9-228F-A9E0-B252C0BCDA0B}"/>
              </a:ext>
            </a:extLst>
          </p:cNvPr>
          <p:cNvPicPr>
            <a:picLocks noChangeAspect="1"/>
          </p:cNvPicPr>
          <p:nvPr/>
        </p:nvPicPr>
        <p:blipFill>
          <a:blip r:embed="rId3">
            <a:clrChange>
              <a:clrFrom>
                <a:srgbClr val="FFFFFF"/>
              </a:clrFrom>
              <a:clrTo>
                <a:srgbClr val="FFFFFF">
                  <a:alpha val="0"/>
                </a:srgbClr>
              </a:clrTo>
            </a:clrChange>
          </a:blip>
          <a:srcRect r="44557"/>
          <a:stretch/>
        </p:blipFill>
        <p:spPr>
          <a:xfrm>
            <a:off x="155646" y="3087753"/>
            <a:ext cx="3475732" cy="2633210"/>
          </a:xfrm>
          <a:prstGeom prst="rect">
            <a:avLst/>
          </a:prstGeom>
        </p:spPr>
      </p:pic>
      <p:pic>
        <p:nvPicPr>
          <p:cNvPr id="8" name="Picture 7">
            <a:extLst>
              <a:ext uri="{FF2B5EF4-FFF2-40B4-BE49-F238E27FC236}">
                <a16:creationId xmlns:a16="http://schemas.microsoft.com/office/drawing/2014/main" id="{D97BC440-FE9B-9EB3-55B6-845826CDFEBB}"/>
              </a:ext>
            </a:extLst>
          </p:cNvPr>
          <p:cNvPicPr>
            <a:picLocks noChangeAspect="1"/>
          </p:cNvPicPr>
          <p:nvPr/>
        </p:nvPicPr>
        <p:blipFill>
          <a:blip r:embed="rId3">
            <a:clrChange>
              <a:clrFrom>
                <a:srgbClr val="FFFFFF"/>
              </a:clrFrom>
              <a:clrTo>
                <a:srgbClr val="FFFFFF">
                  <a:alpha val="0"/>
                </a:srgbClr>
              </a:clrTo>
            </a:clrChange>
          </a:blip>
          <a:srcRect l="70950"/>
          <a:stretch/>
        </p:blipFill>
        <p:spPr>
          <a:xfrm>
            <a:off x="4933283" y="3268202"/>
            <a:ext cx="1605910" cy="2321992"/>
          </a:xfrm>
          <a:prstGeom prst="rect">
            <a:avLst/>
          </a:prstGeom>
        </p:spPr>
      </p:pic>
      <p:pic>
        <p:nvPicPr>
          <p:cNvPr id="5" name="Picture 4">
            <a:extLst>
              <a:ext uri="{FF2B5EF4-FFF2-40B4-BE49-F238E27FC236}">
                <a16:creationId xmlns:a16="http://schemas.microsoft.com/office/drawing/2014/main" id="{2DD793B5-ECE4-A712-E960-058DA40A757E}"/>
              </a:ext>
            </a:extLst>
          </p:cNvPr>
          <p:cNvPicPr>
            <a:picLocks noChangeAspect="1"/>
          </p:cNvPicPr>
          <p:nvPr/>
        </p:nvPicPr>
        <p:blipFill>
          <a:blip r:embed="rId3">
            <a:clrChange>
              <a:clrFrom>
                <a:srgbClr val="FFFFFF"/>
              </a:clrFrom>
              <a:clrTo>
                <a:srgbClr val="FFFFFF">
                  <a:alpha val="0"/>
                </a:srgbClr>
              </a:clrTo>
            </a:clrChange>
          </a:blip>
          <a:srcRect r="44557"/>
          <a:stretch/>
        </p:blipFill>
        <p:spPr>
          <a:xfrm>
            <a:off x="7499632" y="3097175"/>
            <a:ext cx="3475732" cy="2633210"/>
          </a:xfrm>
          <a:prstGeom prst="rect">
            <a:avLst/>
          </a:prstGeom>
        </p:spPr>
      </p:pic>
      <p:pic>
        <p:nvPicPr>
          <p:cNvPr id="6" name="Picture 5">
            <a:extLst>
              <a:ext uri="{FF2B5EF4-FFF2-40B4-BE49-F238E27FC236}">
                <a16:creationId xmlns:a16="http://schemas.microsoft.com/office/drawing/2014/main" id="{4A382E03-0076-7D21-2327-9EA59C254717}"/>
              </a:ext>
            </a:extLst>
          </p:cNvPr>
          <p:cNvPicPr>
            <a:picLocks noChangeAspect="1"/>
          </p:cNvPicPr>
          <p:nvPr/>
        </p:nvPicPr>
        <p:blipFill>
          <a:blip r:embed="rId3">
            <a:clrChange>
              <a:clrFrom>
                <a:srgbClr val="FFFFFF"/>
              </a:clrFrom>
              <a:clrTo>
                <a:srgbClr val="FFFFFF">
                  <a:alpha val="0"/>
                </a:srgbClr>
              </a:clrTo>
            </a:clrChange>
          </a:blip>
          <a:srcRect l="70950"/>
          <a:stretch/>
        </p:blipFill>
        <p:spPr>
          <a:xfrm>
            <a:off x="10250412" y="3273722"/>
            <a:ext cx="1605910" cy="2321992"/>
          </a:xfrm>
          <a:prstGeom prst="rect">
            <a:avLst/>
          </a:prstGeom>
        </p:spPr>
      </p:pic>
      <p:sp>
        <p:nvSpPr>
          <p:cNvPr id="26" name="Arrow: Right 25">
            <a:extLst>
              <a:ext uri="{FF2B5EF4-FFF2-40B4-BE49-F238E27FC236}">
                <a16:creationId xmlns:a16="http://schemas.microsoft.com/office/drawing/2014/main" id="{2CF361CD-4E1D-375E-48ED-7E46B4199C88}"/>
              </a:ext>
            </a:extLst>
          </p:cNvPr>
          <p:cNvSpPr/>
          <p:nvPr/>
        </p:nvSpPr>
        <p:spPr>
          <a:xfrm>
            <a:off x="6749393" y="4518778"/>
            <a:ext cx="565436" cy="303439"/>
          </a:xfrm>
          <a:prstGeom prst="rightArrow">
            <a:avLst>
              <a:gd name="adj1" fmla="val 50000"/>
              <a:gd name="adj2" fmla="val 67970"/>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A8EFBC-C174-2F7D-9DAB-29B6CC7BDA15}"/>
              </a:ext>
            </a:extLst>
          </p:cNvPr>
          <p:cNvSpPr>
            <a:spLocks noGrp="1"/>
          </p:cNvSpPr>
          <p:nvPr>
            <p:ph type="title"/>
          </p:nvPr>
        </p:nvSpPr>
        <p:spPr>
          <a:xfrm>
            <a:off x="0" y="136525"/>
            <a:ext cx="12192000" cy="662781"/>
          </a:xfrm>
        </p:spPr>
        <p:txBody>
          <a:bodyPr>
            <a:normAutofit fontScale="90000"/>
          </a:bodyPr>
          <a:lstStyle/>
          <a:p>
            <a:pPr algn="ctr"/>
            <a:r>
              <a:rPr lang="en-US" dirty="0"/>
              <a:t>General Substructuring Test Guidelines</a:t>
            </a:r>
          </a:p>
        </p:txBody>
      </p:sp>
      <p:sp>
        <p:nvSpPr>
          <p:cNvPr id="16" name="Oval 15">
            <a:extLst>
              <a:ext uri="{FF2B5EF4-FFF2-40B4-BE49-F238E27FC236}">
                <a16:creationId xmlns:a16="http://schemas.microsoft.com/office/drawing/2014/main" id="{7EFE04C2-B02D-508F-BB1C-EA97324311E1}"/>
              </a:ext>
            </a:extLst>
          </p:cNvPr>
          <p:cNvSpPr/>
          <p:nvPr/>
        </p:nvSpPr>
        <p:spPr>
          <a:xfrm>
            <a:off x="4858708" y="3900424"/>
            <a:ext cx="182880" cy="182880"/>
          </a:xfrm>
          <a:prstGeom prst="ellipse">
            <a:avLst/>
          </a:prstGeom>
          <a:solidFill>
            <a:srgbClr val="00B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0235F340-0995-EE6B-65AA-2F95CBD77AF7}"/>
              </a:ext>
            </a:extLst>
          </p:cNvPr>
          <p:cNvSpPr/>
          <p:nvPr/>
        </p:nvSpPr>
        <p:spPr>
          <a:xfrm>
            <a:off x="5435351" y="4579062"/>
            <a:ext cx="182880" cy="182880"/>
          </a:xfrm>
          <a:prstGeom prst="ellipse">
            <a:avLst/>
          </a:prstGeom>
          <a:solidFill>
            <a:srgbClr val="00B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F47D5E9A-B648-AB5F-A7F5-1B4E79FB7F7A}"/>
              </a:ext>
            </a:extLst>
          </p:cNvPr>
          <p:cNvSpPr/>
          <p:nvPr/>
        </p:nvSpPr>
        <p:spPr>
          <a:xfrm>
            <a:off x="4858708" y="5257238"/>
            <a:ext cx="182880" cy="182880"/>
          </a:xfrm>
          <a:prstGeom prst="ellipse">
            <a:avLst/>
          </a:prstGeom>
          <a:solidFill>
            <a:srgbClr val="00B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EBFB8FB2-8D6D-3A2A-14B9-A23B51026BE0}"/>
              </a:ext>
            </a:extLst>
          </p:cNvPr>
          <p:cNvCxnSpPr>
            <a:cxnSpLocks/>
          </p:cNvCxnSpPr>
          <p:nvPr/>
        </p:nvCxnSpPr>
        <p:spPr>
          <a:xfrm flipV="1">
            <a:off x="4950148" y="3626104"/>
            <a:ext cx="0" cy="27432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F4CF3895-8D55-8C45-1362-3FD6BBD70AAF}"/>
              </a:ext>
            </a:extLst>
          </p:cNvPr>
          <p:cNvCxnSpPr>
            <a:cxnSpLocks/>
          </p:cNvCxnSpPr>
          <p:nvPr/>
        </p:nvCxnSpPr>
        <p:spPr>
          <a:xfrm>
            <a:off x="5041588" y="3991864"/>
            <a:ext cx="274320" cy="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33C64D64-3FE7-F396-B14C-53D6BAAE635F}"/>
              </a:ext>
            </a:extLst>
          </p:cNvPr>
          <p:cNvCxnSpPr>
            <a:cxnSpLocks/>
          </p:cNvCxnSpPr>
          <p:nvPr/>
        </p:nvCxnSpPr>
        <p:spPr>
          <a:xfrm flipV="1">
            <a:off x="5526791" y="4304742"/>
            <a:ext cx="0" cy="27432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DDBDBDAA-21EF-F503-2368-2620793B102C}"/>
              </a:ext>
            </a:extLst>
          </p:cNvPr>
          <p:cNvCxnSpPr>
            <a:cxnSpLocks/>
          </p:cNvCxnSpPr>
          <p:nvPr/>
        </p:nvCxnSpPr>
        <p:spPr>
          <a:xfrm>
            <a:off x="5618231" y="4670502"/>
            <a:ext cx="274320" cy="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78902E7B-2106-F998-5032-A454AD264619}"/>
              </a:ext>
            </a:extLst>
          </p:cNvPr>
          <p:cNvCxnSpPr>
            <a:cxnSpLocks/>
          </p:cNvCxnSpPr>
          <p:nvPr/>
        </p:nvCxnSpPr>
        <p:spPr>
          <a:xfrm flipV="1">
            <a:off x="4950148" y="4982918"/>
            <a:ext cx="0" cy="27432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5AC66538-90E7-28BA-F5CB-89D54F3CC576}"/>
              </a:ext>
            </a:extLst>
          </p:cNvPr>
          <p:cNvCxnSpPr>
            <a:cxnSpLocks/>
          </p:cNvCxnSpPr>
          <p:nvPr/>
        </p:nvCxnSpPr>
        <p:spPr>
          <a:xfrm>
            <a:off x="5041588" y="5348678"/>
            <a:ext cx="274320" cy="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3" name="Oval 32">
            <a:extLst>
              <a:ext uri="{FF2B5EF4-FFF2-40B4-BE49-F238E27FC236}">
                <a16:creationId xmlns:a16="http://schemas.microsoft.com/office/drawing/2014/main" id="{302B73F3-C398-F816-90CF-444BCF8E52E4}"/>
              </a:ext>
            </a:extLst>
          </p:cNvPr>
          <p:cNvSpPr/>
          <p:nvPr/>
        </p:nvSpPr>
        <p:spPr>
          <a:xfrm>
            <a:off x="2841105" y="3895798"/>
            <a:ext cx="182880" cy="182880"/>
          </a:xfrm>
          <a:prstGeom prst="ellipse">
            <a:avLst/>
          </a:prstGeom>
          <a:solidFill>
            <a:srgbClr val="FF000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5696E3DE-58C7-2517-5A51-F26FE149999C}"/>
              </a:ext>
            </a:extLst>
          </p:cNvPr>
          <p:cNvSpPr/>
          <p:nvPr/>
        </p:nvSpPr>
        <p:spPr>
          <a:xfrm>
            <a:off x="3474385" y="4579058"/>
            <a:ext cx="182880" cy="182880"/>
          </a:xfrm>
          <a:prstGeom prst="ellipse">
            <a:avLst/>
          </a:prstGeom>
          <a:solidFill>
            <a:srgbClr val="FF000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8E8EFCB4-0D53-BE0E-CF90-E24EB662C2B0}"/>
              </a:ext>
            </a:extLst>
          </p:cNvPr>
          <p:cNvSpPr/>
          <p:nvPr/>
        </p:nvSpPr>
        <p:spPr>
          <a:xfrm>
            <a:off x="2841105" y="5257238"/>
            <a:ext cx="182880" cy="182880"/>
          </a:xfrm>
          <a:prstGeom prst="ellipse">
            <a:avLst/>
          </a:prstGeom>
          <a:solidFill>
            <a:srgbClr val="FF000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C3FB5AAE-210E-44EB-EDA8-03099469B37D}"/>
              </a:ext>
            </a:extLst>
          </p:cNvPr>
          <p:cNvCxnSpPr>
            <a:cxnSpLocks/>
          </p:cNvCxnSpPr>
          <p:nvPr/>
        </p:nvCxnSpPr>
        <p:spPr>
          <a:xfrm flipV="1">
            <a:off x="2932545" y="3621478"/>
            <a:ext cx="0" cy="27432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9D5DCA41-0614-70C8-CCC0-2E2CF402E5E1}"/>
              </a:ext>
            </a:extLst>
          </p:cNvPr>
          <p:cNvCxnSpPr>
            <a:cxnSpLocks/>
          </p:cNvCxnSpPr>
          <p:nvPr/>
        </p:nvCxnSpPr>
        <p:spPr>
          <a:xfrm>
            <a:off x="3023985" y="3987238"/>
            <a:ext cx="274320" cy="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9827EAA3-217E-A08D-C6E8-7894C1637200}"/>
              </a:ext>
            </a:extLst>
          </p:cNvPr>
          <p:cNvCxnSpPr>
            <a:cxnSpLocks/>
          </p:cNvCxnSpPr>
          <p:nvPr/>
        </p:nvCxnSpPr>
        <p:spPr>
          <a:xfrm flipV="1">
            <a:off x="3565825" y="4304738"/>
            <a:ext cx="0" cy="27432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146A682B-54D5-7B9B-19BA-5C4A1EC60483}"/>
              </a:ext>
            </a:extLst>
          </p:cNvPr>
          <p:cNvCxnSpPr>
            <a:cxnSpLocks/>
          </p:cNvCxnSpPr>
          <p:nvPr/>
        </p:nvCxnSpPr>
        <p:spPr>
          <a:xfrm>
            <a:off x="3657265" y="4670498"/>
            <a:ext cx="274320" cy="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37CFBBA7-980E-BE65-065E-DBCB8C81BA3D}"/>
              </a:ext>
            </a:extLst>
          </p:cNvPr>
          <p:cNvCxnSpPr>
            <a:cxnSpLocks/>
          </p:cNvCxnSpPr>
          <p:nvPr/>
        </p:nvCxnSpPr>
        <p:spPr>
          <a:xfrm flipV="1">
            <a:off x="2932545" y="4982918"/>
            <a:ext cx="0" cy="27432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8BB3CE0E-2A07-4A86-AD44-DC157539FEEB}"/>
              </a:ext>
            </a:extLst>
          </p:cNvPr>
          <p:cNvCxnSpPr>
            <a:cxnSpLocks/>
          </p:cNvCxnSpPr>
          <p:nvPr/>
        </p:nvCxnSpPr>
        <p:spPr>
          <a:xfrm>
            <a:off x="3023985" y="5348678"/>
            <a:ext cx="274320" cy="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5932DB2D-88AC-16DA-E5E8-52C4C5E14C00}"/>
              </a:ext>
            </a:extLst>
          </p:cNvPr>
          <p:cNvSpPr/>
          <p:nvPr/>
        </p:nvSpPr>
        <p:spPr>
          <a:xfrm>
            <a:off x="10105708" y="3909861"/>
            <a:ext cx="182880" cy="182880"/>
          </a:xfrm>
          <a:prstGeom prst="ellipse">
            <a:avLst/>
          </a:prstGeom>
          <a:solidFill>
            <a:srgbClr val="FF000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40BE5A45-C75E-B4F9-DDDD-08B7B8A98F35}"/>
              </a:ext>
            </a:extLst>
          </p:cNvPr>
          <p:cNvSpPr/>
          <p:nvPr/>
        </p:nvSpPr>
        <p:spPr>
          <a:xfrm>
            <a:off x="10745788" y="4580421"/>
            <a:ext cx="182880" cy="182880"/>
          </a:xfrm>
          <a:prstGeom prst="ellipse">
            <a:avLst/>
          </a:prstGeom>
          <a:solidFill>
            <a:srgbClr val="FF000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2F3C3DF8-0588-9520-6DB8-6D5AB5FB3C0D}"/>
              </a:ext>
            </a:extLst>
          </p:cNvPr>
          <p:cNvSpPr/>
          <p:nvPr/>
        </p:nvSpPr>
        <p:spPr>
          <a:xfrm>
            <a:off x="10105708" y="5271301"/>
            <a:ext cx="182880" cy="182880"/>
          </a:xfrm>
          <a:prstGeom prst="ellipse">
            <a:avLst/>
          </a:prstGeom>
          <a:solidFill>
            <a:srgbClr val="FF000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Arrow Connector 45">
            <a:extLst>
              <a:ext uri="{FF2B5EF4-FFF2-40B4-BE49-F238E27FC236}">
                <a16:creationId xmlns:a16="http://schemas.microsoft.com/office/drawing/2014/main" id="{33CCC68F-01E0-9193-EF2D-B5A5BB09D05E}"/>
              </a:ext>
            </a:extLst>
          </p:cNvPr>
          <p:cNvCxnSpPr>
            <a:cxnSpLocks/>
          </p:cNvCxnSpPr>
          <p:nvPr/>
        </p:nvCxnSpPr>
        <p:spPr>
          <a:xfrm flipV="1">
            <a:off x="10197148" y="3635541"/>
            <a:ext cx="0" cy="27432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B331C51D-3FDA-60FC-2B88-F72F3B689ECF}"/>
              </a:ext>
            </a:extLst>
          </p:cNvPr>
          <p:cNvCxnSpPr>
            <a:cxnSpLocks/>
          </p:cNvCxnSpPr>
          <p:nvPr/>
        </p:nvCxnSpPr>
        <p:spPr>
          <a:xfrm>
            <a:off x="10288588" y="4001301"/>
            <a:ext cx="274320" cy="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E3BF4E2D-7A93-C72B-7E0E-08CA04936278}"/>
              </a:ext>
            </a:extLst>
          </p:cNvPr>
          <p:cNvCxnSpPr>
            <a:cxnSpLocks/>
          </p:cNvCxnSpPr>
          <p:nvPr/>
        </p:nvCxnSpPr>
        <p:spPr>
          <a:xfrm flipV="1">
            <a:off x="10837228" y="4306101"/>
            <a:ext cx="0" cy="27432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CEAFFAB2-33A9-75B0-E8B3-B58673B148A1}"/>
              </a:ext>
            </a:extLst>
          </p:cNvPr>
          <p:cNvCxnSpPr>
            <a:cxnSpLocks/>
          </p:cNvCxnSpPr>
          <p:nvPr/>
        </p:nvCxnSpPr>
        <p:spPr>
          <a:xfrm>
            <a:off x="10928668" y="4671861"/>
            <a:ext cx="274320" cy="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27BAEFF4-A274-C161-1530-ABEDBB46E528}"/>
              </a:ext>
            </a:extLst>
          </p:cNvPr>
          <p:cNvCxnSpPr>
            <a:cxnSpLocks/>
          </p:cNvCxnSpPr>
          <p:nvPr/>
        </p:nvCxnSpPr>
        <p:spPr>
          <a:xfrm flipV="1">
            <a:off x="10197148" y="4996981"/>
            <a:ext cx="0" cy="27432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959E2A8C-EA66-9518-19CC-8B19873039F8}"/>
              </a:ext>
            </a:extLst>
          </p:cNvPr>
          <p:cNvCxnSpPr>
            <a:cxnSpLocks/>
          </p:cNvCxnSpPr>
          <p:nvPr/>
        </p:nvCxnSpPr>
        <p:spPr>
          <a:xfrm>
            <a:off x="10288588" y="5362741"/>
            <a:ext cx="274320" cy="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4" name="Picture 3">
            <a:extLst>
              <a:ext uri="{FF2B5EF4-FFF2-40B4-BE49-F238E27FC236}">
                <a16:creationId xmlns:a16="http://schemas.microsoft.com/office/drawing/2014/main" id="{F5CB3D39-BD6A-52CE-7847-2AF7866C4B67}"/>
              </a:ext>
            </a:extLst>
          </p:cNvPr>
          <p:cNvPicPr>
            <a:picLocks noChangeAspect="1"/>
          </p:cNvPicPr>
          <p:nvPr/>
        </p:nvPicPr>
        <p:blipFill>
          <a:blip r:embed="rId3">
            <a:clrChange>
              <a:clrFrom>
                <a:srgbClr val="FFFFFF"/>
              </a:clrFrom>
              <a:clrTo>
                <a:srgbClr val="FFFFFF">
                  <a:alpha val="0"/>
                </a:srgbClr>
              </a:clrTo>
            </a:clrChange>
          </a:blip>
          <a:srcRect l="55193" r="29397"/>
          <a:stretch/>
        </p:blipFill>
        <p:spPr>
          <a:xfrm>
            <a:off x="3958252" y="3346376"/>
            <a:ext cx="786894" cy="2144952"/>
          </a:xfrm>
          <a:prstGeom prst="rect">
            <a:avLst/>
          </a:prstGeom>
        </p:spPr>
      </p:pic>
      <p:sp>
        <p:nvSpPr>
          <p:cNvPr id="9" name="Oval 8">
            <a:extLst>
              <a:ext uri="{FF2B5EF4-FFF2-40B4-BE49-F238E27FC236}">
                <a16:creationId xmlns:a16="http://schemas.microsoft.com/office/drawing/2014/main" id="{7CDF3225-9AB5-DBD1-F632-6059585BD9BE}"/>
              </a:ext>
            </a:extLst>
          </p:cNvPr>
          <p:cNvSpPr/>
          <p:nvPr/>
        </p:nvSpPr>
        <p:spPr>
          <a:xfrm>
            <a:off x="10218473" y="3909861"/>
            <a:ext cx="182880" cy="182880"/>
          </a:xfrm>
          <a:prstGeom prst="ellipse">
            <a:avLst/>
          </a:prstGeom>
          <a:solidFill>
            <a:srgbClr val="00B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D49DF41-D547-EEDB-849F-158C523ADDED}"/>
              </a:ext>
            </a:extLst>
          </p:cNvPr>
          <p:cNvSpPr/>
          <p:nvPr/>
        </p:nvSpPr>
        <p:spPr>
          <a:xfrm>
            <a:off x="10858553" y="4580421"/>
            <a:ext cx="182880" cy="182880"/>
          </a:xfrm>
          <a:prstGeom prst="ellipse">
            <a:avLst/>
          </a:prstGeom>
          <a:solidFill>
            <a:srgbClr val="00B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2C18012-34E8-A645-86B7-539E23C78253}"/>
              </a:ext>
            </a:extLst>
          </p:cNvPr>
          <p:cNvSpPr/>
          <p:nvPr/>
        </p:nvSpPr>
        <p:spPr>
          <a:xfrm>
            <a:off x="10218473" y="5271301"/>
            <a:ext cx="182880" cy="182880"/>
          </a:xfrm>
          <a:prstGeom prst="ellipse">
            <a:avLst/>
          </a:prstGeom>
          <a:solidFill>
            <a:srgbClr val="00B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B5F22270-0637-409D-8650-D3BF6EDD4BF3}"/>
              </a:ext>
            </a:extLst>
          </p:cNvPr>
          <p:cNvCxnSpPr>
            <a:cxnSpLocks/>
          </p:cNvCxnSpPr>
          <p:nvPr/>
        </p:nvCxnSpPr>
        <p:spPr>
          <a:xfrm flipV="1">
            <a:off x="10309913" y="3635541"/>
            <a:ext cx="0" cy="27432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C4AEBC6F-640F-96DF-FB5C-ACF949556B3F}"/>
              </a:ext>
            </a:extLst>
          </p:cNvPr>
          <p:cNvCxnSpPr>
            <a:cxnSpLocks/>
          </p:cNvCxnSpPr>
          <p:nvPr/>
        </p:nvCxnSpPr>
        <p:spPr>
          <a:xfrm>
            <a:off x="10401353" y="4001301"/>
            <a:ext cx="274320" cy="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9FDA4592-E282-4C44-7AEC-4742A6CAD5D9}"/>
              </a:ext>
            </a:extLst>
          </p:cNvPr>
          <p:cNvCxnSpPr>
            <a:cxnSpLocks/>
          </p:cNvCxnSpPr>
          <p:nvPr/>
        </p:nvCxnSpPr>
        <p:spPr>
          <a:xfrm flipV="1">
            <a:off x="10949993" y="4306101"/>
            <a:ext cx="0" cy="27432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72D34C2C-B43D-3F2F-BCA8-180F6021B584}"/>
              </a:ext>
            </a:extLst>
          </p:cNvPr>
          <p:cNvCxnSpPr>
            <a:cxnSpLocks/>
          </p:cNvCxnSpPr>
          <p:nvPr/>
        </p:nvCxnSpPr>
        <p:spPr>
          <a:xfrm>
            <a:off x="11041433" y="4671861"/>
            <a:ext cx="274320" cy="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3DBADF97-5C7A-534C-BE25-9C8E2E6E99EE}"/>
              </a:ext>
            </a:extLst>
          </p:cNvPr>
          <p:cNvCxnSpPr>
            <a:cxnSpLocks/>
          </p:cNvCxnSpPr>
          <p:nvPr/>
        </p:nvCxnSpPr>
        <p:spPr>
          <a:xfrm flipV="1">
            <a:off x="10309913" y="4996981"/>
            <a:ext cx="0" cy="27432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59C73FD2-559E-0892-91EA-067EAAEE9F25}"/>
              </a:ext>
            </a:extLst>
          </p:cNvPr>
          <p:cNvCxnSpPr>
            <a:cxnSpLocks/>
          </p:cNvCxnSpPr>
          <p:nvPr/>
        </p:nvCxnSpPr>
        <p:spPr>
          <a:xfrm>
            <a:off x="10401353" y="5362741"/>
            <a:ext cx="274320" cy="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9C01B037-EE83-050D-6878-B4597CB6B85A}"/>
              </a:ext>
            </a:extLst>
          </p:cNvPr>
          <p:cNvSpPr>
            <a:spLocks noGrp="1"/>
          </p:cNvSpPr>
          <p:nvPr>
            <p:ph idx="1"/>
          </p:nvPr>
        </p:nvSpPr>
        <p:spPr>
          <a:xfrm>
            <a:off x="105032" y="939586"/>
            <a:ext cx="11457048" cy="2127102"/>
          </a:xfrm>
        </p:spPr>
        <p:txBody>
          <a:bodyPr>
            <a:normAutofit/>
          </a:bodyPr>
          <a:lstStyle/>
          <a:p>
            <a:r>
              <a:rPr lang="en-US" dirty="0"/>
              <a:t>Measurement Sensors are vitally important to all substructuring endeavors</a:t>
            </a:r>
          </a:p>
          <a:p>
            <a:pPr lvl="1"/>
            <a:r>
              <a:rPr lang="en-US" dirty="0"/>
              <a:t>Response measurements are required at all connection locations</a:t>
            </a:r>
          </a:p>
          <a:p>
            <a:pPr lvl="1"/>
            <a:r>
              <a:rPr lang="en-US" dirty="0"/>
              <a:t>All constraint DOF must align and coincide between the joining subsystems</a:t>
            </a:r>
          </a:p>
          <a:p>
            <a:pPr lvl="1"/>
            <a:r>
              <a:rPr lang="en-US" dirty="0"/>
              <a:t>Connection DOF may be in a location that is difficult to instrument and/or excite</a:t>
            </a:r>
          </a:p>
          <a:p>
            <a:pPr lvl="1"/>
            <a:r>
              <a:rPr lang="en-US" dirty="0"/>
              <a:t>Rotational measurement sensors are rare, and are usually bulky when available</a:t>
            </a:r>
          </a:p>
        </p:txBody>
      </p:sp>
      <p:sp>
        <p:nvSpPr>
          <p:cNvPr id="65" name="Arc 64">
            <a:extLst>
              <a:ext uri="{FF2B5EF4-FFF2-40B4-BE49-F238E27FC236}">
                <a16:creationId xmlns:a16="http://schemas.microsoft.com/office/drawing/2014/main" id="{4C711550-A844-340C-7CF4-4B8A895F7159}"/>
              </a:ext>
            </a:extLst>
          </p:cNvPr>
          <p:cNvSpPr/>
          <p:nvPr/>
        </p:nvSpPr>
        <p:spPr>
          <a:xfrm>
            <a:off x="2744988" y="3801695"/>
            <a:ext cx="384048" cy="384048"/>
          </a:xfrm>
          <a:prstGeom prst="arc">
            <a:avLst>
              <a:gd name="adj1" fmla="val 3644226"/>
              <a:gd name="adj2" fmla="val 13718280"/>
            </a:avLst>
          </a:prstGeom>
          <a:ln w="38100">
            <a:solidFill>
              <a:schemeClr val="tx1">
                <a:lumMod val="95000"/>
                <a:lumOff val="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dirty="0"/>
              <a:t>  </a:t>
            </a:r>
          </a:p>
        </p:txBody>
      </p:sp>
      <p:sp>
        <p:nvSpPr>
          <p:cNvPr id="66" name="Arc 65">
            <a:extLst>
              <a:ext uri="{FF2B5EF4-FFF2-40B4-BE49-F238E27FC236}">
                <a16:creationId xmlns:a16="http://schemas.microsoft.com/office/drawing/2014/main" id="{81A55AA1-22FA-7CC3-C2B9-9A95A7F8F7B9}"/>
              </a:ext>
            </a:extLst>
          </p:cNvPr>
          <p:cNvSpPr/>
          <p:nvPr/>
        </p:nvSpPr>
        <p:spPr>
          <a:xfrm>
            <a:off x="3373801" y="4483537"/>
            <a:ext cx="384048" cy="384048"/>
          </a:xfrm>
          <a:prstGeom prst="arc">
            <a:avLst>
              <a:gd name="adj1" fmla="val 3644226"/>
              <a:gd name="adj2" fmla="val 13718280"/>
            </a:avLst>
          </a:prstGeom>
          <a:ln w="38100">
            <a:solidFill>
              <a:schemeClr val="tx1">
                <a:lumMod val="95000"/>
                <a:lumOff val="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dirty="0"/>
              <a:t>  </a:t>
            </a:r>
          </a:p>
        </p:txBody>
      </p:sp>
      <p:sp>
        <p:nvSpPr>
          <p:cNvPr id="67" name="Arc 66">
            <a:extLst>
              <a:ext uri="{FF2B5EF4-FFF2-40B4-BE49-F238E27FC236}">
                <a16:creationId xmlns:a16="http://schemas.microsoft.com/office/drawing/2014/main" id="{22B9BF24-AB84-DED5-070E-AEAA028F9E98}"/>
              </a:ext>
            </a:extLst>
          </p:cNvPr>
          <p:cNvSpPr/>
          <p:nvPr/>
        </p:nvSpPr>
        <p:spPr>
          <a:xfrm>
            <a:off x="2744042" y="5162251"/>
            <a:ext cx="384048" cy="384048"/>
          </a:xfrm>
          <a:prstGeom prst="arc">
            <a:avLst>
              <a:gd name="adj1" fmla="val 3644226"/>
              <a:gd name="adj2" fmla="val 13718280"/>
            </a:avLst>
          </a:prstGeom>
          <a:ln w="38100">
            <a:solidFill>
              <a:schemeClr val="tx1">
                <a:lumMod val="95000"/>
                <a:lumOff val="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dirty="0"/>
              <a:t>  </a:t>
            </a:r>
          </a:p>
        </p:txBody>
      </p:sp>
      <p:sp>
        <p:nvSpPr>
          <p:cNvPr id="68" name="Arc 67">
            <a:extLst>
              <a:ext uri="{FF2B5EF4-FFF2-40B4-BE49-F238E27FC236}">
                <a16:creationId xmlns:a16="http://schemas.microsoft.com/office/drawing/2014/main" id="{97F9BBC5-313A-8397-B5D6-56AF883388CF}"/>
              </a:ext>
            </a:extLst>
          </p:cNvPr>
          <p:cNvSpPr/>
          <p:nvPr/>
        </p:nvSpPr>
        <p:spPr>
          <a:xfrm>
            <a:off x="4758964" y="5160503"/>
            <a:ext cx="384048" cy="384048"/>
          </a:xfrm>
          <a:prstGeom prst="arc">
            <a:avLst>
              <a:gd name="adj1" fmla="val 3644226"/>
              <a:gd name="adj2" fmla="val 13718280"/>
            </a:avLst>
          </a:prstGeom>
          <a:ln w="38100">
            <a:solidFill>
              <a:schemeClr val="tx1">
                <a:lumMod val="95000"/>
                <a:lumOff val="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dirty="0"/>
              <a:t>  </a:t>
            </a:r>
          </a:p>
        </p:txBody>
      </p:sp>
      <p:sp>
        <p:nvSpPr>
          <p:cNvPr id="69" name="Arc 68">
            <a:extLst>
              <a:ext uri="{FF2B5EF4-FFF2-40B4-BE49-F238E27FC236}">
                <a16:creationId xmlns:a16="http://schemas.microsoft.com/office/drawing/2014/main" id="{4BF3A293-A792-605C-27C6-FB04D2F0CA44}"/>
              </a:ext>
            </a:extLst>
          </p:cNvPr>
          <p:cNvSpPr/>
          <p:nvPr/>
        </p:nvSpPr>
        <p:spPr>
          <a:xfrm>
            <a:off x="4760219" y="3807481"/>
            <a:ext cx="384048" cy="384048"/>
          </a:xfrm>
          <a:prstGeom prst="arc">
            <a:avLst>
              <a:gd name="adj1" fmla="val 3644226"/>
              <a:gd name="adj2" fmla="val 13718280"/>
            </a:avLst>
          </a:prstGeom>
          <a:ln w="38100">
            <a:solidFill>
              <a:schemeClr val="tx1">
                <a:lumMod val="95000"/>
                <a:lumOff val="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dirty="0"/>
              <a:t>  </a:t>
            </a:r>
          </a:p>
        </p:txBody>
      </p:sp>
      <p:sp>
        <p:nvSpPr>
          <p:cNvPr id="70" name="Arc 69">
            <a:extLst>
              <a:ext uri="{FF2B5EF4-FFF2-40B4-BE49-F238E27FC236}">
                <a16:creationId xmlns:a16="http://schemas.microsoft.com/office/drawing/2014/main" id="{26436622-C838-99FD-0C5C-70E06A784729}"/>
              </a:ext>
            </a:extLst>
          </p:cNvPr>
          <p:cNvSpPr/>
          <p:nvPr/>
        </p:nvSpPr>
        <p:spPr>
          <a:xfrm>
            <a:off x="5336856" y="4482858"/>
            <a:ext cx="384048" cy="384048"/>
          </a:xfrm>
          <a:prstGeom prst="arc">
            <a:avLst>
              <a:gd name="adj1" fmla="val 3644226"/>
              <a:gd name="adj2" fmla="val 13718280"/>
            </a:avLst>
          </a:prstGeom>
          <a:ln w="38100">
            <a:solidFill>
              <a:schemeClr val="tx1">
                <a:lumMod val="95000"/>
                <a:lumOff val="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dirty="0"/>
              <a:t>  </a:t>
            </a:r>
          </a:p>
        </p:txBody>
      </p:sp>
      <p:sp>
        <p:nvSpPr>
          <p:cNvPr id="71" name="Arc 70">
            <a:extLst>
              <a:ext uri="{FF2B5EF4-FFF2-40B4-BE49-F238E27FC236}">
                <a16:creationId xmlns:a16="http://schemas.microsoft.com/office/drawing/2014/main" id="{34C55B33-B67F-A2B7-786E-8BCF531C7BF1}"/>
              </a:ext>
            </a:extLst>
          </p:cNvPr>
          <p:cNvSpPr/>
          <p:nvPr/>
        </p:nvSpPr>
        <p:spPr>
          <a:xfrm>
            <a:off x="10009357" y="3814697"/>
            <a:ext cx="384048" cy="384048"/>
          </a:xfrm>
          <a:prstGeom prst="arc">
            <a:avLst>
              <a:gd name="adj1" fmla="val 3644226"/>
              <a:gd name="adj2" fmla="val 13718280"/>
            </a:avLst>
          </a:prstGeom>
          <a:ln w="38100">
            <a:solidFill>
              <a:schemeClr val="tx1">
                <a:lumMod val="95000"/>
                <a:lumOff val="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dirty="0"/>
              <a:t>  </a:t>
            </a:r>
          </a:p>
        </p:txBody>
      </p:sp>
      <p:sp>
        <p:nvSpPr>
          <p:cNvPr id="72" name="Arc 71">
            <a:extLst>
              <a:ext uri="{FF2B5EF4-FFF2-40B4-BE49-F238E27FC236}">
                <a16:creationId xmlns:a16="http://schemas.microsoft.com/office/drawing/2014/main" id="{382448BA-D5CD-4740-4B6D-9412A760FFCA}"/>
              </a:ext>
            </a:extLst>
          </p:cNvPr>
          <p:cNvSpPr/>
          <p:nvPr/>
        </p:nvSpPr>
        <p:spPr>
          <a:xfrm>
            <a:off x="10119427" y="3810463"/>
            <a:ext cx="384048" cy="384048"/>
          </a:xfrm>
          <a:prstGeom prst="arc">
            <a:avLst>
              <a:gd name="adj1" fmla="val 3644226"/>
              <a:gd name="adj2" fmla="val 13718280"/>
            </a:avLst>
          </a:prstGeom>
          <a:ln w="38100">
            <a:solidFill>
              <a:schemeClr val="tx1">
                <a:lumMod val="95000"/>
                <a:lumOff val="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dirty="0"/>
              <a:t>  </a:t>
            </a:r>
          </a:p>
        </p:txBody>
      </p:sp>
      <p:sp>
        <p:nvSpPr>
          <p:cNvPr id="73" name="Arc 72">
            <a:extLst>
              <a:ext uri="{FF2B5EF4-FFF2-40B4-BE49-F238E27FC236}">
                <a16:creationId xmlns:a16="http://schemas.microsoft.com/office/drawing/2014/main" id="{02A5376E-5F06-66A4-DDC6-65BB39B1B298}"/>
              </a:ext>
            </a:extLst>
          </p:cNvPr>
          <p:cNvSpPr/>
          <p:nvPr/>
        </p:nvSpPr>
        <p:spPr>
          <a:xfrm>
            <a:off x="10653440" y="4487481"/>
            <a:ext cx="384048" cy="384048"/>
          </a:xfrm>
          <a:prstGeom prst="arc">
            <a:avLst>
              <a:gd name="adj1" fmla="val 3644226"/>
              <a:gd name="adj2" fmla="val 13718280"/>
            </a:avLst>
          </a:prstGeom>
          <a:ln w="38100">
            <a:solidFill>
              <a:schemeClr val="tx1">
                <a:lumMod val="95000"/>
                <a:lumOff val="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dirty="0"/>
              <a:t>  </a:t>
            </a:r>
          </a:p>
        </p:txBody>
      </p:sp>
      <p:sp>
        <p:nvSpPr>
          <p:cNvPr id="74" name="Arc 73">
            <a:extLst>
              <a:ext uri="{FF2B5EF4-FFF2-40B4-BE49-F238E27FC236}">
                <a16:creationId xmlns:a16="http://schemas.microsoft.com/office/drawing/2014/main" id="{DB64E4AE-F7C7-754B-4A07-070A5C8CFBA0}"/>
              </a:ext>
            </a:extLst>
          </p:cNvPr>
          <p:cNvSpPr/>
          <p:nvPr/>
        </p:nvSpPr>
        <p:spPr>
          <a:xfrm>
            <a:off x="10763510" y="4483247"/>
            <a:ext cx="384048" cy="384048"/>
          </a:xfrm>
          <a:prstGeom prst="arc">
            <a:avLst>
              <a:gd name="adj1" fmla="val 3644226"/>
              <a:gd name="adj2" fmla="val 13718280"/>
            </a:avLst>
          </a:prstGeom>
          <a:ln w="38100">
            <a:solidFill>
              <a:schemeClr val="tx1">
                <a:lumMod val="95000"/>
                <a:lumOff val="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dirty="0"/>
              <a:t>  </a:t>
            </a:r>
          </a:p>
        </p:txBody>
      </p:sp>
      <p:sp>
        <p:nvSpPr>
          <p:cNvPr id="75" name="Arc 74">
            <a:extLst>
              <a:ext uri="{FF2B5EF4-FFF2-40B4-BE49-F238E27FC236}">
                <a16:creationId xmlns:a16="http://schemas.microsoft.com/office/drawing/2014/main" id="{28776225-9B8A-DEA8-0092-A44891C13B38}"/>
              </a:ext>
            </a:extLst>
          </p:cNvPr>
          <p:cNvSpPr/>
          <p:nvPr/>
        </p:nvSpPr>
        <p:spPr>
          <a:xfrm>
            <a:off x="10012340" y="5183944"/>
            <a:ext cx="384048" cy="384048"/>
          </a:xfrm>
          <a:prstGeom prst="arc">
            <a:avLst>
              <a:gd name="adj1" fmla="val 3644226"/>
              <a:gd name="adj2" fmla="val 13718280"/>
            </a:avLst>
          </a:prstGeom>
          <a:ln w="38100">
            <a:solidFill>
              <a:schemeClr val="tx1">
                <a:lumMod val="95000"/>
                <a:lumOff val="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dirty="0"/>
              <a:t>  </a:t>
            </a:r>
          </a:p>
        </p:txBody>
      </p:sp>
      <p:sp>
        <p:nvSpPr>
          <p:cNvPr id="76" name="Arc 75">
            <a:extLst>
              <a:ext uri="{FF2B5EF4-FFF2-40B4-BE49-F238E27FC236}">
                <a16:creationId xmlns:a16="http://schemas.microsoft.com/office/drawing/2014/main" id="{47222A37-9C85-F0B4-412D-9D446CDECFFA}"/>
              </a:ext>
            </a:extLst>
          </p:cNvPr>
          <p:cNvSpPr/>
          <p:nvPr/>
        </p:nvSpPr>
        <p:spPr>
          <a:xfrm>
            <a:off x="10122410" y="5179710"/>
            <a:ext cx="384048" cy="384048"/>
          </a:xfrm>
          <a:prstGeom prst="arc">
            <a:avLst>
              <a:gd name="adj1" fmla="val 3644226"/>
              <a:gd name="adj2" fmla="val 13718280"/>
            </a:avLst>
          </a:prstGeom>
          <a:ln w="38100">
            <a:solidFill>
              <a:schemeClr val="tx1">
                <a:lumMod val="95000"/>
                <a:lumOff val="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dirty="0"/>
              <a:t>  </a:t>
            </a:r>
          </a:p>
        </p:txBody>
      </p:sp>
    </p:spTree>
    <p:extLst>
      <p:ext uri="{BB962C8B-B14F-4D97-AF65-F5344CB8AC3E}">
        <p14:creationId xmlns:p14="http://schemas.microsoft.com/office/powerpoint/2010/main" val="3637239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8EFBC-C174-2F7D-9DAB-29B6CC7BDA15}"/>
              </a:ext>
            </a:extLst>
          </p:cNvPr>
          <p:cNvSpPr>
            <a:spLocks noGrp="1"/>
          </p:cNvSpPr>
          <p:nvPr>
            <p:ph type="title"/>
          </p:nvPr>
        </p:nvSpPr>
        <p:spPr>
          <a:xfrm>
            <a:off x="0" y="136525"/>
            <a:ext cx="12192000" cy="662781"/>
          </a:xfrm>
        </p:spPr>
        <p:txBody>
          <a:bodyPr>
            <a:normAutofit fontScale="90000"/>
          </a:bodyPr>
          <a:lstStyle/>
          <a:p>
            <a:pPr algn="ctr"/>
            <a:r>
              <a:rPr lang="en-US" dirty="0"/>
              <a:t>General Substructuring Test Guidelines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01B037-EE83-050D-6878-B4597CB6B85A}"/>
                  </a:ext>
                </a:extLst>
              </p:cNvPr>
              <p:cNvSpPr>
                <a:spLocks noGrp="1"/>
              </p:cNvSpPr>
              <p:nvPr>
                <p:ph idx="1"/>
              </p:nvPr>
            </p:nvSpPr>
            <p:spPr>
              <a:xfrm>
                <a:off x="105032" y="939585"/>
                <a:ext cx="11540868" cy="4292815"/>
              </a:xfrm>
            </p:spPr>
            <p:txBody>
              <a:bodyPr>
                <a:normAutofit/>
              </a:bodyPr>
              <a:lstStyle/>
              <a:p>
                <a:r>
                  <a:rPr lang="en-US" dirty="0"/>
                  <a:t>What frequency range does the substructured model need to cover? A wide range may seem useful, but high order modes get complicated. A lower and smaller frequency range will be more manageable. </a:t>
                </a:r>
              </a:p>
              <a:p>
                <a:pPr lvl="1"/>
                <a:r>
                  <a:rPr lang="en-US" dirty="0"/>
                  <a:t>CMS can become intractable at high mode order </a:t>
                </a:r>
                <a14:m>
                  <m:oMath xmlns:m="http://schemas.openxmlformats.org/officeDocument/2006/math">
                    <m:r>
                      <a:rPr lang="en-US" b="0" i="1" smtClean="0">
                        <a:latin typeface="Cambria Math" panose="02040503050406030204" pitchFamily="18" charset="0"/>
                      </a:rPr>
                      <m:t>→</m:t>
                    </m:r>
                  </m:oMath>
                </a14:m>
                <a:r>
                  <a:rPr lang="en-US" dirty="0"/>
                  <a:t> need more sensors than modes</a:t>
                </a:r>
              </a:p>
              <a:p>
                <a:pPr lvl="1"/>
                <a:r>
                  <a:rPr lang="en-US" dirty="0"/>
                  <a:t>FBS can operate at high frequencies, but you need reliable FRFs </a:t>
                </a:r>
              </a:p>
              <a:p>
                <a:r>
                  <a:rPr lang="en-US" dirty="0"/>
                  <a:t>It is easy to make mistakes if manually coding the constraint definitions and substructuring calculations. Try to use established &amp; tested code whenever possible. There are several open source packages freely available – such as:</a:t>
                </a:r>
              </a:p>
              <a:p>
                <a:pPr lvl="1"/>
                <a:r>
                  <a:rPr lang="en-US" b="1" dirty="0" err="1"/>
                  <a:t>SDynPy</a:t>
                </a:r>
                <a:r>
                  <a:rPr lang="en-US" b="1" dirty="0"/>
                  <a:t>:</a:t>
                </a:r>
                <a:r>
                  <a:rPr lang="en-US" dirty="0"/>
                  <a:t> </a:t>
                </a:r>
                <a:r>
                  <a:rPr lang="en-US" dirty="0">
                    <a:hlinkClick r:id="rId3"/>
                  </a:rPr>
                  <a:t>https://github.com/sandialabs/sdynpy</a:t>
                </a:r>
                <a:r>
                  <a:rPr lang="en-US" dirty="0"/>
                  <a:t> </a:t>
                </a:r>
              </a:p>
              <a:p>
                <a:pPr lvl="1"/>
                <a:r>
                  <a:rPr lang="en-US" b="1" dirty="0" err="1"/>
                  <a:t>pyFBS</a:t>
                </a:r>
                <a:r>
                  <a:rPr lang="en-US" b="1" dirty="0"/>
                  <a:t>:</a:t>
                </a:r>
                <a:r>
                  <a:rPr lang="en-US" dirty="0"/>
                  <a:t> </a:t>
                </a:r>
                <a:r>
                  <a:rPr lang="en-US" dirty="0">
                    <a:hlinkClick r:id="rId4"/>
                  </a:rPr>
                  <a:t>https://pyfbs.readthedocs.io/en/master/</a:t>
                </a:r>
                <a:r>
                  <a:rPr lang="en-US" dirty="0"/>
                  <a:t> </a:t>
                </a:r>
              </a:p>
            </p:txBody>
          </p:sp>
        </mc:Choice>
        <mc:Fallback xmlns="">
          <p:sp>
            <p:nvSpPr>
              <p:cNvPr id="3" name="Content Placeholder 2">
                <a:extLst>
                  <a:ext uri="{FF2B5EF4-FFF2-40B4-BE49-F238E27FC236}">
                    <a16:creationId xmlns:a16="http://schemas.microsoft.com/office/drawing/2014/main" id="{9C01B037-EE83-050D-6878-B4597CB6B85A}"/>
                  </a:ext>
                </a:extLst>
              </p:cNvPr>
              <p:cNvSpPr>
                <a:spLocks noGrp="1" noRot="1" noChangeAspect="1" noMove="1" noResize="1" noEditPoints="1" noAdjustHandles="1" noChangeArrowheads="1" noChangeShapeType="1" noTextEdit="1"/>
              </p:cNvSpPr>
              <p:nvPr>
                <p:ph idx="1"/>
              </p:nvPr>
            </p:nvSpPr>
            <p:spPr>
              <a:xfrm>
                <a:off x="105032" y="939585"/>
                <a:ext cx="11540868" cy="4292815"/>
              </a:xfrm>
              <a:blipFill>
                <a:blip r:embed="rId5"/>
                <a:stretch>
                  <a:fillRect l="-951" t="-2415"/>
                </a:stretch>
              </a:blipFill>
            </p:spPr>
            <p:txBody>
              <a:bodyPr/>
              <a:lstStyle/>
              <a:p>
                <a:r>
                  <a:rPr lang="en-US">
                    <a:noFill/>
                  </a:rPr>
                  <a:t> </a:t>
                </a:r>
              </a:p>
            </p:txBody>
          </p:sp>
        </mc:Fallback>
      </mc:AlternateContent>
      <p:pic>
        <p:nvPicPr>
          <p:cNvPr id="22530" name="Picture 2">
            <a:extLst>
              <a:ext uri="{FF2B5EF4-FFF2-40B4-BE49-F238E27FC236}">
                <a16:creationId xmlns:a16="http://schemas.microsoft.com/office/drawing/2014/main" id="{58C1AEB1-0F1E-F481-CB12-9A6A191AF9A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51787" y="5399301"/>
            <a:ext cx="3724712" cy="1097280"/>
          </a:xfrm>
          <a:prstGeom prst="rect">
            <a:avLst/>
          </a:prstGeom>
          <a:noFill/>
          <a:extLst>
            <a:ext uri="{909E8E84-426E-40DD-AFC4-6F175D3DCCD1}">
              <a14:hiddenFill xmlns:a14="http://schemas.microsoft.com/office/drawing/2010/main">
                <a:solidFill>
                  <a:srgbClr val="FFFFFF"/>
                </a:solidFill>
              </a14:hiddenFill>
            </a:ext>
          </a:extLst>
        </p:spPr>
      </p:pic>
      <p:pic>
        <p:nvPicPr>
          <p:cNvPr id="13" name="Graphic 12">
            <a:extLst>
              <a:ext uri="{FF2B5EF4-FFF2-40B4-BE49-F238E27FC236}">
                <a16:creationId xmlns:a16="http://schemas.microsoft.com/office/drawing/2014/main" id="{02DA1174-BE93-82DB-B212-FBF21CC7D94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16536" y="5399301"/>
            <a:ext cx="4684541" cy="1097280"/>
          </a:xfrm>
          <a:prstGeom prst="rect">
            <a:avLst/>
          </a:prstGeom>
        </p:spPr>
      </p:pic>
    </p:spTree>
    <p:extLst>
      <p:ext uri="{BB962C8B-B14F-4D97-AF65-F5344CB8AC3E}">
        <p14:creationId xmlns:p14="http://schemas.microsoft.com/office/powerpoint/2010/main" val="3515622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FFF6017-F0E2-D1F3-2E33-51CFADC88E70}"/>
              </a:ext>
            </a:extLst>
          </p:cNvPr>
          <p:cNvPicPr>
            <a:picLocks noChangeAspect="1"/>
          </p:cNvPicPr>
          <p:nvPr/>
        </p:nvPicPr>
        <p:blipFill>
          <a:blip r:embed="rId3"/>
          <a:stretch>
            <a:fillRect/>
          </a:stretch>
        </p:blipFill>
        <p:spPr>
          <a:xfrm>
            <a:off x="7559685" y="3871847"/>
            <a:ext cx="3393197" cy="2120749"/>
          </a:xfrm>
          <a:prstGeom prst="rect">
            <a:avLst/>
          </a:prstGeom>
        </p:spPr>
      </p:pic>
      <p:pic>
        <p:nvPicPr>
          <p:cNvPr id="20486" name="Picture 6">
            <a:extLst>
              <a:ext uri="{FF2B5EF4-FFF2-40B4-BE49-F238E27FC236}">
                <a16:creationId xmlns:a16="http://schemas.microsoft.com/office/drawing/2014/main" id="{8B1BF270-8FB3-8407-C940-BD818ABCCC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4620706" y="3651118"/>
            <a:ext cx="2365590" cy="271906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6A8EFBC-C174-2F7D-9DAB-29B6CC7BDA15}"/>
              </a:ext>
            </a:extLst>
          </p:cNvPr>
          <p:cNvSpPr>
            <a:spLocks noGrp="1"/>
          </p:cNvSpPr>
          <p:nvPr>
            <p:ph type="title"/>
          </p:nvPr>
        </p:nvSpPr>
        <p:spPr>
          <a:xfrm>
            <a:off x="0" y="136525"/>
            <a:ext cx="12192000" cy="662781"/>
          </a:xfrm>
        </p:spPr>
        <p:txBody>
          <a:bodyPr>
            <a:normAutofit fontScale="90000"/>
          </a:bodyPr>
          <a:lstStyle/>
          <a:p>
            <a:pPr algn="ctr"/>
            <a:r>
              <a:rPr lang="en-US" dirty="0"/>
              <a:t>General Substructuring Test Guidelines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01B037-EE83-050D-6878-B4597CB6B85A}"/>
                  </a:ext>
                </a:extLst>
              </p:cNvPr>
              <p:cNvSpPr>
                <a:spLocks noGrp="1"/>
              </p:cNvSpPr>
              <p:nvPr>
                <p:ph idx="1"/>
              </p:nvPr>
            </p:nvSpPr>
            <p:spPr>
              <a:xfrm>
                <a:off x="105032" y="939585"/>
                <a:ext cx="11540868" cy="2870415"/>
              </a:xfrm>
            </p:spPr>
            <p:txBody>
              <a:bodyPr>
                <a:normAutofit/>
              </a:bodyPr>
              <a:lstStyle/>
              <a:p>
                <a:r>
                  <a:rPr lang="en-US" dirty="0"/>
                  <a:t>Excitation approaches have many pros and cons: </a:t>
                </a:r>
              </a:p>
              <a:p>
                <a:pPr lvl="1"/>
                <a:r>
                  <a:rPr lang="en-US" dirty="0"/>
                  <a:t>Hammer – minimal interaction with structure, but low controllability of input spectrum and, if done by hand, uncertainty in exact contact location and angle. </a:t>
                </a:r>
              </a:p>
              <a:p>
                <a:pPr lvl="1"/>
                <a:r>
                  <a:rPr lang="en-US" dirty="0"/>
                  <a:t>Shaker – very customizable input, but shaker-structure interaction can change and/or add modes </a:t>
                </a:r>
                <a14:m>
                  <m:oMath xmlns:m="http://schemas.openxmlformats.org/officeDocument/2006/math">
                    <m:r>
                      <a:rPr lang="en-US" b="0" i="1" smtClean="0">
                        <a:latin typeface="Cambria Math" panose="02040503050406030204" pitchFamily="18" charset="0"/>
                      </a:rPr>
                      <m:t>→</m:t>
                    </m:r>
                  </m:oMath>
                </a14:m>
                <a:r>
                  <a:rPr lang="en-US" dirty="0"/>
                  <a:t> you are testing &amp; characterizing the coupled system of the shaker &amp; part!</a:t>
                </a:r>
              </a:p>
              <a:p>
                <a:pPr lvl="1"/>
                <a:r>
                  <a:rPr lang="en-US" dirty="0"/>
                  <a:t>Force measurement accuracy is crucial. Gauge sensitivity is a simple scalar, but it scales resultant FRFs and directly effects the characterization of the subsystem. </a:t>
                </a:r>
              </a:p>
            </p:txBody>
          </p:sp>
        </mc:Choice>
        <mc:Fallback xmlns="">
          <p:sp>
            <p:nvSpPr>
              <p:cNvPr id="3" name="Content Placeholder 2">
                <a:extLst>
                  <a:ext uri="{FF2B5EF4-FFF2-40B4-BE49-F238E27FC236}">
                    <a16:creationId xmlns:a16="http://schemas.microsoft.com/office/drawing/2014/main" id="{9C01B037-EE83-050D-6878-B4597CB6B85A}"/>
                  </a:ext>
                </a:extLst>
              </p:cNvPr>
              <p:cNvSpPr>
                <a:spLocks noGrp="1" noRot="1" noChangeAspect="1" noMove="1" noResize="1" noEditPoints="1" noAdjustHandles="1" noChangeArrowheads="1" noChangeShapeType="1" noTextEdit="1"/>
              </p:cNvSpPr>
              <p:nvPr>
                <p:ph idx="1"/>
              </p:nvPr>
            </p:nvSpPr>
            <p:spPr>
              <a:xfrm>
                <a:off x="105032" y="939585"/>
                <a:ext cx="11540868" cy="2870415"/>
              </a:xfrm>
              <a:blipFill>
                <a:blip r:embed="rId5"/>
                <a:stretch>
                  <a:fillRect l="-951" t="-3609"/>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E4DC6A5B-A0DE-AD3B-F9CC-5B8A1A9428D1}"/>
              </a:ext>
            </a:extLst>
          </p:cNvPr>
          <p:cNvPicPr>
            <a:picLocks noChangeAspect="1"/>
          </p:cNvPicPr>
          <p:nvPr/>
        </p:nvPicPr>
        <p:blipFill>
          <a:blip r:embed="rId6"/>
          <a:srcRect l="13328" t="3983" r="5682"/>
          <a:stretch/>
        </p:blipFill>
        <p:spPr>
          <a:xfrm>
            <a:off x="1256031" y="3871847"/>
            <a:ext cx="2719069" cy="2120749"/>
          </a:xfrm>
          <a:prstGeom prst="rect">
            <a:avLst/>
          </a:prstGeom>
          <a:ln>
            <a:noFill/>
          </a:ln>
          <a:effectLst>
            <a:softEdge rad="112500"/>
          </a:effectLst>
        </p:spPr>
      </p:pic>
      <p:sp>
        <p:nvSpPr>
          <p:cNvPr id="9" name="TextBox 8">
            <a:extLst>
              <a:ext uri="{FF2B5EF4-FFF2-40B4-BE49-F238E27FC236}">
                <a16:creationId xmlns:a16="http://schemas.microsoft.com/office/drawing/2014/main" id="{72A838B1-8050-A6EC-9EFF-4E5F261D3327}"/>
              </a:ext>
            </a:extLst>
          </p:cNvPr>
          <p:cNvSpPr txBox="1"/>
          <p:nvPr/>
        </p:nvSpPr>
        <p:spPr>
          <a:xfrm>
            <a:off x="1834092" y="6658771"/>
            <a:ext cx="2736893" cy="215444"/>
          </a:xfrm>
          <a:prstGeom prst="rect">
            <a:avLst/>
          </a:prstGeom>
          <a:noFill/>
        </p:spPr>
        <p:txBody>
          <a:bodyPr wrap="square">
            <a:spAutoFit/>
          </a:bodyPr>
          <a:lstStyle/>
          <a:p>
            <a:r>
              <a:rPr lang="en-US" sz="800" dirty="0">
                <a:hlinkClick r:id="rId7"/>
              </a:rPr>
              <a:t>https://pwmi.lv/vibration-test-shaker-modal-shop-2075e/</a:t>
            </a:r>
            <a:r>
              <a:rPr lang="en-US" sz="800" dirty="0"/>
              <a:t> </a:t>
            </a:r>
          </a:p>
        </p:txBody>
      </p:sp>
      <p:sp>
        <p:nvSpPr>
          <p:cNvPr id="12" name="TextBox 11">
            <a:extLst>
              <a:ext uri="{FF2B5EF4-FFF2-40B4-BE49-F238E27FC236}">
                <a16:creationId xmlns:a16="http://schemas.microsoft.com/office/drawing/2014/main" id="{12EA836B-6C6D-8050-6062-6D887A6D366B}"/>
              </a:ext>
            </a:extLst>
          </p:cNvPr>
          <p:cNvSpPr txBox="1"/>
          <p:nvPr/>
        </p:nvSpPr>
        <p:spPr>
          <a:xfrm>
            <a:off x="5314974" y="6649655"/>
            <a:ext cx="2382308" cy="215444"/>
          </a:xfrm>
          <a:prstGeom prst="rect">
            <a:avLst/>
          </a:prstGeom>
          <a:noFill/>
        </p:spPr>
        <p:txBody>
          <a:bodyPr wrap="square">
            <a:spAutoFit/>
          </a:bodyPr>
          <a:lstStyle/>
          <a:p>
            <a:r>
              <a:rPr lang="en-US" sz="800" dirty="0">
                <a:hlinkClick r:id="rId8"/>
              </a:rPr>
              <a:t>https://www.pcb.com/products?model=086c03</a:t>
            </a:r>
            <a:r>
              <a:rPr lang="en-US" sz="800" dirty="0"/>
              <a:t> </a:t>
            </a:r>
          </a:p>
        </p:txBody>
      </p:sp>
      <p:sp>
        <p:nvSpPr>
          <p:cNvPr id="14" name="TextBox 13">
            <a:extLst>
              <a:ext uri="{FF2B5EF4-FFF2-40B4-BE49-F238E27FC236}">
                <a16:creationId xmlns:a16="http://schemas.microsoft.com/office/drawing/2014/main" id="{727E233C-853A-8907-2327-C239F69352C5}"/>
              </a:ext>
            </a:extLst>
          </p:cNvPr>
          <p:cNvSpPr txBox="1"/>
          <p:nvPr/>
        </p:nvSpPr>
        <p:spPr>
          <a:xfrm>
            <a:off x="8249756" y="6659683"/>
            <a:ext cx="2143081" cy="215444"/>
          </a:xfrm>
          <a:prstGeom prst="rect">
            <a:avLst/>
          </a:prstGeom>
          <a:noFill/>
        </p:spPr>
        <p:txBody>
          <a:bodyPr wrap="square">
            <a:spAutoFit/>
          </a:bodyPr>
          <a:lstStyle/>
          <a:p>
            <a:r>
              <a:rPr lang="en-US" sz="800" dirty="0">
                <a:hlinkClick r:id="rId9"/>
              </a:rPr>
              <a:t>https://www.pcb.com/products?m=086e80</a:t>
            </a:r>
            <a:r>
              <a:rPr lang="en-US" sz="800" dirty="0"/>
              <a:t> </a:t>
            </a:r>
          </a:p>
        </p:txBody>
      </p:sp>
    </p:spTree>
    <p:extLst>
      <p:ext uri="{BB962C8B-B14F-4D97-AF65-F5344CB8AC3E}">
        <p14:creationId xmlns:p14="http://schemas.microsoft.com/office/powerpoint/2010/main" val="17584988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8EFBC-C174-2F7D-9DAB-29B6CC7BDA15}"/>
              </a:ext>
            </a:extLst>
          </p:cNvPr>
          <p:cNvSpPr>
            <a:spLocks noGrp="1"/>
          </p:cNvSpPr>
          <p:nvPr>
            <p:ph type="title"/>
          </p:nvPr>
        </p:nvSpPr>
        <p:spPr>
          <a:xfrm>
            <a:off x="0" y="136525"/>
            <a:ext cx="12192000" cy="662781"/>
          </a:xfrm>
        </p:spPr>
        <p:txBody>
          <a:bodyPr>
            <a:normAutofit fontScale="90000"/>
          </a:bodyPr>
          <a:lstStyle/>
          <a:p>
            <a:pPr algn="ctr"/>
            <a:r>
              <a:rPr lang="en-US" dirty="0"/>
              <a:t>General Substructuring Test Guidelines</a:t>
            </a:r>
          </a:p>
        </p:txBody>
      </p:sp>
      <p:sp>
        <p:nvSpPr>
          <p:cNvPr id="3" name="Content Placeholder 2">
            <a:extLst>
              <a:ext uri="{FF2B5EF4-FFF2-40B4-BE49-F238E27FC236}">
                <a16:creationId xmlns:a16="http://schemas.microsoft.com/office/drawing/2014/main" id="{9C01B037-EE83-050D-6878-B4597CB6B85A}"/>
              </a:ext>
            </a:extLst>
          </p:cNvPr>
          <p:cNvSpPr>
            <a:spLocks noGrp="1"/>
          </p:cNvSpPr>
          <p:nvPr>
            <p:ph idx="1"/>
          </p:nvPr>
        </p:nvSpPr>
        <p:spPr>
          <a:xfrm>
            <a:off x="105032" y="939585"/>
            <a:ext cx="11807568" cy="4927815"/>
          </a:xfrm>
        </p:spPr>
        <p:txBody>
          <a:bodyPr>
            <a:normAutofit/>
          </a:bodyPr>
          <a:lstStyle/>
          <a:p>
            <a:r>
              <a:rPr lang="en-US" dirty="0"/>
              <a:t>Use Rigid Body Checks to catch errors!</a:t>
            </a:r>
          </a:p>
          <a:p>
            <a:pPr lvl="1"/>
            <a:r>
              <a:rPr lang="en-US" dirty="0"/>
              <a:t>In a test with free boundary conditions, excite the structure in 3 orthogonal directions</a:t>
            </a:r>
          </a:p>
          <a:p>
            <a:pPr lvl="2"/>
            <a:r>
              <a:rPr lang="en-US" dirty="0"/>
              <a:t>Low frequency operating shapes extracted from each direction should resemble rigid body motion. DOF moving against that are likely either incorrectly mounted or labeled. </a:t>
            </a:r>
          </a:p>
          <a:p>
            <a:pPr lvl="2"/>
            <a:r>
              <a:rPr lang="en-US" dirty="0"/>
              <a:t>If available, use analytical rigid body modes to compute comparable drive point FRFs to the test. The low frequency mass lines should roughly agree. </a:t>
            </a:r>
          </a:p>
          <a:p>
            <a:pPr lvl="1"/>
            <a:r>
              <a:rPr lang="en-US" dirty="0"/>
              <a:t>Attempt the substructuring calculations initially only with rigid body information</a:t>
            </a:r>
          </a:p>
          <a:p>
            <a:pPr lvl="2"/>
            <a:r>
              <a:rPr lang="en-US" dirty="0"/>
              <a:t>If all subsystems are free and have complete rigid body information, the substructured result should also be a complete set of rigid information. </a:t>
            </a:r>
          </a:p>
          <a:p>
            <a:pPr lvl="3"/>
            <a:r>
              <a:rPr lang="en-US" dirty="0"/>
              <a:t>CMS: compute the modal parameters and look for a set of low natural frequencies with rigid shapes</a:t>
            </a:r>
          </a:p>
          <a:p>
            <a:pPr lvl="3"/>
            <a:r>
              <a:rPr lang="en-US" dirty="0"/>
              <a:t>FBS: Check the resultant mass lines for consistency with the subsystems and for signs of elastic response</a:t>
            </a:r>
          </a:p>
          <a:p>
            <a:pPr lvl="2"/>
            <a:r>
              <a:rPr lang="en-US" dirty="0"/>
              <a:t>A non-rigid result would indicate issues with the constraint definitions and/or the rigid body information</a:t>
            </a:r>
          </a:p>
          <a:p>
            <a:pPr lvl="1"/>
            <a:r>
              <a:rPr lang="en-US" dirty="0"/>
              <a:t>Use as a diagnostic tool to catch bookkeeping errors, sensor orientation issues, or inconsistencies in the subsystem rigid mass information. </a:t>
            </a:r>
          </a:p>
        </p:txBody>
      </p:sp>
    </p:spTree>
    <p:extLst>
      <p:ext uri="{BB962C8B-B14F-4D97-AF65-F5344CB8AC3E}">
        <p14:creationId xmlns:p14="http://schemas.microsoft.com/office/powerpoint/2010/main" val="30028060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8EFBC-C174-2F7D-9DAB-29B6CC7BDA15}"/>
              </a:ext>
            </a:extLst>
          </p:cNvPr>
          <p:cNvSpPr>
            <a:spLocks noGrp="1"/>
          </p:cNvSpPr>
          <p:nvPr>
            <p:ph type="title"/>
          </p:nvPr>
        </p:nvSpPr>
        <p:spPr>
          <a:xfrm>
            <a:off x="0" y="136525"/>
            <a:ext cx="12192000" cy="662781"/>
          </a:xfrm>
        </p:spPr>
        <p:txBody>
          <a:bodyPr>
            <a:normAutofit fontScale="90000"/>
          </a:bodyPr>
          <a:lstStyle/>
          <a:p>
            <a:pPr algn="ctr"/>
            <a:r>
              <a:rPr lang="en-US" dirty="0"/>
              <a:t>Frequency-based Substructuring Guidelines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01B037-EE83-050D-6878-B4597CB6B85A}"/>
                  </a:ext>
                </a:extLst>
              </p:cNvPr>
              <p:cNvSpPr>
                <a:spLocks noGrp="1"/>
              </p:cNvSpPr>
              <p:nvPr>
                <p:ph idx="1"/>
              </p:nvPr>
            </p:nvSpPr>
            <p:spPr>
              <a:xfrm>
                <a:off x="105032" y="939585"/>
                <a:ext cx="11843128" cy="1248502"/>
              </a:xfrm>
            </p:spPr>
            <p:txBody>
              <a:bodyPr>
                <a:normAutofit fontScale="92500"/>
              </a:bodyPr>
              <a:lstStyle/>
              <a:p>
                <a:r>
                  <a:rPr lang="en-US" dirty="0"/>
                  <a:t>Requires drivepoint measurements at all connection points, including rotational DOF</a:t>
                </a:r>
              </a:p>
              <a:p>
                <a:pPr lvl="1"/>
                <a:r>
                  <a:rPr lang="en-US" dirty="0"/>
                  <a:t>Drivepoint measurements at some locations, and rotations in general, can be impractical </a:t>
                </a:r>
              </a:p>
              <a:p>
                <a:pPr lvl="1"/>
                <a:r>
                  <a:rPr lang="en-US" dirty="0"/>
                  <a:t>Virtual Point Transformation (VPT) is a means of achieving this </a:t>
                </a:r>
                <a14:m>
                  <m:oMath xmlns:m="http://schemas.openxmlformats.org/officeDocument/2006/math">
                    <m:r>
                      <a:rPr lang="en-US" b="0" i="1" smtClean="0">
                        <a:latin typeface="Cambria Math" panose="02040503050406030204" pitchFamily="18" charset="0"/>
                      </a:rPr>
                      <m:t>→</m:t>
                    </m:r>
                  </m:oMath>
                </a14:m>
                <a:r>
                  <a:rPr lang="en-US" dirty="0"/>
                  <a:t> Steve has a section on this later</a:t>
                </a:r>
              </a:p>
            </p:txBody>
          </p:sp>
        </mc:Choice>
        <mc:Fallback xmlns="">
          <p:sp>
            <p:nvSpPr>
              <p:cNvPr id="3" name="Content Placeholder 2">
                <a:extLst>
                  <a:ext uri="{FF2B5EF4-FFF2-40B4-BE49-F238E27FC236}">
                    <a16:creationId xmlns:a16="http://schemas.microsoft.com/office/drawing/2014/main" id="{9C01B037-EE83-050D-6878-B4597CB6B85A}"/>
                  </a:ext>
                </a:extLst>
              </p:cNvPr>
              <p:cNvSpPr>
                <a:spLocks noGrp="1" noRot="1" noChangeAspect="1" noMove="1" noResize="1" noEditPoints="1" noAdjustHandles="1" noChangeArrowheads="1" noChangeShapeType="1" noTextEdit="1"/>
              </p:cNvSpPr>
              <p:nvPr>
                <p:ph idx="1"/>
              </p:nvPr>
            </p:nvSpPr>
            <p:spPr>
              <a:xfrm>
                <a:off x="105032" y="939585"/>
                <a:ext cx="11843128" cy="1248502"/>
              </a:xfrm>
              <a:blipFill>
                <a:blip r:embed="rId3"/>
                <a:stretch>
                  <a:fillRect l="-772" t="-7317" b="-4878"/>
                </a:stretch>
              </a:blipFill>
            </p:spPr>
            <p:txBody>
              <a:bodyPr/>
              <a:lstStyle/>
              <a:p>
                <a:r>
                  <a:rPr lang="en-US">
                    <a:noFill/>
                  </a:rPr>
                  <a:t> </a:t>
                </a:r>
              </a:p>
            </p:txBody>
          </p:sp>
        </mc:Fallback>
      </mc:AlternateContent>
      <p:pic>
        <p:nvPicPr>
          <p:cNvPr id="35" name="Picture 34">
            <a:extLst>
              <a:ext uri="{FF2B5EF4-FFF2-40B4-BE49-F238E27FC236}">
                <a16:creationId xmlns:a16="http://schemas.microsoft.com/office/drawing/2014/main" id="{E08989DB-2EDC-3FB6-CD1A-D0219E812D8A}"/>
              </a:ext>
            </a:extLst>
          </p:cNvPr>
          <p:cNvPicPr>
            <a:picLocks noChangeAspect="1"/>
          </p:cNvPicPr>
          <p:nvPr/>
        </p:nvPicPr>
        <p:blipFill>
          <a:blip r:embed="rId4">
            <a:clrChange>
              <a:clrFrom>
                <a:srgbClr val="FFFFFF"/>
              </a:clrFrom>
              <a:clrTo>
                <a:srgbClr val="FFFFFF">
                  <a:alpha val="0"/>
                </a:srgbClr>
              </a:clrTo>
            </a:clrChange>
          </a:blip>
          <a:srcRect r="44557"/>
          <a:stretch/>
        </p:blipFill>
        <p:spPr>
          <a:xfrm>
            <a:off x="1110838" y="2110292"/>
            <a:ext cx="2807155" cy="2126697"/>
          </a:xfrm>
          <a:prstGeom prst="rect">
            <a:avLst/>
          </a:prstGeom>
        </p:spPr>
      </p:pic>
      <p:pic>
        <p:nvPicPr>
          <p:cNvPr id="36" name="Picture 35">
            <a:extLst>
              <a:ext uri="{FF2B5EF4-FFF2-40B4-BE49-F238E27FC236}">
                <a16:creationId xmlns:a16="http://schemas.microsoft.com/office/drawing/2014/main" id="{CE6001EC-A563-CA3E-AE9C-622DB9B8CE36}"/>
              </a:ext>
            </a:extLst>
          </p:cNvPr>
          <p:cNvPicPr>
            <a:picLocks noChangeAspect="1"/>
          </p:cNvPicPr>
          <p:nvPr/>
        </p:nvPicPr>
        <p:blipFill>
          <a:blip r:embed="rId4">
            <a:clrChange>
              <a:clrFrom>
                <a:srgbClr val="FFFFFF"/>
              </a:clrFrom>
              <a:clrTo>
                <a:srgbClr val="FFFFFF">
                  <a:alpha val="0"/>
                </a:srgbClr>
              </a:clrTo>
            </a:clrChange>
          </a:blip>
          <a:srcRect l="70950"/>
          <a:stretch/>
        </p:blipFill>
        <p:spPr>
          <a:xfrm>
            <a:off x="1847751" y="4504084"/>
            <a:ext cx="1297004" cy="1875344"/>
          </a:xfrm>
          <a:prstGeom prst="rect">
            <a:avLst/>
          </a:prstGeom>
        </p:spPr>
      </p:pic>
      <p:pic>
        <p:nvPicPr>
          <p:cNvPr id="37" name="Picture 36">
            <a:extLst>
              <a:ext uri="{FF2B5EF4-FFF2-40B4-BE49-F238E27FC236}">
                <a16:creationId xmlns:a16="http://schemas.microsoft.com/office/drawing/2014/main" id="{420674BE-6352-F139-A070-21D21BD569BF}"/>
              </a:ext>
            </a:extLst>
          </p:cNvPr>
          <p:cNvPicPr>
            <a:picLocks noChangeAspect="1"/>
          </p:cNvPicPr>
          <p:nvPr/>
        </p:nvPicPr>
        <p:blipFill>
          <a:blip r:embed="rId4">
            <a:clrChange>
              <a:clrFrom>
                <a:srgbClr val="FFFFFF"/>
              </a:clrFrom>
              <a:clrTo>
                <a:srgbClr val="FFFFFF">
                  <a:alpha val="0"/>
                </a:srgbClr>
              </a:clrTo>
            </a:clrChange>
          </a:blip>
          <a:srcRect r="44557"/>
          <a:stretch/>
        </p:blipFill>
        <p:spPr>
          <a:xfrm>
            <a:off x="8547233" y="3152922"/>
            <a:ext cx="2581719" cy="1955907"/>
          </a:xfrm>
          <a:prstGeom prst="rect">
            <a:avLst/>
          </a:prstGeom>
        </p:spPr>
      </p:pic>
      <p:pic>
        <p:nvPicPr>
          <p:cNvPr id="38" name="Picture 37">
            <a:extLst>
              <a:ext uri="{FF2B5EF4-FFF2-40B4-BE49-F238E27FC236}">
                <a16:creationId xmlns:a16="http://schemas.microsoft.com/office/drawing/2014/main" id="{9AC2688F-14FD-022D-93C5-BC0903CB4783}"/>
              </a:ext>
            </a:extLst>
          </p:cNvPr>
          <p:cNvPicPr>
            <a:picLocks noChangeAspect="1"/>
          </p:cNvPicPr>
          <p:nvPr/>
        </p:nvPicPr>
        <p:blipFill>
          <a:blip r:embed="rId4">
            <a:clrChange>
              <a:clrFrom>
                <a:srgbClr val="FFFFFF"/>
              </a:clrFrom>
              <a:clrTo>
                <a:srgbClr val="FFFFFF">
                  <a:alpha val="0"/>
                </a:srgbClr>
              </a:clrTo>
            </a:clrChange>
          </a:blip>
          <a:srcRect l="70950"/>
          <a:stretch/>
        </p:blipFill>
        <p:spPr>
          <a:xfrm>
            <a:off x="10556004" y="3283329"/>
            <a:ext cx="1192845" cy="1724739"/>
          </a:xfrm>
          <a:prstGeom prst="rect">
            <a:avLst/>
          </a:prstGeom>
        </p:spPr>
      </p:pic>
      <p:sp>
        <p:nvSpPr>
          <p:cNvPr id="39" name="Arrow: Right 38">
            <a:extLst>
              <a:ext uri="{FF2B5EF4-FFF2-40B4-BE49-F238E27FC236}">
                <a16:creationId xmlns:a16="http://schemas.microsoft.com/office/drawing/2014/main" id="{72E38DA8-A548-2988-5D01-D27094728B56}"/>
              </a:ext>
            </a:extLst>
          </p:cNvPr>
          <p:cNvSpPr/>
          <p:nvPr/>
        </p:nvSpPr>
        <p:spPr>
          <a:xfrm>
            <a:off x="4014223" y="3237969"/>
            <a:ext cx="565436" cy="303439"/>
          </a:xfrm>
          <a:prstGeom prst="rightArrow">
            <a:avLst>
              <a:gd name="adj1" fmla="val 50000"/>
              <a:gd name="adj2" fmla="val 67970"/>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43F80070-3B6B-85AE-6AD8-71388157C861}"/>
              </a:ext>
            </a:extLst>
          </p:cNvPr>
          <p:cNvSpPr/>
          <p:nvPr/>
        </p:nvSpPr>
        <p:spPr>
          <a:xfrm>
            <a:off x="5618427" y="5545520"/>
            <a:ext cx="182880" cy="182880"/>
          </a:xfrm>
          <a:prstGeom prst="ellipse">
            <a:avLst/>
          </a:prstGeom>
          <a:solidFill>
            <a:srgbClr val="00B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F5837CD0-A69D-4F0F-6CA4-74932429FBE2}"/>
              </a:ext>
            </a:extLst>
          </p:cNvPr>
          <p:cNvSpPr/>
          <p:nvPr/>
        </p:nvSpPr>
        <p:spPr>
          <a:xfrm>
            <a:off x="1259307" y="3055089"/>
            <a:ext cx="182880" cy="182880"/>
          </a:xfrm>
          <a:prstGeom prst="ellipse">
            <a:avLst/>
          </a:prstGeom>
          <a:solidFill>
            <a:srgbClr val="FF000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45461FF1-A738-BC43-2086-9D5606AF6773}"/>
              </a:ext>
            </a:extLst>
          </p:cNvPr>
          <p:cNvSpPr/>
          <p:nvPr/>
        </p:nvSpPr>
        <p:spPr>
          <a:xfrm>
            <a:off x="3238091" y="3671221"/>
            <a:ext cx="182880" cy="182880"/>
          </a:xfrm>
          <a:prstGeom prst="ellipse">
            <a:avLst/>
          </a:prstGeom>
          <a:solidFill>
            <a:srgbClr val="FF000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54DDDF9D-3FEF-A5D2-C297-9B2D173A9E2F}"/>
              </a:ext>
            </a:extLst>
          </p:cNvPr>
          <p:cNvSpPr/>
          <p:nvPr/>
        </p:nvSpPr>
        <p:spPr>
          <a:xfrm>
            <a:off x="2949782" y="3955522"/>
            <a:ext cx="182880" cy="182880"/>
          </a:xfrm>
          <a:prstGeom prst="ellipse">
            <a:avLst/>
          </a:prstGeom>
          <a:solidFill>
            <a:srgbClr val="FF000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Arrow Connector 51">
            <a:extLst>
              <a:ext uri="{FF2B5EF4-FFF2-40B4-BE49-F238E27FC236}">
                <a16:creationId xmlns:a16="http://schemas.microsoft.com/office/drawing/2014/main" id="{BE1F1996-9D8A-2D9A-315D-4892132070AE}"/>
              </a:ext>
            </a:extLst>
          </p:cNvPr>
          <p:cNvCxnSpPr>
            <a:cxnSpLocks/>
          </p:cNvCxnSpPr>
          <p:nvPr/>
        </p:nvCxnSpPr>
        <p:spPr>
          <a:xfrm flipV="1">
            <a:off x="1350747" y="2780769"/>
            <a:ext cx="0" cy="27432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9D7F4F36-E3CC-0FC7-CE52-A07D9922C5D7}"/>
              </a:ext>
            </a:extLst>
          </p:cNvPr>
          <p:cNvCxnSpPr>
            <a:cxnSpLocks/>
          </p:cNvCxnSpPr>
          <p:nvPr/>
        </p:nvCxnSpPr>
        <p:spPr>
          <a:xfrm>
            <a:off x="3418401" y="2844559"/>
            <a:ext cx="274320" cy="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5F41E9D2-AFB5-9FFD-17BE-436F9A316B74}"/>
              </a:ext>
            </a:extLst>
          </p:cNvPr>
          <p:cNvCxnSpPr>
            <a:cxnSpLocks/>
          </p:cNvCxnSpPr>
          <p:nvPr/>
        </p:nvCxnSpPr>
        <p:spPr>
          <a:xfrm>
            <a:off x="3041222" y="4138402"/>
            <a:ext cx="0" cy="274343"/>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3D66EADF-C193-8603-721A-EAB47692C1B4}"/>
              </a:ext>
            </a:extLst>
          </p:cNvPr>
          <p:cNvCxnSpPr>
            <a:cxnSpLocks/>
          </p:cNvCxnSpPr>
          <p:nvPr/>
        </p:nvCxnSpPr>
        <p:spPr>
          <a:xfrm>
            <a:off x="3428697" y="3762661"/>
            <a:ext cx="274320" cy="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67" name="Picture 66">
            <a:extLst>
              <a:ext uri="{FF2B5EF4-FFF2-40B4-BE49-F238E27FC236}">
                <a16:creationId xmlns:a16="http://schemas.microsoft.com/office/drawing/2014/main" id="{C1617C36-962A-31C3-B1BF-0B007284710F}"/>
              </a:ext>
            </a:extLst>
          </p:cNvPr>
          <p:cNvPicPr>
            <a:picLocks noChangeAspect="1"/>
          </p:cNvPicPr>
          <p:nvPr/>
        </p:nvPicPr>
        <p:blipFill>
          <a:blip r:embed="rId4">
            <a:clrChange>
              <a:clrFrom>
                <a:srgbClr val="FFFFFF"/>
              </a:clrFrom>
              <a:clrTo>
                <a:srgbClr val="FFFFFF">
                  <a:alpha val="0"/>
                </a:srgbClr>
              </a:clrTo>
            </a:clrChange>
          </a:blip>
          <a:srcRect l="55193" r="29397"/>
          <a:stretch/>
        </p:blipFill>
        <p:spPr>
          <a:xfrm>
            <a:off x="7634937" y="3006246"/>
            <a:ext cx="786894" cy="2144952"/>
          </a:xfrm>
          <a:prstGeom prst="rect">
            <a:avLst/>
          </a:prstGeom>
        </p:spPr>
      </p:pic>
      <p:sp>
        <p:nvSpPr>
          <p:cNvPr id="77" name="Oval 76">
            <a:extLst>
              <a:ext uri="{FF2B5EF4-FFF2-40B4-BE49-F238E27FC236}">
                <a16:creationId xmlns:a16="http://schemas.microsoft.com/office/drawing/2014/main" id="{AF0BA1B6-8567-F375-DCAE-C59461E7243D}"/>
              </a:ext>
            </a:extLst>
          </p:cNvPr>
          <p:cNvSpPr/>
          <p:nvPr/>
        </p:nvSpPr>
        <p:spPr>
          <a:xfrm>
            <a:off x="3239733" y="2757745"/>
            <a:ext cx="182880" cy="182880"/>
          </a:xfrm>
          <a:prstGeom prst="ellipse">
            <a:avLst/>
          </a:prstGeom>
          <a:solidFill>
            <a:srgbClr val="FF000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1" name="Picture 90">
            <a:extLst>
              <a:ext uri="{FF2B5EF4-FFF2-40B4-BE49-F238E27FC236}">
                <a16:creationId xmlns:a16="http://schemas.microsoft.com/office/drawing/2014/main" id="{7EF50D55-B480-BA2A-9941-0824E6BB6032}"/>
              </a:ext>
            </a:extLst>
          </p:cNvPr>
          <p:cNvPicPr>
            <a:picLocks noChangeAspect="1"/>
          </p:cNvPicPr>
          <p:nvPr/>
        </p:nvPicPr>
        <p:blipFill>
          <a:blip r:embed="rId4">
            <a:clrChange>
              <a:clrFrom>
                <a:srgbClr val="FFFFFF"/>
              </a:clrFrom>
              <a:clrTo>
                <a:srgbClr val="FFFFFF">
                  <a:alpha val="0"/>
                </a:srgbClr>
              </a:clrTo>
            </a:clrChange>
          </a:blip>
          <a:srcRect r="44557"/>
          <a:stretch/>
        </p:blipFill>
        <p:spPr>
          <a:xfrm>
            <a:off x="4707640" y="2111556"/>
            <a:ext cx="2807155" cy="2126697"/>
          </a:xfrm>
          <a:prstGeom prst="rect">
            <a:avLst/>
          </a:prstGeom>
        </p:spPr>
      </p:pic>
      <p:sp>
        <p:nvSpPr>
          <p:cNvPr id="92" name="Arrow: Right 91">
            <a:extLst>
              <a:ext uri="{FF2B5EF4-FFF2-40B4-BE49-F238E27FC236}">
                <a16:creationId xmlns:a16="http://schemas.microsoft.com/office/drawing/2014/main" id="{2F61A364-36C0-DD7B-5CBF-565065AFAB57}"/>
              </a:ext>
            </a:extLst>
          </p:cNvPr>
          <p:cNvSpPr/>
          <p:nvPr/>
        </p:nvSpPr>
        <p:spPr>
          <a:xfrm>
            <a:off x="4014127" y="5485738"/>
            <a:ext cx="565436" cy="303439"/>
          </a:xfrm>
          <a:prstGeom prst="rightArrow">
            <a:avLst>
              <a:gd name="adj1" fmla="val 50000"/>
              <a:gd name="adj2" fmla="val 67970"/>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3" name="Picture 92">
            <a:extLst>
              <a:ext uri="{FF2B5EF4-FFF2-40B4-BE49-F238E27FC236}">
                <a16:creationId xmlns:a16="http://schemas.microsoft.com/office/drawing/2014/main" id="{0722B375-E4AD-B062-07A3-911E272C8D41}"/>
              </a:ext>
            </a:extLst>
          </p:cNvPr>
          <p:cNvPicPr>
            <a:picLocks noChangeAspect="1"/>
          </p:cNvPicPr>
          <p:nvPr/>
        </p:nvPicPr>
        <p:blipFill>
          <a:blip r:embed="rId4">
            <a:clrChange>
              <a:clrFrom>
                <a:srgbClr val="FFFFFF"/>
              </a:clrFrom>
              <a:clrTo>
                <a:srgbClr val="FFFFFF">
                  <a:alpha val="0"/>
                </a:srgbClr>
              </a:clrTo>
            </a:clrChange>
          </a:blip>
          <a:srcRect l="70950"/>
          <a:stretch/>
        </p:blipFill>
        <p:spPr>
          <a:xfrm>
            <a:off x="5448935" y="4513600"/>
            <a:ext cx="1297004" cy="1875344"/>
          </a:xfrm>
          <a:prstGeom prst="rect">
            <a:avLst/>
          </a:prstGeom>
        </p:spPr>
      </p:pic>
      <p:sp>
        <p:nvSpPr>
          <p:cNvPr id="82" name="Oval 81">
            <a:extLst>
              <a:ext uri="{FF2B5EF4-FFF2-40B4-BE49-F238E27FC236}">
                <a16:creationId xmlns:a16="http://schemas.microsoft.com/office/drawing/2014/main" id="{AB790D5F-A21D-77C3-8FFC-C3CCF90C5CF3}"/>
              </a:ext>
            </a:extLst>
          </p:cNvPr>
          <p:cNvSpPr/>
          <p:nvPr/>
        </p:nvSpPr>
        <p:spPr>
          <a:xfrm>
            <a:off x="7169664" y="3296228"/>
            <a:ext cx="182880" cy="182880"/>
          </a:xfrm>
          <a:prstGeom prst="ellipse">
            <a:avLst/>
          </a:prstGeom>
          <a:solidFill>
            <a:srgbClr val="FF000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4" name="Straight Arrow Connector 83">
            <a:extLst>
              <a:ext uri="{FF2B5EF4-FFF2-40B4-BE49-F238E27FC236}">
                <a16:creationId xmlns:a16="http://schemas.microsoft.com/office/drawing/2014/main" id="{E67E3478-A232-52E0-F6B9-04C4FFF13F95}"/>
              </a:ext>
            </a:extLst>
          </p:cNvPr>
          <p:cNvCxnSpPr>
            <a:cxnSpLocks/>
          </p:cNvCxnSpPr>
          <p:nvPr/>
        </p:nvCxnSpPr>
        <p:spPr>
          <a:xfrm flipV="1">
            <a:off x="7261104" y="3021908"/>
            <a:ext cx="0" cy="27432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08184C79-F899-3CCD-8B10-49317F713396}"/>
              </a:ext>
            </a:extLst>
          </p:cNvPr>
          <p:cNvCxnSpPr>
            <a:cxnSpLocks/>
          </p:cNvCxnSpPr>
          <p:nvPr/>
        </p:nvCxnSpPr>
        <p:spPr>
          <a:xfrm>
            <a:off x="7352544" y="3387668"/>
            <a:ext cx="274320" cy="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9" name="Arc 88">
            <a:extLst>
              <a:ext uri="{FF2B5EF4-FFF2-40B4-BE49-F238E27FC236}">
                <a16:creationId xmlns:a16="http://schemas.microsoft.com/office/drawing/2014/main" id="{1A63A063-958A-9504-CAA9-390EB5F4E568}"/>
              </a:ext>
            </a:extLst>
          </p:cNvPr>
          <p:cNvSpPr/>
          <p:nvPr/>
        </p:nvSpPr>
        <p:spPr>
          <a:xfrm>
            <a:off x="7065521" y="3193818"/>
            <a:ext cx="384048" cy="384048"/>
          </a:xfrm>
          <a:prstGeom prst="arc">
            <a:avLst>
              <a:gd name="adj1" fmla="val 3644226"/>
              <a:gd name="adj2" fmla="val 13718280"/>
            </a:avLst>
          </a:prstGeom>
          <a:ln w="38100">
            <a:solidFill>
              <a:schemeClr val="tx1">
                <a:lumMod val="95000"/>
                <a:lumOff val="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dirty="0"/>
              <a:t>  </a:t>
            </a:r>
          </a:p>
        </p:txBody>
      </p:sp>
      <p:sp>
        <p:nvSpPr>
          <p:cNvPr id="94" name="Oval 93">
            <a:extLst>
              <a:ext uri="{FF2B5EF4-FFF2-40B4-BE49-F238E27FC236}">
                <a16:creationId xmlns:a16="http://schemas.microsoft.com/office/drawing/2014/main" id="{5AAC7260-9B7D-B745-77FB-19874EA342D0}"/>
              </a:ext>
            </a:extLst>
          </p:cNvPr>
          <p:cNvSpPr/>
          <p:nvPr/>
        </p:nvSpPr>
        <p:spPr>
          <a:xfrm>
            <a:off x="3035556" y="6068321"/>
            <a:ext cx="182880" cy="182880"/>
          </a:xfrm>
          <a:prstGeom prst="ellipse">
            <a:avLst/>
          </a:prstGeom>
          <a:solidFill>
            <a:srgbClr val="00B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9D37575B-6B2E-4662-D58B-359B121E459B}"/>
              </a:ext>
            </a:extLst>
          </p:cNvPr>
          <p:cNvSpPr/>
          <p:nvPr/>
        </p:nvSpPr>
        <p:spPr>
          <a:xfrm>
            <a:off x="1799234" y="5184591"/>
            <a:ext cx="182880" cy="182880"/>
          </a:xfrm>
          <a:prstGeom prst="ellipse">
            <a:avLst/>
          </a:prstGeom>
          <a:solidFill>
            <a:srgbClr val="00B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33B01400-A859-A9CA-42DD-27CCFED35094}"/>
              </a:ext>
            </a:extLst>
          </p:cNvPr>
          <p:cNvSpPr/>
          <p:nvPr/>
        </p:nvSpPr>
        <p:spPr>
          <a:xfrm>
            <a:off x="2840094" y="6234294"/>
            <a:ext cx="182880" cy="182880"/>
          </a:xfrm>
          <a:prstGeom prst="ellipse">
            <a:avLst/>
          </a:prstGeom>
          <a:solidFill>
            <a:srgbClr val="00B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F41B8AC6-4E7E-FBA2-E257-A1E06F76F197}"/>
              </a:ext>
            </a:extLst>
          </p:cNvPr>
          <p:cNvSpPr/>
          <p:nvPr/>
        </p:nvSpPr>
        <p:spPr>
          <a:xfrm>
            <a:off x="2107832" y="4855505"/>
            <a:ext cx="182880" cy="182880"/>
          </a:xfrm>
          <a:prstGeom prst="ellipse">
            <a:avLst/>
          </a:prstGeom>
          <a:solidFill>
            <a:srgbClr val="00B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8" name="Straight Arrow Connector 97">
            <a:extLst>
              <a:ext uri="{FF2B5EF4-FFF2-40B4-BE49-F238E27FC236}">
                <a16:creationId xmlns:a16="http://schemas.microsoft.com/office/drawing/2014/main" id="{B1A9362F-C50E-2AAB-D7F0-E30FC30F1B67}"/>
              </a:ext>
            </a:extLst>
          </p:cNvPr>
          <p:cNvCxnSpPr>
            <a:cxnSpLocks/>
          </p:cNvCxnSpPr>
          <p:nvPr/>
        </p:nvCxnSpPr>
        <p:spPr>
          <a:xfrm>
            <a:off x="3218436" y="6147179"/>
            <a:ext cx="274320" cy="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A3DDD461-BDE7-084E-C500-EF0A92D230DB}"/>
              </a:ext>
            </a:extLst>
          </p:cNvPr>
          <p:cNvCxnSpPr>
            <a:cxnSpLocks/>
          </p:cNvCxnSpPr>
          <p:nvPr/>
        </p:nvCxnSpPr>
        <p:spPr>
          <a:xfrm flipV="1">
            <a:off x="2199272" y="4581185"/>
            <a:ext cx="0" cy="27432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00" name="Straight Arrow Connector 99">
            <a:extLst>
              <a:ext uri="{FF2B5EF4-FFF2-40B4-BE49-F238E27FC236}">
                <a16:creationId xmlns:a16="http://schemas.microsoft.com/office/drawing/2014/main" id="{F3090957-15BC-75D3-47B9-B6D9DD615099}"/>
              </a:ext>
            </a:extLst>
          </p:cNvPr>
          <p:cNvCxnSpPr>
            <a:cxnSpLocks/>
          </p:cNvCxnSpPr>
          <p:nvPr/>
        </p:nvCxnSpPr>
        <p:spPr>
          <a:xfrm flipH="1">
            <a:off x="1527631" y="5276031"/>
            <a:ext cx="271603" cy="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02" name="Straight Arrow Connector 101">
            <a:extLst>
              <a:ext uri="{FF2B5EF4-FFF2-40B4-BE49-F238E27FC236}">
                <a16:creationId xmlns:a16="http://schemas.microsoft.com/office/drawing/2014/main" id="{C9E72539-ACA2-6A0C-4B31-ED9DBA598C12}"/>
              </a:ext>
            </a:extLst>
          </p:cNvPr>
          <p:cNvCxnSpPr>
            <a:cxnSpLocks/>
          </p:cNvCxnSpPr>
          <p:nvPr/>
        </p:nvCxnSpPr>
        <p:spPr>
          <a:xfrm>
            <a:off x="2931534" y="6417174"/>
            <a:ext cx="0" cy="206108"/>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05" name="Straight Arrow Connector 104">
            <a:extLst>
              <a:ext uri="{FF2B5EF4-FFF2-40B4-BE49-F238E27FC236}">
                <a16:creationId xmlns:a16="http://schemas.microsoft.com/office/drawing/2014/main" id="{2B4B4BDA-82B6-C492-24A2-00BF444D16BE}"/>
              </a:ext>
            </a:extLst>
          </p:cNvPr>
          <p:cNvCxnSpPr>
            <a:cxnSpLocks/>
          </p:cNvCxnSpPr>
          <p:nvPr/>
        </p:nvCxnSpPr>
        <p:spPr>
          <a:xfrm flipV="1">
            <a:off x="5707074" y="5273021"/>
            <a:ext cx="0" cy="27432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06" name="Straight Arrow Connector 105">
            <a:extLst>
              <a:ext uri="{FF2B5EF4-FFF2-40B4-BE49-F238E27FC236}">
                <a16:creationId xmlns:a16="http://schemas.microsoft.com/office/drawing/2014/main" id="{76356F19-0D15-0E95-9907-04A25CE2E034}"/>
              </a:ext>
            </a:extLst>
          </p:cNvPr>
          <p:cNvCxnSpPr>
            <a:cxnSpLocks/>
          </p:cNvCxnSpPr>
          <p:nvPr/>
        </p:nvCxnSpPr>
        <p:spPr>
          <a:xfrm>
            <a:off x="5798514" y="5638781"/>
            <a:ext cx="274320" cy="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07" name="Arc 106">
            <a:extLst>
              <a:ext uri="{FF2B5EF4-FFF2-40B4-BE49-F238E27FC236}">
                <a16:creationId xmlns:a16="http://schemas.microsoft.com/office/drawing/2014/main" id="{504C3A83-2357-5837-717D-99EC6E9EBA91}"/>
              </a:ext>
            </a:extLst>
          </p:cNvPr>
          <p:cNvSpPr/>
          <p:nvPr/>
        </p:nvSpPr>
        <p:spPr>
          <a:xfrm>
            <a:off x="5511491" y="5444931"/>
            <a:ext cx="384048" cy="384048"/>
          </a:xfrm>
          <a:prstGeom prst="arc">
            <a:avLst>
              <a:gd name="adj1" fmla="val 3644226"/>
              <a:gd name="adj2" fmla="val 13718280"/>
            </a:avLst>
          </a:prstGeom>
          <a:ln w="38100">
            <a:solidFill>
              <a:schemeClr val="tx1">
                <a:lumMod val="95000"/>
                <a:lumOff val="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dirty="0"/>
              <a:t>  </a:t>
            </a:r>
          </a:p>
        </p:txBody>
      </p:sp>
      <p:sp>
        <p:nvSpPr>
          <p:cNvPr id="108" name="Oval 107">
            <a:extLst>
              <a:ext uri="{FF2B5EF4-FFF2-40B4-BE49-F238E27FC236}">
                <a16:creationId xmlns:a16="http://schemas.microsoft.com/office/drawing/2014/main" id="{B1E55E10-848C-74F1-4FE3-C068E60EDB5D}"/>
              </a:ext>
            </a:extLst>
          </p:cNvPr>
          <p:cNvSpPr/>
          <p:nvPr/>
        </p:nvSpPr>
        <p:spPr>
          <a:xfrm>
            <a:off x="10769838" y="4233418"/>
            <a:ext cx="182880" cy="182880"/>
          </a:xfrm>
          <a:prstGeom prst="ellipse">
            <a:avLst/>
          </a:prstGeom>
          <a:solidFill>
            <a:srgbClr val="00B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9" name="Straight Arrow Connector 108">
            <a:extLst>
              <a:ext uri="{FF2B5EF4-FFF2-40B4-BE49-F238E27FC236}">
                <a16:creationId xmlns:a16="http://schemas.microsoft.com/office/drawing/2014/main" id="{8FD4BA5A-F8AB-7B8E-9CB3-2F6CDCB1BD3F}"/>
              </a:ext>
            </a:extLst>
          </p:cNvPr>
          <p:cNvCxnSpPr>
            <a:cxnSpLocks/>
          </p:cNvCxnSpPr>
          <p:nvPr/>
        </p:nvCxnSpPr>
        <p:spPr>
          <a:xfrm flipV="1">
            <a:off x="10858485" y="3960919"/>
            <a:ext cx="0" cy="27432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10" name="Straight Arrow Connector 109">
            <a:extLst>
              <a:ext uri="{FF2B5EF4-FFF2-40B4-BE49-F238E27FC236}">
                <a16:creationId xmlns:a16="http://schemas.microsoft.com/office/drawing/2014/main" id="{3F5C4CC7-2A58-7104-4C70-D4FBD87AE99E}"/>
              </a:ext>
            </a:extLst>
          </p:cNvPr>
          <p:cNvCxnSpPr>
            <a:cxnSpLocks/>
          </p:cNvCxnSpPr>
          <p:nvPr/>
        </p:nvCxnSpPr>
        <p:spPr>
          <a:xfrm>
            <a:off x="10949925" y="4326679"/>
            <a:ext cx="274320" cy="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1" name="Arc 110">
            <a:extLst>
              <a:ext uri="{FF2B5EF4-FFF2-40B4-BE49-F238E27FC236}">
                <a16:creationId xmlns:a16="http://schemas.microsoft.com/office/drawing/2014/main" id="{399924BF-45F6-A05C-F9B5-FC965B661D3C}"/>
              </a:ext>
            </a:extLst>
          </p:cNvPr>
          <p:cNvSpPr/>
          <p:nvPr/>
        </p:nvSpPr>
        <p:spPr>
          <a:xfrm rot="10637275">
            <a:off x="10662902" y="4132829"/>
            <a:ext cx="384048" cy="384048"/>
          </a:xfrm>
          <a:prstGeom prst="arc">
            <a:avLst>
              <a:gd name="adj1" fmla="val 3644226"/>
              <a:gd name="adj2" fmla="val 13718280"/>
            </a:avLst>
          </a:prstGeom>
          <a:ln w="38100">
            <a:solidFill>
              <a:schemeClr val="tx1">
                <a:lumMod val="95000"/>
                <a:lumOff val="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dirty="0"/>
              <a:t>  </a:t>
            </a:r>
          </a:p>
        </p:txBody>
      </p:sp>
      <p:sp>
        <p:nvSpPr>
          <p:cNvPr id="112" name="Oval 111">
            <a:extLst>
              <a:ext uri="{FF2B5EF4-FFF2-40B4-BE49-F238E27FC236}">
                <a16:creationId xmlns:a16="http://schemas.microsoft.com/office/drawing/2014/main" id="{C4D4867C-165E-5272-32DA-EE4547A67553}"/>
              </a:ext>
            </a:extLst>
          </p:cNvPr>
          <p:cNvSpPr/>
          <p:nvPr/>
        </p:nvSpPr>
        <p:spPr>
          <a:xfrm>
            <a:off x="10713047" y="4230439"/>
            <a:ext cx="182880" cy="182880"/>
          </a:xfrm>
          <a:prstGeom prst="ellipse">
            <a:avLst/>
          </a:prstGeom>
          <a:solidFill>
            <a:srgbClr val="FF000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3" name="Straight Arrow Connector 112">
            <a:extLst>
              <a:ext uri="{FF2B5EF4-FFF2-40B4-BE49-F238E27FC236}">
                <a16:creationId xmlns:a16="http://schemas.microsoft.com/office/drawing/2014/main" id="{E0E4030F-EB47-D10C-B7A4-71127A88A396}"/>
              </a:ext>
            </a:extLst>
          </p:cNvPr>
          <p:cNvCxnSpPr>
            <a:cxnSpLocks/>
          </p:cNvCxnSpPr>
          <p:nvPr/>
        </p:nvCxnSpPr>
        <p:spPr>
          <a:xfrm flipV="1">
            <a:off x="10804487" y="3956119"/>
            <a:ext cx="0" cy="27432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14" name="Straight Arrow Connector 113">
            <a:extLst>
              <a:ext uri="{FF2B5EF4-FFF2-40B4-BE49-F238E27FC236}">
                <a16:creationId xmlns:a16="http://schemas.microsoft.com/office/drawing/2014/main" id="{A25D030D-8BB2-69CE-0317-55717856989B}"/>
              </a:ext>
            </a:extLst>
          </p:cNvPr>
          <p:cNvCxnSpPr>
            <a:cxnSpLocks/>
          </p:cNvCxnSpPr>
          <p:nvPr/>
        </p:nvCxnSpPr>
        <p:spPr>
          <a:xfrm>
            <a:off x="10895927" y="4321879"/>
            <a:ext cx="274320" cy="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5" name="Arc 114">
            <a:extLst>
              <a:ext uri="{FF2B5EF4-FFF2-40B4-BE49-F238E27FC236}">
                <a16:creationId xmlns:a16="http://schemas.microsoft.com/office/drawing/2014/main" id="{FEE40F75-A24C-3B42-8C2F-19852939C550}"/>
              </a:ext>
            </a:extLst>
          </p:cNvPr>
          <p:cNvSpPr/>
          <p:nvPr/>
        </p:nvSpPr>
        <p:spPr>
          <a:xfrm rot="21240688">
            <a:off x="10608904" y="4128029"/>
            <a:ext cx="384048" cy="384048"/>
          </a:xfrm>
          <a:prstGeom prst="arc">
            <a:avLst>
              <a:gd name="adj1" fmla="val 3644226"/>
              <a:gd name="adj2" fmla="val 13718280"/>
            </a:avLst>
          </a:prstGeom>
          <a:ln w="38100">
            <a:solidFill>
              <a:schemeClr val="tx1">
                <a:lumMod val="95000"/>
                <a:lumOff val="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dirty="0"/>
              <a:t>  </a:t>
            </a:r>
          </a:p>
        </p:txBody>
      </p:sp>
      <p:sp>
        <p:nvSpPr>
          <p:cNvPr id="20" name="TextBox 19">
            <a:extLst>
              <a:ext uri="{FF2B5EF4-FFF2-40B4-BE49-F238E27FC236}">
                <a16:creationId xmlns:a16="http://schemas.microsoft.com/office/drawing/2014/main" id="{C76D927E-A3D0-CB43-611E-2A5DE962706F}"/>
              </a:ext>
            </a:extLst>
          </p:cNvPr>
          <p:cNvSpPr txBox="1"/>
          <p:nvPr/>
        </p:nvSpPr>
        <p:spPr>
          <a:xfrm>
            <a:off x="4707640" y="2195018"/>
            <a:ext cx="2807152" cy="338554"/>
          </a:xfrm>
          <a:prstGeom prst="rect">
            <a:avLst/>
          </a:prstGeom>
          <a:noFill/>
          <a:ln>
            <a:noFill/>
          </a:ln>
        </p:spPr>
        <p:txBody>
          <a:bodyPr wrap="square" rtlCol="0">
            <a:spAutoFit/>
          </a:bodyPr>
          <a:lstStyle/>
          <a:p>
            <a:pPr algn="ctr"/>
            <a:r>
              <a:rPr lang="en-US" sz="1600" b="1" dirty="0"/>
              <a:t>VPT Interface Model</a:t>
            </a:r>
          </a:p>
        </p:txBody>
      </p:sp>
      <p:sp>
        <p:nvSpPr>
          <p:cNvPr id="18" name="TextBox 17">
            <a:extLst>
              <a:ext uri="{FF2B5EF4-FFF2-40B4-BE49-F238E27FC236}">
                <a16:creationId xmlns:a16="http://schemas.microsoft.com/office/drawing/2014/main" id="{E43FCFB7-49FA-88AB-862C-C38C5C76D606}"/>
              </a:ext>
            </a:extLst>
          </p:cNvPr>
          <p:cNvSpPr txBox="1"/>
          <p:nvPr/>
        </p:nvSpPr>
        <p:spPr>
          <a:xfrm>
            <a:off x="1110838" y="2191048"/>
            <a:ext cx="2807155" cy="338554"/>
          </a:xfrm>
          <a:prstGeom prst="rect">
            <a:avLst/>
          </a:prstGeom>
          <a:noFill/>
          <a:ln>
            <a:noFill/>
          </a:ln>
        </p:spPr>
        <p:txBody>
          <a:bodyPr wrap="square" rtlCol="0">
            <a:spAutoFit/>
          </a:bodyPr>
          <a:lstStyle/>
          <a:p>
            <a:pPr algn="ctr"/>
            <a:r>
              <a:rPr lang="en-US" sz="1600" b="1" dirty="0"/>
              <a:t>Physical Measurements</a:t>
            </a:r>
          </a:p>
        </p:txBody>
      </p:sp>
      <p:sp>
        <p:nvSpPr>
          <p:cNvPr id="116" name="TextBox 115">
            <a:extLst>
              <a:ext uri="{FF2B5EF4-FFF2-40B4-BE49-F238E27FC236}">
                <a16:creationId xmlns:a16="http://schemas.microsoft.com/office/drawing/2014/main" id="{6E9EB41C-AFF3-806A-2382-1B9865960591}"/>
              </a:ext>
            </a:extLst>
          </p:cNvPr>
          <p:cNvSpPr txBox="1"/>
          <p:nvPr/>
        </p:nvSpPr>
        <p:spPr>
          <a:xfrm>
            <a:off x="8547233" y="2737656"/>
            <a:ext cx="3201616" cy="338554"/>
          </a:xfrm>
          <a:prstGeom prst="rect">
            <a:avLst/>
          </a:prstGeom>
          <a:noFill/>
          <a:ln>
            <a:noFill/>
          </a:ln>
        </p:spPr>
        <p:txBody>
          <a:bodyPr wrap="square" rtlCol="0">
            <a:spAutoFit/>
          </a:bodyPr>
          <a:lstStyle/>
          <a:p>
            <a:pPr algn="ctr"/>
            <a:r>
              <a:rPr lang="en-US" sz="1600" b="1" dirty="0"/>
              <a:t>Substructured VPT Model</a:t>
            </a:r>
          </a:p>
        </p:txBody>
      </p:sp>
    </p:spTree>
    <p:extLst>
      <p:ext uri="{BB962C8B-B14F-4D97-AF65-F5344CB8AC3E}">
        <p14:creationId xmlns:p14="http://schemas.microsoft.com/office/powerpoint/2010/main" val="2489729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73B94FE-C877-9B98-C387-CF5013888301}"/>
                  </a:ext>
                </a:extLst>
              </p:cNvPr>
              <p:cNvSpPr txBox="1"/>
              <p:nvPr/>
            </p:nvSpPr>
            <p:spPr>
              <a:xfrm>
                <a:off x="0" y="1879750"/>
                <a:ext cx="12191999" cy="7115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sSup>
                            <m:sSupPr>
                              <m:ctrlPr>
                                <a:rPr lang="en-US" sz="2400" i="1">
                                  <a:latin typeface="Cambria Math" panose="02040503050406030204" pitchFamily="18" charset="0"/>
                                </a:rPr>
                              </m:ctrlPr>
                            </m:sSupPr>
                            <m:e>
                              <m:acc>
                                <m:accPr>
                                  <m:chr m:val="̅"/>
                                  <m:ctrlPr>
                                    <a:rPr lang="en-US" sz="2400" i="1">
                                      <a:latin typeface="Cambria Math" panose="02040503050406030204" pitchFamily="18" charset="0"/>
                                    </a:rPr>
                                  </m:ctrlPr>
                                </m:accPr>
                                <m:e>
                                  <m:r>
                                    <a:rPr lang="en-US" sz="2400" b="0" i="1">
                                      <a:latin typeface="Cambria Math" panose="02040503050406030204" pitchFamily="18" charset="0"/>
                                    </a:rPr>
                                    <m:t>𝐻</m:t>
                                  </m:r>
                                </m:e>
                              </m:acc>
                            </m:e>
                            <m:sup>
                              <m:r>
                                <a:rPr lang="en-US" sz="2400" b="0" i="1">
                                  <a:latin typeface="Cambria Math" panose="02040503050406030204" pitchFamily="18" charset="0"/>
                                </a:rPr>
                                <m:t>𝑎𝑏</m:t>
                              </m:r>
                            </m:sup>
                          </m:sSup>
                        </m:e>
                      </m:d>
                      <m:r>
                        <a:rPr lang="en-US" sz="2400" b="0" i="1">
                          <a:latin typeface="Cambria Math" panose="02040503050406030204" pitchFamily="18" charset="0"/>
                        </a:rPr>
                        <m:t>−</m:t>
                      </m:r>
                      <m:d>
                        <m:dPr>
                          <m:begChr m:val="["/>
                          <m:endChr m:val="]"/>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acc>
                                <m:accPr>
                                  <m:chr m:val="̅"/>
                                  <m:ctrlPr>
                                    <a:rPr lang="en-US" sz="2400" i="1">
                                      <a:latin typeface="Cambria Math" panose="02040503050406030204" pitchFamily="18" charset="0"/>
                                    </a:rPr>
                                  </m:ctrlPr>
                                </m:accPr>
                                <m:e>
                                  <m:r>
                                    <a:rPr lang="en-US" sz="2400" b="0" i="1">
                                      <a:latin typeface="Cambria Math" panose="02040503050406030204" pitchFamily="18" charset="0"/>
                                    </a:rPr>
                                    <m:t>𝐻</m:t>
                                  </m:r>
                                </m:e>
                              </m:acc>
                            </m:e>
                            <m:sup>
                              <m:r>
                                <a:rPr lang="en-US" sz="2400" b="0" i="1">
                                  <a:latin typeface="Cambria Math" panose="02040503050406030204" pitchFamily="18" charset="0"/>
                                </a:rPr>
                                <m:t>𝑎𝑏</m:t>
                              </m:r>
                            </m:sup>
                          </m:sSup>
                        </m:e>
                      </m:d>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b="0" i="1">
                                      <a:latin typeface="Cambria Math" panose="02040503050406030204" pitchFamily="18" charset="0"/>
                                    </a:rPr>
                                    <m:t>𝐵</m:t>
                                  </m:r>
                                </m:e>
                                <m:sub>
                                  <m:r>
                                    <a:rPr lang="en-US" sz="2400" b="0" i="1">
                                      <a:latin typeface="Cambria Math" panose="02040503050406030204" pitchFamily="18" charset="0"/>
                                    </a:rPr>
                                    <m:t>𝑟𝑒𝑓</m:t>
                                  </m:r>
                                </m:sub>
                              </m:sSub>
                            </m:e>
                          </m:d>
                        </m:e>
                        <m:sup>
                          <m:r>
                            <a:rPr lang="en-US" sz="2400" b="0" i="1">
                              <a:latin typeface="Cambria Math" panose="02040503050406030204" pitchFamily="18" charset="0"/>
                            </a:rPr>
                            <m:t>𝑇</m:t>
                          </m:r>
                        </m:sup>
                      </m:sSup>
                      <m:r>
                        <m:rPr>
                          <m:nor/>
                        </m:rPr>
                        <a:rPr lang="en-US" sz="2400" dirty="0">
                          <a:ea typeface="Cambria Math" panose="02040503050406030204" pitchFamily="18" charset="0"/>
                        </a:rPr>
                        <m:t> </m:t>
                      </m:r>
                      <m:sSup>
                        <m:sSupPr>
                          <m:ctrlPr>
                            <a:rPr lang="en-US" sz="2400" i="1">
                              <a:latin typeface="Cambria Math" panose="02040503050406030204" pitchFamily="18" charset="0"/>
                              <a:ea typeface="Cambria Math" panose="02040503050406030204" pitchFamily="18" charset="0"/>
                            </a:rPr>
                          </m:ctrlPr>
                        </m:sSupPr>
                        <m:e>
                          <m:d>
                            <m:dPr>
                              <m:ctrlPr>
                                <a:rPr lang="en-US" sz="2400" i="1">
                                  <a:latin typeface="Cambria Math" panose="02040503050406030204" pitchFamily="18" charset="0"/>
                                  <a:ea typeface="Cambria Math" panose="02040503050406030204" pitchFamily="18" charset="0"/>
                                </a:rPr>
                              </m:ctrlPr>
                            </m:dPr>
                            <m:e>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b="0" i="1">
                                          <a:latin typeface="Cambria Math" panose="02040503050406030204" pitchFamily="18" charset="0"/>
                                        </a:rPr>
                                        <m:t>𝐵</m:t>
                                      </m:r>
                                    </m:e>
                                    <m:sub>
                                      <m:r>
                                        <a:rPr lang="en-US" sz="2400" b="0" i="1">
                                          <a:latin typeface="Cambria Math" panose="02040503050406030204" pitchFamily="18" charset="0"/>
                                        </a:rPr>
                                        <m:t>𝑟𝑒𝑠</m:t>
                                      </m:r>
                                    </m:sub>
                                  </m:sSub>
                                </m:e>
                              </m:d>
                              <m:d>
                                <m:dPr>
                                  <m:begChr m:val="["/>
                                  <m:endChr m:val="]"/>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acc>
                                        <m:accPr>
                                          <m:chr m:val="̅"/>
                                          <m:ctrlPr>
                                            <a:rPr lang="en-US" sz="2400" i="1">
                                              <a:latin typeface="Cambria Math" panose="02040503050406030204" pitchFamily="18" charset="0"/>
                                            </a:rPr>
                                          </m:ctrlPr>
                                        </m:accPr>
                                        <m:e>
                                          <m:r>
                                            <a:rPr lang="en-US" sz="2400" b="0" i="1">
                                              <a:latin typeface="Cambria Math" panose="02040503050406030204" pitchFamily="18" charset="0"/>
                                            </a:rPr>
                                            <m:t>𝐻</m:t>
                                          </m:r>
                                        </m:e>
                                      </m:acc>
                                    </m:e>
                                    <m:sup>
                                      <m:r>
                                        <a:rPr lang="en-US" sz="2400" b="0" i="1">
                                          <a:latin typeface="Cambria Math" panose="02040503050406030204" pitchFamily="18" charset="0"/>
                                        </a:rPr>
                                        <m:t>𝑎𝑏</m:t>
                                      </m:r>
                                    </m:sup>
                                  </m:sSup>
                                </m:e>
                              </m:d>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b="0" i="1">
                                              <a:latin typeface="Cambria Math" panose="02040503050406030204" pitchFamily="18" charset="0"/>
                                            </a:rPr>
                                            <m:t>𝐵</m:t>
                                          </m:r>
                                        </m:e>
                                        <m:sub>
                                          <m:r>
                                            <a:rPr lang="en-US" sz="2400" b="0" i="1">
                                              <a:latin typeface="Cambria Math" panose="02040503050406030204" pitchFamily="18" charset="0"/>
                                            </a:rPr>
                                            <m:t>𝑟𝑒𝑓</m:t>
                                          </m:r>
                                        </m:sub>
                                      </m:sSub>
                                    </m:e>
                                  </m:d>
                                </m:e>
                                <m:sup>
                                  <m:r>
                                    <a:rPr lang="en-US" sz="2400" b="0" i="1">
                                      <a:latin typeface="Cambria Math" panose="02040503050406030204" pitchFamily="18" charset="0"/>
                                    </a:rPr>
                                    <m:t>𝑇</m:t>
                                  </m:r>
                                </m:sup>
                              </m:sSup>
                            </m:e>
                          </m:d>
                        </m:e>
                        <m:sup>
                          <m:r>
                            <a:rPr lang="en-US" sz="2400" b="0" i="1">
                              <a:latin typeface="Cambria Math" panose="02040503050406030204" pitchFamily="18" charset="0"/>
                              <a:ea typeface="Cambria Math" panose="02040503050406030204" pitchFamily="18" charset="0"/>
                            </a:rPr>
                            <m:t>+</m:t>
                          </m:r>
                        </m:sup>
                      </m:sSup>
                      <m:r>
                        <m:rPr>
                          <m:nor/>
                        </m:rPr>
                        <a:rPr lang="en-US" sz="2400" dirty="0"/>
                        <m:t> </m:t>
                      </m:r>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b="0" i="1">
                                  <a:latin typeface="Cambria Math" panose="02040503050406030204" pitchFamily="18" charset="0"/>
                                </a:rPr>
                                <m:t>𝐵</m:t>
                              </m:r>
                            </m:e>
                            <m:sub>
                              <m:r>
                                <a:rPr lang="en-US" sz="2400" b="0" i="1">
                                  <a:latin typeface="Cambria Math" panose="02040503050406030204" pitchFamily="18" charset="0"/>
                                </a:rPr>
                                <m:t>𝑟𝑒𝑠</m:t>
                              </m:r>
                            </m:sub>
                          </m:sSub>
                        </m:e>
                      </m:d>
                      <m:d>
                        <m:dPr>
                          <m:begChr m:val="["/>
                          <m:endChr m:val="]"/>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acc>
                                <m:accPr>
                                  <m:chr m:val="̅"/>
                                  <m:ctrlPr>
                                    <a:rPr lang="en-US" sz="2400" i="1">
                                      <a:latin typeface="Cambria Math" panose="02040503050406030204" pitchFamily="18" charset="0"/>
                                    </a:rPr>
                                  </m:ctrlPr>
                                </m:accPr>
                                <m:e>
                                  <m:r>
                                    <a:rPr lang="en-US" sz="2400" b="0" i="1">
                                      <a:latin typeface="Cambria Math" panose="02040503050406030204" pitchFamily="18" charset="0"/>
                                    </a:rPr>
                                    <m:t>𝐻</m:t>
                                  </m:r>
                                </m:e>
                              </m:acc>
                            </m:e>
                            <m:sup>
                              <m:r>
                                <a:rPr lang="en-US" sz="2400" b="0" i="1">
                                  <a:latin typeface="Cambria Math" panose="02040503050406030204" pitchFamily="18" charset="0"/>
                                </a:rPr>
                                <m:t>𝑎𝑏</m:t>
                              </m:r>
                            </m:sup>
                          </m:sSup>
                        </m:e>
                      </m:d>
                    </m:oMath>
                  </m:oMathPara>
                </a14:m>
                <a:endParaRPr lang="en-US" sz="2400" dirty="0"/>
              </a:p>
            </p:txBody>
          </p:sp>
        </mc:Choice>
        <mc:Fallback xmlns="">
          <p:sp>
            <p:nvSpPr>
              <p:cNvPr id="10" name="TextBox 9">
                <a:extLst>
                  <a:ext uri="{FF2B5EF4-FFF2-40B4-BE49-F238E27FC236}">
                    <a16:creationId xmlns:a16="http://schemas.microsoft.com/office/drawing/2014/main" id="{C73B94FE-C877-9B98-C387-CF5013888301}"/>
                  </a:ext>
                </a:extLst>
              </p:cNvPr>
              <p:cNvSpPr txBox="1">
                <a:spLocks noRot="1" noChangeAspect="1" noMove="1" noResize="1" noEditPoints="1" noAdjustHandles="1" noChangeArrowheads="1" noChangeShapeType="1" noTextEdit="1"/>
              </p:cNvSpPr>
              <p:nvPr/>
            </p:nvSpPr>
            <p:spPr>
              <a:xfrm>
                <a:off x="0" y="1879750"/>
                <a:ext cx="12191999" cy="711541"/>
              </a:xfrm>
              <a:prstGeom prst="rect">
                <a:avLst/>
              </a:prstGeom>
              <a:blipFill>
                <a:blip r:embed="rId3"/>
                <a:stretch>
                  <a:fillRect/>
                </a:stretch>
              </a:blipFill>
            </p:spPr>
            <p:txBody>
              <a:bodyPr/>
              <a:lstStyle/>
              <a:p>
                <a:r>
                  <a:rPr lang="en-US">
                    <a:noFill/>
                  </a:rPr>
                  <a:t> </a:t>
                </a:r>
              </a:p>
            </p:txBody>
          </p:sp>
        </mc:Fallback>
      </mc:AlternateContent>
      <p:pic>
        <p:nvPicPr>
          <p:cNvPr id="23" name="Picture 22">
            <a:extLst>
              <a:ext uri="{FF2B5EF4-FFF2-40B4-BE49-F238E27FC236}">
                <a16:creationId xmlns:a16="http://schemas.microsoft.com/office/drawing/2014/main" id="{626BA128-2D98-572F-B169-7F4E0745C4AB}"/>
              </a:ext>
            </a:extLst>
          </p:cNvPr>
          <p:cNvPicPr>
            <a:picLocks noChangeAspect="1"/>
          </p:cNvPicPr>
          <p:nvPr/>
        </p:nvPicPr>
        <p:blipFill>
          <a:blip r:embed="rId4">
            <a:clrChange>
              <a:clrFrom>
                <a:srgbClr val="FFFFFF"/>
              </a:clrFrom>
              <a:clrTo>
                <a:srgbClr val="FFFFFF">
                  <a:alpha val="0"/>
                </a:srgbClr>
              </a:clrTo>
            </a:clrChange>
            <a:alphaModFix/>
          </a:blip>
          <a:stretch>
            <a:fillRect/>
          </a:stretch>
        </p:blipFill>
        <p:spPr>
          <a:xfrm>
            <a:off x="437513" y="3241901"/>
            <a:ext cx="5574482" cy="3179256"/>
          </a:xfrm>
          <a:prstGeom prst="rect">
            <a:avLst/>
          </a:prstGeom>
        </p:spPr>
      </p:pic>
      <p:pic>
        <p:nvPicPr>
          <p:cNvPr id="15" name="Picture 14">
            <a:extLst>
              <a:ext uri="{FF2B5EF4-FFF2-40B4-BE49-F238E27FC236}">
                <a16:creationId xmlns:a16="http://schemas.microsoft.com/office/drawing/2014/main" id="{299463F0-23AA-70D9-5F63-AC4568EF9942}"/>
              </a:ext>
            </a:extLst>
          </p:cNvPr>
          <p:cNvPicPr>
            <a:picLocks noChangeAspect="1"/>
          </p:cNvPicPr>
          <p:nvPr/>
        </p:nvPicPr>
        <p:blipFill>
          <a:blip r:embed="rId5"/>
          <a:srcRect t="6863" r="775" b="48106"/>
          <a:stretch/>
        </p:blipFill>
        <p:spPr>
          <a:xfrm>
            <a:off x="6617645" y="3255914"/>
            <a:ext cx="4686269" cy="2938944"/>
          </a:xfrm>
          <a:prstGeom prst="rect">
            <a:avLst/>
          </a:prstGeom>
        </p:spPr>
      </p:pic>
      <p:sp>
        <p:nvSpPr>
          <p:cNvPr id="2" name="Title 1">
            <a:extLst>
              <a:ext uri="{FF2B5EF4-FFF2-40B4-BE49-F238E27FC236}">
                <a16:creationId xmlns:a16="http://schemas.microsoft.com/office/drawing/2014/main" id="{76A8EFBC-C174-2F7D-9DAB-29B6CC7BDA15}"/>
              </a:ext>
            </a:extLst>
          </p:cNvPr>
          <p:cNvSpPr>
            <a:spLocks noGrp="1"/>
          </p:cNvSpPr>
          <p:nvPr>
            <p:ph type="title"/>
          </p:nvPr>
        </p:nvSpPr>
        <p:spPr>
          <a:xfrm>
            <a:off x="0" y="136525"/>
            <a:ext cx="12192000" cy="662781"/>
          </a:xfrm>
        </p:spPr>
        <p:txBody>
          <a:bodyPr>
            <a:normAutofit fontScale="90000"/>
          </a:bodyPr>
          <a:lstStyle/>
          <a:p>
            <a:pPr algn="ctr"/>
            <a:r>
              <a:rPr lang="en-US" dirty="0"/>
              <a:t>Frequency-based Substructuring Guidelines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01B037-EE83-050D-6878-B4597CB6B85A}"/>
                  </a:ext>
                </a:extLst>
              </p:cNvPr>
              <p:cNvSpPr>
                <a:spLocks noGrp="1"/>
              </p:cNvSpPr>
              <p:nvPr>
                <p:ph idx="1"/>
              </p:nvPr>
            </p:nvSpPr>
            <p:spPr>
              <a:xfrm>
                <a:off x="105032" y="939586"/>
                <a:ext cx="11337324" cy="866550"/>
              </a:xfrm>
            </p:spPr>
            <p:txBody>
              <a:bodyPr>
                <a:normAutofit/>
              </a:bodyPr>
              <a:lstStyle/>
              <a:p>
                <a:r>
                  <a:rPr lang="en-US" dirty="0"/>
                  <a:t>Noise in connection point FRF anti-resonances become peaks via the LM-FBS kernel inversion </a:t>
                </a:r>
                <a14:m>
                  <m:oMath xmlns:m="http://schemas.openxmlformats.org/officeDocument/2006/math">
                    <m:r>
                      <a:rPr lang="en-US" b="0" i="1" smtClean="0">
                        <a:latin typeface="Cambria Math" panose="02040503050406030204" pitchFamily="18" charset="0"/>
                      </a:rPr>
                      <m:t>→</m:t>
                    </m:r>
                  </m:oMath>
                </a14:m>
                <a:r>
                  <a:rPr lang="en-US" dirty="0"/>
                  <a:t> we saw this in the numerical beam example</a:t>
                </a:r>
              </a:p>
            </p:txBody>
          </p:sp>
        </mc:Choice>
        <mc:Fallback xmlns="">
          <p:sp>
            <p:nvSpPr>
              <p:cNvPr id="3" name="Content Placeholder 2">
                <a:extLst>
                  <a:ext uri="{FF2B5EF4-FFF2-40B4-BE49-F238E27FC236}">
                    <a16:creationId xmlns:a16="http://schemas.microsoft.com/office/drawing/2014/main" id="{9C01B037-EE83-050D-6878-B4597CB6B85A}"/>
                  </a:ext>
                </a:extLst>
              </p:cNvPr>
              <p:cNvSpPr>
                <a:spLocks noGrp="1" noRot="1" noChangeAspect="1" noMove="1" noResize="1" noEditPoints="1" noAdjustHandles="1" noChangeArrowheads="1" noChangeShapeType="1" noTextEdit="1"/>
              </p:cNvSpPr>
              <p:nvPr>
                <p:ph idx="1"/>
              </p:nvPr>
            </p:nvSpPr>
            <p:spPr>
              <a:xfrm>
                <a:off x="105032" y="939586"/>
                <a:ext cx="11337324" cy="866550"/>
              </a:xfrm>
              <a:blipFill>
                <a:blip r:embed="rId6"/>
                <a:stretch>
                  <a:fillRect l="-968" t="-11972" b="-19014"/>
                </a:stretch>
              </a:blipFill>
            </p:spPr>
            <p:txBody>
              <a:bodyPr/>
              <a:lstStyle/>
              <a:p>
                <a:r>
                  <a:rPr lang="en-US">
                    <a:noFill/>
                  </a:rPr>
                  <a:t> </a:t>
                </a:r>
              </a:p>
            </p:txBody>
          </p:sp>
        </mc:Fallback>
      </mc:AlternateContent>
      <p:sp>
        <p:nvSpPr>
          <p:cNvPr id="16" name="Oval 15">
            <a:extLst>
              <a:ext uri="{FF2B5EF4-FFF2-40B4-BE49-F238E27FC236}">
                <a16:creationId xmlns:a16="http://schemas.microsoft.com/office/drawing/2014/main" id="{E07689EF-3F3A-9622-5BD8-0A4407486F53}"/>
              </a:ext>
            </a:extLst>
          </p:cNvPr>
          <p:cNvSpPr/>
          <p:nvPr/>
        </p:nvSpPr>
        <p:spPr>
          <a:xfrm>
            <a:off x="2853260" y="4051289"/>
            <a:ext cx="822960" cy="88792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9CAFD22A-36A1-74C0-6A66-5D2F55B9B584}"/>
              </a:ext>
            </a:extLst>
          </p:cNvPr>
          <p:cNvSpPr/>
          <p:nvPr/>
        </p:nvSpPr>
        <p:spPr>
          <a:xfrm>
            <a:off x="7621092" y="3410941"/>
            <a:ext cx="566167" cy="919748"/>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1C231F01-0956-EB2A-4BA2-F27AAB546F43}"/>
              </a:ext>
            </a:extLst>
          </p:cNvPr>
          <p:cNvSpPr/>
          <p:nvPr/>
        </p:nvSpPr>
        <p:spPr>
          <a:xfrm>
            <a:off x="8683636" y="3382340"/>
            <a:ext cx="806029" cy="79086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59AAE633-9E1E-33D4-97BA-6205645E3696}"/>
              </a:ext>
            </a:extLst>
          </p:cNvPr>
          <p:cNvPicPr>
            <a:picLocks noChangeAspect="1"/>
          </p:cNvPicPr>
          <p:nvPr/>
        </p:nvPicPr>
        <p:blipFill>
          <a:blip r:embed="rId7"/>
          <a:stretch>
            <a:fillRect/>
          </a:stretch>
        </p:blipFill>
        <p:spPr>
          <a:xfrm>
            <a:off x="1692481" y="3135280"/>
            <a:ext cx="3749040" cy="149735"/>
          </a:xfrm>
          <a:prstGeom prst="rect">
            <a:avLst/>
          </a:prstGeom>
        </p:spPr>
      </p:pic>
      <p:pic>
        <p:nvPicPr>
          <p:cNvPr id="13" name="Picture 12">
            <a:extLst>
              <a:ext uri="{FF2B5EF4-FFF2-40B4-BE49-F238E27FC236}">
                <a16:creationId xmlns:a16="http://schemas.microsoft.com/office/drawing/2014/main" id="{C181E48E-A2F6-420A-ECD3-0C61724C0324}"/>
              </a:ext>
            </a:extLst>
          </p:cNvPr>
          <p:cNvPicPr>
            <a:picLocks noChangeAspect="1"/>
          </p:cNvPicPr>
          <p:nvPr/>
        </p:nvPicPr>
        <p:blipFill>
          <a:blip r:embed="rId5"/>
          <a:srcRect l="18084" r="18793" b="94304"/>
          <a:stretch/>
        </p:blipFill>
        <p:spPr>
          <a:xfrm>
            <a:off x="7090210" y="3097606"/>
            <a:ext cx="4023360" cy="215182"/>
          </a:xfrm>
          <a:prstGeom prst="rect">
            <a:avLst/>
          </a:prstGeom>
        </p:spPr>
      </p:pic>
      <p:pic>
        <p:nvPicPr>
          <p:cNvPr id="6" name="Picture 5">
            <a:extLst>
              <a:ext uri="{FF2B5EF4-FFF2-40B4-BE49-F238E27FC236}">
                <a16:creationId xmlns:a16="http://schemas.microsoft.com/office/drawing/2014/main" id="{5B738ACA-2E80-BF19-7A7F-291BDF87E70A}"/>
              </a:ext>
            </a:extLst>
          </p:cNvPr>
          <p:cNvPicPr>
            <a:picLocks noChangeAspect="1"/>
          </p:cNvPicPr>
          <p:nvPr/>
        </p:nvPicPr>
        <p:blipFill>
          <a:blip r:embed="rId8"/>
          <a:srcRect t="40477" b="50275"/>
          <a:stretch/>
        </p:blipFill>
        <p:spPr>
          <a:xfrm>
            <a:off x="6187337" y="5830160"/>
            <a:ext cx="5148072" cy="538141"/>
          </a:xfrm>
          <a:prstGeom prst="rect">
            <a:avLst/>
          </a:prstGeom>
        </p:spPr>
      </p:pic>
      <p:pic>
        <p:nvPicPr>
          <p:cNvPr id="4" name="Picture 3">
            <a:extLst>
              <a:ext uri="{FF2B5EF4-FFF2-40B4-BE49-F238E27FC236}">
                <a16:creationId xmlns:a16="http://schemas.microsoft.com/office/drawing/2014/main" id="{931BB317-1D6A-6512-70D4-5A6984032F4D}"/>
              </a:ext>
            </a:extLst>
          </p:cNvPr>
          <p:cNvPicPr>
            <a:picLocks noChangeAspect="1"/>
          </p:cNvPicPr>
          <p:nvPr/>
        </p:nvPicPr>
        <p:blipFill>
          <a:blip r:embed="rId5"/>
          <a:srcRect l="76411" t="9440" r="3061" b="82676"/>
          <a:stretch/>
        </p:blipFill>
        <p:spPr>
          <a:xfrm>
            <a:off x="8397781" y="5163257"/>
            <a:ext cx="2298602" cy="523240"/>
          </a:xfrm>
          <a:prstGeom prst="rect">
            <a:avLst/>
          </a:prstGeom>
        </p:spPr>
      </p:pic>
      <p:pic>
        <p:nvPicPr>
          <p:cNvPr id="8" name="Picture 7">
            <a:extLst>
              <a:ext uri="{FF2B5EF4-FFF2-40B4-BE49-F238E27FC236}">
                <a16:creationId xmlns:a16="http://schemas.microsoft.com/office/drawing/2014/main" id="{9781847A-2F1A-7777-9E44-B310F8F4D269}"/>
              </a:ext>
            </a:extLst>
          </p:cNvPr>
          <p:cNvPicPr>
            <a:picLocks noChangeAspect="1"/>
          </p:cNvPicPr>
          <p:nvPr/>
        </p:nvPicPr>
        <p:blipFill>
          <a:blip r:embed="rId5"/>
          <a:srcRect l="60618" t="30036" r="18238" b="61158"/>
          <a:stretch/>
        </p:blipFill>
        <p:spPr>
          <a:xfrm>
            <a:off x="10209735" y="3376283"/>
            <a:ext cx="998538" cy="574675"/>
          </a:xfrm>
          <a:prstGeom prst="rect">
            <a:avLst/>
          </a:prstGeom>
        </p:spPr>
      </p:pic>
      <p:sp>
        <p:nvSpPr>
          <p:cNvPr id="17" name="TextBox 16">
            <a:extLst>
              <a:ext uri="{FF2B5EF4-FFF2-40B4-BE49-F238E27FC236}">
                <a16:creationId xmlns:a16="http://schemas.microsoft.com/office/drawing/2014/main" id="{12DAB77E-986A-0E79-3EAD-3BEBDAFC6D6E}"/>
              </a:ext>
            </a:extLst>
          </p:cNvPr>
          <p:cNvSpPr txBox="1"/>
          <p:nvPr/>
        </p:nvSpPr>
        <p:spPr>
          <a:xfrm>
            <a:off x="1232740" y="2681107"/>
            <a:ext cx="4617719" cy="400110"/>
          </a:xfrm>
          <a:prstGeom prst="rect">
            <a:avLst/>
          </a:prstGeom>
          <a:noFill/>
        </p:spPr>
        <p:txBody>
          <a:bodyPr wrap="square">
            <a:spAutoFit/>
          </a:bodyPr>
          <a:lstStyle/>
          <a:p>
            <a:pPr algn="ctr"/>
            <a:r>
              <a:rPr lang="en-US" sz="2000" b="1" dirty="0"/>
              <a:t>Subcomponent FRF</a:t>
            </a:r>
          </a:p>
        </p:txBody>
      </p:sp>
      <p:sp>
        <p:nvSpPr>
          <p:cNvPr id="20" name="TextBox 19">
            <a:extLst>
              <a:ext uri="{FF2B5EF4-FFF2-40B4-BE49-F238E27FC236}">
                <a16:creationId xmlns:a16="http://schemas.microsoft.com/office/drawing/2014/main" id="{084CBF15-D13E-AE4C-A5F7-70D5A1DDD335}"/>
              </a:ext>
            </a:extLst>
          </p:cNvPr>
          <p:cNvSpPr txBox="1"/>
          <p:nvPr/>
        </p:nvSpPr>
        <p:spPr>
          <a:xfrm>
            <a:off x="6993129" y="2681107"/>
            <a:ext cx="4215144" cy="400110"/>
          </a:xfrm>
          <a:prstGeom prst="rect">
            <a:avLst/>
          </a:prstGeom>
          <a:noFill/>
        </p:spPr>
        <p:txBody>
          <a:bodyPr wrap="square">
            <a:spAutoFit/>
          </a:bodyPr>
          <a:lstStyle/>
          <a:p>
            <a:pPr algn="ctr"/>
            <a:r>
              <a:rPr lang="en-US" sz="2000" b="1" dirty="0"/>
              <a:t>Assembled FRF</a:t>
            </a:r>
          </a:p>
        </p:txBody>
      </p:sp>
      <p:sp>
        <p:nvSpPr>
          <p:cNvPr id="21" name="Rectangle 20">
            <a:extLst>
              <a:ext uri="{FF2B5EF4-FFF2-40B4-BE49-F238E27FC236}">
                <a16:creationId xmlns:a16="http://schemas.microsoft.com/office/drawing/2014/main" id="{EF386590-E468-8653-DADA-5E88CF6BC48A}"/>
              </a:ext>
            </a:extLst>
          </p:cNvPr>
          <p:cNvSpPr/>
          <p:nvPr/>
        </p:nvSpPr>
        <p:spPr>
          <a:xfrm>
            <a:off x="5275580" y="1916195"/>
            <a:ext cx="2941320" cy="66083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ACF12424-482D-D22F-F23A-EB5987EC8B82}"/>
              </a:ext>
            </a:extLst>
          </p:cNvPr>
          <p:cNvPicPr>
            <a:picLocks noChangeAspect="1"/>
          </p:cNvPicPr>
          <p:nvPr/>
        </p:nvPicPr>
        <p:blipFill>
          <a:blip r:embed="rId4">
            <a:alphaModFix/>
          </a:blip>
          <a:srcRect r="85237"/>
          <a:stretch/>
        </p:blipFill>
        <p:spPr>
          <a:xfrm>
            <a:off x="6222385" y="3295639"/>
            <a:ext cx="767658" cy="2965611"/>
          </a:xfrm>
          <a:prstGeom prst="rect">
            <a:avLst/>
          </a:prstGeom>
        </p:spPr>
      </p:pic>
    </p:spTree>
    <p:extLst>
      <p:ext uri="{BB962C8B-B14F-4D97-AF65-F5344CB8AC3E}">
        <p14:creationId xmlns:p14="http://schemas.microsoft.com/office/powerpoint/2010/main" val="27484846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8EFBC-C174-2F7D-9DAB-29B6CC7BDA15}"/>
              </a:ext>
            </a:extLst>
          </p:cNvPr>
          <p:cNvSpPr>
            <a:spLocks noGrp="1"/>
          </p:cNvSpPr>
          <p:nvPr>
            <p:ph type="title"/>
          </p:nvPr>
        </p:nvSpPr>
        <p:spPr>
          <a:xfrm>
            <a:off x="0" y="136525"/>
            <a:ext cx="12192000" cy="662781"/>
          </a:xfrm>
        </p:spPr>
        <p:txBody>
          <a:bodyPr>
            <a:normAutofit fontScale="90000"/>
          </a:bodyPr>
          <a:lstStyle/>
          <a:p>
            <a:pPr algn="ctr"/>
            <a:r>
              <a:rPr lang="en-US" dirty="0"/>
              <a:t>Frequency-based Substructuring Guidelines</a:t>
            </a:r>
          </a:p>
        </p:txBody>
      </p:sp>
      <p:sp>
        <p:nvSpPr>
          <p:cNvPr id="3" name="Content Placeholder 2">
            <a:extLst>
              <a:ext uri="{FF2B5EF4-FFF2-40B4-BE49-F238E27FC236}">
                <a16:creationId xmlns:a16="http://schemas.microsoft.com/office/drawing/2014/main" id="{9C01B037-EE83-050D-6878-B4597CB6B85A}"/>
              </a:ext>
            </a:extLst>
          </p:cNvPr>
          <p:cNvSpPr>
            <a:spLocks noGrp="1"/>
          </p:cNvSpPr>
          <p:nvPr>
            <p:ph idx="1"/>
          </p:nvPr>
        </p:nvSpPr>
        <p:spPr>
          <a:xfrm>
            <a:off x="105032" y="939585"/>
            <a:ext cx="11337324" cy="3159975"/>
          </a:xfrm>
        </p:spPr>
        <p:txBody>
          <a:bodyPr>
            <a:normAutofit/>
          </a:bodyPr>
          <a:lstStyle/>
          <a:p>
            <a:r>
              <a:rPr lang="en-US" dirty="0"/>
              <a:t>Steve has created an excellent document compiling a series of FBS examples with associated Python code utilizing the </a:t>
            </a:r>
            <a:r>
              <a:rPr lang="en-US" dirty="0" err="1"/>
              <a:t>SDynPy</a:t>
            </a:r>
            <a:r>
              <a:rPr lang="en-US" dirty="0"/>
              <a:t> Python package </a:t>
            </a:r>
          </a:p>
          <a:p>
            <a:r>
              <a:rPr lang="en-US" dirty="0"/>
              <a:t>He has examples exploring the effect on FBS results due to: </a:t>
            </a:r>
          </a:p>
          <a:p>
            <a:pPr lvl="1"/>
            <a:r>
              <a:rPr lang="en-US" dirty="0"/>
              <a:t>Noise in the substructure FRF anti-resonances (the previous example)</a:t>
            </a:r>
          </a:p>
          <a:p>
            <a:pPr lvl="1"/>
            <a:r>
              <a:rPr lang="en-US" dirty="0"/>
              <a:t>Variability in FRF peaks between measurements due to shifting natural frequencies</a:t>
            </a:r>
          </a:p>
          <a:p>
            <a:pPr lvl="1"/>
            <a:r>
              <a:rPr lang="en-US" dirty="0"/>
              <a:t>Small positional errors in the coupling DOFs between substructures </a:t>
            </a:r>
          </a:p>
          <a:p>
            <a:pPr lvl="1"/>
            <a:r>
              <a:rPr lang="en-US" dirty="0"/>
              <a:t>Excluding torsional DOFs in the coupling FRFs </a:t>
            </a:r>
          </a:p>
          <a:p>
            <a:pPr lvl="1"/>
            <a:endParaRPr lang="en-US" dirty="0"/>
          </a:p>
        </p:txBody>
      </p:sp>
      <p:pic>
        <p:nvPicPr>
          <p:cNvPr id="36" name="Picture 35">
            <a:extLst>
              <a:ext uri="{FF2B5EF4-FFF2-40B4-BE49-F238E27FC236}">
                <a16:creationId xmlns:a16="http://schemas.microsoft.com/office/drawing/2014/main" id="{7EEEFCA0-C758-4011-6F75-DA7D60014BB7}"/>
              </a:ext>
            </a:extLst>
          </p:cNvPr>
          <p:cNvPicPr>
            <a:picLocks noChangeAspect="1"/>
          </p:cNvPicPr>
          <p:nvPr/>
        </p:nvPicPr>
        <p:blipFill>
          <a:blip r:embed="rId3"/>
          <a:stretch>
            <a:fillRect/>
          </a:stretch>
        </p:blipFill>
        <p:spPr>
          <a:xfrm>
            <a:off x="353055" y="4075421"/>
            <a:ext cx="4235650" cy="1970278"/>
          </a:xfrm>
          <a:prstGeom prst="rect">
            <a:avLst/>
          </a:prstGeom>
        </p:spPr>
      </p:pic>
      <p:pic>
        <p:nvPicPr>
          <p:cNvPr id="38" name="Graphic 37">
            <a:extLst>
              <a:ext uri="{FF2B5EF4-FFF2-40B4-BE49-F238E27FC236}">
                <a16:creationId xmlns:a16="http://schemas.microsoft.com/office/drawing/2014/main" id="{4EA65BBE-4D34-200E-C133-87D636CB506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34819" y="5327594"/>
            <a:ext cx="5835790" cy="1393881"/>
          </a:xfrm>
          <a:prstGeom prst="rect">
            <a:avLst/>
          </a:prstGeom>
        </p:spPr>
      </p:pic>
      <p:pic>
        <p:nvPicPr>
          <p:cNvPr id="42" name="Graphic 41">
            <a:extLst>
              <a:ext uri="{FF2B5EF4-FFF2-40B4-BE49-F238E27FC236}">
                <a16:creationId xmlns:a16="http://schemas.microsoft.com/office/drawing/2014/main" id="{39ACEC9A-B53F-17A5-7BE4-077B7230072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25249" y="4103609"/>
            <a:ext cx="3215262" cy="1283792"/>
          </a:xfrm>
          <a:prstGeom prst="rect">
            <a:avLst/>
          </a:prstGeom>
        </p:spPr>
      </p:pic>
      <p:pic>
        <p:nvPicPr>
          <p:cNvPr id="44" name="Graphic 43">
            <a:extLst>
              <a:ext uri="{FF2B5EF4-FFF2-40B4-BE49-F238E27FC236}">
                <a16:creationId xmlns:a16="http://schemas.microsoft.com/office/drawing/2014/main" id="{3B192449-8356-87F6-5CC8-3D517F6CAE8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871706" y="4104762"/>
            <a:ext cx="3215262" cy="1281486"/>
          </a:xfrm>
          <a:prstGeom prst="rect">
            <a:avLst/>
          </a:prstGeom>
        </p:spPr>
      </p:pic>
      <p:cxnSp>
        <p:nvCxnSpPr>
          <p:cNvPr id="46" name="Straight Arrow Connector 45">
            <a:extLst>
              <a:ext uri="{FF2B5EF4-FFF2-40B4-BE49-F238E27FC236}">
                <a16:creationId xmlns:a16="http://schemas.microsoft.com/office/drawing/2014/main" id="{9C912596-590B-C20C-DD0B-0CAD8BAD0FB6}"/>
              </a:ext>
            </a:extLst>
          </p:cNvPr>
          <p:cNvCxnSpPr>
            <a:cxnSpLocks/>
          </p:cNvCxnSpPr>
          <p:nvPr/>
        </p:nvCxnSpPr>
        <p:spPr>
          <a:xfrm>
            <a:off x="6617477" y="4719320"/>
            <a:ext cx="365760" cy="731520"/>
          </a:xfrm>
          <a:prstGeom prst="straightConnector1">
            <a:avLst/>
          </a:prstGeom>
          <a:ln w="76200">
            <a:solidFill>
              <a:schemeClr val="tx2">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F61A8579-1499-31F5-C245-B4D9D2929EA7}"/>
              </a:ext>
            </a:extLst>
          </p:cNvPr>
          <p:cNvCxnSpPr>
            <a:cxnSpLocks/>
          </p:cNvCxnSpPr>
          <p:nvPr/>
        </p:nvCxnSpPr>
        <p:spPr>
          <a:xfrm flipH="1">
            <a:off x="9521637" y="4719320"/>
            <a:ext cx="367845" cy="731520"/>
          </a:xfrm>
          <a:prstGeom prst="straightConnector1">
            <a:avLst/>
          </a:prstGeom>
          <a:ln w="762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195806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8EFBC-C174-2F7D-9DAB-29B6CC7BDA15}"/>
              </a:ext>
            </a:extLst>
          </p:cNvPr>
          <p:cNvSpPr>
            <a:spLocks noGrp="1"/>
          </p:cNvSpPr>
          <p:nvPr>
            <p:ph type="title"/>
          </p:nvPr>
        </p:nvSpPr>
        <p:spPr>
          <a:xfrm>
            <a:off x="0" y="136525"/>
            <a:ext cx="12192000" cy="662781"/>
          </a:xfrm>
        </p:spPr>
        <p:txBody>
          <a:bodyPr>
            <a:normAutofit fontScale="90000"/>
          </a:bodyPr>
          <a:lstStyle/>
          <a:p>
            <a:pPr algn="ctr"/>
            <a:r>
              <a:rPr lang="en-US" dirty="0"/>
              <a:t>Component Mode Synthesis Guidelines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01B037-EE83-050D-6878-B4597CB6B85A}"/>
                  </a:ext>
                </a:extLst>
              </p:cNvPr>
              <p:cNvSpPr>
                <a:spLocks noGrp="1"/>
              </p:cNvSpPr>
              <p:nvPr>
                <p:ph idx="1"/>
              </p:nvPr>
            </p:nvSpPr>
            <p:spPr>
              <a:xfrm>
                <a:off x="105032" y="939585"/>
                <a:ext cx="11477368" cy="3821599"/>
              </a:xfrm>
            </p:spPr>
            <p:txBody>
              <a:bodyPr>
                <a:normAutofit/>
              </a:bodyPr>
              <a:lstStyle/>
              <a:p>
                <a:r>
                  <a:rPr lang="en-US" dirty="0"/>
                  <a:t>Subsystem characterization depends heavily on accurate curve fitting of FRFs </a:t>
                </a:r>
                <a14:m>
                  <m:oMath xmlns:m="http://schemas.openxmlformats.org/officeDocument/2006/math">
                    <m:r>
                      <a:rPr lang="en-US" b="0" i="1" smtClean="0">
                        <a:latin typeface="Cambria Math" panose="02040503050406030204" pitchFamily="18" charset="0"/>
                      </a:rPr>
                      <m:t>→</m:t>
                    </m:r>
                  </m:oMath>
                </a14:m>
                <a:r>
                  <a:rPr lang="en-US" dirty="0"/>
                  <a:t> Resynthesize FRFs from identified modal parameters and check accuracy</a:t>
                </a:r>
              </a:p>
              <a:p>
                <a:r>
                  <a:rPr lang="en-US" dirty="0"/>
                  <a:t>Rule of Thumb: CMS noticeably suffers from modal truncation effects if modes are not identified out to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2 the desired frequency range of the results. </a:t>
                </a:r>
              </a:p>
              <a:p>
                <a:r>
                  <a:rPr lang="en-US" dirty="0"/>
                  <a:t>Rigid body modes must be included in subsystems with free boundary conditions. These are difficult to accurately measure experimentally and are usually generated from a digital model. </a:t>
                </a:r>
              </a:p>
              <a:p>
                <a:pPr lvl="1"/>
                <a:r>
                  <a:rPr lang="en-US" dirty="0"/>
                  <a:t>To form RBMs at any required DOF, you only need the mass, center of mass location, and mass moments of inertia, which can come from CAD. Or solve RBMs from a FEM.</a:t>
                </a:r>
              </a:p>
            </p:txBody>
          </p:sp>
        </mc:Choice>
        <mc:Fallback xmlns="">
          <p:sp>
            <p:nvSpPr>
              <p:cNvPr id="3" name="Content Placeholder 2">
                <a:extLst>
                  <a:ext uri="{FF2B5EF4-FFF2-40B4-BE49-F238E27FC236}">
                    <a16:creationId xmlns:a16="http://schemas.microsoft.com/office/drawing/2014/main" id="{9C01B037-EE83-050D-6878-B4597CB6B85A}"/>
                  </a:ext>
                </a:extLst>
              </p:cNvPr>
              <p:cNvSpPr>
                <a:spLocks noGrp="1" noRot="1" noChangeAspect="1" noMove="1" noResize="1" noEditPoints="1" noAdjustHandles="1" noChangeArrowheads="1" noChangeShapeType="1" noTextEdit="1"/>
              </p:cNvSpPr>
              <p:nvPr>
                <p:ph idx="1"/>
              </p:nvPr>
            </p:nvSpPr>
            <p:spPr>
              <a:xfrm>
                <a:off x="105032" y="939585"/>
                <a:ext cx="11477368" cy="3821599"/>
              </a:xfrm>
              <a:blipFill>
                <a:blip r:embed="rId3"/>
                <a:stretch>
                  <a:fillRect l="-956" t="-2711" r="-1168" b="-2073"/>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2DB79B56-D4D2-3E02-FC73-31B5D305893C}"/>
              </a:ext>
            </a:extLst>
          </p:cNvPr>
          <p:cNvPicPr>
            <a:picLocks noChangeAspect="1"/>
          </p:cNvPicPr>
          <p:nvPr/>
        </p:nvPicPr>
        <p:blipFill>
          <a:blip r:embed="rId4">
            <a:clrChange>
              <a:clrFrom>
                <a:srgbClr val="D6D6D6"/>
              </a:clrFrom>
              <a:clrTo>
                <a:srgbClr val="D6D6D6">
                  <a:alpha val="0"/>
                </a:srgbClr>
              </a:clrTo>
            </a:clrChange>
          </a:blip>
          <a:stretch>
            <a:fillRect/>
          </a:stretch>
        </p:blipFill>
        <p:spPr>
          <a:xfrm>
            <a:off x="6766560" y="4761184"/>
            <a:ext cx="3649020" cy="1881495"/>
          </a:xfrm>
          <a:prstGeom prst="rect">
            <a:avLst/>
          </a:prstGeom>
        </p:spPr>
      </p:pic>
      <p:pic>
        <p:nvPicPr>
          <p:cNvPr id="8" name="Picture 7">
            <a:extLst>
              <a:ext uri="{FF2B5EF4-FFF2-40B4-BE49-F238E27FC236}">
                <a16:creationId xmlns:a16="http://schemas.microsoft.com/office/drawing/2014/main" id="{44AA7FDB-D7AF-034F-7CF6-765E4D2C4088}"/>
              </a:ext>
            </a:extLst>
          </p:cNvPr>
          <p:cNvPicPr>
            <a:picLocks noChangeAspect="1"/>
          </p:cNvPicPr>
          <p:nvPr/>
        </p:nvPicPr>
        <p:blipFill>
          <a:blip r:embed="rId5"/>
          <a:stretch>
            <a:fillRect/>
          </a:stretch>
        </p:blipFill>
        <p:spPr>
          <a:xfrm>
            <a:off x="2336914" y="4838821"/>
            <a:ext cx="2906388" cy="1726219"/>
          </a:xfrm>
          <a:prstGeom prst="rect">
            <a:avLst/>
          </a:prstGeom>
        </p:spPr>
      </p:pic>
    </p:spTree>
    <p:extLst>
      <p:ext uri="{BB962C8B-B14F-4D97-AF65-F5344CB8AC3E}">
        <p14:creationId xmlns:p14="http://schemas.microsoft.com/office/powerpoint/2010/main" val="427268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8EFBC-C174-2F7D-9DAB-29B6CC7BDA15}"/>
              </a:ext>
            </a:extLst>
          </p:cNvPr>
          <p:cNvSpPr>
            <a:spLocks noGrp="1"/>
          </p:cNvSpPr>
          <p:nvPr>
            <p:ph type="title"/>
          </p:nvPr>
        </p:nvSpPr>
        <p:spPr>
          <a:xfrm>
            <a:off x="0" y="136525"/>
            <a:ext cx="12192000" cy="662781"/>
          </a:xfrm>
        </p:spPr>
        <p:txBody>
          <a:bodyPr>
            <a:normAutofit fontScale="90000"/>
          </a:bodyPr>
          <a:lstStyle/>
          <a:p>
            <a:pPr algn="ctr"/>
            <a:r>
              <a:rPr lang="en-US" dirty="0"/>
              <a:t>Component Mode Synthesis Guidelines</a:t>
            </a:r>
          </a:p>
        </p:txBody>
      </p:sp>
      <p:sp>
        <p:nvSpPr>
          <p:cNvPr id="3" name="Content Placeholder 2">
            <a:extLst>
              <a:ext uri="{FF2B5EF4-FFF2-40B4-BE49-F238E27FC236}">
                <a16:creationId xmlns:a16="http://schemas.microsoft.com/office/drawing/2014/main" id="{9C01B037-EE83-050D-6878-B4597CB6B85A}"/>
              </a:ext>
            </a:extLst>
          </p:cNvPr>
          <p:cNvSpPr>
            <a:spLocks noGrp="1"/>
          </p:cNvSpPr>
          <p:nvPr>
            <p:ph idx="1"/>
          </p:nvPr>
        </p:nvSpPr>
        <p:spPr>
          <a:xfrm>
            <a:off x="105031" y="939585"/>
            <a:ext cx="11989602" cy="4716148"/>
          </a:xfrm>
        </p:spPr>
        <p:txBody>
          <a:bodyPr>
            <a:normAutofit/>
          </a:bodyPr>
          <a:lstStyle/>
          <a:p>
            <a:r>
              <a:rPr lang="en-US" dirty="0"/>
              <a:t>CMS is a variation of physical substructuring that incorporates Reduced Order Modeling (ROM) by transforming M, C &amp; K to a reduced basis space.</a:t>
            </a:r>
          </a:p>
          <a:p>
            <a:pPr lvl="1"/>
            <a:r>
              <a:rPr lang="en-US" dirty="0"/>
              <a:t>The most straightforward reduction would be to a modal basis via eigenvectors </a:t>
            </a:r>
          </a:p>
          <a:p>
            <a:pPr lvl="1"/>
            <a:r>
              <a:rPr lang="en-US" dirty="0"/>
              <a:t>There are many techniques that augment the modal basis with additional information</a:t>
            </a:r>
          </a:p>
          <a:p>
            <a:r>
              <a:rPr lang="en-US" dirty="0"/>
              <a:t>While we can experimentally get a subsystem in the reduced modal basis by extracting modal parameters from FRFs, we still encounter several problems when attempting to implement CMS substructuring directly:</a:t>
            </a:r>
          </a:p>
          <a:p>
            <a:pPr lvl="1"/>
            <a:r>
              <a:rPr lang="en-US" dirty="0"/>
              <a:t>How do we handle the rotations at the connection points?</a:t>
            </a:r>
          </a:p>
          <a:p>
            <a:pPr lvl="1"/>
            <a:r>
              <a:rPr lang="en-US" dirty="0"/>
              <a:t>What can we do to improve the experimental modal basis and limit modal truncation error? </a:t>
            </a:r>
          </a:p>
          <a:p>
            <a:pPr lvl="1"/>
            <a:r>
              <a:rPr lang="en-US" dirty="0"/>
              <a:t>Can we model continuous interfaces that would require many constraints?</a:t>
            </a:r>
          </a:p>
          <a:p>
            <a:r>
              <a:rPr lang="en-US" dirty="0"/>
              <a:t>The Transmission Simulator Method (TSM) was made to address these issues</a:t>
            </a:r>
          </a:p>
        </p:txBody>
      </p:sp>
    </p:spTree>
    <p:extLst>
      <p:ext uri="{BB962C8B-B14F-4D97-AF65-F5344CB8AC3E}">
        <p14:creationId xmlns:p14="http://schemas.microsoft.com/office/powerpoint/2010/main" val="25847631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213D4C-A9B0-196F-4C9B-7AE6DA373080}"/>
              </a:ext>
            </a:extLst>
          </p:cNvPr>
          <p:cNvSpPr>
            <a:spLocks noGrp="1"/>
          </p:cNvSpPr>
          <p:nvPr>
            <p:ph type="title"/>
          </p:nvPr>
        </p:nvSpPr>
        <p:spPr>
          <a:xfrm>
            <a:off x="0" y="1409120"/>
            <a:ext cx="12192000" cy="662781"/>
          </a:xfrm>
        </p:spPr>
        <p:txBody>
          <a:bodyPr>
            <a:normAutofit fontScale="90000"/>
          </a:bodyPr>
          <a:lstStyle/>
          <a:p>
            <a:r>
              <a:rPr lang="en-US" dirty="0"/>
              <a:t>Transmission Simulator Method</a:t>
            </a:r>
          </a:p>
        </p:txBody>
      </p:sp>
    </p:spTree>
    <p:extLst>
      <p:ext uri="{BB962C8B-B14F-4D97-AF65-F5344CB8AC3E}">
        <p14:creationId xmlns:p14="http://schemas.microsoft.com/office/powerpoint/2010/main" val="40782628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9AAF78F-C392-1077-1E79-C36429B3FD93}"/>
              </a:ext>
            </a:extLst>
          </p:cNvPr>
          <p:cNvSpPr/>
          <p:nvPr/>
        </p:nvSpPr>
        <p:spPr>
          <a:xfrm>
            <a:off x="6631286" y="2685250"/>
            <a:ext cx="4572000" cy="4572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pic>
        <p:nvPicPr>
          <p:cNvPr id="35" name="Picture 34">
            <a:extLst>
              <a:ext uri="{FF2B5EF4-FFF2-40B4-BE49-F238E27FC236}">
                <a16:creationId xmlns:a16="http://schemas.microsoft.com/office/drawing/2014/main" id="{3D3372D7-CDF2-C696-FCAF-F74CAE8C589F}"/>
              </a:ext>
            </a:extLst>
          </p:cNvPr>
          <p:cNvPicPr>
            <a:picLocks noChangeAspect="1"/>
          </p:cNvPicPr>
          <p:nvPr/>
        </p:nvPicPr>
        <p:blipFill>
          <a:blip r:embed="rId2"/>
          <a:stretch>
            <a:fillRect/>
          </a:stretch>
        </p:blipFill>
        <p:spPr>
          <a:xfrm>
            <a:off x="682172" y="3454332"/>
            <a:ext cx="5486400" cy="2971800"/>
          </a:xfrm>
          <a:prstGeom prst="rect">
            <a:avLst/>
          </a:prstGeom>
        </p:spPr>
      </p:pic>
      <p:sp>
        <p:nvSpPr>
          <p:cNvPr id="2" name="Title 1">
            <a:extLst>
              <a:ext uri="{FF2B5EF4-FFF2-40B4-BE49-F238E27FC236}">
                <a16:creationId xmlns:a16="http://schemas.microsoft.com/office/drawing/2014/main" id="{D2233D1C-7AFF-1668-7DC5-377A4F617625}"/>
              </a:ext>
            </a:extLst>
          </p:cNvPr>
          <p:cNvSpPr>
            <a:spLocks noGrp="1"/>
          </p:cNvSpPr>
          <p:nvPr>
            <p:ph type="title"/>
          </p:nvPr>
        </p:nvSpPr>
        <p:spPr>
          <a:xfrm>
            <a:off x="0" y="136525"/>
            <a:ext cx="12192000" cy="662781"/>
          </a:xfrm>
        </p:spPr>
        <p:txBody>
          <a:bodyPr>
            <a:normAutofit fontScale="90000"/>
          </a:bodyPr>
          <a:lstStyle/>
          <a:p>
            <a:pPr algn="ctr"/>
            <a:r>
              <a:rPr lang="en-US" dirty="0"/>
              <a:t>Recall the CMS Numerical Beam Example</a:t>
            </a:r>
          </a:p>
        </p:txBody>
      </p:sp>
      <p:sp>
        <p:nvSpPr>
          <p:cNvPr id="3" name="Content Placeholder 2">
            <a:extLst>
              <a:ext uri="{FF2B5EF4-FFF2-40B4-BE49-F238E27FC236}">
                <a16:creationId xmlns:a16="http://schemas.microsoft.com/office/drawing/2014/main" id="{69A450A8-2C12-850D-17F4-653FADF8EC2B}"/>
              </a:ext>
            </a:extLst>
          </p:cNvPr>
          <p:cNvSpPr>
            <a:spLocks noGrp="1"/>
          </p:cNvSpPr>
          <p:nvPr>
            <p:ph idx="1"/>
          </p:nvPr>
        </p:nvSpPr>
        <p:spPr>
          <a:xfrm>
            <a:off x="105032" y="939584"/>
            <a:ext cx="11337324" cy="1480793"/>
          </a:xfrm>
        </p:spPr>
        <p:txBody>
          <a:bodyPr>
            <a:normAutofit/>
          </a:bodyPr>
          <a:lstStyle/>
          <a:p>
            <a:r>
              <a:rPr lang="en-US" dirty="0"/>
              <a:t>Beam A &amp; B connected through translation and rotation DOFs at the tips</a:t>
            </a:r>
          </a:p>
          <a:p>
            <a:r>
              <a:rPr lang="en-US" dirty="0"/>
              <a:t>Modal truncation effects leave the connection too stiff - the free beam tips require many modes to properly exhibit the curvature in the truth assembly</a:t>
            </a:r>
          </a:p>
        </p:txBody>
      </p:sp>
      <p:sp>
        <p:nvSpPr>
          <p:cNvPr id="4" name="Rectangle 3">
            <a:extLst>
              <a:ext uri="{FF2B5EF4-FFF2-40B4-BE49-F238E27FC236}">
                <a16:creationId xmlns:a16="http://schemas.microsoft.com/office/drawing/2014/main" id="{1D978FC4-94C9-5379-9CCD-367A368ADABF}"/>
              </a:ext>
            </a:extLst>
          </p:cNvPr>
          <p:cNvSpPr/>
          <p:nvPr/>
        </p:nvSpPr>
        <p:spPr>
          <a:xfrm>
            <a:off x="637748" y="2685250"/>
            <a:ext cx="2743200"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5" name="Rectangle 4">
            <a:extLst>
              <a:ext uri="{FF2B5EF4-FFF2-40B4-BE49-F238E27FC236}">
                <a16:creationId xmlns:a16="http://schemas.microsoft.com/office/drawing/2014/main" id="{1060C548-BA8E-A9F7-648C-69F37DBC28FE}"/>
              </a:ext>
            </a:extLst>
          </p:cNvPr>
          <p:cNvSpPr/>
          <p:nvPr/>
        </p:nvSpPr>
        <p:spPr>
          <a:xfrm>
            <a:off x="4264632" y="2685250"/>
            <a:ext cx="1828800" cy="4572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 name="TextBox 6">
            <a:extLst>
              <a:ext uri="{FF2B5EF4-FFF2-40B4-BE49-F238E27FC236}">
                <a16:creationId xmlns:a16="http://schemas.microsoft.com/office/drawing/2014/main" id="{3F9E6829-B52E-A41F-FD36-239301D63747}"/>
              </a:ext>
            </a:extLst>
          </p:cNvPr>
          <p:cNvSpPr txBox="1"/>
          <p:nvPr/>
        </p:nvSpPr>
        <p:spPr>
          <a:xfrm>
            <a:off x="3668693" y="2730404"/>
            <a:ext cx="320922" cy="400110"/>
          </a:xfrm>
          <a:prstGeom prst="rect">
            <a:avLst/>
          </a:prstGeom>
          <a:noFill/>
        </p:spPr>
        <p:txBody>
          <a:bodyPr wrap="none" rtlCol="0">
            <a:spAutoFit/>
          </a:bodyPr>
          <a:lstStyle/>
          <a:p>
            <a:r>
              <a:rPr lang="en-US" sz="2000" b="1" dirty="0"/>
              <a:t>+</a:t>
            </a:r>
          </a:p>
        </p:txBody>
      </p:sp>
      <p:sp>
        <p:nvSpPr>
          <p:cNvPr id="8" name="Oval 7">
            <a:extLst>
              <a:ext uri="{FF2B5EF4-FFF2-40B4-BE49-F238E27FC236}">
                <a16:creationId xmlns:a16="http://schemas.microsoft.com/office/drawing/2014/main" id="{10BEB55C-CB30-1ADF-1BA4-7F9882315264}"/>
              </a:ext>
            </a:extLst>
          </p:cNvPr>
          <p:cNvSpPr/>
          <p:nvPr/>
        </p:nvSpPr>
        <p:spPr>
          <a:xfrm>
            <a:off x="3339647" y="2874085"/>
            <a:ext cx="85725" cy="7853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D088A6E-7AB4-111C-F037-11B8F266620F}"/>
              </a:ext>
            </a:extLst>
          </p:cNvPr>
          <p:cNvSpPr/>
          <p:nvPr/>
        </p:nvSpPr>
        <p:spPr>
          <a:xfrm>
            <a:off x="4221770" y="2874085"/>
            <a:ext cx="85725" cy="7853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B8ACB6A0-1C9B-306F-7A37-01F269AF4EF1}"/>
              </a:ext>
            </a:extLst>
          </p:cNvPr>
          <p:cNvCxnSpPr>
            <a:cxnSpLocks/>
            <a:stCxn id="8" idx="0"/>
          </p:cNvCxnSpPr>
          <p:nvPr/>
        </p:nvCxnSpPr>
        <p:spPr>
          <a:xfrm flipH="1" flipV="1">
            <a:off x="3380948" y="2414247"/>
            <a:ext cx="1562" cy="459838"/>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3" name="Arc 12">
            <a:extLst>
              <a:ext uri="{FF2B5EF4-FFF2-40B4-BE49-F238E27FC236}">
                <a16:creationId xmlns:a16="http://schemas.microsoft.com/office/drawing/2014/main" id="{21F2291F-84E3-D958-D9B8-B5DB06AD7FAD}"/>
              </a:ext>
            </a:extLst>
          </p:cNvPr>
          <p:cNvSpPr/>
          <p:nvPr/>
        </p:nvSpPr>
        <p:spPr>
          <a:xfrm>
            <a:off x="3189705" y="2727914"/>
            <a:ext cx="384048" cy="384048"/>
          </a:xfrm>
          <a:prstGeom prst="arc">
            <a:avLst>
              <a:gd name="adj1" fmla="val 17589694"/>
              <a:gd name="adj2" fmla="val 4510709"/>
            </a:avLst>
          </a:prstGeom>
          <a:ln w="38100">
            <a:solidFill>
              <a:schemeClr val="tx1">
                <a:lumMod val="95000"/>
                <a:lumOff val="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dirty="0"/>
              <a:t>  </a:t>
            </a:r>
          </a:p>
        </p:txBody>
      </p:sp>
      <p:cxnSp>
        <p:nvCxnSpPr>
          <p:cNvPr id="18" name="Straight Arrow Connector 17">
            <a:extLst>
              <a:ext uri="{FF2B5EF4-FFF2-40B4-BE49-F238E27FC236}">
                <a16:creationId xmlns:a16="http://schemas.microsoft.com/office/drawing/2014/main" id="{EF378B43-CF03-CB8F-7F65-3EF14D594BC5}"/>
              </a:ext>
            </a:extLst>
          </p:cNvPr>
          <p:cNvCxnSpPr>
            <a:cxnSpLocks/>
          </p:cNvCxnSpPr>
          <p:nvPr/>
        </p:nvCxnSpPr>
        <p:spPr>
          <a:xfrm flipH="1" flipV="1">
            <a:off x="4263071" y="2414247"/>
            <a:ext cx="1562" cy="459838"/>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9" name="Arc 18">
            <a:extLst>
              <a:ext uri="{FF2B5EF4-FFF2-40B4-BE49-F238E27FC236}">
                <a16:creationId xmlns:a16="http://schemas.microsoft.com/office/drawing/2014/main" id="{8F47A100-6E61-98B4-9D40-D5513318FD18}"/>
              </a:ext>
            </a:extLst>
          </p:cNvPr>
          <p:cNvSpPr/>
          <p:nvPr/>
        </p:nvSpPr>
        <p:spPr>
          <a:xfrm>
            <a:off x="4071828" y="2727914"/>
            <a:ext cx="384048" cy="384048"/>
          </a:xfrm>
          <a:prstGeom prst="arc">
            <a:avLst>
              <a:gd name="adj1" fmla="val 5948162"/>
              <a:gd name="adj2" fmla="val 14938086"/>
            </a:avLst>
          </a:prstGeom>
          <a:ln w="38100">
            <a:solidFill>
              <a:schemeClr val="tx1">
                <a:lumMod val="95000"/>
                <a:lumOff val="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dirty="0"/>
              <a:t>  </a:t>
            </a:r>
          </a:p>
        </p:txBody>
      </p:sp>
      <p:sp>
        <p:nvSpPr>
          <p:cNvPr id="21" name="TextBox 20">
            <a:extLst>
              <a:ext uri="{FF2B5EF4-FFF2-40B4-BE49-F238E27FC236}">
                <a16:creationId xmlns:a16="http://schemas.microsoft.com/office/drawing/2014/main" id="{2CBC441C-03B1-5709-F036-9D0205614A26}"/>
              </a:ext>
            </a:extLst>
          </p:cNvPr>
          <p:cNvSpPr txBox="1"/>
          <p:nvPr/>
        </p:nvSpPr>
        <p:spPr>
          <a:xfrm>
            <a:off x="6201898" y="2730404"/>
            <a:ext cx="320922" cy="400110"/>
          </a:xfrm>
          <a:prstGeom prst="rect">
            <a:avLst/>
          </a:prstGeom>
          <a:noFill/>
        </p:spPr>
        <p:txBody>
          <a:bodyPr wrap="none" rtlCol="0">
            <a:spAutoFit/>
          </a:bodyPr>
          <a:lstStyle/>
          <a:p>
            <a:r>
              <a:rPr lang="en-US" sz="2000" b="1" dirty="0"/>
              <a:t>=</a:t>
            </a:r>
          </a:p>
        </p:txBody>
      </p:sp>
      <p:cxnSp>
        <p:nvCxnSpPr>
          <p:cNvPr id="23" name="Straight Connector 22">
            <a:extLst>
              <a:ext uri="{FF2B5EF4-FFF2-40B4-BE49-F238E27FC236}">
                <a16:creationId xmlns:a16="http://schemas.microsoft.com/office/drawing/2014/main" id="{F8029F0F-1E8A-7208-5DC5-053B63CE53DD}"/>
              </a:ext>
            </a:extLst>
          </p:cNvPr>
          <p:cNvCxnSpPr/>
          <p:nvPr/>
        </p:nvCxnSpPr>
        <p:spPr>
          <a:xfrm>
            <a:off x="9374486" y="2685250"/>
            <a:ext cx="0" cy="4572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29C19BD9-7A87-0904-6CFA-D57AD134B171}"/>
              </a:ext>
            </a:extLst>
          </p:cNvPr>
          <p:cNvSpPr/>
          <p:nvPr/>
        </p:nvSpPr>
        <p:spPr>
          <a:xfrm>
            <a:off x="9329531" y="2874585"/>
            <a:ext cx="85725" cy="7853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a:extLst>
              <a:ext uri="{FF2B5EF4-FFF2-40B4-BE49-F238E27FC236}">
                <a16:creationId xmlns:a16="http://schemas.microsoft.com/office/drawing/2014/main" id="{E088CF60-6DEC-D319-CA76-401526BC5B85}"/>
              </a:ext>
            </a:extLst>
          </p:cNvPr>
          <p:cNvCxnSpPr>
            <a:cxnSpLocks/>
          </p:cNvCxnSpPr>
          <p:nvPr/>
        </p:nvCxnSpPr>
        <p:spPr>
          <a:xfrm flipH="1" flipV="1">
            <a:off x="9373705" y="2415517"/>
            <a:ext cx="1562" cy="459838"/>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7" name="Arc 26">
            <a:extLst>
              <a:ext uri="{FF2B5EF4-FFF2-40B4-BE49-F238E27FC236}">
                <a16:creationId xmlns:a16="http://schemas.microsoft.com/office/drawing/2014/main" id="{76009CF8-F6A3-3DAC-45D8-9D47FE4ED94C}"/>
              </a:ext>
            </a:extLst>
          </p:cNvPr>
          <p:cNvSpPr/>
          <p:nvPr/>
        </p:nvSpPr>
        <p:spPr>
          <a:xfrm>
            <a:off x="9182462" y="2729184"/>
            <a:ext cx="384048" cy="384048"/>
          </a:xfrm>
          <a:prstGeom prst="arc">
            <a:avLst>
              <a:gd name="adj1" fmla="val 17390596"/>
              <a:gd name="adj2" fmla="val 4028325"/>
            </a:avLst>
          </a:prstGeom>
          <a:ln w="38100">
            <a:solidFill>
              <a:schemeClr val="tx1">
                <a:lumMod val="95000"/>
                <a:lumOff val="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dirty="0"/>
              <a:t>  </a:t>
            </a:r>
          </a:p>
        </p:txBody>
      </p:sp>
      <p:pic>
        <p:nvPicPr>
          <p:cNvPr id="33" name="Picture 32">
            <a:extLst>
              <a:ext uri="{FF2B5EF4-FFF2-40B4-BE49-F238E27FC236}">
                <a16:creationId xmlns:a16="http://schemas.microsoft.com/office/drawing/2014/main" id="{F5E7BE4B-B637-F990-1BB3-F83C40D7AA68}"/>
              </a:ext>
            </a:extLst>
          </p:cNvPr>
          <p:cNvPicPr>
            <a:picLocks noChangeAspect="1"/>
          </p:cNvPicPr>
          <p:nvPr/>
        </p:nvPicPr>
        <p:blipFill>
          <a:blip r:embed="rId3"/>
          <a:stretch>
            <a:fillRect/>
          </a:stretch>
        </p:blipFill>
        <p:spPr>
          <a:xfrm>
            <a:off x="6201898" y="3454332"/>
            <a:ext cx="5486400" cy="2971800"/>
          </a:xfrm>
          <a:prstGeom prst="rect">
            <a:avLst/>
          </a:prstGeom>
        </p:spPr>
      </p:pic>
      <p:cxnSp>
        <p:nvCxnSpPr>
          <p:cNvPr id="37" name="Straight Arrow Connector 36">
            <a:extLst>
              <a:ext uri="{FF2B5EF4-FFF2-40B4-BE49-F238E27FC236}">
                <a16:creationId xmlns:a16="http://schemas.microsoft.com/office/drawing/2014/main" id="{9D75F744-4278-C272-2B93-5020C0B0E8E2}"/>
              </a:ext>
            </a:extLst>
          </p:cNvPr>
          <p:cNvCxnSpPr>
            <a:cxnSpLocks/>
          </p:cNvCxnSpPr>
          <p:nvPr/>
        </p:nvCxnSpPr>
        <p:spPr>
          <a:xfrm>
            <a:off x="2637367" y="4017433"/>
            <a:ext cx="313266" cy="0"/>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9" name="Oval 38">
            <a:extLst>
              <a:ext uri="{FF2B5EF4-FFF2-40B4-BE49-F238E27FC236}">
                <a16:creationId xmlns:a16="http://schemas.microsoft.com/office/drawing/2014/main" id="{37D16C25-D9CE-E1A0-99B9-7D60B159F21F}"/>
              </a:ext>
            </a:extLst>
          </p:cNvPr>
          <p:cNvSpPr/>
          <p:nvPr/>
        </p:nvSpPr>
        <p:spPr>
          <a:xfrm rot="1692775">
            <a:off x="9120067" y="5433554"/>
            <a:ext cx="1010000" cy="389106"/>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2D5FEC6B-6358-CC70-7CA4-D9AA752D0889}"/>
              </a:ext>
            </a:extLst>
          </p:cNvPr>
          <p:cNvSpPr txBox="1"/>
          <p:nvPr/>
        </p:nvSpPr>
        <p:spPr>
          <a:xfrm>
            <a:off x="2527170" y="3704164"/>
            <a:ext cx="575863" cy="338554"/>
          </a:xfrm>
          <a:prstGeom prst="rect">
            <a:avLst/>
          </a:prstGeom>
          <a:noFill/>
        </p:spPr>
        <p:txBody>
          <a:bodyPr wrap="square" rtlCol="0">
            <a:spAutoFit/>
          </a:bodyPr>
          <a:lstStyle/>
          <a:p>
            <a:pPr algn="ctr"/>
            <a:r>
              <a:rPr lang="en-US" sz="1600" b="1" dirty="0"/>
              <a:t>20%</a:t>
            </a:r>
            <a:r>
              <a:rPr lang="en-US" sz="1600" dirty="0"/>
              <a:t> </a:t>
            </a:r>
          </a:p>
        </p:txBody>
      </p:sp>
    </p:spTree>
    <p:extLst>
      <p:ext uri="{BB962C8B-B14F-4D97-AF65-F5344CB8AC3E}">
        <p14:creationId xmlns:p14="http://schemas.microsoft.com/office/powerpoint/2010/main" val="376733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33D1C-7AFF-1668-7DC5-377A4F617625}"/>
              </a:ext>
            </a:extLst>
          </p:cNvPr>
          <p:cNvSpPr>
            <a:spLocks noGrp="1"/>
          </p:cNvSpPr>
          <p:nvPr>
            <p:ph type="title"/>
          </p:nvPr>
        </p:nvSpPr>
        <p:spPr>
          <a:xfrm>
            <a:off x="0" y="136525"/>
            <a:ext cx="12192000" cy="662781"/>
          </a:xfrm>
        </p:spPr>
        <p:txBody>
          <a:bodyPr>
            <a:normAutofit fontScale="90000"/>
          </a:bodyPr>
          <a:lstStyle/>
          <a:p>
            <a:pPr algn="ctr"/>
            <a:r>
              <a:rPr lang="en-US" dirty="0"/>
              <a:t>Create an Interface Better Suited for Assembly</a:t>
            </a:r>
          </a:p>
        </p:txBody>
      </p:sp>
      <p:sp>
        <p:nvSpPr>
          <p:cNvPr id="3" name="Content Placeholder 2">
            <a:extLst>
              <a:ext uri="{FF2B5EF4-FFF2-40B4-BE49-F238E27FC236}">
                <a16:creationId xmlns:a16="http://schemas.microsoft.com/office/drawing/2014/main" id="{69A450A8-2C12-850D-17F4-653FADF8EC2B}"/>
              </a:ext>
            </a:extLst>
          </p:cNvPr>
          <p:cNvSpPr>
            <a:spLocks noGrp="1"/>
          </p:cNvSpPr>
          <p:nvPr>
            <p:ph idx="1"/>
          </p:nvPr>
        </p:nvSpPr>
        <p:spPr>
          <a:xfrm>
            <a:off x="105031" y="2830293"/>
            <a:ext cx="11468902" cy="2741204"/>
          </a:xfrm>
        </p:spPr>
        <p:txBody>
          <a:bodyPr>
            <a:normAutofit/>
          </a:bodyPr>
          <a:lstStyle/>
          <a:p>
            <a:r>
              <a:rPr lang="en-US" dirty="0"/>
              <a:t>Objective: Enrich the dynamic information present at the beam tip </a:t>
            </a:r>
          </a:p>
          <a:p>
            <a:pPr lvl="1"/>
            <a:r>
              <a:rPr lang="en-US" dirty="0"/>
              <a:t>Increase flexibility by adding or altering modes in the subsystem modal bases </a:t>
            </a:r>
          </a:p>
          <a:p>
            <a:r>
              <a:rPr lang="en-US" dirty="0"/>
              <a:t>Solution: Append a small beam to the ends of both A &amp; B subsystems</a:t>
            </a:r>
          </a:p>
          <a:p>
            <a:pPr lvl="1"/>
            <a:r>
              <a:rPr lang="en-US" dirty="0"/>
              <a:t>Additional mass lowers natural frequencies, adding modes to the bandwidth of interest</a:t>
            </a:r>
          </a:p>
          <a:p>
            <a:pPr lvl="1"/>
            <a:r>
              <a:rPr lang="en-US" dirty="0"/>
              <a:t>Loading the free beam tips alters the mode shapes to span a greater range of motion </a:t>
            </a:r>
          </a:p>
          <a:p>
            <a:r>
              <a:rPr lang="en-US" dirty="0"/>
              <a:t>This small beam is what we’ll call a Transmission Simulator</a:t>
            </a:r>
          </a:p>
        </p:txBody>
      </p:sp>
      <p:sp>
        <p:nvSpPr>
          <p:cNvPr id="4" name="Rectangle 3">
            <a:extLst>
              <a:ext uri="{FF2B5EF4-FFF2-40B4-BE49-F238E27FC236}">
                <a16:creationId xmlns:a16="http://schemas.microsoft.com/office/drawing/2014/main" id="{1D978FC4-94C9-5379-9CCD-367A368ADABF}"/>
              </a:ext>
            </a:extLst>
          </p:cNvPr>
          <p:cNvSpPr/>
          <p:nvPr/>
        </p:nvSpPr>
        <p:spPr>
          <a:xfrm>
            <a:off x="6746148" y="1118434"/>
            <a:ext cx="2743200" cy="457200"/>
          </a:xfrm>
          <a:prstGeom prst="rect">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5" name="Rectangle 4">
            <a:extLst>
              <a:ext uri="{FF2B5EF4-FFF2-40B4-BE49-F238E27FC236}">
                <a16:creationId xmlns:a16="http://schemas.microsoft.com/office/drawing/2014/main" id="{1060C548-BA8E-A9F7-648C-69F37DBC28FE}"/>
              </a:ext>
            </a:extLst>
          </p:cNvPr>
          <p:cNvSpPr/>
          <p:nvPr/>
        </p:nvSpPr>
        <p:spPr>
          <a:xfrm>
            <a:off x="9499402" y="1969190"/>
            <a:ext cx="1828800" cy="457200"/>
          </a:xfrm>
          <a:prstGeom prst="rect">
            <a:avLst/>
          </a:prstGeom>
          <a:solidFill>
            <a:schemeClr val="accent2">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2" name="Rectangle 11">
            <a:extLst>
              <a:ext uri="{FF2B5EF4-FFF2-40B4-BE49-F238E27FC236}">
                <a16:creationId xmlns:a16="http://schemas.microsoft.com/office/drawing/2014/main" id="{0113E4D7-C85A-1AD4-310B-59B653291D9C}"/>
              </a:ext>
            </a:extLst>
          </p:cNvPr>
          <p:cNvSpPr/>
          <p:nvPr/>
        </p:nvSpPr>
        <p:spPr>
          <a:xfrm>
            <a:off x="8702145" y="1033265"/>
            <a:ext cx="794081" cy="628733"/>
          </a:xfrm>
          <a:prstGeom prst="rect">
            <a:avLst/>
          </a:prstGeom>
          <a:solidFill>
            <a:srgbClr val="FF0000">
              <a:alpha val="6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p:sp>
        <p:nvSpPr>
          <p:cNvPr id="34" name="Rectangle 33">
            <a:extLst>
              <a:ext uri="{FF2B5EF4-FFF2-40B4-BE49-F238E27FC236}">
                <a16:creationId xmlns:a16="http://schemas.microsoft.com/office/drawing/2014/main" id="{192838B1-4AC3-E23A-01D6-2C2041ACB5E2}"/>
              </a:ext>
            </a:extLst>
          </p:cNvPr>
          <p:cNvSpPr/>
          <p:nvPr/>
        </p:nvSpPr>
        <p:spPr>
          <a:xfrm>
            <a:off x="8710638" y="1885908"/>
            <a:ext cx="794081" cy="628732"/>
          </a:xfrm>
          <a:prstGeom prst="rect">
            <a:avLst/>
          </a:prstGeom>
          <a:solidFill>
            <a:srgbClr val="FF000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p:sp>
        <p:nvSpPr>
          <p:cNvPr id="11" name="Rectangle 10">
            <a:extLst>
              <a:ext uri="{FF2B5EF4-FFF2-40B4-BE49-F238E27FC236}">
                <a16:creationId xmlns:a16="http://schemas.microsoft.com/office/drawing/2014/main" id="{04CDCC5C-F465-471A-19F2-FC50422377E7}"/>
              </a:ext>
            </a:extLst>
          </p:cNvPr>
          <p:cNvSpPr/>
          <p:nvPr/>
        </p:nvSpPr>
        <p:spPr>
          <a:xfrm>
            <a:off x="429133" y="1118434"/>
            <a:ext cx="2743200" cy="457200"/>
          </a:xfrm>
          <a:prstGeom prst="rect">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4" name="Rectangle 13">
            <a:extLst>
              <a:ext uri="{FF2B5EF4-FFF2-40B4-BE49-F238E27FC236}">
                <a16:creationId xmlns:a16="http://schemas.microsoft.com/office/drawing/2014/main" id="{8915A430-F6E0-DF6E-C7F2-245151CD7351}"/>
              </a:ext>
            </a:extLst>
          </p:cNvPr>
          <p:cNvSpPr/>
          <p:nvPr/>
        </p:nvSpPr>
        <p:spPr>
          <a:xfrm>
            <a:off x="3172333" y="1973617"/>
            <a:ext cx="1828800" cy="457200"/>
          </a:xfrm>
          <a:prstGeom prst="rect">
            <a:avLst/>
          </a:prstGeom>
          <a:solidFill>
            <a:schemeClr val="accent2">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5" name="Arrow: Right 14">
            <a:extLst>
              <a:ext uri="{FF2B5EF4-FFF2-40B4-BE49-F238E27FC236}">
                <a16:creationId xmlns:a16="http://schemas.microsoft.com/office/drawing/2014/main" id="{80869B6B-196A-1354-5956-3FD551FA6E90}"/>
              </a:ext>
            </a:extLst>
          </p:cNvPr>
          <p:cNvSpPr/>
          <p:nvPr/>
        </p:nvSpPr>
        <p:spPr>
          <a:xfrm>
            <a:off x="5606718" y="1597988"/>
            <a:ext cx="565436" cy="303439"/>
          </a:xfrm>
          <a:prstGeom prst="rightArrow">
            <a:avLst>
              <a:gd name="adj1" fmla="val 50000"/>
              <a:gd name="adj2" fmla="val 67970"/>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07863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33D1C-7AFF-1668-7DC5-377A4F617625}"/>
              </a:ext>
            </a:extLst>
          </p:cNvPr>
          <p:cNvSpPr>
            <a:spLocks noGrp="1"/>
          </p:cNvSpPr>
          <p:nvPr>
            <p:ph type="title"/>
          </p:nvPr>
        </p:nvSpPr>
        <p:spPr>
          <a:xfrm>
            <a:off x="0" y="136525"/>
            <a:ext cx="12192000" cy="662781"/>
          </a:xfrm>
        </p:spPr>
        <p:txBody>
          <a:bodyPr>
            <a:normAutofit fontScale="90000"/>
          </a:bodyPr>
          <a:lstStyle/>
          <a:p>
            <a:pPr algn="ctr"/>
            <a:r>
              <a:rPr lang="en-US" dirty="0"/>
              <a:t>Create an Interface Better Suited for Assembly</a:t>
            </a:r>
          </a:p>
        </p:txBody>
      </p:sp>
      <p:sp>
        <p:nvSpPr>
          <p:cNvPr id="3" name="Content Placeholder 2">
            <a:extLst>
              <a:ext uri="{FF2B5EF4-FFF2-40B4-BE49-F238E27FC236}">
                <a16:creationId xmlns:a16="http://schemas.microsoft.com/office/drawing/2014/main" id="{69A450A8-2C12-850D-17F4-653FADF8EC2B}"/>
              </a:ext>
            </a:extLst>
          </p:cNvPr>
          <p:cNvSpPr>
            <a:spLocks noGrp="1"/>
          </p:cNvSpPr>
          <p:nvPr>
            <p:ph idx="1"/>
          </p:nvPr>
        </p:nvSpPr>
        <p:spPr>
          <a:xfrm>
            <a:off x="105031" y="2539999"/>
            <a:ext cx="12031936" cy="1890839"/>
          </a:xfrm>
        </p:spPr>
        <p:txBody>
          <a:bodyPr>
            <a:normAutofit/>
          </a:bodyPr>
          <a:lstStyle/>
          <a:p>
            <a:r>
              <a:rPr lang="en-US" dirty="0"/>
              <a:t>The TS is superimposed over Beam A and appended off the end of Beam B</a:t>
            </a:r>
          </a:p>
          <a:p>
            <a:r>
              <a:rPr lang="en-US" dirty="0"/>
              <a:t>To generate a model of Beam C, we connect the altered A Beam &amp; B Beam where the integrated TS’s overlap and decouple 2 copies of a standalone TS</a:t>
            </a:r>
          </a:p>
          <a:p>
            <a:r>
              <a:rPr lang="en-US" dirty="0"/>
              <a:t>The modal equation of motion for this set of subsystems is:</a:t>
            </a:r>
          </a:p>
        </p:txBody>
      </p:sp>
      <p:sp>
        <p:nvSpPr>
          <p:cNvPr id="4" name="Rectangle 3">
            <a:extLst>
              <a:ext uri="{FF2B5EF4-FFF2-40B4-BE49-F238E27FC236}">
                <a16:creationId xmlns:a16="http://schemas.microsoft.com/office/drawing/2014/main" id="{1D978FC4-94C9-5379-9CCD-367A368ADABF}"/>
              </a:ext>
            </a:extLst>
          </p:cNvPr>
          <p:cNvSpPr/>
          <p:nvPr/>
        </p:nvSpPr>
        <p:spPr>
          <a:xfrm>
            <a:off x="70631" y="1493727"/>
            <a:ext cx="2743200" cy="457200"/>
          </a:xfrm>
          <a:prstGeom prst="rect">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5" name="Rectangle 4">
            <a:extLst>
              <a:ext uri="{FF2B5EF4-FFF2-40B4-BE49-F238E27FC236}">
                <a16:creationId xmlns:a16="http://schemas.microsoft.com/office/drawing/2014/main" id="{1060C548-BA8E-A9F7-648C-69F37DBC28FE}"/>
              </a:ext>
            </a:extLst>
          </p:cNvPr>
          <p:cNvSpPr/>
          <p:nvPr/>
        </p:nvSpPr>
        <p:spPr>
          <a:xfrm>
            <a:off x="5384879" y="1489226"/>
            <a:ext cx="1828800" cy="457200"/>
          </a:xfrm>
          <a:prstGeom prst="rect">
            <a:avLst/>
          </a:prstGeom>
          <a:solidFill>
            <a:schemeClr val="accent2">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6" name="Rectangle 5">
            <a:extLst>
              <a:ext uri="{FF2B5EF4-FFF2-40B4-BE49-F238E27FC236}">
                <a16:creationId xmlns:a16="http://schemas.microsoft.com/office/drawing/2014/main" id="{89AAF78F-C392-1077-1E79-C36429B3FD93}"/>
              </a:ext>
            </a:extLst>
          </p:cNvPr>
          <p:cNvSpPr/>
          <p:nvPr/>
        </p:nvSpPr>
        <p:spPr>
          <a:xfrm>
            <a:off x="7523435" y="1471503"/>
            <a:ext cx="4572000" cy="457200"/>
          </a:xfrm>
          <a:prstGeom prst="rect">
            <a:avLst/>
          </a:prstGeom>
          <a:solidFill>
            <a:srgbClr val="00B05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 name="TextBox 6">
            <a:extLst>
              <a:ext uri="{FF2B5EF4-FFF2-40B4-BE49-F238E27FC236}">
                <a16:creationId xmlns:a16="http://schemas.microsoft.com/office/drawing/2014/main" id="{3F9E6829-B52E-A41F-FD36-239301D63747}"/>
              </a:ext>
            </a:extLst>
          </p:cNvPr>
          <p:cNvSpPr txBox="1"/>
          <p:nvPr/>
        </p:nvSpPr>
        <p:spPr>
          <a:xfrm>
            <a:off x="4208434" y="1516379"/>
            <a:ext cx="320922" cy="400110"/>
          </a:xfrm>
          <a:prstGeom prst="rect">
            <a:avLst/>
          </a:prstGeom>
          <a:noFill/>
        </p:spPr>
        <p:txBody>
          <a:bodyPr wrap="none" rtlCol="0">
            <a:spAutoFit/>
          </a:bodyPr>
          <a:lstStyle/>
          <a:p>
            <a:r>
              <a:rPr lang="en-US" sz="2000" b="1" dirty="0"/>
              <a:t>+</a:t>
            </a:r>
          </a:p>
        </p:txBody>
      </p:sp>
      <p:sp>
        <p:nvSpPr>
          <p:cNvPr id="21" name="TextBox 20">
            <a:extLst>
              <a:ext uri="{FF2B5EF4-FFF2-40B4-BE49-F238E27FC236}">
                <a16:creationId xmlns:a16="http://schemas.microsoft.com/office/drawing/2014/main" id="{2CBC441C-03B1-5709-F036-9D0205614A26}"/>
              </a:ext>
            </a:extLst>
          </p:cNvPr>
          <p:cNvSpPr txBox="1"/>
          <p:nvPr/>
        </p:nvSpPr>
        <p:spPr>
          <a:xfrm>
            <a:off x="7221228" y="1503763"/>
            <a:ext cx="320922" cy="400110"/>
          </a:xfrm>
          <a:prstGeom prst="rect">
            <a:avLst/>
          </a:prstGeom>
          <a:noFill/>
        </p:spPr>
        <p:txBody>
          <a:bodyPr wrap="none" rtlCol="0">
            <a:spAutoFit/>
          </a:bodyPr>
          <a:lstStyle/>
          <a:p>
            <a:r>
              <a:rPr lang="en-US" sz="2000" b="1" dirty="0"/>
              <a:t>=</a:t>
            </a:r>
          </a:p>
        </p:txBody>
      </p:sp>
      <p:cxnSp>
        <p:nvCxnSpPr>
          <p:cNvPr id="23" name="Straight Connector 22">
            <a:extLst>
              <a:ext uri="{FF2B5EF4-FFF2-40B4-BE49-F238E27FC236}">
                <a16:creationId xmlns:a16="http://schemas.microsoft.com/office/drawing/2014/main" id="{F8029F0F-1E8A-7208-5DC5-053B63CE53DD}"/>
              </a:ext>
            </a:extLst>
          </p:cNvPr>
          <p:cNvCxnSpPr/>
          <p:nvPr/>
        </p:nvCxnSpPr>
        <p:spPr>
          <a:xfrm>
            <a:off x="10266635" y="1471503"/>
            <a:ext cx="0" cy="4572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0113E4D7-C85A-1AD4-310B-59B653291D9C}"/>
              </a:ext>
            </a:extLst>
          </p:cNvPr>
          <p:cNvSpPr/>
          <p:nvPr/>
        </p:nvSpPr>
        <p:spPr>
          <a:xfrm>
            <a:off x="2028216" y="1406970"/>
            <a:ext cx="794081" cy="628733"/>
          </a:xfrm>
          <a:prstGeom prst="rect">
            <a:avLst/>
          </a:prstGeom>
          <a:solidFill>
            <a:srgbClr val="FF0000">
              <a:alpha val="6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p:sp>
        <p:nvSpPr>
          <p:cNvPr id="34" name="Rectangle 33">
            <a:extLst>
              <a:ext uri="{FF2B5EF4-FFF2-40B4-BE49-F238E27FC236}">
                <a16:creationId xmlns:a16="http://schemas.microsoft.com/office/drawing/2014/main" id="{192838B1-4AC3-E23A-01D6-2C2041ACB5E2}"/>
              </a:ext>
            </a:extLst>
          </p:cNvPr>
          <p:cNvSpPr/>
          <p:nvPr/>
        </p:nvSpPr>
        <p:spPr>
          <a:xfrm>
            <a:off x="4587649" y="1405944"/>
            <a:ext cx="794081" cy="628732"/>
          </a:xfrm>
          <a:prstGeom prst="rect">
            <a:avLst/>
          </a:prstGeom>
          <a:solidFill>
            <a:srgbClr val="FF000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E328005F-DCA5-0C5D-B707-053743693B27}"/>
                  </a:ext>
                </a:extLst>
              </p:cNvPr>
              <p:cNvSpPr txBox="1"/>
              <p:nvPr/>
            </p:nvSpPr>
            <p:spPr>
              <a:xfrm>
                <a:off x="2836795" y="1527679"/>
                <a:ext cx="510076" cy="338554"/>
              </a:xfrm>
              <a:prstGeom prst="rect">
                <a:avLst/>
              </a:prstGeom>
              <a:noFill/>
            </p:spPr>
            <p:txBody>
              <a:bodyPr wrap="none" rtlCol="0">
                <a:spAutoFit/>
              </a:bodyPr>
              <a:lstStyle/>
              <a:p>
                <a:r>
                  <a:rPr lang="en-US" sz="1600" b="1" dirty="0">
                    <a:ea typeface="Cambria Math" panose="02040503050406030204" pitchFamily="18" charset="0"/>
                  </a:rPr>
                  <a:t>-2</a:t>
                </a:r>
                <a14:m>
                  <m:oMath xmlns:m="http://schemas.openxmlformats.org/officeDocument/2006/math">
                    <m:r>
                      <a:rPr lang="en-US" sz="1600" b="1" i="0" smtClean="0">
                        <a:latin typeface="Cambria Math" panose="02040503050406030204" pitchFamily="18" charset="0"/>
                        <a:ea typeface="Cambria Math" panose="02040503050406030204" pitchFamily="18" charset="0"/>
                      </a:rPr>
                      <m:t>×</m:t>
                    </m:r>
                  </m:oMath>
                </a14:m>
                <a:endParaRPr lang="en-US" sz="1600" b="1" dirty="0"/>
              </a:p>
            </p:txBody>
          </p:sp>
        </mc:Choice>
        <mc:Fallback xmlns="">
          <p:sp>
            <p:nvSpPr>
              <p:cNvPr id="57" name="TextBox 56">
                <a:extLst>
                  <a:ext uri="{FF2B5EF4-FFF2-40B4-BE49-F238E27FC236}">
                    <a16:creationId xmlns:a16="http://schemas.microsoft.com/office/drawing/2014/main" id="{E328005F-DCA5-0C5D-B707-053743693B27}"/>
                  </a:ext>
                </a:extLst>
              </p:cNvPr>
              <p:cNvSpPr txBox="1">
                <a:spLocks noRot="1" noChangeAspect="1" noMove="1" noResize="1" noEditPoints="1" noAdjustHandles="1" noChangeArrowheads="1" noChangeShapeType="1" noTextEdit="1"/>
              </p:cNvSpPr>
              <p:nvPr/>
            </p:nvSpPr>
            <p:spPr>
              <a:xfrm>
                <a:off x="2836795" y="1527679"/>
                <a:ext cx="510076" cy="338554"/>
              </a:xfrm>
              <a:prstGeom prst="rect">
                <a:avLst/>
              </a:prstGeom>
              <a:blipFill>
                <a:blip r:embed="rId3"/>
                <a:stretch>
                  <a:fillRect l="-5952" t="-5455" b="-23636"/>
                </a:stretch>
              </a:blipFill>
            </p:spPr>
            <p:txBody>
              <a:bodyPr/>
              <a:lstStyle/>
              <a:p>
                <a:r>
                  <a:rPr lang="en-US">
                    <a:noFill/>
                  </a:rPr>
                  <a:t> </a:t>
                </a:r>
              </a:p>
            </p:txBody>
          </p:sp>
        </mc:Fallback>
      </mc:AlternateContent>
      <p:sp>
        <p:nvSpPr>
          <p:cNvPr id="58" name="Rectangle 57">
            <a:extLst>
              <a:ext uri="{FF2B5EF4-FFF2-40B4-BE49-F238E27FC236}">
                <a16:creationId xmlns:a16="http://schemas.microsoft.com/office/drawing/2014/main" id="{D68D4E25-5401-5B50-B7DA-21E84CED8501}"/>
              </a:ext>
            </a:extLst>
          </p:cNvPr>
          <p:cNvSpPr/>
          <p:nvPr/>
        </p:nvSpPr>
        <p:spPr>
          <a:xfrm>
            <a:off x="3346319" y="1405944"/>
            <a:ext cx="794081" cy="628732"/>
          </a:xfrm>
          <a:prstGeom prst="rect">
            <a:avLst/>
          </a:prstGeom>
          <a:solidFill>
            <a:srgbClr val="FF000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EC7491C-A7C5-7EEE-98E1-E7C7B0261514}"/>
                  </a:ext>
                </a:extLst>
              </p:cNvPr>
              <p:cNvSpPr txBox="1"/>
              <p:nvPr/>
            </p:nvSpPr>
            <p:spPr>
              <a:xfrm>
                <a:off x="1225550" y="4438814"/>
                <a:ext cx="9740900" cy="23376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b="1" i="0">
                                        <a:solidFill>
                                          <a:schemeClr val="tx1"/>
                                        </a:solidFill>
                                        <a:latin typeface="Cambria Math" panose="02040503050406030204" pitchFamily="18" charset="0"/>
                                        <a:ea typeface="Calibri" panose="020F0502020204030204" pitchFamily="34" charset="0"/>
                                        <a:cs typeface="Times New Roman" panose="02020603050405020304" pitchFamily="18" charset="0"/>
                                      </a:rPr>
                                      <m:t>𝐈</m:t>
                                    </m:r>
                                  </m:e>
                                  <m:sub>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A</m:t>
                                    </m:r>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TS</m:t>
                                    </m:r>
                                  </m:sub>
                                </m:sSub>
                              </m:e>
                              <m:e>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0</m:t>
                                </m:r>
                              </m:e>
                              <m:e>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0</m:t>
                                </m:r>
                              </m:e>
                              <m:e>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−2</m:t>
                                </m:r>
                                <m:sSub>
                                  <m:sSubPr>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b="1" i="0">
                                        <a:solidFill>
                                          <a:schemeClr val="tx1"/>
                                        </a:solidFill>
                                        <a:latin typeface="Cambria Math" panose="02040503050406030204" pitchFamily="18" charset="0"/>
                                        <a:ea typeface="Calibri" panose="020F0502020204030204" pitchFamily="34" charset="0"/>
                                        <a:cs typeface="Times New Roman" panose="02020603050405020304" pitchFamily="18" charset="0"/>
                                      </a:rPr>
                                      <m:t>𝐈</m:t>
                                    </m:r>
                                  </m:e>
                                  <m:sub>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TS</m:t>
                                    </m:r>
                                  </m:sub>
                                </m:sSub>
                              </m:e>
                              <m:e>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0</m:t>
                                </m:r>
                              </m:e>
                              <m:e>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0</m:t>
                                </m:r>
                              </m:e>
                              <m:e>
                                <m:sSub>
                                  <m:sSubPr>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b="1" i="0">
                                        <a:solidFill>
                                          <a:schemeClr val="tx1"/>
                                        </a:solidFill>
                                        <a:latin typeface="Cambria Math" panose="02040503050406030204" pitchFamily="18" charset="0"/>
                                        <a:ea typeface="Calibri" panose="020F0502020204030204" pitchFamily="34" charset="0"/>
                                        <a:cs typeface="Times New Roman" panose="02020603050405020304" pitchFamily="18" charset="0"/>
                                      </a:rPr>
                                      <m:t>𝐈</m:t>
                                    </m:r>
                                  </m:e>
                                  <m:sub>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B</m:t>
                                    </m:r>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TS</m:t>
                                    </m:r>
                                  </m:sub>
                                </m:sSub>
                              </m:e>
                            </m:mr>
                          </m:m>
                        </m:e>
                      </m:d>
                      <m:d>
                        <m:dPr>
                          <m:begChr m:val="{"/>
                          <m:endChr m:val="}"/>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b="1" i="0">
                                            <a:solidFill>
                                              <a:schemeClr val="tx1"/>
                                            </a:solidFill>
                                            <a:latin typeface="Cambria Math" panose="02040503050406030204" pitchFamily="18" charset="0"/>
                                            <a:ea typeface="Calibri" panose="020F0502020204030204" pitchFamily="34" charset="0"/>
                                            <a:cs typeface="Times New Roman" panose="02020603050405020304" pitchFamily="18" charset="0"/>
                                          </a:rPr>
                                          <m:t>𝐪</m:t>
                                        </m:r>
                                      </m:e>
                                    </m:acc>
                                  </m:e>
                                  <m:sub>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A</m:t>
                                    </m:r>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TS</m:t>
                                    </m:r>
                                  </m:sub>
                                </m:sSub>
                              </m:e>
                            </m:mr>
                            <m:mr>
                              <m:e>
                                <m:sSub>
                                  <m:sSubPr>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b="1" i="0">
                                            <a:solidFill>
                                              <a:schemeClr val="tx1"/>
                                            </a:solidFill>
                                            <a:latin typeface="Cambria Math" panose="02040503050406030204" pitchFamily="18" charset="0"/>
                                            <a:ea typeface="Calibri" panose="020F0502020204030204" pitchFamily="34" charset="0"/>
                                            <a:cs typeface="Times New Roman" panose="02020603050405020304" pitchFamily="18" charset="0"/>
                                          </a:rPr>
                                          <m:t>𝐪</m:t>
                                        </m:r>
                                      </m:e>
                                    </m:acc>
                                  </m:e>
                                  <m:sub>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TS</m:t>
                                    </m:r>
                                  </m:sub>
                                </m:sSub>
                              </m:e>
                            </m:mr>
                            <m:mr>
                              <m:e>
                                <m:sSub>
                                  <m:sSubPr>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b="1" i="0">
                                            <a:solidFill>
                                              <a:schemeClr val="tx1"/>
                                            </a:solidFill>
                                            <a:latin typeface="Cambria Math" panose="02040503050406030204" pitchFamily="18" charset="0"/>
                                            <a:ea typeface="Calibri" panose="020F0502020204030204" pitchFamily="34" charset="0"/>
                                            <a:cs typeface="Times New Roman" panose="02020603050405020304" pitchFamily="18" charset="0"/>
                                          </a:rPr>
                                          <m:t>𝐪</m:t>
                                        </m:r>
                                      </m:e>
                                    </m:acc>
                                  </m:e>
                                  <m:sub>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B</m:t>
                                    </m:r>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TS</m:t>
                                    </m:r>
                                  </m:sub>
                                </m:sSub>
                              </m:e>
                            </m:mr>
                          </m:m>
                        </m:e>
                      </m:d>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mPr>
                            <m:mr>
                              <m:e>
                                <m:r>
                                  <a:rPr lang="en-US" sz="2000" b="0" i="0"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en-US" sz="200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b="1" i="0"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𝛇</m:t>
                                    </m:r>
                                  </m:e>
                                  <m:sub>
                                    <m:r>
                                      <m:rPr>
                                        <m:sty m:val="p"/>
                                      </m:rPr>
                                      <a:rPr lang="en-US" sz="2000" b="0" i="0"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A</m:t>
                                    </m:r>
                                    <m:r>
                                      <a:rPr lang="en-US" sz="2000" b="0" i="0"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2000" b="0" i="0"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TS</m:t>
                                    </m:r>
                                  </m:sub>
                                </m:sSub>
                                <m:sSub>
                                  <m:sSubPr>
                                    <m:ctrlPr>
                                      <a:rPr lang="en-US" sz="200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b="1" i="0"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𝛚</m:t>
                                    </m:r>
                                  </m:e>
                                  <m:sub>
                                    <m:r>
                                      <m:rPr>
                                        <m:sty m:val="p"/>
                                      </m:rPr>
                                      <a:rPr lang="en-US" sz="2000" b="0" i="0"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A</m:t>
                                    </m:r>
                                    <m:r>
                                      <a:rPr lang="en-US" sz="2000" b="0" i="0"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2000" b="0" i="0"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TS</m:t>
                                    </m:r>
                                  </m:sub>
                                </m:sSub>
                              </m:e>
                              <m:e>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0</m:t>
                                </m:r>
                              </m:e>
                              <m:e>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0</m:t>
                                </m:r>
                              </m:e>
                              <m:e>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−2</m:t>
                                </m:r>
                                <m:d>
                                  <m:dPr>
                                    <m:ctrlPr>
                                      <a:rPr lang="en-US" sz="200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dPr>
                                  <m:e>
                                    <m:r>
                                      <a:rPr lang="en-US" sz="2000" b="0" i="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b="1" i="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𝛇</m:t>
                                        </m:r>
                                      </m:e>
                                      <m:sub>
                                        <m:r>
                                          <m:rPr>
                                            <m:sty m:val="p"/>
                                          </m:rPr>
                                          <a:rPr lang="en-US" sz="2000" b="0" i="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TS</m:t>
                                        </m:r>
                                      </m:sub>
                                    </m:sSub>
                                    <m:sSub>
                                      <m:sSubPr>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b="1" i="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𝛚</m:t>
                                        </m:r>
                                      </m:e>
                                      <m:sub>
                                        <m:r>
                                          <m:rPr>
                                            <m:sty m:val="p"/>
                                          </m:rPr>
                                          <a:rPr lang="en-US" sz="2000" b="0" i="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TS</m:t>
                                        </m:r>
                                      </m:sub>
                                    </m:sSub>
                                  </m:e>
                                </m:d>
                              </m:e>
                              <m:e>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0</m:t>
                                </m:r>
                              </m:e>
                              <m:e>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0</m:t>
                                </m:r>
                              </m:e>
                              <m:e>
                                <m:r>
                                  <a:rPr lang="en-US" sz="2000" b="0" i="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b="1" i="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𝛇</m:t>
                                    </m:r>
                                  </m:e>
                                  <m:sub>
                                    <m:r>
                                      <m:rPr>
                                        <m:sty m:val="p"/>
                                      </m:rPr>
                                      <a:rPr lang="en-US" sz="2000" b="0" i="0"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B</m:t>
                                    </m:r>
                                    <m:r>
                                      <a:rPr lang="en-US" sz="2000" b="0" i="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2000" b="0" i="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TS</m:t>
                                    </m:r>
                                  </m:sub>
                                </m:sSub>
                                <m:sSub>
                                  <m:sSubPr>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b="1" i="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𝛚</m:t>
                                    </m:r>
                                  </m:e>
                                  <m:sub>
                                    <m:r>
                                      <m:rPr>
                                        <m:sty m:val="p"/>
                                      </m:rPr>
                                      <a:rPr lang="en-US" sz="2000" b="0" i="0"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B</m:t>
                                    </m:r>
                                    <m:r>
                                      <a:rPr lang="en-US" sz="2000" b="0" i="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2000" b="0" i="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TS</m:t>
                                    </m:r>
                                  </m:sub>
                                </m:sSub>
                              </m:e>
                            </m:mr>
                          </m:m>
                        </m:e>
                      </m:d>
                      <m:d>
                        <m:dPr>
                          <m:begChr m:val="{"/>
                          <m:endChr m:val="}"/>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2000" i="1" smtClean="0">
                                            <a:solidFill>
                                              <a:schemeClr val="tx1"/>
                                            </a:solidFill>
                                            <a:latin typeface="Cambria Math" panose="02040503050406030204" pitchFamily="18" charset="0"/>
                                            <a:cs typeface="Times New Roman" panose="02020603050405020304" pitchFamily="18" charset="0"/>
                                          </a:rPr>
                                        </m:ctrlPr>
                                      </m:accPr>
                                      <m:e>
                                        <m:r>
                                          <a:rPr lang="en-US" sz="2000" b="1" i="0">
                                            <a:solidFill>
                                              <a:schemeClr val="tx1"/>
                                            </a:solidFill>
                                            <a:latin typeface="Cambria Math" panose="02040503050406030204" pitchFamily="18" charset="0"/>
                                            <a:ea typeface="Calibri" panose="020F0502020204030204" pitchFamily="34" charset="0"/>
                                            <a:cs typeface="Times New Roman" panose="02020603050405020304" pitchFamily="18" charset="0"/>
                                          </a:rPr>
                                          <m:t>𝐪</m:t>
                                        </m:r>
                                      </m:e>
                                    </m:acc>
                                  </m:e>
                                  <m:sub>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A</m:t>
                                    </m:r>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TS</m:t>
                                    </m:r>
                                  </m:sub>
                                </m:sSub>
                              </m:e>
                            </m:mr>
                            <m:mr>
                              <m:e>
                                <m:sSub>
                                  <m:sSubPr>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2000" i="1" smtClean="0">
                                            <a:solidFill>
                                              <a:schemeClr val="tx1"/>
                                            </a:solidFill>
                                            <a:latin typeface="Cambria Math" panose="02040503050406030204" pitchFamily="18" charset="0"/>
                                            <a:cs typeface="Times New Roman" panose="02020603050405020304" pitchFamily="18" charset="0"/>
                                          </a:rPr>
                                        </m:ctrlPr>
                                      </m:accPr>
                                      <m:e>
                                        <m:r>
                                          <a:rPr lang="en-US" sz="2000" b="1" i="0">
                                            <a:solidFill>
                                              <a:schemeClr val="tx1"/>
                                            </a:solidFill>
                                            <a:latin typeface="Cambria Math" panose="02040503050406030204" pitchFamily="18" charset="0"/>
                                            <a:ea typeface="Calibri" panose="020F0502020204030204" pitchFamily="34" charset="0"/>
                                            <a:cs typeface="Times New Roman" panose="02020603050405020304" pitchFamily="18" charset="0"/>
                                          </a:rPr>
                                          <m:t>𝐪</m:t>
                                        </m:r>
                                      </m:e>
                                    </m:acc>
                                  </m:e>
                                  <m:sub>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TS</m:t>
                                    </m:r>
                                  </m:sub>
                                </m:sSub>
                              </m:e>
                            </m:mr>
                            <m:mr>
                              <m:e>
                                <m:sSub>
                                  <m:sSubPr>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2000" i="1" smtClean="0">
                                            <a:solidFill>
                                              <a:schemeClr val="tx1"/>
                                            </a:solidFill>
                                            <a:latin typeface="Cambria Math" panose="02040503050406030204" pitchFamily="18" charset="0"/>
                                            <a:cs typeface="Times New Roman" panose="02020603050405020304" pitchFamily="18" charset="0"/>
                                          </a:rPr>
                                        </m:ctrlPr>
                                      </m:accPr>
                                      <m:e>
                                        <m:r>
                                          <a:rPr lang="en-US" sz="2000" b="1" i="0">
                                            <a:solidFill>
                                              <a:schemeClr val="tx1"/>
                                            </a:solidFill>
                                            <a:latin typeface="Cambria Math" panose="02040503050406030204" pitchFamily="18" charset="0"/>
                                            <a:ea typeface="Calibri" panose="020F0502020204030204" pitchFamily="34" charset="0"/>
                                            <a:cs typeface="Times New Roman" panose="02020603050405020304" pitchFamily="18" charset="0"/>
                                          </a:rPr>
                                          <m:t>𝐪</m:t>
                                        </m:r>
                                      </m:e>
                                    </m:acc>
                                  </m:e>
                                  <m:sub>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B</m:t>
                                    </m:r>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TS</m:t>
                                    </m:r>
                                  </m:sub>
                                </m:sSub>
                              </m:e>
                            </m:mr>
                          </m:m>
                        </m:e>
                      </m:d>
                    </m:oMath>
                  </m:oMathPara>
                </a14:m>
                <a:endParaRPr lang="en-US" sz="2000" b="0" i="1" dirty="0">
                  <a:solidFill>
                    <a:schemeClr val="tx1"/>
                  </a:solidFill>
                  <a:latin typeface="Cambria Math" panose="02040503050406030204" pitchFamily="18" charset="0"/>
                  <a:ea typeface="Calibri" panose="020F0502020204030204" pitchFamily="34" charset="0"/>
                  <a:cs typeface="Times New Roman" panose="02020603050405020304" pitchFamily="18" charset="0"/>
                </a:endParaRPr>
              </a:p>
              <a:p>
                <a:endParaRPr lang="en-US" sz="800" b="0" i="1" dirty="0">
                  <a:solidFill>
                    <a:schemeClr val="tx1"/>
                  </a:solidFill>
                  <a:latin typeface="Cambria Math" panose="02040503050406030204"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mPr>
                            <m:mr>
                              <m:e>
                                <m:sSubSup>
                                  <m:sSubSupPr>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2000" b="1" i="0">
                                        <a:solidFill>
                                          <a:schemeClr val="tx1"/>
                                        </a:solidFill>
                                        <a:latin typeface="Cambria Math" panose="02040503050406030204" pitchFamily="18" charset="0"/>
                                        <a:ea typeface="Calibri" panose="020F0502020204030204" pitchFamily="34" charset="0"/>
                                        <a:cs typeface="Times New Roman" panose="02020603050405020304" pitchFamily="18" charset="0"/>
                                      </a:rPr>
                                      <m:t>𝛚</m:t>
                                    </m:r>
                                  </m:e>
                                  <m:sub>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A</m:t>
                                    </m:r>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TS</m:t>
                                    </m:r>
                                  </m:sub>
                                  <m:sup>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2</m:t>
                                    </m:r>
                                  </m:sup>
                                </m:sSubSup>
                              </m:e>
                              <m:e>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0</m:t>
                                </m:r>
                              </m:e>
                              <m:e>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0</m:t>
                                </m:r>
                              </m:e>
                              <m:e>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−2</m:t>
                                </m:r>
                                <m:sSubSup>
                                  <m:sSubSupPr>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2000" b="1" i="0">
                                        <a:solidFill>
                                          <a:schemeClr val="tx1"/>
                                        </a:solidFill>
                                        <a:latin typeface="Cambria Math" panose="02040503050406030204" pitchFamily="18" charset="0"/>
                                        <a:ea typeface="Calibri" panose="020F0502020204030204" pitchFamily="34" charset="0"/>
                                        <a:cs typeface="Times New Roman" panose="02020603050405020304" pitchFamily="18" charset="0"/>
                                      </a:rPr>
                                      <m:t>𝛚</m:t>
                                    </m:r>
                                  </m:e>
                                  <m:sub>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TS</m:t>
                                    </m:r>
                                  </m:sub>
                                  <m:sup>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2</m:t>
                                    </m:r>
                                  </m:sup>
                                </m:sSubSup>
                              </m:e>
                              <m:e>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0</m:t>
                                </m:r>
                              </m:e>
                              <m:e>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0</m:t>
                                </m:r>
                              </m:e>
                              <m:e>
                                <m:sSubSup>
                                  <m:sSubSupPr>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2000" b="1" i="0">
                                        <a:solidFill>
                                          <a:schemeClr val="tx1"/>
                                        </a:solidFill>
                                        <a:latin typeface="Cambria Math" panose="02040503050406030204" pitchFamily="18" charset="0"/>
                                        <a:ea typeface="Calibri" panose="020F0502020204030204" pitchFamily="34" charset="0"/>
                                        <a:cs typeface="Times New Roman" panose="02020603050405020304" pitchFamily="18" charset="0"/>
                                      </a:rPr>
                                      <m:t>𝛚</m:t>
                                    </m:r>
                                  </m:e>
                                  <m:sub>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B</m:t>
                                    </m:r>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TS</m:t>
                                    </m:r>
                                  </m:sub>
                                  <m:sup>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2</m:t>
                                    </m:r>
                                  </m:sup>
                                </m:sSubSup>
                              </m:e>
                            </m:mr>
                          </m:m>
                        </m:e>
                      </m:d>
                      <m:d>
                        <m:dPr>
                          <m:begChr m:val="{"/>
                          <m:endChr m:val="}"/>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b="1" i="0">
                                        <a:solidFill>
                                          <a:schemeClr val="tx1"/>
                                        </a:solidFill>
                                        <a:latin typeface="Cambria Math" panose="02040503050406030204" pitchFamily="18" charset="0"/>
                                        <a:ea typeface="Calibri" panose="020F0502020204030204" pitchFamily="34" charset="0"/>
                                        <a:cs typeface="Times New Roman" panose="02020603050405020304" pitchFamily="18" charset="0"/>
                                      </a:rPr>
                                      <m:t>𝐪</m:t>
                                    </m:r>
                                  </m:e>
                                  <m:sub>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A</m:t>
                                    </m:r>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TS</m:t>
                                    </m:r>
                                  </m:sub>
                                </m:sSub>
                              </m:e>
                            </m:mr>
                            <m:mr>
                              <m:e>
                                <m:sSub>
                                  <m:sSubPr>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b="1" i="0">
                                        <a:solidFill>
                                          <a:schemeClr val="tx1"/>
                                        </a:solidFill>
                                        <a:latin typeface="Cambria Math" panose="02040503050406030204" pitchFamily="18" charset="0"/>
                                        <a:ea typeface="Calibri" panose="020F0502020204030204" pitchFamily="34" charset="0"/>
                                        <a:cs typeface="Times New Roman" panose="02020603050405020304" pitchFamily="18" charset="0"/>
                                      </a:rPr>
                                      <m:t>𝐪</m:t>
                                    </m:r>
                                  </m:e>
                                  <m:sub>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TS</m:t>
                                    </m:r>
                                  </m:sub>
                                </m:sSub>
                              </m:e>
                            </m:mr>
                            <m:mr>
                              <m:e>
                                <m:sSub>
                                  <m:sSubPr>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b="1" i="0">
                                        <a:solidFill>
                                          <a:schemeClr val="tx1"/>
                                        </a:solidFill>
                                        <a:latin typeface="Cambria Math" panose="02040503050406030204" pitchFamily="18" charset="0"/>
                                        <a:ea typeface="Calibri" panose="020F0502020204030204" pitchFamily="34" charset="0"/>
                                        <a:cs typeface="Times New Roman" panose="02020603050405020304" pitchFamily="18" charset="0"/>
                                      </a:rPr>
                                      <m:t>𝐪</m:t>
                                    </m:r>
                                  </m:e>
                                  <m:sub>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B</m:t>
                                    </m:r>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TS</m:t>
                                    </m:r>
                                  </m:sub>
                                </m:sSub>
                              </m:e>
                            </m:mr>
                          </m:m>
                        </m:e>
                      </m:d>
                      <m: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mPr>
                            <m:mr>
                              <m:e>
                                <m:sSubSup>
                                  <m:sSubSupPr>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2000" b="1" i="0">
                                        <a:solidFill>
                                          <a:schemeClr val="tx1"/>
                                        </a:solidFill>
                                        <a:latin typeface="Cambria Math" panose="02040503050406030204" pitchFamily="18" charset="0"/>
                                        <a:ea typeface="Calibri" panose="020F0502020204030204" pitchFamily="34" charset="0"/>
                                        <a:cs typeface="Times New Roman" panose="02020603050405020304" pitchFamily="18" charset="0"/>
                                      </a:rPr>
                                      <m:t>𝛟</m:t>
                                    </m:r>
                                  </m:e>
                                  <m:sub>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A</m:t>
                                    </m:r>
                                    <m:r>
                                      <a:rPr lang="en-US" sz="2000" b="0" i="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2000" b="0" i="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TS</m:t>
                                    </m:r>
                                  </m:sub>
                                  <m:sup>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T</m:t>
                                    </m:r>
                                  </m:sup>
                                </m:sSubSup>
                                <m:sSub>
                                  <m:sSubPr>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b="1" i="0">
                                        <a:solidFill>
                                          <a:schemeClr val="tx1"/>
                                        </a:solidFill>
                                        <a:latin typeface="Cambria Math" panose="02040503050406030204" pitchFamily="18" charset="0"/>
                                        <a:ea typeface="Calibri" panose="020F0502020204030204" pitchFamily="34" charset="0"/>
                                        <a:cs typeface="Times New Roman" panose="02020603050405020304" pitchFamily="18" charset="0"/>
                                      </a:rPr>
                                      <m:t>𝐅</m:t>
                                    </m:r>
                                  </m:e>
                                  <m:sub>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A</m:t>
                                    </m:r>
                                    <m:r>
                                      <a:rPr lang="en-US" sz="2000" b="0" i="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2000" b="0" i="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TS</m:t>
                                    </m:r>
                                  </m:sub>
                                </m:sSub>
                              </m:e>
                            </m:mr>
                            <m:mr>
                              <m:e>
                                <m:sSubSup>
                                  <m:sSubSupPr>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2000" b="1" i="0">
                                        <a:solidFill>
                                          <a:schemeClr val="tx1"/>
                                        </a:solidFill>
                                        <a:latin typeface="Cambria Math" panose="02040503050406030204" pitchFamily="18" charset="0"/>
                                        <a:ea typeface="Calibri" panose="020F0502020204030204" pitchFamily="34" charset="0"/>
                                        <a:cs typeface="Times New Roman" panose="02020603050405020304" pitchFamily="18" charset="0"/>
                                      </a:rPr>
                                      <m:t>𝛟</m:t>
                                    </m:r>
                                  </m:e>
                                  <m:sub>
                                    <m:r>
                                      <m:rPr>
                                        <m:sty m:val="p"/>
                                      </m:rPr>
                                      <a:rPr lang="en-US" sz="2000" b="0" i="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TS</m:t>
                                    </m:r>
                                  </m:sub>
                                  <m:sup>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T</m:t>
                                    </m:r>
                                  </m:sup>
                                </m:sSubSup>
                                <m:sSub>
                                  <m:sSubPr>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b="1" i="0">
                                        <a:solidFill>
                                          <a:schemeClr val="tx1"/>
                                        </a:solidFill>
                                        <a:latin typeface="Cambria Math" panose="02040503050406030204" pitchFamily="18" charset="0"/>
                                        <a:ea typeface="Calibri" panose="020F0502020204030204" pitchFamily="34" charset="0"/>
                                        <a:cs typeface="Times New Roman" panose="02020603050405020304" pitchFamily="18" charset="0"/>
                                      </a:rPr>
                                      <m:t>𝐅</m:t>
                                    </m:r>
                                  </m:e>
                                  <m:sub>
                                    <m:r>
                                      <m:rPr>
                                        <m:sty m:val="p"/>
                                      </m:rPr>
                                      <a:rPr lang="en-US" sz="2000" b="0" i="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TS</m:t>
                                    </m:r>
                                  </m:sub>
                                </m:sSub>
                              </m:e>
                            </m:mr>
                            <m:mr>
                              <m:e>
                                <m:sSubSup>
                                  <m:sSubSupPr>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2000" b="1" i="0">
                                        <a:solidFill>
                                          <a:schemeClr val="tx1"/>
                                        </a:solidFill>
                                        <a:latin typeface="Cambria Math" panose="02040503050406030204" pitchFamily="18" charset="0"/>
                                        <a:ea typeface="Calibri" panose="020F0502020204030204" pitchFamily="34" charset="0"/>
                                        <a:cs typeface="Times New Roman" panose="02020603050405020304" pitchFamily="18" charset="0"/>
                                      </a:rPr>
                                      <m:t>𝛟</m:t>
                                    </m:r>
                                  </m:e>
                                  <m:sub>
                                    <m:r>
                                      <m:rPr>
                                        <m:sty m:val="p"/>
                                      </m:rPr>
                                      <a:rPr lang="en-US" sz="2000" b="0" i="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B</m:t>
                                    </m:r>
                                    <m:r>
                                      <a:rPr lang="en-US" sz="2000" b="0" i="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TS</m:t>
                                    </m:r>
                                  </m:sub>
                                  <m:sup>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T</m:t>
                                    </m:r>
                                  </m:sup>
                                </m:sSubSup>
                                <m:sSub>
                                  <m:sSubPr>
                                    <m:ctrlP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b="1" i="0">
                                        <a:solidFill>
                                          <a:schemeClr val="tx1"/>
                                        </a:solidFill>
                                        <a:latin typeface="Cambria Math" panose="02040503050406030204" pitchFamily="18" charset="0"/>
                                        <a:ea typeface="Calibri" panose="020F0502020204030204" pitchFamily="34" charset="0"/>
                                        <a:cs typeface="Times New Roman" panose="02020603050405020304" pitchFamily="18" charset="0"/>
                                      </a:rPr>
                                      <m:t>𝐅</m:t>
                                    </m:r>
                                  </m:e>
                                  <m:sub>
                                    <m:r>
                                      <m:rPr>
                                        <m:sty m:val="p"/>
                                      </m:rPr>
                                      <a:rPr lang="en-US" sz="2000" b="0" i="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B</m:t>
                                    </m:r>
                                    <m:r>
                                      <a:rPr lang="en-US" sz="2000" b="0" i="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2000" b="0" i="0">
                                        <a:solidFill>
                                          <a:schemeClr val="tx1"/>
                                        </a:solidFill>
                                        <a:latin typeface="Cambria Math" panose="02040503050406030204" pitchFamily="18" charset="0"/>
                                        <a:ea typeface="Calibri" panose="020F0502020204030204" pitchFamily="34" charset="0"/>
                                        <a:cs typeface="Times New Roman" panose="02020603050405020304" pitchFamily="18" charset="0"/>
                                      </a:rPr>
                                      <m:t>TS</m:t>
                                    </m:r>
                                  </m:sub>
                                </m:sSub>
                              </m:e>
                            </m:mr>
                          </m:m>
                        </m:e>
                      </m:d>
                    </m:oMath>
                  </m:oMathPara>
                </a14:m>
                <a:endParaRPr lang="en-US" sz="2000" dirty="0"/>
              </a:p>
            </p:txBody>
          </p:sp>
        </mc:Choice>
        <mc:Fallback xmlns="">
          <p:sp>
            <p:nvSpPr>
              <p:cNvPr id="9" name="TextBox 8">
                <a:extLst>
                  <a:ext uri="{FF2B5EF4-FFF2-40B4-BE49-F238E27FC236}">
                    <a16:creationId xmlns:a16="http://schemas.microsoft.com/office/drawing/2014/main" id="{BEC7491C-A7C5-7EEE-98E1-E7C7B0261514}"/>
                  </a:ext>
                </a:extLst>
              </p:cNvPr>
              <p:cNvSpPr txBox="1">
                <a:spLocks noRot="1" noChangeAspect="1" noMove="1" noResize="1" noEditPoints="1" noAdjustHandles="1" noChangeArrowheads="1" noChangeShapeType="1" noTextEdit="1"/>
              </p:cNvSpPr>
              <p:nvPr/>
            </p:nvSpPr>
            <p:spPr>
              <a:xfrm>
                <a:off x="1225550" y="4438814"/>
                <a:ext cx="9740900" cy="2337691"/>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500395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33D1C-7AFF-1668-7DC5-377A4F617625}"/>
              </a:ext>
            </a:extLst>
          </p:cNvPr>
          <p:cNvSpPr>
            <a:spLocks noGrp="1"/>
          </p:cNvSpPr>
          <p:nvPr>
            <p:ph type="title"/>
          </p:nvPr>
        </p:nvSpPr>
        <p:spPr>
          <a:xfrm>
            <a:off x="0" y="136525"/>
            <a:ext cx="12192000" cy="662781"/>
          </a:xfrm>
        </p:spPr>
        <p:txBody>
          <a:bodyPr>
            <a:normAutofit fontScale="90000"/>
          </a:bodyPr>
          <a:lstStyle/>
          <a:p>
            <a:pPr algn="ctr"/>
            <a:r>
              <a:rPr lang="en-US" dirty="0"/>
              <a:t>Create an Interface Better Suited for Assembly</a:t>
            </a:r>
          </a:p>
        </p:txBody>
      </p:sp>
      <p:sp>
        <p:nvSpPr>
          <p:cNvPr id="3" name="Content Placeholder 2">
            <a:extLst>
              <a:ext uri="{FF2B5EF4-FFF2-40B4-BE49-F238E27FC236}">
                <a16:creationId xmlns:a16="http://schemas.microsoft.com/office/drawing/2014/main" id="{69A450A8-2C12-850D-17F4-653FADF8EC2B}"/>
              </a:ext>
            </a:extLst>
          </p:cNvPr>
          <p:cNvSpPr>
            <a:spLocks noGrp="1"/>
          </p:cNvSpPr>
          <p:nvPr>
            <p:ph idx="1"/>
          </p:nvPr>
        </p:nvSpPr>
        <p:spPr>
          <a:xfrm>
            <a:off x="105030" y="2642235"/>
            <a:ext cx="11990405" cy="2882301"/>
          </a:xfrm>
        </p:spPr>
        <p:txBody>
          <a:bodyPr>
            <a:normAutofit fontScale="92500"/>
          </a:bodyPr>
          <a:lstStyle/>
          <a:p>
            <a:r>
              <a:rPr lang="en-US" dirty="0"/>
              <a:t>Constrain both altered beams to the standalone TS model via </a:t>
            </a:r>
            <a:r>
              <a:rPr lang="en-US" b="1" dirty="0"/>
              <a:t>translation</a:t>
            </a:r>
            <a:r>
              <a:rPr lang="en-US" dirty="0"/>
              <a:t> DOFs </a:t>
            </a:r>
          </a:p>
          <a:p>
            <a:pPr marL="0" indent="0">
              <a:buNone/>
            </a:pPr>
            <a:endParaRPr lang="en-US" sz="2200" dirty="0"/>
          </a:p>
          <a:p>
            <a:pPr marL="0" indent="0">
              <a:buNone/>
            </a:pPr>
            <a:endParaRPr lang="en-US" sz="2200" dirty="0"/>
          </a:p>
          <a:p>
            <a:r>
              <a:rPr lang="en-US" dirty="0"/>
              <a:t>Key Step: </a:t>
            </a:r>
            <a:r>
              <a:rPr lang="en-US" b="1" dirty="0"/>
              <a:t>Soften</a:t>
            </a:r>
            <a:r>
              <a:rPr lang="en-US" dirty="0"/>
              <a:t> the constraints by projecting them onto the TS modal basis </a:t>
            </a:r>
          </a:p>
          <a:p>
            <a:pPr lvl="1"/>
            <a:r>
              <a:rPr lang="en-US" dirty="0"/>
              <a:t>Pre-multiply by the pseudo-inverse of the TS modes* to cast the constraints to the TS modal DOF</a:t>
            </a:r>
          </a:p>
          <a:p>
            <a:pPr lvl="1"/>
            <a:r>
              <a:rPr lang="en-US" dirty="0"/>
              <a:t>The dynamics of each subsystem at the interface are reduced to what is spanned by the TS modes</a:t>
            </a:r>
          </a:p>
          <a:p>
            <a:pPr lvl="1"/>
            <a:r>
              <a:rPr lang="en-US" dirty="0"/>
              <a:t>Avoid explicitly needing rotational DOF by enforcing the constraints on modal DOF instead</a:t>
            </a:r>
          </a:p>
        </p:txBody>
      </p:sp>
      <p:sp>
        <p:nvSpPr>
          <p:cNvPr id="4" name="Rectangle 3">
            <a:extLst>
              <a:ext uri="{FF2B5EF4-FFF2-40B4-BE49-F238E27FC236}">
                <a16:creationId xmlns:a16="http://schemas.microsoft.com/office/drawing/2014/main" id="{1D978FC4-94C9-5379-9CCD-367A368ADABF}"/>
              </a:ext>
            </a:extLst>
          </p:cNvPr>
          <p:cNvSpPr/>
          <p:nvPr/>
        </p:nvSpPr>
        <p:spPr>
          <a:xfrm>
            <a:off x="70631" y="1493727"/>
            <a:ext cx="2743200" cy="457200"/>
          </a:xfrm>
          <a:prstGeom prst="rect">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5" name="Rectangle 4">
            <a:extLst>
              <a:ext uri="{FF2B5EF4-FFF2-40B4-BE49-F238E27FC236}">
                <a16:creationId xmlns:a16="http://schemas.microsoft.com/office/drawing/2014/main" id="{1060C548-BA8E-A9F7-648C-69F37DBC28FE}"/>
              </a:ext>
            </a:extLst>
          </p:cNvPr>
          <p:cNvSpPr/>
          <p:nvPr/>
        </p:nvSpPr>
        <p:spPr>
          <a:xfrm>
            <a:off x="5384879" y="1489226"/>
            <a:ext cx="1828800" cy="457200"/>
          </a:xfrm>
          <a:prstGeom prst="rect">
            <a:avLst/>
          </a:prstGeom>
          <a:solidFill>
            <a:schemeClr val="accent2">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6" name="Rectangle 5">
            <a:extLst>
              <a:ext uri="{FF2B5EF4-FFF2-40B4-BE49-F238E27FC236}">
                <a16:creationId xmlns:a16="http://schemas.microsoft.com/office/drawing/2014/main" id="{89AAF78F-C392-1077-1E79-C36429B3FD93}"/>
              </a:ext>
            </a:extLst>
          </p:cNvPr>
          <p:cNvSpPr/>
          <p:nvPr/>
        </p:nvSpPr>
        <p:spPr>
          <a:xfrm>
            <a:off x="7523435" y="1471503"/>
            <a:ext cx="4572000" cy="457200"/>
          </a:xfrm>
          <a:prstGeom prst="rect">
            <a:avLst/>
          </a:prstGeom>
          <a:solidFill>
            <a:srgbClr val="00B05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 name="TextBox 6">
            <a:extLst>
              <a:ext uri="{FF2B5EF4-FFF2-40B4-BE49-F238E27FC236}">
                <a16:creationId xmlns:a16="http://schemas.microsoft.com/office/drawing/2014/main" id="{3F9E6829-B52E-A41F-FD36-239301D63747}"/>
              </a:ext>
            </a:extLst>
          </p:cNvPr>
          <p:cNvSpPr txBox="1"/>
          <p:nvPr/>
        </p:nvSpPr>
        <p:spPr>
          <a:xfrm>
            <a:off x="4208434" y="1516379"/>
            <a:ext cx="320922" cy="400110"/>
          </a:xfrm>
          <a:prstGeom prst="rect">
            <a:avLst/>
          </a:prstGeom>
          <a:noFill/>
        </p:spPr>
        <p:txBody>
          <a:bodyPr wrap="none" rtlCol="0">
            <a:spAutoFit/>
          </a:bodyPr>
          <a:lstStyle/>
          <a:p>
            <a:r>
              <a:rPr lang="en-US" sz="2000" b="1" dirty="0"/>
              <a:t>+</a:t>
            </a:r>
          </a:p>
        </p:txBody>
      </p:sp>
      <p:sp>
        <p:nvSpPr>
          <p:cNvPr id="21" name="TextBox 20">
            <a:extLst>
              <a:ext uri="{FF2B5EF4-FFF2-40B4-BE49-F238E27FC236}">
                <a16:creationId xmlns:a16="http://schemas.microsoft.com/office/drawing/2014/main" id="{2CBC441C-03B1-5709-F036-9D0205614A26}"/>
              </a:ext>
            </a:extLst>
          </p:cNvPr>
          <p:cNvSpPr txBox="1"/>
          <p:nvPr/>
        </p:nvSpPr>
        <p:spPr>
          <a:xfrm>
            <a:off x="7221228" y="1503763"/>
            <a:ext cx="320922" cy="400110"/>
          </a:xfrm>
          <a:prstGeom prst="rect">
            <a:avLst/>
          </a:prstGeom>
          <a:noFill/>
        </p:spPr>
        <p:txBody>
          <a:bodyPr wrap="none" rtlCol="0">
            <a:spAutoFit/>
          </a:bodyPr>
          <a:lstStyle/>
          <a:p>
            <a:r>
              <a:rPr lang="en-US" sz="2000" b="1" dirty="0"/>
              <a:t>=</a:t>
            </a:r>
          </a:p>
        </p:txBody>
      </p:sp>
      <p:cxnSp>
        <p:nvCxnSpPr>
          <p:cNvPr id="23" name="Straight Connector 22">
            <a:extLst>
              <a:ext uri="{FF2B5EF4-FFF2-40B4-BE49-F238E27FC236}">
                <a16:creationId xmlns:a16="http://schemas.microsoft.com/office/drawing/2014/main" id="{F8029F0F-1E8A-7208-5DC5-053B63CE53DD}"/>
              </a:ext>
            </a:extLst>
          </p:cNvPr>
          <p:cNvCxnSpPr/>
          <p:nvPr/>
        </p:nvCxnSpPr>
        <p:spPr>
          <a:xfrm>
            <a:off x="10266635" y="1471503"/>
            <a:ext cx="0" cy="4572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29C19BD9-7A87-0904-6CFA-D57AD134B171}"/>
              </a:ext>
            </a:extLst>
          </p:cNvPr>
          <p:cNvSpPr/>
          <p:nvPr/>
        </p:nvSpPr>
        <p:spPr>
          <a:xfrm>
            <a:off x="10221680" y="1660838"/>
            <a:ext cx="85725" cy="7853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113E4D7-C85A-1AD4-310B-59B653291D9C}"/>
              </a:ext>
            </a:extLst>
          </p:cNvPr>
          <p:cNvSpPr/>
          <p:nvPr/>
        </p:nvSpPr>
        <p:spPr>
          <a:xfrm>
            <a:off x="2028216" y="1406970"/>
            <a:ext cx="794081" cy="628733"/>
          </a:xfrm>
          <a:prstGeom prst="rect">
            <a:avLst/>
          </a:prstGeom>
          <a:solidFill>
            <a:srgbClr val="FF0000">
              <a:alpha val="6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BB979170-0211-A130-EE8B-D465FEE235C3}"/>
              </a:ext>
            </a:extLst>
          </p:cNvPr>
          <p:cNvSpPr txBox="1"/>
          <p:nvPr/>
        </p:nvSpPr>
        <p:spPr>
          <a:xfrm>
            <a:off x="2180813" y="1756653"/>
            <a:ext cx="460866" cy="369332"/>
          </a:xfrm>
          <a:prstGeom prst="rect">
            <a:avLst/>
          </a:prstGeom>
          <a:noFill/>
        </p:spPr>
        <p:txBody>
          <a:bodyPr wrap="square">
            <a:spAutoFit/>
          </a:bodyPr>
          <a:lstStyle/>
          <a:p>
            <a:pPr algn="ctr"/>
            <a:r>
              <a:rPr lang="en-US" dirty="0"/>
              <a:t>TS</a:t>
            </a:r>
          </a:p>
        </p:txBody>
      </p:sp>
      <p:cxnSp>
        <p:nvCxnSpPr>
          <p:cNvPr id="22" name="Straight Arrow Connector 21">
            <a:extLst>
              <a:ext uri="{FF2B5EF4-FFF2-40B4-BE49-F238E27FC236}">
                <a16:creationId xmlns:a16="http://schemas.microsoft.com/office/drawing/2014/main" id="{B117C646-60D8-C1E2-D86F-B6D9765FA6B2}"/>
              </a:ext>
            </a:extLst>
          </p:cNvPr>
          <p:cNvCxnSpPr>
            <a:cxnSpLocks/>
            <a:stCxn id="20" idx="0"/>
            <a:endCxn id="12" idx="0"/>
          </p:cNvCxnSpPr>
          <p:nvPr/>
        </p:nvCxnSpPr>
        <p:spPr>
          <a:xfrm flipV="1">
            <a:off x="2416791" y="1406970"/>
            <a:ext cx="8466" cy="27559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192838B1-4AC3-E23A-01D6-2C2041ACB5E2}"/>
              </a:ext>
            </a:extLst>
          </p:cNvPr>
          <p:cNvSpPr/>
          <p:nvPr/>
        </p:nvSpPr>
        <p:spPr>
          <a:xfrm>
            <a:off x="4587649" y="1405944"/>
            <a:ext cx="794081" cy="628732"/>
          </a:xfrm>
          <a:prstGeom prst="rect">
            <a:avLst/>
          </a:prstGeom>
          <a:solidFill>
            <a:srgbClr val="FF000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3" name="Straight Arrow Connector 42">
            <a:extLst>
              <a:ext uri="{FF2B5EF4-FFF2-40B4-BE49-F238E27FC236}">
                <a16:creationId xmlns:a16="http://schemas.microsoft.com/office/drawing/2014/main" id="{2A9AB68A-92F9-ED9C-647C-D101FC1524B3}"/>
              </a:ext>
            </a:extLst>
          </p:cNvPr>
          <p:cNvCxnSpPr>
            <a:cxnSpLocks/>
          </p:cNvCxnSpPr>
          <p:nvPr/>
        </p:nvCxnSpPr>
        <p:spPr>
          <a:xfrm flipH="1" flipV="1">
            <a:off x="10262201" y="1260567"/>
            <a:ext cx="2342" cy="400271"/>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4" name="Oval 43">
            <a:extLst>
              <a:ext uri="{FF2B5EF4-FFF2-40B4-BE49-F238E27FC236}">
                <a16:creationId xmlns:a16="http://schemas.microsoft.com/office/drawing/2014/main" id="{5E1CD000-A090-A35A-B658-A465E26E16CD}"/>
              </a:ext>
            </a:extLst>
          </p:cNvPr>
          <p:cNvSpPr/>
          <p:nvPr/>
        </p:nvSpPr>
        <p:spPr>
          <a:xfrm>
            <a:off x="9426037" y="1664283"/>
            <a:ext cx="85725" cy="7853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Arrow Connector 44">
            <a:extLst>
              <a:ext uri="{FF2B5EF4-FFF2-40B4-BE49-F238E27FC236}">
                <a16:creationId xmlns:a16="http://schemas.microsoft.com/office/drawing/2014/main" id="{6C60A455-3285-8D27-583F-2E2CFDF4E687}"/>
              </a:ext>
            </a:extLst>
          </p:cNvPr>
          <p:cNvCxnSpPr>
            <a:cxnSpLocks/>
            <a:stCxn id="44" idx="0"/>
          </p:cNvCxnSpPr>
          <p:nvPr/>
        </p:nvCxnSpPr>
        <p:spPr>
          <a:xfrm flipV="1">
            <a:off x="9468900" y="1260567"/>
            <a:ext cx="0" cy="403716"/>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6" name="Oval 45">
            <a:extLst>
              <a:ext uri="{FF2B5EF4-FFF2-40B4-BE49-F238E27FC236}">
                <a16:creationId xmlns:a16="http://schemas.microsoft.com/office/drawing/2014/main" id="{007341DA-FAAA-997A-066E-E89500B555DE}"/>
              </a:ext>
            </a:extLst>
          </p:cNvPr>
          <p:cNvSpPr/>
          <p:nvPr/>
        </p:nvSpPr>
        <p:spPr>
          <a:xfrm>
            <a:off x="9824639" y="1661998"/>
            <a:ext cx="85725" cy="7853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 name="Straight Arrow Connector 46">
            <a:extLst>
              <a:ext uri="{FF2B5EF4-FFF2-40B4-BE49-F238E27FC236}">
                <a16:creationId xmlns:a16="http://schemas.microsoft.com/office/drawing/2014/main" id="{03898AE0-674A-2F26-CE7E-A53F2D7C9545}"/>
              </a:ext>
            </a:extLst>
          </p:cNvPr>
          <p:cNvCxnSpPr>
            <a:cxnSpLocks/>
            <a:stCxn id="46" idx="0"/>
          </p:cNvCxnSpPr>
          <p:nvPr/>
        </p:nvCxnSpPr>
        <p:spPr>
          <a:xfrm flipV="1">
            <a:off x="9867502" y="1264954"/>
            <a:ext cx="0" cy="397044"/>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F39A6954-7AEB-8D51-3DD5-264414BFCE23}"/>
              </a:ext>
            </a:extLst>
          </p:cNvPr>
          <p:cNvSpPr txBox="1"/>
          <p:nvPr/>
        </p:nvSpPr>
        <p:spPr>
          <a:xfrm>
            <a:off x="4752214" y="1730592"/>
            <a:ext cx="460866" cy="369332"/>
          </a:xfrm>
          <a:prstGeom prst="rect">
            <a:avLst/>
          </a:prstGeom>
          <a:noFill/>
        </p:spPr>
        <p:txBody>
          <a:bodyPr wrap="square">
            <a:spAutoFit/>
          </a:bodyPr>
          <a:lstStyle/>
          <a:p>
            <a:pPr algn="ctr"/>
            <a:r>
              <a:rPr lang="en-US" dirty="0"/>
              <a:t>TS</a:t>
            </a: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E328005F-DCA5-0C5D-B707-053743693B27}"/>
                  </a:ext>
                </a:extLst>
              </p:cNvPr>
              <p:cNvSpPr txBox="1"/>
              <p:nvPr/>
            </p:nvSpPr>
            <p:spPr>
              <a:xfrm>
                <a:off x="2836795" y="1527679"/>
                <a:ext cx="510076" cy="338554"/>
              </a:xfrm>
              <a:prstGeom prst="rect">
                <a:avLst/>
              </a:prstGeom>
              <a:noFill/>
            </p:spPr>
            <p:txBody>
              <a:bodyPr wrap="none" rtlCol="0">
                <a:spAutoFit/>
              </a:bodyPr>
              <a:lstStyle/>
              <a:p>
                <a:r>
                  <a:rPr lang="en-US" sz="1600" b="1" dirty="0">
                    <a:ea typeface="Cambria Math" panose="02040503050406030204" pitchFamily="18" charset="0"/>
                  </a:rPr>
                  <a:t>-2</a:t>
                </a:r>
                <a14:m>
                  <m:oMath xmlns:m="http://schemas.openxmlformats.org/officeDocument/2006/math">
                    <m:r>
                      <a:rPr lang="en-US" sz="1600" b="1" i="0" smtClean="0">
                        <a:latin typeface="Cambria Math" panose="02040503050406030204" pitchFamily="18" charset="0"/>
                        <a:ea typeface="Cambria Math" panose="02040503050406030204" pitchFamily="18" charset="0"/>
                      </a:rPr>
                      <m:t>×</m:t>
                    </m:r>
                  </m:oMath>
                </a14:m>
                <a:endParaRPr lang="en-US" sz="1600" b="1" dirty="0"/>
              </a:p>
            </p:txBody>
          </p:sp>
        </mc:Choice>
        <mc:Fallback xmlns="">
          <p:sp>
            <p:nvSpPr>
              <p:cNvPr id="57" name="TextBox 56">
                <a:extLst>
                  <a:ext uri="{FF2B5EF4-FFF2-40B4-BE49-F238E27FC236}">
                    <a16:creationId xmlns:a16="http://schemas.microsoft.com/office/drawing/2014/main" id="{E328005F-DCA5-0C5D-B707-053743693B27}"/>
                  </a:ext>
                </a:extLst>
              </p:cNvPr>
              <p:cNvSpPr txBox="1">
                <a:spLocks noRot="1" noChangeAspect="1" noMove="1" noResize="1" noEditPoints="1" noAdjustHandles="1" noChangeArrowheads="1" noChangeShapeType="1" noTextEdit="1"/>
              </p:cNvSpPr>
              <p:nvPr/>
            </p:nvSpPr>
            <p:spPr>
              <a:xfrm>
                <a:off x="2836795" y="1527679"/>
                <a:ext cx="510076" cy="338554"/>
              </a:xfrm>
              <a:prstGeom prst="rect">
                <a:avLst/>
              </a:prstGeom>
              <a:blipFill>
                <a:blip r:embed="rId3"/>
                <a:stretch>
                  <a:fillRect l="-5952" t="-5455" b="-23636"/>
                </a:stretch>
              </a:blipFill>
            </p:spPr>
            <p:txBody>
              <a:bodyPr/>
              <a:lstStyle/>
              <a:p>
                <a:r>
                  <a:rPr lang="en-US">
                    <a:noFill/>
                  </a:rPr>
                  <a:t> </a:t>
                </a:r>
              </a:p>
            </p:txBody>
          </p:sp>
        </mc:Fallback>
      </mc:AlternateContent>
      <p:sp>
        <p:nvSpPr>
          <p:cNvPr id="58" name="Rectangle 57">
            <a:extLst>
              <a:ext uri="{FF2B5EF4-FFF2-40B4-BE49-F238E27FC236}">
                <a16:creationId xmlns:a16="http://schemas.microsoft.com/office/drawing/2014/main" id="{D68D4E25-5401-5B50-B7DA-21E84CED8501}"/>
              </a:ext>
            </a:extLst>
          </p:cNvPr>
          <p:cNvSpPr/>
          <p:nvPr/>
        </p:nvSpPr>
        <p:spPr>
          <a:xfrm>
            <a:off x="3346319" y="1405944"/>
            <a:ext cx="794081" cy="628732"/>
          </a:xfrm>
          <a:prstGeom prst="rect">
            <a:avLst/>
          </a:prstGeom>
          <a:solidFill>
            <a:srgbClr val="FF000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Oval 58">
            <a:extLst>
              <a:ext uri="{FF2B5EF4-FFF2-40B4-BE49-F238E27FC236}">
                <a16:creationId xmlns:a16="http://schemas.microsoft.com/office/drawing/2014/main" id="{0BB7537E-B25D-3E33-0A15-28539F0485FF}"/>
              </a:ext>
            </a:extLst>
          </p:cNvPr>
          <p:cNvSpPr/>
          <p:nvPr/>
        </p:nvSpPr>
        <p:spPr>
          <a:xfrm>
            <a:off x="4098870" y="1672798"/>
            <a:ext cx="85725" cy="7853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71ACE21C-CEA2-E3AA-7B9D-61DB3D6D0C63}"/>
              </a:ext>
            </a:extLst>
          </p:cNvPr>
          <p:cNvSpPr/>
          <p:nvPr/>
        </p:nvSpPr>
        <p:spPr>
          <a:xfrm>
            <a:off x="3303227" y="1676243"/>
            <a:ext cx="85725" cy="7853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83FD9DE6-238F-2E94-4A98-3E4D750C3159}"/>
              </a:ext>
            </a:extLst>
          </p:cNvPr>
          <p:cNvSpPr/>
          <p:nvPr/>
        </p:nvSpPr>
        <p:spPr>
          <a:xfrm>
            <a:off x="3697927" y="1672798"/>
            <a:ext cx="85725" cy="7853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C615C2C0-9ADD-C7E4-44A8-5F5C5D8A6B6F}"/>
              </a:ext>
            </a:extLst>
          </p:cNvPr>
          <p:cNvSpPr txBox="1"/>
          <p:nvPr/>
        </p:nvSpPr>
        <p:spPr>
          <a:xfrm>
            <a:off x="3486901" y="1718381"/>
            <a:ext cx="460866" cy="369332"/>
          </a:xfrm>
          <a:prstGeom prst="rect">
            <a:avLst/>
          </a:prstGeom>
          <a:noFill/>
        </p:spPr>
        <p:txBody>
          <a:bodyPr wrap="square">
            <a:spAutoFit/>
          </a:bodyPr>
          <a:lstStyle/>
          <a:p>
            <a:pPr algn="ctr"/>
            <a:r>
              <a:rPr lang="en-US" dirty="0"/>
              <a:t>TS</a:t>
            </a:r>
          </a:p>
        </p:txBody>
      </p:sp>
      <p:sp>
        <p:nvSpPr>
          <p:cNvPr id="33" name="Arc 32">
            <a:extLst>
              <a:ext uri="{FF2B5EF4-FFF2-40B4-BE49-F238E27FC236}">
                <a16:creationId xmlns:a16="http://schemas.microsoft.com/office/drawing/2014/main" id="{89BE710C-CF06-F7FA-5513-C5C6A4A1F9D6}"/>
              </a:ext>
            </a:extLst>
          </p:cNvPr>
          <p:cNvSpPr/>
          <p:nvPr/>
        </p:nvSpPr>
        <p:spPr>
          <a:xfrm rot="10800000">
            <a:off x="3377322" y="927746"/>
            <a:ext cx="1171145" cy="1582639"/>
          </a:xfrm>
          <a:prstGeom prst="arc">
            <a:avLst>
              <a:gd name="adj1" fmla="val 539426"/>
              <a:gd name="adj2" fmla="val 10358735"/>
            </a:avLst>
          </a:prstGeom>
          <a:noFill/>
          <a:ln w="38100">
            <a:solidFill>
              <a:schemeClr val="accent6">
                <a:lumMod val="75000"/>
              </a:schemeClr>
            </a:solidFill>
            <a:headEnd type="triangle"/>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5" name="Arc 34">
            <a:extLst>
              <a:ext uri="{FF2B5EF4-FFF2-40B4-BE49-F238E27FC236}">
                <a16:creationId xmlns:a16="http://schemas.microsoft.com/office/drawing/2014/main" id="{6A7C75ED-2A98-834B-3C83-53FA09E96D48}"/>
              </a:ext>
            </a:extLst>
          </p:cNvPr>
          <p:cNvSpPr/>
          <p:nvPr/>
        </p:nvSpPr>
        <p:spPr>
          <a:xfrm rot="10800000">
            <a:off x="3786964" y="1073447"/>
            <a:ext cx="1139307" cy="1348037"/>
          </a:xfrm>
          <a:prstGeom prst="arc">
            <a:avLst>
              <a:gd name="adj1" fmla="val 539426"/>
              <a:gd name="adj2" fmla="val 10358735"/>
            </a:avLst>
          </a:prstGeom>
          <a:noFill/>
          <a:ln w="38100">
            <a:solidFill>
              <a:schemeClr val="accent6">
                <a:lumMod val="60000"/>
                <a:lumOff val="40000"/>
              </a:schemeClr>
            </a:solidFill>
            <a:headEnd type="triangle"/>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0" name="Arc 39">
            <a:extLst>
              <a:ext uri="{FF2B5EF4-FFF2-40B4-BE49-F238E27FC236}">
                <a16:creationId xmlns:a16="http://schemas.microsoft.com/office/drawing/2014/main" id="{B9958335-8DB9-0679-3F54-B5640F3F73B1}"/>
              </a:ext>
            </a:extLst>
          </p:cNvPr>
          <p:cNvSpPr/>
          <p:nvPr/>
        </p:nvSpPr>
        <p:spPr>
          <a:xfrm rot="10800000">
            <a:off x="4176393" y="1213732"/>
            <a:ext cx="1156513" cy="1059030"/>
          </a:xfrm>
          <a:prstGeom prst="arc">
            <a:avLst>
              <a:gd name="adj1" fmla="val 539426"/>
              <a:gd name="adj2" fmla="val 10358735"/>
            </a:avLst>
          </a:prstGeom>
          <a:noFill/>
          <a:ln w="38100">
            <a:solidFill>
              <a:schemeClr val="accent3">
                <a:lumMod val="20000"/>
                <a:lumOff val="80000"/>
              </a:schemeClr>
            </a:solidFill>
            <a:headEnd type="triangle"/>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Arc 8">
            <a:extLst>
              <a:ext uri="{FF2B5EF4-FFF2-40B4-BE49-F238E27FC236}">
                <a16:creationId xmlns:a16="http://schemas.microsoft.com/office/drawing/2014/main" id="{F815B47B-F179-84D6-7289-C0EF19869BA7}"/>
              </a:ext>
            </a:extLst>
          </p:cNvPr>
          <p:cNvSpPr/>
          <p:nvPr/>
        </p:nvSpPr>
        <p:spPr>
          <a:xfrm>
            <a:off x="2050231" y="902882"/>
            <a:ext cx="1297080" cy="1582639"/>
          </a:xfrm>
          <a:prstGeom prst="arc">
            <a:avLst>
              <a:gd name="adj1" fmla="val 539426"/>
              <a:gd name="adj2" fmla="val 10358735"/>
            </a:avLst>
          </a:prstGeom>
          <a:noFill/>
          <a:ln w="38100">
            <a:solidFill>
              <a:schemeClr val="accent6">
                <a:lumMod val="75000"/>
              </a:schemeClr>
            </a:solidFill>
            <a:headEnd type="triangle"/>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Arc 9">
            <a:extLst>
              <a:ext uri="{FF2B5EF4-FFF2-40B4-BE49-F238E27FC236}">
                <a16:creationId xmlns:a16="http://schemas.microsoft.com/office/drawing/2014/main" id="{E59853E3-C7F9-5378-79CB-66A3142DCC92}"/>
              </a:ext>
            </a:extLst>
          </p:cNvPr>
          <p:cNvSpPr/>
          <p:nvPr/>
        </p:nvSpPr>
        <p:spPr>
          <a:xfrm>
            <a:off x="2454830" y="1048583"/>
            <a:ext cx="1287180" cy="1348037"/>
          </a:xfrm>
          <a:prstGeom prst="arc">
            <a:avLst>
              <a:gd name="adj1" fmla="val 539426"/>
              <a:gd name="adj2" fmla="val 10358735"/>
            </a:avLst>
          </a:prstGeom>
          <a:noFill/>
          <a:ln w="38100">
            <a:solidFill>
              <a:schemeClr val="accent6">
                <a:lumMod val="60000"/>
                <a:lumOff val="40000"/>
              </a:schemeClr>
            </a:solidFill>
            <a:headEnd type="triangle"/>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Arc 12">
            <a:extLst>
              <a:ext uri="{FF2B5EF4-FFF2-40B4-BE49-F238E27FC236}">
                <a16:creationId xmlns:a16="http://schemas.microsoft.com/office/drawing/2014/main" id="{97E00BD8-EF64-D370-CB0A-D979EEF1CF65}"/>
              </a:ext>
            </a:extLst>
          </p:cNvPr>
          <p:cNvSpPr/>
          <p:nvPr/>
        </p:nvSpPr>
        <p:spPr>
          <a:xfrm>
            <a:off x="2827311" y="1188866"/>
            <a:ext cx="1317852" cy="1059030"/>
          </a:xfrm>
          <a:prstGeom prst="arc">
            <a:avLst>
              <a:gd name="adj1" fmla="val 539426"/>
              <a:gd name="adj2" fmla="val 10358735"/>
            </a:avLst>
          </a:prstGeom>
          <a:noFill/>
          <a:ln w="38100">
            <a:solidFill>
              <a:schemeClr val="accent3">
                <a:lumMod val="20000"/>
                <a:lumOff val="80000"/>
              </a:schemeClr>
            </a:solidFill>
            <a:headEnd type="triangle"/>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6" name="Straight Arrow Connector 25">
            <a:extLst>
              <a:ext uri="{FF2B5EF4-FFF2-40B4-BE49-F238E27FC236}">
                <a16:creationId xmlns:a16="http://schemas.microsoft.com/office/drawing/2014/main" id="{C086F971-ADF7-38C0-7F10-F95C3430F468}"/>
              </a:ext>
            </a:extLst>
          </p:cNvPr>
          <p:cNvCxnSpPr>
            <a:cxnSpLocks/>
            <a:stCxn id="16" idx="0"/>
          </p:cNvCxnSpPr>
          <p:nvPr/>
        </p:nvCxnSpPr>
        <p:spPr>
          <a:xfrm flipV="1">
            <a:off x="2018189" y="1405944"/>
            <a:ext cx="1561" cy="278903"/>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C183682F-BC7A-00FC-A261-2E452977246B}"/>
              </a:ext>
            </a:extLst>
          </p:cNvPr>
          <p:cNvCxnSpPr>
            <a:cxnSpLocks/>
            <a:stCxn id="8" idx="0"/>
          </p:cNvCxnSpPr>
          <p:nvPr/>
        </p:nvCxnSpPr>
        <p:spPr>
          <a:xfrm flipH="1" flipV="1">
            <a:off x="2811490" y="1413188"/>
            <a:ext cx="2342" cy="268214"/>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 name="Oval 7">
            <a:extLst>
              <a:ext uri="{FF2B5EF4-FFF2-40B4-BE49-F238E27FC236}">
                <a16:creationId xmlns:a16="http://schemas.microsoft.com/office/drawing/2014/main" id="{10BEB55C-CB30-1ADF-1BA4-7F9882315264}"/>
              </a:ext>
            </a:extLst>
          </p:cNvPr>
          <p:cNvSpPr/>
          <p:nvPr/>
        </p:nvSpPr>
        <p:spPr>
          <a:xfrm>
            <a:off x="2770969" y="1681402"/>
            <a:ext cx="85725" cy="7853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F962892-D566-EA71-CBC3-0AF7DFAE444F}"/>
              </a:ext>
            </a:extLst>
          </p:cNvPr>
          <p:cNvSpPr/>
          <p:nvPr/>
        </p:nvSpPr>
        <p:spPr>
          <a:xfrm>
            <a:off x="1975326" y="1684847"/>
            <a:ext cx="85725" cy="7853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C6936F9E-30BF-8298-C5AF-83BD4185B4AF}"/>
              </a:ext>
            </a:extLst>
          </p:cNvPr>
          <p:cNvSpPr/>
          <p:nvPr/>
        </p:nvSpPr>
        <p:spPr>
          <a:xfrm>
            <a:off x="2373928" y="1682562"/>
            <a:ext cx="85725" cy="7853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Arrow Connector 51">
            <a:extLst>
              <a:ext uri="{FF2B5EF4-FFF2-40B4-BE49-F238E27FC236}">
                <a16:creationId xmlns:a16="http://schemas.microsoft.com/office/drawing/2014/main" id="{FBC8C483-CC4E-9CBF-063F-C6F5EE63C04B}"/>
              </a:ext>
            </a:extLst>
          </p:cNvPr>
          <p:cNvCxnSpPr>
            <a:cxnSpLocks/>
          </p:cNvCxnSpPr>
          <p:nvPr/>
        </p:nvCxnSpPr>
        <p:spPr>
          <a:xfrm flipV="1">
            <a:off x="3743571" y="1399373"/>
            <a:ext cx="0" cy="27559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9EE3383D-42A9-E819-479A-01DD471E26AA}"/>
              </a:ext>
            </a:extLst>
          </p:cNvPr>
          <p:cNvCxnSpPr>
            <a:cxnSpLocks/>
          </p:cNvCxnSpPr>
          <p:nvPr/>
        </p:nvCxnSpPr>
        <p:spPr>
          <a:xfrm flipV="1">
            <a:off x="3344969" y="1398347"/>
            <a:ext cx="1561" cy="278903"/>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743B04F9-5F6A-8382-DB36-32B03A5F946C}"/>
              </a:ext>
            </a:extLst>
          </p:cNvPr>
          <p:cNvCxnSpPr>
            <a:cxnSpLocks/>
          </p:cNvCxnSpPr>
          <p:nvPr/>
        </p:nvCxnSpPr>
        <p:spPr>
          <a:xfrm flipH="1" flipV="1">
            <a:off x="4138270" y="1405591"/>
            <a:ext cx="2342" cy="268214"/>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6095ECB7-2110-1CD6-7877-45CAEA337EB2}"/>
              </a:ext>
            </a:extLst>
          </p:cNvPr>
          <p:cNvCxnSpPr>
            <a:cxnSpLocks/>
          </p:cNvCxnSpPr>
          <p:nvPr/>
        </p:nvCxnSpPr>
        <p:spPr>
          <a:xfrm flipV="1">
            <a:off x="4983518" y="1406498"/>
            <a:ext cx="0" cy="27559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5423DB5E-5225-4809-8FDF-A63A9EDF1CE0}"/>
              </a:ext>
            </a:extLst>
          </p:cNvPr>
          <p:cNvCxnSpPr>
            <a:cxnSpLocks/>
          </p:cNvCxnSpPr>
          <p:nvPr/>
        </p:nvCxnSpPr>
        <p:spPr>
          <a:xfrm flipV="1">
            <a:off x="4584916" y="1405472"/>
            <a:ext cx="1561" cy="278903"/>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D9BC10B9-232A-7EF4-1A36-979DE6B5EE26}"/>
              </a:ext>
            </a:extLst>
          </p:cNvPr>
          <p:cNvCxnSpPr>
            <a:cxnSpLocks/>
          </p:cNvCxnSpPr>
          <p:nvPr/>
        </p:nvCxnSpPr>
        <p:spPr>
          <a:xfrm flipH="1" flipV="1">
            <a:off x="5378217" y="1412716"/>
            <a:ext cx="2342" cy="268214"/>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17F9FE68-D17D-7754-4388-D7C80CF769DE}"/>
              </a:ext>
            </a:extLst>
          </p:cNvPr>
          <p:cNvSpPr/>
          <p:nvPr/>
        </p:nvSpPr>
        <p:spPr>
          <a:xfrm>
            <a:off x="5340456" y="1665554"/>
            <a:ext cx="85725" cy="7853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96B1AC61-BC2D-C9F7-12BA-C4423C20895E}"/>
              </a:ext>
            </a:extLst>
          </p:cNvPr>
          <p:cNvSpPr/>
          <p:nvPr/>
        </p:nvSpPr>
        <p:spPr>
          <a:xfrm>
            <a:off x="4544813" y="1668999"/>
            <a:ext cx="85725" cy="7853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E8FC285E-BCBD-66A5-CB85-437F3CAB2813}"/>
              </a:ext>
            </a:extLst>
          </p:cNvPr>
          <p:cNvSpPr/>
          <p:nvPr/>
        </p:nvSpPr>
        <p:spPr>
          <a:xfrm>
            <a:off x="4939513" y="1665554"/>
            <a:ext cx="85725" cy="7853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0A839FD-2CFA-10B3-52D1-B23747738778}"/>
                  </a:ext>
                </a:extLst>
              </p:cNvPr>
              <p:cNvSpPr txBox="1"/>
              <p:nvPr/>
            </p:nvSpPr>
            <p:spPr>
              <a:xfrm>
                <a:off x="1062695" y="5453382"/>
                <a:ext cx="2972919" cy="1025794"/>
              </a:xfrm>
              <a:prstGeom prst="rect">
                <a:avLst/>
              </a:prstGeom>
              <a:noFill/>
            </p:spPr>
            <p:txBody>
              <a:bodyPr wrap="square" rtlCol="0">
                <a:spAutoFit/>
              </a:bodyPr>
              <a:lstStyle/>
              <a:p>
                <a:pPr algn="ctr"/>
                <a:r>
                  <a:rPr lang="en-US" dirty="0"/>
                  <a:t>Softened Modal Constraints</a:t>
                </a:r>
              </a:p>
              <a:p>
                <a:pPr algn="ctr"/>
                <a14:m>
                  <m:oMath xmlns:m="http://schemas.openxmlformats.org/officeDocument/2006/math">
                    <m:sSub>
                      <m:sSubPr>
                        <m:ctrlPr>
                          <a:rPr lang="en-US" b="1" i="1" smtClean="0">
                            <a:solidFill>
                              <a:srgbClr val="000000"/>
                            </a:solidFill>
                            <a:latin typeface="Cambria Math" panose="02040503050406030204" pitchFamily="18" charset="0"/>
                          </a:rPr>
                        </m:ctrlPr>
                      </m:sSubPr>
                      <m:e>
                        <m:sSub>
                          <m:sSubPr>
                            <m:ctrlPr>
                              <a:rPr lang="en-US" b="1" i="1">
                                <a:solidFill>
                                  <a:srgbClr val="000000"/>
                                </a:solidFill>
                                <a:latin typeface="Cambria Math" panose="02040503050406030204" pitchFamily="18" charset="0"/>
                              </a:rPr>
                            </m:ctrlPr>
                          </m:sSubPr>
                          <m:e>
                            <m:sSubSup>
                              <m:sSubSupPr>
                                <m:ctrlPr>
                                  <a:rPr lang="en-US" b="1" i="1" smtClean="0">
                                    <a:solidFill>
                                      <a:srgbClr val="000000"/>
                                    </a:solidFill>
                                    <a:latin typeface="Cambria Math" panose="02040503050406030204" pitchFamily="18" charset="0"/>
                                  </a:rPr>
                                </m:ctrlPr>
                              </m:sSubSupPr>
                              <m:e>
                                <m:r>
                                  <a:rPr lang="en-US" b="1" i="0">
                                    <a:solidFill>
                                      <a:srgbClr val="000000"/>
                                    </a:solidFill>
                                    <a:latin typeface="Cambria Math" panose="02040503050406030204" pitchFamily="18" charset="0"/>
                                  </a:rPr>
                                  <m:t>𝚽</m:t>
                                </m:r>
                              </m:e>
                              <m:sub>
                                <m:r>
                                  <a:rPr lang="en-US" b="1" i="0">
                                    <a:solidFill>
                                      <a:srgbClr val="000000"/>
                                    </a:solidFill>
                                    <a:latin typeface="Cambria Math" panose="02040503050406030204" pitchFamily="18" charset="0"/>
                                  </a:rPr>
                                  <m:t>𝐓𝐒</m:t>
                                </m:r>
                              </m:sub>
                              <m:sup>
                                <m:r>
                                  <a:rPr lang="en-US" b="1" i="0" smtClean="0">
                                    <a:solidFill>
                                      <a:srgbClr val="000000"/>
                                    </a:solidFill>
                                    <a:latin typeface="Cambria Math" panose="02040503050406030204" pitchFamily="18" charset="0"/>
                                    <a:ea typeface="Cambria Math" panose="02040503050406030204" pitchFamily="18" charset="0"/>
                                  </a:rPr>
                                  <m:t>†</m:t>
                                </m:r>
                              </m:sup>
                            </m:sSubSup>
                            <m:r>
                              <a:rPr lang="en-US" b="1" i="0">
                                <a:solidFill>
                                  <a:srgbClr val="000000"/>
                                </a:solidFill>
                                <a:latin typeface="Cambria Math" panose="02040503050406030204" pitchFamily="18" charset="0"/>
                              </a:rPr>
                              <m:t>𝚽</m:t>
                            </m:r>
                          </m:e>
                          <m:sub>
                            <m:r>
                              <a:rPr lang="en-US" b="1" i="0" smtClean="0">
                                <a:solidFill>
                                  <a:srgbClr val="000000"/>
                                </a:solidFill>
                                <a:latin typeface="Cambria Math" panose="02040503050406030204" pitchFamily="18" charset="0"/>
                              </a:rPr>
                              <m:t>𝐀</m:t>
                            </m:r>
                          </m:sub>
                        </m:sSub>
                        <m:r>
                          <a:rPr lang="en-US" b="1" i="0">
                            <a:solidFill>
                              <a:srgbClr val="000000"/>
                            </a:solidFill>
                            <a:latin typeface="Cambria Math" panose="02040503050406030204" pitchFamily="18" charset="0"/>
                          </a:rPr>
                          <m:t>𝐪</m:t>
                        </m:r>
                      </m:e>
                      <m:sub>
                        <m:r>
                          <a:rPr lang="en-US" b="1" i="0" smtClean="0">
                            <a:solidFill>
                              <a:srgbClr val="000000"/>
                            </a:solidFill>
                            <a:latin typeface="Cambria Math" panose="02040503050406030204" pitchFamily="18" charset="0"/>
                          </a:rPr>
                          <m:t>𝐀</m:t>
                        </m:r>
                      </m:sub>
                    </m:sSub>
                  </m:oMath>
                </a14:m>
                <a:r>
                  <a:rPr lang="en-US" b="1" dirty="0"/>
                  <a:t>=</a:t>
                </a:r>
                <a:r>
                  <a:rPr lang="en-US" b="1" dirty="0">
                    <a:solidFill>
                      <a:srgbClr val="000000"/>
                    </a:solidFill>
                  </a:rPr>
                  <a:t> </a:t>
                </a:r>
                <a14:m>
                  <m:oMath xmlns:m="http://schemas.openxmlformats.org/officeDocument/2006/math">
                    <m:sSub>
                      <m:sSubPr>
                        <m:ctrlPr>
                          <a:rPr lang="en-US" b="1" i="1">
                            <a:solidFill>
                              <a:srgbClr val="000000"/>
                            </a:solidFill>
                            <a:latin typeface="Cambria Math" panose="02040503050406030204" pitchFamily="18" charset="0"/>
                          </a:rPr>
                        </m:ctrlPr>
                      </m:sSubPr>
                      <m:e>
                        <m:r>
                          <a:rPr lang="en-US" b="1" i="0">
                            <a:solidFill>
                              <a:srgbClr val="000000"/>
                            </a:solidFill>
                            <a:latin typeface="Cambria Math" panose="02040503050406030204" pitchFamily="18" charset="0"/>
                          </a:rPr>
                          <m:t>𝐪</m:t>
                        </m:r>
                      </m:e>
                      <m:sub>
                        <m:r>
                          <a:rPr lang="en-US" b="1" i="0">
                            <a:solidFill>
                              <a:srgbClr val="000000"/>
                            </a:solidFill>
                            <a:latin typeface="Cambria Math" panose="02040503050406030204" pitchFamily="18" charset="0"/>
                          </a:rPr>
                          <m:t>𝐓𝐒</m:t>
                        </m:r>
                      </m:sub>
                    </m:sSub>
                  </m:oMath>
                </a14:m>
                <a:endParaRPr lang="en-US" b="1" dirty="0">
                  <a:solidFill>
                    <a:srgbClr val="000000"/>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Sup>
                        <m:sSubSupPr>
                          <m:ctrlPr>
                            <a:rPr lang="en-US" b="1" i="1">
                              <a:solidFill>
                                <a:srgbClr val="000000"/>
                              </a:solidFill>
                              <a:latin typeface="Cambria Math" panose="02040503050406030204" pitchFamily="18" charset="0"/>
                            </a:rPr>
                          </m:ctrlPr>
                        </m:sSubSupPr>
                        <m:e>
                          <m:r>
                            <a:rPr lang="en-US" b="1" i="0">
                              <a:solidFill>
                                <a:srgbClr val="000000"/>
                              </a:solidFill>
                              <a:latin typeface="Cambria Math" panose="02040503050406030204" pitchFamily="18" charset="0"/>
                            </a:rPr>
                            <m:t>𝚽</m:t>
                          </m:r>
                        </m:e>
                        <m:sub>
                          <m:r>
                            <a:rPr lang="en-US" b="1" i="0">
                              <a:solidFill>
                                <a:srgbClr val="000000"/>
                              </a:solidFill>
                              <a:latin typeface="Cambria Math" panose="02040503050406030204" pitchFamily="18" charset="0"/>
                            </a:rPr>
                            <m:t>𝐓𝐒</m:t>
                          </m:r>
                        </m:sub>
                        <m:sup>
                          <m:r>
                            <a:rPr lang="en-US" b="1" i="0">
                              <a:solidFill>
                                <a:srgbClr val="000000"/>
                              </a:solidFill>
                              <a:latin typeface="Cambria Math" panose="02040503050406030204" pitchFamily="18" charset="0"/>
                              <a:ea typeface="Cambria Math" panose="02040503050406030204" pitchFamily="18" charset="0"/>
                            </a:rPr>
                            <m:t>†</m:t>
                          </m:r>
                        </m:sup>
                      </m:sSubSup>
                      <m:r>
                        <a:rPr lang="en-US" b="1" i="0">
                          <a:solidFill>
                            <a:srgbClr val="000000"/>
                          </a:solidFill>
                          <a:latin typeface="Cambria Math" panose="02040503050406030204" pitchFamily="18" charset="0"/>
                          <a:ea typeface="Cambria Math" panose="02040503050406030204" pitchFamily="18" charset="0"/>
                        </a:rPr>
                        <m:t> </m:t>
                      </m:r>
                      <m:sSub>
                        <m:sSubPr>
                          <m:ctrlPr>
                            <a:rPr lang="en-US" b="1" i="1">
                              <a:solidFill>
                                <a:srgbClr val="000000"/>
                              </a:solidFill>
                              <a:latin typeface="Cambria Math" panose="02040503050406030204" pitchFamily="18" charset="0"/>
                            </a:rPr>
                          </m:ctrlPr>
                        </m:sSubPr>
                        <m:e>
                          <m:r>
                            <a:rPr lang="en-US" b="1" i="0">
                              <a:solidFill>
                                <a:srgbClr val="000000"/>
                              </a:solidFill>
                              <a:latin typeface="Cambria Math" panose="02040503050406030204" pitchFamily="18" charset="0"/>
                            </a:rPr>
                            <m:t>𝚽</m:t>
                          </m:r>
                        </m:e>
                        <m:sub>
                          <m:r>
                            <a:rPr lang="en-US" b="1" i="0" smtClean="0">
                              <a:solidFill>
                                <a:srgbClr val="000000"/>
                              </a:solidFill>
                              <a:latin typeface="Cambria Math" panose="02040503050406030204" pitchFamily="18" charset="0"/>
                            </a:rPr>
                            <m:t>𝐁</m:t>
                          </m:r>
                        </m:sub>
                      </m:sSub>
                      <m:sSub>
                        <m:sSubPr>
                          <m:ctrlPr>
                            <a:rPr lang="en-US" b="1" i="1">
                              <a:solidFill>
                                <a:srgbClr val="000000"/>
                              </a:solidFill>
                              <a:latin typeface="Cambria Math" panose="02040503050406030204" pitchFamily="18" charset="0"/>
                            </a:rPr>
                          </m:ctrlPr>
                        </m:sSubPr>
                        <m:e>
                          <m:r>
                            <a:rPr lang="en-US" b="1" i="0">
                              <a:solidFill>
                                <a:srgbClr val="000000"/>
                              </a:solidFill>
                              <a:latin typeface="Cambria Math" panose="02040503050406030204" pitchFamily="18" charset="0"/>
                            </a:rPr>
                            <m:t>𝐪</m:t>
                          </m:r>
                        </m:e>
                        <m:sub>
                          <m:r>
                            <a:rPr lang="en-US" b="1" i="0" smtClean="0">
                              <a:solidFill>
                                <a:srgbClr val="000000"/>
                              </a:solidFill>
                              <a:latin typeface="Cambria Math" panose="02040503050406030204" pitchFamily="18" charset="0"/>
                            </a:rPr>
                            <m:t>𝐁</m:t>
                          </m:r>
                        </m:sub>
                      </m:sSub>
                      <m:r>
                        <m:rPr>
                          <m:nor/>
                        </m:rPr>
                        <a:rPr lang="en-US" b="1" dirty="0"/>
                        <m:t>=</m:t>
                      </m:r>
                      <m:r>
                        <m:rPr>
                          <m:nor/>
                        </m:rPr>
                        <a:rPr lang="en-US" b="1" dirty="0">
                          <a:solidFill>
                            <a:srgbClr val="000000"/>
                          </a:solidFill>
                        </a:rPr>
                        <m:t> </m:t>
                      </m:r>
                      <m:sSub>
                        <m:sSubPr>
                          <m:ctrlPr>
                            <a:rPr lang="en-US" b="1" i="1">
                              <a:solidFill>
                                <a:srgbClr val="000000"/>
                              </a:solidFill>
                              <a:latin typeface="Cambria Math" panose="02040503050406030204" pitchFamily="18" charset="0"/>
                            </a:rPr>
                          </m:ctrlPr>
                        </m:sSubPr>
                        <m:e>
                          <m:r>
                            <a:rPr lang="en-US" b="1" i="0">
                              <a:solidFill>
                                <a:srgbClr val="000000"/>
                              </a:solidFill>
                              <a:latin typeface="Cambria Math" panose="02040503050406030204" pitchFamily="18" charset="0"/>
                            </a:rPr>
                            <m:t>𝐪</m:t>
                          </m:r>
                        </m:e>
                        <m:sub>
                          <m:r>
                            <a:rPr lang="en-US" b="1" i="0">
                              <a:solidFill>
                                <a:srgbClr val="000000"/>
                              </a:solidFill>
                              <a:latin typeface="Cambria Math" panose="02040503050406030204" pitchFamily="18" charset="0"/>
                            </a:rPr>
                            <m:t>𝐓𝐒</m:t>
                          </m:r>
                        </m:sub>
                      </m:sSub>
                    </m:oMath>
                  </m:oMathPara>
                </a14:m>
                <a:endParaRPr lang="en-US" b="1" dirty="0"/>
              </a:p>
            </p:txBody>
          </p:sp>
        </mc:Choice>
        <mc:Fallback xmlns="">
          <p:sp>
            <p:nvSpPr>
              <p:cNvPr id="11" name="TextBox 10">
                <a:extLst>
                  <a:ext uri="{FF2B5EF4-FFF2-40B4-BE49-F238E27FC236}">
                    <a16:creationId xmlns:a16="http://schemas.microsoft.com/office/drawing/2014/main" id="{D0A839FD-2CFA-10B3-52D1-B23747738778}"/>
                  </a:ext>
                </a:extLst>
              </p:cNvPr>
              <p:cNvSpPr txBox="1">
                <a:spLocks noRot="1" noChangeAspect="1" noMove="1" noResize="1" noEditPoints="1" noAdjustHandles="1" noChangeArrowheads="1" noChangeShapeType="1" noTextEdit="1"/>
              </p:cNvSpPr>
              <p:nvPr/>
            </p:nvSpPr>
            <p:spPr>
              <a:xfrm>
                <a:off x="1062695" y="5453382"/>
                <a:ext cx="2972919" cy="1025794"/>
              </a:xfrm>
              <a:prstGeom prst="rect">
                <a:avLst/>
              </a:prstGeom>
              <a:blipFill>
                <a:blip r:embed="rId4"/>
                <a:stretch>
                  <a:fillRect l="-1230" t="-2976" r="-1230" b="-5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A53B201-FE9F-AD16-7849-FC080156F943}"/>
                  </a:ext>
                </a:extLst>
              </p:cNvPr>
              <p:cNvSpPr txBox="1"/>
              <p:nvPr/>
            </p:nvSpPr>
            <p:spPr>
              <a:xfrm>
                <a:off x="2948686" y="3027569"/>
                <a:ext cx="2436595" cy="923330"/>
              </a:xfrm>
              <a:prstGeom prst="rect">
                <a:avLst/>
              </a:prstGeom>
              <a:noFill/>
            </p:spPr>
            <p:txBody>
              <a:bodyPr wrap="square" rtlCol="0">
                <a:spAutoFit/>
              </a:bodyPr>
              <a:lstStyle/>
              <a:p>
                <a:pPr algn="ctr"/>
                <a:r>
                  <a:rPr lang="en-US" dirty="0"/>
                  <a:t>Physical Constraints</a:t>
                </a:r>
              </a:p>
              <a:p>
                <a:pPr algn="ctr"/>
                <a14:m>
                  <m:oMathPara xmlns:m="http://schemas.openxmlformats.org/officeDocument/2006/math">
                    <m:oMathParaPr>
                      <m:jc m:val="centerGroup"/>
                    </m:oMathParaPr>
                    <m:oMath xmlns:m="http://schemas.openxmlformats.org/officeDocument/2006/math">
                      <m:sSub>
                        <m:sSubPr>
                          <m:ctrlPr>
                            <a:rPr lang="en-US" b="1" i="1" smtClean="0">
                              <a:solidFill>
                                <a:srgbClr val="000000"/>
                              </a:solidFill>
                              <a:latin typeface="Cambria Math" panose="02040503050406030204" pitchFamily="18" charset="0"/>
                            </a:rPr>
                          </m:ctrlPr>
                        </m:sSubPr>
                        <m:e>
                          <m:r>
                            <a:rPr lang="en-US" b="1" i="0" smtClean="0">
                              <a:solidFill>
                                <a:srgbClr val="000000"/>
                              </a:solidFill>
                              <a:latin typeface="Cambria Math" panose="02040503050406030204" pitchFamily="18" charset="0"/>
                            </a:rPr>
                            <m:t>𝐱</m:t>
                          </m:r>
                        </m:e>
                        <m:sub>
                          <m:r>
                            <a:rPr lang="en-US" b="1" i="0" smtClean="0">
                              <a:solidFill>
                                <a:srgbClr val="000000"/>
                              </a:solidFill>
                              <a:latin typeface="Cambria Math" panose="02040503050406030204" pitchFamily="18" charset="0"/>
                            </a:rPr>
                            <m:t>𝐀</m:t>
                          </m:r>
                        </m:sub>
                      </m:sSub>
                      <m:r>
                        <a:rPr lang="en-US" b="0" i="0" smtClean="0">
                          <a:solidFill>
                            <a:srgbClr val="000000"/>
                          </a:solidFill>
                          <a:latin typeface="Cambria Math" panose="02040503050406030204" pitchFamily="18" charset="0"/>
                        </a:rPr>
                        <m:t>=</m:t>
                      </m:r>
                      <m:sSub>
                        <m:sSubPr>
                          <m:ctrlPr>
                            <a:rPr lang="en-US" b="1" i="1">
                              <a:solidFill>
                                <a:srgbClr val="000000"/>
                              </a:solidFill>
                              <a:latin typeface="Cambria Math" panose="02040503050406030204" pitchFamily="18" charset="0"/>
                            </a:rPr>
                          </m:ctrlPr>
                        </m:sSubPr>
                        <m:e>
                          <m:r>
                            <a:rPr lang="en-US" b="1" i="0" smtClean="0">
                              <a:solidFill>
                                <a:srgbClr val="000000"/>
                              </a:solidFill>
                              <a:latin typeface="Cambria Math" panose="02040503050406030204" pitchFamily="18" charset="0"/>
                            </a:rPr>
                            <m:t>𝐱</m:t>
                          </m:r>
                        </m:e>
                        <m:sub>
                          <m:r>
                            <a:rPr lang="en-US" b="1" i="0">
                              <a:solidFill>
                                <a:srgbClr val="000000"/>
                              </a:solidFill>
                              <a:latin typeface="Cambria Math" panose="02040503050406030204" pitchFamily="18" charset="0"/>
                            </a:rPr>
                            <m:t>𝐓𝐒</m:t>
                          </m:r>
                        </m:sub>
                      </m:sSub>
                    </m:oMath>
                  </m:oMathPara>
                </a14:m>
                <a:endParaRPr lang="en-US" b="1" dirty="0">
                  <a:solidFill>
                    <a:srgbClr val="000000"/>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b="1" i="1" smtClean="0">
                              <a:solidFill>
                                <a:srgbClr val="000000"/>
                              </a:solidFill>
                              <a:latin typeface="Cambria Math" panose="02040503050406030204" pitchFamily="18" charset="0"/>
                            </a:rPr>
                          </m:ctrlPr>
                        </m:sSubPr>
                        <m:e>
                          <m:r>
                            <a:rPr lang="en-US" b="1" i="0" smtClean="0">
                              <a:solidFill>
                                <a:srgbClr val="000000"/>
                              </a:solidFill>
                              <a:latin typeface="Cambria Math" panose="02040503050406030204" pitchFamily="18" charset="0"/>
                            </a:rPr>
                            <m:t>𝐱</m:t>
                          </m:r>
                        </m:e>
                        <m:sub>
                          <m:r>
                            <a:rPr lang="en-US" b="1" i="0" smtClean="0">
                              <a:solidFill>
                                <a:srgbClr val="000000"/>
                              </a:solidFill>
                              <a:latin typeface="Cambria Math" panose="02040503050406030204" pitchFamily="18" charset="0"/>
                            </a:rPr>
                            <m:t>𝐁</m:t>
                          </m:r>
                        </m:sub>
                      </m:sSub>
                      <m:r>
                        <a:rPr lang="en-US" b="0" i="0" smtClean="0">
                          <a:solidFill>
                            <a:srgbClr val="000000"/>
                          </a:solidFill>
                          <a:latin typeface="Cambria Math" panose="02040503050406030204" pitchFamily="18" charset="0"/>
                        </a:rPr>
                        <m:t>=</m:t>
                      </m:r>
                      <m:sSub>
                        <m:sSubPr>
                          <m:ctrlPr>
                            <a:rPr lang="en-US" b="1" i="1">
                              <a:solidFill>
                                <a:srgbClr val="000000"/>
                              </a:solidFill>
                              <a:latin typeface="Cambria Math" panose="02040503050406030204" pitchFamily="18" charset="0"/>
                            </a:rPr>
                          </m:ctrlPr>
                        </m:sSubPr>
                        <m:e>
                          <m:r>
                            <a:rPr lang="en-US" b="1" i="0" smtClean="0">
                              <a:solidFill>
                                <a:srgbClr val="000000"/>
                              </a:solidFill>
                              <a:latin typeface="Cambria Math" panose="02040503050406030204" pitchFamily="18" charset="0"/>
                            </a:rPr>
                            <m:t>𝐱</m:t>
                          </m:r>
                        </m:e>
                        <m:sub>
                          <m:r>
                            <a:rPr lang="en-US" b="1" i="0">
                              <a:solidFill>
                                <a:srgbClr val="000000"/>
                              </a:solidFill>
                              <a:latin typeface="Cambria Math" panose="02040503050406030204" pitchFamily="18" charset="0"/>
                            </a:rPr>
                            <m:t>𝐓𝐒</m:t>
                          </m:r>
                        </m:sub>
                      </m:sSub>
                    </m:oMath>
                  </m:oMathPara>
                </a14:m>
                <a:endParaRPr lang="en-US" b="1" dirty="0">
                  <a:solidFill>
                    <a:srgbClr val="000000"/>
                  </a:solidFill>
                  <a:latin typeface="Cambria Math" panose="02040503050406030204" pitchFamily="18" charset="0"/>
                </a:endParaRPr>
              </a:p>
            </p:txBody>
          </p:sp>
        </mc:Choice>
        <mc:Fallback xmlns="">
          <p:sp>
            <p:nvSpPr>
              <p:cNvPr id="14" name="TextBox 13">
                <a:extLst>
                  <a:ext uri="{FF2B5EF4-FFF2-40B4-BE49-F238E27FC236}">
                    <a16:creationId xmlns:a16="http://schemas.microsoft.com/office/drawing/2014/main" id="{5A53B201-FE9F-AD16-7849-FC080156F943}"/>
                  </a:ext>
                </a:extLst>
              </p:cNvPr>
              <p:cNvSpPr txBox="1">
                <a:spLocks noRot="1" noChangeAspect="1" noMove="1" noResize="1" noEditPoints="1" noAdjustHandles="1" noChangeArrowheads="1" noChangeShapeType="1" noTextEdit="1"/>
              </p:cNvSpPr>
              <p:nvPr/>
            </p:nvSpPr>
            <p:spPr>
              <a:xfrm>
                <a:off x="2948686" y="3027569"/>
                <a:ext cx="2436595" cy="923330"/>
              </a:xfrm>
              <a:prstGeom prst="rect">
                <a:avLst/>
              </a:prstGeom>
              <a:blipFill>
                <a:blip r:embed="rId5"/>
                <a:stretch>
                  <a:fillRect t="-33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D375D95-41DC-E554-E67A-EC8C67E2C062}"/>
                  </a:ext>
                </a:extLst>
              </p:cNvPr>
              <p:cNvSpPr txBox="1"/>
              <p:nvPr/>
            </p:nvSpPr>
            <p:spPr>
              <a:xfrm>
                <a:off x="9215277" y="5456133"/>
                <a:ext cx="2184255" cy="646331"/>
              </a:xfrm>
              <a:prstGeom prst="rect">
                <a:avLst/>
              </a:prstGeom>
              <a:noFill/>
            </p:spPr>
            <p:txBody>
              <a:bodyPr wrap="square">
                <a:spAutoFit/>
              </a:bodyPr>
              <a:lstStyle/>
              <a:p>
                <a:r>
                  <a:rPr lang="en-US" i="0" dirty="0">
                    <a:latin typeface="Cambria Math" panose="02040503050406030204" pitchFamily="18" charset="0"/>
                  </a:rPr>
                  <a:t>Localization Matrix</a:t>
                </a:r>
              </a:p>
              <a:p>
                <a:pPr/>
                <a14:m>
                  <m:oMathPara xmlns:m="http://schemas.openxmlformats.org/officeDocument/2006/math">
                    <m:oMathParaPr>
                      <m:jc m:val="centerGroup"/>
                    </m:oMathParaPr>
                    <m:oMath xmlns:m="http://schemas.openxmlformats.org/officeDocument/2006/math">
                      <m:r>
                        <a:rPr lang="en-US" b="1" i="0" smtClean="0">
                          <a:latin typeface="Cambria Math" panose="02040503050406030204" pitchFamily="18" charset="0"/>
                        </a:rPr>
                        <m:t>𝐋</m:t>
                      </m:r>
                      <m:r>
                        <a:rPr lang="en-US" b="0" i="0" smtClean="0">
                          <a:latin typeface="Cambria Math" panose="02040503050406030204" pitchFamily="18" charset="0"/>
                        </a:rPr>
                        <m:t>=</m:t>
                      </m:r>
                      <m:r>
                        <m:rPr>
                          <m:sty m:val="p"/>
                        </m:rPr>
                        <a:rPr lang="en-US" b="0" i="0" smtClean="0">
                          <a:latin typeface="Cambria Math" panose="02040503050406030204" pitchFamily="18" charset="0"/>
                        </a:rPr>
                        <m:t>null</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b="1" i="0">
                                  <a:latin typeface="Cambria Math" panose="02040503050406030204" pitchFamily="18" charset="0"/>
                                </a:rPr>
                                <m:t>𝐁</m:t>
                              </m:r>
                            </m:e>
                            <m:sub>
                              <m:r>
                                <m:rPr>
                                  <m:sty m:val="p"/>
                                </m:rPr>
                                <a:rPr lang="en-US" i="0">
                                  <a:latin typeface="Cambria Math" panose="02040503050406030204" pitchFamily="18" charset="0"/>
                                </a:rPr>
                                <m:t>TSM</m:t>
                              </m:r>
                            </m:sub>
                          </m:sSub>
                        </m:e>
                      </m:d>
                    </m:oMath>
                  </m:oMathPara>
                </a14:m>
                <a:endParaRPr lang="en-US" dirty="0"/>
              </a:p>
            </p:txBody>
          </p:sp>
        </mc:Choice>
        <mc:Fallback xmlns="">
          <p:sp>
            <p:nvSpPr>
              <p:cNvPr id="15" name="TextBox 14">
                <a:extLst>
                  <a:ext uri="{FF2B5EF4-FFF2-40B4-BE49-F238E27FC236}">
                    <a16:creationId xmlns:a16="http://schemas.microsoft.com/office/drawing/2014/main" id="{AD375D95-41DC-E554-E67A-EC8C67E2C062}"/>
                  </a:ext>
                </a:extLst>
              </p:cNvPr>
              <p:cNvSpPr txBox="1">
                <a:spLocks noRot="1" noChangeAspect="1" noMove="1" noResize="1" noEditPoints="1" noAdjustHandles="1" noChangeArrowheads="1" noChangeShapeType="1" noTextEdit="1"/>
              </p:cNvSpPr>
              <p:nvPr/>
            </p:nvSpPr>
            <p:spPr>
              <a:xfrm>
                <a:off x="9215277" y="5456133"/>
                <a:ext cx="2184255" cy="646331"/>
              </a:xfrm>
              <a:prstGeom prst="rect">
                <a:avLst/>
              </a:prstGeom>
              <a:blipFill>
                <a:blip r:embed="rId6"/>
                <a:stretch>
                  <a:fillRect l="-2514" t="-56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9D5EF5D-9340-340D-FBD7-149F5956E572}"/>
                  </a:ext>
                </a:extLst>
              </p:cNvPr>
              <p:cNvSpPr txBox="1"/>
              <p:nvPr/>
            </p:nvSpPr>
            <p:spPr>
              <a:xfrm>
                <a:off x="4298737" y="5448596"/>
                <a:ext cx="4755825" cy="1106521"/>
              </a:xfrm>
              <a:prstGeom prst="rect">
                <a:avLst/>
              </a:prstGeom>
              <a:noFill/>
            </p:spPr>
            <p:txBody>
              <a:bodyPr wrap="square">
                <a:spAutoFit/>
              </a:bodyPr>
              <a:lstStyle/>
              <a:p>
                <a:pPr algn="ctr"/>
                <a:r>
                  <a:rPr lang="en-US" b="0" dirty="0">
                    <a:latin typeface="Cambria Math" panose="02040503050406030204" pitchFamily="18" charset="0"/>
                  </a:rPr>
                  <a:t>Compatibility Condition</a:t>
                </a:r>
              </a:p>
              <a:p>
                <a:pPr algn="ctr"/>
                <a14:m>
                  <m:oMathPara xmlns:m="http://schemas.openxmlformats.org/officeDocument/2006/math">
                    <m:oMathParaPr>
                      <m:jc m:val="center"/>
                    </m:oMathParaPr>
                    <m:oMath xmlns:m="http://schemas.openxmlformats.org/officeDocument/2006/math">
                      <m:d>
                        <m:dPr>
                          <m:begChr m:val="["/>
                          <m:endChr m:val="]"/>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sSub>
                                  <m:sSubPr>
                                    <m:ctrlPr>
                                      <a:rPr lang="en-US" i="1">
                                        <a:solidFill>
                                          <a:srgbClr val="000000"/>
                                        </a:solidFill>
                                        <a:latin typeface="Cambria Math" panose="02040503050406030204" pitchFamily="18" charset="0"/>
                                      </a:rPr>
                                    </m:ctrlPr>
                                  </m:sSubPr>
                                  <m:e>
                                    <m:sSubSup>
                                      <m:sSubSupPr>
                                        <m:ctrlPr>
                                          <a:rPr lang="en-US" b="1" i="1">
                                            <a:solidFill>
                                              <a:srgbClr val="000000"/>
                                            </a:solidFill>
                                            <a:latin typeface="Cambria Math" panose="02040503050406030204" pitchFamily="18" charset="0"/>
                                          </a:rPr>
                                        </m:ctrlPr>
                                      </m:sSubSupPr>
                                      <m:e>
                                        <m:r>
                                          <a:rPr lang="en-US" b="1" i="0">
                                            <a:solidFill>
                                              <a:srgbClr val="000000"/>
                                            </a:solidFill>
                                            <a:latin typeface="Cambria Math" panose="02040503050406030204" pitchFamily="18" charset="0"/>
                                          </a:rPr>
                                          <m:t>𝚽</m:t>
                                        </m:r>
                                      </m:e>
                                      <m:sub>
                                        <m:r>
                                          <m:rPr>
                                            <m:sty m:val="p"/>
                                          </m:rPr>
                                          <a:rPr lang="en-US" i="0">
                                            <a:solidFill>
                                              <a:srgbClr val="000000"/>
                                            </a:solidFill>
                                            <a:latin typeface="Cambria Math" panose="02040503050406030204" pitchFamily="18" charset="0"/>
                                          </a:rPr>
                                          <m:t>TS</m:t>
                                        </m:r>
                                      </m:sub>
                                      <m:sup>
                                        <m:r>
                                          <a:rPr lang="en-US" i="0">
                                            <a:solidFill>
                                              <a:srgbClr val="000000"/>
                                            </a:solidFill>
                                            <a:latin typeface="Cambria Math" panose="02040503050406030204" pitchFamily="18" charset="0"/>
                                            <a:ea typeface="Cambria Math" panose="02040503050406030204" pitchFamily="18" charset="0"/>
                                          </a:rPr>
                                          <m:t>†</m:t>
                                        </m:r>
                                      </m:sup>
                                    </m:sSubSup>
                                    <m:r>
                                      <a:rPr lang="en-US" b="1" i="0">
                                        <a:solidFill>
                                          <a:srgbClr val="000000"/>
                                        </a:solidFill>
                                        <a:latin typeface="Cambria Math" panose="02040503050406030204" pitchFamily="18" charset="0"/>
                                      </a:rPr>
                                      <m:t>𝚽</m:t>
                                    </m:r>
                                  </m:e>
                                  <m:sub>
                                    <m:r>
                                      <m:rPr>
                                        <m:sty m:val="p"/>
                                      </m:rPr>
                                      <a:rPr lang="en-US" i="0">
                                        <a:solidFill>
                                          <a:srgbClr val="000000"/>
                                        </a:solidFill>
                                        <a:latin typeface="Cambria Math" panose="02040503050406030204" pitchFamily="18" charset="0"/>
                                      </a:rPr>
                                      <m:t>A</m:t>
                                    </m:r>
                                  </m:sub>
                                </m:sSub>
                              </m:e>
                              <m:e>
                                <m:r>
                                  <a:rPr lang="en-US" b="0" i="0" smtClean="0">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b="1" i="0" smtClean="0">
                                        <a:solidFill>
                                          <a:srgbClr val="000000"/>
                                        </a:solidFill>
                                        <a:latin typeface="Cambria Math" panose="02040503050406030204" pitchFamily="18" charset="0"/>
                                      </a:rPr>
                                      <m:t>𝐈</m:t>
                                    </m:r>
                                  </m:e>
                                  <m:sub>
                                    <m:r>
                                      <m:rPr>
                                        <m:sty m:val="p"/>
                                      </m:rPr>
                                      <a:rPr lang="en-US" i="0">
                                        <a:solidFill>
                                          <a:srgbClr val="000000"/>
                                        </a:solidFill>
                                        <a:latin typeface="Cambria Math" panose="02040503050406030204" pitchFamily="18" charset="0"/>
                                      </a:rPr>
                                      <m:t>TS</m:t>
                                    </m:r>
                                  </m:sub>
                                </m:sSub>
                              </m:e>
                              <m:e>
                                <m:r>
                                  <a:rPr lang="en-US" b="0" i="0" smtClean="0">
                                    <a:latin typeface="Cambria Math" panose="02040503050406030204" pitchFamily="18" charset="0"/>
                                  </a:rPr>
                                  <m:t>0</m:t>
                                </m:r>
                              </m:e>
                            </m:mr>
                            <m:mr>
                              <m:e>
                                <m:r>
                                  <a:rPr lang="en-US" b="0" i="0" smtClean="0">
                                    <a:latin typeface="Cambria Math" panose="02040503050406030204" pitchFamily="18" charset="0"/>
                                  </a:rPr>
                                  <m:t>0</m:t>
                                </m:r>
                              </m:e>
                              <m:e>
                                <m:r>
                                  <a:rPr lang="en-US" b="0" i="0" smtClean="0">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b="1" i="0" smtClean="0">
                                        <a:solidFill>
                                          <a:srgbClr val="000000"/>
                                        </a:solidFill>
                                        <a:latin typeface="Cambria Math" panose="02040503050406030204" pitchFamily="18" charset="0"/>
                                      </a:rPr>
                                      <m:t>𝐈</m:t>
                                    </m:r>
                                  </m:e>
                                  <m:sub>
                                    <m:r>
                                      <m:rPr>
                                        <m:sty m:val="p"/>
                                      </m:rPr>
                                      <a:rPr lang="en-US" i="0">
                                        <a:solidFill>
                                          <a:srgbClr val="000000"/>
                                        </a:solidFill>
                                        <a:latin typeface="Cambria Math" panose="02040503050406030204" pitchFamily="18" charset="0"/>
                                      </a:rPr>
                                      <m:t>TS</m:t>
                                    </m:r>
                                  </m:sub>
                                </m:sSub>
                              </m:e>
                              <m:e>
                                <m:sSub>
                                  <m:sSubPr>
                                    <m:ctrlPr>
                                      <a:rPr lang="en-US" i="1">
                                        <a:solidFill>
                                          <a:srgbClr val="000000"/>
                                        </a:solidFill>
                                        <a:latin typeface="Cambria Math" panose="02040503050406030204" pitchFamily="18" charset="0"/>
                                      </a:rPr>
                                    </m:ctrlPr>
                                  </m:sSubPr>
                                  <m:e>
                                    <m:sSubSup>
                                      <m:sSubSupPr>
                                        <m:ctrlPr>
                                          <a:rPr lang="en-US" b="1" i="1">
                                            <a:solidFill>
                                              <a:srgbClr val="000000"/>
                                            </a:solidFill>
                                            <a:latin typeface="Cambria Math" panose="02040503050406030204" pitchFamily="18" charset="0"/>
                                          </a:rPr>
                                        </m:ctrlPr>
                                      </m:sSubSupPr>
                                      <m:e>
                                        <m:r>
                                          <a:rPr lang="en-US" b="1" i="0">
                                            <a:solidFill>
                                              <a:srgbClr val="000000"/>
                                            </a:solidFill>
                                            <a:latin typeface="Cambria Math" panose="02040503050406030204" pitchFamily="18" charset="0"/>
                                          </a:rPr>
                                          <m:t>𝚽</m:t>
                                        </m:r>
                                      </m:e>
                                      <m:sub>
                                        <m:r>
                                          <m:rPr>
                                            <m:sty m:val="p"/>
                                          </m:rPr>
                                          <a:rPr lang="en-US" i="0">
                                            <a:solidFill>
                                              <a:srgbClr val="000000"/>
                                            </a:solidFill>
                                            <a:latin typeface="Cambria Math" panose="02040503050406030204" pitchFamily="18" charset="0"/>
                                          </a:rPr>
                                          <m:t>TS</m:t>
                                        </m:r>
                                      </m:sub>
                                      <m:sup>
                                        <m:r>
                                          <a:rPr lang="en-US" i="0">
                                            <a:solidFill>
                                              <a:srgbClr val="000000"/>
                                            </a:solidFill>
                                            <a:latin typeface="Cambria Math" panose="02040503050406030204" pitchFamily="18" charset="0"/>
                                            <a:ea typeface="Cambria Math" panose="02040503050406030204" pitchFamily="18" charset="0"/>
                                          </a:rPr>
                                          <m:t>†</m:t>
                                        </m:r>
                                      </m:sup>
                                    </m:sSubSup>
                                    <m:r>
                                      <a:rPr lang="en-US" b="1" i="0">
                                        <a:solidFill>
                                          <a:srgbClr val="000000"/>
                                        </a:solidFill>
                                        <a:latin typeface="Cambria Math" panose="02040503050406030204" pitchFamily="18" charset="0"/>
                                      </a:rPr>
                                      <m:t>𝚽</m:t>
                                    </m:r>
                                  </m:e>
                                  <m:sub>
                                    <m:r>
                                      <m:rPr>
                                        <m:sty m:val="p"/>
                                      </m:rPr>
                                      <a:rPr lang="en-US" i="0">
                                        <a:solidFill>
                                          <a:srgbClr val="000000"/>
                                        </a:solidFill>
                                        <a:latin typeface="Cambria Math" panose="02040503050406030204" pitchFamily="18" charset="0"/>
                                      </a:rPr>
                                      <m:t>B</m:t>
                                    </m:r>
                                  </m:sub>
                                </m:sSub>
                              </m:e>
                            </m:mr>
                          </m:m>
                        </m:e>
                      </m:d>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sSub>
                                  <m:sSubPr>
                                    <m:ctrlPr>
                                      <a:rPr lang="en-US" i="1">
                                        <a:solidFill>
                                          <a:srgbClr val="000000"/>
                                        </a:solidFill>
                                        <a:latin typeface="Cambria Math" panose="02040503050406030204" pitchFamily="18" charset="0"/>
                                      </a:rPr>
                                    </m:ctrlPr>
                                  </m:sSubPr>
                                  <m:e>
                                    <m:r>
                                      <a:rPr lang="en-US" b="1" i="0">
                                        <a:solidFill>
                                          <a:srgbClr val="000000"/>
                                        </a:solidFill>
                                        <a:latin typeface="Cambria Math" panose="02040503050406030204" pitchFamily="18" charset="0"/>
                                      </a:rPr>
                                      <m:t>𝐪</m:t>
                                    </m:r>
                                  </m:e>
                                  <m:sub>
                                    <m:r>
                                      <m:rPr>
                                        <m:sty m:val="p"/>
                                      </m:rPr>
                                      <a:rPr lang="en-US" i="0">
                                        <a:solidFill>
                                          <a:srgbClr val="000000"/>
                                        </a:solidFill>
                                        <a:latin typeface="Cambria Math" panose="02040503050406030204" pitchFamily="18" charset="0"/>
                                      </a:rPr>
                                      <m:t>A</m:t>
                                    </m:r>
                                  </m:sub>
                                </m:sSub>
                              </m:e>
                            </m:mr>
                            <m:mr>
                              <m:e>
                                <m:sSub>
                                  <m:sSubPr>
                                    <m:ctrlPr>
                                      <a:rPr lang="en-US" i="1">
                                        <a:solidFill>
                                          <a:srgbClr val="000000"/>
                                        </a:solidFill>
                                        <a:latin typeface="Cambria Math" panose="02040503050406030204" pitchFamily="18" charset="0"/>
                                      </a:rPr>
                                    </m:ctrlPr>
                                  </m:sSubPr>
                                  <m:e>
                                    <m:r>
                                      <a:rPr lang="en-US" b="1" i="0">
                                        <a:solidFill>
                                          <a:srgbClr val="000000"/>
                                        </a:solidFill>
                                        <a:latin typeface="Cambria Math" panose="02040503050406030204" pitchFamily="18" charset="0"/>
                                      </a:rPr>
                                      <m:t>𝐪</m:t>
                                    </m:r>
                                  </m:e>
                                  <m:sub>
                                    <m:r>
                                      <m:rPr>
                                        <m:sty m:val="p"/>
                                      </m:rPr>
                                      <a:rPr lang="en-US" i="0">
                                        <a:solidFill>
                                          <a:srgbClr val="000000"/>
                                        </a:solidFill>
                                        <a:latin typeface="Cambria Math" panose="02040503050406030204" pitchFamily="18" charset="0"/>
                                      </a:rPr>
                                      <m:t>TS</m:t>
                                    </m:r>
                                  </m:sub>
                                </m:sSub>
                              </m:e>
                            </m:mr>
                            <m:mr>
                              <m:e>
                                <m:sSub>
                                  <m:sSubPr>
                                    <m:ctrlPr>
                                      <a:rPr lang="en-US" i="1">
                                        <a:solidFill>
                                          <a:srgbClr val="000000"/>
                                        </a:solidFill>
                                        <a:latin typeface="Cambria Math" panose="02040503050406030204" pitchFamily="18" charset="0"/>
                                      </a:rPr>
                                    </m:ctrlPr>
                                  </m:sSubPr>
                                  <m:e>
                                    <m:r>
                                      <a:rPr lang="en-US" b="1" i="0">
                                        <a:solidFill>
                                          <a:srgbClr val="000000"/>
                                        </a:solidFill>
                                        <a:latin typeface="Cambria Math" panose="02040503050406030204" pitchFamily="18" charset="0"/>
                                      </a:rPr>
                                      <m:t>𝐪</m:t>
                                    </m:r>
                                  </m:e>
                                  <m:sub>
                                    <m:r>
                                      <m:rPr>
                                        <m:sty m:val="p"/>
                                      </m:rPr>
                                      <a:rPr lang="en-US" i="0">
                                        <a:solidFill>
                                          <a:srgbClr val="000000"/>
                                        </a:solidFill>
                                        <a:latin typeface="Cambria Math" panose="02040503050406030204" pitchFamily="18" charset="0"/>
                                      </a:rPr>
                                      <m:t>B</m:t>
                                    </m:r>
                                  </m:sub>
                                </m:sSub>
                              </m:e>
                            </m:mr>
                          </m:m>
                        </m:e>
                      </m:d>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a:rPr lang="en-US" b="1" i="0" smtClean="0">
                              <a:latin typeface="Cambria Math" panose="02040503050406030204" pitchFamily="18" charset="0"/>
                            </a:rPr>
                            <m:t>𝐁</m:t>
                          </m:r>
                        </m:e>
                        <m:sub>
                          <m:r>
                            <m:rPr>
                              <m:sty m:val="p"/>
                            </m:rPr>
                            <a:rPr lang="en-US" b="0" i="0" smtClean="0">
                              <a:latin typeface="Cambria Math" panose="02040503050406030204" pitchFamily="18" charset="0"/>
                            </a:rPr>
                            <m:t>TSM</m:t>
                          </m:r>
                        </m:sub>
                      </m:sSub>
                      <m:r>
                        <a:rPr lang="en-US" b="1" i="0" smtClean="0">
                          <a:latin typeface="Cambria Math" panose="02040503050406030204" pitchFamily="18" charset="0"/>
                        </a:rPr>
                        <m:t>𝐪</m:t>
                      </m:r>
                      <m:r>
                        <a:rPr lang="en-US" b="0" i="0" smtClean="0">
                          <a:latin typeface="Cambria Math" panose="02040503050406030204" pitchFamily="18" charset="0"/>
                        </a:rPr>
                        <m:t>=0</m:t>
                      </m:r>
                    </m:oMath>
                  </m:oMathPara>
                </a14:m>
                <a:endParaRPr lang="en-US" dirty="0"/>
              </a:p>
            </p:txBody>
          </p:sp>
        </mc:Choice>
        <mc:Fallback xmlns="">
          <p:sp>
            <p:nvSpPr>
              <p:cNvPr id="17" name="TextBox 16">
                <a:extLst>
                  <a:ext uri="{FF2B5EF4-FFF2-40B4-BE49-F238E27FC236}">
                    <a16:creationId xmlns:a16="http://schemas.microsoft.com/office/drawing/2014/main" id="{19D5EF5D-9340-340D-FBD7-149F5956E572}"/>
                  </a:ext>
                </a:extLst>
              </p:cNvPr>
              <p:cNvSpPr txBox="1">
                <a:spLocks noRot="1" noChangeAspect="1" noMove="1" noResize="1" noEditPoints="1" noAdjustHandles="1" noChangeArrowheads="1" noChangeShapeType="1" noTextEdit="1"/>
              </p:cNvSpPr>
              <p:nvPr/>
            </p:nvSpPr>
            <p:spPr>
              <a:xfrm>
                <a:off x="4298737" y="5448596"/>
                <a:ext cx="4755825" cy="1106521"/>
              </a:xfrm>
              <a:prstGeom prst="rect">
                <a:avLst/>
              </a:prstGeom>
              <a:blipFill>
                <a:blip r:embed="rId7"/>
                <a:stretch>
                  <a:fillRect t="-3867"/>
                </a:stretch>
              </a:blipFill>
            </p:spPr>
            <p:txBody>
              <a:bodyPr/>
              <a:lstStyle/>
              <a:p>
                <a:r>
                  <a:rPr lang="en-US">
                    <a:noFill/>
                  </a:rPr>
                  <a:t> </a:t>
                </a:r>
              </a:p>
            </p:txBody>
          </p:sp>
        </mc:Fallback>
      </mc:AlternateContent>
      <p:cxnSp>
        <p:nvCxnSpPr>
          <p:cNvPr id="19" name="Straight Arrow Connector 18">
            <a:extLst>
              <a:ext uri="{FF2B5EF4-FFF2-40B4-BE49-F238E27FC236}">
                <a16:creationId xmlns:a16="http://schemas.microsoft.com/office/drawing/2014/main" id="{26707D6D-DFB4-472B-120C-95C06DFBCC1C}"/>
              </a:ext>
            </a:extLst>
          </p:cNvPr>
          <p:cNvCxnSpPr>
            <a:cxnSpLocks/>
          </p:cNvCxnSpPr>
          <p:nvPr/>
        </p:nvCxnSpPr>
        <p:spPr>
          <a:xfrm>
            <a:off x="5291674" y="3498403"/>
            <a:ext cx="45720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074468B8-398C-2F30-F0DB-68CACED85042}"/>
                  </a:ext>
                </a:extLst>
              </p:cNvPr>
              <p:cNvSpPr txBox="1"/>
              <p:nvPr/>
            </p:nvSpPr>
            <p:spPr>
              <a:xfrm>
                <a:off x="5889646" y="3031514"/>
                <a:ext cx="2147511" cy="923330"/>
              </a:xfrm>
              <a:prstGeom prst="rect">
                <a:avLst/>
              </a:prstGeom>
              <a:noFill/>
            </p:spPr>
            <p:txBody>
              <a:bodyPr wrap="square" rtlCol="0">
                <a:spAutoFit/>
              </a:bodyPr>
              <a:lstStyle/>
              <a:p>
                <a:pPr algn="ctr"/>
                <a:r>
                  <a:rPr lang="en-US" dirty="0"/>
                  <a:t>Modal Constraints</a:t>
                </a:r>
              </a:p>
              <a:p>
                <a:pPr algn="ctr"/>
                <a14:m>
                  <m:oMathPara xmlns:m="http://schemas.openxmlformats.org/officeDocument/2006/math">
                    <m:oMathParaPr>
                      <m:jc m:val="centerGroup"/>
                    </m:oMathParaPr>
                    <m:oMath xmlns:m="http://schemas.openxmlformats.org/officeDocument/2006/math">
                      <m:sSub>
                        <m:sSubPr>
                          <m:ctrlPr>
                            <a:rPr lang="en-US" b="1" i="1" smtClean="0">
                              <a:solidFill>
                                <a:srgbClr val="000000"/>
                              </a:solidFill>
                              <a:latin typeface="Cambria Math" panose="02040503050406030204" pitchFamily="18" charset="0"/>
                            </a:rPr>
                          </m:ctrlPr>
                        </m:sSubPr>
                        <m:e>
                          <m:r>
                            <a:rPr lang="en-US" b="1" i="0" smtClean="0">
                              <a:solidFill>
                                <a:srgbClr val="000000"/>
                              </a:solidFill>
                              <a:latin typeface="Cambria Math" panose="02040503050406030204" pitchFamily="18" charset="0"/>
                            </a:rPr>
                            <m:t>𝚽</m:t>
                          </m:r>
                        </m:e>
                        <m:sub>
                          <m:r>
                            <a:rPr lang="en-US" b="1" i="0" smtClean="0">
                              <a:solidFill>
                                <a:srgbClr val="000000"/>
                              </a:solidFill>
                              <a:latin typeface="Cambria Math" panose="02040503050406030204" pitchFamily="18" charset="0"/>
                            </a:rPr>
                            <m:t>𝐀</m:t>
                          </m:r>
                        </m:sub>
                      </m:sSub>
                      <m:sSub>
                        <m:sSubPr>
                          <m:ctrlPr>
                            <a:rPr lang="en-US" b="1" i="1" smtClean="0">
                              <a:solidFill>
                                <a:srgbClr val="000000"/>
                              </a:solidFill>
                              <a:latin typeface="Cambria Math" panose="02040503050406030204" pitchFamily="18" charset="0"/>
                            </a:rPr>
                          </m:ctrlPr>
                        </m:sSubPr>
                        <m:e>
                          <m:r>
                            <a:rPr lang="en-US" b="1" i="0" smtClean="0">
                              <a:solidFill>
                                <a:srgbClr val="000000"/>
                              </a:solidFill>
                              <a:latin typeface="Cambria Math" panose="02040503050406030204" pitchFamily="18" charset="0"/>
                            </a:rPr>
                            <m:t>𝐪</m:t>
                          </m:r>
                        </m:e>
                        <m:sub>
                          <m:r>
                            <a:rPr lang="en-US" b="1" i="0" smtClean="0">
                              <a:solidFill>
                                <a:srgbClr val="000000"/>
                              </a:solidFill>
                              <a:latin typeface="Cambria Math" panose="02040503050406030204" pitchFamily="18" charset="0"/>
                            </a:rPr>
                            <m:t>𝐀</m:t>
                          </m:r>
                        </m:sub>
                      </m:sSub>
                      <m:r>
                        <a:rPr lang="en-US" b="1" i="0" smtClean="0">
                          <a:solidFill>
                            <a:srgbClr val="000000"/>
                          </a:solidFill>
                          <a:latin typeface="Cambria Math" panose="02040503050406030204" pitchFamily="18" charset="0"/>
                        </a:rPr>
                        <m:t>=</m:t>
                      </m:r>
                      <m:sSub>
                        <m:sSubPr>
                          <m:ctrlPr>
                            <a:rPr lang="en-US" b="1" i="1" smtClean="0">
                              <a:solidFill>
                                <a:srgbClr val="000000"/>
                              </a:solidFill>
                              <a:latin typeface="Cambria Math" panose="02040503050406030204" pitchFamily="18" charset="0"/>
                            </a:rPr>
                          </m:ctrlPr>
                        </m:sSubPr>
                        <m:e>
                          <m:r>
                            <a:rPr lang="en-US" b="1" i="0" smtClean="0">
                              <a:solidFill>
                                <a:srgbClr val="000000"/>
                              </a:solidFill>
                              <a:latin typeface="Cambria Math" panose="02040503050406030204" pitchFamily="18" charset="0"/>
                            </a:rPr>
                            <m:t>𝚽</m:t>
                          </m:r>
                        </m:e>
                        <m:sub>
                          <m:r>
                            <a:rPr lang="en-US" b="1" i="0" smtClean="0">
                              <a:solidFill>
                                <a:srgbClr val="000000"/>
                              </a:solidFill>
                              <a:latin typeface="Cambria Math" panose="02040503050406030204" pitchFamily="18" charset="0"/>
                            </a:rPr>
                            <m:t>𝐓𝐒</m:t>
                          </m:r>
                        </m:sub>
                      </m:sSub>
                      <m:sSub>
                        <m:sSubPr>
                          <m:ctrlPr>
                            <a:rPr lang="en-US" b="1" i="1">
                              <a:solidFill>
                                <a:srgbClr val="000000"/>
                              </a:solidFill>
                              <a:latin typeface="Cambria Math" panose="02040503050406030204" pitchFamily="18" charset="0"/>
                            </a:rPr>
                          </m:ctrlPr>
                        </m:sSubPr>
                        <m:e>
                          <m:r>
                            <a:rPr lang="en-US" b="1" i="0" smtClean="0">
                              <a:solidFill>
                                <a:srgbClr val="000000"/>
                              </a:solidFill>
                              <a:latin typeface="Cambria Math" panose="02040503050406030204" pitchFamily="18" charset="0"/>
                            </a:rPr>
                            <m:t>𝐪</m:t>
                          </m:r>
                        </m:e>
                        <m:sub>
                          <m:r>
                            <a:rPr lang="en-US" b="1" i="0">
                              <a:solidFill>
                                <a:srgbClr val="000000"/>
                              </a:solidFill>
                              <a:latin typeface="Cambria Math" panose="02040503050406030204" pitchFamily="18" charset="0"/>
                            </a:rPr>
                            <m:t>𝐓𝐒</m:t>
                          </m:r>
                        </m:sub>
                      </m:sSub>
                    </m:oMath>
                  </m:oMathPara>
                </a14:m>
                <a:endParaRPr lang="en-US" b="1" dirty="0">
                  <a:solidFill>
                    <a:srgbClr val="000000"/>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b="1" i="1" smtClean="0">
                              <a:solidFill>
                                <a:srgbClr val="000000"/>
                              </a:solidFill>
                              <a:latin typeface="Cambria Math" panose="02040503050406030204" pitchFamily="18" charset="0"/>
                            </a:rPr>
                          </m:ctrlPr>
                        </m:sSubPr>
                        <m:e>
                          <m:r>
                            <a:rPr lang="en-US" b="1" i="0" smtClean="0">
                              <a:solidFill>
                                <a:srgbClr val="000000"/>
                              </a:solidFill>
                              <a:latin typeface="Cambria Math" panose="02040503050406030204" pitchFamily="18" charset="0"/>
                            </a:rPr>
                            <m:t>𝚽</m:t>
                          </m:r>
                        </m:e>
                        <m:sub>
                          <m:r>
                            <a:rPr lang="en-US" b="1" i="0" smtClean="0">
                              <a:solidFill>
                                <a:srgbClr val="000000"/>
                              </a:solidFill>
                              <a:latin typeface="Cambria Math" panose="02040503050406030204" pitchFamily="18" charset="0"/>
                            </a:rPr>
                            <m:t>𝐁</m:t>
                          </m:r>
                        </m:sub>
                      </m:sSub>
                      <m:sSub>
                        <m:sSubPr>
                          <m:ctrlPr>
                            <a:rPr lang="en-US" b="1" i="1" smtClean="0">
                              <a:solidFill>
                                <a:srgbClr val="000000"/>
                              </a:solidFill>
                              <a:latin typeface="Cambria Math" panose="02040503050406030204" pitchFamily="18" charset="0"/>
                            </a:rPr>
                          </m:ctrlPr>
                        </m:sSubPr>
                        <m:e>
                          <m:r>
                            <a:rPr lang="en-US" b="1" i="0" smtClean="0">
                              <a:solidFill>
                                <a:srgbClr val="000000"/>
                              </a:solidFill>
                              <a:latin typeface="Cambria Math" panose="02040503050406030204" pitchFamily="18" charset="0"/>
                            </a:rPr>
                            <m:t>𝐪</m:t>
                          </m:r>
                        </m:e>
                        <m:sub>
                          <m:r>
                            <a:rPr lang="en-US" b="1" i="0" smtClean="0">
                              <a:solidFill>
                                <a:srgbClr val="000000"/>
                              </a:solidFill>
                              <a:latin typeface="Cambria Math" panose="02040503050406030204" pitchFamily="18" charset="0"/>
                            </a:rPr>
                            <m:t>𝐁</m:t>
                          </m:r>
                        </m:sub>
                      </m:sSub>
                      <m:r>
                        <a:rPr lang="en-US" b="1" i="0" smtClean="0">
                          <a:solidFill>
                            <a:srgbClr val="000000"/>
                          </a:solidFill>
                          <a:latin typeface="Cambria Math" panose="02040503050406030204" pitchFamily="18" charset="0"/>
                        </a:rPr>
                        <m:t>=</m:t>
                      </m:r>
                      <m:sSub>
                        <m:sSubPr>
                          <m:ctrlPr>
                            <a:rPr lang="en-US" b="1" i="1" smtClean="0">
                              <a:solidFill>
                                <a:srgbClr val="000000"/>
                              </a:solidFill>
                              <a:latin typeface="Cambria Math" panose="02040503050406030204" pitchFamily="18" charset="0"/>
                            </a:rPr>
                          </m:ctrlPr>
                        </m:sSubPr>
                        <m:e>
                          <m:r>
                            <a:rPr lang="en-US" b="1" i="0" smtClean="0">
                              <a:solidFill>
                                <a:srgbClr val="000000"/>
                              </a:solidFill>
                              <a:latin typeface="Cambria Math" panose="02040503050406030204" pitchFamily="18" charset="0"/>
                            </a:rPr>
                            <m:t>𝚽</m:t>
                          </m:r>
                        </m:e>
                        <m:sub>
                          <m:r>
                            <a:rPr lang="en-US" b="1" i="0" smtClean="0">
                              <a:solidFill>
                                <a:srgbClr val="000000"/>
                              </a:solidFill>
                              <a:latin typeface="Cambria Math" panose="02040503050406030204" pitchFamily="18" charset="0"/>
                            </a:rPr>
                            <m:t>𝐓𝐒</m:t>
                          </m:r>
                        </m:sub>
                      </m:sSub>
                      <m:sSub>
                        <m:sSubPr>
                          <m:ctrlPr>
                            <a:rPr lang="en-US" b="1" i="1">
                              <a:solidFill>
                                <a:srgbClr val="000000"/>
                              </a:solidFill>
                              <a:latin typeface="Cambria Math" panose="02040503050406030204" pitchFamily="18" charset="0"/>
                            </a:rPr>
                          </m:ctrlPr>
                        </m:sSubPr>
                        <m:e>
                          <m:r>
                            <a:rPr lang="en-US" b="1" i="0" smtClean="0">
                              <a:solidFill>
                                <a:srgbClr val="000000"/>
                              </a:solidFill>
                              <a:latin typeface="Cambria Math" panose="02040503050406030204" pitchFamily="18" charset="0"/>
                            </a:rPr>
                            <m:t>𝐪</m:t>
                          </m:r>
                        </m:e>
                        <m:sub>
                          <m:r>
                            <a:rPr lang="en-US" b="1" i="0">
                              <a:solidFill>
                                <a:srgbClr val="000000"/>
                              </a:solidFill>
                              <a:latin typeface="Cambria Math" panose="02040503050406030204" pitchFamily="18" charset="0"/>
                            </a:rPr>
                            <m:t>𝐓𝐒</m:t>
                          </m:r>
                        </m:sub>
                      </m:sSub>
                    </m:oMath>
                  </m:oMathPara>
                </a14:m>
                <a:endParaRPr lang="en-US" b="1" dirty="0">
                  <a:solidFill>
                    <a:srgbClr val="000000"/>
                  </a:solidFill>
                  <a:latin typeface="Cambria Math" panose="02040503050406030204" pitchFamily="18" charset="0"/>
                </a:endParaRPr>
              </a:p>
            </p:txBody>
          </p:sp>
        </mc:Choice>
        <mc:Fallback xmlns="">
          <p:sp>
            <p:nvSpPr>
              <p:cNvPr id="37" name="TextBox 36">
                <a:extLst>
                  <a:ext uri="{FF2B5EF4-FFF2-40B4-BE49-F238E27FC236}">
                    <a16:creationId xmlns:a16="http://schemas.microsoft.com/office/drawing/2014/main" id="{074468B8-398C-2F30-F0DB-68CACED85042}"/>
                  </a:ext>
                </a:extLst>
              </p:cNvPr>
              <p:cNvSpPr txBox="1">
                <a:spLocks noRot="1" noChangeAspect="1" noMove="1" noResize="1" noEditPoints="1" noAdjustHandles="1" noChangeArrowheads="1" noChangeShapeType="1" noTextEdit="1"/>
              </p:cNvSpPr>
              <p:nvPr/>
            </p:nvSpPr>
            <p:spPr>
              <a:xfrm>
                <a:off x="5889646" y="3031514"/>
                <a:ext cx="2147511" cy="923330"/>
              </a:xfrm>
              <a:prstGeom prst="rect">
                <a:avLst/>
              </a:prstGeom>
              <a:blipFill>
                <a:blip r:embed="rId8"/>
                <a:stretch>
                  <a:fillRect t="-2632" b="-26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DFA10551-9E1E-3357-8456-3B3583098432}"/>
                  </a:ext>
                </a:extLst>
              </p:cNvPr>
              <p:cNvSpPr txBox="1"/>
              <p:nvPr/>
            </p:nvSpPr>
            <p:spPr>
              <a:xfrm>
                <a:off x="1900405" y="2213242"/>
                <a:ext cx="560815"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sz="1800" b="1" i="1" smtClean="0">
                              <a:solidFill>
                                <a:srgbClr val="000000"/>
                              </a:solidFill>
                              <a:latin typeface="Cambria Math" panose="02040503050406030204" pitchFamily="18" charset="0"/>
                            </a:rPr>
                          </m:ctrlPr>
                        </m:sSubPr>
                        <m:e>
                          <m:r>
                            <a:rPr lang="en-US" sz="1800" b="1" i="0" smtClean="0">
                              <a:solidFill>
                                <a:srgbClr val="000000"/>
                              </a:solidFill>
                              <a:latin typeface="Cambria Math" panose="02040503050406030204" pitchFamily="18" charset="0"/>
                            </a:rPr>
                            <m:t>𝐱</m:t>
                          </m:r>
                        </m:e>
                        <m:sub>
                          <m:r>
                            <a:rPr lang="en-US" sz="1800" b="1" i="0" smtClean="0">
                              <a:solidFill>
                                <a:srgbClr val="000000"/>
                              </a:solidFill>
                              <a:latin typeface="Cambria Math" panose="02040503050406030204" pitchFamily="18" charset="0"/>
                            </a:rPr>
                            <m:t>𝐀</m:t>
                          </m:r>
                        </m:sub>
                      </m:sSub>
                    </m:oMath>
                  </m:oMathPara>
                </a14:m>
                <a:endParaRPr lang="en-US" sz="1800" b="1" dirty="0"/>
              </a:p>
            </p:txBody>
          </p:sp>
        </mc:Choice>
        <mc:Fallback xmlns="">
          <p:sp>
            <p:nvSpPr>
              <p:cNvPr id="42" name="TextBox 41">
                <a:extLst>
                  <a:ext uri="{FF2B5EF4-FFF2-40B4-BE49-F238E27FC236}">
                    <a16:creationId xmlns:a16="http://schemas.microsoft.com/office/drawing/2014/main" id="{DFA10551-9E1E-3357-8456-3B3583098432}"/>
                  </a:ext>
                </a:extLst>
              </p:cNvPr>
              <p:cNvSpPr txBox="1">
                <a:spLocks noRot="1" noChangeAspect="1" noMove="1" noResize="1" noEditPoints="1" noAdjustHandles="1" noChangeArrowheads="1" noChangeShapeType="1" noTextEdit="1"/>
              </p:cNvSpPr>
              <p:nvPr/>
            </p:nvSpPr>
            <p:spPr>
              <a:xfrm>
                <a:off x="1900405" y="2213242"/>
                <a:ext cx="560815"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B48003F0-7599-91F8-D251-1B0B6D4B18BB}"/>
                  </a:ext>
                </a:extLst>
              </p:cNvPr>
              <p:cNvSpPr txBox="1"/>
              <p:nvPr/>
            </p:nvSpPr>
            <p:spPr>
              <a:xfrm>
                <a:off x="3560810" y="2130752"/>
                <a:ext cx="740205"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sz="1800" b="1" i="1">
                              <a:solidFill>
                                <a:srgbClr val="000000"/>
                              </a:solidFill>
                              <a:latin typeface="Cambria Math" panose="02040503050406030204" pitchFamily="18" charset="0"/>
                            </a:rPr>
                          </m:ctrlPr>
                        </m:sSubPr>
                        <m:e>
                          <m:r>
                            <a:rPr lang="en-US" sz="1800" b="1" i="0" smtClean="0">
                              <a:solidFill>
                                <a:srgbClr val="000000"/>
                              </a:solidFill>
                              <a:latin typeface="Cambria Math" panose="02040503050406030204" pitchFamily="18" charset="0"/>
                            </a:rPr>
                            <m:t>𝐱</m:t>
                          </m:r>
                        </m:e>
                        <m:sub>
                          <m:r>
                            <a:rPr lang="en-US" sz="1800" b="1" i="0">
                              <a:solidFill>
                                <a:srgbClr val="000000"/>
                              </a:solidFill>
                              <a:latin typeface="Cambria Math" panose="02040503050406030204" pitchFamily="18" charset="0"/>
                            </a:rPr>
                            <m:t>𝐓𝐒</m:t>
                          </m:r>
                        </m:sub>
                      </m:sSub>
                    </m:oMath>
                  </m:oMathPara>
                </a14:m>
                <a:endParaRPr lang="en-US" sz="1800" b="1" dirty="0">
                  <a:solidFill>
                    <a:srgbClr val="000000"/>
                  </a:solidFill>
                  <a:latin typeface="Cambria Math" panose="02040503050406030204" pitchFamily="18" charset="0"/>
                </a:endParaRPr>
              </a:p>
            </p:txBody>
          </p:sp>
        </mc:Choice>
        <mc:Fallback xmlns="">
          <p:sp>
            <p:nvSpPr>
              <p:cNvPr id="48" name="TextBox 47">
                <a:extLst>
                  <a:ext uri="{FF2B5EF4-FFF2-40B4-BE49-F238E27FC236}">
                    <a16:creationId xmlns:a16="http://schemas.microsoft.com/office/drawing/2014/main" id="{B48003F0-7599-91F8-D251-1B0B6D4B18BB}"/>
                  </a:ext>
                </a:extLst>
              </p:cNvPr>
              <p:cNvSpPr txBox="1">
                <a:spLocks noRot="1" noChangeAspect="1" noMove="1" noResize="1" noEditPoints="1" noAdjustHandles="1" noChangeArrowheads="1" noChangeShapeType="1" noTextEdit="1"/>
              </p:cNvSpPr>
              <p:nvPr/>
            </p:nvSpPr>
            <p:spPr>
              <a:xfrm>
                <a:off x="3560810" y="2130752"/>
                <a:ext cx="740205" cy="369332"/>
              </a:xfrm>
              <a:prstGeom prst="rect">
                <a:avLst/>
              </a:prstGeom>
              <a:blipFill>
                <a:blip r:embed="rId10"/>
                <a:stretch>
                  <a:fillRect b="-1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A8CD2A89-274C-4CA2-69C2-53301AA5325F}"/>
                  </a:ext>
                </a:extLst>
              </p:cNvPr>
              <p:cNvSpPr txBox="1"/>
              <p:nvPr/>
            </p:nvSpPr>
            <p:spPr>
              <a:xfrm>
                <a:off x="4589652" y="846650"/>
                <a:ext cx="735698"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sz="1800" b="1" i="1">
                              <a:solidFill>
                                <a:srgbClr val="000000"/>
                              </a:solidFill>
                              <a:latin typeface="Cambria Math" panose="02040503050406030204" pitchFamily="18" charset="0"/>
                            </a:rPr>
                          </m:ctrlPr>
                        </m:sSubPr>
                        <m:e>
                          <m:r>
                            <a:rPr lang="en-US" sz="1800" b="1" i="0" smtClean="0">
                              <a:solidFill>
                                <a:srgbClr val="000000"/>
                              </a:solidFill>
                              <a:latin typeface="Cambria Math" panose="02040503050406030204" pitchFamily="18" charset="0"/>
                            </a:rPr>
                            <m:t>𝐱</m:t>
                          </m:r>
                        </m:e>
                        <m:sub>
                          <m:r>
                            <a:rPr lang="en-US" sz="1800" b="1" i="0" smtClean="0">
                              <a:solidFill>
                                <a:srgbClr val="000000"/>
                              </a:solidFill>
                              <a:latin typeface="Cambria Math" panose="02040503050406030204" pitchFamily="18" charset="0"/>
                            </a:rPr>
                            <m:t>𝐁</m:t>
                          </m:r>
                        </m:sub>
                      </m:sSub>
                    </m:oMath>
                  </m:oMathPara>
                </a14:m>
                <a:endParaRPr lang="en-US" sz="1800" b="1" dirty="0"/>
              </a:p>
            </p:txBody>
          </p:sp>
        </mc:Choice>
        <mc:Fallback xmlns="">
          <p:sp>
            <p:nvSpPr>
              <p:cNvPr id="49" name="TextBox 48">
                <a:extLst>
                  <a:ext uri="{FF2B5EF4-FFF2-40B4-BE49-F238E27FC236}">
                    <a16:creationId xmlns:a16="http://schemas.microsoft.com/office/drawing/2014/main" id="{A8CD2A89-274C-4CA2-69C2-53301AA5325F}"/>
                  </a:ext>
                </a:extLst>
              </p:cNvPr>
              <p:cNvSpPr txBox="1">
                <a:spLocks noRot="1" noChangeAspect="1" noMove="1" noResize="1" noEditPoints="1" noAdjustHandles="1" noChangeArrowheads="1" noChangeShapeType="1" noTextEdit="1"/>
              </p:cNvSpPr>
              <p:nvPr/>
            </p:nvSpPr>
            <p:spPr>
              <a:xfrm>
                <a:off x="4589652" y="846650"/>
                <a:ext cx="735698"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4E5294BD-33F1-C06C-D66F-816C3BB8AEE5}"/>
                  </a:ext>
                </a:extLst>
              </p:cNvPr>
              <p:cNvSpPr txBox="1"/>
              <p:nvPr/>
            </p:nvSpPr>
            <p:spPr>
              <a:xfrm>
                <a:off x="3045103" y="777271"/>
                <a:ext cx="740205"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sz="1800" b="1" i="1">
                              <a:solidFill>
                                <a:srgbClr val="000000"/>
                              </a:solidFill>
                              <a:latin typeface="Cambria Math" panose="02040503050406030204" pitchFamily="18" charset="0"/>
                            </a:rPr>
                          </m:ctrlPr>
                        </m:sSubPr>
                        <m:e>
                          <m:r>
                            <a:rPr lang="en-US" sz="1800" b="1" i="0" smtClean="0">
                              <a:solidFill>
                                <a:srgbClr val="000000"/>
                              </a:solidFill>
                              <a:latin typeface="Cambria Math" panose="02040503050406030204" pitchFamily="18" charset="0"/>
                            </a:rPr>
                            <m:t>𝐱</m:t>
                          </m:r>
                        </m:e>
                        <m:sub>
                          <m:r>
                            <a:rPr lang="en-US" sz="1800" b="1" i="0">
                              <a:solidFill>
                                <a:srgbClr val="000000"/>
                              </a:solidFill>
                              <a:latin typeface="Cambria Math" panose="02040503050406030204" pitchFamily="18" charset="0"/>
                            </a:rPr>
                            <m:t>𝐓𝐒</m:t>
                          </m:r>
                        </m:sub>
                      </m:sSub>
                    </m:oMath>
                  </m:oMathPara>
                </a14:m>
                <a:endParaRPr lang="en-US" sz="1800" b="1" dirty="0">
                  <a:solidFill>
                    <a:srgbClr val="000000"/>
                  </a:solidFill>
                  <a:latin typeface="Cambria Math" panose="02040503050406030204" pitchFamily="18" charset="0"/>
                </a:endParaRPr>
              </a:p>
            </p:txBody>
          </p:sp>
        </mc:Choice>
        <mc:Fallback xmlns="">
          <p:sp>
            <p:nvSpPr>
              <p:cNvPr id="50" name="TextBox 49">
                <a:extLst>
                  <a:ext uri="{FF2B5EF4-FFF2-40B4-BE49-F238E27FC236}">
                    <a16:creationId xmlns:a16="http://schemas.microsoft.com/office/drawing/2014/main" id="{4E5294BD-33F1-C06C-D66F-816C3BB8AEE5}"/>
                  </a:ext>
                </a:extLst>
              </p:cNvPr>
              <p:cNvSpPr txBox="1">
                <a:spLocks noRot="1" noChangeAspect="1" noMove="1" noResize="1" noEditPoints="1" noAdjustHandles="1" noChangeArrowheads="1" noChangeShapeType="1" noTextEdit="1"/>
              </p:cNvSpPr>
              <p:nvPr/>
            </p:nvSpPr>
            <p:spPr>
              <a:xfrm>
                <a:off x="3045103" y="777271"/>
                <a:ext cx="740205" cy="369332"/>
              </a:xfrm>
              <a:prstGeom prst="rect">
                <a:avLst/>
              </a:prstGeom>
              <a:blipFill>
                <a:blip r:embed="rId12"/>
                <a:stretch>
                  <a:fillRect b="-1667"/>
                </a:stretch>
              </a:blipFill>
            </p:spPr>
            <p:txBody>
              <a:bodyPr/>
              <a:lstStyle/>
              <a:p>
                <a:r>
                  <a:rPr lang="en-US">
                    <a:noFill/>
                  </a:rPr>
                  <a:t> </a:t>
                </a:r>
              </a:p>
            </p:txBody>
          </p:sp>
        </mc:Fallback>
      </mc:AlternateContent>
      <p:cxnSp>
        <p:nvCxnSpPr>
          <p:cNvPr id="31" name="Straight Arrow Connector 30">
            <a:extLst>
              <a:ext uri="{FF2B5EF4-FFF2-40B4-BE49-F238E27FC236}">
                <a16:creationId xmlns:a16="http://schemas.microsoft.com/office/drawing/2014/main" id="{DD0F0C75-84C5-8565-900C-F12EE86D241F}"/>
              </a:ext>
            </a:extLst>
          </p:cNvPr>
          <p:cNvCxnSpPr>
            <a:cxnSpLocks/>
          </p:cNvCxnSpPr>
          <p:nvPr/>
        </p:nvCxnSpPr>
        <p:spPr>
          <a:xfrm>
            <a:off x="8101494" y="5660204"/>
            <a:ext cx="91440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E7C9CB05-D7F1-3511-D086-07A0020237E9}"/>
              </a:ext>
            </a:extLst>
          </p:cNvPr>
          <p:cNvCxnSpPr>
            <a:cxnSpLocks/>
          </p:cNvCxnSpPr>
          <p:nvPr/>
        </p:nvCxnSpPr>
        <p:spPr>
          <a:xfrm>
            <a:off x="4237358" y="5643272"/>
            <a:ext cx="91440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2" name="TextBox 71">
            <a:extLst>
              <a:ext uri="{FF2B5EF4-FFF2-40B4-BE49-F238E27FC236}">
                <a16:creationId xmlns:a16="http://schemas.microsoft.com/office/drawing/2014/main" id="{9CB244D6-F295-A266-D577-97C208191BDF}"/>
              </a:ext>
            </a:extLst>
          </p:cNvPr>
          <p:cNvSpPr txBox="1"/>
          <p:nvPr/>
        </p:nvSpPr>
        <p:spPr>
          <a:xfrm>
            <a:off x="1734454" y="6597912"/>
            <a:ext cx="7742183" cy="261610"/>
          </a:xfrm>
          <a:prstGeom prst="rect">
            <a:avLst/>
          </a:prstGeom>
          <a:noFill/>
        </p:spPr>
        <p:txBody>
          <a:bodyPr wrap="square">
            <a:spAutoFit/>
          </a:bodyPr>
          <a:lstStyle/>
          <a:p>
            <a:r>
              <a:rPr lang="en-US" sz="1100" dirty="0"/>
              <a:t>* Note: Singular Vectors can also be used to soften the constraints: </a:t>
            </a:r>
            <a:r>
              <a:rPr lang="en-US" sz="1100" dirty="0">
                <a:hlinkClick r:id="rId13"/>
              </a:rPr>
              <a:t>https://doi.org/10.1016/j.ymssp.2021.108109</a:t>
            </a:r>
            <a:endParaRPr lang="en-US" sz="1100" dirty="0"/>
          </a:p>
        </p:txBody>
      </p:sp>
    </p:spTree>
    <p:extLst>
      <p:ext uri="{BB962C8B-B14F-4D97-AF65-F5344CB8AC3E}">
        <p14:creationId xmlns:p14="http://schemas.microsoft.com/office/powerpoint/2010/main" val="4169504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5" grpId="0" animBg="1"/>
      <p:bldP spid="40" grpId="0" animBg="1"/>
      <p:bldP spid="9" grpId="0" animBg="1"/>
      <p:bldP spid="10" grpId="0" animBg="1"/>
      <p:bldP spid="13" grpId="0" animBg="1"/>
      <p:bldP spid="42" grpId="0"/>
      <p:bldP spid="48" grpId="0"/>
      <p:bldP spid="49" grpId="0"/>
      <p:bldP spid="5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0E498A7B-D119-998D-5088-3547F060D7F0}"/>
              </a:ext>
            </a:extLst>
          </p:cNvPr>
          <p:cNvPicPr>
            <a:picLocks noChangeAspect="1"/>
          </p:cNvPicPr>
          <p:nvPr/>
        </p:nvPicPr>
        <p:blipFill>
          <a:blip r:embed="rId3"/>
          <a:stretch>
            <a:fillRect/>
          </a:stretch>
        </p:blipFill>
        <p:spPr>
          <a:xfrm>
            <a:off x="6032487" y="3724539"/>
            <a:ext cx="5715000" cy="2743200"/>
          </a:xfrm>
          <a:prstGeom prst="rect">
            <a:avLst/>
          </a:prstGeom>
        </p:spPr>
      </p:pic>
      <p:pic>
        <p:nvPicPr>
          <p:cNvPr id="20" name="Picture 19">
            <a:extLst>
              <a:ext uri="{FF2B5EF4-FFF2-40B4-BE49-F238E27FC236}">
                <a16:creationId xmlns:a16="http://schemas.microsoft.com/office/drawing/2014/main" id="{733D4686-D32E-EC94-AFC5-059E9D7AAB52}"/>
              </a:ext>
            </a:extLst>
          </p:cNvPr>
          <p:cNvPicPr>
            <a:picLocks noChangeAspect="1"/>
          </p:cNvPicPr>
          <p:nvPr/>
        </p:nvPicPr>
        <p:blipFill>
          <a:blip r:embed="rId4"/>
          <a:stretch>
            <a:fillRect/>
          </a:stretch>
        </p:blipFill>
        <p:spPr>
          <a:xfrm>
            <a:off x="452947" y="3724539"/>
            <a:ext cx="5715000" cy="2743200"/>
          </a:xfrm>
          <a:prstGeom prst="rect">
            <a:avLst/>
          </a:prstGeom>
        </p:spPr>
      </p:pic>
      <p:pic>
        <p:nvPicPr>
          <p:cNvPr id="17" name="Picture 16">
            <a:extLst>
              <a:ext uri="{FF2B5EF4-FFF2-40B4-BE49-F238E27FC236}">
                <a16:creationId xmlns:a16="http://schemas.microsoft.com/office/drawing/2014/main" id="{04D17E56-80C8-937A-B03A-E2BF94E7A423}"/>
              </a:ext>
            </a:extLst>
          </p:cNvPr>
          <p:cNvPicPr>
            <a:picLocks noChangeAspect="1"/>
          </p:cNvPicPr>
          <p:nvPr/>
        </p:nvPicPr>
        <p:blipFill>
          <a:blip r:embed="rId5"/>
          <a:stretch>
            <a:fillRect/>
          </a:stretch>
        </p:blipFill>
        <p:spPr>
          <a:xfrm>
            <a:off x="6032487" y="872067"/>
            <a:ext cx="5715000" cy="2743200"/>
          </a:xfrm>
          <a:prstGeom prst="rect">
            <a:avLst/>
          </a:prstGeom>
        </p:spPr>
      </p:pic>
      <p:pic>
        <p:nvPicPr>
          <p:cNvPr id="13" name="Picture 12">
            <a:extLst>
              <a:ext uri="{FF2B5EF4-FFF2-40B4-BE49-F238E27FC236}">
                <a16:creationId xmlns:a16="http://schemas.microsoft.com/office/drawing/2014/main" id="{C746ADF9-C8CB-EA67-92EE-D3F8F9FD842B}"/>
              </a:ext>
            </a:extLst>
          </p:cNvPr>
          <p:cNvPicPr>
            <a:picLocks noChangeAspect="1"/>
          </p:cNvPicPr>
          <p:nvPr/>
        </p:nvPicPr>
        <p:blipFill>
          <a:blip r:embed="rId6"/>
          <a:stretch>
            <a:fillRect/>
          </a:stretch>
        </p:blipFill>
        <p:spPr>
          <a:xfrm>
            <a:off x="452947" y="872067"/>
            <a:ext cx="5715000" cy="2743200"/>
          </a:xfrm>
          <a:prstGeom prst="rect">
            <a:avLst/>
          </a:prstGeom>
        </p:spPr>
      </p:pic>
      <p:sp>
        <p:nvSpPr>
          <p:cNvPr id="2" name="Title 1">
            <a:extLst>
              <a:ext uri="{FF2B5EF4-FFF2-40B4-BE49-F238E27FC236}">
                <a16:creationId xmlns:a16="http://schemas.microsoft.com/office/drawing/2014/main" id="{A1F0CAA3-CE6D-2E31-2755-CC503B0F519B}"/>
              </a:ext>
            </a:extLst>
          </p:cNvPr>
          <p:cNvSpPr>
            <a:spLocks noGrp="1"/>
          </p:cNvSpPr>
          <p:nvPr>
            <p:ph type="title"/>
          </p:nvPr>
        </p:nvSpPr>
        <p:spPr>
          <a:xfrm>
            <a:off x="0" y="136525"/>
            <a:ext cx="12192000" cy="662781"/>
          </a:xfrm>
        </p:spPr>
        <p:txBody>
          <a:bodyPr>
            <a:normAutofit fontScale="90000"/>
          </a:bodyPr>
          <a:lstStyle/>
          <a:p>
            <a:pPr algn="ctr"/>
            <a:r>
              <a:rPr lang="en-US" dirty="0"/>
              <a:t>How does the TS Change the A Beam and B Beam?</a:t>
            </a:r>
          </a:p>
        </p:txBody>
      </p:sp>
      <p:pic>
        <p:nvPicPr>
          <p:cNvPr id="8" name="Picture 7">
            <a:extLst>
              <a:ext uri="{FF2B5EF4-FFF2-40B4-BE49-F238E27FC236}">
                <a16:creationId xmlns:a16="http://schemas.microsoft.com/office/drawing/2014/main" id="{1DC62BFB-3AA7-EBEF-1342-907FE3E840F2}"/>
              </a:ext>
            </a:extLst>
          </p:cNvPr>
          <p:cNvPicPr>
            <a:picLocks noChangeAspect="1"/>
          </p:cNvPicPr>
          <p:nvPr/>
        </p:nvPicPr>
        <p:blipFill>
          <a:blip r:embed="rId7"/>
          <a:srcRect l="66370" t="11266" r="10519" b="65278"/>
          <a:stretch/>
        </p:blipFill>
        <p:spPr>
          <a:xfrm>
            <a:off x="8564002" y="5342465"/>
            <a:ext cx="1320821" cy="643468"/>
          </a:xfrm>
          <a:prstGeom prst="rect">
            <a:avLst/>
          </a:prstGeom>
        </p:spPr>
      </p:pic>
      <p:pic>
        <p:nvPicPr>
          <p:cNvPr id="10" name="Picture 9">
            <a:extLst>
              <a:ext uri="{FF2B5EF4-FFF2-40B4-BE49-F238E27FC236}">
                <a16:creationId xmlns:a16="http://schemas.microsoft.com/office/drawing/2014/main" id="{C0933C61-CEA6-BECA-3E68-639A960E193A}"/>
              </a:ext>
            </a:extLst>
          </p:cNvPr>
          <p:cNvPicPr>
            <a:picLocks noChangeAspect="1"/>
          </p:cNvPicPr>
          <p:nvPr/>
        </p:nvPicPr>
        <p:blipFill>
          <a:blip r:embed="rId8"/>
          <a:srcRect l="69556" t="12655" r="12222" b="69753"/>
          <a:stretch/>
        </p:blipFill>
        <p:spPr>
          <a:xfrm>
            <a:off x="2199505" y="5422899"/>
            <a:ext cx="1041400" cy="482600"/>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B58ACC7B-EE1E-361A-6980-F5D7204D00C7}"/>
                  </a:ext>
                </a:extLst>
              </p:cNvPr>
              <p:cNvSpPr txBox="1"/>
              <p:nvPr/>
            </p:nvSpPr>
            <p:spPr>
              <a:xfrm>
                <a:off x="8959529" y="4059481"/>
                <a:ext cx="1561151" cy="584775"/>
              </a:xfrm>
              <a:prstGeom prst="rect">
                <a:avLst/>
              </a:prstGeom>
              <a:solidFill>
                <a:schemeClr val="bg1"/>
              </a:solidFill>
              <a:ln w="38100">
                <a:solidFill>
                  <a:srgbClr val="00B050"/>
                </a:solidFill>
              </a:ln>
            </p:spPr>
            <p:txBody>
              <a:bodyPr wrap="square" rtlCol="0">
                <a:spAutoFit/>
              </a:bodyPr>
              <a:lstStyle/>
              <a:p>
                <a:pPr algn="ctr"/>
                <a:r>
                  <a:rPr lang="en-US" sz="1600" dirty="0"/>
                  <a:t>A </a:t>
                </a:r>
                <a:r>
                  <a:rPr lang="en-US" sz="1600" dirty="0" err="1"/>
                  <a:t>Freqs</a:t>
                </a:r>
                <a:r>
                  <a:rPr lang="en-US" sz="1600" dirty="0"/>
                  <a:t>: </a:t>
                </a:r>
                <a14:m>
                  <m:oMath xmlns:m="http://schemas.openxmlformats.org/officeDocument/2006/math">
                    <m:r>
                      <a:rPr lang="en-US" sz="1600" i="1">
                        <a:latin typeface="Cambria Math" panose="02040503050406030204" pitchFamily="18" charset="0"/>
                      </a:rPr>
                      <m:t>−</m:t>
                    </m:r>
                    <m:r>
                      <a:rPr lang="en-US" sz="1600" b="0" i="1" smtClean="0">
                        <a:latin typeface="Cambria Math" panose="02040503050406030204" pitchFamily="18" charset="0"/>
                      </a:rPr>
                      <m:t>3</m:t>
                    </m:r>
                    <m:r>
                      <a:rPr lang="en-US" sz="1600" i="1">
                        <a:latin typeface="Cambria Math" panose="02040503050406030204" pitchFamily="18" charset="0"/>
                      </a:rPr>
                      <m:t>5%</m:t>
                    </m:r>
                  </m:oMath>
                </a14:m>
                <a:endParaRPr lang="en-US" sz="1600" dirty="0"/>
              </a:p>
              <a:p>
                <a:pPr algn="ctr"/>
                <a:r>
                  <a:rPr lang="en-US" sz="1600" dirty="0"/>
                  <a:t>B </a:t>
                </a:r>
                <a:r>
                  <a:rPr lang="en-US" sz="1600" dirty="0" err="1"/>
                  <a:t>Freqs</a:t>
                </a:r>
                <a:r>
                  <a:rPr lang="en-US" sz="1600" dirty="0"/>
                  <a:t>: </a:t>
                </a:r>
                <a14:m>
                  <m:oMath xmlns:m="http://schemas.openxmlformats.org/officeDocument/2006/math">
                    <m:r>
                      <a:rPr lang="en-US" sz="1600" b="0" i="1" smtClean="0">
                        <a:latin typeface="Cambria Math" panose="02040503050406030204" pitchFamily="18" charset="0"/>
                      </a:rPr>
                      <m:t>−55%</m:t>
                    </m:r>
                  </m:oMath>
                </a14:m>
                <a:endParaRPr lang="en-US" sz="1600" b="0" dirty="0"/>
              </a:p>
            </p:txBody>
          </p:sp>
        </mc:Choice>
        <mc:Fallback xmlns="">
          <p:sp>
            <p:nvSpPr>
              <p:cNvPr id="27" name="TextBox 26">
                <a:extLst>
                  <a:ext uri="{FF2B5EF4-FFF2-40B4-BE49-F238E27FC236}">
                    <a16:creationId xmlns:a16="http://schemas.microsoft.com/office/drawing/2014/main" id="{B58ACC7B-EE1E-361A-6980-F5D7204D00C7}"/>
                  </a:ext>
                </a:extLst>
              </p:cNvPr>
              <p:cNvSpPr txBox="1">
                <a:spLocks noRot="1" noChangeAspect="1" noMove="1" noResize="1" noEditPoints="1" noAdjustHandles="1" noChangeArrowheads="1" noChangeShapeType="1" noTextEdit="1"/>
              </p:cNvSpPr>
              <p:nvPr/>
            </p:nvSpPr>
            <p:spPr>
              <a:xfrm>
                <a:off x="8959529" y="4059481"/>
                <a:ext cx="1561151" cy="584775"/>
              </a:xfrm>
              <a:prstGeom prst="rect">
                <a:avLst/>
              </a:prstGeom>
              <a:blipFill>
                <a:blip r:embed="rId9"/>
                <a:stretch>
                  <a:fillRect b="-8824"/>
                </a:stretch>
              </a:blipFill>
              <a:ln w="38100">
                <a:solidFill>
                  <a:srgbClr val="00B050"/>
                </a:solidFill>
              </a:ln>
            </p:spPr>
            <p:txBody>
              <a:bodyPr/>
              <a:lstStyle/>
              <a:p>
                <a:r>
                  <a:rPr lang="en-US">
                    <a:noFill/>
                  </a:rPr>
                  <a:t> </a:t>
                </a:r>
              </a:p>
            </p:txBody>
          </p:sp>
        </mc:Fallback>
      </mc:AlternateContent>
      <p:sp>
        <p:nvSpPr>
          <p:cNvPr id="28" name="Oval 27">
            <a:extLst>
              <a:ext uri="{FF2B5EF4-FFF2-40B4-BE49-F238E27FC236}">
                <a16:creationId xmlns:a16="http://schemas.microsoft.com/office/drawing/2014/main" id="{7075BEF0-CBD8-0CCF-E822-5A79F7E9E34C}"/>
              </a:ext>
            </a:extLst>
          </p:cNvPr>
          <p:cNvSpPr/>
          <p:nvPr/>
        </p:nvSpPr>
        <p:spPr>
          <a:xfrm>
            <a:off x="9025454" y="1600198"/>
            <a:ext cx="1097280" cy="1097280"/>
          </a:xfrm>
          <a:prstGeom prst="ellipse">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96A27DBB-AE4F-9870-0437-45E868D445FA}"/>
              </a:ext>
            </a:extLst>
          </p:cNvPr>
          <p:cNvSpPr txBox="1"/>
          <p:nvPr/>
        </p:nvSpPr>
        <p:spPr>
          <a:xfrm>
            <a:off x="11016816" y="2423408"/>
            <a:ext cx="1097280" cy="830997"/>
          </a:xfrm>
          <a:prstGeom prst="rect">
            <a:avLst/>
          </a:prstGeom>
          <a:solidFill>
            <a:schemeClr val="bg1"/>
          </a:solidFill>
          <a:ln w="38100">
            <a:solidFill>
              <a:schemeClr val="tx1"/>
            </a:solidFill>
          </a:ln>
        </p:spPr>
        <p:txBody>
          <a:bodyPr wrap="square" rtlCol="0">
            <a:spAutoFit/>
          </a:bodyPr>
          <a:lstStyle/>
          <a:p>
            <a:pPr algn="ctr"/>
            <a:r>
              <a:rPr lang="en-US" sz="1600" dirty="0"/>
              <a:t>A lot more going on here now!</a:t>
            </a:r>
            <a:endParaRPr lang="en-US" sz="1600" b="0" dirty="0"/>
          </a:p>
        </p:txBody>
      </p:sp>
      <p:cxnSp>
        <p:nvCxnSpPr>
          <p:cNvPr id="31" name="Straight Arrow Connector 30">
            <a:extLst>
              <a:ext uri="{FF2B5EF4-FFF2-40B4-BE49-F238E27FC236}">
                <a16:creationId xmlns:a16="http://schemas.microsoft.com/office/drawing/2014/main" id="{505DC9E9-CAA4-C0E7-D766-B63F0E06585A}"/>
              </a:ext>
            </a:extLst>
          </p:cNvPr>
          <p:cNvCxnSpPr>
            <a:stCxn id="29" idx="1"/>
          </p:cNvCxnSpPr>
          <p:nvPr/>
        </p:nvCxnSpPr>
        <p:spPr>
          <a:xfrm flipH="1" flipV="1">
            <a:off x="10092267" y="2336800"/>
            <a:ext cx="924549" cy="502107"/>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477A5967-CF1C-9002-0EEB-34B8169F010C}"/>
              </a:ext>
            </a:extLst>
          </p:cNvPr>
          <p:cNvCxnSpPr>
            <a:cxnSpLocks/>
          </p:cNvCxnSpPr>
          <p:nvPr/>
        </p:nvCxnSpPr>
        <p:spPr>
          <a:xfrm flipH="1">
            <a:off x="7998580" y="4059770"/>
            <a:ext cx="960949" cy="0"/>
          </a:xfrm>
          <a:prstGeom prst="straightConnector1">
            <a:avLst/>
          </a:prstGeom>
          <a:ln w="38100">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B9E83539-5C3B-7DB9-9469-4D5D9BDD1DA9}"/>
              </a:ext>
            </a:extLst>
          </p:cNvPr>
          <p:cNvSpPr txBox="1"/>
          <p:nvPr/>
        </p:nvSpPr>
        <p:spPr>
          <a:xfrm>
            <a:off x="11306063" y="4724620"/>
            <a:ext cx="865980" cy="830997"/>
          </a:xfrm>
          <a:prstGeom prst="rect">
            <a:avLst/>
          </a:prstGeom>
          <a:solidFill>
            <a:schemeClr val="bg1"/>
          </a:solidFill>
          <a:ln w="38100">
            <a:solidFill>
              <a:schemeClr val="tx1"/>
            </a:solidFill>
          </a:ln>
        </p:spPr>
        <p:txBody>
          <a:bodyPr wrap="square" rtlCol="0">
            <a:spAutoFit/>
          </a:bodyPr>
          <a:lstStyle/>
          <a:p>
            <a:pPr algn="ctr"/>
            <a:r>
              <a:rPr lang="en-US" sz="1600" dirty="0"/>
              <a:t>Added modes to A &amp; B</a:t>
            </a:r>
            <a:endParaRPr lang="en-US" sz="1600" b="0" dirty="0"/>
          </a:p>
        </p:txBody>
      </p:sp>
      <p:cxnSp>
        <p:nvCxnSpPr>
          <p:cNvPr id="36" name="Straight Arrow Connector 35">
            <a:extLst>
              <a:ext uri="{FF2B5EF4-FFF2-40B4-BE49-F238E27FC236}">
                <a16:creationId xmlns:a16="http://schemas.microsoft.com/office/drawing/2014/main" id="{506446D5-BEFA-E000-F31E-5FDD259AA1F9}"/>
              </a:ext>
            </a:extLst>
          </p:cNvPr>
          <p:cNvCxnSpPr>
            <a:cxnSpLocks/>
            <a:stCxn id="35" idx="1"/>
          </p:cNvCxnSpPr>
          <p:nvPr/>
        </p:nvCxnSpPr>
        <p:spPr>
          <a:xfrm flipH="1" flipV="1">
            <a:off x="10566400" y="4854671"/>
            <a:ext cx="739663" cy="285448"/>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E44D4A3E-1871-A82E-26EF-2906B1D74CD3}"/>
              </a:ext>
            </a:extLst>
          </p:cNvPr>
          <p:cNvCxnSpPr>
            <a:cxnSpLocks/>
            <a:stCxn id="35" idx="1"/>
          </p:cNvCxnSpPr>
          <p:nvPr/>
        </p:nvCxnSpPr>
        <p:spPr>
          <a:xfrm flipH="1" flipV="1">
            <a:off x="11180233" y="4854671"/>
            <a:ext cx="125830" cy="285448"/>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458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963CF173-FDD7-AA73-A9CF-A63B9E43BCDB}"/>
              </a:ext>
            </a:extLst>
          </p:cNvPr>
          <p:cNvPicPr>
            <a:picLocks noChangeAspect="1"/>
          </p:cNvPicPr>
          <p:nvPr/>
        </p:nvPicPr>
        <p:blipFill>
          <a:blip r:embed="rId2"/>
          <a:stretch>
            <a:fillRect/>
          </a:stretch>
        </p:blipFill>
        <p:spPr>
          <a:xfrm>
            <a:off x="152400" y="1912150"/>
            <a:ext cx="5943600" cy="4114800"/>
          </a:xfrm>
          <a:prstGeom prst="rect">
            <a:avLst/>
          </a:prstGeom>
        </p:spPr>
      </p:pic>
      <p:sp>
        <p:nvSpPr>
          <p:cNvPr id="2" name="Title 1">
            <a:extLst>
              <a:ext uri="{FF2B5EF4-FFF2-40B4-BE49-F238E27FC236}">
                <a16:creationId xmlns:a16="http://schemas.microsoft.com/office/drawing/2014/main" id="{0C0D962A-A594-49E5-25EA-F37E1D35DBDA}"/>
              </a:ext>
            </a:extLst>
          </p:cNvPr>
          <p:cNvSpPr>
            <a:spLocks noGrp="1"/>
          </p:cNvSpPr>
          <p:nvPr>
            <p:ph type="title"/>
          </p:nvPr>
        </p:nvSpPr>
        <p:spPr>
          <a:xfrm>
            <a:off x="0" y="136525"/>
            <a:ext cx="12192000" cy="662781"/>
          </a:xfrm>
        </p:spPr>
        <p:txBody>
          <a:bodyPr>
            <a:normAutofit fontScale="90000"/>
          </a:bodyPr>
          <a:lstStyle/>
          <a:p>
            <a:pPr algn="ctr"/>
            <a:r>
              <a:rPr lang="en-US" dirty="0"/>
              <a:t>The TSM Significantly Improves the C Beam Model</a:t>
            </a:r>
          </a:p>
        </p:txBody>
      </p:sp>
      <p:sp>
        <p:nvSpPr>
          <p:cNvPr id="4" name="Rectangle 3">
            <a:extLst>
              <a:ext uri="{FF2B5EF4-FFF2-40B4-BE49-F238E27FC236}">
                <a16:creationId xmlns:a16="http://schemas.microsoft.com/office/drawing/2014/main" id="{8A593886-2573-B8E7-DD2F-8F89AD3DDD67}"/>
              </a:ext>
            </a:extLst>
          </p:cNvPr>
          <p:cNvSpPr/>
          <p:nvPr/>
        </p:nvSpPr>
        <p:spPr>
          <a:xfrm>
            <a:off x="70631" y="1100028"/>
            <a:ext cx="2743200" cy="457200"/>
          </a:xfrm>
          <a:prstGeom prst="rect">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6" name="Rectangle 5">
            <a:extLst>
              <a:ext uri="{FF2B5EF4-FFF2-40B4-BE49-F238E27FC236}">
                <a16:creationId xmlns:a16="http://schemas.microsoft.com/office/drawing/2014/main" id="{B17084CF-409C-6A4F-7FDD-AFEBB275EA26}"/>
              </a:ext>
            </a:extLst>
          </p:cNvPr>
          <p:cNvSpPr/>
          <p:nvPr/>
        </p:nvSpPr>
        <p:spPr>
          <a:xfrm>
            <a:off x="5384879" y="1095527"/>
            <a:ext cx="1828800" cy="457200"/>
          </a:xfrm>
          <a:prstGeom prst="rect">
            <a:avLst/>
          </a:prstGeom>
          <a:solidFill>
            <a:schemeClr val="accent2">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 name="Rectangle 6">
            <a:extLst>
              <a:ext uri="{FF2B5EF4-FFF2-40B4-BE49-F238E27FC236}">
                <a16:creationId xmlns:a16="http://schemas.microsoft.com/office/drawing/2014/main" id="{3AF8D01E-AEB0-617E-DAB6-14E22B725213}"/>
              </a:ext>
            </a:extLst>
          </p:cNvPr>
          <p:cNvSpPr/>
          <p:nvPr/>
        </p:nvSpPr>
        <p:spPr>
          <a:xfrm>
            <a:off x="7523435" y="1077804"/>
            <a:ext cx="4572000" cy="457200"/>
          </a:xfrm>
          <a:prstGeom prst="rect">
            <a:avLst/>
          </a:prstGeom>
          <a:solidFill>
            <a:srgbClr val="00B05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8" name="TextBox 7">
            <a:extLst>
              <a:ext uri="{FF2B5EF4-FFF2-40B4-BE49-F238E27FC236}">
                <a16:creationId xmlns:a16="http://schemas.microsoft.com/office/drawing/2014/main" id="{48F70BB4-20E4-7A6F-F228-07754EE9D81D}"/>
              </a:ext>
            </a:extLst>
          </p:cNvPr>
          <p:cNvSpPr txBox="1"/>
          <p:nvPr/>
        </p:nvSpPr>
        <p:spPr>
          <a:xfrm>
            <a:off x="4208434" y="1122680"/>
            <a:ext cx="320922" cy="400110"/>
          </a:xfrm>
          <a:prstGeom prst="rect">
            <a:avLst/>
          </a:prstGeom>
          <a:noFill/>
        </p:spPr>
        <p:txBody>
          <a:bodyPr wrap="none" rtlCol="0">
            <a:spAutoFit/>
          </a:bodyPr>
          <a:lstStyle/>
          <a:p>
            <a:r>
              <a:rPr lang="en-US" sz="2000" b="1" dirty="0"/>
              <a:t>+</a:t>
            </a:r>
          </a:p>
        </p:txBody>
      </p:sp>
      <p:sp>
        <p:nvSpPr>
          <p:cNvPr id="10" name="TextBox 9">
            <a:extLst>
              <a:ext uri="{FF2B5EF4-FFF2-40B4-BE49-F238E27FC236}">
                <a16:creationId xmlns:a16="http://schemas.microsoft.com/office/drawing/2014/main" id="{D458A2B2-9101-35AE-E513-B6CE81102C74}"/>
              </a:ext>
            </a:extLst>
          </p:cNvPr>
          <p:cNvSpPr txBox="1"/>
          <p:nvPr/>
        </p:nvSpPr>
        <p:spPr>
          <a:xfrm>
            <a:off x="7221228" y="1110064"/>
            <a:ext cx="320922" cy="400110"/>
          </a:xfrm>
          <a:prstGeom prst="rect">
            <a:avLst/>
          </a:prstGeom>
          <a:noFill/>
        </p:spPr>
        <p:txBody>
          <a:bodyPr wrap="none" rtlCol="0">
            <a:spAutoFit/>
          </a:bodyPr>
          <a:lstStyle/>
          <a:p>
            <a:r>
              <a:rPr lang="en-US" sz="2000" b="1" dirty="0"/>
              <a:t>=</a:t>
            </a:r>
          </a:p>
        </p:txBody>
      </p:sp>
      <p:cxnSp>
        <p:nvCxnSpPr>
          <p:cNvPr id="11" name="Straight Connector 10">
            <a:extLst>
              <a:ext uri="{FF2B5EF4-FFF2-40B4-BE49-F238E27FC236}">
                <a16:creationId xmlns:a16="http://schemas.microsoft.com/office/drawing/2014/main" id="{72A82667-04C9-5BD8-59E7-FDA82D6B107B}"/>
              </a:ext>
            </a:extLst>
          </p:cNvPr>
          <p:cNvCxnSpPr/>
          <p:nvPr/>
        </p:nvCxnSpPr>
        <p:spPr>
          <a:xfrm>
            <a:off x="10266635" y="1077804"/>
            <a:ext cx="0" cy="4572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4716A410-B681-25C5-69E4-F9AA5801AB3E}"/>
              </a:ext>
            </a:extLst>
          </p:cNvPr>
          <p:cNvSpPr/>
          <p:nvPr/>
        </p:nvSpPr>
        <p:spPr>
          <a:xfrm>
            <a:off x="2028216" y="1013271"/>
            <a:ext cx="794081" cy="628733"/>
          </a:xfrm>
          <a:prstGeom prst="rect">
            <a:avLst/>
          </a:prstGeom>
          <a:solidFill>
            <a:srgbClr val="FF0000">
              <a:alpha val="6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p:sp>
        <p:nvSpPr>
          <p:cNvPr id="13" name="Rectangle 12">
            <a:extLst>
              <a:ext uri="{FF2B5EF4-FFF2-40B4-BE49-F238E27FC236}">
                <a16:creationId xmlns:a16="http://schemas.microsoft.com/office/drawing/2014/main" id="{4BB0B15D-A7BA-E4AF-1DC1-4BD8BE17499F}"/>
              </a:ext>
            </a:extLst>
          </p:cNvPr>
          <p:cNvSpPr/>
          <p:nvPr/>
        </p:nvSpPr>
        <p:spPr>
          <a:xfrm>
            <a:off x="4587649" y="1012245"/>
            <a:ext cx="794081" cy="628732"/>
          </a:xfrm>
          <a:prstGeom prst="rect">
            <a:avLst/>
          </a:prstGeom>
          <a:solidFill>
            <a:srgbClr val="FF000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9B0A0D0-FEA2-8C7D-5693-70E20173F452}"/>
                  </a:ext>
                </a:extLst>
              </p:cNvPr>
              <p:cNvSpPr txBox="1"/>
              <p:nvPr/>
            </p:nvSpPr>
            <p:spPr>
              <a:xfrm>
                <a:off x="2836795" y="1133980"/>
                <a:ext cx="510076" cy="338554"/>
              </a:xfrm>
              <a:prstGeom prst="rect">
                <a:avLst/>
              </a:prstGeom>
              <a:noFill/>
            </p:spPr>
            <p:txBody>
              <a:bodyPr wrap="none" rtlCol="0">
                <a:spAutoFit/>
              </a:bodyPr>
              <a:lstStyle/>
              <a:p>
                <a:r>
                  <a:rPr lang="en-US" sz="1600" b="1" dirty="0">
                    <a:ea typeface="Cambria Math" panose="02040503050406030204" pitchFamily="18" charset="0"/>
                  </a:rPr>
                  <a:t>-2</a:t>
                </a:r>
                <a14:m>
                  <m:oMath xmlns:m="http://schemas.openxmlformats.org/officeDocument/2006/math">
                    <m:r>
                      <a:rPr lang="en-US" sz="1600" b="1" i="0" smtClean="0">
                        <a:latin typeface="Cambria Math" panose="02040503050406030204" pitchFamily="18" charset="0"/>
                        <a:ea typeface="Cambria Math" panose="02040503050406030204" pitchFamily="18" charset="0"/>
                      </a:rPr>
                      <m:t>×</m:t>
                    </m:r>
                  </m:oMath>
                </a14:m>
                <a:endParaRPr lang="en-US" sz="1600" b="1" dirty="0"/>
              </a:p>
            </p:txBody>
          </p:sp>
        </mc:Choice>
        <mc:Fallback xmlns="">
          <p:sp>
            <p:nvSpPr>
              <p:cNvPr id="14" name="TextBox 13">
                <a:extLst>
                  <a:ext uri="{FF2B5EF4-FFF2-40B4-BE49-F238E27FC236}">
                    <a16:creationId xmlns:a16="http://schemas.microsoft.com/office/drawing/2014/main" id="{C9B0A0D0-FEA2-8C7D-5693-70E20173F452}"/>
                  </a:ext>
                </a:extLst>
              </p:cNvPr>
              <p:cNvSpPr txBox="1">
                <a:spLocks noRot="1" noChangeAspect="1" noMove="1" noResize="1" noEditPoints="1" noAdjustHandles="1" noChangeArrowheads="1" noChangeShapeType="1" noTextEdit="1"/>
              </p:cNvSpPr>
              <p:nvPr/>
            </p:nvSpPr>
            <p:spPr>
              <a:xfrm>
                <a:off x="2836795" y="1133980"/>
                <a:ext cx="510076" cy="338554"/>
              </a:xfrm>
              <a:prstGeom prst="rect">
                <a:avLst/>
              </a:prstGeom>
              <a:blipFill>
                <a:blip r:embed="rId3"/>
                <a:stretch>
                  <a:fillRect l="-5952" t="-5357" b="-21429"/>
                </a:stretch>
              </a:blipFill>
            </p:spPr>
            <p:txBody>
              <a:bodyPr/>
              <a:lstStyle/>
              <a:p>
                <a:r>
                  <a:rPr lang="en-US">
                    <a:noFill/>
                  </a:rPr>
                  <a:t> </a:t>
                </a:r>
              </a:p>
            </p:txBody>
          </p:sp>
        </mc:Fallback>
      </mc:AlternateContent>
      <p:sp>
        <p:nvSpPr>
          <p:cNvPr id="15" name="Rectangle 14">
            <a:extLst>
              <a:ext uri="{FF2B5EF4-FFF2-40B4-BE49-F238E27FC236}">
                <a16:creationId xmlns:a16="http://schemas.microsoft.com/office/drawing/2014/main" id="{2C84A036-12AA-0B2A-F88C-92AC2FD048E2}"/>
              </a:ext>
            </a:extLst>
          </p:cNvPr>
          <p:cNvSpPr/>
          <p:nvPr/>
        </p:nvSpPr>
        <p:spPr>
          <a:xfrm>
            <a:off x="3346319" y="1012245"/>
            <a:ext cx="794081" cy="628732"/>
          </a:xfrm>
          <a:prstGeom prst="rect">
            <a:avLst/>
          </a:prstGeom>
          <a:solidFill>
            <a:srgbClr val="FF000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p:graphicFrame>
        <p:nvGraphicFramePr>
          <p:cNvPr id="18" name="Table 17">
            <a:extLst>
              <a:ext uri="{FF2B5EF4-FFF2-40B4-BE49-F238E27FC236}">
                <a16:creationId xmlns:a16="http://schemas.microsoft.com/office/drawing/2014/main" id="{6946233A-D61A-996C-1D46-3460FFB28C8E}"/>
              </a:ext>
            </a:extLst>
          </p:cNvPr>
          <p:cNvGraphicFramePr>
            <a:graphicFrameLocks noGrp="1"/>
          </p:cNvGraphicFramePr>
          <p:nvPr>
            <p:extLst>
              <p:ext uri="{D42A27DB-BD31-4B8C-83A1-F6EECF244321}">
                <p14:modId xmlns:p14="http://schemas.microsoft.com/office/powerpoint/2010/main" val="743289904"/>
              </p:ext>
            </p:extLst>
          </p:nvPr>
        </p:nvGraphicFramePr>
        <p:xfrm>
          <a:off x="6299279" y="2017232"/>
          <a:ext cx="4030130" cy="2001520"/>
        </p:xfrm>
        <a:graphic>
          <a:graphicData uri="http://schemas.openxmlformats.org/drawingml/2006/table">
            <a:tbl>
              <a:tblPr>
                <a:tableStyleId>{5C22544A-7EE6-4342-B048-85BDC9FD1C3A}</a:tableStyleId>
              </a:tblPr>
              <a:tblGrid>
                <a:gridCol w="840976">
                  <a:extLst>
                    <a:ext uri="{9D8B030D-6E8A-4147-A177-3AD203B41FA5}">
                      <a16:colId xmlns:a16="http://schemas.microsoft.com/office/drawing/2014/main" val="2450939244"/>
                    </a:ext>
                  </a:extLst>
                </a:gridCol>
                <a:gridCol w="840976">
                  <a:extLst>
                    <a:ext uri="{9D8B030D-6E8A-4147-A177-3AD203B41FA5}">
                      <a16:colId xmlns:a16="http://schemas.microsoft.com/office/drawing/2014/main" val="3815155894"/>
                    </a:ext>
                  </a:extLst>
                </a:gridCol>
                <a:gridCol w="753601">
                  <a:extLst>
                    <a:ext uri="{9D8B030D-6E8A-4147-A177-3AD203B41FA5}">
                      <a16:colId xmlns:a16="http://schemas.microsoft.com/office/drawing/2014/main" val="269608670"/>
                    </a:ext>
                  </a:extLst>
                </a:gridCol>
                <a:gridCol w="840976">
                  <a:extLst>
                    <a:ext uri="{9D8B030D-6E8A-4147-A177-3AD203B41FA5}">
                      <a16:colId xmlns:a16="http://schemas.microsoft.com/office/drawing/2014/main" val="400567126"/>
                    </a:ext>
                  </a:extLst>
                </a:gridCol>
                <a:gridCol w="753601">
                  <a:extLst>
                    <a:ext uri="{9D8B030D-6E8A-4147-A177-3AD203B41FA5}">
                      <a16:colId xmlns:a16="http://schemas.microsoft.com/office/drawing/2014/main" val="3031023709"/>
                    </a:ext>
                  </a:extLst>
                </a:gridCol>
              </a:tblGrid>
              <a:tr h="225300">
                <a:tc gridSpan="5">
                  <a:txBody>
                    <a:bodyPr/>
                    <a:lstStyle/>
                    <a:p>
                      <a:pPr algn="ctr" fontAlgn="b"/>
                      <a:r>
                        <a:rPr lang="en-US" sz="1600" b="1" u="none" strike="noStrike" dirty="0">
                          <a:effectLst/>
                        </a:rPr>
                        <a:t>Natural Frequency (Hz)</a:t>
                      </a:r>
                      <a:endParaRPr lang="en-US" sz="1600" b="1" i="0" u="none" strike="noStrike" dirty="0">
                        <a:solidFill>
                          <a:srgbClr val="000000"/>
                        </a:solidFill>
                        <a:effectLst/>
                        <a:latin typeface="Aptos Narrow" panose="020B0004020202020204" pitchFamily="34" charset="0"/>
                      </a:endParaRP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63178152"/>
                  </a:ext>
                </a:extLst>
              </a:tr>
              <a:tr h="225300">
                <a:tc>
                  <a:txBody>
                    <a:bodyPr/>
                    <a:lstStyle/>
                    <a:p>
                      <a:pPr algn="ctr" fontAlgn="b"/>
                      <a:r>
                        <a:rPr lang="en-US" sz="1600" b="1" u="none" strike="noStrike" dirty="0">
                          <a:effectLst/>
                        </a:rPr>
                        <a:t>Truth</a:t>
                      </a:r>
                      <a:endParaRPr lang="en-US" sz="1600" b="1"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b="1" u="none" strike="noStrike" dirty="0">
                          <a:effectLst/>
                        </a:rPr>
                        <a:t>CMS</a:t>
                      </a:r>
                      <a:endParaRPr lang="en-US" sz="1600" b="1"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u="none" strike="noStrike" dirty="0">
                          <a:effectLst/>
                        </a:rPr>
                        <a:t>% Error</a:t>
                      </a:r>
                      <a:endParaRPr lang="en-US" sz="1600" b="1" i="0" u="none" strike="noStrike" dirty="0">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u="none" strike="noStrike" dirty="0">
                          <a:effectLst/>
                        </a:rPr>
                        <a:t>TSM</a:t>
                      </a:r>
                      <a:endParaRPr lang="en-US" sz="1600" b="1"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u="none" strike="noStrike" dirty="0">
                          <a:effectLst/>
                        </a:rPr>
                        <a:t>% Error</a:t>
                      </a:r>
                      <a:endParaRPr lang="en-US" sz="1600" b="1" i="0" u="none" strike="noStrike" dirty="0">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4257"/>
                  </a:ext>
                </a:extLst>
              </a:tr>
              <a:tr h="225300">
                <a:tc>
                  <a:txBody>
                    <a:bodyPr/>
                    <a:lstStyle/>
                    <a:p>
                      <a:pPr algn="ctr" fontAlgn="b"/>
                      <a:r>
                        <a:rPr lang="en-US" sz="1600" u="none" strike="noStrike" dirty="0">
                          <a:effectLst/>
                        </a:rPr>
                        <a:t>18.0</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en-US" sz="1600" u="none" strike="noStrike" dirty="0">
                          <a:effectLst/>
                        </a:rPr>
                        <a:t>18.1</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ctr" fontAlgn="b"/>
                      <a:r>
                        <a:rPr lang="en-US" sz="1600" u="none" strike="noStrike" dirty="0">
                          <a:effectLst/>
                        </a:rPr>
                        <a:t>1.0</a:t>
                      </a:r>
                      <a:endParaRPr lang="en-US" sz="1600" b="0" i="0" u="none" strike="noStrike" dirty="0">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algn="ctr" fontAlgn="b"/>
                      <a:r>
                        <a:rPr lang="en-US" sz="1600" u="none" strike="noStrike" dirty="0">
                          <a:effectLst/>
                        </a:rPr>
                        <a:t>18.0</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ctr" fontAlgn="b"/>
                      <a:r>
                        <a:rPr lang="en-US" sz="1600" u="none" strike="noStrike" dirty="0">
                          <a:effectLst/>
                        </a:rPr>
                        <a:t>0.2</a:t>
                      </a:r>
                      <a:endParaRPr lang="en-US" sz="1600" b="0" i="0" u="none" strike="noStrike" dirty="0">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620613437"/>
                  </a:ext>
                </a:extLst>
              </a:tr>
              <a:tr h="225300">
                <a:tc>
                  <a:txBody>
                    <a:bodyPr/>
                    <a:lstStyle/>
                    <a:p>
                      <a:pPr algn="ctr" fontAlgn="b"/>
                      <a:r>
                        <a:rPr lang="en-US" sz="1600" u="none" strike="noStrike" dirty="0">
                          <a:effectLst/>
                        </a:rPr>
                        <a:t>103.3</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US" sz="1600" u="none" strike="noStrike" dirty="0">
                          <a:effectLst/>
                        </a:rPr>
                        <a:t>118.5</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noFill/>
                  </a:tcPr>
                </a:tc>
                <a:tc>
                  <a:txBody>
                    <a:bodyPr/>
                    <a:lstStyle/>
                    <a:p>
                      <a:pPr algn="ctr" fontAlgn="b"/>
                      <a:r>
                        <a:rPr lang="en-US" sz="1600" u="none" strike="noStrike" dirty="0">
                          <a:effectLst/>
                        </a:rPr>
                        <a:t>14.7</a:t>
                      </a:r>
                      <a:endParaRPr lang="en-US" sz="1600" b="0" i="0" u="none" strike="noStrike" dirty="0">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noFill/>
                  </a:tcPr>
                </a:tc>
                <a:tc>
                  <a:txBody>
                    <a:bodyPr/>
                    <a:lstStyle/>
                    <a:p>
                      <a:pPr algn="ctr" fontAlgn="b"/>
                      <a:r>
                        <a:rPr lang="en-US" sz="1600" u="none" strike="noStrike" dirty="0">
                          <a:effectLst/>
                        </a:rPr>
                        <a:t>106.0</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noFill/>
                  </a:tcPr>
                </a:tc>
                <a:tc>
                  <a:txBody>
                    <a:bodyPr/>
                    <a:lstStyle/>
                    <a:p>
                      <a:pPr algn="ctr" fontAlgn="b"/>
                      <a:r>
                        <a:rPr lang="en-US" sz="1600" u="none" strike="noStrike" dirty="0">
                          <a:effectLst/>
                        </a:rPr>
                        <a:t>2.6</a:t>
                      </a:r>
                      <a:endParaRPr lang="en-US" sz="1600" b="0" i="0" u="none" strike="noStrike" dirty="0">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873491413"/>
                  </a:ext>
                </a:extLst>
              </a:tr>
              <a:tr h="225300">
                <a:tc>
                  <a:txBody>
                    <a:bodyPr/>
                    <a:lstStyle/>
                    <a:p>
                      <a:pPr algn="ctr" fontAlgn="b"/>
                      <a:r>
                        <a:rPr lang="en-US" sz="1600" u="none" strike="noStrike" dirty="0">
                          <a:effectLst/>
                        </a:rPr>
                        <a:t>288.8</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US" sz="1600" u="none" strike="noStrike" dirty="0">
                          <a:effectLst/>
                        </a:rPr>
                        <a:t>364.5</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noFill/>
                  </a:tcPr>
                </a:tc>
                <a:tc>
                  <a:txBody>
                    <a:bodyPr/>
                    <a:lstStyle/>
                    <a:p>
                      <a:pPr algn="ctr" fontAlgn="b"/>
                      <a:r>
                        <a:rPr lang="en-US" sz="1600" u="none" strike="noStrike" dirty="0">
                          <a:effectLst/>
                        </a:rPr>
                        <a:t>26.2</a:t>
                      </a:r>
                      <a:endParaRPr lang="en-US" sz="1600" b="0" i="0" u="none" strike="noStrike" dirty="0">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noFill/>
                  </a:tcPr>
                </a:tc>
                <a:tc>
                  <a:txBody>
                    <a:bodyPr/>
                    <a:lstStyle/>
                    <a:p>
                      <a:pPr algn="ctr" fontAlgn="b"/>
                      <a:r>
                        <a:rPr lang="en-US" sz="1600" u="none" strike="noStrike" dirty="0">
                          <a:effectLst/>
                        </a:rPr>
                        <a:t>296.8</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noFill/>
                  </a:tcPr>
                </a:tc>
                <a:tc>
                  <a:txBody>
                    <a:bodyPr/>
                    <a:lstStyle/>
                    <a:p>
                      <a:pPr algn="ctr" fontAlgn="b"/>
                      <a:r>
                        <a:rPr lang="en-US" sz="1600" u="none" strike="noStrike" dirty="0">
                          <a:effectLst/>
                        </a:rPr>
                        <a:t>2.8</a:t>
                      </a:r>
                      <a:endParaRPr lang="en-US" sz="1600" b="0" i="0" u="none" strike="noStrike" dirty="0">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261555032"/>
                  </a:ext>
                </a:extLst>
              </a:tr>
              <a:tr h="225300">
                <a:tc>
                  <a:txBody>
                    <a:bodyPr/>
                    <a:lstStyle/>
                    <a:p>
                      <a:pPr algn="ctr" fontAlgn="b"/>
                      <a:r>
                        <a:rPr lang="en-US" sz="1600" u="none" strike="noStrike" dirty="0">
                          <a:effectLst/>
                        </a:rPr>
                        <a:t>565.7</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US" sz="1600" u="none" strike="noStrike">
                          <a:effectLst/>
                        </a:rPr>
                        <a:t>580.1</a:t>
                      </a:r>
                      <a:endParaRPr lang="en-US" sz="16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noFill/>
                  </a:tcPr>
                </a:tc>
                <a:tc>
                  <a:txBody>
                    <a:bodyPr/>
                    <a:lstStyle/>
                    <a:p>
                      <a:pPr algn="ctr" fontAlgn="b"/>
                      <a:r>
                        <a:rPr lang="en-US" sz="1600" u="none" strike="noStrike" dirty="0">
                          <a:effectLst/>
                        </a:rPr>
                        <a:t>2.5</a:t>
                      </a:r>
                      <a:endParaRPr lang="en-US" sz="1600" b="0" i="0" u="none" strike="noStrike" dirty="0">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noFill/>
                  </a:tcPr>
                </a:tc>
                <a:tc>
                  <a:txBody>
                    <a:bodyPr/>
                    <a:lstStyle/>
                    <a:p>
                      <a:pPr algn="ctr" fontAlgn="b"/>
                      <a:r>
                        <a:rPr lang="en-US" sz="1600" u="none" strike="noStrike" dirty="0">
                          <a:effectLst/>
                        </a:rPr>
                        <a:t>567.8</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noFill/>
                  </a:tcPr>
                </a:tc>
                <a:tc>
                  <a:txBody>
                    <a:bodyPr/>
                    <a:lstStyle/>
                    <a:p>
                      <a:pPr algn="ctr" fontAlgn="b"/>
                      <a:r>
                        <a:rPr lang="en-US" sz="1600" u="none" strike="noStrike" dirty="0">
                          <a:effectLst/>
                        </a:rPr>
                        <a:t>0.4</a:t>
                      </a:r>
                      <a:endParaRPr lang="en-US" sz="1600" b="0" i="0" u="none" strike="noStrike" dirty="0">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3075976284"/>
                  </a:ext>
                </a:extLst>
              </a:tr>
              <a:tr h="225300">
                <a:tc>
                  <a:txBody>
                    <a:bodyPr/>
                    <a:lstStyle/>
                    <a:p>
                      <a:pPr algn="ctr" fontAlgn="b"/>
                      <a:r>
                        <a:rPr lang="en-US" sz="1600" u="none" strike="noStrike" dirty="0">
                          <a:effectLst/>
                        </a:rPr>
                        <a:t>935.1</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US" sz="1600" b="0" i="0" u="none" strike="noStrike" dirty="0">
                          <a:solidFill>
                            <a:srgbClr val="000000"/>
                          </a:solidFill>
                          <a:effectLst/>
                          <a:latin typeface="Aptos Narrow" panose="020B0004020202020204" pitchFamily="34" charset="0"/>
                        </a:rPr>
                        <a:t>-</a:t>
                      </a:r>
                    </a:p>
                  </a:txBody>
                  <a:tcPr marL="6350" marR="6350" marT="6350" marB="0" anchor="ctr">
                    <a:lnL w="12700" cap="flat" cmpd="sng" algn="ctr">
                      <a:solidFill>
                        <a:schemeClr val="tx1"/>
                      </a:solidFill>
                      <a:prstDash val="solid"/>
                      <a:round/>
                      <a:headEnd type="none" w="med" len="med"/>
                      <a:tailEnd type="none" w="med" len="med"/>
                    </a:lnL>
                    <a:noFill/>
                  </a:tcPr>
                </a:tc>
                <a:tc>
                  <a:txBody>
                    <a:bodyPr/>
                    <a:lstStyle/>
                    <a:p>
                      <a:pPr algn="ctr" fontAlgn="b"/>
                      <a:r>
                        <a:rPr lang="en-US" sz="1600" b="0" i="0" u="none" strike="noStrike" dirty="0">
                          <a:solidFill>
                            <a:srgbClr val="000000"/>
                          </a:solidFill>
                          <a:effectLst/>
                          <a:latin typeface="Aptos Narrow" panose="020B0004020202020204" pitchFamily="34" charset="0"/>
                        </a:rPr>
                        <a:t>-</a:t>
                      </a:r>
                    </a:p>
                  </a:txBody>
                  <a:tcPr marL="6350" marR="6350" marT="6350" marB="0" anchor="ctr">
                    <a:lnR w="12700" cap="flat" cmpd="sng" algn="ctr">
                      <a:solidFill>
                        <a:schemeClr val="tx1"/>
                      </a:solidFill>
                      <a:prstDash val="solid"/>
                      <a:round/>
                      <a:headEnd type="none" w="med" len="med"/>
                      <a:tailEnd type="none" w="med" len="med"/>
                    </a:lnR>
                    <a:noFill/>
                  </a:tcPr>
                </a:tc>
                <a:tc>
                  <a:txBody>
                    <a:bodyPr/>
                    <a:lstStyle/>
                    <a:p>
                      <a:pPr algn="ctr" fontAlgn="b"/>
                      <a:r>
                        <a:rPr lang="en-US" sz="1600" u="none" strike="noStrike" dirty="0">
                          <a:effectLst/>
                        </a:rPr>
                        <a:t>976.9</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noFill/>
                  </a:tcPr>
                </a:tc>
                <a:tc>
                  <a:txBody>
                    <a:bodyPr/>
                    <a:lstStyle/>
                    <a:p>
                      <a:pPr algn="ctr" fontAlgn="b"/>
                      <a:r>
                        <a:rPr lang="en-US" sz="1600" u="none" strike="noStrike" dirty="0">
                          <a:effectLst/>
                        </a:rPr>
                        <a:t>4.5</a:t>
                      </a:r>
                      <a:endParaRPr lang="en-US" sz="1600" b="0" i="0" u="none" strike="noStrike" dirty="0">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889200546"/>
                  </a:ext>
                </a:extLst>
              </a:tr>
              <a:tr h="225300">
                <a:tc>
                  <a:txBody>
                    <a:bodyPr/>
                    <a:lstStyle/>
                    <a:p>
                      <a:pPr algn="ctr" fontAlgn="b"/>
                      <a:r>
                        <a:rPr lang="en-US" sz="1600" u="none" strike="noStrike" dirty="0">
                          <a:effectLst/>
                        </a:rPr>
                        <a:t>1396.9</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b="0" i="0" u="none" strike="noStrike" dirty="0">
                          <a:solidFill>
                            <a:srgbClr val="000000"/>
                          </a:solidFill>
                          <a:effectLst/>
                          <a:latin typeface="Aptos Narrow" panose="020B0004020202020204" pitchFamily="34" charset="0"/>
                        </a:rPr>
                        <a:t>-</a:t>
                      </a:r>
                    </a:p>
                  </a:txBody>
                  <a:tcPr marL="6350" marR="6350" marT="635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ctr" fontAlgn="b"/>
                      <a:r>
                        <a:rPr lang="en-US" sz="1600" b="0" i="0" u="none" strike="noStrike" dirty="0">
                          <a:solidFill>
                            <a:srgbClr val="000000"/>
                          </a:solidFill>
                          <a:effectLst/>
                          <a:latin typeface="Aptos Narrow" panose="020B0004020202020204" pitchFamily="34" charset="0"/>
                        </a:rPr>
                        <a:t>-</a:t>
                      </a:r>
                    </a:p>
                  </a:txBody>
                  <a:tcPr marL="6350" marR="6350" marT="635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fontAlgn="b"/>
                      <a:r>
                        <a:rPr lang="en-US" sz="1600" u="none" strike="noStrike" dirty="0">
                          <a:effectLst/>
                        </a:rPr>
                        <a:t>1820.6</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ctr" fontAlgn="b"/>
                      <a:r>
                        <a:rPr lang="en-US" sz="1600" u="none" strike="noStrike" dirty="0">
                          <a:effectLst/>
                        </a:rPr>
                        <a:t>30.3</a:t>
                      </a:r>
                      <a:endParaRPr lang="en-US" sz="1600" b="0" i="0" u="none" strike="noStrike" dirty="0">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6447703"/>
                  </a:ext>
                </a:extLst>
              </a:tr>
            </a:tbl>
          </a:graphicData>
        </a:graphic>
      </p:graphicFrame>
      <p:graphicFrame>
        <p:nvGraphicFramePr>
          <p:cNvPr id="19" name="Table 18">
            <a:extLst>
              <a:ext uri="{FF2B5EF4-FFF2-40B4-BE49-F238E27FC236}">
                <a16:creationId xmlns:a16="http://schemas.microsoft.com/office/drawing/2014/main" id="{F482ECBC-353F-F9E1-7B47-22E51C78A704}"/>
              </a:ext>
            </a:extLst>
          </p:cNvPr>
          <p:cNvGraphicFramePr>
            <a:graphicFrameLocks noGrp="1"/>
          </p:cNvGraphicFramePr>
          <p:nvPr>
            <p:extLst>
              <p:ext uri="{D42A27DB-BD31-4B8C-83A1-F6EECF244321}">
                <p14:modId xmlns:p14="http://schemas.microsoft.com/office/powerpoint/2010/main" val="1240244189"/>
              </p:ext>
            </p:extLst>
          </p:nvPr>
        </p:nvGraphicFramePr>
        <p:xfrm>
          <a:off x="6303606" y="4269786"/>
          <a:ext cx="4025803" cy="2001520"/>
        </p:xfrm>
        <a:graphic>
          <a:graphicData uri="http://schemas.openxmlformats.org/drawingml/2006/table">
            <a:tbl>
              <a:tblPr>
                <a:tableStyleId>{5C22544A-7EE6-4342-B048-85BDC9FD1C3A}</a:tableStyleId>
              </a:tblPr>
              <a:tblGrid>
                <a:gridCol w="840073">
                  <a:extLst>
                    <a:ext uri="{9D8B030D-6E8A-4147-A177-3AD203B41FA5}">
                      <a16:colId xmlns:a16="http://schemas.microsoft.com/office/drawing/2014/main" val="2807888463"/>
                    </a:ext>
                  </a:extLst>
                </a:gridCol>
                <a:gridCol w="840073">
                  <a:extLst>
                    <a:ext uri="{9D8B030D-6E8A-4147-A177-3AD203B41FA5}">
                      <a16:colId xmlns:a16="http://schemas.microsoft.com/office/drawing/2014/main" val="2042167518"/>
                    </a:ext>
                  </a:extLst>
                </a:gridCol>
                <a:gridCol w="752792">
                  <a:extLst>
                    <a:ext uri="{9D8B030D-6E8A-4147-A177-3AD203B41FA5}">
                      <a16:colId xmlns:a16="http://schemas.microsoft.com/office/drawing/2014/main" val="372243123"/>
                    </a:ext>
                  </a:extLst>
                </a:gridCol>
                <a:gridCol w="840073">
                  <a:extLst>
                    <a:ext uri="{9D8B030D-6E8A-4147-A177-3AD203B41FA5}">
                      <a16:colId xmlns:a16="http://schemas.microsoft.com/office/drawing/2014/main" val="1711199147"/>
                    </a:ext>
                  </a:extLst>
                </a:gridCol>
                <a:gridCol w="752792">
                  <a:extLst>
                    <a:ext uri="{9D8B030D-6E8A-4147-A177-3AD203B41FA5}">
                      <a16:colId xmlns:a16="http://schemas.microsoft.com/office/drawing/2014/main" val="1881445034"/>
                    </a:ext>
                  </a:extLst>
                </a:gridCol>
              </a:tblGrid>
              <a:tr h="225300">
                <a:tc gridSpan="5">
                  <a:txBody>
                    <a:bodyPr/>
                    <a:lstStyle/>
                    <a:p>
                      <a:pPr algn="ctr" fontAlgn="b"/>
                      <a:r>
                        <a:rPr lang="en-US" sz="1600" b="1" u="none" strike="noStrike" dirty="0">
                          <a:effectLst/>
                        </a:rPr>
                        <a:t>Damping Ratios (%)</a:t>
                      </a:r>
                      <a:endParaRPr lang="en-US" sz="1600" b="1" i="0" u="none" strike="noStrike" dirty="0">
                        <a:solidFill>
                          <a:srgbClr val="000000"/>
                        </a:solidFill>
                        <a:effectLst/>
                        <a:latin typeface="Aptos Narrow" panose="020B0004020202020204" pitchFamily="34" charset="0"/>
                      </a:endParaRP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90404532"/>
                  </a:ext>
                </a:extLst>
              </a:tr>
              <a:tr h="225300">
                <a:tc>
                  <a:txBody>
                    <a:bodyPr/>
                    <a:lstStyle/>
                    <a:p>
                      <a:pPr algn="ctr" fontAlgn="b"/>
                      <a:r>
                        <a:rPr lang="en-US" sz="1600" b="1" u="none" strike="noStrike" dirty="0">
                          <a:effectLst/>
                        </a:rPr>
                        <a:t>Truth</a:t>
                      </a:r>
                      <a:endParaRPr lang="en-US" sz="1600" b="1"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u="none" strike="noStrike" dirty="0">
                          <a:effectLst/>
                        </a:rPr>
                        <a:t>CMS</a:t>
                      </a:r>
                      <a:endParaRPr lang="en-US" sz="1600" b="1"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u="none" strike="noStrike" dirty="0">
                          <a:effectLst/>
                        </a:rPr>
                        <a:t>% Error</a:t>
                      </a:r>
                      <a:endParaRPr lang="en-US" sz="1600" b="1" i="0" u="none" strike="noStrike" dirty="0">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u="none" strike="noStrike" dirty="0">
                          <a:effectLst/>
                        </a:rPr>
                        <a:t>TSM</a:t>
                      </a:r>
                      <a:endParaRPr lang="en-US" sz="1600" b="1"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u="none" strike="noStrike" dirty="0">
                          <a:effectLst/>
                        </a:rPr>
                        <a:t>% Error</a:t>
                      </a:r>
                      <a:endParaRPr lang="en-US" sz="1600" b="1" i="0" u="none" strike="noStrike" dirty="0">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3024663"/>
                  </a:ext>
                </a:extLst>
              </a:tr>
              <a:tr h="225300">
                <a:tc>
                  <a:txBody>
                    <a:bodyPr/>
                    <a:lstStyle/>
                    <a:p>
                      <a:pPr algn="ctr" fontAlgn="b"/>
                      <a:r>
                        <a:rPr lang="en-US" sz="1600" u="none" strike="noStrike" dirty="0">
                          <a:effectLst/>
                        </a:rPr>
                        <a:t>0.57</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algn="ctr" fontAlgn="b"/>
                      <a:r>
                        <a:rPr lang="en-US" sz="1600" u="none" strike="noStrike" dirty="0">
                          <a:effectLst/>
                        </a:rPr>
                        <a:t>0.56</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ctr" fontAlgn="b"/>
                      <a:r>
                        <a:rPr lang="en-US" sz="1600" u="none" strike="noStrike">
                          <a:effectLst/>
                        </a:rPr>
                        <a:t>-0.9</a:t>
                      </a:r>
                      <a:endParaRPr lang="en-US" sz="1600" b="0" i="0" u="none" strike="noStrike">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algn="ctr" fontAlgn="b"/>
                      <a:r>
                        <a:rPr lang="en-US" sz="1600" u="none" strike="noStrike" dirty="0">
                          <a:effectLst/>
                        </a:rPr>
                        <a:t>0.57</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ctr" fontAlgn="b"/>
                      <a:r>
                        <a:rPr lang="en-US" sz="1600" u="none" strike="noStrike" dirty="0">
                          <a:effectLst/>
                        </a:rPr>
                        <a:t>-0.1</a:t>
                      </a:r>
                      <a:endParaRPr lang="en-US" sz="1600" b="0" i="0" u="none" strike="noStrike" dirty="0">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838981277"/>
                  </a:ext>
                </a:extLst>
              </a:tr>
              <a:tr h="225300">
                <a:tc>
                  <a:txBody>
                    <a:bodyPr/>
                    <a:lstStyle/>
                    <a:p>
                      <a:pPr algn="ctr" fontAlgn="b"/>
                      <a:r>
                        <a:rPr lang="en-US" sz="1600" u="none" strike="noStrike" dirty="0">
                          <a:effectLst/>
                        </a:rPr>
                        <a:t>0.20</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fontAlgn="b"/>
                      <a:r>
                        <a:rPr lang="en-US" sz="1600" u="none" strike="noStrike" dirty="0">
                          <a:effectLst/>
                        </a:rPr>
                        <a:t>0.20</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noFill/>
                  </a:tcPr>
                </a:tc>
                <a:tc>
                  <a:txBody>
                    <a:bodyPr/>
                    <a:lstStyle/>
                    <a:p>
                      <a:pPr algn="ctr" fontAlgn="b"/>
                      <a:r>
                        <a:rPr lang="en-US" sz="1600" u="none" strike="noStrike">
                          <a:effectLst/>
                        </a:rPr>
                        <a:t>1.4</a:t>
                      </a:r>
                      <a:endParaRPr lang="en-US" sz="1600" b="0" i="0" u="none" strike="noStrike">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noFill/>
                  </a:tcPr>
                </a:tc>
                <a:tc>
                  <a:txBody>
                    <a:bodyPr/>
                    <a:lstStyle/>
                    <a:p>
                      <a:pPr algn="ctr" fontAlgn="b"/>
                      <a:r>
                        <a:rPr lang="en-US" sz="1600" u="none" strike="noStrike" dirty="0">
                          <a:effectLst/>
                        </a:rPr>
                        <a:t>0.20</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noFill/>
                  </a:tcPr>
                </a:tc>
                <a:tc>
                  <a:txBody>
                    <a:bodyPr/>
                    <a:lstStyle/>
                    <a:p>
                      <a:pPr algn="ctr" fontAlgn="b"/>
                      <a:r>
                        <a:rPr lang="en-US" sz="1600" u="none" strike="noStrike" dirty="0">
                          <a:effectLst/>
                        </a:rPr>
                        <a:t>0.1</a:t>
                      </a:r>
                      <a:endParaRPr lang="en-US" sz="1600" b="0" i="0" u="none" strike="noStrike" dirty="0">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923015274"/>
                  </a:ext>
                </a:extLst>
              </a:tr>
              <a:tr h="225300">
                <a:tc>
                  <a:txBody>
                    <a:bodyPr/>
                    <a:lstStyle/>
                    <a:p>
                      <a:pPr algn="ctr" fontAlgn="b"/>
                      <a:r>
                        <a:rPr lang="en-US" sz="1600" u="none" strike="noStrike" dirty="0">
                          <a:effectLst/>
                        </a:rPr>
                        <a:t>0.32</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fontAlgn="b"/>
                      <a:r>
                        <a:rPr lang="en-US" sz="1600" u="none" strike="noStrike" dirty="0">
                          <a:effectLst/>
                        </a:rPr>
                        <a:t>0.39</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noFill/>
                  </a:tcPr>
                </a:tc>
                <a:tc>
                  <a:txBody>
                    <a:bodyPr/>
                    <a:lstStyle/>
                    <a:p>
                      <a:pPr algn="ctr" fontAlgn="b"/>
                      <a:r>
                        <a:rPr lang="en-US" sz="1600" u="none" strike="noStrike">
                          <a:effectLst/>
                        </a:rPr>
                        <a:t>21.2</a:t>
                      </a:r>
                      <a:endParaRPr lang="en-US" sz="1600" b="0" i="0" u="none" strike="noStrike">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noFill/>
                  </a:tcPr>
                </a:tc>
                <a:tc>
                  <a:txBody>
                    <a:bodyPr/>
                    <a:lstStyle/>
                    <a:p>
                      <a:pPr algn="ctr" fontAlgn="b"/>
                      <a:r>
                        <a:rPr lang="en-US" sz="1600" u="none" strike="noStrike" dirty="0">
                          <a:effectLst/>
                        </a:rPr>
                        <a:t>0.33</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noFill/>
                  </a:tcPr>
                </a:tc>
                <a:tc>
                  <a:txBody>
                    <a:bodyPr/>
                    <a:lstStyle/>
                    <a:p>
                      <a:pPr algn="ctr" fontAlgn="b"/>
                      <a:r>
                        <a:rPr lang="en-US" sz="1600" u="none" strike="noStrike">
                          <a:effectLst/>
                        </a:rPr>
                        <a:t>2.2</a:t>
                      </a:r>
                      <a:endParaRPr lang="en-US" sz="1600" b="0" i="0" u="none" strike="noStrike">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688074934"/>
                  </a:ext>
                </a:extLst>
              </a:tr>
              <a:tr h="225300">
                <a:tc>
                  <a:txBody>
                    <a:bodyPr/>
                    <a:lstStyle/>
                    <a:p>
                      <a:pPr algn="ctr" fontAlgn="b"/>
                      <a:r>
                        <a:rPr lang="en-US" sz="1600" u="none" strike="noStrike" dirty="0">
                          <a:effectLst/>
                        </a:rPr>
                        <a:t>0.58</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fontAlgn="b"/>
                      <a:r>
                        <a:rPr lang="en-US" sz="1600" u="none" strike="noStrike" dirty="0">
                          <a:effectLst/>
                        </a:rPr>
                        <a:t>0.59</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noFill/>
                  </a:tcPr>
                </a:tc>
                <a:tc>
                  <a:txBody>
                    <a:bodyPr/>
                    <a:lstStyle/>
                    <a:p>
                      <a:pPr algn="ctr" fontAlgn="b"/>
                      <a:r>
                        <a:rPr lang="en-US" sz="1600" u="none" strike="noStrike">
                          <a:effectLst/>
                        </a:rPr>
                        <a:t>2.4</a:t>
                      </a:r>
                      <a:endParaRPr lang="en-US" sz="1600" b="0" i="0" u="none" strike="noStrike">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noFill/>
                  </a:tcPr>
                </a:tc>
                <a:tc>
                  <a:txBody>
                    <a:bodyPr/>
                    <a:lstStyle/>
                    <a:p>
                      <a:pPr algn="ctr" fontAlgn="b"/>
                      <a:r>
                        <a:rPr lang="en-US" sz="1600" u="none" strike="noStrike" dirty="0">
                          <a:effectLst/>
                        </a:rPr>
                        <a:t>0.58</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noFill/>
                  </a:tcPr>
                </a:tc>
                <a:tc>
                  <a:txBody>
                    <a:bodyPr/>
                    <a:lstStyle/>
                    <a:p>
                      <a:pPr algn="ctr" fontAlgn="b"/>
                      <a:r>
                        <a:rPr lang="en-US" sz="1600" u="none" strike="noStrike" dirty="0">
                          <a:effectLst/>
                        </a:rPr>
                        <a:t>0.4</a:t>
                      </a:r>
                      <a:endParaRPr lang="en-US" sz="1600" b="0" i="0" u="none" strike="noStrike" dirty="0">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976241698"/>
                  </a:ext>
                </a:extLst>
              </a:tr>
              <a:tr h="225300">
                <a:tc>
                  <a:txBody>
                    <a:bodyPr/>
                    <a:lstStyle/>
                    <a:p>
                      <a:pPr algn="ctr" fontAlgn="b"/>
                      <a:r>
                        <a:rPr lang="en-US" sz="1600" u="none" strike="noStrike" dirty="0">
                          <a:effectLst/>
                        </a:rPr>
                        <a:t>0.94</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fontAlgn="b"/>
                      <a:r>
                        <a:rPr lang="en-US" sz="1600" b="0" i="0" u="none" strike="noStrike" dirty="0">
                          <a:solidFill>
                            <a:srgbClr val="000000"/>
                          </a:solidFill>
                          <a:effectLst/>
                          <a:latin typeface="Aptos Narrow" panose="020B0004020202020204" pitchFamily="34" charset="0"/>
                        </a:rPr>
                        <a:t>-</a:t>
                      </a:r>
                    </a:p>
                  </a:txBody>
                  <a:tcPr marL="6350" marR="6350" marT="6350" marB="0" anchor="ctr">
                    <a:lnL w="12700" cap="flat" cmpd="sng" algn="ctr">
                      <a:solidFill>
                        <a:schemeClr val="tx1"/>
                      </a:solidFill>
                      <a:prstDash val="solid"/>
                      <a:round/>
                      <a:headEnd type="none" w="med" len="med"/>
                      <a:tailEnd type="none" w="med" len="med"/>
                    </a:lnL>
                    <a:noFill/>
                  </a:tcPr>
                </a:tc>
                <a:tc>
                  <a:txBody>
                    <a:bodyPr/>
                    <a:lstStyle/>
                    <a:p>
                      <a:pPr algn="ctr" fontAlgn="b"/>
                      <a:r>
                        <a:rPr lang="en-US" sz="1600" b="0" i="0" u="none" strike="noStrike" dirty="0">
                          <a:solidFill>
                            <a:srgbClr val="000000"/>
                          </a:solidFill>
                          <a:effectLst/>
                          <a:latin typeface="Aptos Narrow" panose="020B0004020202020204" pitchFamily="34" charset="0"/>
                        </a:rPr>
                        <a:t>-</a:t>
                      </a:r>
                    </a:p>
                  </a:txBody>
                  <a:tcPr marL="6350" marR="6350" marT="6350" marB="0" anchor="ctr">
                    <a:lnR w="12700" cap="flat" cmpd="sng" algn="ctr">
                      <a:solidFill>
                        <a:schemeClr val="tx1"/>
                      </a:solidFill>
                      <a:prstDash val="solid"/>
                      <a:round/>
                      <a:headEnd type="none" w="med" len="med"/>
                      <a:tailEnd type="none" w="med" len="med"/>
                    </a:lnR>
                    <a:noFill/>
                  </a:tcPr>
                </a:tc>
                <a:tc>
                  <a:txBody>
                    <a:bodyPr/>
                    <a:lstStyle/>
                    <a:p>
                      <a:pPr algn="ctr" fontAlgn="b"/>
                      <a:r>
                        <a:rPr lang="en-US" sz="1600" u="none" strike="noStrike">
                          <a:effectLst/>
                        </a:rPr>
                        <a:t>0.98</a:t>
                      </a:r>
                      <a:endParaRPr lang="en-US" sz="16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noFill/>
                  </a:tcPr>
                </a:tc>
                <a:tc>
                  <a:txBody>
                    <a:bodyPr/>
                    <a:lstStyle/>
                    <a:p>
                      <a:pPr algn="ctr" fontAlgn="b"/>
                      <a:r>
                        <a:rPr lang="en-US" sz="1600" u="none" strike="noStrike" dirty="0">
                          <a:effectLst/>
                        </a:rPr>
                        <a:t>4.4</a:t>
                      </a:r>
                      <a:endParaRPr lang="en-US" sz="1600" b="0" i="0" u="none" strike="noStrike" dirty="0">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3412446729"/>
                  </a:ext>
                </a:extLst>
              </a:tr>
              <a:tr h="225300">
                <a:tc>
                  <a:txBody>
                    <a:bodyPr/>
                    <a:lstStyle/>
                    <a:p>
                      <a:pPr algn="ctr" fontAlgn="b"/>
                      <a:r>
                        <a:rPr lang="en-US" sz="1600" u="none" strike="noStrike" dirty="0">
                          <a:effectLst/>
                        </a:rPr>
                        <a:t>1.39</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fontAlgn="b"/>
                      <a:r>
                        <a:rPr lang="en-US" sz="1600" b="0" i="0" u="none" strike="noStrike" dirty="0">
                          <a:solidFill>
                            <a:srgbClr val="000000"/>
                          </a:solidFill>
                          <a:effectLst/>
                          <a:latin typeface="Aptos Narrow" panose="020B0004020202020204" pitchFamily="34" charset="0"/>
                        </a:rPr>
                        <a:t>-</a:t>
                      </a:r>
                    </a:p>
                  </a:txBody>
                  <a:tcPr marL="6350" marR="6350" marT="635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ctr" fontAlgn="b"/>
                      <a:r>
                        <a:rPr lang="en-US" sz="1600" b="0" i="0" u="none" strike="noStrike" dirty="0">
                          <a:solidFill>
                            <a:srgbClr val="000000"/>
                          </a:solidFill>
                          <a:effectLst/>
                          <a:latin typeface="Aptos Narrow" panose="020B0004020202020204" pitchFamily="34" charset="0"/>
                        </a:rPr>
                        <a:t>-</a:t>
                      </a:r>
                    </a:p>
                  </a:txBody>
                  <a:tcPr marL="6350" marR="6350" marT="635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fontAlgn="b"/>
                      <a:r>
                        <a:rPr lang="en-US" sz="1600" u="none" strike="noStrike" dirty="0">
                          <a:effectLst/>
                        </a:rPr>
                        <a:t>1.81</a:t>
                      </a:r>
                      <a:endParaRPr lang="en-US" sz="16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ctr" fontAlgn="b"/>
                      <a:r>
                        <a:rPr lang="en-US" sz="1600" u="none" strike="noStrike" dirty="0">
                          <a:effectLst/>
                        </a:rPr>
                        <a:t>30.1</a:t>
                      </a:r>
                      <a:endParaRPr lang="en-US" sz="1600" b="0" i="0" u="none" strike="noStrike" dirty="0">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1595459"/>
                  </a:ext>
                </a:extLst>
              </a:tr>
            </a:tbl>
          </a:graphicData>
        </a:graphic>
      </p:graphicFrame>
      <p:sp>
        <p:nvSpPr>
          <p:cNvPr id="20" name="TextBox 19">
            <a:extLst>
              <a:ext uri="{FF2B5EF4-FFF2-40B4-BE49-F238E27FC236}">
                <a16:creationId xmlns:a16="http://schemas.microsoft.com/office/drawing/2014/main" id="{A6F95301-FB43-3B53-AB44-A6339972BB20}"/>
              </a:ext>
            </a:extLst>
          </p:cNvPr>
          <p:cNvSpPr txBox="1"/>
          <p:nvPr/>
        </p:nvSpPr>
        <p:spPr>
          <a:xfrm>
            <a:off x="10524560" y="3669621"/>
            <a:ext cx="1570875" cy="1200329"/>
          </a:xfrm>
          <a:prstGeom prst="rect">
            <a:avLst/>
          </a:prstGeom>
          <a:noFill/>
          <a:ln w="28575">
            <a:solidFill>
              <a:srgbClr val="00B050"/>
            </a:solidFill>
          </a:ln>
        </p:spPr>
        <p:txBody>
          <a:bodyPr wrap="square" rtlCol="0">
            <a:spAutoFit/>
          </a:bodyPr>
          <a:lstStyle/>
          <a:p>
            <a:pPr algn="ctr"/>
            <a:r>
              <a:rPr lang="en-US" dirty="0"/>
              <a:t>TSM errors are under 5% in the 1000Hz band</a:t>
            </a:r>
          </a:p>
        </p:txBody>
      </p:sp>
      <p:sp>
        <p:nvSpPr>
          <p:cNvPr id="21" name="Rectangle 20">
            <a:extLst>
              <a:ext uri="{FF2B5EF4-FFF2-40B4-BE49-F238E27FC236}">
                <a16:creationId xmlns:a16="http://schemas.microsoft.com/office/drawing/2014/main" id="{B6ADC606-38DE-D8F3-2D7A-A37926CBA923}"/>
              </a:ext>
            </a:extLst>
          </p:cNvPr>
          <p:cNvSpPr/>
          <p:nvPr/>
        </p:nvSpPr>
        <p:spPr>
          <a:xfrm>
            <a:off x="9580033" y="2514814"/>
            <a:ext cx="749375" cy="1271903"/>
          </a:xfrm>
          <a:prstGeom prst="rect">
            <a:avLst/>
          </a:prstGeom>
          <a:solidFill>
            <a:srgbClr val="00B050">
              <a:alpha val="10000"/>
            </a:srgbClr>
          </a:solid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93BBA841-6189-21AE-3FBB-822FE6BA5F61}"/>
              </a:ext>
            </a:extLst>
          </p:cNvPr>
          <p:cNvSpPr/>
          <p:nvPr/>
        </p:nvSpPr>
        <p:spPr>
          <a:xfrm>
            <a:off x="9580033" y="4767747"/>
            <a:ext cx="749375" cy="1271903"/>
          </a:xfrm>
          <a:prstGeom prst="rect">
            <a:avLst/>
          </a:prstGeom>
          <a:solidFill>
            <a:srgbClr val="00B050">
              <a:alpha val="10000"/>
            </a:srgbClr>
          </a:solid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6" name="Straight Arrow Connector 25">
            <a:extLst>
              <a:ext uri="{FF2B5EF4-FFF2-40B4-BE49-F238E27FC236}">
                <a16:creationId xmlns:a16="http://schemas.microsoft.com/office/drawing/2014/main" id="{10AF8AB5-26E2-8549-CB27-626A06CD4B85}"/>
              </a:ext>
            </a:extLst>
          </p:cNvPr>
          <p:cNvCxnSpPr>
            <a:cxnSpLocks/>
          </p:cNvCxnSpPr>
          <p:nvPr/>
        </p:nvCxnSpPr>
        <p:spPr>
          <a:xfrm flipH="1" flipV="1">
            <a:off x="10327192" y="3569637"/>
            <a:ext cx="205496" cy="99984"/>
          </a:xfrm>
          <a:prstGeom prst="straightConnector1">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95427C43-D5E1-D9D6-B9DB-A5DF17E8FC28}"/>
              </a:ext>
            </a:extLst>
          </p:cNvPr>
          <p:cNvCxnSpPr>
            <a:cxnSpLocks/>
          </p:cNvCxnSpPr>
          <p:nvPr/>
        </p:nvCxnSpPr>
        <p:spPr>
          <a:xfrm flipH="1">
            <a:off x="10329408" y="4869949"/>
            <a:ext cx="205496" cy="99984"/>
          </a:xfrm>
          <a:prstGeom prst="straightConnector1">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C1728670-F379-8B85-0F3D-72A4C3600BF5}"/>
              </a:ext>
            </a:extLst>
          </p:cNvPr>
          <p:cNvCxnSpPr>
            <a:cxnSpLocks/>
          </p:cNvCxnSpPr>
          <p:nvPr/>
        </p:nvCxnSpPr>
        <p:spPr>
          <a:xfrm>
            <a:off x="1009625" y="1912150"/>
            <a:ext cx="0" cy="270146"/>
          </a:xfrm>
          <a:prstGeom prst="straightConnector1">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50AA38E6-FD50-18DF-C9D7-8BC16108EABA}"/>
              </a:ext>
            </a:extLst>
          </p:cNvPr>
          <p:cNvCxnSpPr>
            <a:cxnSpLocks/>
          </p:cNvCxnSpPr>
          <p:nvPr/>
        </p:nvCxnSpPr>
        <p:spPr>
          <a:xfrm>
            <a:off x="1407558" y="2149217"/>
            <a:ext cx="0" cy="270146"/>
          </a:xfrm>
          <a:prstGeom prst="straightConnector1">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3ED605A8-C83C-5388-A5C6-44503298955A}"/>
              </a:ext>
            </a:extLst>
          </p:cNvPr>
          <p:cNvCxnSpPr>
            <a:cxnSpLocks/>
          </p:cNvCxnSpPr>
          <p:nvPr/>
        </p:nvCxnSpPr>
        <p:spPr>
          <a:xfrm>
            <a:off x="2296558" y="2585250"/>
            <a:ext cx="0" cy="270146"/>
          </a:xfrm>
          <a:prstGeom prst="straightConnector1">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1BAC25E9-B20D-7141-2E51-639E3592DE12}"/>
              </a:ext>
            </a:extLst>
          </p:cNvPr>
          <p:cNvCxnSpPr>
            <a:cxnSpLocks/>
          </p:cNvCxnSpPr>
          <p:nvPr/>
        </p:nvCxnSpPr>
        <p:spPr>
          <a:xfrm>
            <a:off x="3536925" y="2978950"/>
            <a:ext cx="0" cy="270146"/>
          </a:xfrm>
          <a:prstGeom prst="straightConnector1">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6E18C07D-26A7-568D-97C3-742725B37786}"/>
              </a:ext>
            </a:extLst>
          </p:cNvPr>
          <p:cNvCxnSpPr>
            <a:cxnSpLocks/>
          </p:cNvCxnSpPr>
          <p:nvPr/>
        </p:nvCxnSpPr>
        <p:spPr>
          <a:xfrm>
            <a:off x="5429225" y="3300683"/>
            <a:ext cx="0" cy="270146"/>
          </a:xfrm>
          <a:prstGeom prst="straightConnector1">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pic>
        <p:nvPicPr>
          <p:cNvPr id="50" name="Picture 49">
            <a:extLst>
              <a:ext uri="{FF2B5EF4-FFF2-40B4-BE49-F238E27FC236}">
                <a16:creationId xmlns:a16="http://schemas.microsoft.com/office/drawing/2014/main" id="{E26E3495-A434-C194-55B6-68C5593E236C}"/>
              </a:ext>
            </a:extLst>
          </p:cNvPr>
          <p:cNvPicPr>
            <a:picLocks noChangeAspect="1"/>
          </p:cNvPicPr>
          <p:nvPr/>
        </p:nvPicPr>
        <p:blipFill>
          <a:blip r:embed="rId4"/>
          <a:stretch>
            <a:fillRect/>
          </a:stretch>
        </p:blipFill>
        <p:spPr>
          <a:xfrm>
            <a:off x="10874505" y="1631052"/>
            <a:ext cx="870984" cy="653238"/>
          </a:xfrm>
          <a:prstGeom prst="rect">
            <a:avLst/>
          </a:prstGeom>
        </p:spPr>
      </p:pic>
      <p:pic>
        <p:nvPicPr>
          <p:cNvPr id="51" name="Picture 50">
            <a:extLst>
              <a:ext uri="{FF2B5EF4-FFF2-40B4-BE49-F238E27FC236}">
                <a16:creationId xmlns:a16="http://schemas.microsoft.com/office/drawing/2014/main" id="{164273A8-0EF9-C423-0EBB-3C79FEB78DBA}"/>
              </a:ext>
            </a:extLst>
          </p:cNvPr>
          <p:cNvPicPr>
            <a:picLocks noChangeAspect="1"/>
          </p:cNvPicPr>
          <p:nvPr/>
        </p:nvPicPr>
        <p:blipFill>
          <a:blip r:embed="rId5"/>
          <a:stretch>
            <a:fillRect/>
          </a:stretch>
        </p:blipFill>
        <p:spPr>
          <a:xfrm>
            <a:off x="10638905" y="2380338"/>
            <a:ext cx="1342184" cy="1006638"/>
          </a:xfrm>
          <a:prstGeom prst="rect">
            <a:avLst/>
          </a:prstGeom>
        </p:spPr>
      </p:pic>
      <p:sp>
        <p:nvSpPr>
          <p:cNvPr id="52" name="Rectangle 51">
            <a:extLst>
              <a:ext uri="{FF2B5EF4-FFF2-40B4-BE49-F238E27FC236}">
                <a16:creationId xmlns:a16="http://schemas.microsoft.com/office/drawing/2014/main" id="{67E6B8FC-ACA4-B9B5-8C2A-B3E3F88C7AF0}"/>
              </a:ext>
            </a:extLst>
          </p:cNvPr>
          <p:cNvSpPr/>
          <p:nvPr/>
        </p:nvSpPr>
        <p:spPr>
          <a:xfrm>
            <a:off x="7987711" y="2514814"/>
            <a:ext cx="749375" cy="1025149"/>
          </a:xfrm>
          <a:prstGeom prst="rect">
            <a:avLst/>
          </a:prstGeom>
          <a:solidFill>
            <a:srgbClr val="FF0000">
              <a:alpha val="10000"/>
            </a:srgb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91422E52-45EC-9E9C-5F59-842E5B3A475D}"/>
              </a:ext>
            </a:extLst>
          </p:cNvPr>
          <p:cNvSpPr/>
          <p:nvPr/>
        </p:nvSpPr>
        <p:spPr>
          <a:xfrm>
            <a:off x="7987711" y="4767747"/>
            <a:ext cx="749375" cy="1025149"/>
          </a:xfrm>
          <a:prstGeom prst="rect">
            <a:avLst/>
          </a:prstGeom>
          <a:solidFill>
            <a:srgbClr val="FF0000">
              <a:alpha val="10000"/>
            </a:srgb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66013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par>
                                <p:cTn id="8" presetID="10" presetClass="entr" presetSubtype="0" fill="hold"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fade">
                                      <p:cBhvr>
                                        <p:cTn id="10" dur="500"/>
                                        <p:tgtEl>
                                          <p:spTgt spid="46"/>
                                        </p:tgtEl>
                                      </p:cBhvr>
                                    </p:animEffect>
                                  </p:childTnLst>
                                </p:cTn>
                              </p:par>
                              <p:par>
                                <p:cTn id="11" presetID="10" presetClass="entr" presetSubtype="0" fill="hold" nodeType="with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fade">
                                      <p:cBhvr>
                                        <p:cTn id="13" dur="500"/>
                                        <p:tgtEl>
                                          <p:spTgt spid="47"/>
                                        </p:tgtEl>
                                      </p:cBhvr>
                                    </p:animEffect>
                                  </p:childTnLst>
                                </p:cTn>
                              </p:par>
                              <p:par>
                                <p:cTn id="14" presetID="10" presetClass="entr" presetSubtype="0" fill="hold" nodeType="withEffect">
                                  <p:stCondLst>
                                    <p:cond delay="0"/>
                                  </p:stCondLst>
                                  <p:childTnLst>
                                    <p:set>
                                      <p:cBhvr>
                                        <p:cTn id="15" dur="1" fill="hold">
                                          <p:stCondLst>
                                            <p:cond delay="0"/>
                                          </p:stCondLst>
                                        </p:cTn>
                                        <p:tgtEl>
                                          <p:spTgt spid="48"/>
                                        </p:tgtEl>
                                        <p:attrNameLst>
                                          <p:attrName>style.visibility</p:attrName>
                                        </p:attrNameLst>
                                      </p:cBhvr>
                                      <p:to>
                                        <p:strVal val="visible"/>
                                      </p:to>
                                    </p:set>
                                    <p:animEffect transition="in" filter="fade">
                                      <p:cBhvr>
                                        <p:cTn id="16" dur="500"/>
                                        <p:tgtEl>
                                          <p:spTgt spid="48"/>
                                        </p:tgtEl>
                                      </p:cBhvr>
                                    </p:animEffect>
                                  </p:childTnLst>
                                </p:cTn>
                              </p:par>
                              <p:par>
                                <p:cTn id="17" presetID="10" presetClass="entr" presetSubtype="0" fill="hold" nodeType="withEffect">
                                  <p:stCondLst>
                                    <p:cond delay="0"/>
                                  </p:stCondLst>
                                  <p:childTnLst>
                                    <p:set>
                                      <p:cBhvr>
                                        <p:cTn id="18" dur="1" fill="hold">
                                          <p:stCondLst>
                                            <p:cond delay="0"/>
                                          </p:stCondLst>
                                        </p:cTn>
                                        <p:tgtEl>
                                          <p:spTgt spid="49"/>
                                        </p:tgtEl>
                                        <p:attrNameLst>
                                          <p:attrName>style.visibility</p:attrName>
                                        </p:attrNameLst>
                                      </p:cBhvr>
                                      <p:to>
                                        <p:strVal val="visible"/>
                                      </p:to>
                                    </p:set>
                                    <p:animEffect transition="in" filter="fade">
                                      <p:cBhvr>
                                        <p:cTn id="19" dur="500"/>
                                        <p:tgtEl>
                                          <p:spTgt spid="4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par>
                                <p:cTn id="23" presetID="10" presetClass="entr" presetSubtype="0"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500"/>
                                        <p:tgtEl>
                                          <p:spTgt spid="26"/>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4E62B4-7293-0855-F4DA-2BFD50284545}"/>
              </a:ext>
            </a:extLst>
          </p:cNvPr>
          <p:cNvPicPr>
            <a:picLocks noChangeAspect="1"/>
          </p:cNvPicPr>
          <p:nvPr/>
        </p:nvPicPr>
        <p:blipFill>
          <a:blip r:embed="rId2"/>
          <a:stretch>
            <a:fillRect/>
          </a:stretch>
        </p:blipFill>
        <p:spPr>
          <a:xfrm>
            <a:off x="6096000" y="1911882"/>
            <a:ext cx="5943600" cy="4114800"/>
          </a:xfrm>
          <a:prstGeom prst="rect">
            <a:avLst/>
          </a:prstGeom>
        </p:spPr>
      </p:pic>
      <p:pic>
        <p:nvPicPr>
          <p:cNvPr id="25" name="Picture 24">
            <a:extLst>
              <a:ext uri="{FF2B5EF4-FFF2-40B4-BE49-F238E27FC236}">
                <a16:creationId xmlns:a16="http://schemas.microsoft.com/office/drawing/2014/main" id="{963CF173-FDD7-AA73-A9CF-A63B9E43BCDB}"/>
              </a:ext>
            </a:extLst>
          </p:cNvPr>
          <p:cNvPicPr>
            <a:picLocks noChangeAspect="1"/>
          </p:cNvPicPr>
          <p:nvPr/>
        </p:nvPicPr>
        <p:blipFill>
          <a:blip r:embed="rId3"/>
          <a:stretch>
            <a:fillRect/>
          </a:stretch>
        </p:blipFill>
        <p:spPr>
          <a:xfrm>
            <a:off x="152400" y="1912150"/>
            <a:ext cx="5943600" cy="4114800"/>
          </a:xfrm>
          <a:prstGeom prst="rect">
            <a:avLst/>
          </a:prstGeom>
        </p:spPr>
      </p:pic>
      <p:sp>
        <p:nvSpPr>
          <p:cNvPr id="2" name="Title 1">
            <a:extLst>
              <a:ext uri="{FF2B5EF4-FFF2-40B4-BE49-F238E27FC236}">
                <a16:creationId xmlns:a16="http://schemas.microsoft.com/office/drawing/2014/main" id="{0C0D962A-A594-49E5-25EA-F37E1D35DBDA}"/>
              </a:ext>
            </a:extLst>
          </p:cNvPr>
          <p:cNvSpPr>
            <a:spLocks noGrp="1"/>
          </p:cNvSpPr>
          <p:nvPr>
            <p:ph type="title"/>
          </p:nvPr>
        </p:nvSpPr>
        <p:spPr>
          <a:xfrm>
            <a:off x="0" y="136525"/>
            <a:ext cx="12192000" cy="662781"/>
          </a:xfrm>
        </p:spPr>
        <p:txBody>
          <a:bodyPr>
            <a:normAutofit fontScale="90000"/>
          </a:bodyPr>
          <a:lstStyle/>
          <a:p>
            <a:pPr algn="ctr"/>
            <a:r>
              <a:rPr lang="en-US" dirty="0"/>
              <a:t>The TSM Significantly Improves the C Beam Model</a:t>
            </a:r>
          </a:p>
        </p:txBody>
      </p:sp>
      <p:sp>
        <p:nvSpPr>
          <p:cNvPr id="4" name="Rectangle 3">
            <a:extLst>
              <a:ext uri="{FF2B5EF4-FFF2-40B4-BE49-F238E27FC236}">
                <a16:creationId xmlns:a16="http://schemas.microsoft.com/office/drawing/2014/main" id="{8A593886-2573-B8E7-DD2F-8F89AD3DDD67}"/>
              </a:ext>
            </a:extLst>
          </p:cNvPr>
          <p:cNvSpPr/>
          <p:nvPr/>
        </p:nvSpPr>
        <p:spPr>
          <a:xfrm>
            <a:off x="70631" y="1100028"/>
            <a:ext cx="2743200" cy="457200"/>
          </a:xfrm>
          <a:prstGeom prst="rect">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6" name="Rectangle 5">
            <a:extLst>
              <a:ext uri="{FF2B5EF4-FFF2-40B4-BE49-F238E27FC236}">
                <a16:creationId xmlns:a16="http://schemas.microsoft.com/office/drawing/2014/main" id="{B17084CF-409C-6A4F-7FDD-AFEBB275EA26}"/>
              </a:ext>
            </a:extLst>
          </p:cNvPr>
          <p:cNvSpPr/>
          <p:nvPr/>
        </p:nvSpPr>
        <p:spPr>
          <a:xfrm>
            <a:off x="5384879" y="1095527"/>
            <a:ext cx="1828800" cy="457200"/>
          </a:xfrm>
          <a:prstGeom prst="rect">
            <a:avLst/>
          </a:prstGeom>
          <a:solidFill>
            <a:schemeClr val="accent2">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 name="Rectangle 6">
            <a:extLst>
              <a:ext uri="{FF2B5EF4-FFF2-40B4-BE49-F238E27FC236}">
                <a16:creationId xmlns:a16="http://schemas.microsoft.com/office/drawing/2014/main" id="{3AF8D01E-AEB0-617E-DAB6-14E22B725213}"/>
              </a:ext>
            </a:extLst>
          </p:cNvPr>
          <p:cNvSpPr/>
          <p:nvPr/>
        </p:nvSpPr>
        <p:spPr>
          <a:xfrm>
            <a:off x="7523435" y="1077804"/>
            <a:ext cx="4572000" cy="457200"/>
          </a:xfrm>
          <a:prstGeom prst="rect">
            <a:avLst/>
          </a:prstGeom>
          <a:solidFill>
            <a:srgbClr val="00B05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8" name="TextBox 7">
            <a:extLst>
              <a:ext uri="{FF2B5EF4-FFF2-40B4-BE49-F238E27FC236}">
                <a16:creationId xmlns:a16="http://schemas.microsoft.com/office/drawing/2014/main" id="{48F70BB4-20E4-7A6F-F228-07754EE9D81D}"/>
              </a:ext>
            </a:extLst>
          </p:cNvPr>
          <p:cNvSpPr txBox="1"/>
          <p:nvPr/>
        </p:nvSpPr>
        <p:spPr>
          <a:xfrm>
            <a:off x="4208434" y="1122680"/>
            <a:ext cx="320922" cy="400110"/>
          </a:xfrm>
          <a:prstGeom prst="rect">
            <a:avLst/>
          </a:prstGeom>
          <a:noFill/>
        </p:spPr>
        <p:txBody>
          <a:bodyPr wrap="none" rtlCol="0">
            <a:spAutoFit/>
          </a:bodyPr>
          <a:lstStyle/>
          <a:p>
            <a:r>
              <a:rPr lang="en-US" sz="2000" b="1" dirty="0"/>
              <a:t>+</a:t>
            </a:r>
          </a:p>
        </p:txBody>
      </p:sp>
      <p:sp>
        <p:nvSpPr>
          <p:cNvPr id="10" name="TextBox 9">
            <a:extLst>
              <a:ext uri="{FF2B5EF4-FFF2-40B4-BE49-F238E27FC236}">
                <a16:creationId xmlns:a16="http://schemas.microsoft.com/office/drawing/2014/main" id="{D458A2B2-9101-35AE-E513-B6CE81102C74}"/>
              </a:ext>
            </a:extLst>
          </p:cNvPr>
          <p:cNvSpPr txBox="1"/>
          <p:nvPr/>
        </p:nvSpPr>
        <p:spPr>
          <a:xfrm>
            <a:off x="7221228" y="1110064"/>
            <a:ext cx="320922" cy="400110"/>
          </a:xfrm>
          <a:prstGeom prst="rect">
            <a:avLst/>
          </a:prstGeom>
          <a:noFill/>
        </p:spPr>
        <p:txBody>
          <a:bodyPr wrap="none" rtlCol="0">
            <a:spAutoFit/>
          </a:bodyPr>
          <a:lstStyle/>
          <a:p>
            <a:r>
              <a:rPr lang="en-US" sz="2000" b="1" dirty="0"/>
              <a:t>=</a:t>
            </a:r>
          </a:p>
        </p:txBody>
      </p:sp>
      <p:cxnSp>
        <p:nvCxnSpPr>
          <p:cNvPr id="11" name="Straight Connector 10">
            <a:extLst>
              <a:ext uri="{FF2B5EF4-FFF2-40B4-BE49-F238E27FC236}">
                <a16:creationId xmlns:a16="http://schemas.microsoft.com/office/drawing/2014/main" id="{72A82667-04C9-5BD8-59E7-FDA82D6B107B}"/>
              </a:ext>
            </a:extLst>
          </p:cNvPr>
          <p:cNvCxnSpPr/>
          <p:nvPr/>
        </p:nvCxnSpPr>
        <p:spPr>
          <a:xfrm>
            <a:off x="10266635" y="1077804"/>
            <a:ext cx="0" cy="4572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4716A410-B681-25C5-69E4-F9AA5801AB3E}"/>
              </a:ext>
            </a:extLst>
          </p:cNvPr>
          <p:cNvSpPr/>
          <p:nvPr/>
        </p:nvSpPr>
        <p:spPr>
          <a:xfrm>
            <a:off x="2028216" y="1013271"/>
            <a:ext cx="794081" cy="628733"/>
          </a:xfrm>
          <a:prstGeom prst="rect">
            <a:avLst/>
          </a:prstGeom>
          <a:solidFill>
            <a:srgbClr val="FF0000">
              <a:alpha val="6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p:sp>
        <p:nvSpPr>
          <p:cNvPr id="13" name="Rectangle 12">
            <a:extLst>
              <a:ext uri="{FF2B5EF4-FFF2-40B4-BE49-F238E27FC236}">
                <a16:creationId xmlns:a16="http://schemas.microsoft.com/office/drawing/2014/main" id="{4BB0B15D-A7BA-E4AF-1DC1-4BD8BE17499F}"/>
              </a:ext>
            </a:extLst>
          </p:cNvPr>
          <p:cNvSpPr/>
          <p:nvPr/>
        </p:nvSpPr>
        <p:spPr>
          <a:xfrm>
            <a:off x="4587649" y="1012245"/>
            <a:ext cx="794081" cy="628732"/>
          </a:xfrm>
          <a:prstGeom prst="rect">
            <a:avLst/>
          </a:prstGeom>
          <a:solidFill>
            <a:srgbClr val="FF000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9B0A0D0-FEA2-8C7D-5693-70E20173F452}"/>
                  </a:ext>
                </a:extLst>
              </p:cNvPr>
              <p:cNvSpPr txBox="1"/>
              <p:nvPr/>
            </p:nvSpPr>
            <p:spPr>
              <a:xfrm>
                <a:off x="2836795" y="1133980"/>
                <a:ext cx="510076" cy="338554"/>
              </a:xfrm>
              <a:prstGeom prst="rect">
                <a:avLst/>
              </a:prstGeom>
              <a:noFill/>
            </p:spPr>
            <p:txBody>
              <a:bodyPr wrap="none" rtlCol="0">
                <a:spAutoFit/>
              </a:bodyPr>
              <a:lstStyle/>
              <a:p>
                <a:r>
                  <a:rPr lang="en-US" sz="1600" b="1" dirty="0">
                    <a:ea typeface="Cambria Math" panose="02040503050406030204" pitchFamily="18" charset="0"/>
                  </a:rPr>
                  <a:t>-2</a:t>
                </a:r>
                <a14:m>
                  <m:oMath xmlns:m="http://schemas.openxmlformats.org/officeDocument/2006/math">
                    <m:r>
                      <a:rPr lang="en-US" sz="1600" b="1" i="0" smtClean="0">
                        <a:latin typeface="Cambria Math" panose="02040503050406030204" pitchFamily="18" charset="0"/>
                        <a:ea typeface="Cambria Math" panose="02040503050406030204" pitchFamily="18" charset="0"/>
                      </a:rPr>
                      <m:t>×</m:t>
                    </m:r>
                  </m:oMath>
                </a14:m>
                <a:endParaRPr lang="en-US" sz="1600" b="1" dirty="0"/>
              </a:p>
            </p:txBody>
          </p:sp>
        </mc:Choice>
        <mc:Fallback xmlns="">
          <p:sp>
            <p:nvSpPr>
              <p:cNvPr id="14" name="TextBox 13">
                <a:extLst>
                  <a:ext uri="{FF2B5EF4-FFF2-40B4-BE49-F238E27FC236}">
                    <a16:creationId xmlns:a16="http://schemas.microsoft.com/office/drawing/2014/main" id="{C9B0A0D0-FEA2-8C7D-5693-70E20173F452}"/>
                  </a:ext>
                </a:extLst>
              </p:cNvPr>
              <p:cNvSpPr txBox="1">
                <a:spLocks noRot="1" noChangeAspect="1" noMove="1" noResize="1" noEditPoints="1" noAdjustHandles="1" noChangeArrowheads="1" noChangeShapeType="1" noTextEdit="1"/>
              </p:cNvSpPr>
              <p:nvPr/>
            </p:nvSpPr>
            <p:spPr>
              <a:xfrm>
                <a:off x="2836795" y="1133980"/>
                <a:ext cx="510076" cy="338554"/>
              </a:xfrm>
              <a:prstGeom prst="rect">
                <a:avLst/>
              </a:prstGeom>
              <a:blipFill>
                <a:blip r:embed="rId4"/>
                <a:stretch>
                  <a:fillRect l="-5952" t="-5357" b="-21429"/>
                </a:stretch>
              </a:blipFill>
            </p:spPr>
            <p:txBody>
              <a:bodyPr/>
              <a:lstStyle/>
              <a:p>
                <a:r>
                  <a:rPr lang="en-US">
                    <a:noFill/>
                  </a:rPr>
                  <a:t> </a:t>
                </a:r>
              </a:p>
            </p:txBody>
          </p:sp>
        </mc:Fallback>
      </mc:AlternateContent>
      <p:sp>
        <p:nvSpPr>
          <p:cNvPr id="15" name="Rectangle 14">
            <a:extLst>
              <a:ext uri="{FF2B5EF4-FFF2-40B4-BE49-F238E27FC236}">
                <a16:creationId xmlns:a16="http://schemas.microsoft.com/office/drawing/2014/main" id="{2C84A036-12AA-0B2A-F88C-92AC2FD048E2}"/>
              </a:ext>
            </a:extLst>
          </p:cNvPr>
          <p:cNvSpPr/>
          <p:nvPr/>
        </p:nvSpPr>
        <p:spPr>
          <a:xfrm>
            <a:off x="3346319" y="1012245"/>
            <a:ext cx="794081" cy="628732"/>
          </a:xfrm>
          <a:prstGeom prst="rect">
            <a:avLst/>
          </a:prstGeom>
          <a:solidFill>
            <a:srgbClr val="FF000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p:sp>
        <p:nvSpPr>
          <p:cNvPr id="9" name="Rectangle 8">
            <a:extLst>
              <a:ext uri="{FF2B5EF4-FFF2-40B4-BE49-F238E27FC236}">
                <a16:creationId xmlns:a16="http://schemas.microsoft.com/office/drawing/2014/main" id="{C81AFB6C-1FE9-A40B-42F9-544E87F32D83}"/>
              </a:ext>
            </a:extLst>
          </p:cNvPr>
          <p:cNvSpPr/>
          <p:nvPr/>
        </p:nvSpPr>
        <p:spPr>
          <a:xfrm>
            <a:off x="872067" y="2108200"/>
            <a:ext cx="270933" cy="1507067"/>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CAFAE5B-9543-19E4-8E49-686475806145}"/>
              </a:ext>
            </a:extLst>
          </p:cNvPr>
          <p:cNvSpPr/>
          <p:nvPr/>
        </p:nvSpPr>
        <p:spPr>
          <a:xfrm>
            <a:off x="6874880" y="5500958"/>
            <a:ext cx="2977539" cy="69499"/>
          </a:xfrm>
          <a:prstGeom prst="rect">
            <a:avLst/>
          </a:prstGeom>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F30B2A98-5DDD-29B4-A33C-543DA8E4EA64}"/>
              </a:ext>
            </a:extLst>
          </p:cNvPr>
          <p:cNvSpPr/>
          <p:nvPr/>
        </p:nvSpPr>
        <p:spPr>
          <a:xfrm>
            <a:off x="9852419" y="5500958"/>
            <a:ext cx="1626124" cy="69499"/>
          </a:xfrm>
          <a:prstGeom prst="rect">
            <a:avLst/>
          </a:prstGeom>
          <a:solidFill>
            <a:schemeClr val="accent2">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6FE139AB-A42F-F806-F581-6397B9FFF04E}"/>
              </a:ext>
            </a:extLst>
          </p:cNvPr>
          <p:cNvSpPr/>
          <p:nvPr/>
        </p:nvSpPr>
        <p:spPr>
          <a:xfrm>
            <a:off x="9709149" y="5500958"/>
            <a:ext cx="143269" cy="69499"/>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Tree>
    <p:extLst>
      <p:ext uri="{BB962C8B-B14F-4D97-AF65-F5344CB8AC3E}">
        <p14:creationId xmlns:p14="http://schemas.microsoft.com/office/powerpoint/2010/main" val="13736478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D7E9C63-B6CA-F07A-F88F-C316CC20ECA5}"/>
              </a:ext>
            </a:extLst>
          </p:cNvPr>
          <p:cNvPicPr>
            <a:picLocks noChangeAspect="1"/>
          </p:cNvPicPr>
          <p:nvPr/>
        </p:nvPicPr>
        <p:blipFill>
          <a:blip r:embed="rId2"/>
          <a:stretch>
            <a:fillRect/>
          </a:stretch>
        </p:blipFill>
        <p:spPr>
          <a:xfrm>
            <a:off x="6096000" y="1911882"/>
            <a:ext cx="5943600" cy="4114800"/>
          </a:xfrm>
          <a:prstGeom prst="rect">
            <a:avLst/>
          </a:prstGeom>
        </p:spPr>
      </p:pic>
      <p:pic>
        <p:nvPicPr>
          <p:cNvPr id="25" name="Picture 24">
            <a:extLst>
              <a:ext uri="{FF2B5EF4-FFF2-40B4-BE49-F238E27FC236}">
                <a16:creationId xmlns:a16="http://schemas.microsoft.com/office/drawing/2014/main" id="{963CF173-FDD7-AA73-A9CF-A63B9E43BCDB}"/>
              </a:ext>
            </a:extLst>
          </p:cNvPr>
          <p:cNvPicPr>
            <a:picLocks noChangeAspect="1"/>
          </p:cNvPicPr>
          <p:nvPr/>
        </p:nvPicPr>
        <p:blipFill>
          <a:blip r:embed="rId3"/>
          <a:stretch>
            <a:fillRect/>
          </a:stretch>
        </p:blipFill>
        <p:spPr>
          <a:xfrm>
            <a:off x="152400" y="1912150"/>
            <a:ext cx="5943600" cy="4114800"/>
          </a:xfrm>
          <a:prstGeom prst="rect">
            <a:avLst/>
          </a:prstGeom>
        </p:spPr>
      </p:pic>
      <p:sp>
        <p:nvSpPr>
          <p:cNvPr id="2" name="Title 1">
            <a:extLst>
              <a:ext uri="{FF2B5EF4-FFF2-40B4-BE49-F238E27FC236}">
                <a16:creationId xmlns:a16="http://schemas.microsoft.com/office/drawing/2014/main" id="{0C0D962A-A594-49E5-25EA-F37E1D35DBDA}"/>
              </a:ext>
            </a:extLst>
          </p:cNvPr>
          <p:cNvSpPr>
            <a:spLocks noGrp="1"/>
          </p:cNvSpPr>
          <p:nvPr>
            <p:ph type="title"/>
          </p:nvPr>
        </p:nvSpPr>
        <p:spPr>
          <a:xfrm>
            <a:off x="0" y="136525"/>
            <a:ext cx="12192000" cy="662781"/>
          </a:xfrm>
        </p:spPr>
        <p:txBody>
          <a:bodyPr>
            <a:normAutofit fontScale="90000"/>
          </a:bodyPr>
          <a:lstStyle/>
          <a:p>
            <a:pPr algn="ctr"/>
            <a:r>
              <a:rPr lang="en-US" dirty="0"/>
              <a:t>The TSM Significantly Improves the C Beam Model</a:t>
            </a:r>
          </a:p>
        </p:txBody>
      </p:sp>
      <p:sp>
        <p:nvSpPr>
          <p:cNvPr id="4" name="Rectangle 3">
            <a:extLst>
              <a:ext uri="{FF2B5EF4-FFF2-40B4-BE49-F238E27FC236}">
                <a16:creationId xmlns:a16="http://schemas.microsoft.com/office/drawing/2014/main" id="{8A593886-2573-B8E7-DD2F-8F89AD3DDD67}"/>
              </a:ext>
            </a:extLst>
          </p:cNvPr>
          <p:cNvSpPr/>
          <p:nvPr/>
        </p:nvSpPr>
        <p:spPr>
          <a:xfrm>
            <a:off x="70631" y="1100028"/>
            <a:ext cx="2743200" cy="457200"/>
          </a:xfrm>
          <a:prstGeom prst="rect">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6" name="Rectangle 5">
            <a:extLst>
              <a:ext uri="{FF2B5EF4-FFF2-40B4-BE49-F238E27FC236}">
                <a16:creationId xmlns:a16="http://schemas.microsoft.com/office/drawing/2014/main" id="{B17084CF-409C-6A4F-7FDD-AFEBB275EA26}"/>
              </a:ext>
            </a:extLst>
          </p:cNvPr>
          <p:cNvSpPr/>
          <p:nvPr/>
        </p:nvSpPr>
        <p:spPr>
          <a:xfrm>
            <a:off x="5384879" y="1095527"/>
            <a:ext cx="1828800" cy="457200"/>
          </a:xfrm>
          <a:prstGeom prst="rect">
            <a:avLst/>
          </a:prstGeom>
          <a:solidFill>
            <a:schemeClr val="accent2">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 name="Rectangle 6">
            <a:extLst>
              <a:ext uri="{FF2B5EF4-FFF2-40B4-BE49-F238E27FC236}">
                <a16:creationId xmlns:a16="http://schemas.microsoft.com/office/drawing/2014/main" id="{3AF8D01E-AEB0-617E-DAB6-14E22B725213}"/>
              </a:ext>
            </a:extLst>
          </p:cNvPr>
          <p:cNvSpPr/>
          <p:nvPr/>
        </p:nvSpPr>
        <p:spPr>
          <a:xfrm>
            <a:off x="7523435" y="1077804"/>
            <a:ext cx="4572000" cy="457200"/>
          </a:xfrm>
          <a:prstGeom prst="rect">
            <a:avLst/>
          </a:prstGeom>
          <a:solidFill>
            <a:srgbClr val="00B05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8" name="TextBox 7">
            <a:extLst>
              <a:ext uri="{FF2B5EF4-FFF2-40B4-BE49-F238E27FC236}">
                <a16:creationId xmlns:a16="http://schemas.microsoft.com/office/drawing/2014/main" id="{48F70BB4-20E4-7A6F-F228-07754EE9D81D}"/>
              </a:ext>
            </a:extLst>
          </p:cNvPr>
          <p:cNvSpPr txBox="1"/>
          <p:nvPr/>
        </p:nvSpPr>
        <p:spPr>
          <a:xfrm>
            <a:off x="4208434" y="1122680"/>
            <a:ext cx="320922" cy="400110"/>
          </a:xfrm>
          <a:prstGeom prst="rect">
            <a:avLst/>
          </a:prstGeom>
          <a:noFill/>
        </p:spPr>
        <p:txBody>
          <a:bodyPr wrap="none" rtlCol="0">
            <a:spAutoFit/>
          </a:bodyPr>
          <a:lstStyle/>
          <a:p>
            <a:r>
              <a:rPr lang="en-US" sz="2000" b="1" dirty="0"/>
              <a:t>+</a:t>
            </a:r>
          </a:p>
        </p:txBody>
      </p:sp>
      <p:sp>
        <p:nvSpPr>
          <p:cNvPr id="10" name="TextBox 9">
            <a:extLst>
              <a:ext uri="{FF2B5EF4-FFF2-40B4-BE49-F238E27FC236}">
                <a16:creationId xmlns:a16="http://schemas.microsoft.com/office/drawing/2014/main" id="{D458A2B2-9101-35AE-E513-B6CE81102C74}"/>
              </a:ext>
            </a:extLst>
          </p:cNvPr>
          <p:cNvSpPr txBox="1"/>
          <p:nvPr/>
        </p:nvSpPr>
        <p:spPr>
          <a:xfrm>
            <a:off x="7221228" y="1110064"/>
            <a:ext cx="320922" cy="400110"/>
          </a:xfrm>
          <a:prstGeom prst="rect">
            <a:avLst/>
          </a:prstGeom>
          <a:noFill/>
        </p:spPr>
        <p:txBody>
          <a:bodyPr wrap="none" rtlCol="0">
            <a:spAutoFit/>
          </a:bodyPr>
          <a:lstStyle/>
          <a:p>
            <a:r>
              <a:rPr lang="en-US" sz="2000" b="1" dirty="0"/>
              <a:t>=</a:t>
            </a:r>
          </a:p>
        </p:txBody>
      </p:sp>
      <p:cxnSp>
        <p:nvCxnSpPr>
          <p:cNvPr id="11" name="Straight Connector 10">
            <a:extLst>
              <a:ext uri="{FF2B5EF4-FFF2-40B4-BE49-F238E27FC236}">
                <a16:creationId xmlns:a16="http://schemas.microsoft.com/office/drawing/2014/main" id="{72A82667-04C9-5BD8-59E7-FDA82D6B107B}"/>
              </a:ext>
            </a:extLst>
          </p:cNvPr>
          <p:cNvCxnSpPr/>
          <p:nvPr/>
        </p:nvCxnSpPr>
        <p:spPr>
          <a:xfrm>
            <a:off x="10266635" y="1077804"/>
            <a:ext cx="0" cy="4572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4716A410-B681-25C5-69E4-F9AA5801AB3E}"/>
              </a:ext>
            </a:extLst>
          </p:cNvPr>
          <p:cNvSpPr/>
          <p:nvPr/>
        </p:nvSpPr>
        <p:spPr>
          <a:xfrm>
            <a:off x="2028216" y="1013271"/>
            <a:ext cx="794081" cy="628733"/>
          </a:xfrm>
          <a:prstGeom prst="rect">
            <a:avLst/>
          </a:prstGeom>
          <a:solidFill>
            <a:srgbClr val="FF0000">
              <a:alpha val="6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p:sp>
        <p:nvSpPr>
          <p:cNvPr id="13" name="Rectangle 12">
            <a:extLst>
              <a:ext uri="{FF2B5EF4-FFF2-40B4-BE49-F238E27FC236}">
                <a16:creationId xmlns:a16="http://schemas.microsoft.com/office/drawing/2014/main" id="{4BB0B15D-A7BA-E4AF-1DC1-4BD8BE17499F}"/>
              </a:ext>
            </a:extLst>
          </p:cNvPr>
          <p:cNvSpPr/>
          <p:nvPr/>
        </p:nvSpPr>
        <p:spPr>
          <a:xfrm>
            <a:off x="4587649" y="1012245"/>
            <a:ext cx="794081" cy="628732"/>
          </a:xfrm>
          <a:prstGeom prst="rect">
            <a:avLst/>
          </a:prstGeom>
          <a:solidFill>
            <a:srgbClr val="FF000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9B0A0D0-FEA2-8C7D-5693-70E20173F452}"/>
                  </a:ext>
                </a:extLst>
              </p:cNvPr>
              <p:cNvSpPr txBox="1"/>
              <p:nvPr/>
            </p:nvSpPr>
            <p:spPr>
              <a:xfrm>
                <a:off x="2836795" y="1133980"/>
                <a:ext cx="510076" cy="338554"/>
              </a:xfrm>
              <a:prstGeom prst="rect">
                <a:avLst/>
              </a:prstGeom>
              <a:noFill/>
            </p:spPr>
            <p:txBody>
              <a:bodyPr wrap="none" rtlCol="0">
                <a:spAutoFit/>
              </a:bodyPr>
              <a:lstStyle/>
              <a:p>
                <a:r>
                  <a:rPr lang="en-US" sz="1600" b="1" dirty="0">
                    <a:ea typeface="Cambria Math" panose="02040503050406030204" pitchFamily="18" charset="0"/>
                  </a:rPr>
                  <a:t>-2</a:t>
                </a:r>
                <a14:m>
                  <m:oMath xmlns:m="http://schemas.openxmlformats.org/officeDocument/2006/math">
                    <m:r>
                      <a:rPr lang="en-US" sz="1600" b="1" i="0" smtClean="0">
                        <a:latin typeface="Cambria Math" panose="02040503050406030204" pitchFamily="18" charset="0"/>
                        <a:ea typeface="Cambria Math" panose="02040503050406030204" pitchFamily="18" charset="0"/>
                      </a:rPr>
                      <m:t>×</m:t>
                    </m:r>
                  </m:oMath>
                </a14:m>
                <a:endParaRPr lang="en-US" sz="1600" b="1" dirty="0"/>
              </a:p>
            </p:txBody>
          </p:sp>
        </mc:Choice>
        <mc:Fallback xmlns="">
          <p:sp>
            <p:nvSpPr>
              <p:cNvPr id="14" name="TextBox 13">
                <a:extLst>
                  <a:ext uri="{FF2B5EF4-FFF2-40B4-BE49-F238E27FC236}">
                    <a16:creationId xmlns:a16="http://schemas.microsoft.com/office/drawing/2014/main" id="{C9B0A0D0-FEA2-8C7D-5693-70E20173F452}"/>
                  </a:ext>
                </a:extLst>
              </p:cNvPr>
              <p:cNvSpPr txBox="1">
                <a:spLocks noRot="1" noChangeAspect="1" noMove="1" noResize="1" noEditPoints="1" noAdjustHandles="1" noChangeArrowheads="1" noChangeShapeType="1" noTextEdit="1"/>
              </p:cNvSpPr>
              <p:nvPr/>
            </p:nvSpPr>
            <p:spPr>
              <a:xfrm>
                <a:off x="2836795" y="1133980"/>
                <a:ext cx="510076" cy="338554"/>
              </a:xfrm>
              <a:prstGeom prst="rect">
                <a:avLst/>
              </a:prstGeom>
              <a:blipFill>
                <a:blip r:embed="rId4"/>
                <a:stretch>
                  <a:fillRect l="-5952" t="-5357" b="-21429"/>
                </a:stretch>
              </a:blipFill>
            </p:spPr>
            <p:txBody>
              <a:bodyPr/>
              <a:lstStyle/>
              <a:p>
                <a:r>
                  <a:rPr lang="en-US">
                    <a:noFill/>
                  </a:rPr>
                  <a:t> </a:t>
                </a:r>
              </a:p>
            </p:txBody>
          </p:sp>
        </mc:Fallback>
      </mc:AlternateContent>
      <p:sp>
        <p:nvSpPr>
          <p:cNvPr id="15" name="Rectangle 14">
            <a:extLst>
              <a:ext uri="{FF2B5EF4-FFF2-40B4-BE49-F238E27FC236}">
                <a16:creationId xmlns:a16="http://schemas.microsoft.com/office/drawing/2014/main" id="{2C84A036-12AA-0B2A-F88C-92AC2FD048E2}"/>
              </a:ext>
            </a:extLst>
          </p:cNvPr>
          <p:cNvSpPr/>
          <p:nvPr/>
        </p:nvSpPr>
        <p:spPr>
          <a:xfrm>
            <a:off x="3346319" y="1012245"/>
            <a:ext cx="794081" cy="628732"/>
          </a:xfrm>
          <a:prstGeom prst="rect">
            <a:avLst/>
          </a:prstGeom>
          <a:solidFill>
            <a:srgbClr val="FF000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p:sp>
        <p:nvSpPr>
          <p:cNvPr id="16" name="Rectangle 15">
            <a:extLst>
              <a:ext uri="{FF2B5EF4-FFF2-40B4-BE49-F238E27FC236}">
                <a16:creationId xmlns:a16="http://schemas.microsoft.com/office/drawing/2014/main" id="{B4E257DD-799B-DE88-05D9-4DF4185C49F9}"/>
              </a:ext>
            </a:extLst>
          </p:cNvPr>
          <p:cNvSpPr/>
          <p:nvPr/>
        </p:nvSpPr>
        <p:spPr>
          <a:xfrm>
            <a:off x="1248833" y="2379134"/>
            <a:ext cx="368299" cy="1507067"/>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4998EBF-1864-4B91-C170-2946503F7E35}"/>
              </a:ext>
            </a:extLst>
          </p:cNvPr>
          <p:cNvSpPr/>
          <p:nvPr/>
        </p:nvSpPr>
        <p:spPr>
          <a:xfrm>
            <a:off x="6874880" y="5500958"/>
            <a:ext cx="2977539" cy="69499"/>
          </a:xfrm>
          <a:prstGeom prst="rect">
            <a:avLst/>
          </a:prstGeom>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FF0F5B56-13EE-F5FA-FF8C-3C7272F239C3}"/>
              </a:ext>
            </a:extLst>
          </p:cNvPr>
          <p:cNvSpPr/>
          <p:nvPr/>
        </p:nvSpPr>
        <p:spPr>
          <a:xfrm>
            <a:off x="9852419" y="5500958"/>
            <a:ext cx="1626124" cy="69499"/>
          </a:xfrm>
          <a:prstGeom prst="rect">
            <a:avLst/>
          </a:prstGeom>
          <a:solidFill>
            <a:schemeClr val="accent2">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4DA41187-685A-D0A4-5D1F-934FDD2B222E}"/>
              </a:ext>
            </a:extLst>
          </p:cNvPr>
          <p:cNvSpPr/>
          <p:nvPr/>
        </p:nvSpPr>
        <p:spPr>
          <a:xfrm>
            <a:off x="9709149" y="5500958"/>
            <a:ext cx="143269" cy="69499"/>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Tree>
    <p:extLst>
      <p:ext uri="{BB962C8B-B14F-4D97-AF65-F5344CB8AC3E}">
        <p14:creationId xmlns:p14="http://schemas.microsoft.com/office/powerpoint/2010/main" val="21401404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47E0BE-05AF-C9FE-AC6C-A8D7D100A3C8}"/>
              </a:ext>
            </a:extLst>
          </p:cNvPr>
          <p:cNvPicPr>
            <a:picLocks noChangeAspect="1"/>
          </p:cNvPicPr>
          <p:nvPr/>
        </p:nvPicPr>
        <p:blipFill>
          <a:blip r:embed="rId2"/>
          <a:stretch>
            <a:fillRect/>
          </a:stretch>
        </p:blipFill>
        <p:spPr>
          <a:xfrm>
            <a:off x="6096000" y="1911882"/>
            <a:ext cx="5943600" cy="4114800"/>
          </a:xfrm>
          <a:prstGeom prst="rect">
            <a:avLst/>
          </a:prstGeom>
        </p:spPr>
      </p:pic>
      <p:pic>
        <p:nvPicPr>
          <p:cNvPr id="25" name="Picture 24">
            <a:extLst>
              <a:ext uri="{FF2B5EF4-FFF2-40B4-BE49-F238E27FC236}">
                <a16:creationId xmlns:a16="http://schemas.microsoft.com/office/drawing/2014/main" id="{963CF173-FDD7-AA73-A9CF-A63B9E43BCDB}"/>
              </a:ext>
            </a:extLst>
          </p:cNvPr>
          <p:cNvPicPr>
            <a:picLocks noChangeAspect="1"/>
          </p:cNvPicPr>
          <p:nvPr/>
        </p:nvPicPr>
        <p:blipFill>
          <a:blip r:embed="rId3"/>
          <a:stretch>
            <a:fillRect/>
          </a:stretch>
        </p:blipFill>
        <p:spPr>
          <a:xfrm>
            <a:off x="152400" y="1912150"/>
            <a:ext cx="5943600" cy="4114800"/>
          </a:xfrm>
          <a:prstGeom prst="rect">
            <a:avLst/>
          </a:prstGeom>
        </p:spPr>
      </p:pic>
      <p:sp>
        <p:nvSpPr>
          <p:cNvPr id="2" name="Title 1">
            <a:extLst>
              <a:ext uri="{FF2B5EF4-FFF2-40B4-BE49-F238E27FC236}">
                <a16:creationId xmlns:a16="http://schemas.microsoft.com/office/drawing/2014/main" id="{0C0D962A-A594-49E5-25EA-F37E1D35DBDA}"/>
              </a:ext>
            </a:extLst>
          </p:cNvPr>
          <p:cNvSpPr>
            <a:spLocks noGrp="1"/>
          </p:cNvSpPr>
          <p:nvPr>
            <p:ph type="title"/>
          </p:nvPr>
        </p:nvSpPr>
        <p:spPr>
          <a:xfrm>
            <a:off x="0" y="136525"/>
            <a:ext cx="12192000" cy="662781"/>
          </a:xfrm>
        </p:spPr>
        <p:txBody>
          <a:bodyPr>
            <a:normAutofit fontScale="90000"/>
          </a:bodyPr>
          <a:lstStyle/>
          <a:p>
            <a:pPr algn="ctr"/>
            <a:r>
              <a:rPr lang="en-US" dirty="0"/>
              <a:t>The TSM Significantly Improves the C Beam Model</a:t>
            </a:r>
          </a:p>
        </p:txBody>
      </p:sp>
      <p:sp>
        <p:nvSpPr>
          <p:cNvPr id="4" name="Rectangle 3">
            <a:extLst>
              <a:ext uri="{FF2B5EF4-FFF2-40B4-BE49-F238E27FC236}">
                <a16:creationId xmlns:a16="http://schemas.microsoft.com/office/drawing/2014/main" id="{8A593886-2573-B8E7-DD2F-8F89AD3DDD67}"/>
              </a:ext>
            </a:extLst>
          </p:cNvPr>
          <p:cNvSpPr/>
          <p:nvPr/>
        </p:nvSpPr>
        <p:spPr>
          <a:xfrm>
            <a:off x="70631" y="1100028"/>
            <a:ext cx="2743200" cy="457200"/>
          </a:xfrm>
          <a:prstGeom prst="rect">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6" name="Rectangle 5">
            <a:extLst>
              <a:ext uri="{FF2B5EF4-FFF2-40B4-BE49-F238E27FC236}">
                <a16:creationId xmlns:a16="http://schemas.microsoft.com/office/drawing/2014/main" id="{B17084CF-409C-6A4F-7FDD-AFEBB275EA26}"/>
              </a:ext>
            </a:extLst>
          </p:cNvPr>
          <p:cNvSpPr/>
          <p:nvPr/>
        </p:nvSpPr>
        <p:spPr>
          <a:xfrm>
            <a:off x="5384879" y="1095527"/>
            <a:ext cx="1828800" cy="457200"/>
          </a:xfrm>
          <a:prstGeom prst="rect">
            <a:avLst/>
          </a:prstGeom>
          <a:solidFill>
            <a:schemeClr val="accent2">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 name="Rectangle 6">
            <a:extLst>
              <a:ext uri="{FF2B5EF4-FFF2-40B4-BE49-F238E27FC236}">
                <a16:creationId xmlns:a16="http://schemas.microsoft.com/office/drawing/2014/main" id="{3AF8D01E-AEB0-617E-DAB6-14E22B725213}"/>
              </a:ext>
            </a:extLst>
          </p:cNvPr>
          <p:cNvSpPr/>
          <p:nvPr/>
        </p:nvSpPr>
        <p:spPr>
          <a:xfrm>
            <a:off x="7523435" y="1077804"/>
            <a:ext cx="4572000" cy="457200"/>
          </a:xfrm>
          <a:prstGeom prst="rect">
            <a:avLst/>
          </a:prstGeom>
          <a:solidFill>
            <a:srgbClr val="00B05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8" name="TextBox 7">
            <a:extLst>
              <a:ext uri="{FF2B5EF4-FFF2-40B4-BE49-F238E27FC236}">
                <a16:creationId xmlns:a16="http://schemas.microsoft.com/office/drawing/2014/main" id="{48F70BB4-20E4-7A6F-F228-07754EE9D81D}"/>
              </a:ext>
            </a:extLst>
          </p:cNvPr>
          <p:cNvSpPr txBox="1"/>
          <p:nvPr/>
        </p:nvSpPr>
        <p:spPr>
          <a:xfrm>
            <a:off x="4208434" y="1122680"/>
            <a:ext cx="320922" cy="400110"/>
          </a:xfrm>
          <a:prstGeom prst="rect">
            <a:avLst/>
          </a:prstGeom>
          <a:noFill/>
        </p:spPr>
        <p:txBody>
          <a:bodyPr wrap="none" rtlCol="0">
            <a:spAutoFit/>
          </a:bodyPr>
          <a:lstStyle/>
          <a:p>
            <a:r>
              <a:rPr lang="en-US" sz="2000" b="1" dirty="0"/>
              <a:t>+</a:t>
            </a:r>
          </a:p>
        </p:txBody>
      </p:sp>
      <p:sp>
        <p:nvSpPr>
          <p:cNvPr id="10" name="TextBox 9">
            <a:extLst>
              <a:ext uri="{FF2B5EF4-FFF2-40B4-BE49-F238E27FC236}">
                <a16:creationId xmlns:a16="http://schemas.microsoft.com/office/drawing/2014/main" id="{D458A2B2-9101-35AE-E513-B6CE81102C74}"/>
              </a:ext>
            </a:extLst>
          </p:cNvPr>
          <p:cNvSpPr txBox="1"/>
          <p:nvPr/>
        </p:nvSpPr>
        <p:spPr>
          <a:xfrm>
            <a:off x="7221228" y="1110064"/>
            <a:ext cx="320922" cy="400110"/>
          </a:xfrm>
          <a:prstGeom prst="rect">
            <a:avLst/>
          </a:prstGeom>
          <a:noFill/>
        </p:spPr>
        <p:txBody>
          <a:bodyPr wrap="none" rtlCol="0">
            <a:spAutoFit/>
          </a:bodyPr>
          <a:lstStyle/>
          <a:p>
            <a:r>
              <a:rPr lang="en-US" sz="2000" b="1" dirty="0"/>
              <a:t>=</a:t>
            </a:r>
          </a:p>
        </p:txBody>
      </p:sp>
      <p:cxnSp>
        <p:nvCxnSpPr>
          <p:cNvPr id="11" name="Straight Connector 10">
            <a:extLst>
              <a:ext uri="{FF2B5EF4-FFF2-40B4-BE49-F238E27FC236}">
                <a16:creationId xmlns:a16="http://schemas.microsoft.com/office/drawing/2014/main" id="{72A82667-04C9-5BD8-59E7-FDA82D6B107B}"/>
              </a:ext>
            </a:extLst>
          </p:cNvPr>
          <p:cNvCxnSpPr/>
          <p:nvPr/>
        </p:nvCxnSpPr>
        <p:spPr>
          <a:xfrm>
            <a:off x="10266635" y="1077804"/>
            <a:ext cx="0" cy="4572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4716A410-B681-25C5-69E4-F9AA5801AB3E}"/>
              </a:ext>
            </a:extLst>
          </p:cNvPr>
          <p:cNvSpPr/>
          <p:nvPr/>
        </p:nvSpPr>
        <p:spPr>
          <a:xfrm>
            <a:off x="2028216" y="1013271"/>
            <a:ext cx="794081" cy="628733"/>
          </a:xfrm>
          <a:prstGeom prst="rect">
            <a:avLst/>
          </a:prstGeom>
          <a:solidFill>
            <a:srgbClr val="FF0000">
              <a:alpha val="6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p:sp>
        <p:nvSpPr>
          <p:cNvPr id="13" name="Rectangle 12">
            <a:extLst>
              <a:ext uri="{FF2B5EF4-FFF2-40B4-BE49-F238E27FC236}">
                <a16:creationId xmlns:a16="http://schemas.microsoft.com/office/drawing/2014/main" id="{4BB0B15D-A7BA-E4AF-1DC1-4BD8BE17499F}"/>
              </a:ext>
            </a:extLst>
          </p:cNvPr>
          <p:cNvSpPr/>
          <p:nvPr/>
        </p:nvSpPr>
        <p:spPr>
          <a:xfrm>
            <a:off x="4587649" y="1012245"/>
            <a:ext cx="794081" cy="628732"/>
          </a:xfrm>
          <a:prstGeom prst="rect">
            <a:avLst/>
          </a:prstGeom>
          <a:solidFill>
            <a:srgbClr val="FF000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9B0A0D0-FEA2-8C7D-5693-70E20173F452}"/>
                  </a:ext>
                </a:extLst>
              </p:cNvPr>
              <p:cNvSpPr txBox="1"/>
              <p:nvPr/>
            </p:nvSpPr>
            <p:spPr>
              <a:xfrm>
                <a:off x="2836795" y="1133980"/>
                <a:ext cx="510076" cy="338554"/>
              </a:xfrm>
              <a:prstGeom prst="rect">
                <a:avLst/>
              </a:prstGeom>
              <a:noFill/>
            </p:spPr>
            <p:txBody>
              <a:bodyPr wrap="none" rtlCol="0">
                <a:spAutoFit/>
              </a:bodyPr>
              <a:lstStyle/>
              <a:p>
                <a:r>
                  <a:rPr lang="en-US" sz="1600" b="1" dirty="0">
                    <a:ea typeface="Cambria Math" panose="02040503050406030204" pitchFamily="18" charset="0"/>
                  </a:rPr>
                  <a:t>-2</a:t>
                </a:r>
                <a14:m>
                  <m:oMath xmlns:m="http://schemas.openxmlformats.org/officeDocument/2006/math">
                    <m:r>
                      <a:rPr lang="en-US" sz="1600" b="1" i="0" smtClean="0">
                        <a:latin typeface="Cambria Math" panose="02040503050406030204" pitchFamily="18" charset="0"/>
                        <a:ea typeface="Cambria Math" panose="02040503050406030204" pitchFamily="18" charset="0"/>
                      </a:rPr>
                      <m:t>×</m:t>
                    </m:r>
                  </m:oMath>
                </a14:m>
                <a:endParaRPr lang="en-US" sz="1600" b="1" dirty="0"/>
              </a:p>
            </p:txBody>
          </p:sp>
        </mc:Choice>
        <mc:Fallback xmlns="">
          <p:sp>
            <p:nvSpPr>
              <p:cNvPr id="14" name="TextBox 13">
                <a:extLst>
                  <a:ext uri="{FF2B5EF4-FFF2-40B4-BE49-F238E27FC236}">
                    <a16:creationId xmlns:a16="http://schemas.microsoft.com/office/drawing/2014/main" id="{C9B0A0D0-FEA2-8C7D-5693-70E20173F452}"/>
                  </a:ext>
                </a:extLst>
              </p:cNvPr>
              <p:cNvSpPr txBox="1">
                <a:spLocks noRot="1" noChangeAspect="1" noMove="1" noResize="1" noEditPoints="1" noAdjustHandles="1" noChangeArrowheads="1" noChangeShapeType="1" noTextEdit="1"/>
              </p:cNvSpPr>
              <p:nvPr/>
            </p:nvSpPr>
            <p:spPr>
              <a:xfrm>
                <a:off x="2836795" y="1133980"/>
                <a:ext cx="510076" cy="338554"/>
              </a:xfrm>
              <a:prstGeom prst="rect">
                <a:avLst/>
              </a:prstGeom>
              <a:blipFill>
                <a:blip r:embed="rId4"/>
                <a:stretch>
                  <a:fillRect l="-5952" t="-5357" b="-21429"/>
                </a:stretch>
              </a:blipFill>
            </p:spPr>
            <p:txBody>
              <a:bodyPr/>
              <a:lstStyle/>
              <a:p>
                <a:r>
                  <a:rPr lang="en-US">
                    <a:noFill/>
                  </a:rPr>
                  <a:t> </a:t>
                </a:r>
              </a:p>
            </p:txBody>
          </p:sp>
        </mc:Fallback>
      </mc:AlternateContent>
      <p:sp>
        <p:nvSpPr>
          <p:cNvPr id="15" name="Rectangle 14">
            <a:extLst>
              <a:ext uri="{FF2B5EF4-FFF2-40B4-BE49-F238E27FC236}">
                <a16:creationId xmlns:a16="http://schemas.microsoft.com/office/drawing/2014/main" id="{2C84A036-12AA-0B2A-F88C-92AC2FD048E2}"/>
              </a:ext>
            </a:extLst>
          </p:cNvPr>
          <p:cNvSpPr/>
          <p:nvPr/>
        </p:nvSpPr>
        <p:spPr>
          <a:xfrm>
            <a:off x="3346319" y="1012245"/>
            <a:ext cx="794081" cy="628732"/>
          </a:xfrm>
          <a:prstGeom prst="rect">
            <a:avLst/>
          </a:prstGeom>
          <a:solidFill>
            <a:srgbClr val="FF000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p:sp>
        <p:nvSpPr>
          <p:cNvPr id="17" name="Rectangle 16">
            <a:extLst>
              <a:ext uri="{FF2B5EF4-FFF2-40B4-BE49-F238E27FC236}">
                <a16:creationId xmlns:a16="http://schemas.microsoft.com/office/drawing/2014/main" id="{4D467DCC-ED7E-76E9-C3F7-A2BD22880059}"/>
              </a:ext>
            </a:extLst>
          </p:cNvPr>
          <p:cNvSpPr/>
          <p:nvPr/>
        </p:nvSpPr>
        <p:spPr>
          <a:xfrm>
            <a:off x="2065422" y="2754848"/>
            <a:ext cx="423778" cy="1330319"/>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BD13683-1BB4-4FB3-4D12-09F05A2BE510}"/>
              </a:ext>
            </a:extLst>
          </p:cNvPr>
          <p:cNvSpPr/>
          <p:nvPr/>
        </p:nvSpPr>
        <p:spPr>
          <a:xfrm>
            <a:off x="6874880" y="5500958"/>
            <a:ext cx="2977539" cy="69499"/>
          </a:xfrm>
          <a:prstGeom prst="rect">
            <a:avLst/>
          </a:prstGeom>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21CDA96F-700A-08D6-846C-B1F8A3F22EFB}"/>
              </a:ext>
            </a:extLst>
          </p:cNvPr>
          <p:cNvSpPr/>
          <p:nvPr/>
        </p:nvSpPr>
        <p:spPr>
          <a:xfrm>
            <a:off x="9852419" y="5500958"/>
            <a:ext cx="1626124" cy="69499"/>
          </a:xfrm>
          <a:prstGeom prst="rect">
            <a:avLst/>
          </a:prstGeom>
          <a:solidFill>
            <a:schemeClr val="accent2">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B0D87EFD-9D20-EE69-1D88-983C8B597F00}"/>
              </a:ext>
            </a:extLst>
          </p:cNvPr>
          <p:cNvSpPr/>
          <p:nvPr/>
        </p:nvSpPr>
        <p:spPr>
          <a:xfrm>
            <a:off x="9709149" y="5500958"/>
            <a:ext cx="143269" cy="69499"/>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Tree>
    <p:extLst>
      <p:ext uri="{BB962C8B-B14F-4D97-AF65-F5344CB8AC3E}">
        <p14:creationId xmlns:p14="http://schemas.microsoft.com/office/powerpoint/2010/main" val="9702135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B9BBCB2-EC33-9742-3E3C-D2FBDDAC50F1}"/>
              </a:ext>
            </a:extLst>
          </p:cNvPr>
          <p:cNvPicPr>
            <a:picLocks noChangeAspect="1"/>
          </p:cNvPicPr>
          <p:nvPr/>
        </p:nvPicPr>
        <p:blipFill>
          <a:blip r:embed="rId2"/>
          <a:stretch>
            <a:fillRect/>
          </a:stretch>
        </p:blipFill>
        <p:spPr>
          <a:xfrm>
            <a:off x="6094716" y="1911882"/>
            <a:ext cx="5943600" cy="4114800"/>
          </a:xfrm>
          <a:prstGeom prst="rect">
            <a:avLst/>
          </a:prstGeom>
        </p:spPr>
      </p:pic>
      <p:pic>
        <p:nvPicPr>
          <p:cNvPr id="25" name="Picture 24">
            <a:extLst>
              <a:ext uri="{FF2B5EF4-FFF2-40B4-BE49-F238E27FC236}">
                <a16:creationId xmlns:a16="http://schemas.microsoft.com/office/drawing/2014/main" id="{963CF173-FDD7-AA73-A9CF-A63B9E43BCDB}"/>
              </a:ext>
            </a:extLst>
          </p:cNvPr>
          <p:cNvPicPr>
            <a:picLocks noChangeAspect="1"/>
          </p:cNvPicPr>
          <p:nvPr/>
        </p:nvPicPr>
        <p:blipFill>
          <a:blip r:embed="rId3"/>
          <a:stretch>
            <a:fillRect/>
          </a:stretch>
        </p:blipFill>
        <p:spPr>
          <a:xfrm>
            <a:off x="152400" y="1912150"/>
            <a:ext cx="5943600" cy="4114800"/>
          </a:xfrm>
          <a:prstGeom prst="rect">
            <a:avLst/>
          </a:prstGeom>
        </p:spPr>
      </p:pic>
      <p:sp>
        <p:nvSpPr>
          <p:cNvPr id="2" name="Title 1">
            <a:extLst>
              <a:ext uri="{FF2B5EF4-FFF2-40B4-BE49-F238E27FC236}">
                <a16:creationId xmlns:a16="http://schemas.microsoft.com/office/drawing/2014/main" id="{0C0D962A-A594-49E5-25EA-F37E1D35DBDA}"/>
              </a:ext>
            </a:extLst>
          </p:cNvPr>
          <p:cNvSpPr>
            <a:spLocks noGrp="1"/>
          </p:cNvSpPr>
          <p:nvPr>
            <p:ph type="title"/>
          </p:nvPr>
        </p:nvSpPr>
        <p:spPr>
          <a:xfrm>
            <a:off x="0" y="136525"/>
            <a:ext cx="12192000" cy="662781"/>
          </a:xfrm>
        </p:spPr>
        <p:txBody>
          <a:bodyPr>
            <a:normAutofit fontScale="90000"/>
          </a:bodyPr>
          <a:lstStyle/>
          <a:p>
            <a:pPr algn="ctr"/>
            <a:r>
              <a:rPr lang="en-US" dirty="0"/>
              <a:t>The TSM Significantly Improves the C Beam Model</a:t>
            </a:r>
          </a:p>
        </p:txBody>
      </p:sp>
      <p:sp>
        <p:nvSpPr>
          <p:cNvPr id="4" name="Rectangle 3">
            <a:extLst>
              <a:ext uri="{FF2B5EF4-FFF2-40B4-BE49-F238E27FC236}">
                <a16:creationId xmlns:a16="http://schemas.microsoft.com/office/drawing/2014/main" id="{8A593886-2573-B8E7-DD2F-8F89AD3DDD67}"/>
              </a:ext>
            </a:extLst>
          </p:cNvPr>
          <p:cNvSpPr/>
          <p:nvPr/>
        </p:nvSpPr>
        <p:spPr>
          <a:xfrm>
            <a:off x="70631" y="1100028"/>
            <a:ext cx="2743200" cy="457200"/>
          </a:xfrm>
          <a:prstGeom prst="rect">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6" name="Rectangle 5">
            <a:extLst>
              <a:ext uri="{FF2B5EF4-FFF2-40B4-BE49-F238E27FC236}">
                <a16:creationId xmlns:a16="http://schemas.microsoft.com/office/drawing/2014/main" id="{B17084CF-409C-6A4F-7FDD-AFEBB275EA26}"/>
              </a:ext>
            </a:extLst>
          </p:cNvPr>
          <p:cNvSpPr/>
          <p:nvPr/>
        </p:nvSpPr>
        <p:spPr>
          <a:xfrm>
            <a:off x="5384879" y="1095527"/>
            <a:ext cx="1828800" cy="457200"/>
          </a:xfrm>
          <a:prstGeom prst="rect">
            <a:avLst/>
          </a:prstGeom>
          <a:solidFill>
            <a:schemeClr val="accent2">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 name="Rectangle 6">
            <a:extLst>
              <a:ext uri="{FF2B5EF4-FFF2-40B4-BE49-F238E27FC236}">
                <a16:creationId xmlns:a16="http://schemas.microsoft.com/office/drawing/2014/main" id="{3AF8D01E-AEB0-617E-DAB6-14E22B725213}"/>
              </a:ext>
            </a:extLst>
          </p:cNvPr>
          <p:cNvSpPr/>
          <p:nvPr/>
        </p:nvSpPr>
        <p:spPr>
          <a:xfrm>
            <a:off x="7523435" y="1077804"/>
            <a:ext cx="4572000" cy="457200"/>
          </a:xfrm>
          <a:prstGeom prst="rect">
            <a:avLst/>
          </a:prstGeom>
          <a:solidFill>
            <a:srgbClr val="00B05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8" name="TextBox 7">
            <a:extLst>
              <a:ext uri="{FF2B5EF4-FFF2-40B4-BE49-F238E27FC236}">
                <a16:creationId xmlns:a16="http://schemas.microsoft.com/office/drawing/2014/main" id="{48F70BB4-20E4-7A6F-F228-07754EE9D81D}"/>
              </a:ext>
            </a:extLst>
          </p:cNvPr>
          <p:cNvSpPr txBox="1"/>
          <p:nvPr/>
        </p:nvSpPr>
        <p:spPr>
          <a:xfrm>
            <a:off x="4208434" y="1122680"/>
            <a:ext cx="320922" cy="400110"/>
          </a:xfrm>
          <a:prstGeom prst="rect">
            <a:avLst/>
          </a:prstGeom>
          <a:noFill/>
        </p:spPr>
        <p:txBody>
          <a:bodyPr wrap="none" rtlCol="0">
            <a:spAutoFit/>
          </a:bodyPr>
          <a:lstStyle/>
          <a:p>
            <a:r>
              <a:rPr lang="en-US" sz="2000" b="1" dirty="0"/>
              <a:t>+</a:t>
            </a:r>
          </a:p>
        </p:txBody>
      </p:sp>
      <p:sp>
        <p:nvSpPr>
          <p:cNvPr id="10" name="TextBox 9">
            <a:extLst>
              <a:ext uri="{FF2B5EF4-FFF2-40B4-BE49-F238E27FC236}">
                <a16:creationId xmlns:a16="http://schemas.microsoft.com/office/drawing/2014/main" id="{D458A2B2-9101-35AE-E513-B6CE81102C74}"/>
              </a:ext>
            </a:extLst>
          </p:cNvPr>
          <p:cNvSpPr txBox="1"/>
          <p:nvPr/>
        </p:nvSpPr>
        <p:spPr>
          <a:xfrm>
            <a:off x="7221228" y="1110064"/>
            <a:ext cx="320922" cy="400110"/>
          </a:xfrm>
          <a:prstGeom prst="rect">
            <a:avLst/>
          </a:prstGeom>
          <a:noFill/>
        </p:spPr>
        <p:txBody>
          <a:bodyPr wrap="none" rtlCol="0">
            <a:spAutoFit/>
          </a:bodyPr>
          <a:lstStyle/>
          <a:p>
            <a:r>
              <a:rPr lang="en-US" sz="2000" b="1" dirty="0"/>
              <a:t>=</a:t>
            </a:r>
          </a:p>
        </p:txBody>
      </p:sp>
      <p:cxnSp>
        <p:nvCxnSpPr>
          <p:cNvPr id="11" name="Straight Connector 10">
            <a:extLst>
              <a:ext uri="{FF2B5EF4-FFF2-40B4-BE49-F238E27FC236}">
                <a16:creationId xmlns:a16="http://schemas.microsoft.com/office/drawing/2014/main" id="{72A82667-04C9-5BD8-59E7-FDA82D6B107B}"/>
              </a:ext>
            </a:extLst>
          </p:cNvPr>
          <p:cNvCxnSpPr/>
          <p:nvPr/>
        </p:nvCxnSpPr>
        <p:spPr>
          <a:xfrm>
            <a:off x="10266635" y="1077804"/>
            <a:ext cx="0" cy="4572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4716A410-B681-25C5-69E4-F9AA5801AB3E}"/>
              </a:ext>
            </a:extLst>
          </p:cNvPr>
          <p:cNvSpPr/>
          <p:nvPr/>
        </p:nvSpPr>
        <p:spPr>
          <a:xfrm>
            <a:off x="2028216" y="1013271"/>
            <a:ext cx="794081" cy="628733"/>
          </a:xfrm>
          <a:prstGeom prst="rect">
            <a:avLst/>
          </a:prstGeom>
          <a:solidFill>
            <a:srgbClr val="FF0000">
              <a:alpha val="6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p:sp>
        <p:nvSpPr>
          <p:cNvPr id="13" name="Rectangle 12">
            <a:extLst>
              <a:ext uri="{FF2B5EF4-FFF2-40B4-BE49-F238E27FC236}">
                <a16:creationId xmlns:a16="http://schemas.microsoft.com/office/drawing/2014/main" id="{4BB0B15D-A7BA-E4AF-1DC1-4BD8BE17499F}"/>
              </a:ext>
            </a:extLst>
          </p:cNvPr>
          <p:cNvSpPr/>
          <p:nvPr/>
        </p:nvSpPr>
        <p:spPr>
          <a:xfrm>
            <a:off x="4587649" y="1012245"/>
            <a:ext cx="794081" cy="628732"/>
          </a:xfrm>
          <a:prstGeom prst="rect">
            <a:avLst/>
          </a:prstGeom>
          <a:solidFill>
            <a:srgbClr val="FF000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9B0A0D0-FEA2-8C7D-5693-70E20173F452}"/>
                  </a:ext>
                </a:extLst>
              </p:cNvPr>
              <p:cNvSpPr txBox="1"/>
              <p:nvPr/>
            </p:nvSpPr>
            <p:spPr>
              <a:xfrm>
                <a:off x="2836795" y="1133980"/>
                <a:ext cx="510076" cy="338554"/>
              </a:xfrm>
              <a:prstGeom prst="rect">
                <a:avLst/>
              </a:prstGeom>
              <a:noFill/>
            </p:spPr>
            <p:txBody>
              <a:bodyPr wrap="none" rtlCol="0">
                <a:spAutoFit/>
              </a:bodyPr>
              <a:lstStyle/>
              <a:p>
                <a:r>
                  <a:rPr lang="en-US" sz="1600" b="1" dirty="0">
                    <a:ea typeface="Cambria Math" panose="02040503050406030204" pitchFamily="18" charset="0"/>
                  </a:rPr>
                  <a:t>-2</a:t>
                </a:r>
                <a14:m>
                  <m:oMath xmlns:m="http://schemas.openxmlformats.org/officeDocument/2006/math">
                    <m:r>
                      <a:rPr lang="en-US" sz="1600" b="1" i="0" smtClean="0">
                        <a:latin typeface="Cambria Math" panose="02040503050406030204" pitchFamily="18" charset="0"/>
                        <a:ea typeface="Cambria Math" panose="02040503050406030204" pitchFamily="18" charset="0"/>
                      </a:rPr>
                      <m:t>×</m:t>
                    </m:r>
                  </m:oMath>
                </a14:m>
                <a:endParaRPr lang="en-US" sz="1600" b="1" dirty="0"/>
              </a:p>
            </p:txBody>
          </p:sp>
        </mc:Choice>
        <mc:Fallback xmlns="">
          <p:sp>
            <p:nvSpPr>
              <p:cNvPr id="14" name="TextBox 13">
                <a:extLst>
                  <a:ext uri="{FF2B5EF4-FFF2-40B4-BE49-F238E27FC236}">
                    <a16:creationId xmlns:a16="http://schemas.microsoft.com/office/drawing/2014/main" id="{C9B0A0D0-FEA2-8C7D-5693-70E20173F452}"/>
                  </a:ext>
                </a:extLst>
              </p:cNvPr>
              <p:cNvSpPr txBox="1">
                <a:spLocks noRot="1" noChangeAspect="1" noMove="1" noResize="1" noEditPoints="1" noAdjustHandles="1" noChangeArrowheads="1" noChangeShapeType="1" noTextEdit="1"/>
              </p:cNvSpPr>
              <p:nvPr/>
            </p:nvSpPr>
            <p:spPr>
              <a:xfrm>
                <a:off x="2836795" y="1133980"/>
                <a:ext cx="510076" cy="338554"/>
              </a:xfrm>
              <a:prstGeom prst="rect">
                <a:avLst/>
              </a:prstGeom>
              <a:blipFill>
                <a:blip r:embed="rId4"/>
                <a:stretch>
                  <a:fillRect l="-5952" t="-5357" b="-21429"/>
                </a:stretch>
              </a:blipFill>
            </p:spPr>
            <p:txBody>
              <a:bodyPr/>
              <a:lstStyle/>
              <a:p>
                <a:r>
                  <a:rPr lang="en-US">
                    <a:noFill/>
                  </a:rPr>
                  <a:t> </a:t>
                </a:r>
              </a:p>
            </p:txBody>
          </p:sp>
        </mc:Fallback>
      </mc:AlternateContent>
      <p:sp>
        <p:nvSpPr>
          <p:cNvPr id="15" name="Rectangle 14">
            <a:extLst>
              <a:ext uri="{FF2B5EF4-FFF2-40B4-BE49-F238E27FC236}">
                <a16:creationId xmlns:a16="http://schemas.microsoft.com/office/drawing/2014/main" id="{2C84A036-12AA-0B2A-F88C-92AC2FD048E2}"/>
              </a:ext>
            </a:extLst>
          </p:cNvPr>
          <p:cNvSpPr/>
          <p:nvPr/>
        </p:nvSpPr>
        <p:spPr>
          <a:xfrm>
            <a:off x="3346319" y="1012245"/>
            <a:ext cx="794081" cy="628732"/>
          </a:xfrm>
          <a:prstGeom prst="rect">
            <a:avLst/>
          </a:prstGeom>
          <a:solidFill>
            <a:srgbClr val="FF000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p:sp>
        <p:nvSpPr>
          <p:cNvPr id="18" name="Rectangle 17">
            <a:extLst>
              <a:ext uri="{FF2B5EF4-FFF2-40B4-BE49-F238E27FC236}">
                <a16:creationId xmlns:a16="http://schemas.microsoft.com/office/drawing/2014/main" id="{439949DF-DF64-A9BA-CE57-5A022523E816}"/>
              </a:ext>
            </a:extLst>
          </p:cNvPr>
          <p:cNvSpPr/>
          <p:nvPr/>
        </p:nvSpPr>
        <p:spPr>
          <a:xfrm>
            <a:off x="3318265" y="3153832"/>
            <a:ext cx="423778" cy="1109135"/>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8A6FECE-57F0-696B-1956-52A3055FD3F6}"/>
              </a:ext>
            </a:extLst>
          </p:cNvPr>
          <p:cNvSpPr/>
          <p:nvPr/>
        </p:nvSpPr>
        <p:spPr>
          <a:xfrm>
            <a:off x="6874880" y="5500958"/>
            <a:ext cx="2977539" cy="69499"/>
          </a:xfrm>
          <a:prstGeom prst="rect">
            <a:avLst/>
          </a:prstGeom>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D963A6E3-A83E-1FF5-55A6-EACE18058AFD}"/>
              </a:ext>
            </a:extLst>
          </p:cNvPr>
          <p:cNvSpPr/>
          <p:nvPr/>
        </p:nvSpPr>
        <p:spPr>
          <a:xfrm>
            <a:off x="9852419" y="5500958"/>
            <a:ext cx="1626124" cy="69499"/>
          </a:xfrm>
          <a:prstGeom prst="rect">
            <a:avLst/>
          </a:prstGeom>
          <a:solidFill>
            <a:schemeClr val="accent2">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20B0CAA8-7861-53D8-E4C3-F52AEE6DE0FC}"/>
              </a:ext>
            </a:extLst>
          </p:cNvPr>
          <p:cNvSpPr/>
          <p:nvPr/>
        </p:nvSpPr>
        <p:spPr>
          <a:xfrm>
            <a:off x="9709149" y="5500958"/>
            <a:ext cx="143269" cy="69499"/>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Tree>
    <p:extLst>
      <p:ext uri="{BB962C8B-B14F-4D97-AF65-F5344CB8AC3E}">
        <p14:creationId xmlns:p14="http://schemas.microsoft.com/office/powerpoint/2010/main" val="41370793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4F01D690-3D64-A7FC-547D-73E8213437E9}"/>
              </a:ext>
            </a:extLst>
          </p:cNvPr>
          <p:cNvPicPr>
            <a:picLocks noChangeAspect="1"/>
          </p:cNvPicPr>
          <p:nvPr/>
        </p:nvPicPr>
        <p:blipFill>
          <a:blip r:embed="rId2"/>
          <a:stretch>
            <a:fillRect/>
          </a:stretch>
        </p:blipFill>
        <p:spPr>
          <a:xfrm>
            <a:off x="6094716" y="1911882"/>
            <a:ext cx="5943600" cy="4114800"/>
          </a:xfrm>
          <a:prstGeom prst="rect">
            <a:avLst/>
          </a:prstGeom>
        </p:spPr>
      </p:pic>
      <p:pic>
        <p:nvPicPr>
          <p:cNvPr id="25" name="Picture 24">
            <a:extLst>
              <a:ext uri="{FF2B5EF4-FFF2-40B4-BE49-F238E27FC236}">
                <a16:creationId xmlns:a16="http://schemas.microsoft.com/office/drawing/2014/main" id="{963CF173-FDD7-AA73-A9CF-A63B9E43BCDB}"/>
              </a:ext>
            </a:extLst>
          </p:cNvPr>
          <p:cNvPicPr>
            <a:picLocks noChangeAspect="1"/>
          </p:cNvPicPr>
          <p:nvPr/>
        </p:nvPicPr>
        <p:blipFill>
          <a:blip r:embed="rId3"/>
          <a:stretch>
            <a:fillRect/>
          </a:stretch>
        </p:blipFill>
        <p:spPr>
          <a:xfrm>
            <a:off x="152400" y="1912150"/>
            <a:ext cx="5943600" cy="4114800"/>
          </a:xfrm>
          <a:prstGeom prst="rect">
            <a:avLst/>
          </a:prstGeom>
        </p:spPr>
      </p:pic>
      <p:sp>
        <p:nvSpPr>
          <p:cNvPr id="2" name="Title 1">
            <a:extLst>
              <a:ext uri="{FF2B5EF4-FFF2-40B4-BE49-F238E27FC236}">
                <a16:creationId xmlns:a16="http://schemas.microsoft.com/office/drawing/2014/main" id="{0C0D962A-A594-49E5-25EA-F37E1D35DBDA}"/>
              </a:ext>
            </a:extLst>
          </p:cNvPr>
          <p:cNvSpPr>
            <a:spLocks noGrp="1"/>
          </p:cNvSpPr>
          <p:nvPr>
            <p:ph type="title"/>
          </p:nvPr>
        </p:nvSpPr>
        <p:spPr>
          <a:xfrm>
            <a:off x="0" y="136525"/>
            <a:ext cx="12192000" cy="662781"/>
          </a:xfrm>
        </p:spPr>
        <p:txBody>
          <a:bodyPr>
            <a:normAutofit fontScale="90000"/>
          </a:bodyPr>
          <a:lstStyle/>
          <a:p>
            <a:pPr algn="ctr"/>
            <a:r>
              <a:rPr lang="en-US" dirty="0"/>
              <a:t>The TSM Significantly Improves the C Beam Model</a:t>
            </a:r>
          </a:p>
        </p:txBody>
      </p:sp>
      <p:sp>
        <p:nvSpPr>
          <p:cNvPr id="4" name="Rectangle 3">
            <a:extLst>
              <a:ext uri="{FF2B5EF4-FFF2-40B4-BE49-F238E27FC236}">
                <a16:creationId xmlns:a16="http://schemas.microsoft.com/office/drawing/2014/main" id="{8A593886-2573-B8E7-DD2F-8F89AD3DDD67}"/>
              </a:ext>
            </a:extLst>
          </p:cNvPr>
          <p:cNvSpPr/>
          <p:nvPr/>
        </p:nvSpPr>
        <p:spPr>
          <a:xfrm>
            <a:off x="70631" y="1100028"/>
            <a:ext cx="2743200" cy="457200"/>
          </a:xfrm>
          <a:prstGeom prst="rect">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6" name="Rectangle 5">
            <a:extLst>
              <a:ext uri="{FF2B5EF4-FFF2-40B4-BE49-F238E27FC236}">
                <a16:creationId xmlns:a16="http://schemas.microsoft.com/office/drawing/2014/main" id="{B17084CF-409C-6A4F-7FDD-AFEBB275EA26}"/>
              </a:ext>
            </a:extLst>
          </p:cNvPr>
          <p:cNvSpPr/>
          <p:nvPr/>
        </p:nvSpPr>
        <p:spPr>
          <a:xfrm>
            <a:off x="5384879" y="1095527"/>
            <a:ext cx="1828800" cy="457200"/>
          </a:xfrm>
          <a:prstGeom prst="rect">
            <a:avLst/>
          </a:prstGeom>
          <a:solidFill>
            <a:schemeClr val="accent2">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 name="Rectangle 6">
            <a:extLst>
              <a:ext uri="{FF2B5EF4-FFF2-40B4-BE49-F238E27FC236}">
                <a16:creationId xmlns:a16="http://schemas.microsoft.com/office/drawing/2014/main" id="{3AF8D01E-AEB0-617E-DAB6-14E22B725213}"/>
              </a:ext>
            </a:extLst>
          </p:cNvPr>
          <p:cNvSpPr/>
          <p:nvPr/>
        </p:nvSpPr>
        <p:spPr>
          <a:xfrm>
            <a:off x="7523435" y="1077804"/>
            <a:ext cx="4572000" cy="457200"/>
          </a:xfrm>
          <a:prstGeom prst="rect">
            <a:avLst/>
          </a:prstGeom>
          <a:solidFill>
            <a:srgbClr val="00B05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8" name="TextBox 7">
            <a:extLst>
              <a:ext uri="{FF2B5EF4-FFF2-40B4-BE49-F238E27FC236}">
                <a16:creationId xmlns:a16="http://schemas.microsoft.com/office/drawing/2014/main" id="{48F70BB4-20E4-7A6F-F228-07754EE9D81D}"/>
              </a:ext>
            </a:extLst>
          </p:cNvPr>
          <p:cNvSpPr txBox="1"/>
          <p:nvPr/>
        </p:nvSpPr>
        <p:spPr>
          <a:xfrm>
            <a:off x="4208434" y="1122680"/>
            <a:ext cx="320922" cy="400110"/>
          </a:xfrm>
          <a:prstGeom prst="rect">
            <a:avLst/>
          </a:prstGeom>
          <a:noFill/>
        </p:spPr>
        <p:txBody>
          <a:bodyPr wrap="none" rtlCol="0">
            <a:spAutoFit/>
          </a:bodyPr>
          <a:lstStyle/>
          <a:p>
            <a:r>
              <a:rPr lang="en-US" sz="2000" b="1" dirty="0"/>
              <a:t>+</a:t>
            </a:r>
          </a:p>
        </p:txBody>
      </p:sp>
      <p:sp>
        <p:nvSpPr>
          <p:cNvPr id="10" name="TextBox 9">
            <a:extLst>
              <a:ext uri="{FF2B5EF4-FFF2-40B4-BE49-F238E27FC236}">
                <a16:creationId xmlns:a16="http://schemas.microsoft.com/office/drawing/2014/main" id="{D458A2B2-9101-35AE-E513-B6CE81102C74}"/>
              </a:ext>
            </a:extLst>
          </p:cNvPr>
          <p:cNvSpPr txBox="1"/>
          <p:nvPr/>
        </p:nvSpPr>
        <p:spPr>
          <a:xfrm>
            <a:off x="7221228" y="1110064"/>
            <a:ext cx="320922" cy="400110"/>
          </a:xfrm>
          <a:prstGeom prst="rect">
            <a:avLst/>
          </a:prstGeom>
          <a:noFill/>
        </p:spPr>
        <p:txBody>
          <a:bodyPr wrap="none" rtlCol="0">
            <a:spAutoFit/>
          </a:bodyPr>
          <a:lstStyle/>
          <a:p>
            <a:r>
              <a:rPr lang="en-US" sz="2000" b="1" dirty="0"/>
              <a:t>=</a:t>
            </a:r>
          </a:p>
        </p:txBody>
      </p:sp>
      <p:cxnSp>
        <p:nvCxnSpPr>
          <p:cNvPr id="11" name="Straight Connector 10">
            <a:extLst>
              <a:ext uri="{FF2B5EF4-FFF2-40B4-BE49-F238E27FC236}">
                <a16:creationId xmlns:a16="http://schemas.microsoft.com/office/drawing/2014/main" id="{72A82667-04C9-5BD8-59E7-FDA82D6B107B}"/>
              </a:ext>
            </a:extLst>
          </p:cNvPr>
          <p:cNvCxnSpPr/>
          <p:nvPr/>
        </p:nvCxnSpPr>
        <p:spPr>
          <a:xfrm>
            <a:off x="10266635" y="1077804"/>
            <a:ext cx="0" cy="4572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4716A410-B681-25C5-69E4-F9AA5801AB3E}"/>
              </a:ext>
            </a:extLst>
          </p:cNvPr>
          <p:cNvSpPr/>
          <p:nvPr/>
        </p:nvSpPr>
        <p:spPr>
          <a:xfrm>
            <a:off x="2028216" y="1013271"/>
            <a:ext cx="794081" cy="628733"/>
          </a:xfrm>
          <a:prstGeom prst="rect">
            <a:avLst/>
          </a:prstGeom>
          <a:solidFill>
            <a:srgbClr val="FF0000">
              <a:alpha val="6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p:sp>
        <p:nvSpPr>
          <p:cNvPr id="13" name="Rectangle 12">
            <a:extLst>
              <a:ext uri="{FF2B5EF4-FFF2-40B4-BE49-F238E27FC236}">
                <a16:creationId xmlns:a16="http://schemas.microsoft.com/office/drawing/2014/main" id="{4BB0B15D-A7BA-E4AF-1DC1-4BD8BE17499F}"/>
              </a:ext>
            </a:extLst>
          </p:cNvPr>
          <p:cNvSpPr/>
          <p:nvPr/>
        </p:nvSpPr>
        <p:spPr>
          <a:xfrm>
            <a:off x="4587649" y="1012245"/>
            <a:ext cx="794081" cy="628732"/>
          </a:xfrm>
          <a:prstGeom prst="rect">
            <a:avLst/>
          </a:prstGeom>
          <a:solidFill>
            <a:srgbClr val="FF000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9B0A0D0-FEA2-8C7D-5693-70E20173F452}"/>
                  </a:ext>
                </a:extLst>
              </p:cNvPr>
              <p:cNvSpPr txBox="1"/>
              <p:nvPr/>
            </p:nvSpPr>
            <p:spPr>
              <a:xfrm>
                <a:off x="2836795" y="1133980"/>
                <a:ext cx="510076" cy="338554"/>
              </a:xfrm>
              <a:prstGeom prst="rect">
                <a:avLst/>
              </a:prstGeom>
              <a:noFill/>
            </p:spPr>
            <p:txBody>
              <a:bodyPr wrap="none" rtlCol="0">
                <a:spAutoFit/>
              </a:bodyPr>
              <a:lstStyle/>
              <a:p>
                <a:r>
                  <a:rPr lang="en-US" sz="1600" b="1" dirty="0">
                    <a:ea typeface="Cambria Math" panose="02040503050406030204" pitchFamily="18" charset="0"/>
                  </a:rPr>
                  <a:t>-2</a:t>
                </a:r>
                <a14:m>
                  <m:oMath xmlns:m="http://schemas.openxmlformats.org/officeDocument/2006/math">
                    <m:r>
                      <a:rPr lang="en-US" sz="1600" b="1" i="0" smtClean="0">
                        <a:latin typeface="Cambria Math" panose="02040503050406030204" pitchFamily="18" charset="0"/>
                        <a:ea typeface="Cambria Math" panose="02040503050406030204" pitchFamily="18" charset="0"/>
                      </a:rPr>
                      <m:t>×</m:t>
                    </m:r>
                  </m:oMath>
                </a14:m>
                <a:endParaRPr lang="en-US" sz="1600" b="1" dirty="0"/>
              </a:p>
            </p:txBody>
          </p:sp>
        </mc:Choice>
        <mc:Fallback xmlns="">
          <p:sp>
            <p:nvSpPr>
              <p:cNvPr id="14" name="TextBox 13">
                <a:extLst>
                  <a:ext uri="{FF2B5EF4-FFF2-40B4-BE49-F238E27FC236}">
                    <a16:creationId xmlns:a16="http://schemas.microsoft.com/office/drawing/2014/main" id="{C9B0A0D0-FEA2-8C7D-5693-70E20173F452}"/>
                  </a:ext>
                </a:extLst>
              </p:cNvPr>
              <p:cNvSpPr txBox="1">
                <a:spLocks noRot="1" noChangeAspect="1" noMove="1" noResize="1" noEditPoints="1" noAdjustHandles="1" noChangeArrowheads="1" noChangeShapeType="1" noTextEdit="1"/>
              </p:cNvSpPr>
              <p:nvPr/>
            </p:nvSpPr>
            <p:spPr>
              <a:xfrm>
                <a:off x="2836795" y="1133980"/>
                <a:ext cx="510076" cy="338554"/>
              </a:xfrm>
              <a:prstGeom prst="rect">
                <a:avLst/>
              </a:prstGeom>
              <a:blipFill>
                <a:blip r:embed="rId4"/>
                <a:stretch>
                  <a:fillRect l="-5952" t="-5357" b="-21429"/>
                </a:stretch>
              </a:blipFill>
            </p:spPr>
            <p:txBody>
              <a:bodyPr/>
              <a:lstStyle/>
              <a:p>
                <a:r>
                  <a:rPr lang="en-US">
                    <a:noFill/>
                  </a:rPr>
                  <a:t> </a:t>
                </a:r>
              </a:p>
            </p:txBody>
          </p:sp>
        </mc:Fallback>
      </mc:AlternateContent>
      <p:sp>
        <p:nvSpPr>
          <p:cNvPr id="15" name="Rectangle 14">
            <a:extLst>
              <a:ext uri="{FF2B5EF4-FFF2-40B4-BE49-F238E27FC236}">
                <a16:creationId xmlns:a16="http://schemas.microsoft.com/office/drawing/2014/main" id="{2C84A036-12AA-0B2A-F88C-92AC2FD048E2}"/>
              </a:ext>
            </a:extLst>
          </p:cNvPr>
          <p:cNvSpPr/>
          <p:nvPr/>
        </p:nvSpPr>
        <p:spPr>
          <a:xfrm>
            <a:off x="3346319" y="1012245"/>
            <a:ext cx="794081" cy="628732"/>
          </a:xfrm>
          <a:prstGeom prst="rect">
            <a:avLst/>
          </a:prstGeom>
          <a:solidFill>
            <a:srgbClr val="FF000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p:sp>
        <p:nvSpPr>
          <p:cNvPr id="19" name="Rectangle 18">
            <a:extLst>
              <a:ext uri="{FF2B5EF4-FFF2-40B4-BE49-F238E27FC236}">
                <a16:creationId xmlns:a16="http://schemas.microsoft.com/office/drawing/2014/main" id="{A30B25D4-F7EB-368E-6EAB-D4388E3FCBCE}"/>
              </a:ext>
            </a:extLst>
          </p:cNvPr>
          <p:cNvSpPr/>
          <p:nvPr/>
        </p:nvSpPr>
        <p:spPr>
          <a:xfrm>
            <a:off x="5037221" y="3467099"/>
            <a:ext cx="508445" cy="889001"/>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5F1816C-23EE-CF11-C1FE-D75F15C4C0BD}"/>
              </a:ext>
            </a:extLst>
          </p:cNvPr>
          <p:cNvSpPr/>
          <p:nvPr/>
        </p:nvSpPr>
        <p:spPr>
          <a:xfrm>
            <a:off x="6874880" y="5500958"/>
            <a:ext cx="2977539" cy="69499"/>
          </a:xfrm>
          <a:prstGeom prst="rect">
            <a:avLst/>
          </a:prstGeom>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CB13413A-4DCA-7590-79C7-5758FC06DF15}"/>
              </a:ext>
            </a:extLst>
          </p:cNvPr>
          <p:cNvSpPr/>
          <p:nvPr/>
        </p:nvSpPr>
        <p:spPr>
          <a:xfrm>
            <a:off x="9852419" y="5500958"/>
            <a:ext cx="1626124" cy="69499"/>
          </a:xfrm>
          <a:prstGeom prst="rect">
            <a:avLst/>
          </a:prstGeom>
          <a:solidFill>
            <a:schemeClr val="accent2">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84DE4906-3069-F10A-03D2-C42139417ED6}"/>
              </a:ext>
            </a:extLst>
          </p:cNvPr>
          <p:cNvSpPr/>
          <p:nvPr/>
        </p:nvSpPr>
        <p:spPr>
          <a:xfrm>
            <a:off x="9709149" y="5500958"/>
            <a:ext cx="143269" cy="69499"/>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Tree>
    <p:extLst>
      <p:ext uri="{BB962C8B-B14F-4D97-AF65-F5344CB8AC3E}">
        <p14:creationId xmlns:p14="http://schemas.microsoft.com/office/powerpoint/2010/main" val="39251093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9A8F8B5D-9C41-004B-BAA1-CDB04683E7B6}"/>
              </a:ext>
            </a:extLst>
          </p:cNvPr>
          <p:cNvPicPr>
            <a:picLocks noChangeAspect="1"/>
          </p:cNvPicPr>
          <p:nvPr/>
        </p:nvPicPr>
        <p:blipFill>
          <a:blip r:embed="rId2"/>
          <a:stretch>
            <a:fillRect/>
          </a:stretch>
        </p:blipFill>
        <p:spPr>
          <a:xfrm>
            <a:off x="6094716" y="1911749"/>
            <a:ext cx="5943600" cy="4114800"/>
          </a:xfrm>
          <a:prstGeom prst="rect">
            <a:avLst/>
          </a:prstGeom>
        </p:spPr>
      </p:pic>
      <p:pic>
        <p:nvPicPr>
          <p:cNvPr id="25" name="Picture 24">
            <a:extLst>
              <a:ext uri="{FF2B5EF4-FFF2-40B4-BE49-F238E27FC236}">
                <a16:creationId xmlns:a16="http://schemas.microsoft.com/office/drawing/2014/main" id="{963CF173-FDD7-AA73-A9CF-A63B9E43BCDB}"/>
              </a:ext>
            </a:extLst>
          </p:cNvPr>
          <p:cNvPicPr>
            <a:picLocks noChangeAspect="1"/>
          </p:cNvPicPr>
          <p:nvPr/>
        </p:nvPicPr>
        <p:blipFill>
          <a:blip r:embed="rId3"/>
          <a:stretch>
            <a:fillRect/>
          </a:stretch>
        </p:blipFill>
        <p:spPr>
          <a:xfrm>
            <a:off x="152400" y="1912150"/>
            <a:ext cx="5943600" cy="4114800"/>
          </a:xfrm>
          <a:prstGeom prst="rect">
            <a:avLst/>
          </a:prstGeom>
        </p:spPr>
      </p:pic>
      <p:sp>
        <p:nvSpPr>
          <p:cNvPr id="2" name="Title 1">
            <a:extLst>
              <a:ext uri="{FF2B5EF4-FFF2-40B4-BE49-F238E27FC236}">
                <a16:creationId xmlns:a16="http://schemas.microsoft.com/office/drawing/2014/main" id="{0C0D962A-A594-49E5-25EA-F37E1D35DBDA}"/>
              </a:ext>
            </a:extLst>
          </p:cNvPr>
          <p:cNvSpPr>
            <a:spLocks noGrp="1"/>
          </p:cNvSpPr>
          <p:nvPr>
            <p:ph type="title"/>
          </p:nvPr>
        </p:nvSpPr>
        <p:spPr>
          <a:xfrm>
            <a:off x="0" y="136525"/>
            <a:ext cx="12192000" cy="662781"/>
          </a:xfrm>
        </p:spPr>
        <p:txBody>
          <a:bodyPr>
            <a:normAutofit fontScale="90000"/>
          </a:bodyPr>
          <a:lstStyle/>
          <a:p>
            <a:pPr algn="ctr"/>
            <a:r>
              <a:rPr lang="en-US" dirty="0"/>
              <a:t>The TSM Significantly Improves the C Beam Model</a:t>
            </a:r>
          </a:p>
        </p:txBody>
      </p:sp>
      <p:sp>
        <p:nvSpPr>
          <p:cNvPr id="4" name="Rectangle 3">
            <a:extLst>
              <a:ext uri="{FF2B5EF4-FFF2-40B4-BE49-F238E27FC236}">
                <a16:creationId xmlns:a16="http://schemas.microsoft.com/office/drawing/2014/main" id="{8A593886-2573-B8E7-DD2F-8F89AD3DDD67}"/>
              </a:ext>
            </a:extLst>
          </p:cNvPr>
          <p:cNvSpPr/>
          <p:nvPr/>
        </p:nvSpPr>
        <p:spPr>
          <a:xfrm>
            <a:off x="70631" y="1100028"/>
            <a:ext cx="2743200" cy="457200"/>
          </a:xfrm>
          <a:prstGeom prst="rect">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6" name="Rectangle 5">
            <a:extLst>
              <a:ext uri="{FF2B5EF4-FFF2-40B4-BE49-F238E27FC236}">
                <a16:creationId xmlns:a16="http://schemas.microsoft.com/office/drawing/2014/main" id="{B17084CF-409C-6A4F-7FDD-AFEBB275EA26}"/>
              </a:ext>
            </a:extLst>
          </p:cNvPr>
          <p:cNvSpPr/>
          <p:nvPr/>
        </p:nvSpPr>
        <p:spPr>
          <a:xfrm>
            <a:off x="5384879" y="1095527"/>
            <a:ext cx="1828800" cy="457200"/>
          </a:xfrm>
          <a:prstGeom prst="rect">
            <a:avLst/>
          </a:prstGeom>
          <a:solidFill>
            <a:schemeClr val="accent2">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 name="Rectangle 6">
            <a:extLst>
              <a:ext uri="{FF2B5EF4-FFF2-40B4-BE49-F238E27FC236}">
                <a16:creationId xmlns:a16="http://schemas.microsoft.com/office/drawing/2014/main" id="{3AF8D01E-AEB0-617E-DAB6-14E22B725213}"/>
              </a:ext>
            </a:extLst>
          </p:cNvPr>
          <p:cNvSpPr/>
          <p:nvPr/>
        </p:nvSpPr>
        <p:spPr>
          <a:xfrm>
            <a:off x="7523435" y="1077804"/>
            <a:ext cx="4572000" cy="457200"/>
          </a:xfrm>
          <a:prstGeom prst="rect">
            <a:avLst/>
          </a:prstGeom>
          <a:solidFill>
            <a:srgbClr val="00B05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8" name="TextBox 7">
            <a:extLst>
              <a:ext uri="{FF2B5EF4-FFF2-40B4-BE49-F238E27FC236}">
                <a16:creationId xmlns:a16="http://schemas.microsoft.com/office/drawing/2014/main" id="{48F70BB4-20E4-7A6F-F228-07754EE9D81D}"/>
              </a:ext>
            </a:extLst>
          </p:cNvPr>
          <p:cNvSpPr txBox="1"/>
          <p:nvPr/>
        </p:nvSpPr>
        <p:spPr>
          <a:xfrm>
            <a:off x="4208434" y="1122680"/>
            <a:ext cx="320922" cy="400110"/>
          </a:xfrm>
          <a:prstGeom prst="rect">
            <a:avLst/>
          </a:prstGeom>
          <a:noFill/>
        </p:spPr>
        <p:txBody>
          <a:bodyPr wrap="none" rtlCol="0">
            <a:spAutoFit/>
          </a:bodyPr>
          <a:lstStyle/>
          <a:p>
            <a:r>
              <a:rPr lang="en-US" sz="2000" b="1" dirty="0"/>
              <a:t>+</a:t>
            </a:r>
          </a:p>
        </p:txBody>
      </p:sp>
      <p:sp>
        <p:nvSpPr>
          <p:cNvPr id="10" name="TextBox 9">
            <a:extLst>
              <a:ext uri="{FF2B5EF4-FFF2-40B4-BE49-F238E27FC236}">
                <a16:creationId xmlns:a16="http://schemas.microsoft.com/office/drawing/2014/main" id="{D458A2B2-9101-35AE-E513-B6CE81102C74}"/>
              </a:ext>
            </a:extLst>
          </p:cNvPr>
          <p:cNvSpPr txBox="1"/>
          <p:nvPr/>
        </p:nvSpPr>
        <p:spPr>
          <a:xfrm>
            <a:off x="7221228" y="1110064"/>
            <a:ext cx="320922" cy="400110"/>
          </a:xfrm>
          <a:prstGeom prst="rect">
            <a:avLst/>
          </a:prstGeom>
          <a:noFill/>
        </p:spPr>
        <p:txBody>
          <a:bodyPr wrap="none" rtlCol="0">
            <a:spAutoFit/>
          </a:bodyPr>
          <a:lstStyle/>
          <a:p>
            <a:r>
              <a:rPr lang="en-US" sz="2000" b="1" dirty="0"/>
              <a:t>=</a:t>
            </a:r>
          </a:p>
        </p:txBody>
      </p:sp>
      <p:cxnSp>
        <p:nvCxnSpPr>
          <p:cNvPr id="11" name="Straight Connector 10">
            <a:extLst>
              <a:ext uri="{FF2B5EF4-FFF2-40B4-BE49-F238E27FC236}">
                <a16:creationId xmlns:a16="http://schemas.microsoft.com/office/drawing/2014/main" id="{72A82667-04C9-5BD8-59E7-FDA82D6B107B}"/>
              </a:ext>
            </a:extLst>
          </p:cNvPr>
          <p:cNvCxnSpPr/>
          <p:nvPr/>
        </p:nvCxnSpPr>
        <p:spPr>
          <a:xfrm>
            <a:off x="10266635" y="1077804"/>
            <a:ext cx="0" cy="4572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4716A410-B681-25C5-69E4-F9AA5801AB3E}"/>
              </a:ext>
            </a:extLst>
          </p:cNvPr>
          <p:cNvSpPr/>
          <p:nvPr/>
        </p:nvSpPr>
        <p:spPr>
          <a:xfrm>
            <a:off x="2028216" y="1013271"/>
            <a:ext cx="794081" cy="628733"/>
          </a:xfrm>
          <a:prstGeom prst="rect">
            <a:avLst/>
          </a:prstGeom>
          <a:solidFill>
            <a:srgbClr val="FF0000">
              <a:alpha val="6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p:sp>
        <p:nvSpPr>
          <p:cNvPr id="13" name="Rectangle 12">
            <a:extLst>
              <a:ext uri="{FF2B5EF4-FFF2-40B4-BE49-F238E27FC236}">
                <a16:creationId xmlns:a16="http://schemas.microsoft.com/office/drawing/2014/main" id="{4BB0B15D-A7BA-E4AF-1DC1-4BD8BE17499F}"/>
              </a:ext>
            </a:extLst>
          </p:cNvPr>
          <p:cNvSpPr/>
          <p:nvPr/>
        </p:nvSpPr>
        <p:spPr>
          <a:xfrm>
            <a:off x="4587649" y="1012245"/>
            <a:ext cx="794081" cy="628732"/>
          </a:xfrm>
          <a:prstGeom prst="rect">
            <a:avLst/>
          </a:prstGeom>
          <a:solidFill>
            <a:srgbClr val="FF000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9B0A0D0-FEA2-8C7D-5693-70E20173F452}"/>
                  </a:ext>
                </a:extLst>
              </p:cNvPr>
              <p:cNvSpPr txBox="1"/>
              <p:nvPr/>
            </p:nvSpPr>
            <p:spPr>
              <a:xfrm>
                <a:off x="2836795" y="1133980"/>
                <a:ext cx="510076" cy="338554"/>
              </a:xfrm>
              <a:prstGeom prst="rect">
                <a:avLst/>
              </a:prstGeom>
              <a:noFill/>
            </p:spPr>
            <p:txBody>
              <a:bodyPr wrap="none" rtlCol="0">
                <a:spAutoFit/>
              </a:bodyPr>
              <a:lstStyle/>
              <a:p>
                <a:r>
                  <a:rPr lang="en-US" sz="1600" b="1" dirty="0">
                    <a:ea typeface="Cambria Math" panose="02040503050406030204" pitchFamily="18" charset="0"/>
                  </a:rPr>
                  <a:t>-2</a:t>
                </a:r>
                <a14:m>
                  <m:oMath xmlns:m="http://schemas.openxmlformats.org/officeDocument/2006/math">
                    <m:r>
                      <a:rPr lang="en-US" sz="1600" b="1" i="0" smtClean="0">
                        <a:latin typeface="Cambria Math" panose="02040503050406030204" pitchFamily="18" charset="0"/>
                        <a:ea typeface="Cambria Math" panose="02040503050406030204" pitchFamily="18" charset="0"/>
                      </a:rPr>
                      <m:t>×</m:t>
                    </m:r>
                  </m:oMath>
                </a14:m>
                <a:endParaRPr lang="en-US" sz="1600" b="1" dirty="0"/>
              </a:p>
            </p:txBody>
          </p:sp>
        </mc:Choice>
        <mc:Fallback xmlns="">
          <p:sp>
            <p:nvSpPr>
              <p:cNvPr id="14" name="TextBox 13">
                <a:extLst>
                  <a:ext uri="{FF2B5EF4-FFF2-40B4-BE49-F238E27FC236}">
                    <a16:creationId xmlns:a16="http://schemas.microsoft.com/office/drawing/2014/main" id="{C9B0A0D0-FEA2-8C7D-5693-70E20173F452}"/>
                  </a:ext>
                </a:extLst>
              </p:cNvPr>
              <p:cNvSpPr txBox="1">
                <a:spLocks noRot="1" noChangeAspect="1" noMove="1" noResize="1" noEditPoints="1" noAdjustHandles="1" noChangeArrowheads="1" noChangeShapeType="1" noTextEdit="1"/>
              </p:cNvSpPr>
              <p:nvPr/>
            </p:nvSpPr>
            <p:spPr>
              <a:xfrm>
                <a:off x="2836795" y="1133980"/>
                <a:ext cx="510076" cy="338554"/>
              </a:xfrm>
              <a:prstGeom prst="rect">
                <a:avLst/>
              </a:prstGeom>
              <a:blipFill>
                <a:blip r:embed="rId4"/>
                <a:stretch>
                  <a:fillRect l="-5952" t="-5357" b="-21429"/>
                </a:stretch>
              </a:blipFill>
            </p:spPr>
            <p:txBody>
              <a:bodyPr/>
              <a:lstStyle/>
              <a:p>
                <a:r>
                  <a:rPr lang="en-US">
                    <a:noFill/>
                  </a:rPr>
                  <a:t> </a:t>
                </a:r>
              </a:p>
            </p:txBody>
          </p:sp>
        </mc:Fallback>
      </mc:AlternateContent>
      <p:sp>
        <p:nvSpPr>
          <p:cNvPr id="15" name="Rectangle 14">
            <a:extLst>
              <a:ext uri="{FF2B5EF4-FFF2-40B4-BE49-F238E27FC236}">
                <a16:creationId xmlns:a16="http://schemas.microsoft.com/office/drawing/2014/main" id="{2C84A036-12AA-0B2A-F88C-92AC2FD048E2}"/>
              </a:ext>
            </a:extLst>
          </p:cNvPr>
          <p:cNvSpPr/>
          <p:nvPr/>
        </p:nvSpPr>
        <p:spPr>
          <a:xfrm>
            <a:off x="3346319" y="1012245"/>
            <a:ext cx="794081" cy="628732"/>
          </a:xfrm>
          <a:prstGeom prst="rect">
            <a:avLst/>
          </a:prstGeom>
          <a:solidFill>
            <a:srgbClr val="FF000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p:sp>
        <p:nvSpPr>
          <p:cNvPr id="22" name="Rectangle 21">
            <a:extLst>
              <a:ext uri="{FF2B5EF4-FFF2-40B4-BE49-F238E27FC236}">
                <a16:creationId xmlns:a16="http://schemas.microsoft.com/office/drawing/2014/main" id="{05F1816C-23EE-CF11-C1FE-D75F15C4C0BD}"/>
              </a:ext>
            </a:extLst>
          </p:cNvPr>
          <p:cNvSpPr/>
          <p:nvPr/>
        </p:nvSpPr>
        <p:spPr>
          <a:xfrm>
            <a:off x="6874880" y="5500958"/>
            <a:ext cx="2977539" cy="69499"/>
          </a:xfrm>
          <a:prstGeom prst="rect">
            <a:avLst/>
          </a:prstGeom>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CB13413A-4DCA-7590-79C7-5758FC06DF15}"/>
              </a:ext>
            </a:extLst>
          </p:cNvPr>
          <p:cNvSpPr/>
          <p:nvPr/>
        </p:nvSpPr>
        <p:spPr>
          <a:xfrm>
            <a:off x="9852419" y="5500958"/>
            <a:ext cx="1626124" cy="69499"/>
          </a:xfrm>
          <a:prstGeom prst="rect">
            <a:avLst/>
          </a:prstGeom>
          <a:solidFill>
            <a:schemeClr val="accent2">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988B9B1D-B566-41BF-0CE4-E8EB54AB6FAB}"/>
              </a:ext>
            </a:extLst>
          </p:cNvPr>
          <p:cNvSpPr/>
          <p:nvPr/>
        </p:nvSpPr>
        <p:spPr>
          <a:xfrm>
            <a:off x="9709149" y="5500958"/>
            <a:ext cx="143269" cy="69499"/>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p:cxnSp>
        <p:nvCxnSpPr>
          <p:cNvPr id="28" name="Straight Arrow Connector 27">
            <a:extLst>
              <a:ext uri="{FF2B5EF4-FFF2-40B4-BE49-F238E27FC236}">
                <a16:creationId xmlns:a16="http://schemas.microsoft.com/office/drawing/2014/main" id="{A0C55975-7D90-13A4-BD34-E90D20367CF1}"/>
              </a:ext>
            </a:extLst>
          </p:cNvPr>
          <p:cNvCxnSpPr>
            <a:cxnSpLocks/>
          </p:cNvCxnSpPr>
          <p:nvPr/>
        </p:nvCxnSpPr>
        <p:spPr>
          <a:xfrm>
            <a:off x="5017664" y="3211783"/>
            <a:ext cx="457200" cy="0"/>
          </a:xfrm>
          <a:prstGeom prst="straightConnector1">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12049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7761E8A6-3EA9-5EE4-BBE0-AED2BA77417B}"/>
              </a:ext>
            </a:extLst>
          </p:cNvPr>
          <p:cNvPicPr>
            <a:picLocks noChangeAspect="1"/>
          </p:cNvPicPr>
          <p:nvPr/>
        </p:nvPicPr>
        <p:blipFill>
          <a:blip r:embed="rId2"/>
          <a:stretch>
            <a:fillRect/>
          </a:stretch>
        </p:blipFill>
        <p:spPr>
          <a:xfrm>
            <a:off x="6096000" y="1911882"/>
            <a:ext cx="5943600" cy="4114800"/>
          </a:xfrm>
          <a:prstGeom prst="rect">
            <a:avLst/>
          </a:prstGeom>
        </p:spPr>
      </p:pic>
      <p:pic>
        <p:nvPicPr>
          <p:cNvPr id="25" name="Picture 24">
            <a:extLst>
              <a:ext uri="{FF2B5EF4-FFF2-40B4-BE49-F238E27FC236}">
                <a16:creationId xmlns:a16="http://schemas.microsoft.com/office/drawing/2014/main" id="{963CF173-FDD7-AA73-A9CF-A63B9E43BCDB}"/>
              </a:ext>
            </a:extLst>
          </p:cNvPr>
          <p:cNvPicPr>
            <a:picLocks noChangeAspect="1"/>
          </p:cNvPicPr>
          <p:nvPr/>
        </p:nvPicPr>
        <p:blipFill>
          <a:blip r:embed="rId3"/>
          <a:stretch>
            <a:fillRect/>
          </a:stretch>
        </p:blipFill>
        <p:spPr>
          <a:xfrm>
            <a:off x="152400" y="1912150"/>
            <a:ext cx="5943600" cy="4114800"/>
          </a:xfrm>
          <a:prstGeom prst="rect">
            <a:avLst/>
          </a:prstGeom>
        </p:spPr>
      </p:pic>
      <p:sp>
        <p:nvSpPr>
          <p:cNvPr id="2" name="Title 1">
            <a:extLst>
              <a:ext uri="{FF2B5EF4-FFF2-40B4-BE49-F238E27FC236}">
                <a16:creationId xmlns:a16="http://schemas.microsoft.com/office/drawing/2014/main" id="{0C0D962A-A594-49E5-25EA-F37E1D35DBDA}"/>
              </a:ext>
            </a:extLst>
          </p:cNvPr>
          <p:cNvSpPr>
            <a:spLocks noGrp="1"/>
          </p:cNvSpPr>
          <p:nvPr>
            <p:ph type="title"/>
          </p:nvPr>
        </p:nvSpPr>
        <p:spPr>
          <a:xfrm>
            <a:off x="0" y="136525"/>
            <a:ext cx="12192000" cy="662781"/>
          </a:xfrm>
        </p:spPr>
        <p:txBody>
          <a:bodyPr>
            <a:normAutofit fontScale="90000"/>
          </a:bodyPr>
          <a:lstStyle/>
          <a:p>
            <a:pPr algn="ctr"/>
            <a:r>
              <a:rPr lang="en-US" dirty="0"/>
              <a:t>The TSM Significantly Improved the C Beam Model</a:t>
            </a:r>
          </a:p>
        </p:txBody>
      </p:sp>
      <p:sp>
        <p:nvSpPr>
          <p:cNvPr id="4" name="Rectangle 3">
            <a:extLst>
              <a:ext uri="{FF2B5EF4-FFF2-40B4-BE49-F238E27FC236}">
                <a16:creationId xmlns:a16="http://schemas.microsoft.com/office/drawing/2014/main" id="{8A593886-2573-B8E7-DD2F-8F89AD3DDD67}"/>
              </a:ext>
            </a:extLst>
          </p:cNvPr>
          <p:cNvSpPr/>
          <p:nvPr/>
        </p:nvSpPr>
        <p:spPr>
          <a:xfrm>
            <a:off x="70631" y="1100028"/>
            <a:ext cx="2743200" cy="457200"/>
          </a:xfrm>
          <a:prstGeom prst="rect">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6" name="Rectangle 5">
            <a:extLst>
              <a:ext uri="{FF2B5EF4-FFF2-40B4-BE49-F238E27FC236}">
                <a16:creationId xmlns:a16="http://schemas.microsoft.com/office/drawing/2014/main" id="{B17084CF-409C-6A4F-7FDD-AFEBB275EA26}"/>
              </a:ext>
            </a:extLst>
          </p:cNvPr>
          <p:cNvSpPr/>
          <p:nvPr/>
        </p:nvSpPr>
        <p:spPr>
          <a:xfrm>
            <a:off x="5384879" y="1095527"/>
            <a:ext cx="1828800" cy="457200"/>
          </a:xfrm>
          <a:prstGeom prst="rect">
            <a:avLst/>
          </a:prstGeom>
          <a:solidFill>
            <a:schemeClr val="accent2">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 name="Rectangle 6">
            <a:extLst>
              <a:ext uri="{FF2B5EF4-FFF2-40B4-BE49-F238E27FC236}">
                <a16:creationId xmlns:a16="http://schemas.microsoft.com/office/drawing/2014/main" id="{3AF8D01E-AEB0-617E-DAB6-14E22B725213}"/>
              </a:ext>
            </a:extLst>
          </p:cNvPr>
          <p:cNvSpPr/>
          <p:nvPr/>
        </p:nvSpPr>
        <p:spPr>
          <a:xfrm>
            <a:off x="7523435" y="1077804"/>
            <a:ext cx="4572000" cy="457200"/>
          </a:xfrm>
          <a:prstGeom prst="rect">
            <a:avLst/>
          </a:prstGeom>
          <a:solidFill>
            <a:srgbClr val="00B05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8" name="TextBox 7">
            <a:extLst>
              <a:ext uri="{FF2B5EF4-FFF2-40B4-BE49-F238E27FC236}">
                <a16:creationId xmlns:a16="http://schemas.microsoft.com/office/drawing/2014/main" id="{48F70BB4-20E4-7A6F-F228-07754EE9D81D}"/>
              </a:ext>
            </a:extLst>
          </p:cNvPr>
          <p:cNvSpPr txBox="1"/>
          <p:nvPr/>
        </p:nvSpPr>
        <p:spPr>
          <a:xfrm>
            <a:off x="4208434" y="1122680"/>
            <a:ext cx="320922" cy="400110"/>
          </a:xfrm>
          <a:prstGeom prst="rect">
            <a:avLst/>
          </a:prstGeom>
          <a:noFill/>
        </p:spPr>
        <p:txBody>
          <a:bodyPr wrap="none" rtlCol="0">
            <a:spAutoFit/>
          </a:bodyPr>
          <a:lstStyle/>
          <a:p>
            <a:r>
              <a:rPr lang="en-US" sz="2000" b="1" dirty="0"/>
              <a:t>+</a:t>
            </a:r>
          </a:p>
        </p:txBody>
      </p:sp>
      <p:sp>
        <p:nvSpPr>
          <p:cNvPr id="10" name="TextBox 9">
            <a:extLst>
              <a:ext uri="{FF2B5EF4-FFF2-40B4-BE49-F238E27FC236}">
                <a16:creationId xmlns:a16="http://schemas.microsoft.com/office/drawing/2014/main" id="{D458A2B2-9101-35AE-E513-B6CE81102C74}"/>
              </a:ext>
            </a:extLst>
          </p:cNvPr>
          <p:cNvSpPr txBox="1"/>
          <p:nvPr/>
        </p:nvSpPr>
        <p:spPr>
          <a:xfrm>
            <a:off x="7221228" y="1110064"/>
            <a:ext cx="320922" cy="400110"/>
          </a:xfrm>
          <a:prstGeom prst="rect">
            <a:avLst/>
          </a:prstGeom>
          <a:noFill/>
        </p:spPr>
        <p:txBody>
          <a:bodyPr wrap="none" rtlCol="0">
            <a:spAutoFit/>
          </a:bodyPr>
          <a:lstStyle/>
          <a:p>
            <a:r>
              <a:rPr lang="en-US" sz="2000" b="1" dirty="0"/>
              <a:t>=</a:t>
            </a:r>
          </a:p>
        </p:txBody>
      </p:sp>
      <p:cxnSp>
        <p:nvCxnSpPr>
          <p:cNvPr id="11" name="Straight Connector 10">
            <a:extLst>
              <a:ext uri="{FF2B5EF4-FFF2-40B4-BE49-F238E27FC236}">
                <a16:creationId xmlns:a16="http://schemas.microsoft.com/office/drawing/2014/main" id="{72A82667-04C9-5BD8-59E7-FDA82D6B107B}"/>
              </a:ext>
            </a:extLst>
          </p:cNvPr>
          <p:cNvCxnSpPr/>
          <p:nvPr/>
        </p:nvCxnSpPr>
        <p:spPr>
          <a:xfrm>
            <a:off x="10266635" y="1077804"/>
            <a:ext cx="0" cy="4572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4716A410-B681-25C5-69E4-F9AA5801AB3E}"/>
              </a:ext>
            </a:extLst>
          </p:cNvPr>
          <p:cNvSpPr/>
          <p:nvPr/>
        </p:nvSpPr>
        <p:spPr>
          <a:xfrm>
            <a:off x="2028216" y="1013271"/>
            <a:ext cx="794081" cy="628733"/>
          </a:xfrm>
          <a:prstGeom prst="rect">
            <a:avLst/>
          </a:prstGeom>
          <a:solidFill>
            <a:srgbClr val="FF0000">
              <a:alpha val="6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p:sp>
        <p:nvSpPr>
          <p:cNvPr id="13" name="Rectangle 12">
            <a:extLst>
              <a:ext uri="{FF2B5EF4-FFF2-40B4-BE49-F238E27FC236}">
                <a16:creationId xmlns:a16="http://schemas.microsoft.com/office/drawing/2014/main" id="{4BB0B15D-A7BA-E4AF-1DC1-4BD8BE17499F}"/>
              </a:ext>
            </a:extLst>
          </p:cNvPr>
          <p:cNvSpPr/>
          <p:nvPr/>
        </p:nvSpPr>
        <p:spPr>
          <a:xfrm>
            <a:off x="4587649" y="1012245"/>
            <a:ext cx="794081" cy="628732"/>
          </a:xfrm>
          <a:prstGeom prst="rect">
            <a:avLst/>
          </a:prstGeom>
          <a:solidFill>
            <a:srgbClr val="FF000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9B0A0D0-FEA2-8C7D-5693-70E20173F452}"/>
                  </a:ext>
                </a:extLst>
              </p:cNvPr>
              <p:cNvSpPr txBox="1"/>
              <p:nvPr/>
            </p:nvSpPr>
            <p:spPr>
              <a:xfrm>
                <a:off x="2836795" y="1133980"/>
                <a:ext cx="510076" cy="338554"/>
              </a:xfrm>
              <a:prstGeom prst="rect">
                <a:avLst/>
              </a:prstGeom>
              <a:noFill/>
            </p:spPr>
            <p:txBody>
              <a:bodyPr wrap="none" rtlCol="0">
                <a:spAutoFit/>
              </a:bodyPr>
              <a:lstStyle/>
              <a:p>
                <a:r>
                  <a:rPr lang="en-US" sz="1600" b="1" dirty="0">
                    <a:ea typeface="Cambria Math" panose="02040503050406030204" pitchFamily="18" charset="0"/>
                  </a:rPr>
                  <a:t>-2</a:t>
                </a:r>
                <a14:m>
                  <m:oMath xmlns:m="http://schemas.openxmlformats.org/officeDocument/2006/math">
                    <m:r>
                      <a:rPr lang="en-US" sz="1600" b="1" i="0" smtClean="0">
                        <a:latin typeface="Cambria Math" panose="02040503050406030204" pitchFamily="18" charset="0"/>
                        <a:ea typeface="Cambria Math" panose="02040503050406030204" pitchFamily="18" charset="0"/>
                      </a:rPr>
                      <m:t>×</m:t>
                    </m:r>
                  </m:oMath>
                </a14:m>
                <a:endParaRPr lang="en-US" sz="1600" b="1" dirty="0"/>
              </a:p>
            </p:txBody>
          </p:sp>
        </mc:Choice>
        <mc:Fallback xmlns="">
          <p:sp>
            <p:nvSpPr>
              <p:cNvPr id="14" name="TextBox 13">
                <a:extLst>
                  <a:ext uri="{FF2B5EF4-FFF2-40B4-BE49-F238E27FC236}">
                    <a16:creationId xmlns:a16="http://schemas.microsoft.com/office/drawing/2014/main" id="{C9B0A0D0-FEA2-8C7D-5693-70E20173F452}"/>
                  </a:ext>
                </a:extLst>
              </p:cNvPr>
              <p:cNvSpPr txBox="1">
                <a:spLocks noRot="1" noChangeAspect="1" noMove="1" noResize="1" noEditPoints="1" noAdjustHandles="1" noChangeArrowheads="1" noChangeShapeType="1" noTextEdit="1"/>
              </p:cNvSpPr>
              <p:nvPr/>
            </p:nvSpPr>
            <p:spPr>
              <a:xfrm>
                <a:off x="2836795" y="1133980"/>
                <a:ext cx="510076" cy="338554"/>
              </a:xfrm>
              <a:prstGeom prst="rect">
                <a:avLst/>
              </a:prstGeom>
              <a:blipFill>
                <a:blip r:embed="rId4"/>
                <a:stretch>
                  <a:fillRect l="-5952" t="-5357" b="-21429"/>
                </a:stretch>
              </a:blipFill>
            </p:spPr>
            <p:txBody>
              <a:bodyPr/>
              <a:lstStyle/>
              <a:p>
                <a:r>
                  <a:rPr lang="en-US">
                    <a:noFill/>
                  </a:rPr>
                  <a:t> </a:t>
                </a:r>
              </a:p>
            </p:txBody>
          </p:sp>
        </mc:Fallback>
      </mc:AlternateContent>
      <p:sp>
        <p:nvSpPr>
          <p:cNvPr id="15" name="Rectangle 14">
            <a:extLst>
              <a:ext uri="{FF2B5EF4-FFF2-40B4-BE49-F238E27FC236}">
                <a16:creationId xmlns:a16="http://schemas.microsoft.com/office/drawing/2014/main" id="{2C84A036-12AA-0B2A-F88C-92AC2FD048E2}"/>
              </a:ext>
            </a:extLst>
          </p:cNvPr>
          <p:cNvSpPr/>
          <p:nvPr/>
        </p:nvSpPr>
        <p:spPr>
          <a:xfrm>
            <a:off x="3346319" y="1012245"/>
            <a:ext cx="794081" cy="628732"/>
          </a:xfrm>
          <a:prstGeom prst="rect">
            <a:avLst/>
          </a:prstGeom>
          <a:solidFill>
            <a:srgbClr val="FF000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a:t>
            </a:r>
          </a:p>
        </p:txBody>
      </p:sp>
      <p:sp>
        <p:nvSpPr>
          <p:cNvPr id="26" name="Rectangle 25">
            <a:extLst>
              <a:ext uri="{FF2B5EF4-FFF2-40B4-BE49-F238E27FC236}">
                <a16:creationId xmlns:a16="http://schemas.microsoft.com/office/drawing/2014/main" id="{B1017A75-8219-776C-D1AE-B5C7BF64C3C6}"/>
              </a:ext>
            </a:extLst>
          </p:cNvPr>
          <p:cNvSpPr/>
          <p:nvPr/>
        </p:nvSpPr>
        <p:spPr>
          <a:xfrm>
            <a:off x="6874880" y="5500958"/>
            <a:ext cx="2977539" cy="69499"/>
          </a:xfrm>
          <a:prstGeom prst="rect">
            <a:avLst/>
          </a:prstGeom>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9D9A0089-6381-A5D4-C808-31E30DB6C736}"/>
              </a:ext>
            </a:extLst>
          </p:cNvPr>
          <p:cNvSpPr/>
          <p:nvPr/>
        </p:nvSpPr>
        <p:spPr>
          <a:xfrm>
            <a:off x="9852419" y="5500958"/>
            <a:ext cx="1626124" cy="69499"/>
          </a:xfrm>
          <a:prstGeom prst="rect">
            <a:avLst/>
          </a:prstGeom>
          <a:solidFill>
            <a:schemeClr val="accent2">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7F56C785-7ECA-B89E-8C7C-F8855EC42EC1}"/>
              </a:ext>
            </a:extLst>
          </p:cNvPr>
          <p:cNvSpPr/>
          <p:nvPr/>
        </p:nvSpPr>
        <p:spPr>
          <a:xfrm>
            <a:off x="9709149" y="5500958"/>
            <a:ext cx="143269" cy="69499"/>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33" name="TextBox 32">
            <a:extLst>
              <a:ext uri="{FF2B5EF4-FFF2-40B4-BE49-F238E27FC236}">
                <a16:creationId xmlns:a16="http://schemas.microsoft.com/office/drawing/2014/main" id="{DF20651F-F8D4-7E0C-6436-EC3919A8A0FB}"/>
              </a:ext>
            </a:extLst>
          </p:cNvPr>
          <p:cNvSpPr txBox="1"/>
          <p:nvPr/>
        </p:nvSpPr>
        <p:spPr>
          <a:xfrm>
            <a:off x="2446507" y="6352143"/>
            <a:ext cx="7298986" cy="369332"/>
          </a:xfrm>
          <a:prstGeom prst="rect">
            <a:avLst/>
          </a:prstGeom>
          <a:noFill/>
        </p:spPr>
        <p:txBody>
          <a:bodyPr wrap="none" rtlCol="0">
            <a:spAutoFit/>
          </a:bodyPr>
          <a:lstStyle/>
          <a:p>
            <a:r>
              <a:rPr lang="en-US" dirty="0"/>
              <a:t>What if we have a large, distributed interface with many constraint DOF? </a:t>
            </a:r>
          </a:p>
        </p:txBody>
      </p:sp>
    </p:spTree>
    <p:extLst>
      <p:ext uri="{BB962C8B-B14F-4D97-AF65-F5344CB8AC3E}">
        <p14:creationId xmlns:p14="http://schemas.microsoft.com/office/powerpoint/2010/main" val="1221432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5">
            <a:extLst>
              <a:ext uri="{FF2B5EF4-FFF2-40B4-BE49-F238E27FC236}">
                <a16:creationId xmlns:a16="http://schemas.microsoft.com/office/drawing/2014/main" id="{C90717C6-9FF3-0798-2EE3-52561FC3306E}"/>
              </a:ext>
            </a:extLst>
          </p:cNvPr>
          <p:cNvPicPr>
            <a:picLocks noChangeAspect="1"/>
          </p:cNvPicPr>
          <p:nvPr/>
        </p:nvPicPr>
        <p:blipFill>
          <a:blip r:embed="rId2"/>
          <a:srcRect r="53480" b="56441"/>
          <a:stretch/>
        </p:blipFill>
        <p:spPr>
          <a:xfrm>
            <a:off x="695982" y="2264828"/>
            <a:ext cx="2477845" cy="1731433"/>
          </a:xfrm>
          <a:prstGeom prst="rect">
            <a:avLst/>
          </a:prstGeom>
        </p:spPr>
      </p:pic>
      <p:pic>
        <p:nvPicPr>
          <p:cNvPr id="6" name="Content Placeholder 5">
            <a:extLst>
              <a:ext uri="{FF2B5EF4-FFF2-40B4-BE49-F238E27FC236}">
                <a16:creationId xmlns:a16="http://schemas.microsoft.com/office/drawing/2014/main" id="{FF5A74CC-C813-0F89-A2A0-3DCA75F6A1E3}"/>
              </a:ext>
            </a:extLst>
          </p:cNvPr>
          <p:cNvPicPr>
            <a:picLocks noChangeAspect="1"/>
          </p:cNvPicPr>
          <p:nvPr/>
        </p:nvPicPr>
        <p:blipFill>
          <a:blip r:embed="rId2">
            <a:clrChange>
              <a:clrFrom>
                <a:srgbClr val="FFFFFF"/>
              </a:clrFrom>
              <a:clrTo>
                <a:srgbClr val="FFFFFF">
                  <a:alpha val="0"/>
                </a:srgbClr>
              </a:clrTo>
            </a:clrChange>
          </a:blip>
          <a:srcRect l="40570" t="51014" b="5428"/>
          <a:stretch/>
        </p:blipFill>
        <p:spPr>
          <a:xfrm>
            <a:off x="3492757" y="3958590"/>
            <a:ext cx="3165477" cy="1731433"/>
          </a:xfrm>
          <a:prstGeom prst="rect">
            <a:avLst/>
          </a:prstGeom>
        </p:spPr>
      </p:pic>
      <p:pic>
        <p:nvPicPr>
          <p:cNvPr id="12" name="Content Placeholder 5">
            <a:extLst>
              <a:ext uri="{FF2B5EF4-FFF2-40B4-BE49-F238E27FC236}">
                <a16:creationId xmlns:a16="http://schemas.microsoft.com/office/drawing/2014/main" id="{79BDA0F5-2E71-72AE-47E1-5A0F2C2A8545}"/>
              </a:ext>
            </a:extLst>
          </p:cNvPr>
          <p:cNvPicPr>
            <a:picLocks noChangeAspect="1"/>
          </p:cNvPicPr>
          <p:nvPr/>
        </p:nvPicPr>
        <p:blipFill>
          <a:blip r:embed="rId2">
            <a:clrChange>
              <a:clrFrom>
                <a:srgbClr val="FFFFFF"/>
              </a:clrFrom>
              <a:clrTo>
                <a:srgbClr val="FFFFFF">
                  <a:alpha val="0"/>
                </a:srgbClr>
              </a:clrTo>
            </a:clrChange>
          </a:blip>
          <a:srcRect l="60038" t="1597" b="56156"/>
          <a:stretch/>
        </p:blipFill>
        <p:spPr>
          <a:xfrm>
            <a:off x="4073006" y="2264828"/>
            <a:ext cx="2004980" cy="1581775"/>
          </a:xfrm>
          <a:prstGeom prst="rect">
            <a:avLst/>
          </a:prstGeom>
        </p:spPr>
      </p:pic>
      <p:pic>
        <p:nvPicPr>
          <p:cNvPr id="13" name="Content Placeholder 5">
            <a:extLst>
              <a:ext uri="{FF2B5EF4-FFF2-40B4-BE49-F238E27FC236}">
                <a16:creationId xmlns:a16="http://schemas.microsoft.com/office/drawing/2014/main" id="{BFFBA2B6-30D1-3493-FD85-FD81D344D6D1}"/>
              </a:ext>
            </a:extLst>
          </p:cNvPr>
          <p:cNvPicPr>
            <a:picLocks noChangeAspect="1"/>
          </p:cNvPicPr>
          <p:nvPr/>
        </p:nvPicPr>
        <p:blipFill>
          <a:blip r:embed="rId2">
            <a:clrChange>
              <a:clrFrom>
                <a:srgbClr val="FFFFFF"/>
              </a:clrFrom>
              <a:clrTo>
                <a:srgbClr val="FFFFFF">
                  <a:alpha val="0"/>
                </a:srgbClr>
              </a:clrTo>
            </a:clrChange>
          </a:blip>
          <a:srcRect l="3890" t="48075" r="65173" b="6584"/>
          <a:stretch/>
        </p:blipFill>
        <p:spPr>
          <a:xfrm>
            <a:off x="1201641" y="4025178"/>
            <a:ext cx="1461689" cy="1598686"/>
          </a:xfrm>
          <a:prstGeom prst="rect">
            <a:avLst/>
          </a:prstGeom>
        </p:spPr>
      </p:pic>
      <p:sp>
        <p:nvSpPr>
          <p:cNvPr id="2" name="Title 1">
            <a:extLst>
              <a:ext uri="{FF2B5EF4-FFF2-40B4-BE49-F238E27FC236}">
                <a16:creationId xmlns:a16="http://schemas.microsoft.com/office/drawing/2014/main" id="{FA475657-E0F4-AEB7-5807-467B2441423D}"/>
              </a:ext>
            </a:extLst>
          </p:cNvPr>
          <p:cNvSpPr>
            <a:spLocks noGrp="1"/>
          </p:cNvSpPr>
          <p:nvPr>
            <p:ph type="title"/>
          </p:nvPr>
        </p:nvSpPr>
        <p:spPr>
          <a:xfrm>
            <a:off x="0" y="136525"/>
            <a:ext cx="12192000" cy="662781"/>
          </a:xfrm>
        </p:spPr>
        <p:txBody>
          <a:bodyPr>
            <a:noAutofit/>
          </a:bodyPr>
          <a:lstStyle/>
          <a:p>
            <a:pPr algn="ctr"/>
            <a:r>
              <a:rPr lang="en-US" sz="4000" dirty="0"/>
              <a:t>Model the CPB’s Continuous Interface with the TSM</a:t>
            </a:r>
          </a:p>
        </p:txBody>
      </p:sp>
      <p:sp>
        <p:nvSpPr>
          <p:cNvPr id="3" name="Content Placeholder 2">
            <a:extLst>
              <a:ext uri="{FF2B5EF4-FFF2-40B4-BE49-F238E27FC236}">
                <a16:creationId xmlns:a16="http://schemas.microsoft.com/office/drawing/2014/main" id="{E55B2863-9190-D8E0-F6DC-4B41A7004453}"/>
              </a:ext>
            </a:extLst>
          </p:cNvPr>
          <p:cNvSpPr>
            <a:spLocks noGrp="1"/>
          </p:cNvSpPr>
          <p:nvPr>
            <p:ph idx="1"/>
          </p:nvPr>
        </p:nvSpPr>
        <p:spPr>
          <a:xfrm>
            <a:off x="105032" y="939586"/>
            <a:ext cx="11841435" cy="977998"/>
          </a:xfrm>
        </p:spPr>
        <p:txBody>
          <a:bodyPr>
            <a:normAutofit/>
          </a:bodyPr>
          <a:lstStyle/>
          <a:p>
            <a:r>
              <a:rPr lang="en-US" dirty="0"/>
              <a:t>Using an </a:t>
            </a:r>
            <a:r>
              <a:rPr lang="en-US" b="1" dirty="0"/>
              <a:t>FEM </a:t>
            </a:r>
            <a:r>
              <a:rPr lang="en-US" dirty="0"/>
              <a:t>of the Cylinder &amp; TS and </a:t>
            </a:r>
            <a:r>
              <a:rPr lang="en-US" b="1" dirty="0"/>
              <a:t>experimental data </a:t>
            </a:r>
            <a:r>
              <a:rPr lang="en-US" dirty="0"/>
              <a:t>from the Plate-Beam &amp; TS, estimate a modal model of the complete CPB Assembly</a:t>
            </a:r>
          </a:p>
        </p:txBody>
      </p:sp>
      <p:pic>
        <p:nvPicPr>
          <p:cNvPr id="5" name="Picture 5">
            <a:extLst>
              <a:ext uri="{FF2B5EF4-FFF2-40B4-BE49-F238E27FC236}">
                <a16:creationId xmlns:a16="http://schemas.microsoft.com/office/drawing/2014/main" id="{6EA24C79-C4EA-14E8-744E-962DE8495A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2571" y="2281421"/>
            <a:ext cx="4263896" cy="3176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 name="Straight Arrow Connector 7">
            <a:extLst>
              <a:ext uri="{FF2B5EF4-FFF2-40B4-BE49-F238E27FC236}">
                <a16:creationId xmlns:a16="http://schemas.microsoft.com/office/drawing/2014/main" id="{B1FC6737-99C3-85F6-4ACA-E8432C0D1291}"/>
              </a:ext>
            </a:extLst>
          </p:cNvPr>
          <p:cNvCxnSpPr>
            <a:cxnSpLocks/>
          </p:cNvCxnSpPr>
          <p:nvPr/>
        </p:nvCxnSpPr>
        <p:spPr>
          <a:xfrm>
            <a:off x="6388100" y="3235955"/>
            <a:ext cx="1074187" cy="0"/>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1D66B353-E365-4FA5-0AAD-CDE20F2FB4D4}"/>
              </a:ext>
            </a:extLst>
          </p:cNvPr>
          <p:cNvSpPr txBox="1"/>
          <p:nvPr/>
        </p:nvSpPr>
        <p:spPr>
          <a:xfrm>
            <a:off x="483867" y="5623864"/>
            <a:ext cx="3071395" cy="369332"/>
          </a:xfrm>
          <a:prstGeom prst="rect">
            <a:avLst/>
          </a:prstGeom>
          <a:noFill/>
        </p:spPr>
        <p:txBody>
          <a:bodyPr wrap="square">
            <a:spAutoFit/>
          </a:bodyPr>
          <a:lstStyle/>
          <a:p>
            <a:pPr algn="ctr"/>
            <a:r>
              <a:rPr lang="en-US" dirty="0"/>
              <a:t>Transmission Simulator FEM</a:t>
            </a:r>
          </a:p>
        </p:txBody>
      </p:sp>
      <p:sp>
        <p:nvSpPr>
          <p:cNvPr id="16" name="TextBox 15">
            <a:extLst>
              <a:ext uri="{FF2B5EF4-FFF2-40B4-BE49-F238E27FC236}">
                <a16:creationId xmlns:a16="http://schemas.microsoft.com/office/drawing/2014/main" id="{0DF7BC0F-3BE8-3A33-8425-529046D8CF3A}"/>
              </a:ext>
            </a:extLst>
          </p:cNvPr>
          <p:cNvSpPr txBox="1"/>
          <p:nvPr/>
        </p:nvSpPr>
        <p:spPr>
          <a:xfrm>
            <a:off x="6025749" y="2367374"/>
            <a:ext cx="1561042" cy="646331"/>
          </a:xfrm>
          <a:prstGeom prst="rect">
            <a:avLst/>
          </a:prstGeom>
          <a:noFill/>
        </p:spPr>
        <p:txBody>
          <a:bodyPr wrap="square">
            <a:spAutoFit/>
          </a:bodyPr>
          <a:lstStyle/>
          <a:p>
            <a:pPr algn="ctr"/>
            <a:r>
              <a:rPr lang="en-US" dirty="0"/>
              <a:t>Experimental Subsystem</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EE1FC47-BD1B-2EF3-2C65-D1E30B446D39}"/>
                  </a:ext>
                </a:extLst>
              </p:cNvPr>
              <p:cNvSpPr txBox="1"/>
              <p:nvPr/>
            </p:nvSpPr>
            <p:spPr>
              <a:xfrm>
                <a:off x="3383152" y="2821623"/>
                <a:ext cx="579712"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m:t>
                      </m:r>
                    </m:oMath>
                  </m:oMathPara>
                </a14:m>
                <a:endParaRPr lang="en-US" sz="3600" dirty="0"/>
              </a:p>
            </p:txBody>
          </p:sp>
        </mc:Choice>
        <mc:Fallback xmlns="">
          <p:sp>
            <p:nvSpPr>
              <p:cNvPr id="21" name="TextBox 20">
                <a:extLst>
                  <a:ext uri="{FF2B5EF4-FFF2-40B4-BE49-F238E27FC236}">
                    <a16:creationId xmlns:a16="http://schemas.microsoft.com/office/drawing/2014/main" id="{AEE1FC47-BD1B-2EF3-2C65-D1E30B446D39}"/>
                  </a:ext>
                </a:extLst>
              </p:cNvPr>
              <p:cNvSpPr txBox="1">
                <a:spLocks noRot="1" noChangeAspect="1" noMove="1" noResize="1" noEditPoints="1" noAdjustHandles="1" noChangeArrowheads="1" noChangeShapeType="1" noTextEdit="1"/>
              </p:cNvSpPr>
              <p:nvPr/>
            </p:nvSpPr>
            <p:spPr>
              <a:xfrm>
                <a:off x="3383152" y="2821623"/>
                <a:ext cx="579712" cy="64633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B4FA641-0CC1-A2D9-2B42-14EC32ECCC42}"/>
                  </a:ext>
                </a:extLst>
              </p:cNvPr>
              <p:cNvSpPr txBox="1"/>
              <p:nvPr/>
            </p:nvSpPr>
            <p:spPr>
              <a:xfrm>
                <a:off x="657173" y="4570972"/>
                <a:ext cx="527218"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600" b="0" i="0" smtClean="0">
                          <a:latin typeface="Cambria Math" panose="02040503050406030204" pitchFamily="18" charset="0"/>
                        </a:rPr>
                        <m:t>−</m:t>
                      </m:r>
                    </m:oMath>
                  </m:oMathPara>
                </a14:m>
                <a:endParaRPr lang="en-US" sz="3600" dirty="0"/>
              </a:p>
            </p:txBody>
          </p:sp>
        </mc:Choice>
        <mc:Fallback xmlns="">
          <p:sp>
            <p:nvSpPr>
              <p:cNvPr id="22" name="TextBox 21">
                <a:extLst>
                  <a:ext uri="{FF2B5EF4-FFF2-40B4-BE49-F238E27FC236}">
                    <a16:creationId xmlns:a16="http://schemas.microsoft.com/office/drawing/2014/main" id="{AB4FA641-0CC1-A2D9-2B42-14EC32ECCC42}"/>
                  </a:ext>
                </a:extLst>
              </p:cNvPr>
              <p:cNvSpPr txBox="1">
                <a:spLocks noRot="1" noChangeAspect="1" noMove="1" noResize="1" noEditPoints="1" noAdjustHandles="1" noChangeArrowheads="1" noChangeShapeType="1" noTextEdit="1"/>
              </p:cNvSpPr>
              <p:nvPr/>
            </p:nvSpPr>
            <p:spPr>
              <a:xfrm>
                <a:off x="657173" y="4570972"/>
                <a:ext cx="527218" cy="64633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1947D19-96A8-76C0-8FB6-7E9AF4DC7B46}"/>
                  </a:ext>
                </a:extLst>
              </p:cNvPr>
              <p:cNvSpPr txBox="1"/>
              <p:nvPr/>
            </p:nvSpPr>
            <p:spPr>
              <a:xfrm>
                <a:off x="2758337" y="4466615"/>
                <a:ext cx="579711"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600" b="0" i="0" smtClean="0">
                          <a:latin typeface="Cambria Math" panose="02040503050406030204" pitchFamily="18" charset="0"/>
                        </a:rPr>
                        <m:t>=</m:t>
                      </m:r>
                    </m:oMath>
                  </m:oMathPara>
                </a14:m>
                <a:endParaRPr lang="en-US" sz="3600" dirty="0"/>
              </a:p>
            </p:txBody>
          </p:sp>
        </mc:Choice>
        <mc:Fallback xmlns="">
          <p:sp>
            <p:nvSpPr>
              <p:cNvPr id="23" name="TextBox 22">
                <a:extLst>
                  <a:ext uri="{FF2B5EF4-FFF2-40B4-BE49-F238E27FC236}">
                    <a16:creationId xmlns:a16="http://schemas.microsoft.com/office/drawing/2014/main" id="{01947D19-96A8-76C0-8FB6-7E9AF4DC7B46}"/>
                  </a:ext>
                </a:extLst>
              </p:cNvPr>
              <p:cNvSpPr txBox="1">
                <a:spLocks noRot="1" noChangeAspect="1" noMove="1" noResize="1" noEditPoints="1" noAdjustHandles="1" noChangeArrowheads="1" noChangeShapeType="1" noTextEdit="1"/>
              </p:cNvSpPr>
              <p:nvPr/>
            </p:nvSpPr>
            <p:spPr>
              <a:xfrm>
                <a:off x="2758337" y="4466615"/>
                <a:ext cx="579711" cy="646331"/>
              </a:xfrm>
              <a:prstGeom prst="rect">
                <a:avLst/>
              </a:prstGeom>
              <a:blipFill>
                <a:blip r:embed="rId6"/>
                <a:stretch>
                  <a:fillRect/>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D72D6F45-7E01-E63E-FD0E-D5AEDD84784E}"/>
              </a:ext>
            </a:extLst>
          </p:cNvPr>
          <p:cNvSpPr txBox="1"/>
          <p:nvPr/>
        </p:nvSpPr>
        <p:spPr>
          <a:xfrm>
            <a:off x="695981" y="1917183"/>
            <a:ext cx="2477845" cy="369332"/>
          </a:xfrm>
          <a:prstGeom prst="rect">
            <a:avLst/>
          </a:prstGeom>
          <a:noFill/>
        </p:spPr>
        <p:txBody>
          <a:bodyPr wrap="square">
            <a:spAutoFit/>
          </a:bodyPr>
          <a:lstStyle/>
          <a:p>
            <a:pPr algn="ctr"/>
            <a:r>
              <a:rPr lang="en-US" dirty="0"/>
              <a:t>A: Cylinder &amp; TS FEM</a:t>
            </a:r>
          </a:p>
        </p:txBody>
      </p:sp>
      <p:sp>
        <p:nvSpPr>
          <p:cNvPr id="18" name="TextBox 17">
            <a:extLst>
              <a:ext uri="{FF2B5EF4-FFF2-40B4-BE49-F238E27FC236}">
                <a16:creationId xmlns:a16="http://schemas.microsoft.com/office/drawing/2014/main" id="{04FA6617-5BCB-CC53-D29C-2A94C6971D18}"/>
              </a:ext>
            </a:extLst>
          </p:cNvPr>
          <p:cNvSpPr txBox="1"/>
          <p:nvPr/>
        </p:nvSpPr>
        <p:spPr>
          <a:xfrm>
            <a:off x="3749217" y="1912089"/>
            <a:ext cx="2702714" cy="369332"/>
          </a:xfrm>
          <a:prstGeom prst="rect">
            <a:avLst/>
          </a:prstGeom>
          <a:noFill/>
        </p:spPr>
        <p:txBody>
          <a:bodyPr wrap="square">
            <a:spAutoFit/>
          </a:bodyPr>
          <a:lstStyle/>
          <a:p>
            <a:pPr algn="ctr"/>
            <a:r>
              <a:rPr lang="en-US" dirty="0"/>
              <a:t>B: Plate-Beam &amp; TS Test</a:t>
            </a:r>
          </a:p>
        </p:txBody>
      </p:sp>
      <p:sp>
        <p:nvSpPr>
          <p:cNvPr id="19" name="TextBox 18">
            <a:extLst>
              <a:ext uri="{FF2B5EF4-FFF2-40B4-BE49-F238E27FC236}">
                <a16:creationId xmlns:a16="http://schemas.microsoft.com/office/drawing/2014/main" id="{98501EAF-7311-D512-9E83-1E034B7D9E9A}"/>
              </a:ext>
            </a:extLst>
          </p:cNvPr>
          <p:cNvSpPr txBox="1"/>
          <p:nvPr/>
        </p:nvSpPr>
        <p:spPr>
          <a:xfrm>
            <a:off x="3660100" y="5634843"/>
            <a:ext cx="2953797" cy="646331"/>
          </a:xfrm>
          <a:prstGeom prst="rect">
            <a:avLst/>
          </a:prstGeom>
          <a:noFill/>
        </p:spPr>
        <p:txBody>
          <a:bodyPr wrap="square">
            <a:spAutoFit/>
          </a:bodyPr>
          <a:lstStyle/>
          <a:p>
            <a:pPr algn="ctr"/>
            <a:r>
              <a:rPr lang="en-US" dirty="0"/>
              <a:t>C: Cylinder-Plate-Beam Substructured Model</a:t>
            </a:r>
          </a:p>
        </p:txBody>
      </p:sp>
    </p:spTree>
    <p:extLst>
      <p:ext uri="{BB962C8B-B14F-4D97-AF65-F5344CB8AC3E}">
        <p14:creationId xmlns:p14="http://schemas.microsoft.com/office/powerpoint/2010/main" val="18291115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AF400-8CC8-8C38-9665-0645CB314087}"/>
              </a:ext>
            </a:extLst>
          </p:cNvPr>
          <p:cNvSpPr>
            <a:spLocks noGrp="1"/>
          </p:cNvSpPr>
          <p:nvPr>
            <p:ph type="title"/>
          </p:nvPr>
        </p:nvSpPr>
        <p:spPr>
          <a:xfrm>
            <a:off x="0" y="136525"/>
            <a:ext cx="12192000" cy="662781"/>
          </a:xfrm>
        </p:spPr>
        <p:txBody>
          <a:bodyPr>
            <a:normAutofit fontScale="90000"/>
          </a:bodyPr>
          <a:lstStyle/>
          <a:p>
            <a:pPr algn="ctr"/>
            <a:r>
              <a:rPr lang="en-US" dirty="0"/>
              <a:t>CPB Substructuring Setup for Using TSM</a:t>
            </a:r>
          </a:p>
        </p:txBody>
      </p:sp>
      <p:pic>
        <p:nvPicPr>
          <p:cNvPr id="6" name="Picture 5">
            <a:extLst>
              <a:ext uri="{FF2B5EF4-FFF2-40B4-BE49-F238E27FC236}">
                <a16:creationId xmlns:a16="http://schemas.microsoft.com/office/drawing/2014/main" id="{9BE525B4-A7F3-D10D-0205-2B80D2BA9C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852" r="3796" b="7413"/>
          <a:stretch/>
        </p:blipFill>
        <p:spPr bwMode="auto">
          <a:xfrm>
            <a:off x="8369857" y="1746114"/>
            <a:ext cx="3769314" cy="2502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Content Placeholder 5">
            <a:extLst>
              <a:ext uri="{FF2B5EF4-FFF2-40B4-BE49-F238E27FC236}">
                <a16:creationId xmlns:a16="http://schemas.microsoft.com/office/drawing/2014/main" id="{ECDBC230-FEFB-B8B2-0319-469CC1E51173}"/>
              </a:ext>
            </a:extLst>
          </p:cNvPr>
          <p:cNvPicPr>
            <a:picLocks noChangeAspect="1"/>
          </p:cNvPicPr>
          <p:nvPr/>
        </p:nvPicPr>
        <p:blipFill>
          <a:blip r:embed="rId3"/>
          <a:srcRect r="53480" b="56441"/>
          <a:stretch/>
        </p:blipFill>
        <p:spPr>
          <a:xfrm>
            <a:off x="79052" y="1764131"/>
            <a:ext cx="3529810" cy="2466510"/>
          </a:xfrm>
          <a:prstGeom prst="rect">
            <a:avLst/>
          </a:prstGeom>
        </p:spPr>
      </p:pic>
      <p:pic>
        <p:nvPicPr>
          <p:cNvPr id="9" name="Content Placeholder 5">
            <a:extLst>
              <a:ext uri="{FF2B5EF4-FFF2-40B4-BE49-F238E27FC236}">
                <a16:creationId xmlns:a16="http://schemas.microsoft.com/office/drawing/2014/main" id="{C7AECE14-CE76-6A71-FE93-EF709A7170AA}"/>
              </a:ext>
            </a:extLst>
          </p:cNvPr>
          <p:cNvPicPr>
            <a:picLocks noChangeAspect="1"/>
          </p:cNvPicPr>
          <p:nvPr/>
        </p:nvPicPr>
        <p:blipFill>
          <a:blip r:embed="rId3">
            <a:clrChange>
              <a:clrFrom>
                <a:srgbClr val="FFFFFF"/>
              </a:clrFrom>
              <a:clrTo>
                <a:srgbClr val="FFFFFF">
                  <a:alpha val="0"/>
                </a:srgbClr>
              </a:clrTo>
            </a:clrChange>
          </a:blip>
          <a:srcRect l="3890" t="48075" r="65173" b="6584"/>
          <a:stretch/>
        </p:blipFill>
        <p:spPr>
          <a:xfrm>
            <a:off x="4864210" y="1648048"/>
            <a:ext cx="2250299" cy="2461209"/>
          </a:xfrm>
          <a:prstGeom prst="rect">
            <a:avLst/>
          </a:prstGeom>
        </p:spPr>
      </p:pic>
      <p:sp>
        <p:nvSpPr>
          <p:cNvPr id="11" name="TextBox 10">
            <a:extLst>
              <a:ext uri="{FF2B5EF4-FFF2-40B4-BE49-F238E27FC236}">
                <a16:creationId xmlns:a16="http://schemas.microsoft.com/office/drawing/2014/main" id="{F108DC87-9DA4-4F59-B333-37CBB70F7FDD}"/>
              </a:ext>
            </a:extLst>
          </p:cNvPr>
          <p:cNvSpPr txBox="1"/>
          <p:nvPr/>
        </p:nvSpPr>
        <p:spPr>
          <a:xfrm>
            <a:off x="4560302" y="4301761"/>
            <a:ext cx="3071395" cy="369332"/>
          </a:xfrm>
          <a:prstGeom prst="rect">
            <a:avLst/>
          </a:prstGeom>
          <a:noFill/>
        </p:spPr>
        <p:txBody>
          <a:bodyPr wrap="square">
            <a:spAutoFit/>
          </a:bodyPr>
          <a:lstStyle/>
          <a:p>
            <a:pPr algn="ctr"/>
            <a:r>
              <a:rPr lang="en-US" dirty="0"/>
              <a:t>Transmission Simulator FEM</a:t>
            </a:r>
          </a:p>
        </p:txBody>
      </p:sp>
      <p:sp>
        <p:nvSpPr>
          <p:cNvPr id="12" name="TextBox 11">
            <a:extLst>
              <a:ext uri="{FF2B5EF4-FFF2-40B4-BE49-F238E27FC236}">
                <a16:creationId xmlns:a16="http://schemas.microsoft.com/office/drawing/2014/main" id="{201A1FB2-6735-F5B3-B511-90D43B132C86}"/>
              </a:ext>
            </a:extLst>
          </p:cNvPr>
          <p:cNvSpPr txBox="1"/>
          <p:nvPr/>
        </p:nvSpPr>
        <p:spPr>
          <a:xfrm>
            <a:off x="605034" y="4301761"/>
            <a:ext cx="2477845" cy="369332"/>
          </a:xfrm>
          <a:prstGeom prst="rect">
            <a:avLst/>
          </a:prstGeom>
          <a:noFill/>
        </p:spPr>
        <p:txBody>
          <a:bodyPr wrap="square">
            <a:spAutoFit/>
          </a:bodyPr>
          <a:lstStyle/>
          <a:p>
            <a:pPr algn="ctr"/>
            <a:r>
              <a:rPr lang="en-US" dirty="0"/>
              <a:t>A: Cylinder &amp; TS FEM</a:t>
            </a:r>
          </a:p>
        </p:txBody>
      </p:sp>
      <p:sp>
        <p:nvSpPr>
          <p:cNvPr id="13" name="TextBox 12">
            <a:extLst>
              <a:ext uri="{FF2B5EF4-FFF2-40B4-BE49-F238E27FC236}">
                <a16:creationId xmlns:a16="http://schemas.microsoft.com/office/drawing/2014/main" id="{DF15A4B3-8524-F63E-18CB-E55725777FEB}"/>
              </a:ext>
            </a:extLst>
          </p:cNvPr>
          <p:cNvSpPr txBox="1"/>
          <p:nvPr/>
        </p:nvSpPr>
        <p:spPr>
          <a:xfrm>
            <a:off x="8903157" y="4301761"/>
            <a:ext cx="2702714" cy="369332"/>
          </a:xfrm>
          <a:prstGeom prst="rect">
            <a:avLst/>
          </a:prstGeom>
          <a:noFill/>
        </p:spPr>
        <p:txBody>
          <a:bodyPr wrap="square">
            <a:spAutoFit/>
          </a:bodyPr>
          <a:lstStyle/>
          <a:p>
            <a:pPr algn="ctr"/>
            <a:r>
              <a:rPr lang="en-US" dirty="0"/>
              <a:t>B: Plate-Beam &amp; TS Test</a:t>
            </a:r>
          </a:p>
        </p:txBody>
      </p:sp>
      <p:pic>
        <p:nvPicPr>
          <p:cNvPr id="18" name="Picture 17">
            <a:extLst>
              <a:ext uri="{FF2B5EF4-FFF2-40B4-BE49-F238E27FC236}">
                <a16:creationId xmlns:a16="http://schemas.microsoft.com/office/drawing/2014/main" id="{F956F8A2-0577-A682-A765-65C098ECD98C}"/>
              </a:ext>
            </a:extLst>
          </p:cNvPr>
          <p:cNvPicPr>
            <a:picLocks noChangeAspect="1"/>
          </p:cNvPicPr>
          <p:nvPr/>
        </p:nvPicPr>
        <p:blipFill>
          <a:blip r:embed="rId4">
            <a:clrChange>
              <a:clrFrom>
                <a:srgbClr val="FFFFFF"/>
              </a:clrFrom>
              <a:clrTo>
                <a:srgbClr val="FFFFFF">
                  <a:alpha val="0"/>
                </a:srgbClr>
              </a:clrTo>
            </a:clrChange>
          </a:blip>
          <a:srcRect l="55193" t="30669" r="29397" b="6587"/>
          <a:stretch/>
        </p:blipFill>
        <p:spPr>
          <a:xfrm>
            <a:off x="3676052" y="2038784"/>
            <a:ext cx="1120968" cy="1917204"/>
          </a:xfrm>
          <a:prstGeom prst="rect">
            <a:avLst/>
          </a:prstGeom>
        </p:spPr>
      </p:pic>
      <p:pic>
        <p:nvPicPr>
          <p:cNvPr id="19" name="Picture 18">
            <a:extLst>
              <a:ext uri="{FF2B5EF4-FFF2-40B4-BE49-F238E27FC236}">
                <a16:creationId xmlns:a16="http://schemas.microsoft.com/office/drawing/2014/main" id="{E8959998-B08B-872A-D2C4-98A78A55F85B}"/>
              </a:ext>
            </a:extLst>
          </p:cNvPr>
          <p:cNvPicPr>
            <a:picLocks noChangeAspect="1"/>
          </p:cNvPicPr>
          <p:nvPr/>
        </p:nvPicPr>
        <p:blipFill>
          <a:blip r:embed="rId4">
            <a:clrChange>
              <a:clrFrom>
                <a:srgbClr val="FFFFFF"/>
              </a:clrFrom>
              <a:clrTo>
                <a:srgbClr val="FFFFFF">
                  <a:alpha val="0"/>
                </a:srgbClr>
              </a:clrTo>
            </a:clrChange>
          </a:blip>
          <a:srcRect l="55193" t="30669" r="29397" b="6587"/>
          <a:stretch/>
        </p:blipFill>
        <p:spPr>
          <a:xfrm>
            <a:off x="7181699" y="2038784"/>
            <a:ext cx="1120968" cy="1917204"/>
          </a:xfrm>
          <a:prstGeom prst="rect">
            <a:avLst/>
          </a:prstGeom>
        </p:spPr>
      </p:pic>
      <p:sp>
        <p:nvSpPr>
          <p:cNvPr id="21" name="TextBox 20">
            <a:extLst>
              <a:ext uri="{FF2B5EF4-FFF2-40B4-BE49-F238E27FC236}">
                <a16:creationId xmlns:a16="http://schemas.microsoft.com/office/drawing/2014/main" id="{6CA6531D-21C1-EC8C-3CCE-30459D56161C}"/>
              </a:ext>
            </a:extLst>
          </p:cNvPr>
          <p:cNvSpPr txBox="1"/>
          <p:nvPr/>
        </p:nvSpPr>
        <p:spPr>
          <a:xfrm>
            <a:off x="6465232" y="5016866"/>
            <a:ext cx="2553901" cy="1200329"/>
          </a:xfrm>
          <a:prstGeom prst="rect">
            <a:avLst/>
          </a:prstGeom>
          <a:noFill/>
        </p:spPr>
        <p:txBody>
          <a:bodyPr wrap="square" rtlCol="0">
            <a:spAutoFit/>
          </a:bodyPr>
          <a:lstStyle/>
          <a:p>
            <a:pPr algn="ctr"/>
            <a:r>
              <a:rPr lang="en-US" dirty="0"/>
              <a:t>Joint dynamics in the experiment are carried through into the final assembly</a:t>
            </a:r>
          </a:p>
        </p:txBody>
      </p:sp>
      <p:sp>
        <p:nvSpPr>
          <p:cNvPr id="23" name="TextBox 22">
            <a:extLst>
              <a:ext uri="{FF2B5EF4-FFF2-40B4-BE49-F238E27FC236}">
                <a16:creationId xmlns:a16="http://schemas.microsoft.com/office/drawing/2014/main" id="{8848EBE3-3202-2586-4C44-EFB486B3DA71}"/>
              </a:ext>
            </a:extLst>
          </p:cNvPr>
          <p:cNvSpPr txBox="1"/>
          <p:nvPr/>
        </p:nvSpPr>
        <p:spPr>
          <a:xfrm>
            <a:off x="2661736" y="5016866"/>
            <a:ext cx="3149600" cy="1477328"/>
          </a:xfrm>
          <a:prstGeom prst="rect">
            <a:avLst/>
          </a:prstGeom>
          <a:noFill/>
        </p:spPr>
        <p:txBody>
          <a:bodyPr wrap="square" rtlCol="0">
            <a:spAutoFit/>
          </a:bodyPr>
          <a:lstStyle/>
          <a:p>
            <a:pPr algn="ctr"/>
            <a:r>
              <a:rPr lang="en-US" dirty="0"/>
              <a:t>6DOF connections at all 8 bolts would be 48 constraints. The experiment only has 36 measurement DOF, which are used to define ~20 modes </a:t>
            </a:r>
          </a:p>
        </p:txBody>
      </p:sp>
    </p:spTree>
    <p:extLst>
      <p:ext uri="{BB962C8B-B14F-4D97-AF65-F5344CB8AC3E}">
        <p14:creationId xmlns:p14="http://schemas.microsoft.com/office/powerpoint/2010/main" val="16692290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Animation3">
            <a:hlinkClick r:id="" action="ppaction://media"/>
            <a:extLst>
              <a:ext uri="{FF2B5EF4-FFF2-40B4-BE49-F238E27FC236}">
                <a16:creationId xmlns:a16="http://schemas.microsoft.com/office/drawing/2014/main" id="{ED8194CB-ACB9-FEE4-F03D-3D31124F7D91}"/>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524000" y="799306"/>
            <a:ext cx="9144000" cy="5964237"/>
          </a:xfrm>
          <a:prstGeom prst="rect">
            <a:avLst/>
          </a:prstGeom>
        </p:spPr>
      </p:pic>
      <p:sp>
        <p:nvSpPr>
          <p:cNvPr id="6" name="Title 5">
            <a:extLst>
              <a:ext uri="{FF2B5EF4-FFF2-40B4-BE49-F238E27FC236}">
                <a16:creationId xmlns:a16="http://schemas.microsoft.com/office/drawing/2014/main" id="{0CA4EE87-3D15-772D-D661-DE4B975C9AB6}"/>
              </a:ext>
            </a:extLst>
          </p:cNvPr>
          <p:cNvSpPr>
            <a:spLocks noGrp="1"/>
          </p:cNvSpPr>
          <p:nvPr>
            <p:ph type="title"/>
          </p:nvPr>
        </p:nvSpPr>
        <p:spPr>
          <a:xfrm>
            <a:off x="0" y="136525"/>
            <a:ext cx="12192000" cy="662781"/>
          </a:xfrm>
        </p:spPr>
        <p:txBody>
          <a:bodyPr>
            <a:normAutofit fontScale="90000"/>
          </a:bodyPr>
          <a:lstStyle/>
          <a:p>
            <a:pPr algn="ctr"/>
            <a:r>
              <a:rPr lang="en-US" dirty="0"/>
              <a:t>CPB Substructuring Setup for Using TSM</a:t>
            </a:r>
          </a:p>
        </p:txBody>
      </p:sp>
    </p:spTree>
    <p:extLst>
      <p:ext uri="{BB962C8B-B14F-4D97-AF65-F5344CB8AC3E}">
        <p14:creationId xmlns:p14="http://schemas.microsoft.com/office/powerpoint/2010/main" val="1358377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5">
            <a:extLst>
              <a:ext uri="{FF2B5EF4-FFF2-40B4-BE49-F238E27FC236}">
                <a16:creationId xmlns:a16="http://schemas.microsoft.com/office/drawing/2014/main" id="{9C84CEDF-91D4-83EE-E32A-DC4540C62664}"/>
              </a:ext>
            </a:extLst>
          </p:cNvPr>
          <p:cNvPicPr>
            <a:picLocks noChangeAspect="1"/>
          </p:cNvPicPr>
          <p:nvPr/>
        </p:nvPicPr>
        <p:blipFill>
          <a:blip r:embed="rId2">
            <a:clrChange>
              <a:clrFrom>
                <a:srgbClr val="FFFFFF"/>
              </a:clrFrom>
              <a:clrTo>
                <a:srgbClr val="FFFFFF">
                  <a:alpha val="0"/>
                </a:srgbClr>
              </a:clrTo>
            </a:clrChange>
          </a:blip>
          <a:srcRect l="40570" t="51014" b="5428"/>
          <a:stretch/>
        </p:blipFill>
        <p:spPr>
          <a:xfrm>
            <a:off x="196218" y="2393104"/>
            <a:ext cx="3498636" cy="1913663"/>
          </a:xfrm>
          <a:prstGeom prst="rect">
            <a:avLst/>
          </a:prstGeom>
        </p:spPr>
      </p:pic>
      <p:sp>
        <p:nvSpPr>
          <p:cNvPr id="2" name="Title 1">
            <a:extLst>
              <a:ext uri="{FF2B5EF4-FFF2-40B4-BE49-F238E27FC236}">
                <a16:creationId xmlns:a16="http://schemas.microsoft.com/office/drawing/2014/main" id="{A3687106-EE83-3469-F70C-6FFB703583BC}"/>
              </a:ext>
            </a:extLst>
          </p:cNvPr>
          <p:cNvSpPr>
            <a:spLocks noGrp="1"/>
          </p:cNvSpPr>
          <p:nvPr>
            <p:ph type="title"/>
          </p:nvPr>
        </p:nvSpPr>
        <p:spPr>
          <a:xfrm>
            <a:off x="0" y="136525"/>
            <a:ext cx="12192000" cy="662781"/>
          </a:xfrm>
        </p:spPr>
        <p:txBody>
          <a:bodyPr>
            <a:normAutofit fontScale="90000"/>
          </a:bodyPr>
          <a:lstStyle/>
          <a:p>
            <a:pPr algn="ctr"/>
            <a:r>
              <a:rPr lang="en-US" dirty="0"/>
              <a:t>TSM Results for Cylinder-Plate-Beam</a:t>
            </a:r>
          </a:p>
        </p:txBody>
      </p:sp>
      <p:pic>
        <p:nvPicPr>
          <p:cNvPr id="4" name="Picture 3">
            <a:extLst>
              <a:ext uri="{FF2B5EF4-FFF2-40B4-BE49-F238E27FC236}">
                <a16:creationId xmlns:a16="http://schemas.microsoft.com/office/drawing/2014/main" id="{61C17A96-B597-86F0-2147-92994337C19C}"/>
              </a:ext>
            </a:extLst>
          </p:cNvPr>
          <p:cNvPicPr>
            <a:picLocks noChangeAspect="1"/>
          </p:cNvPicPr>
          <p:nvPr/>
        </p:nvPicPr>
        <p:blipFill>
          <a:blip r:embed="rId3">
            <a:clrChange>
              <a:clrFrom>
                <a:srgbClr val="FFFFFF"/>
              </a:clrFrom>
              <a:clrTo>
                <a:srgbClr val="FFFFFF">
                  <a:alpha val="0"/>
                </a:srgbClr>
              </a:clrTo>
            </a:clrChange>
          </a:blip>
          <a:srcRect t="-239"/>
          <a:stretch/>
        </p:blipFill>
        <p:spPr>
          <a:xfrm>
            <a:off x="4460324" y="979268"/>
            <a:ext cx="7176023" cy="5484691"/>
          </a:xfrm>
          <a:prstGeom prst="rect">
            <a:avLst/>
          </a:prstGeom>
        </p:spPr>
      </p:pic>
      <p:sp>
        <p:nvSpPr>
          <p:cNvPr id="7" name="TextBox 6">
            <a:extLst>
              <a:ext uri="{FF2B5EF4-FFF2-40B4-BE49-F238E27FC236}">
                <a16:creationId xmlns:a16="http://schemas.microsoft.com/office/drawing/2014/main" id="{8E43B389-5AB8-A130-3AEA-A502336121B9}"/>
              </a:ext>
            </a:extLst>
          </p:cNvPr>
          <p:cNvSpPr txBox="1"/>
          <p:nvPr/>
        </p:nvSpPr>
        <p:spPr>
          <a:xfrm>
            <a:off x="4220803" y="6396335"/>
            <a:ext cx="3450446" cy="461665"/>
          </a:xfrm>
          <a:prstGeom prst="rect">
            <a:avLst/>
          </a:prstGeom>
          <a:noFill/>
        </p:spPr>
        <p:txBody>
          <a:bodyPr wrap="square">
            <a:spAutoFit/>
          </a:bodyPr>
          <a:lstStyle/>
          <a:p>
            <a:r>
              <a:rPr lang="en-US" altLang="en-US" sz="1200" dirty="0"/>
              <a:t>FEA-CMS shows the result of coupling FE models of both substructures using the same approach.</a:t>
            </a:r>
          </a:p>
        </p:txBody>
      </p:sp>
      <p:cxnSp>
        <p:nvCxnSpPr>
          <p:cNvPr id="10" name="Straight Arrow Connector 9">
            <a:extLst>
              <a:ext uri="{FF2B5EF4-FFF2-40B4-BE49-F238E27FC236}">
                <a16:creationId xmlns:a16="http://schemas.microsoft.com/office/drawing/2014/main" id="{ACF6FD9F-F2C3-5F06-C11D-AE1AF4EBBF5B}"/>
              </a:ext>
            </a:extLst>
          </p:cNvPr>
          <p:cNvCxnSpPr/>
          <p:nvPr/>
        </p:nvCxnSpPr>
        <p:spPr>
          <a:xfrm flipV="1">
            <a:off x="676487" y="3783445"/>
            <a:ext cx="0" cy="55245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 name="Oval 10">
            <a:extLst>
              <a:ext uri="{FF2B5EF4-FFF2-40B4-BE49-F238E27FC236}">
                <a16:creationId xmlns:a16="http://schemas.microsoft.com/office/drawing/2014/main" id="{144AC708-EDBB-8639-F783-7C86BCEB71A1}"/>
              </a:ext>
            </a:extLst>
          </p:cNvPr>
          <p:cNvSpPr/>
          <p:nvPr/>
        </p:nvSpPr>
        <p:spPr>
          <a:xfrm>
            <a:off x="630767" y="3671993"/>
            <a:ext cx="91440" cy="9144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163B225-8A2F-80CB-AEC1-3A06D9C0BF57}"/>
              </a:ext>
            </a:extLst>
          </p:cNvPr>
          <p:cNvSpPr txBox="1"/>
          <p:nvPr/>
        </p:nvSpPr>
        <p:spPr>
          <a:xfrm>
            <a:off x="377401" y="4306767"/>
            <a:ext cx="681597" cy="369332"/>
          </a:xfrm>
          <a:prstGeom prst="rect">
            <a:avLst/>
          </a:prstGeom>
          <a:noFill/>
        </p:spPr>
        <p:txBody>
          <a:bodyPr wrap="none" rtlCol="0">
            <a:spAutoFit/>
          </a:bodyPr>
          <a:lstStyle/>
          <a:p>
            <a:r>
              <a:rPr lang="en-US" b="1" dirty="0"/>
              <a:t>301Z</a:t>
            </a:r>
          </a:p>
        </p:txBody>
      </p:sp>
      <p:sp>
        <p:nvSpPr>
          <p:cNvPr id="21" name="TextBox 20">
            <a:extLst>
              <a:ext uri="{FF2B5EF4-FFF2-40B4-BE49-F238E27FC236}">
                <a16:creationId xmlns:a16="http://schemas.microsoft.com/office/drawing/2014/main" id="{805DEF5B-94AB-54C8-0F99-FE3A0CFC1FE9}"/>
              </a:ext>
            </a:extLst>
          </p:cNvPr>
          <p:cNvSpPr txBox="1"/>
          <p:nvPr/>
        </p:nvSpPr>
        <p:spPr>
          <a:xfrm>
            <a:off x="7284528" y="979268"/>
            <a:ext cx="2235099" cy="338554"/>
          </a:xfrm>
          <a:prstGeom prst="rect">
            <a:avLst/>
          </a:prstGeom>
          <a:solidFill>
            <a:schemeClr val="bg1"/>
          </a:solidFill>
        </p:spPr>
        <p:txBody>
          <a:bodyPr wrap="none" rtlCol="0">
            <a:spAutoFit/>
          </a:bodyPr>
          <a:lstStyle/>
          <a:p>
            <a:pPr algn="ctr"/>
            <a:r>
              <a:rPr lang="en-US" sz="1600" b="1" dirty="0"/>
              <a:t>Drive Point FRFs: 301Z</a:t>
            </a:r>
          </a:p>
        </p:txBody>
      </p:sp>
    </p:spTree>
    <p:extLst>
      <p:ext uri="{BB962C8B-B14F-4D97-AF65-F5344CB8AC3E}">
        <p14:creationId xmlns:p14="http://schemas.microsoft.com/office/powerpoint/2010/main" val="24529336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B8C2A16-5F8E-3D9F-B91A-FA922B58450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4519402" y="886057"/>
            <a:ext cx="7112900" cy="5591254"/>
          </a:xfrm>
          <a:prstGeom prst="rect">
            <a:avLst/>
          </a:prstGeom>
        </p:spPr>
      </p:pic>
      <p:sp>
        <p:nvSpPr>
          <p:cNvPr id="2" name="Title 1">
            <a:extLst>
              <a:ext uri="{FF2B5EF4-FFF2-40B4-BE49-F238E27FC236}">
                <a16:creationId xmlns:a16="http://schemas.microsoft.com/office/drawing/2014/main" id="{A3687106-EE83-3469-F70C-6FFB703583BC}"/>
              </a:ext>
            </a:extLst>
          </p:cNvPr>
          <p:cNvSpPr>
            <a:spLocks noGrp="1"/>
          </p:cNvSpPr>
          <p:nvPr>
            <p:ph type="title"/>
          </p:nvPr>
        </p:nvSpPr>
        <p:spPr>
          <a:xfrm>
            <a:off x="0" y="136525"/>
            <a:ext cx="12192000" cy="662781"/>
          </a:xfrm>
        </p:spPr>
        <p:txBody>
          <a:bodyPr>
            <a:normAutofit fontScale="90000"/>
          </a:bodyPr>
          <a:lstStyle/>
          <a:p>
            <a:pPr algn="ctr"/>
            <a:r>
              <a:rPr lang="en-US" dirty="0"/>
              <a:t>TSM Results for Cylinder-Plate-Beam</a:t>
            </a:r>
          </a:p>
        </p:txBody>
      </p:sp>
      <p:pic>
        <p:nvPicPr>
          <p:cNvPr id="7" name="Content Placeholder 5">
            <a:extLst>
              <a:ext uri="{FF2B5EF4-FFF2-40B4-BE49-F238E27FC236}">
                <a16:creationId xmlns:a16="http://schemas.microsoft.com/office/drawing/2014/main" id="{A9680F48-81D0-E2ED-8A69-6DA5D1550F71}"/>
              </a:ext>
            </a:extLst>
          </p:cNvPr>
          <p:cNvPicPr>
            <a:picLocks noChangeAspect="1"/>
          </p:cNvPicPr>
          <p:nvPr/>
        </p:nvPicPr>
        <p:blipFill>
          <a:blip r:embed="rId3">
            <a:clrChange>
              <a:clrFrom>
                <a:srgbClr val="FFFFFF"/>
              </a:clrFrom>
              <a:clrTo>
                <a:srgbClr val="FFFFFF">
                  <a:alpha val="0"/>
                </a:srgbClr>
              </a:clrTo>
            </a:clrChange>
          </a:blip>
          <a:srcRect l="40570" t="51014" b="5428"/>
          <a:stretch/>
        </p:blipFill>
        <p:spPr>
          <a:xfrm>
            <a:off x="196218" y="2393104"/>
            <a:ext cx="3498636" cy="1913663"/>
          </a:xfrm>
          <a:prstGeom prst="rect">
            <a:avLst/>
          </a:prstGeom>
        </p:spPr>
      </p:pic>
      <p:cxnSp>
        <p:nvCxnSpPr>
          <p:cNvPr id="10" name="Straight Arrow Connector 9">
            <a:extLst>
              <a:ext uri="{FF2B5EF4-FFF2-40B4-BE49-F238E27FC236}">
                <a16:creationId xmlns:a16="http://schemas.microsoft.com/office/drawing/2014/main" id="{5AB96416-97AA-943B-4304-3F28673B293D}"/>
              </a:ext>
            </a:extLst>
          </p:cNvPr>
          <p:cNvCxnSpPr>
            <a:cxnSpLocks/>
          </p:cNvCxnSpPr>
          <p:nvPr/>
        </p:nvCxnSpPr>
        <p:spPr>
          <a:xfrm flipH="1" flipV="1">
            <a:off x="3598502" y="3783445"/>
            <a:ext cx="458386" cy="129002"/>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 name="Oval 10">
            <a:extLst>
              <a:ext uri="{FF2B5EF4-FFF2-40B4-BE49-F238E27FC236}">
                <a16:creationId xmlns:a16="http://schemas.microsoft.com/office/drawing/2014/main" id="{26BDCCCB-9785-0675-34ED-C3C912955DDF}"/>
              </a:ext>
            </a:extLst>
          </p:cNvPr>
          <p:cNvSpPr/>
          <p:nvPr/>
        </p:nvSpPr>
        <p:spPr>
          <a:xfrm>
            <a:off x="3496734" y="3710956"/>
            <a:ext cx="91440" cy="9144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CE7BFC3-9DCD-DFAE-0EEC-C1D342909412}"/>
              </a:ext>
            </a:extLst>
          </p:cNvPr>
          <p:cNvSpPr txBox="1"/>
          <p:nvPr/>
        </p:nvSpPr>
        <p:spPr>
          <a:xfrm>
            <a:off x="3559688" y="3951999"/>
            <a:ext cx="813043" cy="369332"/>
          </a:xfrm>
          <a:prstGeom prst="rect">
            <a:avLst/>
          </a:prstGeom>
          <a:noFill/>
        </p:spPr>
        <p:txBody>
          <a:bodyPr wrap="none" rtlCol="0">
            <a:spAutoFit/>
          </a:bodyPr>
          <a:lstStyle/>
          <a:p>
            <a:r>
              <a:rPr lang="en-US" b="1" dirty="0"/>
              <a:t>1000Y</a:t>
            </a:r>
          </a:p>
        </p:txBody>
      </p:sp>
      <p:sp>
        <p:nvSpPr>
          <p:cNvPr id="15" name="TextBox 14">
            <a:extLst>
              <a:ext uri="{FF2B5EF4-FFF2-40B4-BE49-F238E27FC236}">
                <a16:creationId xmlns:a16="http://schemas.microsoft.com/office/drawing/2014/main" id="{E42DAA48-0843-C0C0-469C-2252404AC24B}"/>
              </a:ext>
            </a:extLst>
          </p:cNvPr>
          <p:cNvSpPr txBox="1"/>
          <p:nvPr/>
        </p:nvSpPr>
        <p:spPr>
          <a:xfrm>
            <a:off x="7226019" y="922624"/>
            <a:ext cx="2352119" cy="338554"/>
          </a:xfrm>
          <a:prstGeom prst="rect">
            <a:avLst/>
          </a:prstGeom>
          <a:solidFill>
            <a:schemeClr val="bg1"/>
          </a:solidFill>
        </p:spPr>
        <p:txBody>
          <a:bodyPr wrap="none" rtlCol="0">
            <a:spAutoFit/>
          </a:bodyPr>
          <a:lstStyle/>
          <a:p>
            <a:pPr algn="ctr"/>
            <a:r>
              <a:rPr lang="en-US" sz="1600" b="1" dirty="0"/>
              <a:t>Drive Point FRFs: 1000Y</a:t>
            </a:r>
          </a:p>
        </p:txBody>
      </p:sp>
    </p:spTree>
    <p:extLst>
      <p:ext uri="{BB962C8B-B14F-4D97-AF65-F5344CB8AC3E}">
        <p14:creationId xmlns:p14="http://schemas.microsoft.com/office/powerpoint/2010/main" val="19807612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2EC86-458E-68E8-E56C-7D393177906A}"/>
              </a:ext>
            </a:extLst>
          </p:cNvPr>
          <p:cNvSpPr>
            <a:spLocks noGrp="1"/>
          </p:cNvSpPr>
          <p:nvPr>
            <p:ph type="title"/>
          </p:nvPr>
        </p:nvSpPr>
        <p:spPr>
          <a:xfrm>
            <a:off x="0" y="136525"/>
            <a:ext cx="12192000" cy="662781"/>
          </a:xfrm>
        </p:spPr>
        <p:txBody>
          <a:bodyPr>
            <a:normAutofit fontScale="90000"/>
          </a:bodyPr>
          <a:lstStyle/>
          <a:p>
            <a:pPr algn="ctr"/>
            <a:r>
              <a:rPr lang="en-US" dirty="0"/>
              <a:t>Transmission Simulator Design Guidelines</a:t>
            </a:r>
          </a:p>
        </p:txBody>
      </p:sp>
      <p:sp>
        <p:nvSpPr>
          <p:cNvPr id="3" name="Content Placeholder 2">
            <a:extLst>
              <a:ext uri="{FF2B5EF4-FFF2-40B4-BE49-F238E27FC236}">
                <a16:creationId xmlns:a16="http://schemas.microsoft.com/office/drawing/2014/main" id="{C163B7C2-5E2E-B9AD-84BC-359B22D71122}"/>
              </a:ext>
            </a:extLst>
          </p:cNvPr>
          <p:cNvSpPr>
            <a:spLocks noGrp="1"/>
          </p:cNvSpPr>
          <p:nvPr>
            <p:ph idx="1"/>
          </p:nvPr>
        </p:nvSpPr>
        <p:spPr>
          <a:xfrm>
            <a:off x="105032" y="939585"/>
            <a:ext cx="12086968" cy="5070055"/>
          </a:xfrm>
        </p:spPr>
        <p:txBody>
          <a:bodyPr>
            <a:normAutofit/>
          </a:bodyPr>
          <a:lstStyle/>
          <a:p>
            <a:r>
              <a:rPr lang="en-US" dirty="0"/>
              <a:t>The TS should be as simple as possible</a:t>
            </a:r>
          </a:p>
          <a:p>
            <a:pPr lvl="1"/>
            <a:r>
              <a:rPr lang="en-US" dirty="0"/>
              <a:t>Easily instrumented and excited to accurately characterize its relevant dynamics and produce a well conditioned mode shape matrix</a:t>
            </a:r>
          </a:p>
          <a:p>
            <a:pPr lvl="1"/>
            <a:r>
              <a:rPr lang="en-US" dirty="0"/>
              <a:t>Simple geometry and no joints so it is not a significant effort to produce and correlate a FEM</a:t>
            </a:r>
          </a:p>
          <a:p>
            <a:r>
              <a:rPr lang="en-US" dirty="0"/>
              <a:t>The TS should replicate the interface dynamics between the subsystems</a:t>
            </a:r>
          </a:p>
          <a:p>
            <a:pPr lvl="1"/>
            <a:r>
              <a:rPr lang="en-US" dirty="0"/>
              <a:t>When connected to the subsystem, the mass loading and stiffness boundary condition provided by the TS should mimic its connection to the other substructure in the assembly. </a:t>
            </a:r>
          </a:p>
          <a:p>
            <a:pPr lvl="1"/>
            <a:r>
              <a:rPr lang="en-US" dirty="0"/>
              <a:t>The joint between the TS and test article should replicate the actual interface in the system of interest as closely as possible to experimentally capture the joint stiffness and damping</a:t>
            </a:r>
          </a:p>
          <a:p>
            <a:r>
              <a:rPr lang="en-US" dirty="0"/>
              <a:t>A well designed TS balances these two objectives. It should be easy to test and simple to model while still resembling the subsystem interface to mimic the joint behavior and stiffness and mass of the other substructure.</a:t>
            </a:r>
          </a:p>
        </p:txBody>
      </p:sp>
      <p:sp>
        <p:nvSpPr>
          <p:cNvPr id="4" name="TextBox 3">
            <a:extLst>
              <a:ext uri="{FF2B5EF4-FFF2-40B4-BE49-F238E27FC236}">
                <a16:creationId xmlns:a16="http://schemas.microsoft.com/office/drawing/2014/main" id="{4B5421FD-D244-374E-71D4-01D11276BFE2}"/>
              </a:ext>
            </a:extLst>
          </p:cNvPr>
          <p:cNvSpPr txBox="1"/>
          <p:nvPr/>
        </p:nvSpPr>
        <p:spPr>
          <a:xfrm>
            <a:off x="1734454" y="6597912"/>
            <a:ext cx="7742183" cy="261610"/>
          </a:xfrm>
          <a:prstGeom prst="rect">
            <a:avLst/>
          </a:prstGeom>
          <a:noFill/>
        </p:spPr>
        <p:txBody>
          <a:bodyPr wrap="square">
            <a:spAutoFit/>
          </a:bodyPr>
          <a:lstStyle/>
          <a:p>
            <a:r>
              <a:rPr lang="en-US" sz="1100" dirty="0"/>
              <a:t>* Note: Singular Vectors can also be used to soften the constraints: </a:t>
            </a:r>
            <a:r>
              <a:rPr lang="en-US" sz="1100" dirty="0">
                <a:hlinkClick r:id="rId3"/>
              </a:rPr>
              <a:t>https://doi.org/10.1016/j.ymssp.2021.108109</a:t>
            </a:r>
            <a:endParaRPr lang="en-US" sz="1100" dirty="0"/>
          </a:p>
        </p:txBody>
      </p:sp>
    </p:spTree>
    <p:extLst>
      <p:ext uri="{BB962C8B-B14F-4D97-AF65-F5344CB8AC3E}">
        <p14:creationId xmlns:p14="http://schemas.microsoft.com/office/powerpoint/2010/main" val="33245843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3835C-1A9F-24BF-5D04-343B776E71F2}"/>
              </a:ext>
            </a:extLst>
          </p:cNvPr>
          <p:cNvSpPr>
            <a:spLocks noGrp="1"/>
          </p:cNvSpPr>
          <p:nvPr>
            <p:ph type="title"/>
          </p:nvPr>
        </p:nvSpPr>
        <p:spPr>
          <a:xfrm>
            <a:off x="409832" y="658535"/>
            <a:ext cx="10515600" cy="1606493"/>
          </a:xfrm>
        </p:spPr>
        <p:txBody>
          <a:bodyPr>
            <a:normAutofit/>
          </a:bodyPr>
          <a:lstStyle/>
          <a:p>
            <a:r>
              <a:rPr lang="en-US" dirty="0"/>
              <a:t>Closing Remarks for the Experimental Considerations</a:t>
            </a:r>
          </a:p>
        </p:txBody>
      </p:sp>
    </p:spTree>
    <p:extLst>
      <p:ext uri="{BB962C8B-B14F-4D97-AF65-F5344CB8AC3E}">
        <p14:creationId xmlns:p14="http://schemas.microsoft.com/office/powerpoint/2010/main" val="42546727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8B9CD-E191-956A-732D-51BD18E20558}"/>
              </a:ext>
            </a:extLst>
          </p:cNvPr>
          <p:cNvSpPr>
            <a:spLocks noGrp="1"/>
          </p:cNvSpPr>
          <p:nvPr>
            <p:ph type="title"/>
          </p:nvPr>
        </p:nvSpPr>
        <p:spPr>
          <a:xfrm>
            <a:off x="0" y="136525"/>
            <a:ext cx="12192000" cy="662781"/>
          </a:xfrm>
        </p:spPr>
        <p:txBody>
          <a:bodyPr>
            <a:normAutofit fontScale="90000"/>
          </a:bodyPr>
          <a:lstStyle/>
          <a:p>
            <a:pPr algn="ctr"/>
            <a:r>
              <a:rPr lang="en-US" dirty="0"/>
              <a:t>Experimental Considerations Takeaways</a:t>
            </a:r>
          </a:p>
        </p:txBody>
      </p:sp>
      <p:sp>
        <p:nvSpPr>
          <p:cNvPr id="3" name="Content Placeholder 2">
            <a:extLst>
              <a:ext uri="{FF2B5EF4-FFF2-40B4-BE49-F238E27FC236}">
                <a16:creationId xmlns:a16="http://schemas.microsoft.com/office/drawing/2014/main" id="{7DFCBF4C-5075-8761-B992-B9AFC21A763F}"/>
              </a:ext>
            </a:extLst>
          </p:cNvPr>
          <p:cNvSpPr>
            <a:spLocks noGrp="1"/>
          </p:cNvSpPr>
          <p:nvPr>
            <p:ph idx="1"/>
          </p:nvPr>
        </p:nvSpPr>
        <p:spPr>
          <a:xfrm>
            <a:off x="105032" y="939585"/>
            <a:ext cx="11939648" cy="5232615"/>
          </a:xfrm>
        </p:spPr>
        <p:txBody>
          <a:bodyPr>
            <a:normAutofit lnSpcReduction="10000"/>
          </a:bodyPr>
          <a:lstStyle/>
          <a:p>
            <a:r>
              <a:rPr lang="en-US" dirty="0"/>
              <a:t>Experimental Substructuring requires very high quality modal test data</a:t>
            </a:r>
          </a:p>
          <a:p>
            <a:pPr lvl="1"/>
            <a:r>
              <a:rPr lang="en-US" dirty="0"/>
              <a:t>All standard modal testing guidelines must be followed meticulously</a:t>
            </a:r>
          </a:p>
          <a:p>
            <a:r>
              <a:rPr lang="en-US" dirty="0"/>
              <a:t>Substructuring has additional requirements:</a:t>
            </a:r>
          </a:p>
          <a:p>
            <a:pPr lvl="1"/>
            <a:r>
              <a:rPr lang="en-US" dirty="0"/>
              <a:t>The location and orientation of constraint DOF must coincide and align across subsystems</a:t>
            </a:r>
          </a:p>
          <a:p>
            <a:pPr lvl="1"/>
            <a:r>
              <a:rPr lang="en-US" dirty="0"/>
              <a:t>Rotational DOF are usually necessary for enforcing accurate constraints, but are difficult to determine experimentally. VPT and TSM are typical workarounds. </a:t>
            </a:r>
          </a:p>
          <a:p>
            <a:pPr lvl="1"/>
            <a:r>
              <a:rPr lang="en-US" dirty="0"/>
              <a:t>FBS requires drivepoint FRFs at all connection DOFs and is sensitive to noise</a:t>
            </a:r>
          </a:p>
          <a:p>
            <a:pPr lvl="1"/>
            <a:r>
              <a:rPr lang="en-US" dirty="0"/>
              <a:t>CMS depends on accurate modal parameter estimation from FRFs</a:t>
            </a:r>
          </a:p>
          <a:p>
            <a:pPr lvl="1"/>
            <a:r>
              <a:rPr lang="en-US" dirty="0"/>
              <a:t>Modal truncation errors can impact CMS results in unpredictable ways</a:t>
            </a:r>
          </a:p>
          <a:p>
            <a:r>
              <a:rPr lang="en-US" dirty="0"/>
              <a:t>The Transmission Simulator Method addresses multiple substructuring issues</a:t>
            </a:r>
          </a:p>
          <a:p>
            <a:pPr lvl="1"/>
            <a:r>
              <a:rPr lang="en-US" dirty="0"/>
              <a:t>The TS loads the interface, enriching the modal basis by adding modes to the bandwidth and altering mode shapes to behave similar to the desired assembled interface</a:t>
            </a:r>
          </a:p>
          <a:p>
            <a:pPr lvl="1"/>
            <a:r>
              <a:rPr lang="en-US" dirty="0"/>
              <a:t>Constraints are projected onto generalized modal DOF, allowing for easy modelling of continuous interfaces while also circumventing the need for rotational constraint DOF</a:t>
            </a:r>
          </a:p>
        </p:txBody>
      </p:sp>
    </p:spTree>
    <p:extLst>
      <p:ext uri="{BB962C8B-B14F-4D97-AF65-F5344CB8AC3E}">
        <p14:creationId xmlns:p14="http://schemas.microsoft.com/office/powerpoint/2010/main" val="9042613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326B3-E21D-3947-B40C-827B3C10BDA2}"/>
              </a:ext>
            </a:extLst>
          </p:cNvPr>
          <p:cNvSpPr>
            <a:spLocks noGrp="1"/>
          </p:cNvSpPr>
          <p:nvPr>
            <p:ph type="title"/>
          </p:nvPr>
        </p:nvSpPr>
        <p:spPr>
          <a:xfrm>
            <a:off x="0" y="1409120"/>
            <a:ext cx="12192000" cy="662781"/>
          </a:xfrm>
        </p:spPr>
        <p:txBody>
          <a:bodyPr>
            <a:normAutofit fontScale="90000"/>
          </a:bodyPr>
          <a:lstStyle/>
          <a:p>
            <a:r>
              <a:rPr lang="en-US" dirty="0"/>
              <a:t>Next Up: The Frame &amp; Wing Structure</a:t>
            </a:r>
          </a:p>
        </p:txBody>
      </p:sp>
    </p:spTree>
    <p:extLst>
      <p:ext uri="{BB962C8B-B14F-4D97-AF65-F5344CB8AC3E}">
        <p14:creationId xmlns:p14="http://schemas.microsoft.com/office/powerpoint/2010/main" val="41486294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30760</TotalTime>
  <Words>3058</Words>
  <Application>Microsoft Office PowerPoint</Application>
  <PresentationFormat>Widescreen</PresentationFormat>
  <Paragraphs>451</Paragraphs>
  <Slides>43</Slides>
  <Notes>18</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Aptos</vt:lpstr>
      <vt:lpstr>Aptos Display</vt:lpstr>
      <vt:lpstr>Aptos Narrow</vt:lpstr>
      <vt:lpstr>Arial</vt:lpstr>
      <vt:lpstr>Cambria Math</vt:lpstr>
      <vt:lpstr>Office Theme</vt:lpstr>
      <vt:lpstr>Module #6: Experimental Considerations</vt:lpstr>
      <vt:lpstr>Topics</vt:lpstr>
      <vt:lpstr>Data Requirements for  Experimental/Analytical Substructuring</vt:lpstr>
      <vt:lpstr>Which Approach Can We Use?</vt:lpstr>
      <vt:lpstr>Substructuring Requires Meticulous Modal Testing</vt:lpstr>
      <vt:lpstr>General Modal Testing Pitfalls</vt:lpstr>
      <vt:lpstr>General Modal Testing Pitfalls</vt:lpstr>
      <vt:lpstr>General Modal Testing Pitfalls</vt:lpstr>
      <vt:lpstr>General Modal Testing Pitfalls</vt:lpstr>
      <vt:lpstr>General Modal Testing Pitfalls</vt:lpstr>
      <vt:lpstr>Testing Guidelines Specifically for Substructuring</vt:lpstr>
      <vt:lpstr>General Substructuring Test Guidelines</vt:lpstr>
      <vt:lpstr>General Substructuring Test Guidelines</vt:lpstr>
      <vt:lpstr>General Substructuring Test Guidelines</vt:lpstr>
      <vt:lpstr>General Substructuring Test Guidelines</vt:lpstr>
      <vt:lpstr>Frequency-based Substructuring Guidelines</vt:lpstr>
      <vt:lpstr>Frequency-based Substructuring Guidelines</vt:lpstr>
      <vt:lpstr>Frequency-based Substructuring Guidelines</vt:lpstr>
      <vt:lpstr>Component Mode Synthesis Guidelines</vt:lpstr>
      <vt:lpstr>Component Mode Synthesis Guidelines</vt:lpstr>
      <vt:lpstr>Transmission Simulator Method</vt:lpstr>
      <vt:lpstr>Recall the CMS Numerical Beam Example</vt:lpstr>
      <vt:lpstr>Create an Interface Better Suited for Assembly</vt:lpstr>
      <vt:lpstr>Create an Interface Better Suited for Assembly</vt:lpstr>
      <vt:lpstr>Create an Interface Better Suited for Assembly</vt:lpstr>
      <vt:lpstr>How does the TS Change the A Beam and B Beam?</vt:lpstr>
      <vt:lpstr>The TSM Significantly Improves the C Beam Model</vt:lpstr>
      <vt:lpstr>The TSM Significantly Improves the C Beam Model</vt:lpstr>
      <vt:lpstr>The TSM Significantly Improves the C Beam Model</vt:lpstr>
      <vt:lpstr>The TSM Significantly Improves the C Beam Model</vt:lpstr>
      <vt:lpstr>The TSM Significantly Improves the C Beam Model</vt:lpstr>
      <vt:lpstr>The TSM Significantly Improves the C Beam Model</vt:lpstr>
      <vt:lpstr>The TSM Significantly Improves the C Beam Model</vt:lpstr>
      <vt:lpstr>The TSM Significantly Improved the C Beam Model</vt:lpstr>
      <vt:lpstr>Model the CPB’s Continuous Interface with the TSM</vt:lpstr>
      <vt:lpstr>CPB Substructuring Setup for Using TSM</vt:lpstr>
      <vt:lpstr>CPB Substructuring Setup for Using TSM</vt:lpstr>
      <vt:lpstr>TSM Results for Cylinder-Plate-Beam</vt:lpstr>
      <vt:lpstr>TSM Results for Cylinder-Plate-Beam</vt:lpstr>
      <vt:lpstr>Transmission Simulator Design Guidelines</vt:lpstr>
      <vt:lpstr>Closing Remarks for the Experimental Considerations</vt:lpstr>
      <vt:lpstr>Experimental Considerations Takeaways</vt:lpstr>
      <vt:lpstr>Next Up: The Frame &amp; Wing Structure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Roettgen, Daniel Robert</dc:creator>
  <cp:lastModifiedBy>Roettgen, Daniel Robert</cp:lastModifiedBy>
  <cp:revision>101</cp:revision>
  <dcterms:created xsi:type="dcterms:W3CDTF">2025-09-04T01:59:06Z</dcterms:created>
  <dcterms:modified xsi:type="dcterms:W3CDTF">2026-01-15T03:18:55Z</dcterms:modified>
</cp:coreProperties>
</file>