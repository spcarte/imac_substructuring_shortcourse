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374" r:id="rId4"/>
    <p:sldId id="375" r:id="rId5"/>
    <p:sldId id="379" r:id="rId6"/>
    <p:sldId id="380" r:id="rId7"/>
    <p:sldId id="428" r:id="rId8"/>
    <p:sldId id="269" r:id="rId9"/>
    <p:sldId id="329" r:id="rId10"/>
    <p:sldId id="354" r:id="rId11"/>
    <p:sldId id="338" r:id="rId12"/>
    <p:sldId id="33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B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6559" autoAdjust="0"/>
  </p:normalViewPr>
  <p:slideViewPr>
    <p:cSldViewPr snapToGrid="0">
      <p:cViewPr varScale="1">
        <p:scale>
          <a:sx n="82" d="100"/>
          <a:sy n="82" d="100"/>
        </p:scale>
        <p:origin x="2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1/17/2026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gif"/><Relationship Id="rId3" Type="http://schemas.openxmlformats.org/officeDocument/2006/relationships/image" Target="../media/image19.emf"/><Relationship Id="rId7" Type="http://schemas.openxmlformats.org/officeDocument/2006/relationships/image" Target="../media/image22.gi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1.emf"/><Relationship Id="rId10" Type="http://schemas.openxmlformats.org/officeDocument/2006/relationships/image" Target="../media/image25.JPG"/><Relationship Id="rId4" Type="http://schemas.openxmlformats.org/officeDocument/2006/relationships/image" Target="../media/image20.emf"/><Relationship Id="rId9" Type="http://schemas.openxmlformats.org/officeDocument/2006/relationships/image" Target="../media/image24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086" y="537502"/>
            <a:ext cx="7628888" cy="1976513"/>
          </a:xfrm>
        </p:spPr>
        <p:txBody>
          <a:bodyPr>
            <a:normAutofit/>
          </a:bodyPr>
          <a:lstStyle/>
          <a:p>
            <a:r>
              <a:rPr lang="en-US" dirty="0"/>
              <a:t>Module 1: Introduction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D44A-C018-0E6F-20C2-3A945BDF3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6B8D1A-23C5-ACFC-ED38-9CA45829D8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C6A43F5-8647-3B5B-C8B9-D16E393FCEE2}"/>
              </a:ext>
            </a:extLst>
          </p:cNvPr>
          <p:cNvSpPr/>
          <p:nvPr/>
        </p:nvSpPr>
        <p:spPr>
          <a:xfrm>
            <a:off x="261907" y="3382781"/>
            <a:ext cx="11187971" cy="1325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D0AEB9-279F-3E32-84C5-6390495D7568}"/>
              </a:ext>
            </a:extLst>
          </p:cNvPr>
          <p:cNvSpPr/>
          <p:nvPr/>
        </p:nvSpPr>
        <p:spPr>
          <a:xfrm>
            <a:off x="261907" y="4708661"/>
            <a:ext cx="11187971" cy="13258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3E19A-491D-B965-7B82-1BCBA1395328}"/>
              </a:ext>
            </a:extLst>
          </p:cNvPr>
          <p:cNvSpPr/>
          <p:nvPr/>
        </p:nvSpPr>
        <p:spPr>
          <a:xfrm>
            <a:off x="271846" y="730080"/>
            <a:ext cx="11187971" cy="1325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Instructors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BB913E-BED7-E712-24D8-1926085C9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57" y="729139"/>
            <a:ext cx="947057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DE16A5A-E6E5-7422-B360-F564CEBB1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57" y="2057400"/>
            <a:ext cx="979714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0E4F557-A861-7242-A129-68535DD25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44" y="3385763"/>
            <a:ext cx="95037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D92D66C-7876-D4D1-B8A1-955D0E573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57" y="4713527"/>
            <a:ext cx="947057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193DFD-A4D2-8738-B24D-BAC027F49BF2}"/>
              </a:ext>
            </a:extLst>
          </p:cNvPr>
          <p:cNvSpPr/>
          <p:nvPr/>
        </p:nvSpPr>
        <p:spPr>
          <a:xfrm>
            <a:off x="271846" y="2055960"/>
            <a:ext cx="11187971" cy="13258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584F94-E502-C618-D412-E33A34B04F4F}"/>
              </a:ext>
            </a:extLst>
          </p:cNvPr>
          <p:cNvSpPr txBox="1"/>
          <p:nvPr/>
        </p:nvSpPr>
        <p:spPr>
          <a:xfrm>
            <a:off x="1248071" y="776299"/>
            <a:ext cx="10112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dirty="0">
                <a:solidFill>
                  <a:schemeClr val="bg1"/>
                </a:solidFill>
              </a:rPr>
              <a:t>Sandia National Labs Principle Member of Staff</a:t>
            </a:r>
          </a:p>
          <a:p>
            <a:r>
              <a:rPr lang="en-US" dirty="0">
                <a:solidFill>
                  <a:schemeClr val="bg1"/>
                </a:solidFill>
              </a:rPr>
              <a:t>Research Interests: Transfer Path Analysis, MIMO Testing, Inverse Methods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11939B-228F-CABC-CDF1-9C478D5A2347}"/>
              </a:ext>
            </a:extLst>
          </p:cNvPr>
          <p:cNvSpPr txBox="1"/>
          <p:nvPr/>
        </p:nvSpPr>
        <p:spPr>
          <a:xfrm>
            <a:off x="1198375" y="3454953"/>
            <a:ext cx="10112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dirty="0">
                <a:solidFill>
                  <a:schemeClr val="bg1"/>
                </a:solidFill>
              </a:rPr>
              <a:t>Sandia National Labs Postdoctoral Appointee</a:t>
            </a:r>
          </a:p>
          <a:p>
            <a:r>
              <a:rPr lang="en-US" dirty="0">
                <a:solidFill>
                  <a:schemeClr val="bg1"/>
                </a:solidFill>
              </a:rPr>
              <a:t>Research Interests: Dynamic </a:t>
            </a:r>
            <a:r>
              <a:rPr lang="en-US" dirty="0" err="1">
                <a:solidFill>
                  <a:schemeClr val="bg1"/>
                </a:solidFill>
              </a:rPr>
              <a:t>Substurctuirng</a:t>
            </a:r>
            <a:r>
              <a:rPr lang="en-US" dirty="0">
                <a:solidFill>
                  <a:schemeClr val="bg1"/>
                </a:solidFill>
              </a:rPr>
              <a:t>, Nonlinear System Identification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057AB2-A5BB-3485-3A48-D8EC5082B29E}"/>
              </a:ext>
            </a:extLst>
          </p:cNvPr>
          <p:cNvSpPr txBox="1"/>
          <p:nvPr/>
        </p:nvSpPr>
        <p:spPr>
          <a:xfrm>
            <a:off x="1248070" y="4790034"/>
            <a:ext cx="10112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Daniel Roettgen</a:t>
            </a:r>
          </a:p>
          <a:p>
            <a:r>
              <a:rPr lang="en-US" dirty="0"/>
              <a:t>Sandia National Labs Principle Member of Staff</a:t>
            </a:r>
          </a:p>
          <a:p>
            <a:r>
              <a:rPr lang="en-US" dirty="0"/>
              <a:t>Research Interests: Dynamic </a:t>
            </a:r>
            <a:r>
              <a:rPr lang="en-US" dirty="0" err="1"/>
              <a:t>Substurctuirng</a:t>
            </a:r>
            <a:r>
              <a:rPr lang="en-US" dirty="0"/>
              <a:t>, Structural Health Monitoring, Nonlinear Dynamics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35CF5-8BAA-BF6D-59A6-36238FB21582}"/>
              </a:ext>
            </a:extLst>
          </p:cNvPr>
          <p:cNvSpPr txBox="1"/>
          <p:nvPr/>
        </p:nvSpPr>
        <p:spPr>
          <a:xfrm>
            <a:off x="1254521" y="2112285"/>
            <a:ext cx="10112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Andreas Linderholt</a:t>
            </a:r>
          </a:p>
          <a:p>
            <a:r>
              <a:rPr lang="en-US" dirty="0" err="1"/>
              <a:t>Linneaus</a:t>
            </a:r>
            <a:r>
              <a:rPr lang="en-US" dirty="0"/>
              <a:t> University – Associate Professor – Department of Mechanical Engineering</a:t>
            </a:r>
          </a:p>
          <a:p>
            <a:r>
              <a:rPr lang="en-US" dirty="0"/>
              <a:t>Research Interests: Dynamic </a:t>
            </a:r>
            <a:r>
              <a:rPr lang="en-US" dirty="0" err="1"/>
              <a:t>Substructuring</a:t>
            </a:r>
            <a:r>
              <a:rPr lang="en-US" dirty="0"/>
              <a:t>, Structural Dynamics</a:t>
            </a:r>
          </a:p>
        </p:txBody>
      </p:sp>
    </p:spTree>
    <p:extLst>
      <p:ext uri="{BB962C8B-B14F-4D97-AF65-F5344CB8AC3E}">
        <p14:creationId xmlns:p14="http://schemas.microsoft.com/office/powerpoint/2010/main" val="173402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Estimated Agenda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41E4B-211C-4D91-8B93-045D6BCD1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438" y="3773937"/>
            <a:ext cx="2157413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93FC4604-811D-CA47-7BDD-2CAA04F5F9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19" b="6819"/>
          <a:stretch>
            <a:fillRect/>
          </a:stretch>
        </p:blipFill>
        <p:spPr>
          <a:xfrm>
            <a:off x="9437151" y="452718"/>
            <a:ext cx="2262187" cy="1465262"/>
          </a:xfrm>
          <a:prstGeom prst="rect">
            <a:avLst/>
          </a:prstGeom>
        </p:spPr>
      </p:pic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59D0311C-EE92-B81C-FE8A-C942E48790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65" b="6865"/>
          <a:stretch>
            <a:fillRect/>
          </a:stretch>
        </p:blipFill>
        <p:spPr>
          <a:xfrm>
            <a:off x="9437151" y="1994180"/>
            <a:ext cx="2262187" cy="146367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6C83B1-E158-A8D5-3394-5020213CE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29989"/>
              </p:ext>
            </p:extLst>
          </p:nvPr>
        </p:nvGraphicFramePr>
        <p:xfrm>
          <a:off x="2765642" y="1120646"/>
          <a:ext cx="519438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363">
                  <a:extLst>
                    <a:ext uri="{9D8B030D-6E8A-4147-A177-3AD203B41FA5}">
                      <a16:colId xmlns:a16="http://schemas.microsoft.com/office/drawing/2014/main" val="3660028913"/>
                    </a:ext>
                  </a:extLst>
                </a:gridCol>
                <a:gridCol w="3190460">
                  <a:extLst>
                    <a:ext uri="{9D8B030D-6E8A-4147-A177-3AD203B41FA5}">
                      <a16:colId xmlns:a16="http://schemas.microsoft.com/office/drawing/2014/main" val="999708655"/>
                    </a:ext>
                  </a:extLst>
                </a:gridCol>
                <a:gridCol w="1194557">
                  <a:extLst>
                    <a:ext uri="{9D8B030D-6E8A-4147-A177-3AD203B41FA5}">
                      <a16:colId xmlns:a16="http://schemas.microsoft.com/office/drawing/2014/main" val="51740625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Module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Planned Timing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7006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9:00-9:20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9419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Physical 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9:20-10:00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848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Frequency Based </a:t>
                      </a:r>
                      <a:r>
                        <a:rPr lang="en-US" sz="1400" dirty="0" err="1"/>
                        <a:t>Substructuring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10:00-10:40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05664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10:40-10:50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56228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Component Mode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10:50-11:20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8315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 Class Exercises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11:20-Noon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5123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Noon-1:00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396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Experimental Considerations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1:00-1:45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036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Frame Wing Experimental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1:45-2:30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9271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2:30-2:40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040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Transfer Path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2:40-3:10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4575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Virtual Point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3:10-3:40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7562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Decoupling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3:40-4:10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371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Nonlinear Component Mode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4:10-4:40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3851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Course Conclusions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4:40-5:00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326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78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Informal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5551-18FF-9CE4-0844-669DDEBB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/>
              <a:t>Have you: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Had an undergraduate-level class on vibrations?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Had a graduate-level class on vibrations?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Had a graduate-level class on finite element analysis?  Experience with FEA?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Ever performed a modal test? Regularly?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b="1" dirty="0"/>
              <a:t>Introductions</a:t>
            </a:r>
            <a:r>
              <a:rPr lang="en-US" altLang="en-US" dirty="0"/>
              <a:t>: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Who are you – where are you from?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How do you hope that this course might benefit your work?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b="1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Approach for this short course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80% Lecture , 20% Guided exploration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54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</a:t>
            </a:r>
            <a:r>
              <a:rPr lang="en-US" dirty="0" err="1"/>
              <a:t>Substructuring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5551-18FF-9CE4-0844-669DDEBB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6325585" cy="4978829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 err="1">
                <a:ea typeface="+mn-ea"/>
              </a:rPr>
              <a:t>Substructuring</a:t>
            </a:r>
            <a:r>
              <a:rPr lang="en-US" dirty="0">
                <a:ea typeface="+mn-ea"/>
              </a:rPr>
              <a:t> is a process whereby individual components of a structure are analyzed or tested separately and then combined to predict the response of the built-up structure.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Reduced Order Modeling: create an approximation to a model to reduce the computational burden</a:t>
            </a:r>
          </a:p>
          <a:p>
            <a:pPr eaLnBrk="1" hangingPunct="1">
              <a:defRPr/>
            </a:pPr>
            <a:r>
              <a:rPr lang="en-US" dirty="0">
                <a:ea typeface="+mn-ea"/>
              </a:rPr>
              <a:t>Analytical </a:t>
            </a:r>
            <a:r>
              <a:rPr lang="en-US" dirty="0" err="1">
                <a:ea typeface="+mn-ea"/>
              </a:rPr>
              <a:t>substructuring</a:t>
            </a:r>
            <a:r>
              <a:rPr lang="en-US" dirty="0">
                <a:ea typeface="+mn-ea"/>
              </a:rPr>
              <a:t> forms the basis of the Finite Element Method, and related techniques, such as the Craig-Bampton method, have been key components of structural analysis for over 40 years.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807B2-6003-47A6-9959-8491B94A6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617" y="467915"/>
            <a:ext cx="5575985" cy="5217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97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525E-AF84-91ED-603B-78A46B7A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782168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Experimental/Analytical </a:t>
            </a:r>
            <a:r>
              <a:rPr lang="en-US" dirty="0" err="1"/>
              <a:t>Substructuring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65551-18FF-9CE4-0844-669DDEBB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939585"/>
            <a:ext cx="7672509" cy="4978829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000" b="1" dirty="0">
                <a:ea typeface="+mn-ea"/>
              </a:rPr>
              <a:t>Experimental/Analytical </a:t>
            </a:r>
            <a:r>
              <a:rPr lang="en-US" sz="2000" b="1" dirty="0" err="1">
                <a:ea typeface="+mn-ea"/>
              </a:rPr>
              <a:t>Substructuring</a:t>
            </a:r>
            <a:r>
              <a:rPr lang="en-US" sz="2000" dirty="0">
                <a:ea typeface="+mn-ea"/>
              </a:rPr>
              <a:t> is a far less common variant where a model for one or more subcomponents is derived experimentally.</a:t>
            </a:r>
          </a:p>
          <a:p>
            <a:r>
              <a:rPr lang="en-US" altLang="en-US" sz="2000" dirty="0"/>
              <a:t>Often we are tasked with analyzing systems where one or more components are difficult to model analytically</a:t>
            </a:r>
          </a:p>
          <a:p>
            <a:pPr lvl="1"/>
            <a:r>
              <a:rPr lang="en-US" altLang="en-US" sz="2000" dirty="0"/>
              <a:t>Unknown material properties</a:t>
            </a:r>
          </a:p>
          <a:p>
            <a:pPr lvl="1"/>
            <a:r>
              <a:rPr lang="en-US" altLang="en-US" sz="2000" dirty="0"/>
              <a:t>Complicated Geometry</a:t>
            </a:r>
          </a:p>
          <a:p>
            <a:pPr lvl="1"/>
            <a:r>
              <a:rPr lang="en-US" altLang="en-US" sz="2000" dirty="0"/>
              <a:t>Produced and designed by an outside vendor</a:t>
            </a:r>
          </a:p>
          <a:p>
            <a:r>
              <a:rPr lang="en-US" altLang="en-US" sz="2000" dirty="0"/>
              <a:t>The dynamics of these parts can have profound impact on the system level performance</a:t>
            </a:r>
          </a:p>
          <a:p>
            <a:r>
              <a:rPr lang="en-US" altLang="en-US" sz="2000" dirty="0"/>
              <a:t>Experimental models are often the optimal choice for characterizing the impact of non modeled hardware it’s the system level response</a:t>
            </a:r>
          </a:p>
          <a:p>
            <a:r>
              <a:rPr lang="en-US" altLang="en-US" sz="2000" dirty="0"/>
              <a:t>Experimental-analytical </a:t>
            </a:r>
            <a:r>
              <a:rPr lang="en-US" altLang="en-US" sz="2000" dirty="0" err="1"/>
              <a:t>substructuring</a:t>
            </a:r>
            <a:r>
              <a:rPr lang="en-US" altLang="en-US" sz="2000" dirty="0"/>
              <a:t> allows one to couple experimental results from these test to high fidelity finite element models</a:t>
            </a:r>
          </a:p>
          <a:p>
            <a:pPr lvl="1"/>
            <a:endParaRPr lang="en-US" alt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D0E06-27B4-34F1-C3B4-AB8A777A01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65" b="26933"/>
          <a:stretch/>
        </p:blipFill>
        <p:spPr bwMode="auto">
          <a:xfrm>
            <a:off x="7777541" y="862824"/>
            <a:ext cx="3431898" cy="2950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5D124E-17FC-3CB1-8E52-B563028D4A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5" b="26933"/>
          <a:stretch/>
        </p:blipFill>
        <p:spPr bwMode="auto">
          <a:xfrm>
            <a:off x="7885111" y="3876953"/>
            <a:ext cx="3216758" cy="2302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825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nummernplatzhalter 3">
            <a:extLst>
              <a:ext uri="{FF2B5EF4-FFF2-40B4-BE49-F238E27FC236}">
                <a16:creationId xmlns:a16="http://schemas.microsoft.com/office/drawing/2014/main" id="{A46F1A83-FF85-457B-9CDA-FF36EFDD09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229600" y="6481763"/>
            <a:ext cx="609600" cy="30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4604E5-5C3A-4FE1-AE36-33CC925A0547}" type="slidenum">
              <a:rPr lang="en-US" altLang="en-US" smtClean="0"/>
              <a:pPr/>
              <a:t>7</a:t>
            </a:fld>
            <a:endParaRPr lang="en-US" altLang="en-US" sz="1200"/>
          </a:p>
        </p:txBody>
      </p:sp>
      <p:pic>
        <p:nvPicPr>
          <p:cNvPr id="13315" name="Picture 2" descr="160554main_jsc2006e43519_high">
            <a:extLst>
              <a:ext uri="{FF2B5EF4-FFF2-40B4-BE49-F238E27FC236}">
                <a16:creationId xmlns:a16="http://schemas.microsoft.com/office/drawing/2014/main" id="{FB3E21CA-B389-418A-B004-D8EC63264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88"/>
            <a:ext cx="9144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2819" name="Rectangle 3">
            <a:extLst>
              <a:ext uri="{FF2B5EF4-FFF2-40B4-BE49-F238E27FC236}">
                <a16:creationId xmlns:a16="http://schemas.microsoft.com/office/drawing/2014/main" id="{575D1D72-B73A-47A0-8E2F-10CA0D4963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9913" y="201614"/>
            <a:ext cx="8596312" cy="554037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>
                <a:solidFill>
                  <a:schemeClr val="bg1"/>
                </a:solidFill>
              </a:rPr>
              <a:t>Some systems cannot be assembled until it is too late!</a:t>
            </a: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CF5B6210-B0DC-4AA5-AF46-960F0F618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86625" y="4849814"/>
            <a:ext cx="3221038" cy="1735137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Other Examples:</a:t>
            </a:r>
          </a:p>
          <a:p>
            <a:pPr lvl="1" eaLnBrk="1" hangingPunct="1"/>
            <a:r>
              <a:rPr lang="en-US" altLang="en-US" dirty="0">
                <a:solidFill>
                  <a:schemeClr val="bg1"/>
                </a:solidFill>
              </a:rPr>
              <a:t>New Automobiles</a:t>
            </a:r>
          </a:p>
          <a:p>
            <a:pPr lvl="1" eaLnBrk="1" hangingPunct="1"/>
            <a:r>
              <a:rPr lang="en-US" altLang="en-US" dirty="0">
                <a:solidFill>
                  <a:schemeClr val="bg1"/>
                </a:solidFill>
              </a:rPr>
              <a:t>Aircraft</a:t>
            </a:r>
          </a:p>
          <a:p>
            <a:pPr lvl="1" eaLnBrk="1" hangingPunct="1"/>
            <a:r>
              <a:rPr lang="en-US" altLang="en-US" dirty="0">
                <a:solidFill>
                  <a:schemeClr val="bg1"/>
                </a:solidFill>
              </a:rPr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Domains for </a:t>
            </a:r>
            <a:r>
              <a:rPr lang="en-US" dirty="0" err="1"/>
              <a:t>Substructuring</a:t>
            </a:r>
            <a:endParaRPr lang="en-US" dirty="0"/>
          </a:p>
        </p:txBody>
      </p:sp>
      <p:pic>
        <p:nvPicPr>
          <p:cNvPr id="3" name="Bild 6">
            <a:extLst>
              <a:ext uri="{FF2B5EF4-FFF2-40B4-BE49-F238E27FC236}">
                <a16:creationId xmlns:a16="http://schemas.microsoft.com/office/drawing/2014/main" id="{8D1604FA-D670-9540-90F5-9895670FB127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b="7143"/>
          <a:stretch/>
        </p:blipFill>
        <p:spPr>
          <a:xfrm>
            <a:off x="2362202" y="1368522"/>
            <a:ext cx="74676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82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36EF-EB53-7ECA-E68C-EA2C0648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194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 to Reduced Order Modeling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8CA2E-C0DB-47F6-9AE4-1D4EA2A9E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" t="17627" r="50681" b="9126"/>
          <a:stretch>
            <a:fillRect/>
          </a:stretch>
        </p:blipFill>
        <p:spPr bwMode="auto">
          <a:xfrm>
            <a:off x="5846762" y="1043781"/>
            <a:ext cx="4445000" cy="375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7C8F67-0B04-4810-A558-0C51482D5B6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18661" y="980281"/>
            <a:ext cx="5459826" cy="542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A complete FEA model allows for arbitrary motion of any node of the structure.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A substructure or reduced order model can be more efficient by capturing only those motions that are likely in the application of interest.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+mj-lt"/>
              </a:rPr>
              <a:t>This is especially relevant to structural dynamics, where the deformations observed are often the net effect of only a few vibration modes.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282680C8-D9F0-4184-8132-9BC0C0D49E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4487" y="2394744"/>
            <a:ext cx="574675" cy="3032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B46C26-2CEB-4FA6-97BD-C67D314C0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262" y="3886994"/>
            <a:ext cx="2555875" cy="251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403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modes?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8EFEB3-63AD-BEFC-5658-A988058AD8CC}"/>
              </a:ext>
            </a:extLst>
          </p:cNvPr>
          <p:cNvSpPr txBox="1"/>
          <p:nvPr/>
        </p:nvSpPr>
        <p:spPr>
          <a:xfrm>
            <a:off x="180545" y="860739"/>
            <a:ext cx="8911465" cy="1586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Modes are inherent physical properties of all objects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Describe how objects naturally respond to stimulation at different frequencies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1"/>
                </a:solidFill>
                <a:latin typeface="+mj-lt"/>
              </a:rPr>
              <a:t>The fundamental building blocks of all complex dynamic response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accent1"/>
                </a:solidFill>
                <a:latin typeface="+mj-lt"/>
              </a:rPr>
              <a:t>All complex dynamic behavior is a linear superposition of modal responses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482655-C89A-0678-1828-C8AF531F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511" y="3507530"/>
            <a:ext cx="2127739" cy="79790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D90057-E663-9225-A187-7194F22C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072" y="3515135"/>
            <a:ext cx="2127739" cy="7979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1678F8-CB4C-99BF-7813-6F6B44B1B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850" y="4521705"/>
            <a:ext cx="2127739" cy="7979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6D385E-960B-A1AA-8A82-688EBCC28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493" y="5491915"/>
            <a:ext cx="2127739" cy="7979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F51E492-DBA5-3859-A306-D5E8268AC8B7}"/>
              </a:ext>
            </a:extLst>
          </p:cNvPr>
          <p:cNvSpPr txBox="1"/>
          <p:nvPr/>
        </p:nvSpPr>
        <p:spPr>
          <a:xfrm>
            <a:off x="3656522" y="3665477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4E41E-A934-EABD-7649-A5C80AEEC32B}"/>
              </a:ext>
            </a:extLst>
          </p:cNvPr>
          <p:cNvSpPr txBox="1"/>
          <p:nvPr/>
        </p:nvSpPr>
        <p:spPr>
          <a:xfrm>
            <a:off x="4556456" y="4664562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0EA13B-1176-490E-F52D-3ACD7CE8FA27}"/>
              </a:ext>
            </a:extLst>
          </p:cNvPr>
          <p:cNvSpPr txBox="1"/>
          <p:nvPr/>
        </p:nvSpPr>
        <p:spPr>
          <a:xfrm>
            <a:off x="5359806" y="5650458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779A6-14B7-C77A-2D7D-351D5ABD1959}"/>
              </a:ext>
            </a:extLst>
          </p:cNvPr>
          <p:cNvSpPr txBox="1"/>
          <p:nvPr/>
        </p:nvSpPr>
        <p:spPr>
          <a:xfrm>
            <a:off x="8545782" y="5558825"/>
            <a:ext cx="43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000000"/>
                </a:solidFill>
                <a:latin typeface="Garamond" panose="02020404030301010803"/>
              </a:rPr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248199-A8B3-0679-4365-97248A9284FC}"/>
              </a:ext>
            </a:extLst>
          </p:cNvPr>
          <p:cNvSpPr txBox="1"/>
          <p:nvPr/>
        </p:nvSpPr>
        <p:spPr>
          <a:xfrm>
            <a:off x="2765500" y="3556826"/>
            <a:ext cx="944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Response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3DE0A9-8783-752E-C9A5-50FDEF965CC8}"/>
              </a:ext>
            </a:extLst>
          </p:cNvPr>
          <p:cNvSpPr txBox="1"/>
          <p:nvPr/>
        </p:nvSpPr>
        <p:spPr>
          <a:xfrm>
            <a:off x="5012407" y="3583225"/>
            <a:ext cx="688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Mode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92A42F-3832-A53B-6634-DD15AA41A6A6}"/>
              </a:ext>
            </a:extLst>
          </p:cNvPr>
          <p:cNvSpPr txBox="1"/>
          <p:nvPr/>
        </p:nvSpPr>
        <p:spPr>
          <a:xfrm>
            <a:off x="5905354" y="4609915"/>
            <a:ext cx="688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Mode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409DC7-826C-4CC2-6850-BA8F25C71959}"/>
              </a:ext>
            </a:extLst>
          </p:cNvPr>
          <p:cNvSpPr txBox="1"/>
          <p:nvPr/>
        </p:nvSpPr>
        <p:spPr>
          <a:xfrm>
            <a:off x="6775780" y="5568494"/>
            <a:ext cx="688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200" i="1" dirty="0">
                <a:solidFill>
                  <a:srgbClr val="000000"/>
                </a:solidFill>
                <a:latin typeface="Garamond" panose="02020404030301010803" pitchFamily="18" charset="0"/>
              </a:rPr>
              <a:t>Mode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FDED80-D056-7590-FA1E-8B0DC615BA10}"/>
                  </a:ext>
                </a:extLst>
              </p:cNvPr>
              <p:cNvSpPr txBox="1"/>
              <p:nvPr/>
            </p:nvSpPr>
            <p:spPr>
              <a:xfrm>
                <a:off x="1474994" y="2568880"/>
                <a:ext cx="3788230" cy="667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𝑅𝑒𝑠𝑝𝑜𝑛𝑠𝑒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𝑜𝑑𝑒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h𝑎𝑝𝑒𝑠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𝑊𝑒𝑖𝑔h𝑡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𝑆h𝑎𝑝𝑒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Trebuchet MS" panose="020B0603020202020204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FDED80-D056-7590-FA1E-8B0DC615B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994" y="2568880"/>
                <a:ext cx="3788230" cy="667042"/>
              </a:xfrm>
              <a:prstGeom prst="rect">
                <a:avLst/>
              </a:prstGeom>
              <a:blipFill>
                <a:blip r:embed="rId6"/>
                <a:stretch>
                  <a:fillRect t="-112727" b="-13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5CC801C-C0A4-C250-082B-6E471CEDB8B7}"/>
              </a:ext>
            </a:extLst>
          </p:cNvPr>
          <p:cNvSpPr txBox="1"/>
          <p:nvPr/>
        </p:nvSpPr>
        <p:spPr>
          <a:xfrm>
            <a:off x="8265646" y="3968846"/>
            <a:ext cx="173520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1200" i="1" dirty="0">
                <a:solidFill>
                  <a:srgbClr val="00B050"/>
                </a:solidFill>
                <a:latin typeface="Trebuchet MS" panose="020B0603020202020204"/>
              </a:rPr>
              <a:t>Individual Modal Deflection Shapes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88F7100-B89C-93A4-EA7D-4CF451004664}"/>
              </a:ext>
            </a:extLst>
          </p:cNvPr>
          <p:cNvCxnSpPr>
            <a:cxnSpLocks/>
          </p:cNvCxnSpPr>
          <p:nvPr/>
        </p:nvCxnSpPr>
        <p:spPr>
          <a:xfrm flipH="1" flipV="1">
            <a:off x="7040981" y="3833826"/>
            <a:ext cx="1081370" cy="25130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007D02-C5FC-3062-91FC-17D2C15A0FCD}"/>
              </a:ext>
            </a:extLst>
          </p:cNvPr>
          <p:cNvCxnSpPr>
            <a:cxnSpLocks/>
          </p:cNvCxnSpPr>
          <p:nvPr/>
        </p:nvCxnSpPr>
        <p:spPr>
          <a:xfrm flipH="1">
            <a:off x="7815313" y="4313037"/>
            <a:ext cx="348016" cy="3441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01E744-8036-44E8-2900-8BCF892ED8A1}"/>
              </a:ext>
            </a:extLst>
          </p:cNvPr>
          <p:cNvCxnSpPr>
            <a:cxnSpLocks/>
          </p:cNvCxnSpPr>
          <p:nvPr/>
        </p:nvCxnSpPr>
        <p:spPr>
          <a:xfrm flipH="1">
            <a:off x="8176591" y="4609184"/>
            <a:ext cx="226876" cy="67462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BB054AE-C97A-26BC-C3C8-80375EEC42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913" y="4542203"/>
            <a:ext cx="914400" cy="6858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E41CF78-0102-1F73-8255-864195725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1382" y="5456121"/>
            <a:ext cx="914400" cy="685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2B0CB58-F194-E46E-A77B-A5621ED4D5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445" y="3448900"/>
            <a:ext cx="914400" cy="685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5C04AF7-3EAD-22F2-A0E7-5DFAFD10F34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8056" t="22271" r="21849" b="18264"/>
          <a:stretch/>
        </p:blipFill>
        <p:spPr>
          <a:xfrm>
            <a:off x="8796972" y="1153085"/>
            <a:ext cx="2668053" cy="237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1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EBE-12C3-897D-510A-634932A3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about model reduction?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836C45D-6879-BEBC-BAF8-773CFB4C5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775" y="3499785"/>
            <a:ext cx="3441094" cy="86334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F25DB2D-4D43-4E6B-DECB-75506C4B9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75" y="2612057"/>
            <a:ext cx="3441094" cy="8658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5D111FA-6C5D-29C1-7AFD-FAE39C6C3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75" y="1739169"/>
            <a:ext cx="3441094" cy="83334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4465DBB-23E4-4C9E-50A6-3DCF9A0C9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714" y="3619437"/>
            <a:ext cx="2123651" cy="44647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8CC07B3-88AE-12F6-EE0B-A41196870B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4360" y="2635664"/>
            <a:ext cx="2122005" cy="44510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A5AB089-2F85-3502-F9FB-3FD192482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715" y="2140137"/>
            <a:ext cx="2122005" cy="44739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04B518E-812F-DA3E-8B98-378E25D217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940" y="3628923"/>
            <a:ext cx="2085825" cy="43992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0858A27-4AB9-8345-6AFD-BD7BE05110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940" y="3131948"/>
            <a:ext cx="2085825" cy="44152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EE820C4-5AC6-79B9-31FF-73923B15CB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126" y="2628718"/>
            <a:ext cx="2107229" cy="46026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3F1377C-509D-D134-FB09-8A9DEEC36F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940" y="2126086"/>
            <a:ext cx="2099415" cy="477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89A47E-9A58-6E34-6A07-2E1C5EBF5905}"/>
                  </a:ext>
                </a:extLst>
              </p:cNvPr>
              <p:cNvSpPr txBox="1"/>
              <p:nvPr/>
            </p:nvSpPr>
            <p:spPr>
              <a:xfrm>
                <a:off x="4828954" y="3432672"/>
                <a:ext cx="26178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l-GR" sz="32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89A47E-9A58-6E34-6A07-2E1C5EBF5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954" y="3432672"/>
                <a:ext cx="2617822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Arrow: Right 55">
            <a:extLst>
              <a:ext uri="{FF2B5EF4-FFF2-40B4-BE49-F238E27FC236}">
                <a16:creationId xmlns:a16="http://schemas.microsoft.com/office/drawing/2014/main" id="{484113F6-7077-DCE1-B83F-818C80A6F0FF}"/>
              </a:ext>
            </a:extLst>
          </p:cNvPr>
          <p:cNvSpPr/>
          <p:nvPr/>
        </p:nvSpPr>
        <p:spPr>
          <a:xfrm>
            <a:off x="5315727" y="2741454"/>
            <a:ext cx="1630686" cy="61533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F07D16-CD57-5F5D-B59E-0B5EA3D0B8FB}"/>
              </a:ext>
            </a:extLst>
          </p:cNvPr>
          <p:cNvSpPr txBox="1"/>
          <p:nvPr/>
        </p:nvSpPr>
        <p:spPr>
          <a:xfrm>
            <a:off x="2144865" y="1649853"/>
            <a:ext cx="201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Physical Domain</a:t>
            </a:r>
            <a:r>
              <a:rPr lang="en-US" dirty="0"/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3CAC7B-628D-DF4E-C7FE-438700181489}"/>
              </a:ext>
            </a:extLst>
          </p:cNvPr>
          <p:cNvSpPr txBox="1"/>
          <p:nvPr/>
        </p:nvSpPr>
        <p:spPr>
          <a:xfrm>
            <a:off x="8326764" y="1255036"/>
            <a:ext cx="201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Modal Domain</a:t>
            </a:r>
            <a:r>
              <a:rPr lang="en-US" dirty="0"/>
              <a:t>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351EC8-29C7-9F35-A397-EE3160336709}"/>
              </a:ext>
            </a:extLst>
          </p:cNvPr>
          <p:cNvSpPr txBox="1"/>
          <p:nvPr/>
        </p:nvSpPr>
        <p:spPr>
          <a:xfrm>
            <a:off x="1921192" y="2158177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111516-4FDC-3344-0054-EDAF84577DAE}"/>
              </a:ext>
            </a:extLst>
          </p:cNvPr>
          <p:cNvSpPr txBox="1"/>
          <p:nvPr/>
        </p:nvSpPr>
        <p:spPr>
          <a:xfrm>
            <a:off x="1943450" y="2616444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70E1C5-0EEA-CBAA-7656-9A1119DEC277}"/>
              </a:ext>
            </a:extLst>
          </p:cNvPr>
          <p:cNvSpPr txBox="1"/>
          <p:nvPr/>
        </p:nvSpPr>
        <p:spPr>
          <a:xfrm>
            <a:off x="1939887" y="3121748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1B6BD4-78F6-2B01-27E5-E09C4DDEA66B}"/>
              </a:ext>
            </a:extLst>
          </p:cNvPr>
          <p:cNvSpPr txBox="1"/>
          <p:nvPr/>
        </p:nvSpPr>
        <p:spPr>
          <a:xfrm>
            <a:off x="1929860" y="3609007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104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DF92944-8503-3535-1959-7555E0246D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82714" y="3127036"/>
            <a:ext cx="2123651" cy="44613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5D7F653-5053-4935-F63B-E4B63D853E1C}"/>
              </a:ext>
            </a:extLst>
          </p:cNvPr>
          <p:cNvSpPr txBox="1"/>
          <p:nvPr/>
        </p:nvSpPr>
        <p:spPr>
          <a:xfrm>
            <a:off x="4095202" y="2154421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CD32A9-4269-9142-96EC-A764B2663E4E}"/>
              </a:ext>
            </a:extLst>
          </p:cNvPr>
          <p:cNvSpPr txBox="1"/>
          <p:nvPr/>
        </p:nvSpPr>
        <p:spPr>
          <a:xfrm>
            <a:off x="4117460" y="2613933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F4984E-7995-6775-7D8F-42E2A840457F}"/>
              </a:ext>
            </a:extLst>
          </p:cNvPr>
          <p:cNvSpPr txBox="1"/>
          <p:nvPr/>
        </p:nvSpPr>
        <p:spPr>
          <a:xfrm>
            <a:off x="4113897" y="3123369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E4C45F-FE35-BC16-D81F-E784EB887664}"/>
              </a:ext>
            </a:extLst>
          </p:cNvPr>
          <p:cNvSpPr txBox="1"/>
          <p:nvPr/>
        </p:nvSpPr>
        <p:spPr>
          <a:xfrm>
            <a:off x="4103870" y="3606014"/>
            <a:ext cx="8889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Sensor 108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BB9149-F478-0CB0-6903-2310DCCD41BD}"/>
              </a:ext>
            </a:extLst>
          </p:cNvPr>
          <p:cNvSpPr txBox="1"/>
          <p:nvPr/>
        </p:nvSpPr>
        <p:spPr>
          <a:xfrm>
            <a:off x="9636058" y="2283260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q1 Response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098D54-AFD4-55B8-F749-A25C246014AE}"/>
              </a:ext>
            </a:extLst>
          </p:cNvPr>
          <p:cNvSpPr txBox="1"/>
          <p:nvPr/>
        </p:nvSpPr>
        <p:spPr>
          <a:xfrm>
            <a:off x="9636058" y="3178044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q2 Response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A6812D-415E-D376-366F-2CDE033E8B6C}"/>
              </a:ext>
            </a:extLst>
          </p:cNvPr>
          <p:cNvSpPr txBox="1"/>
          <p:nvPr/>
        </p:nvSpPr>
        <p:spPr>
          <a:xfrm>
            <a:off x="9636057" y="4074794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q3 Response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3F39BB-592A-5E67-82AA-4A85D1565EDA}"/>
              </a:ext>
            </a:extLst>
          </p:cNvPr>
          <p:cNvSpPr txBox="1"/>
          <p:nvPr/>
        </p:nvSpPr>
        <p:spPr>
          <a:xfrm>
            <a:off x="8483071" y="4301986"/>
            <a:ext cx="986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Time [s]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72C2A5-03EC-F311-6C62-0ED0D940BF95}"/>
              </a:ext>
            </a:extLst>
          </p:cNvPr>
          <p:cNvSpPr txBox="1"/>
          <p:nvPr/>
        </p:nvSpPr>
        <p:spPr>
          <a:xfrm>
            <a:off x="289134" y="1047212"/>
            <a:ext cx="8911465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We take many responses in the physical domain…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4803872-2C32-F157-CC17-1CDB3431A8D6}"/>
              </a:ext>
            </a:extLst>
          </p:cNvPr>
          <p:cNvSpPr txBox="1"/>
          <p:nvPr/>
        </p:nvSpPr>
        <p:spPr>
          <a:xfrm>
            <a:off x="1312969" y="4509461"/>
            <a:ext cx="9649792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chemeClr val="accent1"/>
                </a:solidFill>
                <a:latin typeface="+mj-lt"/>
              </a:rPr>
              <a:t>and apply a modal transformation to convert to the modal domain.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C473BB8-C021-211B-350C-6EF4EC138376}"/>
              </a:ext>
            </a:extLst>
          </p:cNvPr>
          <p:cNvSpPr/>
          <p:nvPr/>
        </p:nvSpPr>
        <p:spPr>
          <a:xfrm>
            <a:off x="1478375" y="5226226"/>
            <a:ext cx="9754431" cy="1162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With these basic structural dynamics principles in mind we are ready to begin coupling systems and learning about </a:t>
            </a:r>
            <a:r>
              <a:rPr lang="en-US" sz="2400" b="1" dirty="0" err="1"/>
              <a:t>substructuring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4309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 – Physical Coupling</a:t>
            </a:r>
          </a:p>
        </p:txBody>
      </p:sp>
    </p:spTree>
    <p:extLst>
      <p:ext uri="{BB962C8B-B14F-4D97-AF65-F5344CB8AC3E}">
        <p14:creationId xmlns:p14="http://schemas.microsoft.com/office/powerpoint/2010/main" val="114490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</TotalTime>
  <Words>652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Garamond</vt:lpstr>
      <vt:lpstr>Trebuchet MS</vt:lpstr>
      <vt:lpstr>Wingdings</vt:lpstr>
      <vt:lpstr>Office Theme</vt:lpstr>
      <vt:lpstr>Module 1: Introduction</vt:lpstr>
      <vt:lpstr>Instructors</vt:lpstr>
      <vt:lpstr>Estimated Agenda</vt:lpstr>
      <vt:lpstr>Informal Survey</vt:lpstr>
      <vt:lpstr>What Is Substructuring?</vt:lpstr>
      <vt:lpstr>What is Experimental/Analytical Substructuring?</vt:lpstr>
      <vt:lpstr>Some systems cannot be assembled until it is too late!</vt:lpstr>
      <vt:lpstr>Domains for Substructuring</vt:lpstr>
      <vt:lpstr>Relation to Reduced Order Modeling</vt:lpstr>
      <vt:lpstr>What are modes?</vt:lpstr>
      <vt:lpstr>What about model reduction?</vt:lpstr>
      <vt:lpstr>Next Up – Physical Coupling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Dan Roettgen</cp:lastModifiedBy>
  <cp:revision>25</cp:revision>
  <dcterms:created xsi:type="dcterms:W3CDTF">2025-09-04T01:59:06Z</dcterms:created>
  <dcterms:modified xsi:type="dcterms:W3CDTF">2026-01-17T07:02:03Z</dcterms:modified>
</cp:coreProperties>
</file>